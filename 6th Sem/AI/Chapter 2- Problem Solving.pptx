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85" r:id="rId4"/>
    <p:sldId id="258" r:id="rId5"/>
    <p:sldId id="259" r:id="rId6"/>
    <p:sldId id="260" r:id="rId7"/>
    <p:sldId id="261" r:id="rId8"/>
    <p:sldId id="262" r:id="rId9"/>
    <p:sldId id="263" r:id="rId10"/>
    <p:sldId id="264" r:id="rId11"/>
    <p:sldId id="265" r:id="rId12"/>
    <p:sldId id="266" r:id="rId13"/>
    <p:sldId id="267" r:id="rId14"/>
    <p:sldId id="286" r:id="rId15"/>
    <p:sldId id="268" r:id="rId16"/>
    <p:sldId id="269" r:id="rId17"/>
    <p:sldId id="287" r:id="rId18"/>
    <p:sldId id="270" r:id="rId19"/>
    <p:sldId id="271" r:id="rId20"/>
    <p:sldId id="272" r:id="rId21"/>
    <p:sldId id="273" r:id="rId22"/>
    <p:sldId id="274" r:id="rId23"/>
    <p:sldId id="275" r:id="rId24"/>
    <p:sldId id="276" r:id="rId25"/>
    <p:sldId id="291" r:id="rId26"/>
    <p:sldId id="292" r:id="rId27"/>
    <p:sldId id="293" r:id="rId28"/>
    <p:sldId id="279" r:id="rId29"/>
    <p:sldId id="288" r:id="rId30"/>
    <p:sldId id="289" r:id="rId31"/>
    <p:sldId id="290" r:id="rId32"/>
    <p:sldId id="294" r:id="rId33"/>
    <p:sldId id="295" r:id="rId34"/>
    <p:sldId id="296" r:id="rId35"/>
    <p:sldId id="298" r:id="rId36"/>
    <p:sldId id="297" r:id="rId37"/>
    <p:sldId id="299" r:id="rId38"/>
    <p:sldId id="300" r:id="rId3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432"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68676" y="1103198"/>
            <a:ext cx="7454646" cy="2330450"/>
          </a:xfrm>
          <a:prstGeom prst="rect">
            <a:avLst/>
          </a:prstGeom>
        </p:spPr>
        <p:txBody>
          <a:bodyPr wrap="square" lIns="0" tIns="0" rIns="0" bIns="0">
            <a:spAutoFit/>
          </a:bodyPr>
          <a:lstStyle>
            <a:lvl1pPr>
              <a:defRPr sz="5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916939" y="1793189"/>
            <a:ext cx="4872990" cy="416115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307924"/>
            <a:ext cx="10358120" cy="1301115"/>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08685" y="1706841"/>
            <a:ext cx="10374629" cy="271399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12/19/2021</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minimax-algorithm-in-game-theory-set-1-introductio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68676" y="1103198"/>
            <a:ext cx="7454646" cy="1594667"/>
          </a:xfrm>
          <a:prstGeom prst="rect">
            <a:avLst/>
          </a:prstGeom>
        </p:spPr>
        <p:txBody>
          <a:bodyPr vert="horz" wrap="square" lIns="0" tIns="106045" rIns="0" bIns="0" rtlCol="0">
            <a:spAutoFit/>
          </a:bodyPr>
          <a:lstStyle/>
          <a:p>
            <a:pPr marL="925194" marR="919480" algn="ctr">
              <a:lnSpc>
                <a:spcPts val="5830"/>
              </a:lnSpc>
              <a:spcBef>
                <a:spcPts val="835"/>
              </a:spcBef>
            </a:pPr>
            <a:r>
              <a:rPr spc="-10" dirty="0"/>
              <a:t>Artificial </a:t>
            </a:r>
            <a:r>
              <a:rPr spc="-20" dirty="0"/>
              <a:t>Intelligence</a:t>
            </a:r>
            <a:endParaRPr spc="-5" dirty="0"/>
          </a:p>
          <a:p>
            <a:pPr algn="ctr">
              <a:lnSpc>
                <a:spcPts val="5750"/>
              </a:lnSpc>
            </a:pPr>
            <a:r>
              <a:rPr spc="-15" dirty="0"/>
              <a:t>Chapter</a:t>
            </a:r>
            <a:r>
              <a:rPr spc="-70" dirty="0"/>
              <a:t> </a:t>
            </a:r>
            <a:r>
              <a:rPr spc="-5" dirty="0"/>
              <a:t>II:</a:t>
            </a:r>
            <a:r>
              <a:rPr spc="-25" dirty="0"/>
              <a:t> </a:t>
            </a:r>
            <a:r>
              <a:rPr spc="-30" dirty="0"/>
              <a:t>Problem</a:t>
            </a:r>
            <a:r>
              <a:rPr spc="-55" dirty="0"/>
              <a:t> </a:t>
            </a:r>
            <a:r>
              <a:rPr dirty="0"/>
              <a:t>Solving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679575" cy="697230"/>
          </a:xfrm>
          <a:prstGeom prst="rect">
            <a:avLst/>
          </a:prstGeom>
        </p:spPr>
        <p:txBody>
          <a:bodyPr vert="horz" wrap="square" lIns="0" tIns="13335" rIns="0" bIns="0" rtlCol="0">
            <a:spAutoFit/>
          </a:bodyPr>
          <a:lstStyle/>
          <a:p>
            <a:pPr marL="12700">
              <a:lnSpc>
                <a:spcPct val="100000"/>
              </a:lnSpc>
              <a:spcBef>
                <a:spcPts val="105"/>
              </a:spcBef>
            </a:pPr>
            <a:r>
              <a:rPr spc="-5" dirty="0"/>
              <a:t>Outline</a:t>
            </a:r>
          </a:p>
        </p:txBody>
      </p:sp>
      <p:sp>
        <p:nvSpPr>
          <p:cNvPr id="3" name="object 3"/>
          <p:cNvSpPr txBox="1"/>
          <p:nvPr/>
        </p:nvSpPr>
        <p:spPr>
          <a:xfrm>
            <a:off x="916939" y="1706841"/>
            <a:ext cx="6336665" cy="439229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Steps</a:t>
            </a:r>
            <a:r>
              <a:rPr sz="2800" dirty="0">
                <a:latin typeface="Calibri"/>
                <a:cs typeface="Calibri"/>
              </a:rPr>
              <a:t> </a:t>
            </a:r>
            <a:r>
              <a:rPr sz="2800" spc="-5" dirty="0">
                <a:latin typeface="Calibri"/>
                <a:cs typeface="Calibri"/>
              </a:rPr>
              <a:t>in</a:t>
            </a:r>
            <a:r>
              <a:rPr sz="2800" dirty="0">
                <a:latin typeface="Calibri"/>
                <a:cs typeface="Calibri"/>
              </a:rPr>
              <a:t> </a:t>
            </a:r>
            <a:r>
              <a:rPr sz="2800" spc="-15" dirty="0">
                <a:latin typeface="Calibri"/>
                <a:cs typeface="Calibri"/>
              </a:rPr>
              <a:t>Problem</a:t>
            </a:r>
            <a:r>
              <a:rPr sz="2800" spc="20" dirty="0">
                <a:latin typeface="Calibri"/>
                <a:cs typeface="Calibri"/>
              </a:rPr>
              <a:t> </a:t>
            </a:r>
            <a:r>
              <a:rPr sz="2800" spc="-10" dirty="0">
                <a:latin typeface="Calibri"/>
                <a:cs typeface="Calibri"/>
              </a:rPr>
              <a:t>Solving</a:t>
            </a:r>
            <a:endParaRPr sz="2800">
              <a:latin typeface="Calibri"/>
              <a:cs typeface="Calibri"/>
            </a:endParaRPr>
          </a:p>
          <a:p>
            <a:pPr marL="241300" indent="-228600">
              <a:lnSpc>
                <a:spcPct val="100000"/>
              </a:lnSpc>
              <a:spcBef>
                <a:spcPts val="675"/>
              </a:spcBef>
              <a:buFont typeface="Arial MT"/>
              <a:buChar char="•"/>
              <a:tabLst>
                <a:tab pos="241300" algn="l"/>
              </a:tabLst>
            </a:pPr>
            <a:r>
              <a:rPr sz="2800" spc="-10" dirty="0">
                <a:latin typeface="Calibri"/>
                <a:cs typeface="Calibri"/>
              </a:rPr>
              <a:t>Defining</a:t>
            </a:r>
            <a:r>
              <a:rPr sz="2800" spc="15" dirty="0">
                <a:latin typeface="Calibri"/>
                <a:cs typeface="Calibri"/>
              </a:rPr>
              <a:t> </a:t>
            </a:r>
            <a:r>
              <a:rPr sz="2800" spc="-15" dirty="0">
                <a:latin typeface="Calibri"/>
                <a:cs typeface="Calibri"/>
              </a:rPr>
              <a:t>Problems</a:t>
            </a:r>
            <a:r>
              <a:rPr sz="2800" spc="30" dirty="0">
                <a:latin typeface="Calibri"/>
                <a:cs typeface="Calibri"/>
              </a:rPr>
              <a:t> </a:t>
            </a:r>
            <a:r>
              <a:rPr sz="2800" spc="-5" dirty="0">
                <a:latin typeface="Calibri"/>
                <a:cs typeface="Calibri"/>
              </a:rPr>
              <a:t>as</a:t>
            </a:r>
            <a:r>
              <a:rPr sz="2800" dirty="0">
                <a:latin typeface="Calibri"/>
                <a:cs typeface="Calibri"/>
              </a:rPr>
              <a:t> </a:t>
            </a:r>
            <a:r>
              <a:rPr sz="2800" spc="-5" dirty="0">
                <a:latin typeface="Calibri"/>
                <a:cs typeface="Calibri"/>
              </a:rPr>
              <a:t>a</a:t>
            </a:r>
            <a:r>
              <a:rPr sz="2800" spc="5" dirty="0">
                <a:latin typeface="Calibri"/>
                <a:cs typeface="Calibri"/>
              </a:rPr>
              <a:t> </a:t>
            </a:r>
            <a:r>
              <a:rPr sz="2800" spc="-20" dirty="0">
                <a:latin typeface="Calibri"/>
                <a:cs typeface="Calibri"/>
              </a:rPr>
              <a:t>State</a:t>
            </a:r>
            <a:r>
              <a:rPr sz="2800" spc="-5" dirty="0">
                <a:latin typeface="Calibri"/>
                <a:cs typeface="Calibri"/>
              </a:rPr>
              <a:t> Space </a:t>
            </a:r>
            <a:r>
              <a:rPr sz="2800" spc="-10" dirty="0">
                <a:latin typeface="Calibri"/>
                <a:cs typeface="Calibri"/>
              </a:rPr>
              <a:t>Search</a:t>
            </a:r>
            <a:endParaRPr sz="2800">
              <a:latin typeface="Calibri"/>
              <a:cs typeface="Calibri"/>
            </a:endParaRPr>
          </a:p>
          <a:p>
            <a:pPr marL="241300" indent="-228600">
              <a:lnSpc>
                <a:spcPct val="100000"/>
              </a:lnSpc>
              <a:spcBef>
                <a:spcPts val="660"/>
              </a:spcBef>
              <a:buFont typeface="Arial MT"/>
              <a:buChar char="•"/>
              <a:tabLst>
                <a:tab pos="241300" algn="l"/>
              </a:tabLst>
            </a:pPr>
            <a:r>
              <a:rPr sz="2800" spc="-15" dirty="0">
                <a:latin typeface="Calibri"/>
                <a:cs typeface="Calibri"/>
              </a:rPr>
              <a:t>Problem </a:t>
            </a:r>
            <a:r>
              <a:rPr sz="2800" spc="-10" dirty="0">
                <a:latin typeface="Calibri"/>
                <a:cs typeface="Calibri"/>
              </a:rPr>
              <a:t>Formulation</a:t>
            </a:r>
            <a:endParaRPr sz="2800">
              <a:latin typeface="Calibri"/>
              <a:cs typeface="Calibri"/>
            </a:endParaRPr>
          </a:p>
          <a:p>
            <a:pPr marL="241300" indent="-228600">
              <a:lnSpc>
                <a:spcPct val="100000"/>
              </a:lnSpc>
              <a:spcBef>
                <a:spcPts val="665"/>
              </a:spcBef>
              <a:buFont typeface="Arial MT"/>
              <a:buChar char="•"/>
              <a:tabLst>
                <a:tab pos="241300" algn="l"/>
              </a:tabLst>
            </a:pPr>
            <a:r>
              <a:rPr sz="2800" spc="-15" dirty="0">
                <a:latin typeface="Calibri"/>
                <a:cs typeface="Calibri"/>
              </a:rPr>
              <a:t>Problem</a:t>
            </a:r>
            <a:r>
              <a:rPr sz="2800" spc="10" dirty="0">
                <a:latin typeface="Calibri"/>
                <a:cs typeface="Calibri"/>
              </a:rPr>
              <a:t> </a:t>
            </a:r>
            <a:r>
              <a:rPr sz="2800" spc="-15" dirty="0">
                <a:latin typeface="Calibri"/>
                <a:cs typeface="Calibri"/>
              </a:rPr>
              <a:t>Characteristics</a:t>
            </a:r>
            <a:endParaRPr sz="2800">
              <a:latin typeface="Calibri"/>
              <a:cs typeface="Calibri"/>
            </a:endParaRPr>
          </a:p>
          <a:p>
            <a:pPr marL="241300" indent="-228600">
              <a:lnSpc>
                <a:spcPct val="100000"/>
              </a:lnSpc>
              <a:spcBef>
                <a:spcPts val="670"/>
              </a:spcBef>
              <a:buFont typeface="Arial MT"/>
              <a:buChar char="•"/>
              <a:tabLst>
                <a:tab pos="241300" algn="l"/>
              </a:tabLst>
            </a:pPr>
            <a:r>
              <a:rPr sz="2800" spc="-15" dirty="0">
                <a:latin typeface="Calibri"/>
                <a:cs typeface="Calibri"/>
              </a:rPr>
              <a:t>Problem</a:t>
            </a:r>
            <a:r>
              <a:rPr sz="2800" spc="-10" dirty="0">
                <a:latin typeface="Calibri"/>
                <a:cs typeface="Calibri"/>
              </a:rPr>
              <a:t> </a:t>
            </a:r>
            <a:r>
              <a:rPr sz="2800" spc="-30" dirty="0">
                <a:latin typeface="Calibri"/>
                <a:cs typeface="Calibri"/>
              </a:rPr>
              <a:t>Types</a:t>
            </a:r>
            <a:endParaRPr sz="2800">
              <a:latin typeface="Calibri"/>
              <a:cs typeface="Calibri"/>
            </a:endParaRPr>
          </a:p>
          <a:p>
            <a:pPr marL="698500" lvl="1" indent="-229235">
              <a:lnSpc>
                <a:spcPct val="100000"/>
              </a:lnSpc>
              <a:spcBef>
                <a:spcPts val="234"/>
              </a:spcBef>
              <a:buFont typeface="Arial MT"/>
              <a:buChar char="•"/>
              <a:tabLst>
                <a:tab pos="699135" algn="l"/>
              </a:tabLst>
            </a:pPr>
            <a:r>
              <a:rPr sz="2400" spc="-25" dirty="0">
                <a:latin typeface="Calibri"/>
                <a:cs typeface="Calibri"/>
              </a:rPr>
              <a:t>Well</a:t>
            </a:r>
            <a:r>
              <a:rPr sz="2400" spc="-20" dirty="0">
                <a:latin typeface="Calibri"/>
                <a:cs typeface="Calibri"/>
              </a:rPr>
              <a:t> </a:t>
            </a:r>
            <a:r>
              <a:rPr sz="2400" spc="-10" dirty="0">
                <a:latin typeface="Calibri"/>
                <a:cs typeface="Calibri"/>
              </a:rPr>
              <a:t>Defined</a:t>
            </a:r>
            <a:r>
              <a:rPr sz="2400" dirty="0">
                <a:latin typeface="Calibri"/>
                <a:cs typeface="Calibri"/>
              </a:rPr>
              <a:t> </a:t>
            </a:r>
            <a:r>
              <a:rPr sz="2400" spc="-10" dirty="0">
                <a:latin typeface="Calibri"/>
                <a:cs typeface="Calibri"/>
              </a:rPr>
              <a:t>Problems</a:t>
            </a:r>
            <a:endParaRPr sz="2400">
              <a:latin typeface="Calibri"/>
              <a:cs typeface="Calibri"/>
            </a:endParaRPr>
          </a:p>
          <a:p>
            <a:pPr marL="698500" lvl="1" indent="-229235">
              <a:lnSpc>
                <a:spcPct val="100000"/>
              </a:lnSpc>
              <a:spcBef>
                <a:spcPts val="215"/>
              </a:spcBef>
              <a:buFont typeface="Arial MT"/>
              <a:buChar char="•"/>
              <a:tabLst>
                <a:tab pos="699135" algn="l"/>
              </a:tabLst>
            </a:pPr>
            <a:r>
              <a:rPr sz="2400" spc="-15" dirty="0">
                <a:latin typeface="Calibri"/>
                <a:cs typeface="Calibri"/>
              </a:rPr>
              <a:t>Constraint</a:t>
            </a:r>
            <a:r>
              <a:rPr sz="2400" spc="-45" dirty="0">
                <a:latin typeface="Calibri"/>
                <a:cs typeface="Calibri"/>
              </a:rPr>
              <a:t> </a:t>
            </a:r>
            <a:r>
              <a:rPr sz="2400" spc="-10" dirty="0">
                <a:latin typeface="Calibri"/>
                <a:cs typeface="Calibri"/>
              </a:rPr>
              <a:t>Satisfaction</a:t>
            </a:r>
            <a:r>
              <a:rPr sz="2400" spc="-35" dirty="0">
                <a:latin typeface="Calibri"/>
                <a:cs typeface="Calibri"/>
              </a:rPr>
              <a:t> </a:t>
            </a:r>
            <a:r>
              <a:rPr sz="2400" spc="-10" dirty="0">
                <a:latin typeface="Calibri"/>
                <a:cs typeface="Calibri"/>
              </a:rPr>
              <a:t>Problems</a:t>
            </a:r>
            <a:endParaRPr sz="2400">
              <a:latin typeface="Calibri"/>
              <a:cs typeface="Calibri"/>
            </a:endParaRPr>
          </a:p>
          <a:p>
            <a:pPr marL="241300" indent="-228600">
              <a:lnSpc>
                <a:spcPct val="100000"/>
              </a:lnSpc>
              <a:spcBef>
                <a:spcPts val="635"/>
              </a:spcBef>
              <a:buFont typeface="Arial MT"/>
              <a:buChar char="•"/>
              <a:tabLst>
                <a:tab pos="241300" algn="l"/>
              </a:tabLst>
            </a:pPr>
            <a:r>
              <a:rPr sz="2800" spc="-10" dirty="0">
                <a:latin typeface="Calibri"/>
                <a:cs typeface="Calibri"/>
              </a:rPr>
              <a:t>Production</a:t>
            </a:r>
            <a:r>
              <a:rPr sz="2800" spc="10" dirty="0">
                <a:latin typeface="Calibri"/>
                <a:cs typeface="Calibri"/>
              </a:rPr>
              <a:t> </a:t>
            </a:r>
            <a:r>
              <a:rPr sz="2800" spc="-20" dirty="0">
                <a:latin typeface="Calibri"/>
                <a:cs typeface="Calibri"/>
              </a:rPr>
              <a:t>Systems</a:t>
            </a:r>
            <a:endParaRPr sz="2800">
              <a:latin typeface="Calibri"/>
              <a:cs typeface="Calibri"/>
            </a:endParaRPr>
          </a:p>
          <a:p>
            <a:pPr marL="241300" indent="-228600">
              <a:lnSpc>
                <a:spcPct val="100000"/>
              </a:lnSpc>
              <a:spcBef>
                <a:spcPts val="670"/>
              </a:spcBef>
              <a:buFont typeface="Arial MT"/>
              <a:buChar char="•"/>
              <a:tabLst>
                <a:tab pos="241300" algn="l"/>
              </a:tabLst>
            </a:pPr>
            <a:r>
              <a:rPr sz="2800" spc="-5" dirty="0">
                <a:latin typeface="Calibri"/>
                <a:cs typeface="Calibri"/>
              </a:rPr>
              <a:t>Game</a:t>
            </a:r>
            <a:r>
              <a:rPr sz="2800" spc="-30" dirty="0">
                <a:latin typeface="Calibri"/>
                <a:cs typeface="Calibri"/>
              </a:rPr>
              <a:t> </a:t>
            </a:r>
            <a:r>
              <a:rPr sz="2800" spc="-15" dirty="0">
                <a:latin typeface="Calibri"/>
                <a:cs typeface="Calibri"/>
              </a:rPr>
              <a:t>Playing</a:t>
            </a:r>
            <a:endParaRPr sz="2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6C0944-06D3-4EE0-93C7-765471B95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762000"/>
            <a:ext cx="7620000" cy="5281438"/>
          </a:xfrm>
          <a:prstGeom prst="rect">
            <a:avLst/>
          </a:prstGeom>
        </p:spPr>
      </p:pic>
    </p:spTree>
    <p:extLst>
      <p:ext uri="{BB962C8B-B14F-4D97-AF65-F5344CB8AC3E}">
        <p14:creationId xmlns:p14="http://schemas.microsoft.com/office/powerpoint/2010/main" val="79240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508625" cy="697230"/>
          </a:xfrm>
          <a:prstGeom prst="rect">
            <a:avLst/>
          </a:prstGeom>
        </p:spPr>
        <p:txBody>
          <a:bodyPr vert="horz" wrap="square" lIns="0" tIns="13335" rIns="0" bIns="0" rtlCol="0">
            <a:spAutoFit/>
          </a:bodyPr>
          <a:lstStyle/>
          <a:p>
            <a:pPr marL="12700">
              <a:lnSpc>
                <a:spcPct val="100000"/>
              </a:lnSpc>
              <a:spcBef>
                <a:spcPts val="105"/>
              </a:spcBef>
            </a:pPr>
            <a:r>
              <a:rPr spc="-15" dirty="0"/>
              <a:t>Steps</a:t>
            </a:r>
            <a:r>
              <a:rPr spc="-20" dirty="0"/>
              <a:t> </a:t>
            </a:r>
            <a:r>
              <a:rPr dirty="0"/>
              <a:t>in</a:t>
            </a:r>
            <a:r>
              <a:rPr spc="-20" dirty="0"/>
              <a:t> Problem</a:t>
            </a:r>
            <a:r>
              <a:rPr spc="-25" dirty="0"/>
              <a:t> </a:t>
            </a:r>
            <a:r>
              <a:rPr dirty="0"/>
              <a:t>Solving</a:t>
            </a:r>
          </a:p>
        </p:txBody>
      </p:sp>
      <p:sp>
        <p:nvSpPr>
          <p:cNvPr id="3" name="object 3"/>
          <p:cNvSpPr txBox="1"/>
          <p:nvPr/>
        </p:nvSpPr>
        <p:spPr>
          <a:xfrm>
            <a:off x="916939" y="1706841"/>
            <a:ext cx="3315970" cy="207200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dirty="0">
                <a:latin typeface="Calibri"/>
                <a:cs typeface="Calibri"/>
              </a:rPr>
              <a:t>Goal</a:t>
            </a:r>
            <a:r>
              <a:rPr sz="2800" spc="-45" dirty="0">
                <a:latin typeface="Calibri"/>
                <a:cs typeface="Calibri"/>
              </a:rPr>
              <a:t> </a:t>
            </a:r>
            <a:r>
              <a:rPr sz="2800" spc="-10" dirty="0">
                <a:latin typeface="Calibri"/>
                <a:cs typeface="Calibri"/>
              </a:rPr>
              <a:t>Formulation</a:t>
            </a:r>
            <a:endParaRPr sz="2800">
              <a:latin typeface="Calibri"/>
              <a:cs typeface="Calibri"/>
            </a:endParaRPr>
          </a:p>
          <a:p>
            <a:pPr marL="241300" indent="-228600">
              <a:lnSpc>
                <a:spcPct val="100000"/>
              </a:lnSpc>
              <a:spcBef>
                <a:spcPts val="675"/>
              </a:spcBef>
              <a:buFont typeface="Arial MT"/>
              <a:buChar char="•"/>
              <a:tabLst>
                <a:tab pos="241300" algn="l"/>
              </a:tabLst>
            </a:pPr>
            <a:r>
              <a:rPr sz="2800" spc="-15" dirty="0">
                <a:latin typeface="Calibri"/>
                <a:cs typeface="Calibri"/>
              </a:rPr>
              <a:t>Problem</a:t>
            </a:r>
            <a:r>
              <a:rPr sz="2800" spc="-45" dirty="0">
                <a:latin typeface="Calibri"/>
                <a:cs typeface="Calibri"/>
              </a:rPr>
              <a:t> </a:t>
            </a:r>
            <a:r>
              <a:rPr sz="2800" spc="-10" dirty="0">
                <a:latin typeface="Calibri"/>
                <a:cs typeface="Calibri"/>
              </a:rPr>
              <a:t>Formulation</a:t>
            </a:r>
            <a:endParaRPr sz="280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Searching</a:t>
            </a:r>
            <a:endParaRPr sz="2800">
              <a:latin typeface="Calibri"/>
              <a:cs typeface="Calibri"/>
            </a:endParaRPr>
          </a:p>
          <a:p>
            <a:pPr marL="241300" indent="-228600">
              <a:lnSpc>
                <a:spcPct val="100000"/>
              </a:lnSpc>
              <a:spcBef>
                <a:spcPts val="665"/>
              </a:spcBef>
              <a:buFont typeface="Arial MT"/>
              <a:buChar char="•"/>
              <a:tabLst>
                <a:tab pos="241300" algn="l"/>
              </a:tabLst>
            </a:pPr>
            <a:r>
              <a:rPr sz="2800" spc="-15" dirty="0">
                <a:latin typeface="Calibri"/>
                <a:cs typeface="Calibri"/>
              </a:rPr>
              <a:t>Execution</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472295" cy="567463"/>
          </a:xfrm>
          <a:prstGeom prst="rect">
            <a:avLst/>
          </a:prstGeom>
        </p:spPr>
        <p:txBody>
          <a:bodyPr vert="horz" wrap="square" lIns="0" tIns="13335" rIns="0" bIns="0" rtlCol="0">
            <a:spAutoFit/>
          </a:bodyPr>
          <a:lstStyle/>
          <a:p>
            <a:pPr marL="12700">
              <a:lnSpc>
                <a:spcPct val="100000"/>
              </a:lnSpc>
              <a:spcBef>
                <a:spcPts val="105"/>
              </a:spcBef>
            </a:pPr>
            <a:r>
              <a:rPr lang="en-US" sz="3600" spc="-5" dirty="0"/>
              <a:t>2.1 </a:t>
            </a:r>
            <a:r>
              <a:rPr sz="3600" spc="-5" dirty="0"/>
              <a:t>Defining </a:t>
            </a:r>
            <a:r>
              <a:rPr sz="3600" spc="-20" dirty="0"/>
              <a:t>Problems</a:t>
            </a:r>
            <a:r>
              <a:rPr sz="3600" spc="-10" dirty="0"/>
              <a:t> </a:t>
            </a:r>
            <a:r>
              <a:rPr sz="3600" dirty="0"/>
              <a:t>as a</a:t>
            </a:r>
            <a:r>
              <a:rPr sz="3600" spc="-5" dirty="0"/>
              <a:t> </a:t>
            </a:r>
            <a:r>
              <a:rPr sz="3600" spc="-30" dirty="0"/>
              <a:t>State</a:t>
            </a:r>
            <a:r>
              <a:rPr sz="3600" spc="-10" dirty="0"/>
              <a:t> </a:t>
            </a:r>
            <a:r>
              <a:rPr sz="3600" dirty="0"/>
              <a:t>Space </a:t>
            </a:r>
            <a:r>
              <a:rPr sz="3600" spc="-10" dirty="0"/>
              <a:t>Search</a:t>
            </a:r>
          </a:p>
        </p:txBody>
      </p:sp>
      <p:sp>
        <p:nvSpPr>
          <p:cNvPr id="3" name="object 3"/>
          <p:cNvSpPr txBox="1"/>
          <p:nvPr/>
        </p:nvSpPr>
        <p:spPr>
          <a:xfrm>
            <a:off x="916939" y="1756565"/>
            <a:ext cx="10184130" cy="4070986"/>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5" dirty="0">
                <a:latin typeface="Calibri"/>
                <a:cs typeface="Calibri"/>
              </a:rPr>
              <a:t>Things</a:t>
            </a:r>
            <a:r>
              <a:rPr sz="2800" spc="20" dirty="0">
                <a:latin typeface="Calibri"/>
                <a:cs typeface="Calibri"/>
              </a:rPr>
              <a:t> </a:t>
            </a:r>
            <a:r>
              <a:rPr sz="2800" spc="-10" dirty="0">
                <a:latin typeface="Calibri"/>
                <a:cs typeface="Calibri"/>
              </a:rPr>
              <a:t>that must</a:t>
            </a:r>
            <a:r>
              <a:rPr sz="2800" spc="30" dirty="0">
                <a:latin typeface="Calibri"/>
                <a:cs typeface="Calibri"/>
              </a:rPr>
              <a:t> </a:t>
            </a:r>
            <a:r>
              <a:rPr sz="2800" spc="-5" dirty="0">
                <a:latin typeface="Calibri"/>
                <a:cs typeface="Calibri"/>
              </a:rPr>
              <a:t>be</a:t>
            </a:r>
            <a:r>
              <a:rPr sz="2800" spc="10" dirty="0">
                <a:latin typeface="Calibri"/>
                <a:cs typeface="Calibri"/>
              </a:rPr>
              <a:t> </a:t>
            </a:r>
            <a:r>
              <a:rPr sz="2800" spc="-5" dirty="0">
                <a:latin typeface="Calibri"/>
                <a:cs typeface="Calibri"/>
              </a:rPr>
              <a:t>done</a:t>
            </a:r>
            <a:r>
              <a:rPr sz="2800" spc="5" dirty="0">
                <a:latin typeface="Calibri"/>
                <a:cs typeface="Calibri"/>
              </a:rPr>
              <a:t> </a:t>
            </a:r>
            <a:r>
              <a:rPr sz="2800" spc="-15" dirty="0">
                <a:latin typeface="Calibri"/>
                <a:cs typeface="Calibri"/>
              </a:rPr>
              <a:t>to</a:t>
            </a:r>
            <a:r>
              <a:rPr sz="2800" spc="-5" dirty="0">
                <a:latin typeface="Calibri"/>
                <a:cs typeface="Calibri"/>
              </a:rPr>
              <a:t> </a:t>
            </a:r>
            <a:r>
              <a:rPr sz="2800" spc="-10" dirty="0">
                <a:latin typeface="Calibri"/>
                <a:cs typeface="Calibri"/>
              </a:rPr>
              <a:t>solve</a:t>
            </a:r>
            <a:r>
              <a:rPr sz="2800" spc="-5" dirty="0">
                <a:latin typeface="Calibri"/>
                <a:cs typeface="Calibri"/>
              </a:rPr>
              <a:t> a</a:t>
            </a:r>
            <a:r>
              <a:rPr sz="2800" spc="10" dirty="0">
                <a:latin typeface="Calibri"/>
                <a:cs typeface="Calibri"/>
              </a:rPr>
              <a:t> </a:t>
            </a:r>
            <a:r>
              <a:rPr sz="2800" spc="-15" dirty="0">
                <a:latin typeface="Calibri"/>
                <a:cs typeface="Calibri"/>
              </a:rPr>
              <a:t>problem</a:t>
            </a:r>
            <a:r>
              <a:rPr sz="2800" spc="25" dirty="0">
                <a:latin typeface="Calibri"/>
                <a:cs typeface="Calibri"/>
              </a:rPr>
              <a:t> </a:t>
            </a:r>
            <a:r>
              <a:rPr sz="2800" spc="-10" dirty="0">
                <a:latin typeface="Calibri"/>
                <a:cs typeface="Calibri"/>
              </a:rPr>
              <a:t>are:</a:t>
            </a:r>
            <a:endParaRPr sz="2800" dirty="0">
              <a:latin typeface="Calibri"/>
              <a:cs typeface="Calibri"/>
            </a:endParaRPr>
          </a:p>
          <a:p>
            <a:pPr marL="698500" marR="671830" lvl="1" indent="-228600" algn="just">
              <a:lnSpc>
                <a:spcPts val="2590"/>
              </a:lnSpc>
              <a:spcBef>
                <a:spcPts val="575"/>
              </a:spcBef>
              <a:buFont typeface="Arial MT"/>
              <a:buChar char="•"/>
              <a:tabLst>
                <a:tab pos="699135" algn="l"/>
              </a:tabLst>
            </a:pPr>
            <a:r>
              <a:rPr sz="2400" b="1" spc="-10" dirty="0">
                <a:latin typeface="Calibri"/>
                <a:cs typeface="Calibri"/>
              </a:rPr>
              <a:t>Define </a:t>
            </a:r>
            <a:r>
              <a:rPr sz="2400" b="1" dirty="0">
                <a:latin typeface="Calibri"/>
                <a:cs typeface="Calibri"/>
              </a:rPr>
              <a:t>the </a:t>
            </a:r>
            <a:r>
              <a:rPr sz="2400" b="1" spc="-10" dirty="0">
                <a:latin typeface="Calibri"/>
                <a:cs typeface="Calibri"/>
              </a:rPr>
              <a:t>problem: </a:t>
            </a:r>
            <a:r>
              <a:rPr sz="2400" dirty="0">
                <a:latin typeface="Calibri"/>
                <a:cs typeface="Calibri"/>
              </a:rPr>
              <a:t>It includes </a:t>
            </a:r>
            <a:r>
              <a:rPr sz="2400" spc="-10" dirty="0">
                <a:latin typeface="Calibri"/>
                <a:cs typeface="Calibri"/>
              </a:rPr>
              <a:t>precise specifications </a:t>
            </a:r>
            <a:r>
              <a:rPr sz="2400" spc="-5" dirty="0">
                <a:latin typeface="Calibri"/>
                <a:cs typeface="Calibri"/>
              </a:rPr>
              <a:t>of what </a:t>
            </a:r>
            <a:r>
              <a:rPr sz="2400" dirty="0">
                <a:latin typeface="Calibri"/>
                <a:cs typeface="Calibri"/>
              </a:rPr>
              <a:t>the initial </a:t>
            </a:r>
            <a:r>
              <a:rPr sz="2400" spc="-530" dirty="0">
                <a:latin typeface="Calibri"/>
                <a:cs typeface="Calibri"/>
              </a:rPr>
              <a:t> </a:t>
            </a:r>
            <a:r>
              <a:rPr sz="2400" spc="-5" dirty="0">
                <a:latin typeface="Calibri"/>
                <a:cs typeface="Calibri"/>
              </a:rPr>
              <a:t>situation(s) </a:t>
            </a:r>
            <a:r>
              <a:rPr sz="2400" dirty="0">
                <a:latin typeface="Calibri"/>
                <a:cs typeface="Calibri"/>
              </a:rPr>
              <a:t>will </a:t>
            </a:r>
            <a:r>
              <a:rPr sz="2400" spc="-5" dirty="0">
                <a:latin typeface="Calibri"/>
                <a:cs typeface="Calibri"/>
              </a:rPr>
              <a:t>be </a:t>
            </a:r>
            <a:r>
              <a:rPr sz="2400" dirty="0">
                <a:latin typeface="Calibri"/>
                <a:cs typeface="Calibri"/>
              </a:rPr>
              <a:t>as </a:t>
            </a:r>
            <a:r>
              <a:rPr sz="2400" spc="-10" dirty="0">
                <a:latin typeface="Calibri"/>
                <a:cs typeface="Calibri"/>
              </a:rPr>
              <a:t>well </a:t>
            </a:r>
            <a:r>
              <a:rPr sz="2400" dirty="0">
                <a:latin typeface="Calibri"/>
                <a:cs typeface="Calibri"/>
              </a:rPr>
              <a:t>as </a:t>
            </a:r>
            <a:r>
              <a:rPr sz="2400" spc="-10" dirty="0">
                <a:latin typeface="Calibri"/>
                <a:cs typeface="Calibri"/>
              </a:rPr>
              <a:t>what </a:t>
            </a:r>
            <a:r>
              <a:rPr sz="2400" spc="-5" dirty="0">
                <a:latin typeface="Calibri"/>
                <a:cs typeface="Calibri"/>
              </a:rPr>
              <a:t>final situations </a:t>
            </a:r>
            <a:r>
              <a:rPr sz="2400" spc="-10" dirty="0">
                <a:latin typeface="Calibri"/>
                <a:cs typeface="Calibri"/>
              </a:rPr>
              <a:t>constitute </a:t>
            </a:r>
            <a:r>
              <a:rPr sz="2400" spc="-5" dirty="0">
                <a:latin typeface="Calibri"/>
                <a:cs typeface="Calibri"/>
              </a:rPr>
              <a:t>acceptable </a:t>
            </a:r>
            <a:r>
              <a:rPr sz="2400" spc="-530" dirty="0">
                <a:latin typeface="Calibri"/>
                <a:cs typeface="Calibri"/>
              </a:rPr>
              <a:t> </a:t>
            </a:r>
            <a:r>
              <a:rPr sz="2400" spc="-5" dirty="0">
                <a:latin typeface="Calibri"/>
                <a:cs typeface="Calibri"/>
              </a:rPr>
              <a:t>solutions</a:t>
            </a:r>
            <a:r>
              <a:rPr sz="2400" spc="-15" dirty="0">
                <a:latin typeface="Calibri"/>
                <a:cs typeface="Calibri"/>
              </a:rPr>
              <a:t> to</a:t>
            </a:r>
            <a:r>
              <a:rPr sz="2400" spc="-10" dirty="0">
                <a:latin typeface="Calibri"/>
                <a:cs typeface="Calibri"/>
              </a:rPr>
              <a:t> </a:t>
            </a:r>
            <a:r>
              <a:rPr sz="2400" dirty="0">
                <a:latin typeface="Calibri"/>
                <a:cs typeface="Calibri"/>
              </a:rPr>
              <a:t>the </a:t>
            </a:r>
            <a:r>
              <a:rPr sz="2400" spc="-10" dirty="0">
                <a:latin typeface="Calibri"/>
                <a:cs typeface="Calibri"/>
              </a:rPr>
              <a:t>problem</a:t>
            </a:r>
            <a:endParaRPr sz="2400" dirty="0">
              <a:latin typeface="Calibri"/>
              <a:cs typeface="Calibri"/>
            </a:endParaRPr>
          </a:p>
          <a:p>
            <a:pPr marL="698500" marR="350520" lvl="1" indent="-228600">
              <a:lnSpc>
                <a:spcPts val="2590"/>
              </a:lnSpc>
              <a:spcBef>
                <a:spcPts val="509"/>
              </a:spcBef>
              <a:buFont typeface="Arial MT"/>
              <a:buChar char="•"/>
              <a:tabLst>
                <a:tab pos="699135" algn="l"/>
              </a:tabLst>
            </a:pPr>
            <a:r>
              <a:rPr sz="2400" b="1" spc="-5" dirty="0">
                <a:latin typeface="Calibri"/>
                <a:cs typeface="Calibri"/>
              </a:rPr>
              <a:t>Analyse </a:t>
            </a:r>
            <a:r>
              <a:rPr sz="2400" b="1" dirty="0">
                <a:latin typeface="Calibri"/>
                <a:cs typeface="Calibri"/>
              </a:rPr>
              <a:t>the </a:t>
            </a:r>
            <a:r>
              <a:rPr sz="2400" b="1" spc="-10" dirty="0">
                <a:latin typeface="Calibri"/>
                <a:cs typeface="Calibri"/>
              </a:rPr>
              <a:t>problem: </a:t>
            </a:r>
            <a:r>
              <a:rPr sz="2400" spc="-15" dirty="0">
                <a:latin typeface="Calibri"/>
                <a:cs typeface="Calibri"/>
              </a:rPr>
              <a:t>Few </a:t>
            </a:r>
            <a:r>
              <a:rPr sz="2400" spc="-5" dirty="0">
                <a:latin typeface="Calibri"/>
                <a:cs typeface="Calibri"/>
              </a:rPr>
              <a:t>very </a:t>
            </a:r>
            <a:r>
              <a:rPr sz="2400" spc="-10" dirty="0">
                <a:latin typeface="Calibri"/>
                <a:cs typeface="Calibri"/>
              </a:rPr>
              <a:t>important </a:t>
            </a:r>
            <a:r>
              <a:rPr sz="2400" dirty="0">
                <a:latin typeface="Calibri"/>
                <a:cs typeface="Calibri"/>
              </a:rPr>
              <a:t>aspects </a:t>
            </a:r>
            <a:r>
              <a:rPr sz="2400" spc="-5" dirty="0">
                <a:latin typeface="Calibri"/>
                <a:cs typeface="Calibri"/>
              </a:rPr>
              <a:t>those </a:t>
            </a:r>
            <a:r>
              <a:rPr sz="2400" spc="-10" dirty="0">
                <a:latin typeface="Calibri"/>
                <a:cs typeface="Calibri"/>
              </a:rPr>
              <a:t>having </a:t>
            </a:r>
            <a:r>
              <a:rPr sz="2400" spc="-5" dirty="0">
                <a:latin typeface="Calibri"/>
                <a:cs typeface="Calibri"/>
              </a:rPr>
              <a:t>immense </a:t>
            </a:r>
            <a:r>
              <a:rPr sz="2400" dirty="0">
                <a:latin typeface="Calibri"/>
                <a:cs typeface="Calibri"/>
              </a:rPr>
              <a:t> impact </a:t>
            </a:r>
            <a:r>
              <a:rPr sz="2400" spc="-5" dirty="0">
                <a:latin typeface="Calibri"/>
                <a:cs typeface="Calibri"/>
              </a:rPr>
              <a:t>on </a:t>
            </a:r>
            <a:r>
              <a:rPr sz="2400" dirty="0">
                <a:latin typeface="Calibri"/>
                <a:cs typeface="Calibri"/>
              </a:rPr>
              <a:t>the </a:t>
            </a:r>
            <a:r>
              <a:rPr sz="2400" spc="-10" dirty="0">
                <a:latin typeface="Calibri"/>
                <a:cs typeface="Calibri"/>
              </a:rPr>
              <a:t>appropriateness </a:t>
            </a:r>
            <a:r>
              <a:rPr sz="2400" spc="-5" dirty="0">
                <a:latin typeface="Calibri"/>
                <a:cs typeface="Calibri"/>
              </a:rPr>
              <a:t>of </a:t>
            </a:r>
            <a:r>
              <a:rPr sz="2400" spc="-10" dirty="0">
                <a:latin typeface="Calibri"/>
                <a:cs typeface="Calibri"/>
              </a:rPr>
              <a:t>various </a:t>
            </a:r>
            <a:r>
              <a:rPr sz="2400" spc="-5" dirty="0">
                <a:latin typeface="Calibri"/>
                <a:cs typeface="Calibri"/>
              </a:rPr>
              <a:t>possible techniques </a:t>
            </a:r>
            <a:r>
              <a:rPr sz="2400" spc="-20" dirty="0">
                <a:latin typeface="Calibri"/>
                <a:cs typeface="Calibri"/>
              </a:rPr>
              <a:t>for </a:t>
            </a:r>
            <a:r>
              <a:rPr sz="2400" spc="-10" dirty="0">
                <a:latin typeface="Calibri"/>
                <a:cs typeface="Calibri"/>
              </a:rPr>
              <a:t>problem </a:t>
            </a:r>
            <a:r>
              <a:rPr sz="2400" spc="-530" dirty="0">
                <a:latin typeface="Calibri"/>
                <a:cs typeface="Calibri"/>
              </a:rPr>
              <a:t> </a:t>
            </a:r>
            <a:r>
              <a:rPr sz="2400" spc="-5" dirty="0">
                <a:latin typeface="Calibri"/>
                <a:cs typeface="Calibri"/>
              </a:rPr>
              <a:t>solving</a:t>
            </a:r>
            <a:r>
              <a:rPr sz="2400" spc="-15" dirty="0">
                <a:latin typeface="Calibri"/>
                <a:cs typeface="Calibri"/>
              </a:rPr>
              <a:t> </a:t>
            </a:r>
            <a:r>
              <a:rPr sz="2400" dirty="0">
                <a:latin typeface="Calibri"/>
                <a:cs typeface="Calibri"/>
              </a:rPr>
              <a:t>is </a:t>
            </a:r>
            <a:r>
              <a:rPr sz="2400" spc="-20" dirty="0">
                <a:latin typeface="Calibri"/>
                <a:cs typeface="Calibri"/>
              </a:rPr>
              <a:t>to</a:t>
            </a:r>
            <a:r>
              <a:rPr sz="2400" spc="-10" dirty="0">
                <a:latin typeface="Calibri"/>
                <a:cs typeface="Calibri"/>
              </a:rPr>
              <a:t> </a:t>
            </a:r>
            <a:r>
              <a:rPr sz="2400" spc="-5" dirty="0">
                <a:latin typeface="Calibri"/>
                <a:cs typeface="Calibri"/>
              </a:rPr>
              <a:t>be critically</a:t>
            </a:r>
            <a:r>
              <a:rPr sz="2400" spc="-35" dirty="0">
                <a:latin typeface="Calibri"/>
                <a:cs typeface="Calibri"/>
              </a:rPr>
              <a:t> </a:t>
            </a:r>
            <a:r>
              <a:rPr sz="2400" spc="-10" dirty="0">
                <a:latin typeface="Calibri"/>
                <a:cs typeface="Calibri"/>
              </a:rPr>
              <a:t>examined</a:t>
            </a:r>
            <a:endParaRPr sz="2400" dirty="0">
              <a:latin typeface="Calibri"/>
              <a:cs typeface="Calibri"/>
            </a:endParaRPr>
          </a:p>
          <a:p>
            <a:pPr marL="698500" lvl="1" indent="-229235">
              <a:lnSpc>
                <a:spcPts val="2735"/>
              </a:lnSpc>
              <a:spcBef>
                <a:spcPts val="170"/>
              </a:spcBef>
              <a:buFont typeface="Arial MT"/>
              <a:buChar char="•"/>
              <a:tabLst>
                <a:tab pos="699135" algn="l"/>
              </a:tabLst>
            </a:pPr>
            <a:r>
              <a:rPr sz="2400" b="1" spc="-10" dirty="0">
                <a:latin typeface="Calibri"/>
                <a:cs typeface="Calibri"/>
              </a:rPr>
              <a:t>Isolate</a:t>
            </a:r>
            <a:r>
              <a:rPr sz="2400" b="1" spc="-15" dirty="0">
                <a:latin typeface="Calibri"/>
                <a:cs typeface="Calibri"/>
              </a:rPr>
              <a:t> </a:t>
            </a:r>
            <a:r>
              <a:rPr sz="2400" b="1" dirty="0">
                <a:latin typeface="Calibri"/>
                <a:cs typeface="Calibri"/>
              </a:rPr>
              <a:t>and </a:t>
            </a:r>
            <a:r>
              <a:rPr sz="2400" b="1" spc="-10" dirty="0">
                <a:latin typeface="Calibri"/>
                <a:cs typeface="Calibri"/>
              </a:rPr>
              <a:t>Represent</a:t>
            </a:r>
            <a:r>
              <a:rPr sz="2400" b="1" dirty="0">
                <a:latin typeface="Calibri"/>
                <a:cs typeface="Calibri"/>
              </a:rPr>
              <a:t> the</a:t>
            </a:r>
            <a:r>
              <a:rPr sz="2400" b="1" spc="-20" dirty="0">
                <a:latin typeface="Calibri"/>
                <a:cs typeface="Calibri"/>
              </a:rPr>
              <a:t> </a:t>
            </a:r>
            <a:r>
              <a:rPr sz="2400" b="1" spc="-10" dirty="0">
                <a:latin typeface="Calibri"/>
                <a:cs typeface="Calibri"/>
              </a:rPr>
              <a:t>task</a:t>
            </a:r>
            <a:r>
              <a:rPr sz="2400" b="1" spc="-20" dirty="0">
                <a:latin typeface="Calibri"/>
                <a:cs typeface="Calibri"/>
              </a:rPr>
              <a:t> </a:t>
            </a:r>
            <a:r>
              <a:rPr sz="2400" b="1" spc="-5" dirty="0">
                <a:latin typeface="Calibri"/>
                <a:cs typeface="Calibri"/>
              </a:rPr>
              <a:t>knowledge:</a:t>
            </a:r>
            <a:r>
              <a:rPr sz="2400" b="1" spc="-15" dirty="0">
                <a:latin typeface="Calibri"/>
                <a:cs typeface="Calibri"/>
              </a:rPr>
              <a:t> </a:t>
            </a:r>
            <a:r>
              <a:rPr sz="2400" spc="-10" dirty="0">
                <a:latin typeface="Calibri"/>
                <a:cs typeface="Calibri"/>
              </a:rPr>
              <a:t>Knowledge</a:t>
            </a:r>
            <a:r>
              <a:rPr sz="2400" dirty="0">
                <a:latin typeface="Calibri"/>
                <a:cs typeface="Calibri"/>
              </a:rPr>
              <a:t> </a:t>
            </a:r>
            <a:r>
              <a:rPr sz="2400" spc="-5" dirty="0">
                <a:latin typeface="Calibri"/>
                <a:cs typeface="Calibri"/>
              </a:rPr>
              <a:t>necessary</a:t>
            </a:r>
            <a:r>
              <a:rPr sz="2400" spc="-10" dirty="0">
                <a:latin typeface="Calibri"/>
                <a:cs typeface="Calibri"/>
              </a:rPr>
              <a:t> </a:t>
            </a:r>
            <a:r>
              <a:rPr sz="2400" spc="-15" dirty="0">
                <a:latin typeface="Calibri"/>
                <a:cs typeface="Calibri"/>
              </a:rPr>
              <a:t>to </a:t>
            </a:r>
            <a:r>
              <a:rPr sz="2400" spc="-10" dirty="0">
                <a:latin typeface="Calibri"/>
                <a:cs typeface="Calibri"/>
              </a:rPr>
              <a:t>solve</a:t>
            </a:r>
            <a:r>
              <a:rPr sz="2400" spc="-5" dirty="0">
                <a:latin typeface="Calibri"/>
                <a:cs typeface="Calibri"/>
              </a:rPr>
              <a:t> </a:t>
            </a:r>
            <a:r>
              <a:rPr sz="2400" dirty="0">
                <a:latin typeface="Calibri"/>
                <a:cs typeface="Calibri"/>
              </a:rPr>
              <a:t>the</a:t>
            </a:r>
            <a:r>
              <a:rPr lang="en-US" sz="2400" dirty="0">
                <a:latin typeface="Calibri"/>
                <a:cs typeface="Calibri"/>
              </a:rPr>
              <a:t> </a:t>
            </a:r>
            <a:r>
              <a:rPr sz="2400" spc="-10" dirty="0">
                <a:latin typeface="Calibri"/>
                <a:cs typeface="Calibri"/>
              </a:rPr>
              <a:t>problem</a:t>
            </a:r>
            <a:r>
              <a:rPr sz="2400" spc="-20" dirty="0">
                <a:latin typeface="Calibri"/>
                <a:cs typeface="Calibri"/>
              </a:rPr>
              <a:t> </a:t>
            </a:r>
            <a:r>
              <a:rPr sz="2400" spc="-10" dirty="0">
                <a:latin typeface="Calibri"/>
                <a:cs typeface="Calibri"/>
              </a:rPr>
              <a:t>must</a:t>
            </a:r>
            <a:r>
              <a:rPr sz="2400" spc="-15" dirty="0">
                <a:latin typeface="Calibri"/>
                <a:cs typeface="Calibri"/>
              </a:rPr>
              <a:t> </a:t>
            </a:r>
            <a:r>
              <a:rPr sz="2400" spc="-5" dirty="0">
                <a:latin typeface="Calibri"/>
                <a:cs typeface="Calibri"/>
              </a:rPr>
              <a:t>be identified, </a:t>
            </a:r>
            <a:r>
              <a:rPr sz="2400" spc="-10" dirty="0">
                <a:latin typeface="Calibri"/>
                <a:cs typeface="Calibri"/>
              </a:rPr>
              <a:t>isolated</a:t>
            </a:r>
            <a:r>
              <a:rPr sz="2400" dirty="0">
                <a:latin typeface="Calibri"/>
                <a:cs typeface="Calibri"/>
              </a:rPr>
              <a:t> and</a:t>
            </a:r>
            <a:r>
              <a:rPr sz="2400" spc="-5" dirty="0">
                <a:latin typeface="Calibri"/>
                <a:cs typeface="Calibri"/>
              </a:rPr>
              <a:t> </a:t>
            </a:r>
            <a:r>
              <a:rPr sz="2400" spc="-10" dirty="0">
                <a:latin typeface="Calibri"/>
                <a:cs typeface="Calibri"/>
              </a:rPr>
              <a:t>represented</a:t>
            </a:r>
            <a:endParaRPr sz="2400" dirty="0">
              <a:latin typeface="Calibri"/>
              <a:cs typeface="Calibri"/>
            </a:endParaRPr>
          </a:p>
          <a:p>
            <a:pPr marL="698500" marR="360680" lvl="1" indent="-228600">
              <a:lnSpc>
                <a:spcPts val="2590"/>
              </a:lnSpc>
              <a:spcBef>
                <a:spcPts val="545"/>
              </a:spcBef>
              <a:buFont typeface="Arial MT"/>
              <a:buChar char="•"/>
              <a:tabLst>
                <a:tab pos="699135" algn="l"/>
              </a:tabLst>
            </a:pPr>
            <a:r>
              <a:rPr sz="2400" b="1" spc="-5" dirty="0">
                <a:latin typeface="Calibri"/>
                <a:cs typeface="Calibri"/>
              </a:rPr>
              <a:t>Choose </a:t>
            </a:r>
            <a:r>
              <a:rPr sz="2400" b="1" dirty="0">
                <a:latin typeface="Calibri"/>
                <a:cs typeface="Calibri"/>
              </a:rPr>
              <a:t>and apply the </a:t>
            </a:r>
            <a:r>
              <a:rPr sz="2400" b="1" spc="-10" dirty="0">
                <a:latin typeface="Calibri"/>
                <a:cs typeface="Calibri"/>
              </a:rPr>
              <a:t>best technique: </a:t>
            </a:r>
            <a:r>
              <a:rPr sz="2400" dirty="0">
                <a:latin typeface="Calibri"/>
                <a:cs typeface="Calibri"/>
              </a:rPr>
              <a:t>Among the </a:t>
            </a:r>
            <a:r>
              <a:rPr sz="2400" spc="-10" dirty="0">
                <a:latin typeface="Calibri"/>
                <a:cs typeface="Calibri"/>
              </a:rPr>
              <a:t>alternatives </a:t>
            </a:r>
            <a:r>
              <a:rPr sz="2400" spc="-5" dirty="0">
                <a:latin typeface="Calibri"/>
                <a:cs typeface="Calibri"/>
              </a:rPr>
              <a:t>identify </a:t>
            </a:r>
            <a:r>
              <a:rPr sz="2400" dirty="0">
                <a:latin typeface="Calibri"/>
                <a:cs typeface="Calibri"/>
              </a:rPr>
              <a:t>the </a:t>
            </a:r>
            <a:r>
              <a:rPr sz="2400" spc="-530" dirty="0">
                <a:latin typeface="Calibri"/>
                <a:cs typeface="Calibri"/>
              </a:rPr>
              <a:t> </a:t>
            </a:r>
            <a:r>
              <a:rPr sz="2400" spc="-10" dirty="0">
                <a:latin typeface="Calibri"/>
                <a:cs typeface="Calibri"/>
              </a:rPr>
              <a:t>best</a:t>
            </a:r>
            <a:r>
              <a:rPr sz="2400" spc="-5" dirty="0">
                <a:latin typeface="Calibri"/>
                <a:cs typeface="Calibri"/>
              </a:rPr>
              <a:t> </a:t>
            </a:r>
            <a:r>
              <a:rPr sz="2400" spc="-10" dirty="0">
                <a:latin typeface="Calibri"/>
                <a:cs typeface="Calibri"/>
              </a:rPr>
              <a:t>technique</a:t>
            </a:r>
            <a:r>
              <a:rPr sz="2400" spc="-15" dirty="0">
                <a:latin typeface="Calibri"/>
                <a:cs typeface="Calibri"/>
              </a:rPr>
              <a:t> to</a:t>
            </a:r>
            <a:r>
              <a:rPr sz="2400" spc="-10" dirty="0">
                <a:latin typeface="Calibri"/>
                <a:cs typeface="Calibri"/>
              </a:rPr>
              <a:t> solve</a:t>
            </a:r>
            <a:r>
              <a:rPr sz="2400" dirty="0">
                <a:latin typeface="Calibri"/>
                <a:cs typeface="Calibri"/>
              </a:rPr>
              <a:t> the </a:t>
            </a:r>
            <a:r>
              <a:rPr sz="2400" spc="-10" dirty="0">
                <a:latin typeface="Calibri"/>
                <a:cs typeface="Calibri"/>
              </a:rPr>
              <a:t>problem</a:t>
            </a:r>
            <a:r>
              <a:rPr sz="2400" spc="-1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apply</a:t>
            </a:r>
            <a:r>
              <a:rPr sz="2400" spc="-5" dirty="0">
                <a:latin typeface="Calibri"/>
                <a:cs typeface="Calibri"/>
              </a:rPr>
              <a:t> </a:t>
            </a:r>
            <a:r>
              <a:rPr sz="2400" dirty="0">
                <a:latin typeface="Calibri"/>
                <a:cs typeface="Calibri"/>
              </a:rPr>
              <a:t>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472295" cy="697230"/>
          </a:xfrm>
          <a:prstGeom prst="rect">
            <a:avLst/>
          </a:prstGeom>
        </p:spPr>
        <p:txBody>
          <a:bodyPr vert="horz" wrap="square" lIns="0" tIns="13335" rIns="0" bIns="0" rtlCol="0">
            <a:spAutoFit/>
          </a:bodyPr>
          <a:lstStyle/>
          <a:p>
            <a:pPr marL="12700">
              <a:lnSpc>
                <a:spcPct val="100000"/>
              </a:lnSpc>
              <a:spcBef>
                <a:spcPts val="105"/>
              </a:spcBef>
            </a:pPr>
            <a:r>
              <a:rPr spc="-5" dirty="0"/>
              <a:t>Defining </a:t>
            </a:r>
            <a:r>
              <a:rPr spc="-20" dirty="0"/>
              <a:t>Problems</a:t>
            </a:r>
            <a:r>
              <a:rPr spc="-10" dirty="0"/>
              <a:t> </a:t>
            </a:r>
            <a:r>
              <a:rPr dirty="0"/>
              <a:t>as a</a:t>
            </a:r>
            <a:r>
              <a:rPr spc="-5" dirty="0"/>
              <a:t> </a:t>
            </a:r>
            <a:r>
              <a:rPr spc="-30" dirty="0"/>
              <a:t>State</a:t>
            </a:r>
            <a:r>
              <a:rPr spc="-10" dirty="0"/>
              <a:t> </a:t>
            </a:r>
            <a:r>
              <a:rPr dirty="0"/>
              <a:t>Space </a:t>
            </a:r>
            <a:r>
              <a:rPr spc="-10" dirty="0"/>
              <a:t>Search</a:t>
            </a:r>
          </a:p>
        </p:txBody>
      </p:sp>
      <p:sp>
        <p:nvSpPr>
          <p:cNvPr id="3" name="object 3"/>
          <p:cNvSpPr txBox="1"/>
          <p:nvPr/>
        </p:nvSpPr>
        <p:spPr>
          <a:xfrm>
            <a:off x="916939" y="1756565"/>
            <a:ext cx="10307320" cy="485965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b="1" spc="-15" dirty="0">
                <a:latin typeface="Calibri"/>
                <a:cs typeface="Calibri"/>
              </a:rPr>
              <a:t>Problem</a:t>
            </a:r>
            <a:r>
              <a:rPr sz="2800" b="1" spc="10" dirty="0">
                <a:latin typeface="Calibri"/>
                <a:cs typeface="Calibri"/>
              </a:rPr>
              <a:t> </a:t>
            </a:r>
            <a:r>
              <a:rPr sz="2800" b="1" spc="-15" dirty="0">
                <a:latin typeface="Calibri"/>
                <a:cs typeface="Calibri"/>
              </a:rPr>
              <a:t>Statement:</a:t>
            </a:r>
            <a:r>
              <a:rPr sz="2800" b="1" spc="10" dirty="0">
                <a:latin typeface="Calibri"/>
                <a:cs typeface="Calibri"/>
              </a:rPr>
              <a:t> </a:t>
            </a:r>
            <a:r>
              <a:rPr sz="2800" spc="-15" dirty="0">
                <a:latin typeface="Calibri"/>
                <a:cs typeface="Calibri"/>
              </a:rPr>
              <a:t>Play</a:t>
            </a:r>
            <a:r>
              <a:rPr sz="2800" spc="10" dirty="0">
                <a:latin typeface="Calibri"/>
                <a:cs typeface="Calibri"/>
              </a:rPr>
              <a:t> </a:t>
            </a:r>
            <a:r>
              <a:rPr sz="2800" spc="-5" dirty="0">
                <a:latin typeface="Calibri"/>
                <a:cs typeface="Calibri"/>
              </a:rPr>
              <a:t>Chess,</a:t>
            </a:r>
            <a:r>
              <a:rPr sz="2800" spc="20" dirty="0">
                <a:latin typeface="Calibri"/>
                <a:cs typeface="Calibri"/>
              </a:rPr>
              <a:t> </a:t>
            </a:r>
            <a:r>
              <a:rPr sz="2800" spc="-10" dirty="0">
                <a:latin typeface="Calibri"/>
                <a:cs typeface="Calibri"/>
              </a:rPr>
              <a:t>Solve</a:t>
            </a:r>
            <a:r>
              <a:rPr sz="2800" dirty="0">
                <a:latin typeface="Calibri"/>
                <a:cs typeface="Calibri"/>
              </a:rPr>
              <a:t> </a:t>
            </a:r>
            <a:r>
              <a:rPr sz="2800" spc="-60" dirty="0">
                <a:latin typeface="Calibri"/>
                <a:cs typeface="Calibri"/>
              </a:rPr>
              <a:t>Tower</a:t>
            </a:r>
            <a:r>
              <a:rPr sz="2800" spc="-5" dirty="0">
                <a:latin typeface="Calibri"/>
                <a:cs typeface="Calibri"/>
              </a:rPr>
              <a:t> of Hanoi</a:t>
            </a:r>
            <a:endParaRPr sz="2800" dirty="0">
              <a:latin typeface="Calibri"/>
              <a:cs typeface="Calibri"/>
            </a:endParaRPr>
          </a:p>
          <a:p>
            <a:pPr marL="698500" lvl="1" indent="-229235">
              <a:lnSpc>
                <a:spcPct val="100000"/>
              </a:lnSpc>
              <a:spcBef>
                <a:spcPts val="245"/>
              </a:spcBef>
              <a:buFont typeface="Arial MT"/>
              <a:buChar char="•"/>
              <a:tabLst>
                <a:tab pos="699135" algn="l"/>
              </a:tabLst>
            </a:pPr>
            <a:r>
              <a:rPr sz="2400" spc="-114" dirty="0">
                <a:latin typeface="Calibri"/>
                <a:cs typeface="Calibri"/>
              </a:rPr>
              <a:t>To</a:t>
            </a:r>
            <a:r>
              <a:rPr sz="2400" spc="-5" dirty="0">
                <a:latin typeface="Calibri"/>
                <a:cs typeface="Calibri"/>
              </a:rPr>
              <a:t> </a:t>
            </a:r>
            <a:r>
              <a:rPr sz="2400" spc="-10" dirty="0">
                <a:latin typeface="Calibri"/>
                <a:cs typeface="Calibri"/>
              </a:rPr>
              <a:t>develop</a:t>
            </a:r>
            <a:r>
              <a:rPr sz="2400" spc="5" dirty="0">
                <a:latin typeface="Calibri"/>
                <a:cs typeface="Calibri"/>
              </a:rPr>
              <a:t> </a:t>
            </a:r>
            <a:r>
              <a:rPr sz="2400" dirty="0">
                <a:latin typeface="Calibri"/>
                <a:cs typeface="Calibri"/>
              </a:rPr>
              <a:t>the </a:t>
            </a:r>
            <a:r>
              <a:rPr sz="2400" spc="-5" dirty="0">
                <a:latin typeface="Calibri"/>
                <a:cs typeface="Calibri"/>
              </a:rPr>
              <a:t>solution</a:t>
            </a:r>
            <a:r>
              <a:rPr sz="2400" dirty="0">
                <a:latin typeface="Calibri"/>
                <a:cs typeface="Calibri"/>
              </a:rPr>
              <a:t> </a:t>
            </a:r>
            <a:r>
              <a:rPr sz="2400" spc="-15" dirty="0">
                <a:latin typeface="Calibri"/>
                <a:cs typeface="Calibri"/>
              </a:rPr>
              <a:t>to</a:t>
            </a:r>
            <a:r>
              <a:rPr sz="2400" spc="-10" dirty="0">
                <a:latin typeface="Calibri"/>
                <a:cs typeface="Calibri"/>
              </a:rPr>
              <a:t> </a:t>
            </a:r>
            <a:r>
              <a:rPr sz="2400" dirty="0">
                <a:latin typeface="Calibri"/>
                <a:cs typeface="Calibri"/>
              </a:rPr>
              <a:t>the</a:t>
            </a:r>
            <a:r>
              <a:rPr sz="2400" spc="-10" dirty="0">
                <a:latin typeface="Calibri"/>
                <a:cs typeface="Calibri"/>
              </a:rPr>
              <a:t> problem, problem</a:t>
            </a:r>
            <a:r>
              <a:rPr sz="2400" spc="-5" dirty="0">
                <a:latin typeface="Calibri"/>
                <a:cs typeface="Calibri"/>
              </a:rPr>
              <a:t> </a:t>
            </a:r>
            <a:r>
              <a:rPr sz="2400" spc="-10" dirty="0">
                <a:latin typeface="Calibri"/>
                <a:cs typeface="Calibri"/>
              </a:rPr>
              <a:t>must</a:t>
            </a:r>
            <a:r>
              <a:rPr sz="2400" spc="-15" dirty="0">
                <a:latin typeface="Calibri"/>
                <a:cs typeface="Calibri"/>
              </a:rPr>
              <a:t> </a:t>
            </a:r>
            <a:r>
              <a:rPr sz="2400" spc="-5" dirty="0">
                <a:latin typeface="Calibri"/>
                <a:cs typeface="Calibri"/>
              </a:rPr>
              <a:t>be</a:t>
            </a:r>
            <a:r>
              <a:rPr sz="2400" dirty="0">
                <a:latin typeface="Calibri"/>
                <a:cs typeface="Calibri"/>
              </a:rPr>
              <a:t> </a:t>
            </a:r>
            <a:r>
              <a:rPr sz="2400" spc="-10" dirty="0">
                <a:latin typeface="Calibri"/>
                <a:cs typeface="Calibri"/>
              </a:rPr>
              <a:t>well </a:t>
            </a:r>
            <a:r>
              <a:rPr sz="2400" spc="-5" dirty="0">
                <a:latin typeface="Calibri"/>
                <a:cs typeface="Calibri"/>
              </a:rPr>
              <a:t>identified</a:t>
            </a:r>
            <a:endParaRPr sz="2400" dirty="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Starting</a:t>
            </a:r>
            <a:r>
              <a:rPr sz="2400" spc="-25" dirty="0">
                <a:latin typeface="Calibri"/>
                <a:cs typeface="Calibri"/>
              </a:rPr>
              <a:t> </a:t>
            </a:r>
            <a:r>
              <a:rPr sz="2400" dirty="0">
                <a:latin typeface="Calibri"/>
                <a:cs typeface="Calibri"/>
              </a:rPr>
              <a:t>with</a:t>
            </a:r>
            <a:r>
              <a:rPr sz="2400" spc="-15" dirty="0">
                <a:latin typeface="Calibri"/>
                <a:cs typeface="Calibri"/>
              </a:rPr>
              <a:t> </a:t>
            </a:r>
            <a:r>
              <a:rPr sz="2400" spc="-10" dirty="0">
                <a:latin typeface="Calibri"/>
                <a:cs typeface="Calibri"/>
              </a:rPr>
              <a:t>specification</a:t>
            </a:r>
            <a:r>
              <a:rPr sz="2400" spc="-15" dirty="0">
                <a:latin typeface="Calibri"/>
                <a:cs typeface="Calibri"/>
              </a:rPr>
              <a:t> </a:t>
            </a:r>
            <a:r>
              <a:rPr sz="2400" spc="-5" dirty="0">
                <a:latin typeface="Calibri"/>
                <a:cs typeface="Calibri"/>
              </a:rPr>
              <a:t>of </a:t>
            </a:r>
            <a:r>
              <a:rPr sz="2400" spc="-15" dirty="0">
                <a:latin typeface="Calibri"/>
                <a:cs typeface="Calibri"/>
              </a:rPr>
              <a:t>states,</a:t>
            </a:r>
            <a:r>
              <a:rPr sz="2400" spc="-25" dirty="0">
                <a:latin typeface="Calibri"/>
                <a:cs typeface="Calibri"/>
              </a:rPr>
              <a:t> </a:t>
            </a:r>
            <a:r>
              <a:rPr sz="2400" dirty="0">
                <a:latin typeface="Calibri"/>
                <a:cs typeface="Calibri"/>
              </a:rPr>
              <a:t>rules and</a:t>
            </a:r>
            <a:r>
              <a:rPr sz="2400" spc="-5" dirty="0">
                <a:latin typeface="Calibri"/>
                <a:cs typeface="Calibri"/>
              </a:rPr>
              <a:t> </a:t>
            </a:r>
            <a:r>
              <a:rPr sz="2400" spc="-15" dirty="0">
                <a:latin typeface="Calibri"/>
                <a:cs typeface="Calibri"/>
              </a:rPr>
              <a:t>outcomes</a:t>
            </a:r>
            <a:endParaRPr sz="2400" dirty="0">
              <a:latin typeface="Calibri"/>
              <a:cs typeface="Calibri"/>
            </a:endParaRPr>
          </a:p>
          <a:p>
            <a:pPr marL="698500" lvl="1" indent="-229235">
              <a:lnSpc>
                <a:spcPct val="100000"/>
              </a:lnSpc>
              <a:spcBef>
                <a:spcPts val="200"/>
              </a:spcBef>
              <a:buFont typeface="Arial MT"/>
              <a:buChar char="•"/>
              <a:tabLst>
                <a:tab pos="699135" algn="l"/>
              </a:tabLst>
            </a:pPr>
            <a:r>
              <a:rPr sz="2400" spc="-10" dirty="0">
                <a:latin typeface="Calibri"/>
                <a:cs typeface="Calibri"/>
              </a:rPr>
              <a:t>Focusing</a:t>
            </a:r>
            <a:r>
              <a:rPr sz="2400" spc="-25" dirty="0">
                <a:latin typeface="Calibri"/>
                <a:cs typeface="Calibri"/>
              </a:rPr>
              <a:t> </a:t>
            </a:r>
            <a:r>
              <a:rPr sz="2400" spc="-5" dirty="0">
                <a:latin typeface="Calibri"/>
                <a:cs typeface="Calibri"/>
              </a:rPr>
              <a:t>on Solving</a:t>
            </a:r>
            <a:r>
              <a:rPr sz="2400" dirty="0">
                <a:latin typeface="Calibri"/>
                <a:cs typeface="Calibri"/>
              </a:rPr>
              <a:t> the</a:t>
            </a:r>
            <a:r>
              <a:rPr sz="2400" spc="-15" dirty="0">
                <a:latin typeface="Calibri"/>
                <a:cs typeface="Calibri"/>
              </a:rPr>
              <a:t> </a:t>
            </a:r>
            <a:r>
              <a:rPr sz="2400" spc="-10" dirty="0">
                <a:latin typeface="Calibri"/>
                <a:cs typeface="Calibri"/>
              </a:rPr>
              <a:t>Problem </a:t>
            </a:r>
            <a:r>
              <a:rPr sz="2400" dirty="0">
                <a:latin typeface="Calibri"/>
                <a:cs typeface="Calibri"/>
              </a:rPr>
              <a:t>i.e.</a:t>
            </a:r>
            <a:r>
              <a:rPr sz="2400" spc="-5" dirty="0">
                <a:latin typeface="Calibri"/>
                <a:cs typeface="Calibri"/>
              </a:rPr>
              <a:t> identifying</a:t>
            </a:r>
            <a:r>
              <a:rPr sz="2400" spc="-15" dirty="0">
                <a:latin typeface="Calibri"/>
                <a:cs typeface="Calibri"/>
              </a:rPr>
              <a:t> </a:t>
            </a:r>
            <a:r>
              <a:rPr sz="2400" dirty="0">
                <a:latin typeface="Calibri"/>
                <a:cs typeface="Calibri"/>
              </a:rPr>
              <a:t>the </a:t>
            </a:r>
            <a:r>
              <a:rPr sz="2400" spc="-10" dirty="0">
                <a:latin typeface="Calibri"/>
                <a:cs typeface="Calibri"/>
              </a:rPr>
              <a:t>GOAL</a:t>
            </a:r>
            <a:endParaRPr sz="2400" dirty="0">
              <a:latin typeface="Calibri"/>
              <a:cs typeface="Calibri"/>
            </a:endParaRPr>
          </a:p>
          <a:p>
            <a:pPr marL="241300" indent="-228600">
              <a:lnSpc>
                <a:spcPct val="100000"/>
              </a:lnSpc>
              <a:spcBef>
                <a:spcPts val="650"/>
              </a:spcBef>
              <a:buFont typeface="Arial MT"/>
              <a:buChar char="•"/>
              <a:tabLst>
                <a:tab pos="241300" algn="l"/>
              </a:tabLst>
            </a:pPr>
            <a:r>
              <a:rPr sz="2800" b="1" spc="-10" dirty="0">
                <a:latin typeface="Calibri"/>
                <a:cs typeface="Calibri"/>
              </a:rPr>
              <a:t>Incomplete</a:t>
            </a:r>
            <a:r>
              <a:rPr sz="2800" b="1" dirty="0">
                <a:latin typeface="Calibri"/>
                <a:cs typeface="Calibri"/>
              </a:rPr>
              <a:t> </a:t>
            </a:r>
            <a:r>
              <a:rPr sz="2800" b="1" spc="-5" dirty="0">
                <a:latin typeface="Calibri"/>
                <a:cs typeface="Calibri"/>
              </a:rPr>
              <a:t>and</a:t>
            </a:r>
            <a:r>
              <a:rPr sz="2800" b="1" spc="20" dirty="0">
                <a:latin typeface="Calibri"/>
                <a:cs typeface="Calibri"/>
              </a:rPr>
              <a:t> </a:t>
            </a:r>
            <a:r>
              <a:rPr sz="2800" b="1" spc="-15" dirty="0">
                <a:latin typeface="Calibri"/>
                <a:cs typeface="Calibri"/>
              </a:rPr>
              <a:t>Complete</a:t>
            </a:r>
            <a:r>
              <a:rPr sz="2800" b="1" dirty="0">
                <a:latin typeface="Calibri"/>
                <a:cs typeface="Calibri"/>
              </a:rPr>
              <a:t> </a:t>
            </a:r>
            <a:r>
              <a:rPr sz="2800" b="1" spc="-15" dirty="0">
                <a:latin typeface="Calibri"/>
                <a:cs typeface="Calibri"/>
              </a:rPr>
              <a:t>Problem</a:t>
            </a:r>
            <a:r>
              <a:rPr sz="2800" b="1" spc="30" dirty="0">
                <a:latin typeface="Calibri"/>
                <a:cs typeface="Calibri"/>
              </a:rPr>
              <a:t> </a:t>
            </a:r>
            <a:r>
              <a:rPr sz="2800" b="1" spc="-15" dirty="0">
                <a:latin typeface="Calibri"/>
                <a:cs typeface="Calibri"/>
              </a:rPr>
              <a:t>Statement</a:t>
            </a:r>
            <a:endParaRPr sz="2800" b="1" dirty="0">
              <a:latin typeface="Calibri"/>
              <a:cs typeface="Calibri"/>
            </a:endParaRPr>
          </a:p>
          <a:p>
            <a:pPr marL="241300" indent="-228600">
              <a:lnSpc>
                <a:spcPct val="100000"/>
              </a:lnSpc>
              <a:spcBef>
                <a:spcPts val="660"/>
              </a:spcBef>
              <a:buFont typeface="Arial MT"/>
              <a:buChar char="•"/>
              <a:tabLst>
                <a:tab pos="241300" algn="l"/>
              </a:tabLst>
            </a:pPr>
            <a:r>
              <a:rPr sz="2800" b="1" spc="-15" dirty="0">
                <a:latin typeface="Calibri"/>
                <a:cs typeface="Calibri"/>
              </a:rPr>
              <a:t>Complete</a:t>
            </a:r>
            <a:r>
              <a:rPr sz="2800" b="1" dirty="0">
                <a:latin typeface="Calibri"/>
                <a:cs typeface="Calibri"/>
              </a:rPr>
              <a:t> </a:t>
            </a:r>
            <a:r>
              <a:rPr sz="2800" b="1" spc="-10" dirty="0">
                <a:latin typeface="Calibri"/>
                <a:cs typeface="Calibri"/>
              </a:rPr>
              <a:t>Set</a:t>
            </a:r>
            <a:r>
              <a:rPr sz="2800" b="1" spc="-5" dirty="0">
                <a:latin typeface="Calibri"/>
                <a:cs typeface="Calibri"/>
              </a:rPr>
              <a:t> of</a:t>
            </a:r>
            <a:r>
              <a:rPr sz="2800" b="1" spc="5" dirty="0">
                <a:latin typeface="Calibri"/>
                <a:cs typeface="Calibri"/>
              </a:rPr>
              <a:t> </a:t>
            </a:r>
            <a:r>
              <a:rPr sz="2800" b="1" spc="-5" dirty="0">
                <a:latin typeface="Calibri"/>
                <a:cs typeface="Calibri"/>
              </a:rPr>
              <a:t>Rules</a:t>
            </a:r>
            <a:r>
              <a:rPr sz="2800" b="1" spc="15" dirty="0">
                <a:latin typeface="Calibri"/>
                <a:cs typeface="Calibri"/>
              </a:rPr>
              <a:t> </a:t>
            </a:r>
            <a:r>
              <a:rPr sz="2800" b="1" spc="-5" dirty="0">
                <a:latin typeface="Calibri"/>
                <a:cs typeface="Calibri"/>
              </a:rPr>
              <a:t>is</a:t>
            </a:r>
            <a:r>
              <a:rPr sz="2800" b="1" spc="10" dirty="0">
                <a:latin typeface="Calibri"/>
                <a:cs typeface="Calibri"/>
              </a:rPr>
              <a:t> </a:t>
            </a:r>
            <a:r>
              <a:rPr sz="2800" b="1" spc="-5" dirty="0">
                <a:latin typeface="Calibri"/>
                <a:cs typeface="Calibri"/>
              </a:rPr>
              <a:t>a</a:t>
            </a:r>
            <a:r>
              <a:rPr sz="2800" b="1" spc="10" dirty="0">
                <a:latin typeface="Calibri"/>
                <a:cs typeface="Calibri"/>
              </a:rPr>
              <a:t> </a:t>
            </a:r>
            <a:r>
              <a:rPr sz="2800" b="1" spc="-15" dirty="0">
                <a:latin typeface="Calibri"/>
                <a:cs typeface="Calibri"/>
              </a:rPr>
              <a:t>must</a:t>
            </a:r>
            <a:endParaRPr sz="2800" b="1" dirty="0">
              <a:latin typeface="Calibri"/>
              <a:cs typeface="Calibri"/>
            </a:endParaRPr>
          </a:p>
          <a:p>
            <a:pPr marL="698500" marR="5080" lvl="1" indent="-228600">
              <a:lnSpc>
                <a:spcPct val="90300"/>
              </a:lnSpc>
              <a:spcBef>
                <a:spcPts val="520"/>
              </a:spcBef>
              <a:buFont typeface="Arial MT"/>
              <a:buChar char="•"/>
              <a:tabLst>
                <a:tab pos="699135" algn="l"/>
              </a:tabLst>
            </a:pPr>
            <a:r>
              <a:rPr sz="2400" spc="-10" dirty="0">
                <a:latin typeface="Calibri"/>
                <a:cs typeface="Calibri"/>
              </a:rPr>
              <a:t>Example: </a:t>
            </a:r>
            <a:r>
              <a:rPr sz="2400" dirty="0">
                <a:latin typeface="Calibri"/>
                <a:cs typeface="Calibri"/>
              </a:rPr>
              <a:t>If</a:t>
            </a:r>
            <a:r>
              <a:rPr sz="2400" spc="10" dirty="0">
                <a:latin typeface="Calibri"/>
                <a:cs typeface="Calibri"/>
              </a:rPr>
              <a:t> </a:t>
            </a:r>
            <a:r>
              <a:rPr sz="2400" spc="-5" dirty="0">
                <a:latin typeface="Calibri"/>
                <a:cs typeface="Calibri"/>
              </a:rPr>
              <a:t>White</a:t>
            </a:r>
            <a:r>
              <a:rPr sz="2400" spc="20" dirty="0">
                <a:latin typeface="Calibri"/>
                <a:cs typeface="Calibri"/>
              </a:rPr>
              <a:t> </a:t>
            </a:r>
            <a:r>
              <a:rPr sz="2400" spc="-5" dirty="0">
                <a:latin typeface="Calibri"/>
                <a:cs typeface="Calibri"/>
              </a:rPr>
              <a:t>pawn</a:t>
            </a:r>
            <a:r>
              <a:rPr sz="2400" dirty="0">
                <a:latin typeface="Calibri"/>
                <a:cs typeface="Calibri"/>
              </a:rPr>
              <a:t> </a:t>
            </a:r>
            <a:r>
              <a:rPr sz="2400" spc="-15" dirty="0">
                <a:latin typeface="Calibri"/>
                <a:cs typeface="Calibri"/>
              </a:rPr>
              <a:t>at</a:t>
            </a:r>
            <a:r>
              <a:rPr sz="2400" dirty="0">
                <a:latin typeface="Calibri"/>
                <a:cs typeface="Calibri"/>
              </a:rPr>
              <a:t> </a:t>
            </a:r>
            <a:r>
              <a:rPr sz="2400" spc="-5" dirty="0">
                <a:latin typeface="Calibri"/>
                <a:cs typeface="Calibri"/>
              </a:rPr>
              <a:t>sqr</a:t>
            </a:r>
            <a:r>
              <a:rPr sz="2400" spc="15" dirty="0">
                <a:latin typeface="Calibri"/>
                <a:cs typeface="Calibri"/>
              </a:rPr>
              <a:t> </a:t>
            </a:r>
            <a:r>
              <a:rPr sz="2400" spc="-20" dirty="0">
                <a:latin typeface="Calibri"/>
                <a:cs typeface="Calibri"/>
              </a:rPr>
              <a:t>(row</a:t>
            </a:r>
            <a:r>
              <a:rPr sz="2400" dirty="0">
                <a:latin typeface="Calibri"/>
                <a:cs typeface="Calibri"/>
              </a:rPr>
              <a:t> e,</a:t>
            </a:r>
            <a:r>
              <a:rPr sz="2400" spc="20" dirty="0">
                <a:latin typeface="Calibri"/>
                <a:cs typeface="Calibri"/>
              </a:rPr>
              <a:t> </a:t>
            </a:r>
            <a:r>
              <a:rPr sz="2400" spc="-10" dirty="0">
                <a:latin typeface="Calibri"/>
                <a:cs typeface="Calibri"/>
              </a:rPr>
              <a:t>column</a:t>
            </a:r>
            <a:r>
              <a:rPr sz="2400" dirty="0">
                <a:latin typeface="Calibri"/>
                <a:cs typeface="Calibri"/>
              </a:rPr>
              <a:t> 2)</a:t>
            </a:r>
            <a:r>
              <a:rPr sz="2400" spc="20"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true</a:t>
            </a:r>
            <a:r>
              <a:rPr sz="2400" spc="20" dirty="0">
                <a:latin typeface="Calibri"/>
                <a:cs typeface="Calibri"/>
              </a:rPr>
              <a:t> </a:t>
            </a:r>
            <a:r>
              <a:rPr sz="2400" dirty="0">
                <a:latin typeface="Calibri"/>
                <a:cs typeface="Calibri"/>
              </a:rPr>
              <a:t>and</a:t>
            </a:r>
            <a:r>
              <a:rPr sz="2400" spc="20" dirty="0">
                <a:latin typeface="Calibri"/>
                <a:cs typeface="Calibri"/>
              </a:rPr>
              <a:t> </a:t>
            </a:r>
            <a:r>
              <a:rPr sz="2400" spc="-10" dirty="0">
                <a:latin typeface="Calibri"/>
                <a:cs typeface="Calibri"/>
              </a:rPr>
              <a:t>White</a:t>
            </a:r>
            <a:r>
              <a:rPr sz="2400" spc="5" dirty="0">
                <a:latin typeface="Calibri"/>
                <a:cs typeface="Calibri"/>
              </a:rPr>
              <a:t> </a:t>
            </a:r>
            <a:r>
              <a:rPr sz="2400" spc="-5" dirty="0">
                <a:latin typeface="Calibri"/>
                <a:cs typeface="Calibri"/>
              </a:rPr>
              <a:t>pawn</a:t>
            </a:r>
            <a:r>
              <a:rPr sz="2400" spc="20" dirty="0">
                <a:latin typeface="Calibri"/>
                <a:cs typeface="Calibri"/>
              </a:rPr>
              <a:t> </a:t>
            </a:r>
            <a:r>
              <a:rPr sz="2400" spc="-15" dirty="0">
                <a:latin typeface="Calibri"/>
                <a:cs typeface="Calibri"/>
              </a:rPr>
              <a:t>at </a:t>
            </a:r>
            <a:r>
              <a:rPr sz="2400" spc="-10" dirty="0">
                <a:latin typeface="Calibri"/>
                <a:cs typeface="Calibri"/>
              </a:rPr>
              <a:t> </a:t>
            </a:r>
            <a:r>
              <a:rPr sz="2400" spc="-5" dirty="0">
                <a:latin typeface="Calibri"/>
                <a:cs typeface="Calibri"/>
              </a:rPr>
              <a:t>sqr </a:t>
            </a:r>
            <a:r>
              <a:rPr sz="2400" spc="-15" dirty="0">
                <a:latin typeface="Calibri"/>
                <a:cs typeface="Calibri"/>
              </a:rPr>
              <a:t>(row </a:t>
            </a:r>
            <a:r>
              <a:rPr sz="2400" dirty="0">
                <a:latin typeface="Calibri"/>
                <a:cs typeface="Calibri"/>
              </a:rPr>
              <a:t>e, </a:t>
            </a:r>
            <a:r>
              <a:rPr sz="2400" spc="-10" dirty="0">
                <a:latin typeface="Calibri"/>
                <a:cs typeface="Calibri"/>
              </a:rPr>
              <a:t>column </a:t>
            </a:r>
            <a:r>
              <a:rPr sz="2400" dirty="0">
                <a:latin typeface="Calibri"/>
                <a:cs typeface="Calibri"/>
              </a:rPr>
              <a:t>3) is </a:t>
            </a:r>
            <a:r>
              <a:rPr sz="2400" spc="-5" dirty="0">
                <a:latin typeface="Calibri"/>
                <a:cs typeface="Calibri"/>
              </a:rPr>
              <a:t>empty </a:t>
            </a:r>
            <a:r>
              <a:rPr sz="2400" dirty="0">
                <a:latin typeface="Calibri"/>
                <a:cs typeface="Calibri"/>
              </a:rPr>
              <a:t>then </a:t>
            </a:r>
            <a:r>
              <a:rPr sz="2400" spc="-15" dirty="0">
                <a:latin typeface="Calibri"/>
                <a:cs typeface="Calibri"/>
              </a:rPr>
              <a:t>Move </a:t>
            </a:r>
            <a:r>
              <a:rPr sz="2400" spc="-5" dirty="0">
                <a:latin typeface="Calibri"/>
                <a:cs typeface="Calibri"/>
              </a:rPr>
              <a:t>pawn </a:t>
            </a:r>
            <a:r>
              <a:rPr sz="2400" spc="-15" dirty="0">
                <a:latin typeface="Calibri"/>
                <a:cs typeface="Calibri"/>
              </a:rPr>
              <a:t>from </a:t>
            </a:r>
            <a:r>
              <a:rPr sz="2400" spc="-5" dirty="0">
                <a:latin typeface="Calibri"/>
                <a:cs typeface="Calibri"/>
              </a:rPr>
              <a:t>sqr </a:t>
            </a:r>
            <a:r>
              <a:rPr sz="2400" spc="-15" dirty="0">
                <a:latin typeface="Calibri"/>
                <a:cs typeface="Calibri"/>
              </a:rPr>
              <a:t>(row </a:t>
            </a:r>
            <a:r>
              <a:rPr sz="2400" dirty="0">
                <a:latin typeface="Calibri"/>
                <a:cs typeface="Calibri"/>
              </a:rPr>
              <a:t>e, </a:t>
            </a:r>
            <a:r>
              <a:rPr sz="2400" spc="-10" dirty="0">
                <a:latin typeface="Calibri"/>
                <a:cs typeface="Calibri"/>
              </a:rPr>
              <a:t>column </a:t>
            </a:r>
            <a:r>
              <a:rPr sz="2400" dirty="0">
                <a:latin typeface="Calibri"/>
                <a:cs typeface="Calibri"/>
              </a:rPr>
              <a:t>2) </a:t>
            </a:r>
            <a:r>
              <a:rPr sz="2400" spc="-15" dirty="0">
                <a:latin typeface="Calibri"/>
                <a:cs typeface="Calibri"/>
              </a:rPr>
              <a:t>to </a:t>
            </a:r>
            <a:r>
              <a:rPr sz="2400" spc="-530" dirty="0">
                <a:latin typeface="Calibri"/>
                <a:cs typeface="Calibri"/>
              </a:rPr>
              <a:t> </a:t>
            </a:r>
            <a:r>
              <a:rPr sz="2400" spc="-5" dirty="0">
                <a:latin typeface="Calibri"/>
                <a:cs typeface="Calibri"/>
              </a:rPr>
              <a:t>sqr(</a:t>
            </a:r>
            <a:r>
              <a:rPr sz="2400" spc="-20" dirty="0">
                <a:latin typeface="Calibri"/>
                <a:cs typeface="Calibri"/>
              </a:rPr>
              <a:t> row</a:t>
            </a:r>
            <a:r>
              <a:rPr sz="2400" dirty="0">
                <a:latin typeface="Calibri"/>
                <a:cs typeface="Calibri"/>
              </a:rPr>
              <a:t> e, </a:t>
            </a:r>
            <a:r>
              <a:rPr sz="2400" spc="-10" dirty="0">
                <a:latin typeface="Calibri"/>
                <a:cs typeface="Calibri"/>
              </a:rPr>
              <a:t>column</a:t>
            </a:r>
            <a:r>
              <a:rPr sz="2400" spc="-20" dirty="0">
                <a:latin typeface="Calibri"/>
                <a:cs typeface="Calibri"/>
              </a:rPr>
              <a:t> </a:t>
            </a:r>
            <a:r>
              <a:rPr sz="2400" dirty="0">
                <a:latin typeface="Calibri"/>
                <a:cs typeface="Calibri"/>
              </a:rPr>
              <a:t>3)</a:t>
            </a:r>
            <a:r>
              <a:rPr sz="2400" spc="-15" dirty="0">
                <a:latin typeface="Calibri"/>
                <a:cs typeface="Calibri"/>
              </a:rPr>
              <a:t> </a:t>
            </a:r>
            <a:r>
              <a:rPr sz="2400" dirty="0">
                <a:latin typeface="Wingdings"/>
                <a:cs typeface="Wingdings"/>
              </a:rPr>
              <a:t></a:t>
            </a:r>
            <a:r>
              <a:rPr sz="2400" spc="-60" dirty="0">
                <a:latin typeface="Times New Roman"/>
                <a:cs typeface="Times New Roman"/>
              </a:rPr>
              <a:t> </a:t>
            </a:r>
            <a:r>
              <a:rPr sz="2400" dirty="0">
                <a:latin typeface="Calibri"/>
                <a:cs typeface="Calibri"/>
              </a:rPr>
              <a:t>its</a:t>
            </a:r>
            <a:r>
              <a:rPr sz="2400" spc="-15" dirty="0">
                <a:latin typeface="Calibri"/>
                <a:cs typeface="Calibri"/>
              </a:rPr>
              <a:t> </a:t>
            </a:r>
            <a:r>
              <a:rPr sz="2400" spc="-5" dirty="0">
                <a:latin typeface="Calibri"/>
                <a:cs typeface="Calibri"/>
              </a:rPr>
              <a:t>specific</a:t>
            </a:r>
            <a:r>
              <a:rPr sz="2400" spc="-15" dirty="0">
                <a:latin typeface="Calibri"/>
                <a:cs typeface="Calibri"/>
              </a:rPr>
              <a:t> </a:t>
            </a:r>
            <a:r>
              <a:rPr sz="2400" spc="-25" dirty="0">
                <a:latin typeface="Calibri"/>
                <a:cs typeface="Calibri"/>
              </a:rPr>
              <a:t>way</a:t>
            </a:r>
            <a:r>
              <a:rPr sz="2400" spc="-1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writing</a:t>
            </a:r>
            <a:r>
              <a:rPr sz="2400" spc="-25" dirty="0">
                <a:latin typeface="Calibri"/>
                <a:cs typeface="Calibri"/>
              </a:rPr>
              <a:t> </a:t>
            </a:r>
            <a:r>
              <a:rPr sz="2400" dirty="0">
                <a:latin typeface="Calibri"/>
                <a:cs typeface="Calibri"/>
              </a:rPr>
              <a:t>rule</a:t>
            </a:r>
          </a:p>
          <a:p>
            <a:pPr marL="698500" lvl="1" indent="-229235">
              <a:lnSpc>
                <a:spcPts val="2735"/>
              </a:lnSpc>
              <a:spcBef>
                <a:spcPts val="195"/>
              </a:spcBef>
              <a:buFont typeface="Arial MT"/>
              <a:buChar char="•"/>
              <a:tabLst>
                <a:tab pos="699135" algn="l"/>
              </a:tabLst>
            </a:pPr>
            <a:r>
              <a:rPr sz="2400" spc="-5" dirty="0">
                <a:latin typeface="Calibri"/>
                <a:cs typeface="Calibri"/>
              </a:rPr>
              <a:t>Developing</a:t>
            </a:r>
            <a:r>
              <a:rPr sz="2400" spc="-10" dirty="0">
                <a:latin typeface="Calibri"/>
                <a:cs typeface="Calibri"/>
              </a:rPr>
              <a:t> </a:t>
            </a:r>
            <a:r>
              <a:rPr sz="2400" spc="-5" dirty="0">
                <a:latin typeface="Calibri"/>
                <a:cs typeface="Calibri"/>
              </a:rPr>
              <a:t>such</a:t>
            </a:r>
            <a:r>
              <a:rPr sz="2400" dirty="0">
                <a:latin typeface="Calibri"/>
                <a:cs typeface="Calibri"/>
              </a:rPr>
              <a:t> rules is</a:t>
            </a:r>
            <a:r>
              <a:rPr sz="2400" spc="-10" dirty="0">
                <a:latin typeface="Calibri"/>
                <a:cs typeface="Calibri"/>
              </a:rPr>
              <a:t> </a:t>
            </a:r>
            <a:r>
              <a:rPr sz="2400" spc="-5" dirty="0">
                <a:latin typeface="Calibri"/>
                <a:cs typeface="Calibri"/>
              </a:rPr>
              <a:t>very</a:t>
            </a:r>
            <a:r>
              <a:rPr sz="2400" dirty="0">
                <a:latin typeface="Calibri"/>
                <a:cs typeface="Calibri"/>
              </a:rPr>
              <a:t> </a:t>
            </a:r>
            <a:r>
              <a:rPr sz="2400" spc="-5" dirty="0">
                <a:latin typeface="Calibri"/>
                <a:cs typeface="Calibri"/>
              </a:rPr>
              <a:t>tedious</a:t>
            </a:r>
            <a:r>
              <a:rPr sz="2400" spc="-20" dirty="0">
                <a:latin typeface="Calibri"/>
                <a:cs typeface="Calibri"/>
              </a:rPr>
              <a:t> </a:t>
            </a:r>
            <a:r>
              <a:rPr sz="2400" dirty="0">
                <a:latin typeface="Calibri"/>
                <a:cs typeface="Calibri"/>
              </a:rPr>
              <a:t>as chess</a:t>
            </a:r>
            <a:r>
              <a:rPr sz="2400" spc="-10" dirty="0">
                <a:latin typeface="Calibri"/>
                <a:cs typeface="Calibri"/>
              </a:rPr>
              <a:t> </a:t>
            </a:r>
            <a:r>
              <a:rPr sz="2400" spc="-15" dirty="0">
                <a:latin typeface="Calibri"/>
                <a:cs typeface="Calibri"/>
              </a:rPr>
              <a:t>game</a:t>
            </a:r>
            <a:r>
              <a:rPr sz="2400" spc="-10" dirty="0">
                <a:latin typeface="Calibri"/>
                <a:cs typeface="Calibri"/>
              </a:rPr>
              <a:t> </a:t>
            </a:r>
            <a:r>
              <a:rPr sz="2400" dirty="0">
                <a:latin typeface="Calibri"/>
                <a:cs typeface="Calibri"/>
              </a:rPr>
              <a:t>alone </a:t>
            </a:r>
            <a:r>
              <a:rPr sz="2400" spc="-5" dirty="0">
                <a:latin typeface="Calibri"/>
                <a:cs typeface="Calibri"/>
              </a:rPr>
              <a:t>will</a:t>
            </a:r>
            <a:r>
              <a:rPr sz="2400" spc="-15" dirty="0">
                <a:latin typeface="Calibri"/>
                <a:cs typeface="Calibri"/>
              </a:rPr>
              <a:t> </a:t>
            </a:r>
            <a:r>
              <a:rPr sz="2400" spc="-20" dirty="0">
                <a:latin typeface="Calibri"/>
                <a:cs typeface="Calibri"/>
              </a:rPr>
              <a:t>have</a:t>
            </a:r>
            <a:r>
              <a:rPr sz="2400" spc="5" dirty="0">
                <a:latin typeface="Calibri"/>
                <a:cs typeface="Calibri"/>
              </a:rPr>
              <a:t> </a:t>
            </a:r>
            <a:r>
              <a:rPr sz="2400" spc="-5" dirty="0">
                <a:latin typeface="Calibri"/>
                <a:cs typeface="Calibri"/>
              </a:rPr>
              <a:t>10e120</a:t>
            </a:r>
            <a:endParaRPr sz="2400" dirty="0">
              <a:latin typeface="Calibri"/>
              <a:cs typeface="Calibri"/>
            </a:endParaRPr>
          </a:p>
          <a:p>
            <a:pPr marL="698500">
              <a:lnSpc>
                <a:spcPts val="2735"/>
              </a:lnSpc>
            </a:pPr>
            <a:r>
              <a:rPr sz="2400" dirty="0">
                <a:latin typeface="Calibri"/>
                <a:cs typeface="Calibri"/>
              </a:rPr>
              <a:t>rules</a:t>
            </a:r>
          </a:p>
          <a:p>
            <a:pPr marL="698500" lvl="1" indent="-229235">
              <a:lnSpc>
                <a:spcPct val="100000"/>
              </a:lnSpc>
              <a:spcBef>
                <a:spcPts val="215"/>
              </a:spcBef>
              <a:buFont typeface="Arial MT"/>
              <a:buChar char="•"/>
              <a:tabLst>
                <a:tab pos="699135" algn="l"/>
              </a:tabLst>
            </a:pPr>
            <a:r>
              <a:rPr sz="2400" spc="-20" dirty="0">
                <a:latin typeface="Calibri"/>
                <a:cs typeface="Calibri"/>
              </a:rPr>
              <a:t>So,</a:t>
            </a:r>
            <a:r>
              <a:rPr sz="2400" spc="-15" dirty="0">
                <a:latin typeface="Calibri"/>
                <a:cs typeface="Calibri"/>
              </a:rPr>
              <a:t> </a:t>
            </a:r>
            <a:r>
              <a:rPr sz="2400" spc="-10" dirty="0">
                <a:latin typeface="Calibri"/>
                <a:cs typeface="Calibri"/>
              </a:rPr>
              <a:t>generalization</a:t>
            </a:r>
            <a:r>
              <a:rPr sz="2400" spc="-35" dirty="0">
                <a:latin typeface="Calibri"/>
                <a:cs typeface="Calibri"/>
              </a:rPr>
              <a:t> </a:t>
            </a:r>
            <a:r>
              <a:rPr sz="2400" dirty="0">
                <a:latin typeface="Calibri"/>
                <a:cs typeface="Calibri"/>
              </a:rPr>
              <a:t>is</a:t>
            </a:r>
            <a:r>
              <a:rPr sz="2400" spc="-10" dirty="0">
                <a:latin typeface="Calibri"/>
                <a:cs typeface="Calibri"/>
              </a:rPr>
              <a:t> </a:t>
            </a:r>
            <a:r>
              <a:rPr sz="2400" spc="-15" dirty="0">
                <a:latin typeface="Calibri"/>
                <a:cs typeface="Calibri"/>
              </a:rPr>
              <a:t>to</a:t>
            </a:r>
            <a:r>
              <a:rPr sz="2400" spc="-25" dirty="0">
                <a:latin typeface="Calibri"/>
                <a:cs typeface="Calibri"/>
              </a:rPr>
              <a:t> </a:t>
            </a:r>
            <a:r>
              <a:rPr sz="2400" spc="-5" dirty="0">
                <a:latin typeface="Calibri"/>
                <a:cs typeface="Calibri"/>
              </a:rPr>
              <a:t>be</a:t>
            </a:r>
            <a:r>
              <a:rPr sz="2400" spc="-20" dirty="0">
                <a:latin typeface="Calibri"/>
                <a:cs typeface="Calibri"/>
              </a:rPr>
              <a:t> </a:t>
            </a:r>
            <a:r>
              <a:rPr sz="2400" spc="-5" dirty="0">
                <a:latin typeface="Calibri"/>
                <a:cs typeface="Calibri"/>
              </a:rPr>
              <a:t>done</a:t>
            </a:r>
            <a:endParaRPr sz="24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472295" cy="697230"/>
          </a:xfrm>
          <a:prstGeom prst="rect">
            <a:avLst/>
          </a:prstGeom>
        </p:spPr>
        <p:txBody>
          <a:bodyPr vert="horz" wrap="square" lIns="0" tIns="13335" rIns="0" bIns="0" rtlCol="0">
            <a:spAutoFit/>
          </a:bodyPr>
          <a:lstStyle/>
          <a:p>
            <a:pPr marL="12700">
              <a:lnSpc>
                <a:spcPct val="100000"/>
              </a:lnSpc>
              <a:spcBef>
                <a:spcPts val="105"/>
              </a:spcBef>
            </a:pPr>
            <a:r>
              <a:rPr spc="-5" dirty="0"/>
              <a:t>Defining </a:t>
            </a:r>
            <a:r>
              <a:rPr spc="-20" dirty="0"/>
              <a:t>Problems</a:t>
            </a:r>
            <a:r>
              <a:rPr spc="-10" dirty="0"/>
              <a:t> </a:t>
            </a:r>
            <a:r>
              <a:rPr dirty="0"/>
              <a:t>as a</a:t>
            </a:r>
            <a:r>
              <a:rPr spc="-5" dirty="0"/>
              <a:t> </a:t>
            </a:r>
            <a:r>
              <a:rPr spc="-30" dirty="0"/>
              <a:t>State</a:t>
            </a:r>
            <a:r>
              <a:rPr spc="-10" dirty="0"/>
              <a:t> </a:t>
            </a:r>
            <a:r>
              <a:rPr dirty="0"/>
              <a:t>Space </a:t>
            </a:r>
            <a:r>
              <a:rPr spc="-10" dirty="0"/>
              <a:t>Search</a:t>
            </a:r>
          </a:p>
        </p:txBody>
      </p:sp>
      <p:sp>
        <p:nvSpPr>
          <p:cNvPr id="3" name="object 3"/>
          <p:cNvSpPr txBox="1"/>
          <p:nvPr/>
        </p:nvSpPr>
        <p:spPr>
          <a:xfrm>
            <a:off x="916939" y="1717547"/>
            <a:ext cx="10335260" cy="4785995"/>
          </a:xfrm>
          <a:prstGeom prst="rect">
            <a:avLst/>
          </a:prstGeom>
        </p:spPr>
        <p:txBody>
          <a:bodyPr vert="horz" wrap="square" lIns="0" tIns="54610" rIns="0" bIns="0" rtlCol="0">
            <a:spAutoFit/>
          </a:bodyPr>
          <a:lstStyle/>
          <a:p>
            <a:pPr marL="241300" indent="-228600">
              <a:lnSpc>
                <a:spcPct val="100000"/>
              </a:lnSpc>
              <a:spcBef>
                <a:spcPts val="430"/>
              </a:spcBef>
              <a:buFont typeface="Arial MT"/>
              <a:buChar char="•"/>
              <a:tabLst>
                <a:tab pos="241300" algn="l"/>
              </a:tabLst>
            </a:pPr>
            <a:r>
              <a:rPr sz="2800" spc="-15" dirty="0">
                <a:latin typeface="Calibri"/>
                <a:cs typeface="Calibri"/>
              </a:rPr>
              <a:t>Problem</a:t>
            </a:r>
            <a:endParaRPr sz="2800">
              <a:latin typeface="Calibri"/>
              <a:cs typeface="Calibri"/>
            </a:endParaRPr>
          </a:p>
          <a:p>
            <a:pPr marL="241300" indent="-228600">
              <a:lnSpc>
                <a:spcPct val="100000"/>
              </a:lnSpc>
              <a:spcBef>
                <a:spcPts val="325"/>
              </a:spcBef>
              <a:buFont typeface="Arial MT"/>
              <a:buChar char="•"/>
              <a:tabLst>
                <a:tab pos="241300" algn="l"/>
              </a:tabLst>
            </a:pPr>
            <a:r>
              <a:rPr sz="2800" spc="-20" dirty="0">
                <a:latin typeface="Calibri"/>
                <a:cs typeface="Calibri"/>
              </a:rPr>
              <a:t>State</a:t>
            </a:r>
            <a:endParaRPr sz="2800">
              <a:latin typeface="Calibri"/>
              <a:cs typeface="Calibri"/>
            </a:endParaRPr>
          </a:p>
          <a:p>
            <a:pPr marL="241300" indent="-228600">
              <a:lnSpc>
                <a:spcPts val="3325"/>
              </a:lnSpc>
              <a:spcBef>
                <a:spcPts val="335"/>
              </a:spcBef>
              <a:buFont typeface="Arial MT"/>
              <a:buChar char="•"/>
              <a:tabLst>
                <a:tab pos="241300" algn="l"/>
              </a:tabLst>
            </a:pPr>
            <a:r>
              <a:rPr sz="2800" spc="-20" dirty="0">
                <a:latin typeface="Calibri"/>
                <a:cs typeface="Calibri"/>
              </a:rPr>
              <a:t>State</a:t>
            </a:r>
            <a:r>
              <a:rPr sz="2800" dirty="0">
                <a:latin typeface="Calibri"/>
                <a:cs typeface="Calibri"/>
              </a:rPr>
              <a:t> </a:t>
            </a:r>
            <a:r>
              <a:rPr sz="2800" spc="-5" dirty="0">
                <a:latin typeface="Calibri"/>
                <a:cs typeface="Calibri"/>
              </a:rPr>
              <a:t>Space:</a:t>
            </a:r>
            <a:r>
              <a:rPr sz="2800" spc="15" dirty="0">
                <a:latin typeface="Calibri"/>
                <a:cs typeface="Calibri"/>
              </a:rPr>
              <a:t> </a:t>
            </a:r>
            <a:r>
              <a:rPr sz="2800" spc="-10" dirty="0">
                <a:latin typeface="Calibri"/>
                <a:cs typeface="Calibri"/>
              </a:rPr>
              <a:t>where</a:t>
            </a:r>
            <a:r>
              <a:rPr sz="2800" spc="5" dirty="0">
                <a:latin typeface="Calibri"/>
                <a:cs typeface="Calibri"/>
              </a:rPr>
              <a:t> </a:t>
            </a:r>
            <a:r>
              <a:rPr sz="2800" spc="-5" dirty="0">
                <a:latin typeface="Calibri"/>
                <a:cs typeface="Calibri"/>
              </a:rPr>
              <a:t>each</a:t>
            </a:r>
            <a:r>
              <a:rPr sz="2800" spc="15" dirty="0">
                <a:latin typeface="Calibri"/>
                <a:cs typeface="Calibri"/>
              </a:rPr>
              <a:t> </a:t>
            </a:r>
            <a:r>
              <a:rPr sz="2800" spc="-25" dirty="0">
                <a:latin typeface="Calibri"/>
                <a:cs typeface="Calibri"/>
              </a:rPr>
              <a:t>state</a:t>
            </a:r>
            <a:r>
              <a:rPr sz="2800" spc="5" dirty="0">
                <a:latin typeface="Calibri"/>
                <a:cs typeface="Calibri"/>
              </a:rPr>
              <a:t> </a:t>
            </a:r>
            <a:r>
              <a:rPr sz="2800" spc="-10" dirty="0">
                <a:latin typeface="Calibri"/>
                <a:cs typeface="Calibri"/>
              </a:rPr>
              <a:t>corresponds</a:t>
            </a:r>
            <a:r>
              <a:rPr sz="2800" spc="55"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a</a:t>
            </a:r>
            <a:r>
              <a:rPr sz="2800" spc="10" dirty="0">
                <a:latin typeface="Calibri"/>
                <a:cs typeface="Calibri"/>
              </a:rPr>
              <a:t> </a:t>
            </a:r>
            <a:r>
              <a:rPr sz="2800" spc="-15" dirty="0">
                <a:latin typeface="Calibri"/>
                <a:cs typeface="Calibri"/>
              </a:rPr>
              <a:t>stable</a:t>
            </a:r>
            <a:r>
              <a:rPr sz="2800" spc="25" dirty="0">
                <a:latin typeface="Calibri"/>
                <a:cs typeface="Calibri"/>
              </a:rPr>
              <a:t> </a:t>
            </a:r>
            <a:r>
              <a:rPr sz="2800" spc="-10" dirty="0">
                <a:latin typeface="Calibri"/>
                <a:cs typeface="Calibri"/>
              </a:rPr>
              <a:t>situation</a:t>
            </a:r>
            <a:endParaRPr sz="2800">
              <a:latin typeface="Calibri"/>
              <a:cs typeface="Calibri"/>
            </a:endParaRPr>
          </a:p>
          <a:p>
            <a:pPr marL="698500" lvl="1" indent="-229235">
              <a:lnSpc>
                <a:spcPts val="2810"/>
              </a:lnSpc>
              <a:buFont typeface="Arial MT"/>
              <a:buChar char="•"/>
              <a:tabLst>
                <a:tab pos="699135" algn="l"/>
              </a:tabLst>
            </a:pPr>
            <a:r>
              <a:rPr sz="2400" spc="-5" dirty="0">
                <a:latin typeface="Calibri"/>
                <a:cs typeface="Calibri"/>
              </a:rPr>
              <a:t>Initial</a:t>
            </a:r>
            <a:r>
              <a:rPr sz="2400" spc="-35" dirty="0">
                <a:latin typeface="Calibri"/>
                <a:cs typeface="Calibri"/>
              </a:rPr>
              <a:t> </a:t>
            </a:r>
            <a:r>
              <a:rPr sz="2400" spc="-20" dirty="0">
                <a:latin typeface="Calibri"/>
                <a:cs typeface="Calibri"/>
              </a:rPr>
              <a:t>State</a:t>
            </a:r>
            <a:endParaRPr sz="2400">
              <a:latin typeface="Calibri"/>
              <a:cs typeface="Calibri"/>
            </a:endParaRPr>
          </a:p>
          <a:p>
            <a:pPr marL="698500" lvl="1" indent="-229235">
              <a:lnSpc>
                <a:spcPts val="2810"/>
              </a:lnSpc>
              <a:buFont typeface="Arial MT"/>
              <a:buChar char="•"/>
              <a:tabLst>
                <a:tab pos="699135" algn="l"/>
              </a:tabLst>
            </a:pPr>
            <a:r>
              <a:rPr sz="2400" dirty="0">
                <a:latin typeface="Calibri"/>
                <a:cs typeface="Calibri"/>
              </a:rPr>
              <a:t>Rules</a:t>
            </a:r>
            <a:r>
              <a:rPr sz="2400" spc="-25" dirty="0">
                <a:latin typeface="Calibri"/>
                <a:cs typeface="Calibri"/>
              </a:rPr>
              <a:t> </a:t>
            </a:r>
            <a:r>
              <a:rPr sz="2400" spc="-20" dirty="0">
                <a:latin typeface="Calibri"/>
                <a:cs typeface="Calibri"/>
              </a:rPr>
              <a:t>for</a:t>
            </a:r>
            <a:r>
              <a:rPr sz="2400" spc="-5" dirty="0">
                <a:latin typeface="Calibri"/>
                <a:cs typeface="Calibri"/>
              </a:rPr>
              <a:t> </a:t>
            </a:r>
            <a:r>
              <a:rPr sz="2400" spc="-10" dirty="0">
                <a:latin typeface="Calibri"/>
                <a:cs typeface="Calibri"/>
              </a:rPr>
              <a:t>transition</a:t>
            </a:r>
            <a:r>
              <a:rPr sz="2400" spc="-25" dirty="0">
                <a:latin typeface="Calibri"/>
                <a:cs typeface="Calibri"/>
              </a:rPr>
              <a:t> </a:t>
            </a:r>
            <a:r>
              <a:rPr sz="2400" spc="-15" dirty="0">
                <a:latin typeface="Calibri"/>
                <a:cs typeface="Calibri"/>
              </a:rPr>
              <a:t>from</a:t>
            </a:r>
            <a:r>
              <a:rPr sz="2400" spc="-5" dirty="0">
                <a:latin typeface="Calibri"/>
                <a:cs typeface="Calibri"/>
              </a:rPr>
              <a:t> </a:t>
            </a:r>
            <a:r>
              <a:rPr sz="2400" spc="-10" dirty="0">
                <a:latin typeface="Calibri"/>
                <a:cs typeface="Calibri"/>
              </a:rPr>
              <a:t>one</a:t>
            </a:r>
            <a:r>
              <a:rPr sz="2400" spc="-5" dirty="0">
                <a:latin typeface="Calibri"/>
                <a:cs typeface="Calibri"/>
              </a:rPr>
              <a:t> </a:t>
            </a:r>
            <a:r>
              <a:rPr sz="2400" spc="-20" dirty="0">
                <a:latin typeface="Calibri"/>
                <a:cs typeface="Calibri"/>
              </a:rPr>
              <a:t>state</a:t>
            </a:r>
            <a:r>
              <a:rPr sz="2400" spc="-25" dirty="0">
                <a:latin typeface="Calibri"/>
                <a:cs typeface="Calibri"/>
              </a:rPr>
              <a:t> </a:t>
            </a:r>
            <a:r>
              <a:rPr sz="2400" spc="-15" dirty="0">
                <a:latin typeface="Calibri"/>
                <a:cs typeface="Calibri"/>
              </a:rPr>
              <a:t>to</a:t>
            </a:r>
            <a:r>
              <a:rPr sz="2400" spc="-10" dirty="0">
                <a:latin typeface="Calibri"/>
                <a:cs typeface="Calibri"/>
              </a:rPr>
              <a:t> </a:t>
            </a:r>
            <a:r>
              <a:rPr sz="2400" dirty="0">
                <a:latin typeface="Calibri"/>
                <a:cs typeface="Calibri"/>
              </a:rPr>
              <a:t>another</a:t>
            </a:r>
            <a:endParaRPr sz="2400">
              <a:latin typeface="Calibri"/>
              <a:cs typeface="Calibri"/>
            </a:endParaRPr>
          </a:p>
          <a:p>
            <a:pPr marL="698500" lvl="1" indent="-229235">
              <a:lnSpc>
                <a:spcPts val="2845"/>
              </a:lnSpc>
              <a:buFont typeface="Arial MT"/>
              <a:buChar char="•"/>
              <a:tabLst>
                <a:tab pos="699135" algn="l"/>
              </a:tabLst>
            </a:pPr>
            <a:r>
              <a:rPr sz="2400" spc="-5" dirty="0">
                <a:latin typeface="Calibri"/>
                <a:cs typeface="Calibri"/>
              </a:rPr>
              <a:t>Final</a:t>
            </a:r>
            <a:r>
              <a:rPr sz="2400" spc="-25" dirty="0">
                <a:latin typeface="Calibri"/>
                <a:cs typeface="Calibri"/>
              </a:rPr>
              <a:t> </a:t>
            </a:r>
            <a:r>
              <a:rPr sz="2400" spc="-20" dirty="0">
                <a:latin typeface="Calibri"/>
                <a:cs typeface="Calibri"/>
              </a:rPr>
              <a:t>State</a:t>
            </a:r>
            <a:r>
              <a:rPr sz="2400" spc="-15" dirty="0">
                <a:latin typeface="Calibri"/>
                <a:cs typeface="Calibri"/>
              </a:rPr>
              <a:t> </a:t>
            </a:r>
            <a:r>
              <a:rPr sz="2400" dirty="0">
                <a:latin typeface="Wingdings"/>
                <a:cs typeface="Wingdings"/>
              </a:rPr>
              <a:t></a:t>
            </a:r>
            <a:r>
              <a:rPr sz="2400" spc="-65" dirty="0">
                <a:latin typeface="Times New Roman"/>
                <a:cs typeface="Times New Roman"/>
              </a:rPr>
              <a:t> </a:t>
            </a:r>
            <a:r>
              <a:rPr sz="2400" spc="-10" dirty="0">
                <a:latin typeface="Calibri"/>
                <a:cs typeface="Calibri"/>
              </a:rPr>
              <a:t>Ultimate</a:t>
            </a:r>
            <a:r>
              <a:rPr sz="2400" spc="-30" dirty="0">
                <a:latin typeface="Calibri"/>
                <a:cs typeface="Calibri"/>
              </a:rPr>
              <a:t> </a:t>
            </a:r>
            <a:r>
              <a:rPr sz="2400" spc="-5" dirty="0">
                <a:latin typeface="Calibri"/>
                <a:cs typeface="Calibri"/>
              </a:rPr>
              <a:t>Goal</a:t>
            </a:r>
            <a:endParaRPr sz="2400">
              <a:latin typeface="Calibri"/>
              <a:cs typeface="Calibri"/>
            </a:endParaRPr>
          </a:p>
          <a:p>
            <a:pPr marL="241300" indent="-228600">
              <a:lnSpc>
                <a:spcPct val="100000"/>
              </a:lnSpc>
              <a:spcBef>
                <a:spcPts val="310"/>
              </a:spcBef>
              <a:buFont typeface="Arial MT"/>
              <a:buChar char="•"/>
              <a:tabLst>
                <a:tab pos="241300" algn="l"/>
              </a:tabLst>
            </a:pPr>
            <a:r>
              <a:rPr sz="2800" spc="-20" dirty="0">
                <a:latin typeface="Calibri"/>
                <a:cs typeface="Calibri"/>
              </a:rPr>
              <a:t>State</a:t>
            </a:r>
            <a:r>
              <a:rPr sz="2800" dirty="0">
                <a:latin typeface="Calibri"/>
                <a:cs typeface="Calibri"/>
              </a:rPr>
              <a:t> </a:t>
            </a:r>
            <a:r>
              <a:rPr sz="2800" spc="-5" dirty="0">
                <a:latin typeface="Calibri"/>
                <a:cs typeface="Calibri"/>
              </a:rPr>
              <a:t>Space</a:t>
            </a:r>
            <a:r>
              <a:rPr sz="2800" spc="15" dirty="0">
                <a:latin typeface="Calibri"/>
                <a:cs typeface="Calibri"/>
              </a:rPr>
              <a:t> </a:t>
            </a:r>
            <a:r>
              <a:rPr sz="2800" spc="-15" dirty="0">
                <a:latin typeface="Calibri"/>
                <a:cs typeface="Calibri"/>
              </a:rPr>
              <a:t>Representation</a:t>
            </a:r>
            <a:r>
              <a:rPr sz="2800" spc="-25" dirty="0">
                <a:latin typeface="Calibri"/>
                <a:cs typeface="Calibri"/>
              </a:rPr>
              <a:t> </a:t>
            </a:r>
            <a:r>
              <a:rPr sz="2800" spc="-5" dirty="0">
                <a:latin typeface="Wingdings"/>
                <a:cs typeface="Wingdings"/>
              </a:rPr>
              <a:t></a:t>
            </a:r>
            <a:r>
              <a:rPr sz="2800" spc="-70" dirty="0">
                <a:latin typeface="Times New Roman"/>
                <a:cs typeface="Times New Roman"/>
              </a:rPr>
              <a:t> </a:t>
            </a:r>
            <a:r>
              <a:rPr sz="2800" spc="-20" dirty="0">
                <a:latin typeface="Calibri"/>
                <a:cs typeface="Calibri"/>
              </a:rPr>
              <a:t>forms</a:t>
            </a:r>
            <a:r>
              <a:rPr sz="2800" spc="5" dirty="0">
                <a:latin typeface="Calibri"/>
                <a:cs typeface="Calibri"/>
              </a:rPr>
              <a:t> </a:t>
            </a:r>
            <a:r>
              <a:rPr sz="2800" spc="-5" dirty="0">
                <a:latin typeface="Calibri"/>
                <a:cs typeface="Calibri"/>
              </a:rPr>
              <a:t>the basis</a:t>
            </a:r>
            <a:r>
              <a:rPr sz="2800" spc="20" dirty="0">
                <a:latin typeface="Calibri"/>
                <a:cs typeface="Calibri"/>
              </a:rPr>
              <a:t> </a:t>
            </a:r>
            <a:r>
              <a:rPr sz="2800" spc="-25" dirty="0">
                <a:latin typeface="Calibri"/>
                <a:cs typeface="Calibri"/>
              </a:rPr>
              <a:t>for</a:t>
            </a:r>
            <a:r>
              <a:rPr sz="2800" spc="-5" dirty="0">
                <a:latin typeface="Calibri"/>
                <a:cs typeface="Calibri"/>
              </a:rPr>
              <a:t> AI</a:t>
            </a:r>
            <a:r>
              <a:rPr sz="2800" dirty="0">
                <a:latin typeface="Calibri"/>
                <a:cs typeface="Calibri"/>
              </a:rPr>
              <a:t> </a:t>
            </a:r>
            <a:r>
              <a:rPr sz="2800" spc="-10" dirty="0">
                <a:latin typeface="Calibri"/>
                <a:cs typeface="Calibri"/>
              </a:rPr>
              <a:t>methods</a:t>
            </a:r>
            <a:endParaRPr sz="2800">
              <a:latin typeface="Calibri"/>
              <a:cs typeface="Calibri"/>
            </a:endParaRPr>
          </a:p>
          <a:p>
            <a:pPr marL="241300" marR="5080" indent="-228600">
              <a:lnSpc>
                <a:spcPct val="80000"/>
              </a:lnSpc>
              <a:spcBef>
                <a:spcPts val="1000"/>
              </a:spcBef>
              <a:buFont typeface="Arial MT"/>
              <a:buChar char="•"/>
              <a:tabLst>
                <a:tab pos="241300" algn="l"/>
              </a:tabLst>
            </a:pPr>
            <a:r>
              <a:rPr sz="2800" spc="-20" dirty="0">
                <a:latin typeface="Calibri"/>
                <a:cs typeface="Calibri"/>
              </a:rPr>
              <a:t>State</a:t>
            </a:r>
            <a:r>
              <a:rPr sz="2800" dirty="0">
                <a:latin typeface="Calibri"/>
                <a:cs typeface="Calibri"/>
              </a:rPr>
              <a:t> </a:t>
            </a:r>
            <a:r>
              <a:rPr sz="2800" spc="-5" dirty="0">
                <a:latin typeface="Calibri"/>
                <a:cs typeface="Calibri"/>
              </a:rPr>
              <a:t>Space</a:t>
            </a:r>
            <a:r>
              <a:rPr sz="2800" spc="15" dirty="0">
                <a:latin typeface="Calibri"/>
                <a:cs typeface="Calibri"/>
              </a:rPr>
              <a:t> </a:t>
            </a:r>
            <a:r>
              <a:rPr sz="2800" spc="-10" dirty="0">
                <a:latin typeface="Calibri"/>
                <a:cs typeface="Calibri"/>
              </a:rPr>
              <a:t>Structure</a:t>
            </a:r>
            <a:r>
              <a:rPr sz="2800" spc="30" dirty="0">
                <a:latin typeface="Calibri"/>
                <a:cs typeface="Calibri"/>
              </a:rPr>
              <a:t> </a:t>
            </a:r>
            <a:r>
              <a:rPr sz="2800" spc="-10" dirty="0">
                <a:latin typeface="Calibri"/>
                <a:cs typeface="Calibri"/>
              </a:rPr>
              <a:t>corresponds</a:t>
            </a:r>
            <a:r>
              <a:rPr sz="2800" spc="55"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structure</a:t>
            </a:r>
            <a:r>
              <a:rPr sz="2800" spc="40"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problem</a:t>
            </a:r>
            <a:r>
              <a:rPr sz="2800" spc="35" dirty="0">
                <a:latin typeface="Calibri"/>
                <a:cs typeface="Calibri"/>
              </a:rPr>
              <a:t> </a:t>
            </a:r>
            <a:r>
              <a:rPr sz="2800" spc="-10" dirty="0">
                <a:latin typeface="Calibri"/>
                <a:cs typeface="Calibri"/>
              </a:rPr>
              <a:t>solving </a:t>
            </a:r>
            <a:r>
              <a:rPr sz="2800" spc="-615" dirty="0">
                <a:latin typeface="Calibri"/>
                <a:cs typeface="Calibri"/>
              </a:rPr>
              <a:t> </a:t>
            </a:r>
            <a:r>
              <a:rPr sz="2800" spc="-5" dirty="0">
                <a:latin typeface="Calibri"/>
                <a:cs typeface="Calibri"/>
              </a:rPr>
              <a:t>in</a:t>
            </a:r>
            <a:r>
              <a:rPr sz="2800" spc="5" dirty="0">
                <a:latin typeface="Calibri"/>
                <a:cs typeface="Calibri"/>
              </a:rPr>
              <a:t> </a:t>
            </a:r>
            <a:r>
              <a:rPr sz="2800" spc="-10" dirty="0">
                <a:latin typeface="Calibri"/>
                <a:cs typeface="Calibri"/>
              </a:rPr>
              <a:t>two</a:t>
            </a:r>
            <a:r>
              <a:rPr sz="2800" spc="5" dirty="0">
                <a:latin typeface="Calibri"/>
                <a:cs typeface="Calibri"/>
              </a:rPr>
              <a:t> </a:t>
            </a:r>
            <a:r>
              <a:rPr sz="2800" spc="-30" dirty="0">
                <a:latin typeface="Calibri"/>
                <a:cs typeface="Calibri"/>
              </a:rPr>
              <a:t>ways</a:t>
            </a:r>
            <a:endParaRPr sz="2800">
              <a:latin typeface="Calibri"/>
              <a:cs typeface="Calibri"/>
            </a:endParaRPr>
          </a:p>
          <a:p>
            <a:pPr marL="698500" lvl="1" indent="-229235">
              <a:lnSpc>
                <a:spcPts val="2790"/>
              </a:lnSpc>
              <a:buFont typeface="Arial MT"/>
              <a:buChar char="•"/>
              <a:tabLst>
                <a:tab pos="699135" algn="l"/>
              </a:tabLst>
            </a:pPr>
            <a:r>
              <a:rPr sz="2400" dirty="0">
                <a:latin typeface="Calibri"/>
                <a:cs typeface="Calibri"/>
              </a:rPr>
              <a:t>It</a:t>
            </a:r>
            <a:r>
              <a:rPr sz="2400" spc="-25" dirty="0">
                <a:latin typeface="Calibri"/>
                <a:cs typeface="Calibri"/>
              </a:rPr>
              <a:t> </a:t>
            </a:r>
            <a:r>
              <a:rPr sz="2400" spc="-10" dirty="0">
                <a:latin typeface="Calibri"/>
                <a:cs typeface="Calibri"/>
              </a:rPr>
              <a:t>allows</a:t>
            </a:r>
            <a:r>
              <a:rPr sz="2400" spc="-5" dirty="0">
                <a:latin typeface="Calibri"/>
                <a:cs typeface="Calibri"/>
              </a:rPr>
              <a:t> </a:t>
            </a:r>
            <a:r>
              <a:rPr sz="2400" spc="-25" dirty="0">
                <a:latin typeface="Calibri"/>
                <a:cs typeface="Calibri"/>
              </a:rPr>
              <a:t>for</a:t>
            </a:r>
            <a:r>
              <a:rPr sz="2400" spc="-5" dirty="0">
                <a:latin typeface="Calibri"/>
                <a:cs typeface="Calibri"/>
              </a:rPr>
              <a:t> </a:t>
            </a:r>
            <a:r>
              <a:rPr sz="2400" dirty="0">
                <a:latin typeface="Calibri"/>
                <a:cs typeface="Calibri"/>
              </a:rPr>
              <a:t>a </a:t>
            </a:r>
            <a:r>
              <a:rPr sz="2400" spc="-15" dirty="0">
                <a:latin typeface="Calibri"/>
                <a:cs typeface="Calibri"/>
              </a:rPr>
              <a:t>formal</a:t>
            </a:r>
            <a:r>
              <a:rPr sz="2400" spc="-20" dirty="0">
                <a:latin typeface="Calibri"/>
                <a:cs typeface="Calibri"/>
              </a:rPr>
              <a:t> </a:t>
            </a:r>
            <a:r>
              <a:rPr sz="2400" spc="-10" dirty="0">
                <a:latin typeface="Calibri"/>
                <a:cs typeface="Calibri"/>
              </a:rPr>
              <a:t>definition</a:t>
            </a:r>
            <a:r>
              <a:rPr sz="240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the </a:t>
            </a:r>
            <a:r>
              <a:rPr sz="2400" spc="-10" dirty="0">
                <a:latin typeface="Calibri"/>
                <a:cs typeface="Calibri"/>
              </a:rPr>
              <a:t>problem</a:t>
            </a:r>
            <a:endParaRPr sz="2400">
              <a:latin typeface="Calibri"/>
              <a:cs typeface="Calibri"/>
            </a:endParaRPr>
          </a:p>
          <a:p>
            <a:pPr marL="698500" marR="1102360" lvl="1" indent="-228600">
              <a:lnSpc>
                <a:spcPct val="80000"/>
              </a:lnSpc>
              <a:spcBef>
                <a:spcPts val="540"/>
              </a:spcBef>
              <a:buFont typeface="Arial MT"/>
              <a:buChar char="•"/>
              <a:tabLst>
                <a:tab pos="699135" algn="l"/>
              </a:tabLst>
            </a:pPr>
            <a:r>
              <a:rPr sz="2400" dirty="0">
                <a:latin typeface="Calibri"/>
                <a:cs typeface="Calibri"/>
              </a:rPr>
              <a:t>It </a:t>
            </a:r>
            <a:r>
              <a:rPr sz="2400" spc="-5" dirty="0">
                <a:latin typeface="Calibri"/>
                <a:cs typeface="Calibri"/>
              </a:rPr>
              <a:t>permits </a:t>
            </a:r>
            <a:r>
              <a:rPr sz="2400" spc="-15" dirty="0">
                <a:latin typeface="Calibri"/>
                <a:cs typeface="Calibri"/>
              </a:rPr>
              <a:t>to </a:t>
            </a:r>
            <a:r>
              <a:rPr sz="2400" spc="-10" dirty="0">
                <a:latin typeface="Calibri"/>
                <a:cs typeface="Calibri"/>
              </a:rPr>
              <a:t>define </a:t>
            </a:r>
            <a:r>
              <a:rPr sz="2400" dirty="0">
                <a:latin typeface="Calibri"/>
                <a:cs typeface="Calibri"/>
              </a:rPr>
              <a:t>the </a:t>
            </a:r>
            <a:r>
              <a:rPr sz="2400" spc="-10" dirty="0">
                <a:latin typeface="Calibri"/>
                <a:cs typeface="Calibri"/>
              </a:rPr>
              <a:t>process </a:t>
            </a:r>
            <a:r>
              <a:rPr sz="2400" spc="-5" dirty="0">
                <a:latin typeface="Calibri"/>
                <a:cs typeface="Calibri"/>
              </a:rPr>
              <a:t>of solving </a:t>
            </a:r>
            <a:r>
              <a:rPr sz="2400" dirty="0">
                <a:latin typeface="Calibri"/>
                <a:cs typeface="Calibri"/>
              </a:rPr>
              <a:t>the </a:t>
            </a:r>
            <a:r>
              <a:rPr sz="2400" spc="-5" dirty="0">
                <a:latin typeface="Calibri"/>
                <a:cs typeface="Calibri"/>
              </a:rPr>
              <a:t>particular </a:t>
            </a:r>
            <a:r>
              <a:rPr sz="2400" spc="-10" dirty="0">
                <a:latin typeface="Calibri"/>
                <a:cs typeface="Calibri"/>
              </a:rPr>
              <a:t>problem </a:t>
            </a:r>
            <a:r>
              <a:rPr sz="2400" dirty="0">
                <a:latin typeface="Calibri"/>
                <a:cs typeface="Calibri"/>
              </a:rPr>
              <a:t>as a </a:t>
            </a:r>
            <a:r>
              <a:rPr sz="2400" spc="-530" dirty="0">
                <a:latin typeface="Calibri"/>
                <a:cs typeface="Calibri"/>
              </a:rPr>
              <a:t> </a:t>
            </a:r>
            <a:r>
              <a:rPr sz="2400" spc="-10" dirty="0">
                <a:latin typeface="Calibri"/>
                <a:cs typeface="Calibri"/>
              </a:rPr>
              <a:t>combination</a:t>
            </a:r>
            <a:r>
              <a:rPr sz="2400" spc="-20" dirty="0">
                <a:latin typeface="Calibri"/>
                <a:cs typeface="Calibri"/>
              </a:rPr>
              <a:t> </a:t>
            </a:r>
            <a:r>
              <a:rPr sz="2400" spc="-5" dirty="0">
                <a:latin typeface="Calibri"/>
                <a:cs typeface="Calibri"/>
              </a:rPr>
              <a:t>of known</a:t>
            </a:r>
            <a:r>
              <a:rPr sz="2400" dirty="0">
                <a:latin typeface="Calibri"/>
                <a:cs typeface="Calibri"/>
              </a:rPr>
              <a:t> </a:t>
            </a:r>
            <a:r>
              <a:rPr sz="2400" spc="-10" dirty="0">
                <a:latin typeface="Calibri"/>
                <a:cs typeface="Calibri"/>
              </a:rPr>
              <a:t>techniques</a:t>
            </a:r>
            <a:r>
              <a:rPr sz="2400" spc="-15" dirty="0">
                <a:latin typeface="Calibri"/>
                <a:cs typeface="Calibri"/>
              </a:rPr>
              <a:t> </a:t>
            </a:r>
            <a:r>
              <a:rPr sz="2400" dirty="0">
                <a:latin typeface="Calibri"/>
                <a:cs typeface="Calibri"/>
              </a:rPr>
              <a:t>and </a:t>
            </a:r>
            <a:r>
              <a:rPr sz="2400" spc="-5" dirty="0">
                <a:latin typeface="Calibri"/>
                <a:cs typeface="Calibri"/>
              </a:rPr>
              <a:t>searching</a:t>
            </a:r>
            <a:r>
              <a:rPr sz="2400" spc="-15" dirty="0">
                <a:latin typeface="Calibri"/>
                <a:cs typeface="Calibri"/>
              </a:rPr>
              <a:t> </a:t>
            </a:r>
            <a:r>
              <a:rPr sz="2400" spc="-5" dirty="0">
                <a:latin typeface="Calibri"/>
                <a:cs typeface="Calibri"/>
              </a:rPr>
              <a:t>mechanism</a:t>
            </a:r>
            <a:endParaRPr sz="24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7924"/>
            <a:ext cx="9618980" cy="1301115"/>
          </a:xfrm>
          <a:prstGeom prst="rect">
            <a:avLst/>
          </a:prstGeom>
        </p:spPr>
        <p:txBody>
          <a:bodyPr vert="horz" wrap="square" lIns="0" tIns="89535" rIns="0" bIns="0" rtlCol="0">
            <a:spAutoFit/>
          </a:bodyPr>
          <a:lstStyle/>
          <a:p>
            <a:pPr marL="12700" marR="5080">
              <a:lnSpc>
                <a:spcPts val="4750"/>
              </a:lnSpc>
              <a:spcBef>
                <a:spcPts val="705"/>
              </a:spcBef>
            </a:pPr>
            <a:r>
              <a:rPr spc="-5" dirty="0"/>
              <a:t>Defining </a:t>
            </a:r>
            <a:r>
              <a:rPr spc="-20" dirty="0"/>
              <a:t>Problems</a:t>
            </a:r>
            <a:r>
              <a:rPr spc="-5" dirty="0"/>
              <a:t> </a:t>
            </a:r>
            <a:r>
              <a:rPr dirty="0"/>
              <a:t>as</a:t>
            </a:r>
            <a:r>
              <a:rPr spc="-5" dirty="0"/>
              <a:t> </a:t>
            </a:r>
            <a:r>
              <a:rPr dirty="0"/>
              <a:t>a </a:t>
            </a:r>
            <a:r>
              <a:rPr spc="-30" dirty="0"/>
              <a:t>State</a:t>
            </a:r>
            <a:r>
              <a:rPr spc="-10" dirty="0"/>
              <a:t> </a:t>
            </a:r>
            <a:r>
              <a:rPr dirty="0"/>
              <a:t>Space </a:t>
            </a:r>
            <a:r>
              <a:rPr spc="-10" dirty="0"/>
              <a:t>Search: </a:t>
            </a:r>
            <a:r>
              <a:rPr spc="-980" dirty="0"/>
              <a:t> </a:t>
            </a:r>
            <a:r>
              <a:rPr spc="-5" dirty="0"/>
              <a:t>An</a:t>
            </a:r>
            <a:r>
              <a:rPr spc="-10" dirty="0"/>
              <a:t> Example</a:t>
            </a:r>
            <a:r>
              <a:rPr spc="-25" dirty="0"/>
              <a:t> </a:t>
            </a:r>
            <a:r>
              <a:rPr dirty="0"/>
              <a:t>– A</a:t>
            </a:r>
            <a:r>
              <a:rPr spc="-5" dirty="0"/>
              <a:t> </a:t>
            </a:r>
            <a:r>
              <a:rPr spc="-50" dirty="0"/>
              <a:t>Water</a:t>
            </a:r>
            <a:r>
              <a:rPr spc="-5" dirty="0"/>
              <a:t> </a:t>
            </a:r>
            <a:r>
              <a:rPr dirty="0"/>
              <a:t>Jug </a:t>
            </a:r>
            <a:r>
              <a:rPr spc="-25" dirty="0"/>
              <a:t>Problem</a:t>
            </a:r>
          </a:p>
        </p:txBody>
      </p:sp>
      <p:sp>
        <p:nvSpPr>
          <p:cNvPr id="3" name="object 3"/>
          <p:cNvSpPr txBox="1"/>
          <p:nvPr/>
        </p:nvSpPr>
        <p:spPr>
          <a:xfrm>
            <a:off x="916939" y="1706841"/>
            <a:ext cx="10080625" cy="2203450"/>
          </a:xfrm>
          <a:prstGeom prst="rect">
            <a:avLst/>
          </a:prstGeom>
        </p:spPr>
        <p:txBody>
          <a:bodyPr vert="horz" wrap="square" lIns="0" tIns="98425" rIns="0" bIns="0" rtlCol="0">
            <a:spAutoFit/>
          </a:bodyPr>
          <a:lstStyle/>
          <a:p>
            <a:pPr marL="12700">
              <a:lnSpc>
                <a:spcPct val="100000"/>
              </a:lnSpc>
              <a:spcBef>
                <a:spcPts val="775"/>
              </a:spcBef>
            </a:pPr>
            <a:r>
              <a:rPr sz="2800" spc="-15" dirty="0">
                <a:latin typeface="Calibri"/>
                <a:cs typeface="Calibri"/>
              </a:rPr>
              <a:t>Problem</a:t>
            </a:r>
            <a:endParaRPr sz="2800">
              <a:latin typeface="Calibri"/>
              <a:cs typeface="Calibri"/>
            </a:endParaRPr>
          </a:p>
          <a:p>
            <a:pPr marL="241300" marR="5080" indent="-228600" algn="just">
              <a:lnSpc>
                <a:spcPct val="90000"/>
              </a:lnSpc>
              <a:spcBef>
                <a:spcPts val="1015"/>
              </a:spcBef>
              <a:buFont typeface="Arial MT"/>
              <a:buChar char="•"/>
              <a:tabLst>
                <a:tab pos="241300" algn="l"/>
              </a:tabLst>
            </a:pPr>
            <a:r>
              <a:rPr sz="2800" spc="-75" dirty="0">
                <a:latin typeface="Calibri"/>
                <a:cs typeface="Calibri"/>
              </a:rPr>
              <a:t>You </a:t>
            </a:r>
            <a:r>
              <a:rPr sz="2800" spc="-15" dirty="0">
                <a:latin typeface="Calibri"/>
                <a:cs typeface="Calibri"/>
              </a:rPr>
              <a:t>are </a:t>
            </a:r>
            <a:r>
              <a:rPr sz="2800" spc="-10" dirty="0">
                <a:latin typeface="Calibri"/>
                <a:cs typeface="Calibri"/>
              </a:rPr>
              <a:t>given two </a:t>
            </a:r>
            <a:r>
              <a:rPr sz="2800" spc="-5" dirty="0">
                <a:latin typeface="Calibri"/>
                <a:cs typeface="Calibri"/>
              </a:rPr>
              <a:t>jugs, a 4 </a:t>
            </a:r>
            <a:r>
              <a:rPr sz="2800" spc="-15" dirty="0">
                <a:latin typeface="Calibri"/>
                <a:cs typeface="Calibri"/>
              </a:rPr>
              <a:t>litre </a:t>
            </a:r>
            <a:r>
              <a:rPr sz="2800" spc="-10" dirty="0">
                <a:latin typeface="Calibri"/>
                <a:cs typeface="Calibri"/>
              </a:rPr>
              <a:t>one </a:t>
            </a:r>
            <a:r>
              <a:rPr sz="2800" spc="-5" dirty="0">
                <a:latin typeface="Calibri"/>
                <a:cs typeface="Calibri"/>
              </a:rPr>
              <a:t>and a 3 </a:t>
            </a:r>
            <a:r>
              <a:rPr sz="2800" spc="-15" dirty="0">
                <a:latin typeface="Calibri"/>
                <a:cs typeface="Calibri"/>
              </a:rPr>
              <a:t>litre </a:t>
            </a:r>
            <a:r>
              <a:rPr sz="2800" spc="-10" dirty="0">
                <a:latin typeface="Calibri"/>
                <a:cs typeface="Calibri"/>
              </a:rPr>
              <a:t>one. </a:t>
            </a:r>
            <a:r>
              <a:rPr sz="2800" spc="-5" dirty="0">
                <a:latin typeface="Calibri"/>
                <a:cs typeface="Calibri"/>
              </a:rPr>
              <a:t>None of them </a:t>
            </a:r>
            <a:r>
              <a:rPr sz="2800" dirty="0">
                <a:latin typeface="Calibri"/>
                <a:cs typeface="Calibri"/>
              </a:rPr>
              <a:t> </a:t>
            </a:r>
            <a:r>
              <a:rPr sz="2800" spc="-25" dirty="0">
                <a:latin typeface="Calibri"/>
                <a:cs typeface="Calibri"/>
              </a:rPr>
              <a:t>have </a:t>
            </a:r>
            <a:r>
              <a:rPr sz="2800" spc="-20" dirty="0">
                <a:latin typeface="Calibri"/>
                <a:cs typeface="Calibri"/>
              </a:rPr>
              <a:t>any </a:t>
            </a:r>
            <a:r>
              <a:rPr sz="2800" spc="-5" dirty="0">
                <a:latin typeface="Calibri"/>
                <a:cs typeface="Calibri"/>
              </a:rPr>
              <a:t>measuring </a:t>
            </a:r>
            <a:r>
              <a:rPr sz="2800" spc="-20" dirty="0">
                <a:latin typeface="Calibri"/>
                <a:cs typeface="Calibri"/>
              </a:rPr>
              <a:t>markers </a:t>
            </a:r>
            <a:r>
              <a:rPr sz="2800" spc="-5" dirty="0">
                <a:latin typeface="Calibri"/>
                <a:cs typeface="Calibri"/>
              </a:rPr>
              <a:t>on it. </a:t>
            </a:r>
            <a:r>
              <a:rPr sz="2800" spc="-15" dirty="0">
                <a:latin typeface="Calibri"/>
                <a:cs typeface="Calibri"/>
              </a:rPr>
              <a:t>There </a:t>
            </a:r>
            <a:r>
              <a:rPr sz="2800" spc="-5" dirty="0">
                <a:latin typeface="Calibri"/>
                <a:cs typeface="Calibri"/>
              </a:rPr>
              <a:t>is a </a:t>
            </a:r>
            <a:r>
              <a:rPr sz="2800" spc="-10" dirty="0">
                <a:latin typeface="Calibri"/>
                <a:cs typeface="Calibri"/>
              </a:rPr>
              <a:t>pump that </a:t>
            </a:r>
            <a:r>
              <a:rPr sz="2800" spc="-5" dirty="0">
                <a:latin typeface="Calibri"/>
                <a:cs typeface="Calibri"/>
              </a:rPr>
              <a:t>can be used </a:t>
            </a:r>
            <a:r>
              <a:rPr sz="2800" spc="-620" dirty="0">
                <a:latin typeface="Calibri"/>
                <a:cs typeface="Calibri"/>
              </a:rPr>
              <a:t> </a:t>
            </a:r>
            <a:r>
              <a:rPr sz="2800" spc="-15" dirty="0">
                <a:latin typeface="Calibri"/>
                <a:cs typeface="Calibri"/>
              </a:rPr>
              <a:t>to </a:t>
            </a:r>
            <a:r>
              <a:rPr sz="2800" spc="-10" dirty="0">
                <a:latin typeface="Calibri"/>
                <a:cs typeface="Calibri"/>
              </a:rPr>
              <a:t>fill </a:t>
            </a:r>
            <a:r>
              <a:rPr sz="2800" spc="-5" dirty="0">
                <a:latin typeface="Calibri"/>
                <a:cs typeface="Calibri"/>
              </a:rPr>
              <a:t>the jugs with </a:t>
            </a:r>
            <a:r>
              <a:rPr sz="2800" spc="-65" dirty="0">
                <a:latin typeface="Calibri"/>
                <a:cs typeface="Calibri"/>
              </a:rPr>
              <a:t>water. </a:t>
            </a:r>
            <a:r>
              <a:rPr sz="2800" spc="-10" dirty="0">
                <a:latin typeface="Calibri"/>
                <a:cs typeface="Calibri"/>
              </a:rPr>
              <a:t>How can </a:t>
            </a:r>
            <a:r>
              <a:rPr sz="2800" spc="-20" dirty="0">
                <a:latin typeface="Calibri"/>
                <a:cs typeface="Calibri"/>
              </a:rPr>
              <a:t>you </a:t>
            </a:r>
            <a:r>
              <a:rPr sz="2800" spc="-15" dirty="0">
                <a:latin typeface="Calibri"/>
                <a:cs typeface="Calibri"/>
              </a:rPr>
              <a:t>get exactly </a:t>
            </a:r>
            <a:r>
              <a:rPr sz="2800" spc="-5" dirty="0">
                <a:latin typeface="Calibri"/>
                <a:cs typeface="Calibri"/>
              </a:rPr>
              <a:t>a 2 </a:t>
            </a:r>
            <a:r>
              <a:rPr sz="2800" spc="-10" dirty="0">
                <a:latin typeface="Calibri"/>
                <a:cs typeface="Calibri"/>
              </a:rPr>
              <a:t>litres </a:t>
            </a:r>
            <a:r>
              <a:rPr sz="2800" spc="-5" dirty="0">
                <a:latin typeface="Calibri"/>
                <a:cs typeface="Calibri"/>
              </a:rPr>
              <a:t>of </a:t>
            </a:r>
            <a:r>
              <a:rPr sz="2800" spc="-20" dirty="0">
                <a:latin typeface="Calibri"/>
                <a:cs typeface="Calibri"/>
              </a:rPr>
              <a:t>water </a:t>
            </a:r>
            <a:r>
              <a:rPr sz="2800" spc="-620" dirty="0">
                <a:latin typeface="Calibri"/>
                <a:cs typeface="Calibri"/>
              </a:rPr>
              <a:t> </a:t>
            </a:r>
            <a:r>
              <a:rPr sz="2800" spc="-5" dirty="0">
                <a:latin typeface="Calibri"/>
                <a:cs typeface="Calibri"/>
              </a:rPr>
              <a:t>in</a:t>
            </a:r>
            <a:r>
              <a:rPr sz="2800" spc="5"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4</a:t>
            </a:r>
            <a:r>
              <a:rPr sz="2800" spc="15" dirty="0">
                <a:latin typeface="Calibri"/>
                <a:cs typeface="Calibri"/>
              </a:rPr>
              <a:t> </a:t>
            </a:r>
            <a:r>
              <a:rPr sz="2800" spc="-15" dirty="0">
                <a:latin typeface="Calibri"/>
                <a:cs typeface="Calibri"/>
              </a:rPr>
              <a:t>litre</a:t>
            </a:r>
            <a:r>
              <a:rPr sz="2800" spc="5" dirty="0">
                <a:latin typeface="Calibri"/>
                <a:cs typeface="Calibri"/>
              </a:rPr>
              <a:t> </a:t>
            </a:r>
            <a:r>
              <a:rPr sz="2800" spc="-5" dirty="0">
                <a:latin typeface="Calibri"/>
                <a:cs typeface="Calibri"/>
              </a:rPr>
              <a:t>jug?</a:t>
            </a:r>
            <a:endParaRPr sz="2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7924"/>
            <a:ext cx="9618980" cy="1301115"/>
          </a:xfrm>
          <a:prstGeom prst="rect">
            <a:avLst/>
          </a:prstGeom>
        </p:spPr>
        <p:txBody>
          <a:bodyPr vert="horz" wrap="square" lIns="0" tIns="89535" rIns="0" bIns="0" rtlCol="0">
            <a:spAutoFit/>
          </a:bodyPr>
          <a:lstStyle/>
          <a:p>
            <a:pPr marL="12700" marR="5080">
              <a:lnSpc>
                <a:spcPts val="4750"/>
              </a:lnSpc>
              <a:spcBef>
                <a:spcPts val="705"/>
              </a:spcBef>
            </a:pPr>
            <a:r>
              <a:rPr spc="-5" dirty="0"/>
              <a:t>Defining </a:t>
            </a:r>
            <a:r>
              <a:rPr spc="-20" dirty="0"/>
              <a:t>Problems</a:t>
            </a:r>
            <a:r>
              <a:rPr spc="-5" dirty="0"/>
              <a:t> </a:t>
            </a:r>
            <a:r>
              <a:rPr dirty="0"/>
              <a:t>as</a:t>
            </a:r>
            <a:r>
              <a:rPr spc="-5" dirty="0"/>
              <a:t> </a:t>
            </a:r>
            <a:r>
              <a:rPr dirty="0"/>
              <a:t>a </a:t>
            </a:r>
            <a:r>
              <a:rPr spc="-30" dirty="0"/>
              <a:t>State</a:t>
            </a:r>
            <a:r>
              <a:rPr spc="-10" dirty="0"/>
              <a:t> </a:t>
            </a:r>
            <a:r>
              <a:rPr dirty="0"/>
              <a:t>Space </a:t>
            </a:r>
            <a:r>
              <a:rPr spc="-10" dirty="0"/>
              <a:t>Search: </a:t>
            </a:r>
            <a:r>
              <a:rPr spc="-980" dirty="0"/>
              <a:t> </a:t>
            </a:r>
            <a:r>
              <a:rPr spc="-5" dirty="0"/>
              <a:t>An</a:t>
            </a:r>
            <a:r>
              <a:rPr spc="-10" dirty="0"/>
              <a:t> Example</a:t>
            </a:r>
            <a:r>
              <a:rPr spc="-25" dirty="0"/>
              <a:t> </a:t>
            </a:r>
            <a:r>
              <a:rPr dirty="0"/>
              <a:t>– A</a:t>
            </a:r>
            <a:r>
              <a:rPr spc="-5" dirty="0"/>
              <a:t> </a:t>
            </a:r>
            <a:r>
              <a:rPr spc="-50" dirty="0"/>
              <a:t>Water</a:t>
            </a:r>
            <a:r>
              <a:rPr spc="-5" dirty="0"/>
              <a:t> </a:t>
            </a:r>
            <a:r>
              <a:rPr dirty="0"/>
              <a:t>Jug </a:t>
            </a:r>
            <a:r>
              <a:rPr spc="-25" dirty="0"/>
              <a:t>Problem</a:t>
            </a:r>
          </a:p>
        </p:txBody>
      </p:sp>
      <p:sp>
        <p:nvSpPr>
          <p:cNvPr id="3" name="object 3"/>
          <p:cNvSpPr txBox="1"/>
          <p:nvPr/>
        </p:nvSpPr>
        <p:spPr>
          <a:xfrm>
            <a:off x="916939" y="1706841"/>
            <a:ext cx="10181590" cy="2840355"/>
          </a:xfrm>
          <a:prstGeom prst="rect">
            <a:avLst/>
          </a:prstGeom>
        </p:spPr>
        <p:txBody>
          <a:bodyPr vert="horz" wrap="square" lIns="0" tIns="98425" rIns="0" bIns="0" rtlCol="0">
            <a:spAutoFit/>
          </a:bodyPr>
          <a:lstStyle/>
          <a:p>
            <a:pPr marL="12700">
              <a:lnSpc>
                <a:spcPct val="100000"/>
              </a:lnSpc>
              <a:spcBef>
                <a:spcPts val="775"/>
              </a:spcBef>
            </a:pPr>
            <a:r>
              <a:rPr sz="2800" spc="-25" dirty="0">
                <a:latin typeface="Calibri"/>
                <a:cs typeface="Calibri"/>
              </a:rPr>
              <a:t>State</a:t>
            </a:r>
            <a:r>
              <a:rPr sz="2800" spc="-35" dirty="0">
                <a:latin typeface="Calibri"/>
                <a:cs typeface="Calibri"/>
              </a:rPr>
              <a:t> </a:t>
            </a:r>
            <a:r>
              <a:rPr sz="2800" spc="-10" dirty="0">
                <a:latin typeface="Calibri"/>
                <a:cs typeface="Calibri"/>
              </a:rPr>
              <a:t>Space</a:t>
            </a:r>
            <a:endParaRPr sz="2800">
              <a:latin typeface="Calibri"/>
              <a:cs typeface="Calibri"/>
            </a:endParaRPr>
          </a:p>
          <a:p>
            <a:pPr marL="241300" marR="5080" indent="-228600">
              <a:lnSpc>
                <a:spcPts val="3020"/>
              </a:lnSpc>
              <a:spcBef>
                <a:spcPts val="1060"/>
              </a:spcBef>
              <a:buFont typeface="Arial MT"/>
              <a:buChar char="•"/>
              <a:tabLst>
                <a:tab pos="241300" algn="l"/>
              </a:tabLst>
            </a:pPr>
            <a:r>
              <a:rPr sz="2800" spc="-10" dirty="0">
                <a:latin typeface="Calibri"/>
                <a:cs typeface="Calibri"/>
              </a:rPr>
              <a:t>Set</a:t>
            </a:r>
            <a:r>
              <a:rPr sz="2800" spc="-5" dirty="0">
                <a:latin typeface="Calibri"/>
                <a:cs typeface="Calibri"/>
              </a:rPr>
              <a:t> of</a:t>
            </a:r>
            <a:r>
              <a:rPr sz="2800" spc="5" dirty="0">
                <a:latin typeface="Calibri"/>
                <a:cs typeface="Calibri"/>
              </a:rPr>
              <a:t> </a:t>
            </a:r>
            <a:r>
              <a:rPr sz="2800" spc="-15" dirty="0">
                <a:latin typeface="Calibri"/>
                <a:cs typeface="Calibri"/>
              </a:rPr>
              <a:t>ordered</a:t>
            </a:r>
            <a:r>
              <a:rPr sz="2800" spc="20" dirty="0">
                <a:latin typeface="Calibri"/>
                <a:cs typeface="Calibri"/>
              </a:rPr>
              <a:t> </a:t>
            </a:r>
            <a:r>
              <a:rPr sz="2800" spc="-10" dirty="0">
                <a:latin typeface="Calibri"/>
                <a:cs typeface="Calibri"/>
              </a:rPr>
              <a:t>pair</a:t>
            </a:r>
            <a:r>
              <a:rPr sz="2800" spc="10" dirty="0">
                <a:latin typeface="Calibri"/>
                <a:cs typeface="Calibri"/>
              </a:rPr>
              <a:t> </a:t>
            </a:r>
            <a:r>
              <a:rPr sz="2800" spc="-5" dirty="0">
                <a:latin typeface="Calibri"/>
                <a:cs typeface="Calibri"/>
              </a:rPr>
              <a:t>of</a:t>
            </a:r>
            <a:r>
              <a:rPr sz="2800" spc="10" dirty="0">
                <a:latin typeface="Calibri"/>
                <a:cs typeface="Calibri"/>
              </a:rPr>
              <a:t> </a:t>
            </a:r>
            <a:r>
              <a:rPr sz="2800" spc="-20" dirty="0">
                <a:latin typeface="Calibri"/>
                <a:cs typeface="Calibri"/>
              </a:rPr>
              <a:t>integers</a:t>
            </a:r>
            <a:r>
              <a:rPr sz="2800" spc="-5" dirty="0">
                <a:latin typeface="Calibri"/>
                <a:cs typeface="Calibri"/>
              </a:rPr>
              <a:t> </a:t>
            </a:r>
            <a:r>
              <a:rPr sz="2800" dirty="0">
                <a:latin typeface="Calibri"/>
                <a:cs typeface="Calibri"/>
              </a:rPr>
              <a:t>(x,</a:t>
            </a:r>
            <a:r>
              <a:rPr sz="2800" spc="5" dirty="0">
                <a:latin typeface="Calibri"/>
                <a:cs typeface="Calibri"/>
              </a:rPr>
              <a:t> </a:t>
            </a:r>
            <a:r>
              <a:rPr sz="2800" spc="-5" dirty="0">
                <a:latin typeface="Calibri"/>
                <a:cs typeface="Calibri"/>
              </a:rPr>
              <a:t>y),</a:t>
            </a:r>
            <a:r>
              <a:rPr sz="2800" spc="15" dirty="0">
                <a:latin typeface="Calibri"/>
                <a:cs typeface="Calibri"/>
              </a:rPr>
              <a:t> </a:t>
            </a:r>
            <a:r>
              <a:rPr sz="2800" spc="-10" dirty="0">
                <a:latin typeface="Calibri"/>
                <a:cs typeface="Calibri"/>
              </a:rPr>
              <a:t>such</a:t>
            </a:r>
            <a:r>
              <a:rPr sz="2800" spc="45" dirty="0">
                <a:latin typeface="Calibri"/>
                <a:cs typeface="Calibri"/>
              </a:rPr>
              <a:t> </a:t>
            </a:r>
            <a:r>
              <a:rPr sz="2800" spc="-10" dirty="0">
                <a:latin typeface="Calibri"/>
                <a:cs typeface="Calibri"/>
              </a:rPr>
              <a:t>that</a:t>
            </a:r>
            <a:r>
              <a:rPr sz="2800" spc="-5" dirty="0">
                <a:latin typeface="Calibri"/>
                <a:cs typeface="Calibri"/>
              </a:rPr>
              <a:t> </a:t>
            </a:r>
            <a:r>
              <a:rPr sz="2800" dirty="0">
                <a:latin typeface="Calibri"/>
                <a:cs typeface="Calibri"/>
              </a:rPr>
              <a:t>x=</a:t>
            </a:r>
            <a:r>
              <a:rPr sz="2800" spc="20" dirty="0">
                <a:latin typeface="Calibri"/>
                <a:cs typeface="Calibri"/>
              </a:rPr>
              <a:t> </a:t>
            </a:r>
            <a:r>
              <a:rPr sz="2800" spc="-5" dirty="0">
                <a:latin typeface="Calibri"/>
                <a:cs typeface="Calibri"/>
              </a:rPr>
              <a:t>0,</a:t>
            </a:r>
            <a:r>
              <a:rPr sz="2800" spc="15" dirty="0">
                <a:latin typeface="Calibri"/>
                <a:cs typeface="Calibri"/>
              </a:rPr>
              <a:t> </a:t>
            </a:r>
            <a:r>
              <a:rPr sz="2800" spc="-5" dirty="0">
                <a:latin typeface="Calibri"/>
                <a:cs typeface="Calibri"/>
              </a:rPr>
              <a:t>1,</a:t>
            </a:r>
            <a:r>
              <a:rPr sz="2800" spc="20" dirty="0">
                <a:latin typeface="Calibri"/>
                <a:cs typeface="Calibri"/>
              </a:rPr>
              <a:t> </a:t>
            </a:r>
            <a:r>
              <a:rPr sz="2800" spc="-5" dirty="0">
                <a:latin typeface="Calibri"/>
                <a:cs typeface="Calibri"/>
              </a:rPr>
              <a:t>2,</a:t>
            </a:r>
            <a:r>
              <a:rPr sz="2800" spc="25" dirty="0">
                <a:latin typeface="Calibri"/>
                <a:cs typeface="Calibri"/>
              </a:rPr>
              <a:t> </a:t>
            </a:r>
            <a:r>
              <a:rPr sz="2800" spc="-5" dirty="0">
                <a:latin typeface="Calibri"/>
                <a:cs typeface="Calibri"/>
              </a:rPr>
              <a:t>3,</a:t>
            </a:r>
            <a:r>
              <a:rPr sz="2800" spc="15" dirty="0">
                <a:latin typeface="Calibri"/>
                <a:cs typeface="Calibri"/>
              </a:rPr>
              <a:t> </a:t>
            </a:r>
            <a:r>
              <a:rPr sz="2800" spc="-5" dirty="0">
                <a:latin typeface="Calibri"/>
                <a:cs typeface="Calibri"/>
              </a:rPr>
              <a:t>or</a:t>
            </a:r>
            <a:r>
              <a:rPr sz="2800" spc="10" dirty="0">
                <a:latin typeface="Calibri"/>
                <a:cs typeface="Calibri"/>
              </a:rPr>
              <a:t> </a:t>
            </a:r>
            <a:r>
              <a:rPr sz="2800" spc="-5" dirty="0">
                <a:latin typeface="Calibri"/>
                <a:cs typeface="Calibri"/>
              </a:rPr>
              <a:t>4</a:t>
            </a:r>
            <a:r>
              <a:rPr sz="2800" spc="15" dirty="0">
                <a:latin typeface="Calibri"/>
                <a:cs typeface="Calibri"/>
              </a:rPr>
              <a:t> </a:t>
            </a:r>
            <a:r>
              <a:rPr sz="2800" spc="-5" dirty="0">
                <a:latin typeface="Calibri"/>
                <a:cs typeface="Calibri"/>
              </a:rPr>
              <a:t>and </a:t>
            </a:r>
            <a:r>
              <a:rPr sz="2800" dirty="0">
                <a:latin typeface="Calibri"/>
                <a:cs typeface="Calibri"/>
              </a:rPr>
              <a:t> </a:t>
            </a:r>
            <a:r>
              <a:rPr sz="2800" spc="-5" dirty="0">
                <a:latin typeface="Calibri"/>
                <a:cs typeface="Calibri"/>
              </a:rPr>
              <a:t>y=</a:t>
            </a:r>
            <a:r>
              <a:rPr sz="2800" spc="10" dirty="0">
                <a:latin typeface="Calibri"/>
                <a:cs typeface="Calibri"/>
              </a:rPr>
              <a:t> </a:t>
            </a:r>
            <a:r>
              <a:rPr sz="2800" spc="-5" dirty="0">
                <a:latin typeface="Calibri"/>
                <a:cs typeface="Calibri"/>
              </a:rPr>
              <a:t>0,</a:t>
            </a:r>
            <a:r>
              <a:rPr sz="2800" spc="20" dirty="0">
                <a:latin typeface="Calibri"/>
                <a:cs typeface="Calibri"/>
              </a:rPr>
              <a:t> </a:t>
            </a:r>
            <a:r>
              <a:rPr sz="2800" spc="-5" dirty="0">
                <a:latin typeface="Calibri"/>
                <a:cs typeface="Calibri"/>
              </a:rPr>
              <a:t>1,</a:t>
            </a:r>
            <a:r>
              <a:rPr sz="2800" spc="20" dirty="0">
                <a:latin typeface="Calibri"/>
                <a:cs typeface="Calibri"/>
              </a:rPr>
              <a:t> </a:t>
            </a:r>
            <a:r>
              <a:rPr sz="2800" spc="-5" dirty="0">
                <a:latin typeface="Calibri"/>
                <a:cs typeface="Calibri"/>
              </a:rPr>
              <a:t>2,</a:t>
            </a:r>
            <a:r>
              <a:rPr sz="2800" spc="30" dirty="0">
                <a:latin typeface="Calibri"/>
                <a:cs typeface="Calibri"/>
              </a:rPr>
              <a:t> </a:t>
            </a:r>
            <a:r>
              <a:rPr sz="2800" spc="-5" dirty="0">
                <a:latin typeface="Calibri"/>
                <a:cs typeface="Calibri"/>
              </a:rPr>
              <a:t>or</a:t>
            </a:r>
            <a:r>
              <a:rPr sz="2800" spc="10" dirty="0">
                <a:latin typeface="Calibri"/>
                <a:cs typeface="Calibri"/>
              </a:rPr>
              <a:t> </a:t>
            </a:r>
            <a:r>
              <a:rPr sz="2800" spc="-5" dirty="0">
                <a:latin typeface="Calibri"/>
                <a:cs typeface="Calibri"/>
              </a:rPr>
              <a:t>3,</a:t>
            </a:r>
            <a:r>
              <a:rPr sz="2800" spc="20" dirty="0">
                <a:latin typeface="Calibri"/>
                <a:cs typeface="Calibri"/>
              </a:rPr>
              <a:t> </a:t>
            </a:r>
            <a:r>
              <a:rPr sz="2800" spc="-10" dirty="0">
                <a:latin typeface="Calibri"/>
                <a:cs typeface="Calibri"/>
              </a:rPr>
              <a:t>where</a:t>
            </a:r>
            <a:r>
              <a:rPr sz="2800" spc="5" dirty="0">
                <a:latin typeface="Calibri"/>
                <a:cs typeface="Calibri"/>
              </a:rPr>
              <a:t> </a:t>
            </a:r>
            <a:r>
              <a:rPr sz="2800" spc="-5" dirty="0">
                <a:latin typeface="Calibri"/>
                <a:cs typeface="Calibri"/>
              </a:rPr>
              <a:t>x</a:t>
            </a:r>
            <a:r>
              <a:rPr sz="2800" spc="10" dirty="0">
                <a:latin typeface="Calibri"/>
                <a:cs typeface="Calibri"/>
              </a:rPr>
              <a:t> </a:t>
            </a:r>
            <a:r>
              <a:rPr sz="2800" spc="-15" dirty="0">
                <a:latin typeface="Calibri"/>
                <a:cs typeface="Calibri"/>
              </a:rPr>
              <a:t>represents</a:t>
            </a:r>
            <a:r>
              <a:rPr sz="2800" spc="4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quantity</a:t>
            </a:r>
            <a:r>
              <a:rPr sz="2800" spc="25" dirty="0">
                <a:latin typeface="Calibri"/>
                <a:cs typeface="Calibri"/>
              </a:rPr>
              <a:t> </a:t>
            </a:r>
            <a:r>
              <a:rPr sz="2800" spc="-5" dirty="0">
                <a:latin typeface="Calibri"/>
                <a:cs typeface="Calibri"/>
              </a:rPr>
              <a:t>of</a:t>
            </a:r>
            <a:r>
              <a:rPr sz="2800" spc="10" dirty="0">
                <a:latin typeface="Calibri"/>
                <a:cs typeface="Calibri"/>
              </a:rPr>
              <a:t> </a:t>
            </a:r>
            <a:r>
              <a:rPr sz="2800" spc="-20" dirty="0">
                <a:latin typeface="Calibri"/>
                <a:cs typeface="Calibri"/>
              </a:rPr>
              <a:t>water</a:t>
            </a:r>
            <a:r>
              <a:rPr sz="2800" dirty="0">
                <a:latin typeface="Calibri"/>
                <a:cs typeface="Calibri"/>
              </a:rPr>
              <a:t> </a:t>
            </a:r>
            <a:r>
              <a:rPr sz="2800" spc="-10" dirty="0">
                <a:latin typeface="Calibri"/>
                <a:cs typeface="Calibri"/>
              </a:rPr>
              <a:t>in</a:t>
            </a:r>
            <a:r>
              <a:rPr sz="2800" spc="15" dirty="0">
                <a:latin typeface="Calibri"/>
                <a:cs typeface="Calibri"/>
              </a:rPr>
              <a:t> </a:t>
            </a:r>
            <a:r>
              <a:rPr sz="2800" spc="-5" dirty="0">
                <a:latin typeface="Calibri"/>
                <a:cs typeface="Calibri"/>
              </a:rPr>
              <a:t>4</a:t>
            </a:r>
            <a:r>
              <a:rPr sz="2800" spc="20" dirty="0">
                <a:latin typeface="Calibri"/>
                <a:cs typeface="Calibri"/>
              </a:rPr>
              <a:t> </a:t>
            </a:r>
            <a:r>
              <a:rPr sz="2800" spc="-15" dirty="0">
                <a:latin typeface="Calibri"/>
                <a:cs typeface="Calibri"/>
              </a:rPr>
              <a:t>litre</a:t>
            </a:r>
            <a:r>
              <a:rPr sz="2800" spc="20" dirty="0">
                <a:latin typeface="Calibri"/>
                <a:cs typeface="Calibri"/>
              </a:rPr>
              <a:t> </a:t>
            </a:r>
            <a:r>
              <a:rPr sz="2800" spc="-10" dirty="0">
                <a:latin typeface="Calibri"/>
                <a:cs typeface="Calibri"/>
              </a:rPr>
              <a:t>jug </a:t>
            </a:r>
            <a:r>
              <a:rPr sz="2800" spc="-620"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y</a:t>
            </a:r>
            <a:r>
              <a:rPr sz="2800" spc="10" dirty="0">
                <a:latin typeface="Calibri"/>
                <a:cs typeface="Calibri"/>
              </a:rPr>
              <a:t> </a:t>
            </a:r>
            <a:r>
              <a:rPr sz="2800" spc="-15" dirty="0">
                <a:latin typeface="Calibri"/>
                <a:cs typeface="Calibri"/>
              </a:rPr>
              <a:t>represents</a:t>
            </a:r>
            <a:r>
              <a:rPr sz="2800" spc="2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quantity</a:t>
            </a:r>
            <a:r>
              <a:rPr sz="2800" spc="30" dirty="0">
                <a:latin typeface="Calibri"/>
                <a:cs typeface="Calibri"/>
              </a:rPr>
              <a:t> </a:t>
            </a:r>
            <a:r>
              <a:rPr sz="2800" spc="-5" dirty="0">
                <a:latin typeface="Calibri"/>
                <a:cs typeface="Calibri"/>
              </a:rPr>
              <a:t>of</a:t>
            </a:r>
            <a:r>
              <a:rPr sz="2800" spc="5" dirty="0">
                <a:latin typeface="Calibri"/>
                <a:cs typeface="Calibri"/>
              </a:rPr>
              <a:t> </a:t>
            </a:r>
            <a:r>
              <a:rPr sz="2800" spc="-20" dirty="0">
                <a:latin typeface="Calibri"/>
                <a:cs typeface="Calibri"/>
              </a:rPr>
              <a:t>water</a:t>
            </a:r>
            <a:r>
              <a:rPr sz="2800" dirty="0">
                <a:latin typeface="Calibri"/>
                <a:cs typeface="Calibri"/>
              </a:rPr>
              <a:t> </a:t>
            </a:r>
            <a:r>
              <a:rPr sz="2800" spc="-10" dirty="0">
                <a:latin typeface="Calibri"/>
                <a:cs typeface="Calibri"/>
              </a:rPr>
              <a:t>in</a:t>
            </a:r>
            <a:r>
              <a:rPr sz="2800" spc="10" dirty="0">
                <a:latin typeface="Calibri"/>
                <a:cs typeface="Calibri"/>
              </a:rPr>
              <a:t> </a:t>
            </a:r>
            <a:r>
              <a:rPr sz="2800" spc="-5" dirty="0">
                <a:latin typeface="Calibri"/>
                <a:cs typeface="Calibri"/>
              </a:rPr>
              <a:t>3</a:t>
            </a:r>
            <a:r>
              <a:rPr sz="2800" spc="10" dirty="0">
                <a:latin typeface="Calibri"/>
                <a:cs typeface="Calibri"/>
              </a:rPr>
              <a:t> </a:t>
            </a:r>
            <a:r>
              <a:rPr sz="2800" spc="-15" dirty="0">
                <a:latin typeface="Calibri"/>
                <a:cs typeface="Calibri"/>
              </a:rPr>
              <a:t>litre</a:t>
            </a:r>
            <a:r>
              <a:rPr sz="2800" dirty="0">
                <a:latin typeface="Calibri"/>
                <a:cs typeface="Calibri"/>
              </a:rPr>
              <a:t> </a:t>
            </a:r>
            <a:r>
              <a:rPr sz="2800" spc="-5" dirty="0">
                <a:latin typeface="Calibri"/>
                <a:cs typeface="Calibri"/>
              </a:rPr>
              <a:t>jug</a:t>
            </a:r>
            <a:endParaRPr sz="2800">
              <a:latin typeface="Calibri"/>
              <a:cs typeface="Calibri"/>
            </a:endParaRPr>
          </a:p>
          <a:p>
            <a:pPr marL="241300" indent="-228600">
              <a:lnSpc>
                <a:spcPct val="100000"/>
              </a:lnSpc>
              <a:spcBef>
                <a:spcPts val="625"/>
              </a:spcBef>
              <a:buFont typeface="Arial MT"/>
              <a:buChar char="•"/>
              <a:tabLst>
                <a:tab pos="241300" algn="l"/>
              </a:tabLst>
            </a:pPr>
            <a:r>
              <a:rPr sz="2800" spc="-5" dirty="0">
                <a:latin typeface="Calibri"/>
                <a:cs typeface="Calibri"/>
              </a:rPr>
              <a:t>The</a:t>
            </a:r>
            <a:r>
              <a:rPr sz="2800" spc="-20" dirty="0">
                <a:latin typeface="Calibri"/>
                <a:cs typeface="Calibri"/>
              </a:rPr>
              <a:t> </a:t>
            </a:r>
            <a:r>
              <a:rPr sz="2800" spc="-15" dirty="0">
                <a:latin typeface="Calibri"/>
                <a:cs typeface="Calibri"/>
              </a:rPr>
              <a:t>start</a:t>
            </a:r>
            <a:r>
              <a:rPr sz="2800" spc="10" dirty="0">
                <a:latin typeface="Calibri"/>
                <a:cs typeface="Calibri"/>
              </a:rPr>
              <a:t> </a:t>
            </a:r>
            <a:r>
              <a:rPr sz="2800" spc="-25" dirty="0">
                <a:latin typeface="Calibri"/>
                <a:cs typeface="Calibri"/>
              </a:rPr>
              <a:t>state</a:t>
            </a:r>
            <a:r>
              <a:rPr sz="2800" dirty="0">
                <a:latin typeface="Calibri"/>
                <a:cs typeface="Calibri"/>
              </a:rPr>
              <a:t> </a:t>
            </a:r>
            <a:r>
              <a:rPr sz="2800" spc="-5" dirty="0">
                <a:latin typeface="Calibri"/>
                <a:cs typeface="Calibri"/>
              </a:rPr>
              <a:t>is</a:t>
            </a:r>
            <a:r>
              <a:rPr sz="2800" spc="-10" dirty="0">
                <a:latin typeface="Calibri"/>
                <a:cs typeface="Calibri"/>
              </a:rPr>
              <a:t> </a:t>
            </a:r>
            <a:r>
              <a:rPr sz="2800" dirty="0">
                <a:latin typeface="Calibri"/>
                <a:cs typeface="Calibri"/>
              </a:rPr>
              <a:t>(0,</a:t>
            </a:r>
            <a:r>
              <a:rPr sz="2800" spc="5" dirty="0">
                <a:latin typeface="Calibri"/>
                <a:cs typeface="Calibri"/>
              </a:rPr>
              <a:t> </a:t>
            </a:r>
            <a:r>
              <a:rPr sz="2800" spc="-5" dirty="0">
                <a:latin typeface="Calibri"/>
                <a:cs typeface="Calibri"/>
              </a:rPr>
              <a:t>0)</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The final </a:t>
            </a:r>
            <a:r>
              <a:rPr sz="2800" spc="-30" dirty="0">
                <a:latin typeface="Calibri"/>
                <a:cs typeface="Calibri"/>
              </a:rPr>
              <a:t>state</a:t>
            </a:r>
            <a:r>
              <a:rPr sz="2800" spc="-5" dirty="0">
                <a:latin typeface="Calibri"/>
                <a:cs typeface="Calibri"/>
              </a:rPr>
              <a:t> is</a:t>
            </a:r>
            <a:r>
              <a:rPr sz="2800" spc="5" dirty="0">
                <a:latin typeface="Calibri"/>
                <a:cs typeface="Calibri"/>
              </a:rPr>
              <a:t> </a:t>
            </a:r>
            <a:r>
              <a:rPr sz="2800" spc="-5" dirty="0">
                <a:latin typeface="Calibri"/>
                <a:cs typeface="Calibri"/>
              </a:rPr>
              <a:t>(2,</a:t>
            </a:r>
            <a:r>
              <a:rPr sz="2800" spc="5" dirty="0">
                <a:latin typeface="Calibri"/>
                <a:cs typeface="Calibri"/>
              </a:rPr>
              <a:t> </a:t>
            </a:r>
            <a:r>
              <a:rPr sz="2800" spc="-10" dirty="0">
                <a:latin typeface="Calibri"/>
                <a:cs typeface="Calibri"/>
              </a:rPr>
              <a:t>n)</a:t>
            </a:r>
            <a:endParaRPr sz="2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73456"/>
            <a:ext cx="8961755" cy="1188720"/>
          </a:xfrm>
          <a:prstGeom prst="rect">
            <a:avLst/>
          </a:prstGeom>
        </p:spPr>
        <p:txBody>
          <a:bodyPr vert="horz" wrap="square" lIns="0" tIns="77470" rIns="0" bIns="0" rtlCol="0">
            <a:spAutoFit/>
          </a:bodyPr>
          <a:lstStyle/>
          <a:p>
            <a:pPr marL="12700" marR="5080">
              <a:lnSpc>
                <a:spcPts val="4360"/>
              </a:lnSpc>
              <a:spcBef>
                <a:spcPts val="610"/>
              </a:spcBef>
            </a:pPr>
            <a:r>
              <a:rPr sz="4000" spc="-5" dirty="0"/>
              <a:t>Defining</a:t>
            </a:r>
            <a:r>
              <a:rPr sz="4000" spc="-15" dirty="0"/>
              <a:t> </a:t>
            </a:r>
            <a:r>
              <a:rPr sz="4000" spc="-20" dirty="0"/>
              <a:t>Problems</a:t>
            </a:r>
            <a:r>
              <a:rPr sz="4000" spc="-5" dirty="0"/>
              <a:t> as</a:t>
            </a:r>
            <a:r>
              <a:rPr sz="4000" dirty="0"/>
              <a:t> </a:t>
            </a:r>
            <a:r>
              <a:rPr sz="4000" spc="-5" dirty="0"/>
              <a:t>a</a:t>
            </a:r>
            <a:r>
              <a:rPr sz="4000" dirty="0"/>
              <a:t> </a:t>
            </a:r>
            <a:r>
              <a:rPr sz="4000" spc="-30" dirty="0"/>
              <a:t>State</a:t>
            </a:r>
            <a:r>
              <a:rPr sz="4000" spc="-5" dirty="0"/>
              <a:t> Space</a:t>
            </a:r>
            <a:r>
              <a:rPr sz="4000" spc="15" dirty="0"/>
              <a:t> </a:t>
            </a:r>
            <a:r>
              <a:rPr sz="4000" spc="-15" dirty="0"/>
              <a:t>Search: </a:t>
            </a:r>
            <a:r>
              <a:rPr sz="4000" spc="-10" dirty="0"/>
              <a:t> </a:t>
            </a:r>
            <a:r>
              <a:rPr sz="4000" spc="-5" dirty="0"/>
              <a:t>An</a:t>
            </a:r>
            <a:r>
              <a:rPr sz="4000" spc="-10" dirty="0"/>
              <a:t> </a:t>
            </a:r>
            <a:r>
              <a:rPr sz="4000" spc="-15" dirty="0"/>
              <a:t>Example</a:t>
            </a:r>
            <a:r>
              <a:rPr sz="4000" spc="-5" dirty="0"/>
              <a:t> – A</a:t>
            </a:r>
            <a:r>
              <a:rPr sz="4000" spc="-10" dirty="0"/>
              <a:t> </a:t>
            </a:r>
            <a:r>
              <a:rPr sz="4000" spc="-50" dirty="0"/>
              <a:t>Water</a:t>
            </a:r>
            <a:r>
              <a:rPr sz="4000" spc="-10" dirty="0"/>
              <a:t> </a:t>
            </a:r>
            <a:r>
              <a:rPr sz="4000" spc="-5" dirty="0"/>
              <a:t>Jug </a:t>
            </a:r>
            <a:r>
              <a:rPr sz="4000" spc="-20" dirty="0"/>
              <a:t>Problem</a:t>
            </a:r>
            <a:r>
              <a:rPr sz="4000" dirty="0"/>
              <a:t> </a:t>
            </a:r>
            <a:r>
              <a:rPr sz="4000" spc="-5" dirty="0">
                <a:latin typeface="Wingdings"/>
                <a:cs typeface="Wingdings"/>
              </a:rPr>
              <a:t></a:t>
            </a:r>
            <a:r>
              <a:rPr sz="4000" spc="-105" dirty="0">
                <a:latin typeface="Times New Roman"/>
                <a:cs typeface="Times New Roman"/>
              </a:rPr>
              <a:t> </a:t>
            </a:r>
            <a:r>
              <a:rPr sz="4000" spc="-10" dirty="0"/>
              <a:t>Rules</a:t>
            </a:r>
            <a:endParaRPr sz="4000">
              <a:latin typeface="Times New Roman"/>
              <a:cs typeface="Times New Roman"/>
            </a:endParaRPr>
          </a:p>
        </p:txBody>
      </p:sp>
      <p:sp>
        <p:nvSpPr>
          <p:cNvPr id="3" name="object 3"/>
          <p:cNvSpPr txBox="1"/>
          <p:nvPr/>
        </p:nvSpPr>
        <p:spPr>
          <a:xfrm>
            <a:off x="416458" y="1800809"/>
            <a:ext cx="4408805" cy="4137660"/>
          </a:xfrm>
          <a:prstGeom prst="rect">
            <a:avLst/>
          </a:prstGeom>
        </p:spPr>
        <p:txBody>
          <a:bodyPr vert="horz" wrap="square" lIns="0" tIns="60325" rIns="0" bIns="0" rtlCol="0">
            <a:spAutoFit/>
          </a:bodyPr>
          <a:lstStyle/>
          <a:p>
            <a:pPr marL="527685" marR="1275715" indent="-515620">
              <a:lnSpc>
                <a:spcPts val="2790"/>
              </a:lnSpc>
              <a:spcBef>
                <a:spcPts val="475"/>
              </a:spcBef>
              <a:tabLst>
                <a:tab pos="527685" algn="l"/>
              </a:tabLst>
            </a:pPr>
            <a:r>
              <a:rPr sz="2600" spc="-5" dirty="0">
                <a:latin typeface="Calibri"/>
                <a:cs typeface="Calibri"/>
              </a:rPr>
              <a:t>1.	(x,</a:t>
            </a:r>
            <a:r>
              <a:rPr sz="2600" spc="-30" dirty="0">
                <a:latin typeface="Calibri"/>
                <a:cs typeface="Calibri"/>
              </a:rPr>
              <a:t> </a:t>
            </a:r>
            <a:r>
              <a:rPr sz="2600" dirty="0">
                <a:latin typeface="Calibri"/>
                <a:cs typeface="Calibri"/>
              </a:rPr>
              <a:t>y)</a:t>
            </a:r>
            <a:r>
              <a:rPr sz="2600" spc="-10" dirty="0">
                <a:latin typeface="Calibri"/>
                <a:cs typeface="Calibri"/>
              </a:rPr>
              <a:t> </a:t>
            </a:r>
            <a:r>
              <a:rPr sz="2600" dirty="0">
                <a:latin typeface="Calibri"/>
                <a:cs typeface="Calibri"/>
              </a:rPr>
              <a:t>if</a:t>
            </a:r>
            <a:r>
              <a:rPr sz="2600" spc="-10" dirty="0">
                <a:latin typeface="Calibri"/>
                <a:cs typeface="Calibri"/>
              </a:rPr>
              <a:t> </a:t>
            </a:r>
            <a:r>
              <a:rPr sz="2600" spc="-5" dirty="0">
                <a:latin typeface="Calibri"/>
                <a:cs typeface="Calibri"/>
              </a:rPr>
              <a:t>x&lt;4</a:t>
            </a:r>
            <a:r>
              <a:rPr sz="2600" spc="-25" dirty="0">
                <a:latin typeface="Calibri"/>
                <a:cs typeface="Calibri"/>
              </a:rPr>
              <a:t> </a:t>
            </a:r>
            <a:r>
              <a:rPr sz="2600" spc="5" dirty="0">
                <a:latin typeface="Wingdings"/>
                <a:cs typeface="Wingdings"/>
              </a:rPr>
              <a:t></a:t>
            </a:r>
            <a:r>
              <a:rPr sz="2600" spc="-85" dirty="0">
                <a:latin typeface="Times New Roman"/>
                <a:cs typeface="Times New Roman"/>
              </a:rPr>
              <a:t> </a:t>
            </a:r>
            <a:r>
              <a:rPr sz="2600" spc="-5" dirty="0">
                <a:latin typeface="Calibri"/>
                <a:cs typeface="Calibri"/>
              </a:rPr>
              <a:t>(4,</a:t>
            </a:r>
            <a:r>
              <a:rPr sz="2600" spc="-10" dirty="0">
                <a:latin typeface="Calibri"/>
                <a:cs typeface="Calibri"/>
              </a:rPr>
              <a:t> </a:t>
            </a:r>
            <a:r>
              <a:rPr sz="2600" spc="-5" dirty="0">
                <a:latin typeface="Calibri"/>
                <a:cs typeface="Calibri"/>
              </a:rPr>
              <a:t>y) </a:t>
            </a:r>
            <a:r>
              <a:rPr sz="2600" spc="-570" dirty="0">
                <a:latin typeface="Calibri"/>
                <a:cs typeface="Calibri"/>
              </a:rPr>
              <a:t> </a:t>
            </a:r>
            <a:r>
              <a:rPr sz="2600" spc="-5" dirty="0">
                <a:latin typeface="Calibri"/>
                <a:cs typeface="Calibri"/>
              </a:rPr>
              <a:t>Fill</a:t>
            </a:r>
            <a:r>
              <a:rPr sz="2600" spc="-10" dirty="0">
                <a:latin typeface="Calibri"/>
                <a:cs typeface="Calibri"/>
              </a:rPr>
              <a:t> </a:t>
            </a:r>
            <a:r>
              <a:rPr sz="2600" dirty="0">
                <a:latin typeface="Calibri"/>
                <a:cs typeface="Calibri"/>
              </a:rPr>
              <a:t>the</a:t>
            </a:r>
            <a:r>
              <a:rPr sz="2600" spc="-20" dirty="0">
                <a:latin typeface="Calibri"/>
                <a:cs typeface="Calibri"/>
              </a:rPr>
              <a:t> </a:t>
            </a:r>
            <a:r>
              <a:rPr sz="2600" dirty="0">
                <a:latin typeface="Calibri"/>
                <a:cs typeface="Calibri"/>
              </a:rPr>
              <a:t>4</a:t>
            </a:r>
            <a:r>
              <a:rPr sz="2600" spc="-20" dirty="0">
                <a:latin typeface="Calibri"/>
                <a:cs typeface="Calibri"/>
              </a:rPr>
              <a:t> </a:t>
            </a:r>
            <a:r>
              <a:rPr sz="2600" spc="-5" dirty="0">
                <a:latin typeface="Calibri"/>
                <a:cs typeface="Calibri"/>
              </a:rPr>
              <a:t>litre</a:t>
            </a:r>
            <a:r>
              <a:rPr sz="2600" spc="-20" dirty="0">
                <a:latin typeface="Calibri"/>
                <a:cs typeface="Calibri"/>
              </a:rPr>
              <a:t> </a:t>
            </a:r>
            <a:r>
              <a:rPr sz="2600" spc="-5" dirty="0">
                <a:latin typeface="Calibri"/>
                <a:cs typeface="Calibri"/>
              </a:rPr>
              <a:t>jug</a:t>
            </a:r>
            <a:endParaRPr sz="2600">
              <a:latin typeface="Calibri"/>
              <a:cs typeface="Calibri"/>
            </a:endParaRPr>
          </a:p>
          <a:p>
            <a:pPr marL="527685" marR="1276350" indent="-515620">
              <a:lnSpc>
                <a:spcPts val="2780"/>
              </a:lnSpc>
              <a:spcBef>
                <a:spcPts val="1040"/>
              </a:spcBef>
              <a:tabLst>
                <a:tab pos="527685" algn="l"/>
              </a:tabLst>
            </a:pPr>
            <a:r>
              <a:rPr sz="2600" dirty="0">
                <a:latin typeface="Calibri"/>
                <a:cs typeface="Calibri"/>
              </a:rPr>
              <a:t>2.	</a:t>
            </a:r>
            <a:r>
              <a:rPr sz="2600" spc="-5" dirty="0">
                <a:latin typeface="Calibri"/>
                <a:cs typeface="Calibri"/>
              </a:rPr>
              <a:t>(x,</a:t>
            </a:r>
            <a:r>
              <a:rPr sz="2600" spc="-30" dirty="0">
                <a:latin typeface="Calibri"/>
                <a:cs typeface="Calibri"/>
              </a:rPr>
              <a:t> </a:t>
            </a:r>
            <a:r>
              <a:rPr sz="2600" dirty="0">
                <a:latin typeface="Calibri"/>
                <a:cs typeface="Calibri"/>
              </a:rPr>
              <a:t>y)</a:t>
            </a:r>
            <a:r>
              <a:rPr sz="2600" spc="-10" dirty="0">
                <a:latin typeface="Calibri"/>
                <a:cs typeface="Calibri"/>
              </a:rPr>
              <a:t> </a:t>
            </a:r>
            <a:r>
              <a:rPr sz="2600" dirty="0">
                <a:latin typeface="Calibri"/>
                <a:cs typeface="Calibri"/>
              </a:rPr>
              <a:t>if</a:t>
            </a:r>
            <a:r>
              <a:rPr sz="2600" spc="-10" dirty="0">
                <a:latin typeface="Calibri"/>
                <a:cs typeface="Calibri"/>
              </a:rPr>
              <a:t> </a:t>
            </a:r>
            <a:r>
              <a:rPr sz="2600" dirty="0">
                <a:latin typeface="Calibri"/>
                <a:cs typeface="Calibri"/>
              </a:rPr>
              <a:t>y&lt;3</a:t>
            </a:r>
            <a:r>
              <a:rPr sz="2600" spc="-35" dirty="0">
                <a:latin typeface="Calibri"/>
                <a:cs typeface="Calibri"/>
              </a:rPr>
              <a:t> </a:t>
            </a:r>
            <a:r>
              <a:rPr sz="2600" dirty="0">
                <a:latin typeface="Wingdings"/>
                <a:cs typeface="Wingdings"/>
              </a:rPr>
              <a:t></a:t>
            </a:r>
            <a:r>
              <a:rPr sz="2600" spc="-70" dirty="0">
                <a:latin typeface="Times New Roman"/>
                <a:cs typeface="Times New Roman"/>
              </a:rPr>
              <a:t> </a:t>
            </a:r>
            <a:r>
              <a:rPr sz="2600" spc="-5" dirty="0">
                <a:latin typeface="Calibri"/>
                <a:cs typeface="Calibri"/>
              </a:rPr>
              <a:t>(x,</a:t>
            </a:r>
            <a:r>
              <a:rPr sz="2600" spc="-25" dirty="0">
                <a:latin typeface="Calibri"/>
                <a:cs typeface="Calibri"/>
              </a:rPr>
              <a:t> </a:t>
            </a:r>
            <a:r>
              <a:rPr sz="2600" dirty="0">
                <a:latin typeface="Calibri"/>
                <a:cs typeface="Calibri"/>
              </a:rPr>
              <a:t>3) </a:t>
            </a:r>
            <a:r>
              <a:rPr sz="2600" spc="-575" dirty="0">
                <a:latin typeface="Calibri"/>
                <a:cs typeface="Calibri"/>
              </a:rPr>
              <a:t> </a:t>
            </a:r>
            <a:r>
              <a:rPr sz="2600" spc="-5" dirty="0">
                <a:latin typeface="Calibri"/>
                <a:cs typeface="Calibri"/>
              </a:rPr>
              <a:t>Fill</a:t>
            </a:r>
            <a:r>
              <a:rPr sz="2600" spc="-15" dirty="0">
                <a:latin typeface="Calibri"/>
                <a:cs typeface="Calibri"/>
              </a:rPr>
              <a:t> </a:t>
            </a:r>
            <a:r>
              <a:rPr sz="2600" dirty="0">
                <a:latin typeface="Calibri"/>
                <a:cs typeface="Calibri"/>
              </a:rPr>
              <a:t>the</a:t>
            </a:r>
            <a:r>
              <a:rPr sz="2600" spc="-15" dirty="0">
                <a:latin typeface="Calibri"/>
                <a:cs typeface="Calibri"/>
              </a:rPr>
              <a:t> </a:t>
            </a:r>
            <a:r>
              <a:rPr sz="2600" dirty="0">
                <a:latin typeface="Calibri"/>
                <a:cs typeface="Calibri"/>
              </a:rPr>
              <a:t>3</a:t>
            </a:r>
            <a:r>
              <a:rPr sz="2600" spc="-25" dirty="0">
                <a:latin typeface="Calibri"/>
                <a:cs typeface="Calibri"/>
              </a:rPr>
              <a:t> </a:t>
            </a:r>
            <a:r>
              <a:rPr sz="2600" spc="-5" dirty="0">
                <a:latin typeface="Calibri"/>
                <a:cs typeface="Calibri"/>
              </a:rPr>
              <a:t>litre</a:t>
            </a:r>
            <a:r>
              <a:rPr sz="2600" spc="-20" dirty="0">
                <a:latin typeface="Calibri"/>
                <a:cs typeface="Calibri"/>
              </a:rPr>
              <a:t> </a:t>
            </a:r>
            <a:r>
              <a:rPr sz="2600" spc="-5" dirty="0">
                <a:latin typeface="Calibri"/>
                <a:cs typeface="Calibri"/>
              </a:rPr>
              <a:t>jug</a:t>
            </a:r>
            <a:endParaRPr sz="2600">
              <a:latin typeface="Calibri"/>
              <a:cs typeface="Calibri"/>
            </a:endParaRPr>
          </a:p>
          <a:p>
            <a:pPr marL="527685" marR="1155065" indent="-515620">
              <a:lnSpc>
                <a:spcPts val="2800"/>
              </a:lnSpc>
              <a:spcBef>
                <a:spcPts val="1040"/>
              </a:spcBef>
              <a:tabLst>
                <a:tab pos="527685" algn="l"/>
              </a:tabLst>
            </a:pPr>
            <a:r>
              <a:rPr sz="2600" dirty="0">
                <a:latin typeface="Calibri"/>
                <a:cs typeface="Calibri"/>
              </a:rPr>
              <a:t>3.	</a:t>
            </a:r>
            <a:r>
              <a:rPr sz="2600" spc="-5" dirty="0">
                <a:latin typeface="Calibri"/>
                <a:cs typeface="Calibri"/>
              </a:rPr>
              <a:t>(x, </a:t>
            </a:r>
            <a:r>
              <a:rPr sz="2600" dirty="0">
                <a:latin typeface="Calibri"/>
                <a:cs typeface="Calibri"/>
              </a:rPr>
              <a:t>y) if y&gt;0 </a:t>
            </a:r>
            <a:r>
              <a:rPr sz="2600" dirty="0">
                <a:latin typeface="Wingdings"/>
                <a:cs typeface="Wingdings"/>
              </a:rPr>
              <a:t></a:t>
            </a:r>
            <a:r>
              <a:rPr sz="2600" dirty="0">
                <a:latin typeface="Times New Roman"/>
                <a:cs typeface="Times New Roman"/>
              </a:rPr>
              <a:t> </a:t>
            </a:r>
            <a:r>
              <a:rPr sz="2600" spc="-5" dirty="0">
                <a:latin typeface="Calibri"/>
                <a:cs typeface="Calibri"/>
              </a:rPr>
              <a:t>(x, </a:t>
            </a:r>
            <a:r>
              <a:rPr sz="2600" dirty="0">
                <a:latin typeface="Calibri"/>
                <a:cs typeface="Calibri"/>
              </a:rPr>
              <a:t>0) </a:t>
            </a:r>
            <a:r>
              <a:rPr sz="2600" spc="5" dirty="0">
                <a:latin typeface="Calibri"/>
                <a:cs typeface="Calibri"/>
              </a:rPr>
              <a:t> </a:t>
            </a:r>
            <a:r>
              <a:rPr sz="2600" spc="-5" dirty="0">
                <a:latin typeface="Calibri"/>
                <a:cs typeface="Calibri"/>
              </a:rPr>
              <a:t>Empty</a:t>
            </a:r>
            <a:r>
              <a:rPr sz="2600" spc="-25" dirty="0">
                <a:latin typeface="Calibri"/>
                <a:cs typeface="Calibri"/>
              </a:rPr>
              <a:t> </a:t>
            </a:r>
            <a:r>
              <a:rPr sz="2600" dirty="0">
                <a:latin typeface="Calibri"/>
                <a:cs typeface="Calibri"/>
              </a:rPr>
              <a:t>the</a:t>
            </a:r>
            <a:r>
              <a:rPr sz="2600" spc="-40" dirty="0">
                <a:latin typeface="Calibri"/>
                <a:cs typeface="Calibri"/>
              </a:rPr>
              <a:t> </a:t>
            </a:r>
            <a:r>
              <a:rPr sz="2600" dirty="0">
                <a:latin typeface="Calibri"/>
                <a:cs typeface="Calibri"/>
              </a:rPr>
              <a:t>3</a:t>
            </a:r>
            <a:r>
              <a:rPr sz="2600" spc="-20" dirty="0">
                <a:latin typeface="Calibri"/>
                <a:cs typeface="Calibri"/>
              </a:rPr>
              <a:t> </a:t>
            </a:r>
            <a:r>
              <a:rPr sz="2600" spc="-5" dirty="0">
                <a:latin typeface="Calibri"/>
                <a:cs typeface="Calibri"/>
              </a:rPr>
              <a:t>litre</a:t>
            </a:r>
            <a:r>
              <a:rPr sz="2600" spc="-30" dirty="0">
                <a:latin typeface="Calibri"/>
                <a:cs typeface="Calibri"/>
              </a:rPr>
              <a:t> </a:t>
            </a:r>
            <a:r>
              <a:rPr sz="2600" spc="-5" dirty="0">
                <a:latin typeface="Calibri"/>
                <a:cs typeface="Calibri"/>
              </a:rPr>
              <a:t>jug</a:t>
            </a:r>
            <a:endParaRPr sz="2600">
              <a:latin typeface="Calibri"/>
              <a:cs typeface="Calibri"/>
            </a:endParaRPr>
          </a:p>
          <a:p>
            <a:pPr marL="527685" marR="1155065" indent="-515620">
              <a:lnSpc>
                <a:spcPts val="2790"/>
              </a:lnSpc>
              <a:spcBef>
                <a:spcPts val="1030"/>
              </a:spcBef>
              <a:tabLst>
                <a:tab pos="527685" algn="l"/>
              </a:tabLst>
            </a:pPr>
            <a:r>
              <a:rPr sz="2600" spc="-5" dirty="0">
                <a:latin typeface="Calibri"/>
                <a:cs typeface="Calibri"/>
              </a:rPr>
              <a:t>4.	(x, </a:t>
            </a:r>
            <a:r>
              <a:rPr sz="2600" dirty="0">
                <a:latin typeface="Calibri"/>
                <a:cs typeface="Calibri"/>
              </a:rPr>
              <a:t>y) if </a:t>
            </a:r>
            <a:r>
              <a:rPr sz="2600" spc="-5" dirty="0">
                <a:latin typeface="Calibri"/>
                <a:cs typeface="Calibri"/>
              </a:rPr>
              <a:t>x&gt;0 </a:t>
            </a:r>
            <a:r>
              <a:rPr sz="2600" spc="5" dirty="0">
                <a:latin typeface="Wingdings"/>
                <a:cs typeface="Wingdings"/>
              </a:rPr>
              <a:t></a:t>
            </a:r>
            <a:r>
              <a:rPr sz="2600" spc="5" dirty="0">
                <a:latin typeface="Times New Roman"/>
                <a:cs typeface="Times New Roman"/>
              </a:rPr>
              <a:t> </a:t>
            </a:r>
            <a:r>
              <a:rPr sz="2600" spc="-5" dirty="0">
                <a:latin typeface="Calibri"/>
                <a:cs typeface="Calibri"/>
              </a:rPr>
              <a:t>(0, y) </a:t>
            </a:r>
            <a:r>
              <a:rPr sz="2600" dirty="0">
                <a:latin typeface="Calibri"/>
                <a:cs typeface="Calibri"/>
              </a:rPr>
              <a:t> </a:t>
            </a:r>
            <a:r>
              <a:rPr sz="2600" spc="-5" dirty="0">
                <a:latin typeface="Calibri"/>
                <a:cs typeface="Calibri"/>
              </a:rPr>
              <a:t>Empty</a:t>
            </a:r>
            <a:r>
              <a:rPr sz="2600" spc="-25" dirty="0">
                <a:latin typeface="Calibri"/>
                <a:cs typeface="Calibri"/>
              </a:rPr>
              <a:t> </a:t>
            </a:r>
            <a:r>
              <a:rPr sz="2600" dirty="0">
                <a:latin typeface="Calibri"/>
                <a:cs typeface="Calibri"/>
              </a:rPr>
              <a:t>the</a:t>
            </a:r>
            <a:r>
              <a:rPr sz="2600" spc="-40" dirty="0">
                <a:latin typeface="Calibri"/>
                <a:cs typeface="Calibri"/>
              </a:rPr>
              <a:t> </a:t>
            </a:r>
            <a:r>
              <a:rPr sz="2600" dirty="0">
                <a:latin typeface="Calibri"/>
                <a:cs typeface="Calibri"/>
              </a:rPr>
              <a:t>4</a:t>
            </a:r>
            <a:r>
              <a:rPr sz="2600" spc="-20" dirty="0">
                <a:latin typeface="Calibri"/>
                <a:cs typeface="Calibri"/>
              </a:rPr>
              <a:t> </a:t>
            </a:r>
            <a:r>
              <a:rPr sz="2600" spc="-5" dirty="0">
                <a:latin typeface="Calibri"/>
                <a:cs typeface="Calibri"/>
              </a:rPr>
              <a:t>litre</a:t>
            </a:r>
            <a:r>
              <a:rPr sz="2600" spc="-30" dirty="0">
                <a:latin typeface="Calibri"/>
                <a:cs typeface="Calibri"/>
              </a:rPr>
              <a:t> </a:t>
            </a:r>
            <a:r>
              <a:rPr sz="2600" spc="-5" dirty="0">
                <a:latin typeface="Calibri"/>
                <a:cs typeface="Calibri"/>
              </a:rPr>
              <a:t>jug</a:t>
            </a:r>
            <a:endParaRPr sz="2600">
              <a:latin typeface="Calibri"/>
              <a:cs typeface="Calibri"/>
            </a:endParaRPr>
          </a:p>
          <a:p>
            <a:pPr marL="12700">
              <a:lnSpc>
                <a:spcPts val="2950"/>
              </a:lnSpc>
              <a:spcBef>
                <a:spcPts val="670"/>
              </a:spcBef>
              <a:tabLst>
                <a:tab pos="527685" algn="l"/>
              </a:tabLst>
            </a:pPr>
            <a:r>
              <a:rPr sz="2600" dirty="0">
                <a:latin typeface="Calibri"/>
                <a:cs typeface="Calibri"/>
              </a:rPr>
              <a:t>5.	</a:t>
            </a:r>
            <a:r>
              <a:rPr sz="2600" spc="-5" dirty="0">
                <a:latin typeface="Calibri"/>
                <a:cs typeface="Calibri"/>
              </a:rPr>
              <a:t>(x,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if</a:t>
            </a:r>
            <a:r>
              <a:rPr sz="2600" spc="-10" dirty="0">
                <a:latin typeface="Calibri"/>
                <a:cs typeface="Calibri"/>
              </a:rPr>
              <a:t> </a:t>
            </a:r>
            <a:r>
              <a:rPr sz="2600" spc="-5" dirty="0">
                <a:latin typeface="Calibri"/>
                <a:cs typeface="Calibri"/>
              </a:rPr>
              <a:t>x&gt;o</a:t>
            </a:r>
            <a:r>
              <a:rPr sz="2600" spc="-15" dirty="0">
                <a:latin typeface="Calibri"/>
                <a:cs typeface="Calibri"/>
              </a:rPr>
              <a:t> </a:t>
            </a:r>
            <a:r>
              <a:rPr sz="2600" dirty="0">
                <a:latin typeface="Wingdings"/>
                <a:cs typeface="Wingdings"/>
              </a:rPr>
              <a:t></a:t>
            </a:r>
            <a:r>
              <a:rPr sz="2600" spc="-65" dirty="0">
                <a:latin typeface="Times New Roman"/>
                <a:cs typeface="Times New Roman"/>
              </a:rPr>
              <a:t> </a:t>
            </a:r>
            <a:r>
              <a:rPr sz="2600" spc="-5" dirty="0">
                <a:latin typeface="Calibri"/>
                <a:cs typeface="Calibri"/>
              </a:rPr>
              <a:t>(x-d,</a:t>
            </a:r>
            <a:r>
              <a:rPr sz="2600" spc="-30" dirty="0">
                <a:latin typeface="Calibri"/>
                <a:cs typeface="Calibri"/>
              </a:rPr>
              <a:t> </a:t>
            </a:r>
            <a:r>
              <a:rPr sz="2600" dirty="0">
                <a:latin typeface="Calibri"/>
                <a:cs typeface="Calibri"/>
              </a:rPr>
              <a:t>y)</a:t>
            </a:r>
            <a:endParaRPr sz="2600">
              <a:latin typeface="Calibri"/>
              <a:cs typeface="Calibri"/>
            </a:endParaRPr>
          </a:p>
          <a:p>
            <a:pPr marL="527685">
              <a:lnSpc>
                <a:spcPts val="2950"/>
              </a:lnSpc>
            </a:pPr>
            <a:r>
              <a:rPr sz="2600" dirty="0">
                <a:latin typeface="Calibri"/>
                <a:cs typeface="Calibri"/>
              </a:rPr>
              <a:t>Put</a:t>
            </a:r>
            <a:r>
              <a:rPr sz="2600" spc="-20" dirty="0">
                <a:latin typeface="Calibri"/>
                <a:cs typeface="Calibri"/>
              </a:rPr>
              <a:t> </a:t>
            </a:r>
            <a:r>
              <a:rPr sz="2600" spc="-5" dirty="0">
                <a:latin typeface="Calibri"/>
                <a:cs typeface="Calibri"/>
              </a:rPr>
              <a:t>some</a:t>
            </a:r>
            <a:r>
              <a:rPr sz="2600" spc="-20" dirty="0">
                <a:latin typeface="Calibri"/>
                <a:cs typeface="Calibri"/>
              </a:rPr>
              <a:t> </a:t>
            </a:r>
            <a:r>
              <a:rPr sz="2600" spc="-15" dirty="0">
                <a:latin typeface="Calibri"/>
                <a:cs typeface="Calibri"/>
              </a:rPr>
              <a:t>water </a:t>
            </a:r>
            <a:r>
              <a:rPr sz="2600" spc="-5" dirty="0">
                <a:latin typeface="Calibri"/>
                <a:cs typeface="Calibri"/>
              </a:rPr>
              <a:t>out</a:t>
            </a:r>
            <a:r>
              <a:rPr sz="2600" spc="-10" dirty="0">
                <a:latin typeface="Calibri"/>
                <a:cs typeface="Calibri"/>
              </a:rPr>
              <a:t> </a:t>
            </a:r>
            <a:r>
              <a:rPr sz="2600" spc="-5" dirty="0">
                <a:latin typeface="Calibri"/>
                <a:cs typeface="Calibri"/>
              </a:rPr>
              <a:t>of</a:t>
            </a:r>
            <a:r>
              <a:rPr sz="2600" spc="-10" dirty="0">
                <a:latin typeface="Calibri"/>
                <a:cs typeface="Calibri"/>
              </a:rPr>
              <a:t> </a:t>
            </a:r>
            <a:r>
              <a:rPr sz="2600" dirty="0">
                <a:latin typeface="Calibri"/>
                <a:cs typeface="Calibri"/>
              </a:rPr>
              <a:t>4</a:t>
            </a:r>
            <a:r>
              <a:rPr sz="2600" spc="-25" dirty="0">
                <a:latin typeface="Calibri"/>
                <a:cs typeface="Calibri"/>
              </a:rPr>
              <a:t> </a:t>
            </a:r>
            <a:r>
              <a:rPr sz="2600" dirty="0">
                <a:latin typeface="Calibri"/>
                <a:cs typeface="Calibri"/>
              </a:rPr>
              <a:t>l</a:t>
            </a:r>
            <a:r>
              <a:rPr sz="2600" spc="-5" dirty="0">
                <a:latin typeface="Calibri"/>
                <a:cs typeface="Calibri"/>
              </a:rPr>
              <a:t> jug</a:t>
            </a:r>
            <a:endParaRPr sz="2600">
              <a:latin typeface="Calibri"/>
              <a:cs typeface="Calibri"/>
            </a:endParaRPr>
          </a:p>
        </p:txBody>
      </p:sp>
      <p:sp>
        <p:nvSpPr>
          <p:cNvPr id="4" name="object 4"/>
          <p:cNvSpPr txBox="1"/>
          <p:nvPr/>
        </p:nvSpPr>
        <p:spPr>
          <a:xfrm>
            <a:off x="5889497" y="1800809"/>
            <a:ext cx="5793740" cy="4137660"/>
          </a:xfrm>
          <a:prstGeom prst="rect">
            <a:avLst/>
          </a:prstGeom>
        </p:spPr>
        <p:txBody>
          <a:bodyPr vert="horz" wrap="square" lIns="0" tIns="13335" rIns="0" bIns="0" rtlCol="0">
            <a:spAutoFit/>
          </a:bodyPr>
          <a:lstStyle/>
          <a:p>
            <a:pPr marL="12700">
              <a:lnSpc>
                <a:spcPts val="2955"/>
              </a:lnSpc>
              <a:spcBef>
                <a:spcPts val="105"/>
              </a:spcBef>
              <a:tabLst>
                <a:tab pos="527685" algn="l"/>
              </a:tabLst>
            </a:pPr>
            <a:r>
              <a:rPr sz="2600" spc="-5" dirty="0">
                <a:latin typeface="Calibri"/>
                <a:cs typeface="Calibri"/>
              </a:rPr>
              <a:t>6.	(x,</a:t>
            </a:r>
            <a:r>
              <a:rPr sz="2600" spc="-30"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if</a:t>
            </a:r>
            <a:r>
              <a:rPr sz="2600" spc="-5" dirty="0">
                <a:latin typeface="Calibri"/>
                <a:cs typeface="Calibri"/>
              </a:rPr>
              <a:t> y&gt;0</a:t>
            </a:r>
            <a:r>
              <a:rPr sz="2600" spc="-30" dirty="0">
                <a:latin typeface="Calibri"/>
                <a:cs typeface="Calibri"/>
              </a:rPr>
              <a:t> </a:t>
            </a:r>
            <a:r>
              <a:rPr sz="2600" spc="5" dirty="0">
                <a:latin typeface="Wingdings"/>
                <a:cs typeface="Wingdings"/>
              </a:rPr>
              <a:t></a:t>
            </a:r>
            <a:r>
              <a:rPr sz="2600" spc="-65" dirty="0">
                <a:latin typeface="Times New Roman"/>
                <a:cs typeface="Times New Roman"/>
              </a:rPr>
              <a:t> </a:t>
            </a:r>
            <a:r>
              <a:rPr sz="2600" spc="-5" dirty="0">
                <a:latin typeface="Calibri"/>
                <a:cs typeface="Calibri"/>
              </a:rPr>
              <a:t>(x,</a:t>
            </a:r>
            <a:r>
              <a:rPr sz="2600" spc="-25" dirty="0">
                <a:latin typeface="Calibri"/>
                <a:cs typeface="Calibri"/>
              </a:rPr>
              <a:t> </a:t>
            </a:r>
            <a:r>
              <a:rPr sz="2600" spc="-5" dirty="0">
                <a:latin typeface="Calibri"/>
                <a:cs typeface="Calibri"/>
              </a:rPr>
              <a:t>y-d)</a:t>
            </a:r>
            <a:endParaRPr sz="2600">
              <a:latin typeface="Calibri"/>
              <a:cs typeface="Calibri"/>
            </a:endParaRPr>
          </a:p>
          <a:p>
            <a:pPr marL="527685">
              <a:lnSpc>
                <a:spcPts val="2955"/>
              </a:lnSpc>
            </a:pPr>
            <a:r>
              <a:rPr sz="2600" dirty="0">
                <a:latin typeface="Calibri"/>
                <a:cs typeface="Calibri"/>
              </a:rPr>
              <a:t>Put</a:t>
            </a:r>
            <a:r>
              <a:rPr sz="2600" spc="-20" dirty="0">
                <a:latin typeface="Calibri"/>
                <a:cs typeface="Calibri"/>
              </a:rPr>
              <a:t> </a:t>
            </a:r>
            <a:r>
              <a:rPr sz="2600" spc="-5" dirty="0">
                <a:latin typeface="Calibri"/>
                <a:cs typeface="Calibri"/>
              </a:rPr>
              <a:t>some</a:t>
            </a:r>
            <a:r>
              <a:rPr sz="2600" spc="-30" dirty="0">
                <a:latin typeface="Calibri"/>
                <a:cs typeface="Calibri"/>
              </a:rPr>
              <a:t> </a:t>
            </a:r>
            <a:r>
              <a:rPr sz="2600" spc="-15" dirty="0">
                <a:latin typeface="Calibri"/>
                <a:cs typeface="Calibri"/>
              </a:rPr>
              <a:t>water </a:t>
            </a:r>
            <a:r>
              <a:rPr sz="2600" spc="-5" dirty="0">
                <a:latin typeface="Calibri"/>
                <a:cs typeface="Calibri"/>
              </a:rPr>
              <a:t>out</a:t>
            </a:r>
            <a:r>
              <a:rPr sz="2600" spc="-10" dirty="0">
                <a:latin typeface="Calibri"/>
                <a:cs typeface="Calibri"/>
              </a:rPr>
              <a:t> </a:t>
            </a:r>
            <a:r>
              <a:rPr sz="2600" spc="-5" dirty="0">
                <a:latin typeface="Calibri"/>
                <a:cs typeface="Calibri"/>
              </a:rPr>
              <a:t>of</a:t>
            </a:r>
            <a:r>
              <a:rPr sz="2600" spc="-10" dirty="0">
                <a:latin typeface="Calibri"/>
                <a:cs typeface="Calibri"/>
              </a:rPr>
              <a:t> </a:t>
            </a:r>
            <a:r>
              <a:rPr sz="2600" dirty="0">
                <a:latin typeface="Calibri"/>
                <a:cs typeface="Calibri"/>
              </a:rPr>
              <a:t>3</a:t>
            </a:r>
            <a:r>
              <a:rPr sz="2600" spc="-25" dirty="0">
                <a:latin typeface="Calibri"/>
                <a:cs typeface="Calibri"/>
              </a:rPr>
              <a:t> </a:t>
            </a:r>
            <a:r>
              <a:rPr sz="2600" dirty="0">
                <a:latin typeface="Calibri"/>
                <a:cs typeface="Calibri"/>
              </a:rPr>
              <a:t>l</a:t>
            </a:r>
            <a:r>
              <a:rPr sz="2600" spc="-10" dirty="0">
                <a:latin typeface="Calibri"/>
                <a:cs typeface="Calibri"/>
              </a:rPr>
              <a:t> </a:t>
            </a:r>
            <a:r>
              <a:rPr sz="2600" spc="-5" dirty="0">
                <a:latin typeface="Calibri"/>
                <a:cs typeface="Calibri"/>
              </a:rPr>
              <a:t>jug</a:t>
            </a:r>
            <a:endParaRPr sz="2600">
              <a:latin typeface="Calibri"/>
              <a:cs typeface="Calibri"/>
            </a:endParaRPr>
          </a:p>
          <a:p>
            <a:pPr marL="12700">
              <a:lnSpc>
                <a:spcPts val="2950"/>
              </a:lnSpc>
              <a:spcBef>
                <a:spcPts val="710"/>
              </a:spcBef>
              <a:tabLst>
                <a:tab pos="527685" algn="l"/>
              </a:tabLst>
            </a:pPr>
            <a:r>
              <a:rPr sz="2600" dirty="0">
                <a:latin typeface="Calibri"/>
                <a:cs typeface="Calibri"/>
              </a:rPr>
              <a:t>7.	</a:t>
            </a:r>
            <a:r>
              <a:rPr sz="2600" spc="-5" dirty="0">
                <a:latin typeface="Calibri"/>
                <a:cs typeface="Calibri"/>
              </a:rPr>
              <a:t>(x,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if</a:t>
            </a:r>
            <a:r>
              <a:rPr sz="2600" spc="-5" dirty="0">
                <a:latin typeface="Calibri"/>
                <a:cs typeface="Calibri"/>
              </a:rPr>
              <a:t> x+y&gt;=4 </a:t>
            </a:r>
            <a:r>
              <a:rPr sz="2600" dirty="0">
                <a:latin typeface="Calibri"/>
                <a:cs typeface="Calibri"/>
              </a:rPr>
              <a:t>&amp;</a:t>
            </a:r>
            <a:r>
              <a:rPr sz="2600" spc="-20" dirty="0">
                <a:latin typeface="Calibri"/>
                <a:cs typeface="Calibri"/>
              </a:rPr>
              <a:t> </a:t>
            </a:r>
            <a:r>
              <a:rPr sz="2600" dirty="0">
                <a:latin typeface="Calibri"/>
                <a:cs typeface="Calibri"/>
              </a:rPr>
              <a:t>y&gt;0</a:t>
            </a:r>
            <a:r>
              <a:rPr sz="2600" spc="-15" dirty="0">
                <a:latin typeface="Calibri"/>
                <a:cs typeface="Calibri"/>
              </a:rPr>
              <a:t> </a:t>
            </a:r>
            <a:r>
              <a:rPr sz="2600" dirty="0">
                <a:latin typeface="Wingdings"/>
                <a:cs typeface="Wingdings"/>
              </a:rPr>
              <a:t></a:t>
            </a:r>
            <a:r>
              <a:rPr sz="2600" dirty="0">
                <a:latin typeface="Calibri"/>
                <a:cs typeface="Calibri"/>
              </a:rPr>
              <a:t>(4,</a:t>
            </a:r>
            <a:r>
              <a:rPr sz="2600" spc="-20" dirty="0">
                <a:latin typeface="Calibri"/>
                <a:cs typeface="Calibri"/>
              </a:rPr>
              <a:t> </a:t>
            </a:r>
            <a:r>
              <a:rPr sz="2600" spc="-5" dirty="0">
                <a:latin typeface="Calibri"/>
                <a:cs typeface="Calibri"/>
              </a:rPr>
              <a:t>y-(4-x))</a:t>
            </a:r>
            <a:endParaRPr sz="2600">
              <a:latin typeface="Calibri"/>
              <a:cs typeface="Calibri"/>
            </a:endParaRPr>
          </a:p>
          <a:p>
            <a:pPr marL="527685">
              <a:lnSpc>
                <a:spcPts val="2950"/>
              </a:lnSpc>
            </a:pPr>
            <a:r>
              <a:rPr sz="2600" dirty="0">
                <a:latin typeface="Calibri"/>
                <a:cs typeface="Calibri"/>
              </a:rPr>
              <a:t>Put</a:t>
            </a:r>
            <a:r>
              <a:rPr sz="2600" spc="-15" dirty="0">
                <a:latin typeface="Calibri"/>
                <a:cs typeface="Calibri"/>
              </a:rPr>
              <a:t> water </a:t>
            </a:r>
            <a:r>
              <a:rPr sz="2600" spc="-10" dirty="0">
                <a:latin typeface="Calibri"/>
                <a:cs typeface="Calibri"/>
              </a:rPr>
              <a:t>from</a:t>
            </a:r>
            <a:r>
              <a:rPr sz="2600" spc="-30" dirty="0">
                <a:latin typeface="Calibri"/>
                <a:cs typeface="Calibri"/>
              </a:rPr>
              <a:t> </a:t>
            </a:r>
            <a:r>
              <a:rPr sz="2600" dirty="0">
                <a:latin typeface="Calibri"/>
                <a:cs typeface="Calibri"/>
              </a:rPr>
              <a:t>3l</a:t>
            </a:r>
            <a:r>
              <a:rPr sz="2600" spc="-5" dirty="0">
                <a:latin typeface="Calibri"/>
                <a:cs typeface="Calibri"/>
              </a:rPr>
              <a:t> jug</a:t>
            </a:r>
            <a:r>
              <a:rPr sz="2600" spc="-20" dirty="0">
                <a:latin typeface="Calibri"/>
                <a:cs typeface="Calibri"/>
              </a:rPr>
              <a:t> </a:t>
            </a:r>
            <a:r>
              <a:rPr sz="2600" spc="-10" dirty="0">
                <a:latin typeface="Calibri"/>
                <a:cs typeface="Calibri"/>
              </a:rPr>
              <a:t>into </a:t>
            </a:r>
            <a:r>
              <a:rPr sz="2600" spc="-5" dirty="0">
                <a:latin typeface="Calibri"/>
                <a:cs typeface="Calibri"/>
              </a:rPr>
              <a:t>4l</a:t>
            </a:r>
            <a:r>
              <a:rPr sz="2600" dirty="0">
                <a:latin typeface="Calibri"/>
                <a:cs typeface="Calibri"/>
              </a:rPr>
              <a:t> </a:t>
            </a:r>
            <a:r>
              <a:rPr sz="2600" spc="-5" dirty="0">
                <a:latin typeface="Calibri"/>
                <a:cs typeface="Calibri"/>
              </a:rPr>
              <a:t>jug</a:t>
            </a:r>
            <a:r>
              <a:rPr sz="2600" spc="-25" dirty="0">
                <a:latin typeface="Calibri"/>
                <a:cs typeface="Calibri"/>
              </a:rPr>
              <a:t> </a:t>
            </a:r>
            <a:r>
              <a:rPr sz="2600" spc="-10" dirty="0">
                <a:latin typeface="Calibri"/>
                <a:cs typeface="Calibri"/>
              </a:rPr>
              <a:t>to</a:t>
            </a:r>
            <a:r>
              <a:rPr sz="2600" spc="-5" dirty="0">
                <a:latin typeface="Calibri"/>
                <a:cs typeface="Calibri"/>
              </a:rPr>
              <a:t> fill</a:t>
            </a:r>
            <a:r>
              <a:rPr sz="2600" spc="-15" dirty="0">
                <a:latin typeface="Calibri"/>
                <a:cs typeface="Calibri"/>
              </a:rPr>
              <a:t> </a:t>
            </a:r>
            <a:r>
              <a:rPr sz="2600" dirty="0">
                <a:latin typeface="Calibri"/>
                <a:cs typeface="Calibri"/>
              </a:rPr>
              <a:t>it</a:t>
            </a:r>
            <a:endParaRPr sz="2600">
              <a:latin typeface="Calibri"/>
              <a:cs typeface="Calibri"/>
            </a:endParaRPr>
          </a:p>
          <a:p>
            <a:pPr marL="12700">
              <a:lnSpc>
                <a:spcPts val="2960"/>
              </a:lnSpc>
              <a:spcBef>
                <a:spcPts val="710"/>
              </a:spcBef>
              <a:tabLst>
                <a:tab pos="527685" algn="l"/>
              </a:tabLst>
            </a:pPr>
            <a:r>
              <a:rPr sz="2600" dirty="0">
                <a:latin typeface="Calibri"/>
                <a:cs typeface="Calibri"/>
              </a:rPr>
              <a:t>8.	</a:t>
            </a:r>
            <a:r>
              <a:rPr sz="2600" spc="-5" dirty="0">
                <a:latin typeface="Calibri"/>
                <a:cs typeface="Calibri"/>
              </a:rPr>
              <a:t>(x,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if</a:t>
            </a:r>
            <a:r>
              <a:rPr sz="2600" spc="-5" dirty="0">
                <a:latin typeface="Calibri"/>
                <a:cs typeface="Calibri"/>
              </a:rPr>
              <a:t> x+y&gt;=3 </a:t>
            </a:r>
            <a:r>
              <a:rPr sz="2600" dirty="0">
                <a:latin typeface="Calibri"/>
                <a:cs typeface="Calibri"/>
              </a:rPr>
              <a:t>&amp;</a:t>
            </a:r>
            <a:r>
              <a:rPr sz="2600" spc="-25" dirty="0">
                <a:latin typeface="Calibri"/>
                <a:cs typeface="Calibri"/>
              </a:rPr>
              <a:t> </a:t>
            </a:r>
            <a:r>
              <a:rPr sz="2600" spc="-5" dirty="0">
                <a:latin typeface="Calibri"/>
                <a:cs typeface="Calibri"/>
              </a:rPr>
              <a:t>x&gt;0 </a:t>
            </a:r>
            <a:r>
              <a:rPr sz="2600" dirty="0">
                <a:latin typeface="Wingdings"/>
                <a:cs typeface="Wingdings"/>
              </a:rPr>
              <a:t></a:t>
            </a:r>
            <a:r>
              <a:rPr sz="2600" dirty="0">
                <a:latin typeface="Calibri"/>
                <a:cs typeface="Calibri"/>
              </a:rPr>
              <a:t>(x-(3-y),</a:t>
            </a:r>
            <a:r>
              <a:rPr sz="2600" spc="-20" dirty="0">
                <a:latin typeface="Calibri"/>
                <a:cs typeface="Calibri"/>
              </a:rPr>
              <a:t> </a:t>
            </a:r>
            <a:r>
              <a:rPr sz="2600" dirty="0">
                <a:latin typeface="Calibri"/>
                <a:cs typeface="Calibri"/>
              </a:rPr>
              <a:t>3)</a:t>
            </a:r>
            <a:endParaRPr sz="2600">
              <a:latin typeface="Calibri"/>
              <a:cs typeface="Calibri"/>
            </a:endParaRPr>
          </a:p>
          <a:p>
            <a:pPr marL="527685">
              <a:lnSpc>
                <a:spcPts val="2960"/>
              </a:lnSpc>
            </a:pPr>
            <a:r>
              <a:rPr sz="2600" dirty="0">
                <a:latin typeface="Calibri"/>
                <a:cs typeface="Calibri"/>
              </a:rPr>
              <a:t>Put</a:t>
            </a:r>
            <a:r>
              <a:rPr sz="2600" spc="-15" dirty="0">
                <a:latin typeface="Calibri"/>
                <a:cs typeface="Calibri"/>
              </a:rPr>
              <a:t> water </a:t>
            </a:r>
            <a:r>
              <a:rPr sz="2600" spc="-10" dirty="0">
                <a:latin typeface="Calibri"/>
                <a:cs typeface="Calibri"/>
              </a:rPr>
              <a:t>from</a:t>
            </a:r>
            <a:r>
              <a:rPr sz="2600" spc="-30" dirty="0">
                <a:latin typeface="Calibri"/>
                <a:cs typeface="Calibri"/>
              </a:rPr>
              <a:t> </a:t>
            </a:r>
            <a:r>
              <a:rPr sz="2600" dirty="0">
                <a:latin typeface="Calibri"/>
                <a:cs typeface="Calibri"/>
              </a:rPr>
              <a:t>4l</a:t>
            </a:r>
            <a:r>
              <a:rPr sz="2600" spc="-5" dirty="0">
                <a:latin typeface="Calibri"/>
                <a:cs typeface="Calibri"/>
              </a:rPr>
              <a:t> jug</a:t>
            </a:r>
            <a:r>
              <a:rPr sz="2600" spc="-15" dirty="0">
                <a:latin typeface="Calibri"/>
                <a:cs typeface="Calibri"/>
              </a:rPr>
              <a:t> </a:t>
            </a:r>
            <a:r>
              <a:rPr sz="2600" spc="-10" dirty="0">
                <a:latin typeface="Calibri"/>
                <a:cs typeface="Calibri"/>
              </a:rPr>
              <a:t>into </a:t>
            </a:r>
            <a:r>
              <a:rPr sz="2600" dirty="0">
                <a:latin typeface="Calibri"/>
                <a:cs typeface="Calibri"/>
              </a:rPr>
              <a:t>3l</a:t>
            </a:r>
            <a:r>
              <a:rPr sz="2600" spc="-5" dirty="0">
                <a:latin typeface="Calibri"/>
                <a:cs typeface="Calibri"/>
              </a:rPr>
              <a:t> jug</a:t>
            </a:r>
            <a:r>
              <a:rPr sz="2600" spc="-25" dirty="0">
                <a:latin typeface="Calibri"/>
                <a:cs typeface="Calibri"/>
              </a:rPr>
              <a:t> </a:t>
            </a:r>
            <a:r>
              <a:rPr sz="2600" spc="-15" dirty="0">
                <a:latin typeface="Calibri"/>
                <a:cs typeface="Calibri"/>
              </a:rPr>
              <a:t>to</a:t>
            </a:r>
            <a:r>
              <a:rPr sz="2600" spc="-5" dirty="0">
                <a:latin typeface="Calibri"/>
                <a:cs typeface="Calibri"/>
              </a:rPr>
              <a:t> fill</a:t>
            </a:r>
            <a:r>
              <a:rPr sz="2600" spc="-15" dirty="0">
                <a:latin typeface="Calibri"/>
                <a:cs typeface="Calibri"/>
              </a:rPr>
              <a:t> </a:t>
            </a:r>
            <a:r>
              <a:rPr sz="2600" dirty="0">
                <a:latin typeface="Calibri"/>
                <a:cs typeface="Calibri"/>
              </a:rPr>
              <a:t>it</a:t>
            </a:r>
            <a:endParaRPr sz="2600">
              <a:latin typeface="Calibri"/>
              <a:cs typeface="Calibri"/>
            </a:endParaRPr>
          </a:p>
          <a:p>
            <a:pPr marL="12700">
              <a:lnSpc>
                <a:spcPts val="2955"/>
              </a:lnSpc>
              <a:spcBef>
                <a:spcPts val="705"/>
              </a:spcBef>
              <a:tabLst>
                <a:tab pos="527685" algn="l"/>
              </a:tabLst>
            </a:pPr>
            <a:r>
              <a:rPr sz="2600" spc="-5" dirty="0">
                <a:latin typeface="Calibri"/>
                <a:cs typeface="Calibri"/>
              </a:rPr>
              <a:t>9.	(x,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if </a:t>
            </a:r>
            <a:r>
              <a:rPr sz="2600" spc="-5" dirty="0">
                <a:latin typeface="Calibri"/>
                <a:cs typeface="Calibri"/>
              </a:rPr>
              <a:t>x+y&lt;3</a:t>
            </a:r>
            <a:r>
              <a:rPr sz="2600" spc="-25" dirty="0">
                <a:latin typeface="Calibri"/>
                <a:cs typeface="Calibri"/>
              </a:rPr>
              <a:t> </a:t>
            </a:r>
            <a:r>
              <a:rPr sz="2600" dirty="0">
                <a:latin typeface="Calibri"/>
                <a:cs typeface="Calibri"/>
              </a:rPr>
              <a:t>&amp;</a:t>
            </a:r>
            <a:r>
              <a:rPr sz="2600" spc="-5" dirty="0">
                <a:latin typeface="Calibri"/>
                <a:cs typeface="Calibri"/>
              </a:rPr>
              <a:t> x&gt;0</a:t>
            </a:r>
            <a:r>
              <a:rPr sz="2600" spc="-10" dirty="0">
                <a:latin typeface="Calibri"/>
                <a:cs typeface="Calibri"/>
              </a:rPr>
              <a:t> </a:t>
            </a:r>
            <a:r>
              <a:rPr sz="2600" dirty="0">
                <a:latin typeface="Wingdings"/>
                <a:cs typeface="Wingdings"/>
              </a:rPr>
              <a:t></a:t>
            </a:r>
            <a:r>
              <a:rPr sz="2600" dirty="0">
                <a:latin typeface="Calibri"/>
                <a:cs typeface="Calibri"/>
              </a:rPr>
              <a:t>(0,</a:t>
            </a:r>
            <a:r>
              <a:rPr sz="2600" spc="-35" dirty="0">
                <a:latin typeface="Calibri"/>
                <a:cs typeface="Calibri"/>
              </a:rPr>
              <a:t> </a:t>
            </a:r>
            <a:r>
              <a:rPr sz="2600" spc="-5" dirty="0">
                <a:latin typeface="Calibri"/>
                <a:cs typeface="Calibri"/>
              </a:rPr>
              <a:t>x+y)</a:t>
            </a:r>
            <a:endParaRPr sz="2600">
              <a:latin typeface="Calibri"/>
              <a:cs typeface="Calibri"/>
            </a:endParaRPr>
          </a:p>
          <a:p>
            <a:pPr marL="527685">
              <a:lnSpc>
                <a:spcPts val="2955"/>
              </a:lnSpc>
            </a:pPr>
            <a:r>
              <a:rPr sz="2600" dirty="0">
                <a:latin typeface="Calibri"/>
                <a:cs typeface="Calibri"/>
              </a:rPr>
              <a:t>Put</a:t>
            </a:r>
            <a:r>
              <a:rPr sz="2600" spc="-15" dirty="0">
                <a:latin typeface="Calibri"/>
                <a:cs typeface="Calibri"/>
              </a:rPr>
              <a:t> </a:t>
            </a:r>
            <a:r>
              <a:rPr sz="2600" dirty="0">
                <a:latin typeface="Calibri"/>
                <a:cs typeface="Calibri"/>
              </a:rPr>
              <a:t>all</a:t>
            </a:r>
            <a:r>
              <a:rPr sz="2600" spc="-5" dirty="0">
                <a:latin typeface="Calibri"/>
                <a:cs typeface="Calibri"/>
              </a:rPr>
              <a:t> </a:t>
            </a:r>
            <a:r>
              <a:rPr sz="2600" dirty="0">
                <a:latin typeface="Calibri"/>
                <a:cs typeface="Calibri"/>
              </a:rPr>
              <a:t>the </a:t>
            </a:r>
            <a:r>
              <a:rPr sz="2600" spc="-20" dirty="0">
                <a:latin typeface="Calibri"/>
                <a:cs typeface="Calibri"/>
              </a:rPr>
              <a:t>water</a:t>
            </a:r>
            <a:r>
              <a:rPr sz="2600" spc="-15" dirty="0">
                <a:latin typeface="Calibri"/>
                <a:cs typeface="Calibri"/>
              </a:rPr>
              <a:t> </a:t>
            </a:r>
            <a:r>
              <a:rPr sz="2600" spc="-10" dirty="0">
                <a:latin typeface="Calibri"/>
                <a:cs typeface="Calibri"/>
              </a:rPr>
              <a:t>from</a:t>
            </a:r>
            <a:r>
              <a:rPr sz="2600" spc="-25" dirty="0">
                <a:latin typeface="Calibri"/>
                <a:cs typeface="Calibri"/>
              </a:rPr>
              <a:t> </a:t>
            </a:r>
            <a:r>
              <a:rPr sz="2600" dirty="0">
                <a:latin typeface="Calibri"/>
                <a:cs typeface="Calibri"/>
              </a:rPr>
              <a:t>4l</a:t>
            </a:r>
            <a:r>
              <a:rPr sz="2600" spc="-5" dirty="0">
                <a:latin typeface="Calibri"/>
                <a:cs typeface="Calibri"/>
              </a:rPr>
              <a:t> jug</a:t>
            </a:r>
            <a:r>
              <a:rPr sz="2600" spc="-15" dirty="0">
                <a:latin typeface="Calibri"/>
                <a:cs typeface="Calibri"/>
              </a:rPr>
              <a:t> </a:t>
            </a:r>
            <a:r>
              <a:rPr sz="2600" dirty="0">
                <a:latin typeface="Calibri"/>
                <a:cs typeface="Calibri"/>
              </a:rPr>
              <a:t>in</a:t>
            </a:r>
            <a:r>
              <a:rPr sz="2600" spc="-5" dirty="0">
                <a:latin typeface="Calibri"/>
                <a:cs typeface="Calibri"/>
              </a:rPr>
              <a:t> </a:t>
            </a:r>
            <a:r>
              <a:rPr sz="2600" spc="-10" dirty="0">
                <a:latin typeface="Calibri"/>
                <a:cs typeface="Calibri"/>
              </a:rPr>
              <a:t>to </a:t>
            </a:r>
            <a:r>
              <a:rPr sz="2600" dirty="0">
                <a:latin typeface="Calibri"/>
                <a:cs typeface="Calibri"/>
              </a:rPr>
              <a:t>3l</a:t>
            </a:r>
            <a:r>
              <a:rPr sz="2600" spc="-15" dirty="0">
                <a:latin typeface="Calibri"/>
                <a:cs typeface="Calibri"/>
              </a:rPr>
              <a:t> </a:t>
            </a:r>
            <a:r>
              <a:rPr sz="2600" spc="-5" dirty="0">
                <a:latin typeface="Calibri"/>
                <a:cs typeface="Calibri"/>
              </a:rPr>
              <a:t>jug</a:t>
            </a:r>
            <a:endParaRPr sz="2600">
              <a:latin typeface="Calibri"/>
              <a:cs typeface="Calibri"/>
            </a:endParaRPr>
          </a:p>
          <a:p>
            <a:pPr marL="12700">
              <a:lnSpc>
                <a:spcPts val="2950"/>
              </a:lnSpc>
              <a:spcBef>
                <a:spcPts val="710"/>
              </a:spcBef>
            </a:pPr>
            <a:r>
              <a:rPr sz="2600" dirty="0">
                <a:latin typeface="Calibri"/>
                <a:cs typeface="Calibri"/>
              </a:rPr>
              <a:t>10.</a:t>
            </a:r>
            <a:r>
              <a:rPr sz="2600" spc="165" dirty="0">
                <a:latin typeface="Calibri"/>
                <a:cs typeface="Calibri"/>
              </a:rPr>
              <a:t> </a:t>
            </a:r>
            <a:r>
              <a:rPr sz="2600" spc="-5" dirty="0">
                <a:latin typeface="Calibri"/>
                <a:cs typeface="Calibri"/>
              </a:rPr>
              <a:t>(x,</a:t>
            </a:r>
            <a:r>
              <a:rPr sz="2600" spc="-20" dirty="0">
                <a:latin typeface="Calibri"/>
                <a:cs typeface="Calibri"/>
              </a:rPr>
              <a:t> </a:t>
            </a:r>
            <a:r>
              <a:rPr sz="2600" dirty="0">
                <a:latin typeface="Calibri"/>
                <a:cs typeface="Calibri"/>
              </a:rPr>
              <a:t>y) if</a:t>
            </a:r>
            <a:r>
              <a:rPr sz="2600" spc="-5" dirty="0">
                <a:latin typeface="Calibri"/>
                <a:cs typeface="Calibri"/>
              </a:rPr>
              <a:t> x+y&lt;4</a:t>
            </a:r>
            <a:r>
              <a:rPr sz="2600" spc="-25" dirty="0">
                <a:latin typeface="Calibri"/>
                <a:cs typeface="Calibri"/>
              </a:rPr>
              <a:t> </a:t>
            </a:r>
            <a:r>
              <a:rPr sz="2600" dirty="0">
                <a:latin typeface="Calibri"/>
                <a:cs typeface="Calibri"/>
              </a:rPr>
              <a:t>&amp;</a:t>
            </a:r>
            <a:r>
              <a:rPr sz="2600" spc="-5" dirty="0">
                <a:latin typeface="Calibri"/>
                <a:cs typeface="Calibri"/>
              </a:rPr>
              <a:t> </a:t>
            </a:r>
            <a:r>
              <a:rPr sz="2600" dirty="0">
                <a:latin typeface="Calibri"/>
                <a:cs typeface="Calibri"/>
              </a:rPr>
              <a:t>y&gt;0</a:t>
            </a:r>
            <a:r>
              <a:rPr sz="2600" spc="-10" dirty="0">
                <a:latin typeface="Calibri"/>
                <a:cs typeface="Calibri"/>
              </a:rPr>
              <a:t> </a:t>
            </a:r>
            <a:r>
              <a:rPr sz="2600" spc="-35" dirty="0">
                <a:latin typeface="Wingdings"/>
                <a:cs typeface="Wingdings"/>
              </a:rPr>
              <a:t></a:t>
            </a:r>
            <a:r>
              <a:rPr sz="2600" spc="-35" dirty="0">
                <a:latin typeface="Calibri"/>
                <a:cs typeface="Calibri"/>
              </a:rPr>
              <a:t>(x+y,</a:t>
            </a:r>
            <a:r>
              <a:rPr sz="2600" spc="-15" dirty="0">
                <a:latin typeface="Calibri"/>
                <a:cs typeface="Calibri"/>
              </a:rPr>
              <a:t> </a:t>
            </a:r>
            <a:r>
              <a:rPr sz="2600" dirty="0">
                <a:latin typeface="Calibri"/>
                <a:cs typeface="Calibri"/>
              </a:rPr>
              <a:t>0)</a:t>
            </a:r>
            <a:endParaRPr sz="2600">
              <a:latin typeface="Calibri"/>
              <a:cs typeface="Calibri"/>
            </a:endParaRPr>
          </a:p>
          <a:p>
            <a:pPr marL="527685">
              <a:lnSpc>
                <a:spcPts val="2950"/>
              </a:lnSpc>
            </a:pPr>
            <a:r>
              <a:rPr sz="2600" dirty="0">
                <a:latin typeface="Calibri"/>
                <a:cs typeface="Calibri"/>
              </a:rPr>
              <a:t>Put</a:t>
            </a:r>
            <a:r>
              <a:rPr sz="2600" spc="-15" dirty="0">
                <a:latin typeface="Calibri"/>
                <a:cs typeface="Calibri"/>
              </a:rPr>
              <a:t> </a:t>
            </a:r>
            <a:r>
              <a:rPr sz="2600" dirty="0">
                <a:latin typeface="Calibri"/>
                <a:cs typeface="Calibri"/>
              </a:rPr>
              <a:t>all</a:t>
            </a:r>
            <a:r>
              <a:rPr sz="2600" spc="-5" dirty="0">
                <a:latin typeface="Calibri"/>
                <a:cs typeface="Calibri"/>
              </a:rPr>
              <a:t> </a:t>
            </a:r>
            <a:r>
              <a:rPr sz="2600" dirty="0">
                <a:latin typeface="Calibri"/>
                <a:cs typeface="Calibri"/>
              </a:rPr>
              <a:t>the</a:t>
            </a:r>
            <a:r>
              <a:rPr sz="2600" spc="-15" dirty="0">
                <a:latin typeface="Calibri"/>
                <a:cs typeface="Calibri"/>
              </a:rPr>
              <a:t> water </a:t>
            </a:r>
            <a:r>
              <a:rPr sz="2600" spc="-10" dirty="0">
                <a:latin typeface="Calibri"/>
                <a:cs typeface="Calibri"/>
              </a:rPr>
              <a:t>from</a:t>
            </a:r>
            <a:r>
              <a:rPr sz="2600" spc="-30" dirty="0">
                <a:latin typeface="Calibri"/>
                <a:cs typeface="Calibri"/>
              </a:rPr>
              <a:t> </a:t>
            </a:r>
            <a:r>
              <a:rPr sz="2600" dirty="0">
                <a:latin typeface="Calibri"/>
                <a:cs typeface="Calibri"/>
              </a:rPr>
              <a:t>3l</a:t>
            </a:r>
            <a:r>
              <a:rPr sz="2600" spc="-5" dirty="0">
                <a:latin typeface="Calibri"/>
                <a:cs typeface="Calibri"/>
              </a:rPr>
              <a:t> jug</a:t>
            </a:r>
            <a:r>
              <a:rPr sz="2600" spc="-20" dirty="0">
                <a:latin typeface="Calibri"/>
                <a:cs typeface="Calibri"/>
              </a:rPr>
              <a:t> </a:t>
            </a:r>
            <a:r>
              <a:rPr sz="2600" dirty="0">
                <a:latin typeface="Calibri"/>
                <a:cs typeface="Calibri"/>
              </a:rPr>
              <a:t>in</a:t>
            </a:r>
            <a:r>
              <a:rPr sz="2600" spc="-5" dirty="0">
                <a:latin typeface="Calibri"/>
                <a:cs typeface="Calibri"/>
              </a:rPr>
              <a:t> </a:t>
            </a:r>
            <a:r>
              <a:rPr sz="2600" spc="-10" dirty="0">
                <a:latin typeface="Calibri"/>
                <a:cs typeface="Calibri"/>
              </a:rPr>
              <a:t>to</a:t>
            </a:r>
            <a:r>
              <a:rPr sz="2600" spc="-5" dirty="0">
                <a:latin typeface="Calibri"/>
                <a:cs typeface="Calibri"/>
              </a:rPr>
              <a:t> 4l</a:t>
            </a:r>
            <a:r>
              <a:rPr sz="2600" spc="-15" dirty="0">
                <a:latin typeface="Calibri"/>
                <a:cs typeface="Calibri"/>
              </a:rPr>
              <a:t> </a:t>
            </a:r>
            <a:r>
              <a:rPr sz="2600" spc="-5" dirty="0">
                <a:latin typeface="Calibri"/>
                <a:cs typeface="Calibri"/>
              </a:rPr>
              <a:t>jug</a:t>
            </a:r>
            <a:endParaRPr sz="26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73456"/>
            <a:ext cx="9549130" cy="1188720"/>
          </a:xfrm>
          <a:prstGeom prst="rect">
            <a:avLst/>
          </a:prstGeom>
        </p:spPr>
        <p:txBody>
          <a:bodyPr vert="horz" wrap="square" lIns="0" tIns="12065" rIns="0" bIns="0" rtlCol="0">
            <a:spAutoFit/>
          </a:bodyPr>
          <a:lstStyle/>
          <a:p>
            <a:pPr marL="12700">
              <a:lnSpc>
                <a:spcPts val="4580"/>
              </a:lnSpc>
              <a:spcBef>
                <a:spcPts val="95"/>
              </a:spcBef>
            </a:pPr>
            <a:r>
              <a:rPr sz="4000" spc="-5" dirty="0"/>
              <a:t>Defining</a:t>
            </a:r>
            <a:r>
              <a:rPr sz="4000" spc="-15" dirty="0"/>
              <a:t> </a:t>
            </a:r>
            <a:r>
              <a:rPr sz="4000" spc="-20" dirty="0"/>
              <a:t>Problems</a:t>
            </a:r>
            <a:r>
              <a:rPr sz="4000" spc="-5" dirty="0"/>
              <a:t> as</a:t>
            </a:r>
            <a:r>
              <a:rPr sz="4000" dirty="0"/>
              <a:t> </a:t>
            </a:r>
            <a:r>
              <a:rPr sz="4000" spc="-5" dirty="0"/>
              <a:t>a</a:t>
            </a:r>
            <a:r>
              <a:rPr sz="4000" dirty="0"/>
              <a:t> </a:t>
            </a:r>
            <a:r>
              <a:rPr sz="4000" spc="-30" dirty="0"/>
              <a:t>State</a:t>
            </a:r>
            <a:r>
              <a:rPr sz="4000" spc="-5" dirty="0"/>
              <a:t> Space</a:t>
            </a:r>
            <a:r>
              <a:rPr sz="4000" spc="15" dirty="0"/>
              <a:t> </a:t>
            </a:r>
            <a:r>
              <a:rPr sz="4000" spc="-15" dirty="0"/>
              <a:t>Search:</a:t>
            </a:r>
            <a:endParaRPr sz="4000"/>
          </a:p>
          <a:p>
            <a:pPr marL="12700">
              <a:lnSpc>
                <a:spcPts val="4580"/>
              </a:lnSpc>
            </a:pPr>
            <a:r>
              <a:rPr sz="4000" spc="-5" dirty="0"/>
              <a:t>An</a:t>
            </a:r>
            <a:r>
              <a:rPr sz="4000" spc="-10" dirty="0"/>
              <a:t> </a:t>
            </a:r>
            <a:r>
              <a:rPr sz="4000" spc="-15" dirty="0"/>
              <a:t>Example</a:t>
            </a:r>
            <a:r>
              <a:rPr sz="4000" spc="-5" dirty="0"/>
              <a:t> –</a:t>
            </a:r>
            <a:r>
              <a:rPr sz="4000" dirty="0"/>
              <a:t> </a:t>
            </a:r>
            <a:r>
              <a:rPr sz="4000" spc="-5" dirty="0"/>
              <a:t>A</a:t>
            </a:r>
            <a:r>
              <a:rPr sz="4000" spc="-10" dirty="0"/>
              <a:t> </a:t>
            </a:r>
            <a:r>
              <a:rPr sz="4000" spc="-50" dirty="0"/>
              <a:t>Water</a:t>
            </a:r>
            <a:r>
              <a:rPr sz="4000" spc="-5" dirty="0"/>
              <a:t> Jug </a:t>
            </a:r>
            <a:r>
              <a:rPr sz="4000" spc="-20" dirty="0"/>
              <a:t>Problem</a:t>
            </a:r>
            <a:r>
              <a:rPr sz="4000" spc="5" dirty="0"/>
              <a:t> </a:t>
            </a:r>
            <a:r>
              <a:rPr sz="4000" spc="-5" dirty="0">
                <a:latin typeface="Wingdings"/>
                <a:cs typeface="Wingdings"/>
              </a:rPr>
              <a:t></a:t>
            </a:r>
            <a:r>
              <a:rPr sz="4000" spc="-105" dirty="0">
                <a:latin typeface="Times New Roman"/>
                <a:cs typeface="Times New Roman"/>
              </a:rPr>
              <a:t> </a:t>
            </a:r>
            <a:r>
              <a:rPr sz="4000" spc="-5" dirty="0"/>
              <a:t>Solution</a:t>
            </a:r>
            <a:endParaRPr sz="4000">
              <a:latin typeface="Times New Roman"/>
              <a:cs typeface="Times New Roman"/>
            </a:endParaRPr>
          </a:p>
        </p:txBody>
      </p:sp>
      <p:graphicFrame>
        <p:nvGraphicFramePr>
          <p:cNvPr id="3" name="object 3"/>
          <p:cNvGraphicFramePr>
            <a:graphicFrameLocks noGrp="1"/>
          </p:cNvGraphicFramePr>
          <p:nvPr/>
        </p:nvGraphicFramePr>
        <p:xfrm>
          <a:off x="831850" y="1819275"/>
          <a:ext cx="10515600" cy="4715850"/>
        </p:xfrm>
        <a:graphic>
          <a:graphicData uri="http://schemas.openxmlformats.org/drawingml/2006/table">
            <a:tbl>
              <a:tblPr firstRow="1" bandRow="1">
                <a:tableStyleId>{2D5ABB26-0587-4C30-8999-92F81FD0307C}</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89534">
                <a:tc>
                  <a:txBody>
                    <a:bodyPr/>
                    <a:lstStyle/>
                    <a:p>
                      <a:pPr algn="ctr">
                        <a:lnSpc>
                          <a:spcPct val="100000"/>
                        </a:lnSpc>
                        <a:spcBef>
                          <a:spcPts val="204"/>
                        </a:spcBef>
                      </a:pPr>
                      <a:r>
                        <a:rPr sz="2400" b="1" spc="-30" dirty="0">
                          <a:solidFill>
                            <a:srgbClr val="FFFFFF"/>
                          </a:solidFill>
                          <a:latin typeface="Calibri"/>
                          <a:cs typeface="Calibri"/>
                        </a:rPr>
                        <a:t>Water</a:t>
                      </a:r>
                      <a:r>
                        <a:rPr sz="2400" b="1" spc="-15" dirty="0">
                          <a:solidFill>
                            <a:srgbClr val="FFFFFF"/>
                          </a:solidFill>
                          <a:latin typeface="Calibri"/>
                          <a:cs typeface="Calibri"/>
                        </a:rPr>
                        <a:t> </a:t>
                      </a:r>
                      <a:r>
                        <a:rPr sz="2400" b="1" spc="-10" dirty="0">
                          <a:solidFill>
                            <a:srgbClr val="FFFFFF"/>
                          </a:solidFill>
                          <a:latin typeface="Calibri"/>
                          <a:cs typeface="Calibri"/>
                        </a:rPr>
                        <a:t>Quantity</a:t>
                      </a:r>
                      <a:r>
                        <a:rPr sz="2400" b="1" spc="5" dirty="0">
                          <a:solidFill>
                            <a:srgbClr val="FFFFFF"/>
                          </a:solidFill>
                          <a:latin typeface="Calibri"/>
                          <a:cs typeface="Calibri"/>
                        </a:rPr>
                        <a:t> </a:t>
                      </a:r>
                      <a:r>
                        <a:rPr sz="2400" b="1" dirty="0">
                          <a:solidFill>
                            <a:srgbClr val="FFFFFF"/>
                          </a:solidFill>
                          <a:latin typeface="Calibri"/>
                          <a:cs typeface="Calibri"/>
                        </a:rPr>
                        <a:t>in</a:t>
                      </a:r>
                      <a:r>
                        <a:rPr sz="2400" b="1" spc="-15" dirty="0">
                          <a:solidFill>
                            <a:srgbClr val="FFFFFF"/>
                          </a:solidFill>
                          <a:latin typeface="Calibri"/>
                          <a:cs typeface="Calibri"/>
                        </a:rPr>
                        <a:t> </a:t>
                      </a:r>
                      <a:r>
                        <a:rPr sz="2400" b="1" dirty="0">
                          <a:solidFill>
                            <a:srgbClr val="FFFFFF"/>
                          </a:solidFill>
                          <a:latin typeface="Calibri"/>
                          <a:cs typeface="Calibri"/>
                        </a:rPr>
                        <a:t>4</a:t>
                      </a:r>
                      <a:r>
                        <a:rPr sz="2400" b="1" spc="-20" dirty="0">
                          <a:solidFill>
                            <a:srgbClr val="FFFFFF"/>
                          </a:solidFill>
                          <a:latin typeface="Calibri"/>
                          <a:cs typeface="Calibri"/>
                        </a:rPr>
                        <a:t> </a:t>
                      </a:r>
                      <a:r>
                        <a:rPr sz="2400" b="1" dirty="0">
                          <a:solidFill>
                            <a:srgbClr val="FFFFFF"/>
                          </a:solidFill>
                          <a:latin typeface="Calibri"/>
                          <a:cs typeface="Calibri"/>
                        </a:rPr>
                        <a:t>l</a:t>
                      </a:r>
                      <a:r>
                        <a:rPr sz="2400" b="1" spc="-20" dirty="0">
                          <a:solidFill>
                            <a:srgbClr val="FFFFFF"/>
                          </a:solidFill>
                          <a:latin typeface="Calibri"/>
                          <a:cs typeface="Calibri"/>
                        </a:rPr>
                        <a:t> </a:t>
                      </a:r>
                      <a:r>
                        <a:rPr sz="2400" b="1" spc="-5" dirty="0">
                          <a:solidFill>
                            <a:srgbClr val="FFFFFF"/>
                          </a:solidFill>
                          <a:latin typeface="Calibri"/>
                          <a:cs typeface="Calibri"/>
                        </a:rPr>
                        <a:t>Jug</a:t>
                      </a:r>
                      <a:endParaRPr sz="2400">
                        <a:latin typeface="Calibri"/>
                        <a:cs typeface="Calibri"/>
                      </a:endParaRPr>
                    </a:p>
                  </a:txBody>
                  <a:tcPr marL="0" marR="0" marT="2603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gn="ctr">
                        <a:lnSpc>
                          <a:spcPct val="100000"/>
                        </a:lnSpc>
                        <a:spcBef>
                          <a:spcPts val="204"/>
                        </a:spcBef>
                      </a:pPr>
                      <a:r>
                        <a:rPr sz="2400" b="1" spc="-30" dirty="0">
                          <a:solidFill>
                            <a:srgbClr val="FFFFFF"/>
                          </a:solidFill>
                          <a:latin typeface="Calibri"/>
                          <a:cs typeface="Calibri"/>
                        </a:rPr>
                        <a:t>Water</a:t>
                      </a:r>
                      <a:r>
                        <a:rPr sz="2400" b="1" spc="-15" dirty="0">
                          <a:solidFill>
                            <a:srgbClr val="FFFFFF"/>
                          </a:solidFill>
                          <a:latin typeface="Calibri"/>
                          <a:cs typeface="Calibri"/>
                        </a:rPr>
                        <a:t> </a:t>
                      </a:r>
                      <a:r>
                        <a:rPr sz="2400" b="1" spc="-10" dirty="0">
                          <a:solidFill>
                            <a:srgbClr val="FFFFFF"/>
                          </a:solidFill>
                          <a:latin typeface="Calibri"/>
                          <a:cs typeface="Calibri"/>
                        </a:rPr>
                        <a:t>Quantity</a:t>
                      </a:r>
                      <a:r>
                        <a:rPr sz="2400" b="1" spc="5" dirty="0">
                          <a:solidFill>
                            <a:srgbClr val="FFFFFF"/>
                          </a:solidFill>
                          <a:latin typeface="Calibri"/>
                          <a:cs typeface="Calibri"/>
                        </a:rPr>
                        <a:t> </a:t>
                      </a:r>
                      <a:r>
                        <a:rPr sz="2400" b="1" dirty="0">
                          <a:solidFill>
                            <a:srgbClr val="FFFFFF"/>
                          </a:solidFill>
                          <a:latin typeface="Calibri"/>
                          <a:cs typeface="Calibri"/>
                        </a:rPr>
                        <a:t>in</a:t>
                      </a:r>
                      <a:r>
                        <a:rPr sz="2400" b="1" spc="-15" dirty="0">
                          <a:solidFill>
                            <a:srgbClr val="FFFFFF"/>
                          </a:solidFill>
                          <a:latin typeface="Calibri"/>
                          <a:cs typeface="Calibri"/>
                        </a:rPr>
                        <a:t> </a:t>
                      </a:r>
                      <a:r>
                        <a:rPr sz="2400" b="1" dirty="0">
                          <a:solidFill>
                            <a:srgbClr val="FFFFFF"/>
                          </a:solidFill>
                          <a:latin typeface="Calibri"/>
                          <a:cs typeface="Calibri"/>
                        </a:rPr>
                        <a:t>3</a:t>
                      </a:r>
                      <a:r>
                        <a:rPr sz="2400" b="1" spc="-20" dirty="0">
                          <a:solidFill>
                            <a:srgbClr val="FFFFFF"/>
                          </a:solidFill>
                          <a:latin typeface="Calibri"/>
                          <a:cs typeface="Calibri"/>
                        </a:rPr>
                        <a:t> </a:t>
                      </a:r>
                      <a:r>
                        <a:rPr sz="2400" b="1" dirty="0">
                          <a:solidFill>
                            <a:srgbClr val="FFFFFF"/>
                          </a:solidFill>
                          <a:latin typeface="Calibri"/>
                          <a:cs typeface="Calibri"/>
                        </a:rPr>
                        <a:t>l</a:t>
                      </a:r>
                      <a:r>
                        <a:rPr sz="2400" b="1" spc="-20" dirty="0">
                          <a:solidFill>
                            <a:srgbClr val="FFFFFF"/>
                          </a:solidFill>
                          <a:latin typeface="Calibri"/>
                          <a:cs typeface="Calibri"/>
                        </a:rPr>
                        <a:t> </a:t>
                      </a:r>
                      <a:r>
                        <a:rPr sz="2400" b="1" spc="-5" dirty="0">
                          <a:solidFill>
                            <a:srgbClr val="FFFFFF"/>
                          </a:solidFill>
                          <a:latin typeface="Calibri"/>
                          <a:cs typeface="Calibri"/>
                        </a:rPr>
                        <a:t>Jug</a:t>
                      </a:r>
                      <a:endParaRPr sz="2400">
                        <a:latin typeface="Calibri"/>
                        <a:cs typeface="Calibri"/>
                      </a:endParaRPr>
                    </a:p>
                  </a:txBody>
                  <a:tcPr marL="0" marR="0" marT="2603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1270" algn="ctr">
                        <a:lnSpc>
                          <a:spcPct val="100000"/>
                        </a:lnSpc>
                        <a:spcBef>
                          <a:spcPts val="204"/>
                        </a:spcBef>
                      </a:pPr>
                      <a:r>
                        <a:rPr sz="2400" b="1" dirty="0">
                          <a:solidFill>
                            <a:srgbClr val="FFFFFF"/>
                          </a:solidFill>
                          <a:latin typeface="Calibri"/>
                          <a:cs typeface="Calibri"/>
                        </a:rPr>
                        <a:t>Rule</a:t>
                      </a:r>
                      <a:r>
                        <a:rPr sz="2400" b="1" spc="-35" dirty="0">
                          <a:solidFill>
                            <a:srgbClr val="FFFFFF"/>
                          </a:solidFill>
                          <a:latin typeface="Calibri"/>
                          <a:cs typeface="Calibri"/>
                        </a:rPr>
                        <a:t> </a:t>
                      </a:r>
                      <a:r>
                        <a:rPr sz="2400" b="1" spc="-5" dirty="0">
                          <a:solidFill>
                            <a:srgbClr val="FFFFFF"/>
                          </a:solidFill>
                          <a:latin typeface="Calibri"/>
                          <a:cs typeface="Calibri"/>
                        </a:rPr>
                        <a:t>Applied</a:t>
                      </a:r>
                      <a:endParaRPr sz="2400">
                        <a:latin typeface="Calibri"/>
                        <a:cs typeface="Calibri"/>
                      </a:endParaRPr>
                    </a:p>
                  </a:txBody>
                  <a:tcPr marL="0" marR="0" marT="2603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589406">
                <a:tc>
                  <a:txBody>
                    <a:bodyPr/>
                    <a:lstStyle/>
                    <a:p>
                      <a:pPr marL="635" algn="ctr">
                        <a:lnSpc>
                          <a:spcPct val="100000"/>
                        </a:lnSpc>
                        <a:spcBef>
                          <a:spcPts val="209"/>
                        </a:spcBef>
                      </a:pPr>
                      <a:r>
                        <a:rPr sz="2400" dirty="0">
                          <a:latin typeface="Calibri"/>
                          <a:cs typeface="Calibri"/>
                        </a:rPr>
                        <a:t>0</a:t>
                      </a:r>
                      <a:endParaRPr sz="2400">
                        <a:latin typeface="Calibri"/>
                        <a:cs typeface="Calibri"/>
                      </a:endParaRPr>
                    </a:p>
                  </a:txBody>
                  <a:tcPr marL="0" marR="0" marT="2666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1905" algn="ctr">
                        <a:lnSpc>
                          <a:spcPct val="100000"/>
                        </a:lnSpc>
                        <a:spcBef>
                          <a:spcPts val="209"/>
                        </a:spcBef>
                      </a:pPr>
                      <a:r>
                        <a:rPr sz="2400" dirty="0">
                          <a:latin typeface="Calibri"/>
                          <a:cs typeface="Calibri"/>
                        </a:rPr>
                        <a:t>0</a:t>
                      </a:r>
                      <a:endParaRPr sz="2400">
                        <a:latin typeface="Calibri"/>
                        <a:cs typeface="Calibri"/>
                      </a:endParaRPr>
                    </a:p>
                  </a:txBody>
                  <a:tcPr marL="0" marR="0" marT="2666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2540" algn="ctr">
                        <a:lnSpc>
                          <a:spcPct val="100000"/>
                        </a:lnSpc>
                        <a:spcBef>
                          <a:spcPts val="1250"/>
                        </a:spcBef>
                      </a:pPr>
                      <a:r>
                        <a:rPr sz="2400" dirty="0">
                          <a:latin typeface="Calibri"/>
                          <a:cs typeface="Calibri"/>
                        </a:rPr>
                        <a:t>2</a:t>
                      </a:r>
                      <a:endParaRPr sz="2400">
                        <a:latin typeface="Calibri"/>
                        <a:cs typeface="Calibri"/>
                      </a:endParaRPr>
                    </a:p>
                  </a:txBody>
                  <a:tcPr marL="0" marR="0" marT="158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589534">
                <a:tc>
                  <a:txBody>
                    <a:bodyPr/>
                    <a:lstStyle/>
                    <a:p>
                      <a:pPr marL="635" algn="ctr">
                        <a:lnSpc>
                          <a:spcPct val="100000"/>
                        </a:lnSpc>
                        <a:spcBef>
                          <a:spcPts val="209"/>
                        </a:spcBef>
                      </a:pPr>
                      <a:r>
                        <a:rPr sz="2400" dirty="0">
                          <a:latin typeface="Calibri"/>
                          <a:cs typeface="Calibri"/>
                        </a:rPr>
                        <a:t>0</a:t>
                      </a:r>
                      <a:endParaRPr sz="2400">
                        <a:latin typeface="Calibri"/>
                        <a:cs typeface="Calibri"/>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1905" algn="ctr">
                        <a:lnSpc>
                          <a:spcPct val="100000"/>
                        </a:lnSpc>
                        <a:spcBef>
                          <a:spcPts val="209"/>
                        </a:spcBef>
                      </a:pPr>
                      <a:r>
                        <a:rPr sz="2400" dirty="0">
                          <a:latin typeface="Calibri"/>
                          <a:cs typeface="Calibri"/>
                        </a:rPr>
                        <a:t>3</a:t>
                      </a:r>
                      <a:endParaRPr sz="2400">
                        <a:latin typeface="Calibri"/>
                        <a:cs typeface="Calibri"/>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1250"/>
                        </a:spcBef>
                      </a:pPr>
                      <a:r>
                        <a:rPr sz="2400" spc="-10" dirty="0">
                          <a:latin typeface="Calibri"/>
                          <a:cs typeface="Calibri"/>
                        </a:rPr>
                        <a:t>10</a:t>
                      </a:r>
                      <a:endParaRPr sz="2400">
                        <a:latin typeface="Calibri"/>
                        <a:cs typeface="Calibri"/>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589407">
                <a:tc>
                  <a:txBody>
                    <a:bodyPr/>
                    <a:lstStyle/>
                    <a:p>
                      <a:pPr marL="635" algn="ctr">
                        <a:lnSpc>
                          <a:spcPct val="100000"/>
                        </a:lnSpc>
                        <a:spcBef>
                          <a:spcPts val="210"/>
                        </a:spcBef>
                      </a:pPr>
                      <a:r>
                        <a:rPr sz="2400" dirty="0">
                          <a:latin typeface="Calibri"/>
                          <a:cs typeface="Calibri"/>
                        </a:rPr>
                        <a:t>3</a:t>
                      </a:r>
                      <a:endParaRPr sz="2400">
                        <a:latin typeface="Calibri"/>
                        <a:cs typeface="Calibri"/>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1905" algn="ctr">
                        <a:lnSpc>
                          <a:spcPct val="100000"/>
                        </a:lnSpc>
                        <a:spcBef>
                          <a:spcPts val="210"/>
                        </a:spcBef>
                      </a:pPr>
                      <a:r>
                        <a:rPr sz="2400" dirty="0">
                          <a:latin typeface="Calibri"/>
                          <a:cs typeface="Calibri"/>
                        </a:rPr>
                        <a:t>0</a:t>
                      </a:r>
                      <a:endParaRPr sz="2400">
                        <a:latin typeface="Calibri"/>
                        <a:cs typeface="Calibri"/>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2540" algn="ctr">
                        <a:lnSpc>
                          <a:spcPct val="100000"/>
                        </a:lnSpc>
                        <a:spcBef>
                          <a:spcPts val="1250"/>
                        </a:spcBef>
                      </a:pPr>
                      <a:r>
                        <a:rPr sz="2400" dirty="0">
                          <a:latin typeface="Calibri"/>
                          <a:cs typeface="Calibri"/>
                        </a:rPr>
                        <a:t>2</a:t>
                      </a:r>
                      <a:endParaRPr sz="2400">
                        <a:latin typeface="Calibri"/>
                        <a:cs typeface="Calibri"/>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589534">
                <a:tc>
                  <a:txBody>
                    <a:bodyPr/>
                    <a:lstStyle/>
                    <a:p>
                      <a:pPr marL="635" algn="ctr">
                        <a:lnSpc>
                          <a:spcPct val="100000"/>
                        </a:lnSpc>
                        <a:spcBef>
                          <a:spcPts val="210"/>
                        </a:spcBef>
                      </a:pPr>
                      <a:r>
                        <a:rPr sz="2400" dirty="0">
                          <a:latin typeface="Calibri"/>
                          <a:cs typeface="Calibri"/>
                        </a:rPr>
                        <a:t>3</a:t>
                      </a:r>
                      <a:endParaRPr sz="2400">
                        <a:latin typeface="Calibri"/>
                        <a:cs typeface="Calibri"/>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1905" algn="ctr">
                        <a:lnSpc>
                          <a:spcPct val="100000"/>
                        </a:lnSpc>
                        <a:spcBef>
                          <a:spcPts val="210"/>
                        </a:spcBef>
                      </a:pPr>
                      <a:r>
                        <a:rPr sz="2400" dirty="0">
                          <a:latin typeface="Calibri"/>
                          <a:cs typeface="Calibri"/>
                        </a:rPr>
                        <a:t>3</a:t>
                      </a:r>
                      <a:endParaRPr sz="2400">
                        <a:latin typeface="Calibri"/>
                        <a:cs typeface="Calibri"/>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2540" algn="ctr">
                        <a:lnSpc>
                          <a:spcPct val="100000"/>
                        </a:lnSpc>
                        <a:spcBef>
                          <a:spcPts val="1250"/>
                        </a:spcBef>
                      </a:pPr>
                      <a:r>
                        <a:rPr sz="2400" dirty="0">
                          <a:latin typeface="Calibri"/>
                          <a:cs typeface="Calibri"/>
                        </a:rPr>
                        <a:t>7</a:t>
                      </a:r>
                      <a:endParaRPr sz="2400">
                        <a:latin typeface="Calibri"/>
                        <a:cs typeface="Calibri"/>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r h="589533">
                <a:tc>
                  <a:txBody>
                    <a:bodyPr/>
                    <a:lstStyle/>
                    <a:p>
                      <a:pPr marL="635" algn="ctr">
                        <a:lnSpc>
                          <a:spcPct val="100000"/>
                        </a:lnSpc>
                        <a:spcBef>
                          <a:spcPts val="215"/>
                        </a:spcBef>
                      </a:pPr>
                      <a:r>
                        <a:rPr sz="2400" dirty="0">
                          <a:latin typeface="Calibri"/>
                          <a:cs typeface="Calibri"/>
                        </a:rPr>
                        <a:t>4</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1905" algn="ctr">
                        <a:lnSpc>
                          <a:spcPct val="100000"/>
                        </a:lnSpc>
                        <a:spcBef>
                          <a:spcPts val="215"/>
                        </a:spcBef>
                      </a:pPr>
                      <a:r>
                        <a:rPr sz="2400" dirty="0">
                          <a:latin typeface="Calibri"/>
                          <a:cs typeface="Calibri"/>
                        </a:rPr>
                        <a:t>2</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2540" algn="ctr">
                        <a:lnSpc>
                          <a:spcPct val="100000"/>
                        </a:lnSpc>
                        <a:spcBef>
                          <a:spcPts val="1255"/>
                        </a:spcBef>
                      </a:pPr>
                      <a:r>
                        <a:rPr sz="2400" dirty="0">
                          <a:latin typeface="Calibri"/>
                          <a:cs typeface="Calibri"/>
                        </a:rPr>
                        <a:t>4</a:t>
                      </a:r>
                      <a:endParaRPr sz="2400">
                        <a:latin typeface="Calibri"/>
                        <a:cs typeface="Calibri"/>
                      </a:endParaRPr>
                    </a:p>
                  </a:txBody>
                  <a:tcPr marL="0" marR="0" marT="1593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5"/>
                  </a:ext>
                </a:extLst>
              </a:tr>
              <a:tr h="589419">
                <a:tc>
                  <a:txBody>
                    <a:bodyPr/>
                    <a:lstStyle/>
                    <a:p>
                      <a:pPr marL="635" algn="ctr">
                        <a:lnSpc>
                          <a:spcPct val="100000"/>
                        </a:lnSpc>
                        <a:spcBef>
                          <a:spcPts val="215"/>
                        </a:spcBef>
                      </a:pPr>
                      <a:r>
                        <a:rPr sz="2400" dirty="0">
                          <a:latin typeface="Calibri"/>
                          <a:cs typeface="Calibri"/>
                        </a:rPr>
                        <a:t>0</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1905" algn="ctr">
                        <a:lnSpc>
                          <a:spcPct val="100000"/>
                        </a:lnSpc>
                        <a:spcBef>
                          <a:spcPts val="215"/>
                        </a:spcBef>
                      </a:pPr>
                      <a:r>
                        <a:rPr sz="2400" dirty="0">
                          <a:latin typeface="Calibri"/>
                          <a:cs typeface="Calibri"/>
                        </a:rPr>
                        <a:t>2</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1255"/>
                        </a:spcBef>
                      </a:pPr>
                      <a:r>
                        <a:rPr sz="2400" spc="-10" dirty="0">
                          <a:latin typeface="Calibri"/>
                          <a:cs typeface="Calibri"/>
                        </a:rPr>
                        <a:t>10</a:t>
                      </a:r>
                      <a:endParaRPr sz="2400">
                        <a:latin typeface="Calibri"/>
                        <a:cs typeface="Calibri"/>
                      </a:endParaRPr>
                    </a:p>
                  </a:txBody>
                  <a:tcPr marL="0" marR="0" marT="1593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6"/>
                  </a:ext>
                </a:extLst>
              </a:tr>
              <a:tr h="589483">
                <a:tc>
                  <a:txBody>
                    <a:bodyPr/>
                    <a:lstStyle/>
                    <a:p>
                      <a:pPr marL="635" algn="ctr">
                        <a:lnSpc>
                          <a:spcPct val="100000"/>
                        </a:lnSpc>
                        <a:spcBef>
                          <a:spcPts val="215"/>
                        </a:spcBef>
                      </a:pPr>
                      <a:r>
                        <a:rPr sz="2400" dirty="0">
                          <a:latin typeface="Calibri"/>
                          <a:cs typeface="Calibri"/>
                        </a:rPr>
                        <a:t>2</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1905" algn="ctr">
                        <a:lnSpc>
                          <a:spcPct val="100000"/>
                        </a:lnSpc>
                        <a:spcBef>
                          <a:spcPts val="215"/>
                        </a:spcBef>
                      </a:pPr>
                      <a:r>
                        <a:rPr sz="2400" dirty="0">
                          <a:latin typeface="Calibri"/>
                          <a:cs typeface="Calibri"/>
                        </a:rPr>
                        <a:t>0</a:t>
                      </a:r>
                      <a:endParaRPr sz="24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3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472295" cy="697230"/>
          </a:xfrm>
          <a:prstGeom prst="rect">
            <a:avLst/>
          </a:prstGeom>
        </p:spPr>
        <p:txBody>
          <a:bodyPr vert="horz" wrap="square" lIns="0" tIns="13335" rIns="0" bIns="0" rtlCol="0">
            <a:spAutoFit/>
          </a:bodyPr>
          <a:lstStyle/>
          <a:p>
            <a:pPr marL="12700">
              <a:lnSpc>
                <a:spcPct val="100000"/>
              </a:lnSpc>
              <a:spcBef>
                <a:spcPts val="105"/>
              </a:spcBef>
            </a:pPr>
            <a:r>
              <a:rPr spc="-5" dirty="0"/>
              <a:t>Defining </a:t>
            </a:r>
            <a:r>
              <a:rPr spc="-20" dirty="0"/>
              <a:t>Problems</a:t>
            </a:r>
            <a:r>
              <a:rPr spc="-10" dirty="0"/>
              <a:t> </a:t>
            </a:r>
            <a:r>
              <a:rPr dirty="0"/>
              <a:t>as a</a:t>
            </a:r>
            <a:r>
              <a:rPr spc="-5" dirty="0"/>
              <a:t> </a:t>
            </a:r>
            <a:r>
              <a:rPr spc="-30" dirty="0"/>
              <a:t>State</a:t>
            </a:r>
            <a:r>
              <a:rPr spc="-10" dirty="0"/>
              <a:t> </a:t>
            </a:r>
            <a:r>
              <a:rPr dirty="0"/>
              <a:t>Space </a:t>
            </a:r>
            <a:r>
              <a:rPr spc="-10" dirty="0"/>
              <a:t>Search</a:t>
            </a:r>
          </a:p>
        </p:txBody>
      </p:sp>
      <p:sp>
        <p:nvSpPr>
          <p:cNvPr id="3" name="object 3"/>
          <p:cNvSpPr txBox="1"/>
          <p:nvPr/>
        </p:nvSpPr>
        <p:spPr>
          <a:xfrm>
            <a:off x="916939" y="1756565"/>
            <a:ext cx="9952990" cy="232918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b="1" spc="-15" dirty="0">
                <a:latin typeface="Calibri"/>
                <a:cs typeface="Calibri"/>
              </a:rPr>
              <a:t>Operationalization</a:t>
            </a:r>
            <a:endParaRPr sz="2800" b="1" dirty="0">
              <a:latin typeface="Calibri"/>
              <a:cs typeface="Calibri"/>
            </a:endParaRPr>
          </a:p>
          <a:p>
            <a:pPr marL="698500" marR="5080" lvl="1" indent="-228600">
              <a:lnSpc>
                <a:spcPts val="2590"/>
              </a:lnSpc>
              <a:spcBef>
                <a:spcPts val="575"/>
              </a:spcBef>
              <a:buFont typeface="Arial MT"/>
              <a:buChar char="•"/>
              <a:tabLst>
                <a:tab pos="699135" algn="l"/>
              </a:tabLst>
            </a:pPr>
            <a:r>
              <a:rPr sz="2400" dirty="0">
                <a:latin typeface="Calibri"/>
                <a:cs typeface="Calibri"/>
              </a:rPr>
              <a:t>Its the </a:t>
            </a:r>
            <a:r>
              <a:rPr sz="2400" spc="-10" dirty="0">
                <a:latin typeface="Calibri"/>
                <a:cs typeface="Calibri"/>
              </a:rPr>
              <a:t>process </a:t>
            </a:r>
            <a:r>
              <a:rPr sz="2400" spc="-5" dirty="0">
                <a:latin typeface="Calibri"/>
                <a:cs typeface="Calibri"/>
              </a:rPr>
              <a:t>of </a:t>
            </a:r>
            <a:r>
              <a:rPr sz="2400" spc="-10" dirty="0">
                <a:latin typeface="Calibri"/>
                <a:cs typeface="Calibri"/>
              </a:rPr>
              <a:t>creation </a:t>
            </a:r>
            <a:r>
              <a:rPr sz="2400" spc="-5" dirty="0">
                <a:latin typeface="Calibri"/>
                <a:cs typeface="Calibri"/>
              </a:rPr>
              <a:t>of </a:t>
            </a:r>
            <a:r>
              <a:rPr sz="2400" dirty="0">
                <a:latin typeface="Calibri"/>
                <a:cs typeface="Calibri"/>
              </a:rPr>
              <a:t>a </a:t>
            </a:r>
            <a:r>
              <a:rPr sz="2400" spc="-15" dirty="0">
                <a:latin typeface="Calibri"/>
                <a:cs typeface="Calibri"/>
              </a:rPr>
              <a:t>formal </a:t>
            </a:r>
            <a:r>
              <a:rPr sz="2400" dirty="0">
                <a:latin typeface="Calibri"/>
                <a:cs typeface="Calibri"/>
              </a:rPr>
              <a:t>and manipulability </a:t>
            </a:r>
            <a:r>
              <a:rPr sz="2400" spc="-5" dirty="0">
                <a:latin typeface="Calibri"/>
                <a:cs typeface="Calibri"/>
              </a:rPr>
              <a:t>description of </a:t>
            </a:r>
            <a:r>
              <a:rPr sz="2400" dirty="0">
                <a:latin typeface="Calibri"/>
                <a:cs typeface="Calibri"/>
              </a:rPr>
              <a:t>the </a:t>
            </a:r>
            <a:r>
              <a:rPr sz="2400" spc="-530" dirty="0">
                <a:latin typeface="Calibri"/>
                <a:cs typeface="Calibri"/>
              </a:rPr>
              <a:t> </a:t>
            </a:r>
            <a:r>
              <a:rPr sz="2400" spc="-10" dirty="0">
                <a:latin typeface="Calibri"/>
                <a:cs typeface="Calibri"/>
              </a:rPr>
              <a:t>problem</a:t>
            </a:r>
            <a:endParaRPr sz="2400" dirty="0">
              <a:latin typeface="Calibri"/>
              <a:cs typeface="Calibri"/>
            </a:endParaRPr>
          </a:p>
          <a:p>
            <a:pPr marL="698500" lvl="1" indent="-229235">
              <a:lnSpc>
                <a:spcPct val="100000"/>
              </a:lnSpc>
              <a:spcBef>
                <a:spcPts val="180"/>
              </a:spcBef>
              <a:buFont typeface="Arial MT"/>
              <a:buChar char="•"/>
              <a:tabLst>
                <a:tab pos="699135" algn="l"/>
              </a:tabLst>
            </a:pPr>
            <a:r>
              <a:rPr sz="2400" dirty="0">
                <a:latin typeface="Calibri"/>
                <a:cs typeface="Calibri"/>
              </a:rPr>
              <a:t>It</a:t>
            </a:r>
            <a:r>
              <a:rPr sz="2400" spc="-25" dirty="0">
                <a:latin typeface="Calibri"/>
                <a:cs typeface="Calibri"/>
              </a:rPr>
              <a:t> </a:t>
            </a:r>
            <a:r>
              <a:rPr sz="2400" dirty="0">
                <a:latin typeface="Calibri"/>
                <a:cs typeface="Calibri"/>
              </a:rPr>
              <a:t>is </a:t>
            </a:r>
            <a:r>
              <a:rPr sz="2400" spc="-5" dirty="0">
                <a:latin typeface="Calibri"/>
                <a:cs typeface="Calibri"/>
              </a:rPr>
              <a:t>the </a:t>
            </a:r>
            <a:r>
              <a:rPr sz="2400" spc="-20" dirty="0">
                <a:latin typeface="Calibri"/>
                <a:cs typeface="Calibri"/>
              </a:rPr>
              <a:t>first </a:t>
            </a:r>
            <a:r>
              <a:rPr sz="2400" spc="-15" dirty="0">
                <a:latin typeface="Calibri"/>
                <a:cs typeface="Calibri"/>
              </a:rPr>
              <a:t>step</a:t>
            </a:r>
            <a:r>
              <a:rPr sz="2400" spc="-5" dirty="0">
                <a:latin typeface="Calibri"/>
                <a:cs typeface="Calibri"/>
              </a:rPr>
              <a:t> </a:t>
            </a:r>
            <a:r>
              <a:rPr sz="2400" spc="-20" dirty="0">
                <a:latin typeface="Calibri"/>
                <a:cs typeface="Calibri"/>
              </a:rPr>
              <a:t>toward</a:t>
            </a:r>
            <a:r>
              <a:rPr sz="2400" spc="-5" dirty="0">
                <a:latin typeface="Calibri"/>
                <a:cs typeface="Calibri"/>
              </a:rPr>
              <a:t> </a:t>
            </a:r>
            <a:r>
              <a:rPr sz="2400" dirty="0">
                <a:latin typeface="Calibri"/>
                <a:cs typeface="Calibri"/>
              </a:rPr>
              <a:t>the</a:t>
            </a:r>
            <a:r>
              <a:rPr sz="2400" spc="-20" dirty="0">
                <a:latin typeface="Calibri"/>
                <a:cs typeface="Calibri"/>
              </a:rPr>
              <a:t> </a:t>
            </a:r>
            <a:r>
              <a:rPr sz="2400" spc="-5" dirty="0">
                <a:latin typeface="Calibri"/>
                <a:cs typeface="Calibri"/>
              </a:rPr>
              <a:t>design</a:t>
            </a:r>
            <a:r>
              <a:rPr sz="2400" spc="-15" dirty="0">
                <a:latin typeface="Calibri"/>
                <a:cs typeface="Calibri"/>
              </a:rPr>
              <a:t> </a:t>
            </a:r>
            <a:r>
              <a:rPr sz="2400" spc="-5" dirty="0">
                <a:latin typeface="Calibri"/>
                <a:cs typeface="Calibri"/>
              </a:rPr>
              <a:t>of</a:t>
            </a:r>
            <a:r>
              <a:rPr sz="2400" dirty="0">
                <a:latin typeface="Calibri"/>
                <a:cs typeface="Calibri"/>
              </a:rPr>
              <a:t> a</a:t>
            </a:r>
            <a:r>
              <a:rPr sz="2400" spc="-15" dirty="0">
                <a:latin typeface="Calibri"/>
                <a:cs typeface="Calibri"/>
              </a:rPr>
              <a:t> program to </a:t>
            </a:r>
            <a:r>
              <a:rPr sz="2400" spc="-10" dirty="0">
                <a:latin typeface="Calibri"/>
                <a:cs typeface="Calibri"/>
              </a:rPr>
              <a:t>solve</a:t>
            </a:r>
            <a:r>
              <a:rPr sz="2400" spc="5" dirty="0">
                <a:latin typeface="Calibri"/>
                <a:cs typeface="Calibri"/>
              </a:rPr>
              <a:t> </a:t>
            </a:r>
            <a:r>
              <a:rPr sz="2400" dirty="0">
                <a:latin typeface="Calibri"/>
                <a:cs typeface="Calibri"/>
              </a:rPr>
              <a:t>a </a:t>
            </a:r>
            <a:r>
              <a:rPr sz="2400" spc="-10" dirty="0">
                <a:latin typeface="Calibri"/>
                <a:cs typeface="Calibri"/>
              </a:rPr>
              <a:t>problem</a:t>
            </a:r>
            <a:endParaRPr sz="2400" dirty="0">
              <a:latin typeface="Calibri"/>
              <a:cs typeface="Calibri"/>
            </a:endParaRPr>
          </a:p>
          <a:p>
            <a:pPr marL="698500" marR="141605" lvl="1" indent="-228600">
              <a:lnSpc>
                <a:spcPts val="2590"/>
              </a:lnSpc>
              <a:spcBef>
                <a:spcPts val="535"/>
              </a:spcBef>
              <a:buFont typeface="Arial MT"/>
              <a:buChar char="•"/>
              <a:tabLst>
                <a:tab pos="699135" algn="l"/>
              </a:tabLst>
            </a:pPr>
            <a:r>
              <a:rPr sz="2400" spc="-45" dirty="0">
                <a:latin typeface="Calibri"/>
                <a:cs typeface="Calibri"/>
              </a:rPr>
              <a:t>We</a:t>
            </a:r>
            <a:r>
              <a:rPr sz="2400" dirty="0">
                <a:latin typeface="Calibri"/>
                <a:cs typeface="Calibri"/>
              </a:rPr>
              <a:t> </a:t>
            </a:r>
            <a:r>
              <a:rPr sz="2400" spc="-10" dirty="0">
                <a:latin typeface="Calibri"/>
                <a:cs typeface="Calibri"/>
              </a:rPr>
              <a:t>expect</a:t>
            </a:r>
            <a:r>
              <a:rPr sz="2400" spc="-25" dirty="0">
                <a:latin typeface="Calibri"/>
                <a:cs typeface="Calibri"/>
              </a:rPr>
              <a:t> </a:t>
            </a:r>
            <a:r>
              <a:rPr sz="2400" spc="-15" dirty="0">
                <a:latin typeface="Calibri"/>
                <a:cs typeface="Calibri"/>
              </a:rPr>
              <a:t>to</a:t>
            </a:r>
            <a:r>
              <a:rPr sz="2400" spc="-10" dirty="0">
                <a:latin typeface="Calibri"/>
                <a:cs typeface="Calibri"/>
              </a:rPr>
              <a:t> </a:t>
            </a:r>
            <a:r>
              <a:rPr sz="2400" spc="-15" dirty="0">
                <a:latin typeface="Calibri"/>
                <a:cs typeface="Calibri"/>
              </a:rPr>
              <a:t>create</a:t>
            </a:r>
            <a:r>
              <a:rPr sz="2400" spc="-5" dirty="0">
                <a:latin typeface="Calibri"/>
                <a:cs typeface="Calibri"/>
              </a:rPr>
              <a:t> such</a:t>
            </a:r>
            <a:r>
              <a:rPr sz="2400" spc="-15" dirty="0">
                <a:latin typeface="Calibri"/>
                <a:cs typeface="Calibri"/>
              </a:rPr>
              <a:t> programs </a:t>
            </a:r>
            <a:r>
              <a:rPr sz="2400" dirty="0">
                <a:latin typeface="Calibri"/>
                <a:cs typeface="Calibri"/>
              </a:rPr>
              <a:t>which</a:t>
            </a:r>
            <a:r>
              <a:rPr sz="2400" spc="-5" dirty="0">
                <a:latin typeface="Calibri"/>
                <a:cs typeface="Calibri"/>
              </a:rPr>
              <a:t> </a:t>
            </a:r>
            <a:r>
              <a:rPr sz="2400" spc="-10" dirty="0">
                <a:latin typeface="Calibri"/>
                <a:cs typeface="Calibri"/>
              </a:rPr>
              <a:t>can</a:t>
            </a:r>
            <a:r>
              <a:rPr sz="2400" spc="-5" dirty="0">
                <a:latin typeface="Calibri"/>
                <a:cs typeface="Calibri"/>
              </a:rPr>
              <a:t> themselves</a:t>
            </a:r>
            <a:r>
              <a:rPr sz="2400" spc="-15" dirty="0">
                <a:latin typeface="Calibri"/>
                <a:cs typeface="Calibri"/>
              </a:rPr>
              <a:t> </a:t>
            </a:r>
            <a:r>
              <a:rPr sz="2400" spc="-10" dirty="0">
                <a:latin typeface="Calibri"/>
                <a:cs typeface="Calibri"/>
              </a:rPr>
              <a:t>produce</a:t>
            </a:r>
            <a:r>
              <a:rPr sz="2400" spc="-5" dirty="0">
                <a:latin typeface="Calibri"/>
                <a:cs typeface="Calibri"/>
              </a:rPr>
              <a:t> </a:t>
            </a:r>
            <a:r>
              <a:rPr sz="2400" spc="-15" dirty="0">
                <a:latin typeface="Calibri"/>
                <a:cs typeface="Calibri"/>
              </a:rPr>
              <a:t>formal </a:t>
            </a:r>
            <a:r>
              <a:rPr sz="2400" spc="-525" dirty="0">
                <a:latin typeface="Calibri"/>
                <a:cs typeface="Calibri"/>
              </a:rPr>
              <a:t> </a:t>
            </a:r>
            <a:r>
              <a:rPr sz="2400" spc="-5" dirty="0">
                <a:latin typeface="Calibri"/>
                <a:cs typeface="Calibri"/>
              </a:rPr>
              <a:t>descriptions</a:t>
            </a:r>
            <a:r>
              <a:rPr sz="2400" spc="-15" dirty="0">
                <a:latin typeface="Calibri"/>
                <a:cs typeface="Calibri"/>
              </a:rPr>
              <a:t> </a:t>
            </a:r>
            <a:r>
              <a:rPr sz="2400" spc="-5" dirty="0">
                <a:latin typeface="Calibri"/>
                <a:cs typeface="Calibri"/>
              </a:rPr>
              <a:t>of </a:t>
            </a:r>
            <a:r>
              <a:rPr sz="2400" dirty="0">
                <a:latin typeface="Calibri"/>
                <a:cs typeface="Calibri"/>
              </a:rPr>
              <a:t>the </a:t>
            </a:r>
            <a:r>
              <a:rPr sz="2400" spc="-10" dirty="0">
                <a:latin typeface="Calibri"/>
                <a:cs typeface="Calibri"/>
              </a:rPr>
              <a:t>problems</a:t>
            </a:r>
            <a:r>
              <a:rPr sz="2400" spc="-20" dirty="0">
                <a:latin typeface="Calibri"/>
                <a:cs typeface="Calibri"/>
              </a:rPr>
              <a:t> </a:t>
            </a:r>
            <a:r>
              <a:rPr sz="2400" spc="-15" dirty="0">
                <a:latin typeface="Calibri"/>
                <a:cs typeface="Calibri"/>
              </a:rPr>
              <a:t>from</a:t>
            </a:r>
            <a:r>
              <a:rPr sz="2400" spc="-20"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informal</a:t>
            </a:r>
            <a:r>
              <a:rPr sz="2400" spc="-15" dirty="0">
                <a:latin typeface="Calibri"/>
                <a:cs typeface="Calibri"/>
              </a:rPr>
              <a:t> </a:t>
            </a:r>
            <a:r>
              <a:rPr sz="2400" spc="-5" dirty="0">
                <a:latin typeface="Calibri"/>
                <a:cs typeface="Calibri"/>
              </a:rPr>
              <a:t>ones</a:t>
            </a:r>
            <a:endParaRPr sz="24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773295" cy="567463"/>
          </a:xfrm>
          <a:prstGeom prst="rect">
            <a:avLst/>
          </a:prstGeom>
        </p:spPr>
        <p:txBody>
          <a:bodyPr vert="horz" wrap="square" lIns="0" tIns="13335" rIns="0" bIns="0" rtlCol="0">
            <a:spAutoFit/>
          </a:bodyPr>
          <a:lstStyle/>
          <a:p>
            <a:pPr marL="12700">
              <a:lnSpc>
                <a:spcPct val="100000"/>
              </a:lnSpc>
              <a:spcBef>
                <a:spcPts val="105"/>
              </a:spcBef>
            </a:pPr>
            <a:r>
              <a:rPr lang="en-US" sz="3600" b="1" spc="-20" dirty="0"/>
              <a:t>2.2 </a:t>
            </a:r>
            <a:r>
              <a:rPr sz="3600" b="1" spc="-20" dirty="0"/>
              <a:t>Problem</a:t>
            </a:r>
            <a:r>
              <a:rPr sz="3600" b="1" spc="-90" dirty="0"/>
              <a:t> </a:t>
            </a:r>
            <a:r>
              <a:rPr sz="3600" b="1" spc="-10" dirty="0"/>
              <a:t>Formulation</a:t>
            </a:r>
          </a:p>
        </p:txBody>
      </p:sp>
      <p:sp>
        <p:nvSpPr>
          <p:cNvPr id="3" name="object 3"/>
          <p:cNvSpPr txBox="1"/>
          <p:nvPr/>
        </p:nvSpPr>
        <p:spPr>
          <a:xfrm>
            <a:off x="916939" y="1736801"/>
            <a:ext cx="11001375" cy="4683760"/>
          </a:xfrm>
          <a:prstGeom prst="rect">
            <a:avLst/>
          </a:prstGeom>
        </p:spPr>
        <p:txBody>
          <a:bodyPr vert="horz" wrap="square" lIns="0" tIns="13335" rIns="0" bIns="0" rtlCol="0">
            <a:spAutoFit/>
          </a:bodyPr>
          <a:lstStyle/>
          <a:p>
            <a:pPr marL="12700">
              <a:lnSpc>
                <a:spcPct val="100000"/>
              </a:lnSpc>
              <a:spcBef>
                <a:spcPts val="105"/>
              </a:spcBef>
            </a:pPr>
            <a:r>
              <a:rPr sz="2600" spc="-5" dirty="0">
                <a:latin typeface="Wingdings"/>
                <a:cs typeface="Wingdings"/>
              </a:rPr>
              <a:t></a:t>
            </a:r>
            <a:r>
              <a:rPr sz="2600" spc="-5" dirty="0">
                <a:latin typeface="Calibri"/>
                <a:cs typeface="Calibri"/>
              </a:rPr>
              <a:t>Process</a:t>
            </a:r>
            <a:r>
              <a:rPr sz="2600" spc="-40" dirty="0">
                <a:latin typeface="Calibri"/>
                <a:cs typeface="Calibri"/>
              </a:rPr>
              <a:t> </a:t>
            </a:r>
            <a:r>
              <a:rPr sz="2600" dirty="0">
                <a:latin typeface="Calibri"/>
                <a:cs typeface="Calibri"/>
              </a:rPr>
              <a:t>of</a:t>
            </a:r>
            <a:r>
              <a:rPr sz="2600" spc="-5" dirty="0">
                <a:latin typeface="Calibri"/>
                <a:cs typeface="Calibri"/>
              </a:rPr>
              <a:t> deciding</a:t>
            </a:r>
            <a:r>
              <a:rPr sz="2600" spc="-30" dirty="0">
                <a:latin typeface="Calibri"/>
                <a:cs typeface="Calibri"/>
              </a:rPr>
              <a:t> </a:t>
            </a:r>
            <a:r>
              <a:rPr sz="2600" spc="-5" dirty="0">
                <a:latin typeface="Calibri"/>
                <a:cs typeface="Calibri"/>
              </a:rPr>
              <a:t>what </a:t>
            </a:r>
            <a:r>
              <a:rPr sz="2600" dirty="0">
                <a:latin typeface="Calibri"/>
                <a:cs typeface="Calibri"/>
              </a:rPr>
              <a:t>action</a:t>
            </a:r>
            <a:r>
              <a:rPr sz="2600" spc="5" dirty="0">
                <a:latin typeface="Calibri"/>
                <a:cs typeface="Calibri"/>
              </a:rPr>
              <a:t> </a:t>
            </a:r>
            <a:r>
              <a:rPr sz="2600" dirty="0">
                <a:latin typeface="Calibri"/>
                <a:cs typeface="Calibri"/>
              </a:rPr>
              <a:t>and</a:t>
            </a:r>
            <a:r>
              <a:rPr sz="2600" spc="-10" dirty="0">
                <a:latin typeface="Calibri"/>
                <a:cs typeface="Calibri"/>
              </a:rPr>
              <a:t> </a:t>
            </a:r>
            <a:r>
              <a:rPr sz="2600" spc="-20" dirty="0">
                <a:latin typeface="Calibri"/>
                <a:cs typeface="Calibri"/>
              </a:rPr>
              <a:t>states </a:t>
            </a:r>
            <a:r>
              <a:rPr sz="2600" spc="-10" dirty="0">
                <a:latin typeface="Calibri"/>
                <a:cs typeface="Calibri"/>
              </a:rPr>
              <a:t>to</a:t>
            </a:r>
            <a:r>
              <a:rPr sz="2600" spc="5" dirty="0">
                <a:latin typeface="Calibri"/>
                <a:cs typeface="Calibri"/>
              </a:rPr>
              <a:t> </a:t>
            </a:r>
            <a:r>
              <a:rPr sz="2600" spc="-35" dirty="0">
                <a:latin typeface="Calibri"/>
                <a:cs typeface="Calibri"/>
              </a:rPr>
              <a:t>consider,</a:t>
            </a:r>
            <a:r>
              <a:rPr sz="2600" spc="-10" dirty="0">
                <a:latin typeface="Calibri"/>
                <a:cs typeface="Calibri"/>
              </a:rPr>
              <a:t> </a:t>
            </a:r>
            <a:r>
              <a:rPr sz="2600" spc="-5" dirty="0">
                <a:latin typeface="Calibri"/>
                <a:cs typeface="Calibri"/>
              </a:rPr>
              <a:t>given</a:t>
            </a:r>
            <a:r>
              <a:rPr sz="2600" spc="-10" dirty="0">
                <a:latin typeface="Calibri"/>
                <a:cs typeface="Calibri"/>
              </a:rPr>
              <a:t> </a:t>
            </a:r>
            <a:r>
              <a:rPr sz="2600" dirty="0">
                <a:latin typeface="Calibri"/>
                <a:cs typeface="Calibri"/>
              </a:rPr>
              <a:t>a</a:t>
            </a:r>
            <a:r>
              <a:rPr sz="2600" spc="5" dirty="0">
                <a:latin typeface="Calibri"/>
                <a:cs typeface="Calibri"/>
              </a:rPr>
              <a:t> </a:t>
            </a:r>
            <a:r>
              <a:rPr sz="2600" spc="-10" dirty="0">
                <a:latin typeface="Calibri"/>
                <a:cs typeface="Calibri"/>
              </a:rPr>
              <a:t>goal.</a:t>
            </a:r>
            <a:endParaRPr sz="2600" dirty="0">
              <a:latin typeface="Calibri"/>
              <a:cs typeface="Calibri"/>
            </a:endParaRPr>
          </a:p>
          <a:p>
            <a:pPr marL="12700">
              <a:lnSpc>
                <a:spcPct val="100000"/>
              </a:lnSpc>
              <a:spcBef>
                <a:spcPts val="65"/>
              </a:spcBef>
            </a:pPr>
            <a:r>
              <a:rPr sz="2600" spc="-15" dirty="0">
                <a:latin typeface="Calibri"/>
                <a:cs typeface="Calibri"/>
              </a:rPr>
              <a:t>For</a:t>
            </a:r>
            <a:r>
              <a:rPr sz="2600" spc="5" dirty="0">
                <a:latin typeface="Calibri"/>
                <a:cs typeface="Calibri"/>
              </a:rPr>
              <a:t> </a:t>
            </a:r>
            <a:r>
              <a:rPr sz="2600" spc="-5" dirty="0">
                <a:latin typeface="Calibri"/>
                <a:cs typeface="Calibri"/>
              </a:rPr>
              <a:t>providing</a:t>
            </a:r>
            <a:r>
              <a:rPr sz="2600" spc="-25" dirty="0">
                <a:latin typeface="Calibri"/>
                <a:cs typeface="Calibri"/>
              </a:rPr>
              <a:t> </a:t>
            </a:r>
            <a:r>
              <a:rPr sz="2600" dirty="0">
                <a:latin typeface="Calibri"/>
                <a:cs typeface="Calibri"/>
              </a:rPr>
              <a:t>a</a:t>
            </a:r>
            <a:r>
              <a:rPr sz="2600" spc="15" dirty="0">
                <a:latin typeface="Calibri"/>
                <a:cs typeface="Calibri"/>
              </a:rPr>
              <a:t> </a:t>
            </a:r>
            <a:r>
              <a:rPr sz="2600" spc="-15" dirty="0">
                <a:latin typeface="Calibri"/>
                <a:cs typeface="Calibri"/>
              </a:rPr>
              <a:t>formal</a:t>
            </a:r>
            <a:r>
              <a:rPr sz="2600" spc="-5" dirty="0">
                <a:latin typeface="Calibri"/>
                <a:cs typeface="Calibri"/>
              </a:rPr>
              <a:t> description</a:t>
            </a:r>
            <a:r>
              <a:rPr sz="2600" spc="-25" dirty="0">
                <a:latin typeface="Calibri"/>
                <a:cs typeface="Calibri"/>
              </a:rPr>
              <a:t> </a:t>
            </a:r>
            <a:r>
              <a:rPr sz="2600" spc="-5" dirty="0">
                <a:latin typeface="Calibri"/>
                <a:cs typeface="Calibri"/>
              </a:rPr>
              <a:t>of </a:t>
            </a:r>
            <a:r>
              <a:rPr sz="2600" dirty="0">
                <a:latin typeface="Calibri"/>
                <a:cs typeface="Calibri"/>
              </a:rPr>
              <a:t>a</a:t>
            </a:r>
            <a:r>
              <a:rPr sz="2600" spc="5" dirty="0">
                <a:latin typeface="Calibri"/>
                <a:cs typeface="Calibri"/>
              </a:rPr>
              <a:t> </a:t>
            </a:r>
            <a:r>
              <a:rPr sz="2600" spc="-10" dirty="0">
                <a:latin typeface="Calibri"/>
                <a:cs typeface="Calibri"/>
              </a:rPr>
              <a:t>problem,</a:t>
            </a:r>
            <a:r>
              <a:rPr sz="2600" spc="-25" dirty="0">
                <a:latin typeface="Calibri"/>
                <a:cs typeface="Calibri"/>
              </a:rPr>
              <a:t> </a:t>
            </a:r>
            <a:r>
              <a:rPr sz="2600" dirty="0">
                <a:latin typeface="Calibri"/>
                <a:cs typeface="Calibri"/>
              </a:rPr>
              <a:t>the</a:t>
            </a:r>
            <a:r>
              <a:rPr sz="2600" spc="-15" dirty="0">
                <a:latin typeface="Calibri"/>
                <a:cs typeface="Calibri"/>
              </a:rPr>
              <a:t> </a:t>
            </a:r>
            <a:r>
              <a:rPr sz="2600" dirty="0">
                <a:latin typeface="Calibri"/>
                <a:cs typeface="Calibri"/>
              </a:rPr>
              <a:t>things </a:t>
            </a:r>
            <a:r>
              <a:rPr sz="2600" spc="-15" dirty="0">
                <a:latin typeface="Calibri"/>
                <a:cs typeface="Calibri"/>
              </a:rPr>
              <a:t>to</a:t>
            </a:r>
            <a:r>
              <a:rPr sz="2600" dirty="0">
                <a:latin typeface="Calibri"/>
                <a:cs typeface="Calibri"/>
              </a:rPr>
              <a:t> </a:t>
            </a:r>
            <a:r>
              <a:rPr sz="2600" spc="-5" dirty="0">
                <a:latin typeface="Calibri"/>
                <a:cs typeface="Calibri"/>
              </a:rPr>
              <a:t>be</a:t>
            </a:r>
            <a:r>
              <a:rPr sz="2600" spc="-20" dirty="0">
                <a:latin typeface="Calibri"/>
                <a:cs typeface="Calibri"/>
              </a:rPr>
              <a:t> </a:t>
            </a:r>
            <a:r>
              <a:rPr sz="2600" spc="-5" dirty="0">
                <a:latin typeface="Calibri"/>
                <a:cs typeface="Calibri"/>
              </a:rPr>
              <a:t>done</a:t>
            </a:r>
            <a:r>
              <a:rPr sz="2600" spc="-15" dirty="0">
                <a:latin typeface="Calibri"/>
                <a:cs typeface="Calibri"/>
              </a:rPr>
              <a:t> </a:t>
            </a:r>
            <a:r>
              <a:rPr sz="2600" spc="-10" dirty="0">
                <a:latin typeface="Calibri"/>
                <a:cs typeface="Calibri"/>
              </a:rPr>
              <a:t>are:</a:t>
            </a:r>
            <a:endParaRPr sz="2600" dirty="0">
              <a:latin typeface="Calibri"/>
              <a:cs typeface="Calibri"/>
            </a:endParaRPr>
          </a:p>
          <a:p>
            <a:pPr marL="241300" marR="248920" indent="-228600">
              <a:lnSpc>
                <a:spcPct val="70000"/>
              </a:lnSpc>
              <a:spcBef>
                <a:spcPts val="994"/>
              </a:spcBef>
              <a:buFont typeface="Arial MT"/>
              <a:buChar char="•"/>
              <a:tabLst>
                <a:tab pos="241300" algn="l"/>
              </a:tabLst>
            </a:pPr>
            <a:r>
              <a:rPr sz="2600" spc="-5" dirty="0">
                <a:latin typeface="Calibri"/>
                <a:cs typeface="Calibri"/>
              </a:rPr>
              <a:t>Define </a:t>
            </a:r>
            <a:r>
              <a:rPr sz="2600" dirty="0">
                <a:latin typeface="Calibri"/>
                <a:cs typeface="Calibri"/>
              </a:rPr>
              <a:t>a </a:t>
            </a:r>
            <a:r>
              <a:rPr sz="2600" spc="-20" dirty="0">
                <a:latin typeface="Calibri"/>
                <a:cs typeface="Calibri"/>
              </a:rPr>
              <a:t>state </a:t>
            </a:r>
            <a:r>
              <a:rPr sz="2600" dirty="0">
                <a:latin typeface="Calibri"/>
                <a:cs typeface="Calibri"/>
              </a:rPr>
              <a:t>space </a:t>
            </a:r>
            <a:r>
              <a:rPr sz="2600" spc="-5" dirty="0">
                <a:latin typeface="Calibri"/>
                <a:cs typeface="Calibri"/>
              </a:rPr>
              <a:t>that </a:t>
            </a:r>
            <a:r>
              <a:rPr sz="2600" spc="-10" dirty="0">
                <a:latin typeface="Calibri"/>
                <a:cs typeface="Calibri"/>
              </a:rPr>
              <a:t>contains </a:t>
            </a:r>
            <a:r>
              <a:rPr sz="2600" dirty="0">
                <a:latin typeface="Calibri"/>
                <a:cs typeface="Calibri"/>
              </a:rPr>
              <a:t>all the </a:t>
            </a:r>
            <a:r>
              <a:rPr sz="2600" spc="-5" dirty="0">
                <a:latin typeface="Calibri"/>
                <a:cs typeface="Calibri"/>
              </a:rPr>
              <a:t>possible </a:t>
            </a:r>
            <a:r>
              <a:rPr sz="2600" spc="-10" dirty="0">
                <a:latin typeface="Calibri"/>
                <a:cs typeface="Calibri"/>
              </a:rPr>
              <a:t>configuration </a:t>
            </a:r>
            <a:r>
              <a:rPr sz="2600" spc="-5" dirty="0">
                <a:latin typeface="Calibri"/>
                <a:cs typeface="Calibri"/>
              </a:rPr>
              <a:t>of </a:t>
            </a:r>
            <a:r>
              <a:rPr sz="2600" dirty="0">
                <a:latin typeface="Calibri"/>
                <a:cs typeface="Calibri"/>
              </a:rPr>
              <a:t>the </a:t>
            </a:r>
            <a:r>
              <a:rPr sz="2600" spc="-15" dirty="0">
                <a:latin typeface="Calibri"/>
                <a:cs typeface="Calibri"/>
              </a:rPr>
              <a:t>relevant </a:t>
            </a:r>
            <a:r>
              <a:rPr sz="2600" spc="-575" dirty="0">
                <a:latin typeface="Calibri"/>
                <a:cs typeface="Calibri"/>
              </a:rPr>
              <a:t> </a:t>
            </a:r>
            <a:r>
              <a:rPr sz="2600" dirty="0">
                <a:latin typeface="Calibri"/>
                <a:cs typeface="Calibri"/>
              </a:rPr>
              <a:t>objects.</a:t>
            </a:r>
          </a:p>
          <a:p>
            <a:pPr marL="241300" marR="319405" indent="-228600">
              <a:lnSpc>
                <a:spcPct val="70100"/>
              </a:lnSpc>
              <a:spcBef>
                <a:spcPts val="1005"/>
              </a:spcBef>
              <a:buFont typeface="Arial MT"/>
              <a:buChar char="•"/>
              <a:tabLst>
                <a:tab pos="241300" algn="l"/>
              </a:tabLst>
            </a:pPr>
            <a:r>
              <a:rPr sz="2600" dirty="0">
                <a:latin typeface="Calibri"/>
                <a:cs typeface="Calibri"/>
              </a:rPr>
              <a:t>Specify one or </a:t>
            </a:r>
            <a:r>
              <a:rPr sz="2600" spc="-10" dirty="0">
                <a:latin typeface="Calibri"/>
                <a:cs typeface="Calibri"/>
              </a:rPr>
              <a:t>more </a:t>
            </a:r>
            <a:r>
              <a:rPr sz="2600" spc="-15" dirty="0">
                <a:latin typeface="Calibri"/>
                <a:cs typeface="Calibri"/>
              </a:rPr>
              <a:t>states </a:t>
            </a:r>
            <a:r>
              <a:rPr sz="2600" dirty="0">
                <a:latin typeface="Calibri"/>
                <a:cs typeface="Calibri"/>
              </a:rPr>
              <a:t>within the space </a:t>
            </a:r>
            <a:r>
              <a:rPr sz="2600" spc="-5" dirty="0">
                <a:latin typeface="Calibri"/>
                <a:cs typeface="Calibri"/>
              </a:rPr>
              <a:t>that </a:t>
            </a:r>
            <a:r>
              <a:rPr sz="2600" dirty="0">
                <a:latin typeface="Calibri"/>
                <a:cs typeface="Calibri"/>
              </a:rPr>
              <a:t>describe </a:t>
            </a:r>
            <a:r>
              <a:rPr sz="2600" spc="-5" dirty="0">
                <a:latin typeface="Calibri"/>
                <a:cs typeface="Calibri"/>
              </a:rPr>
              <a:t>possible situations </a:t>
            </a:r>
            <a:r>
              <a:rPr sz="2600" dirty="0">
                <a:latin typeface="Calibri"/>
                <a:cs typeface="Calibri"/>
              </a:rPr>
              <a:t> </a:t>
            </a:r>
            <a:r>
              <a:rPr sz="2600" spc="-10" dirty="0">
                <a:latin typeface="Calibri"/>
                <a:cs typeface="Calibri"/>
              </a:rPr>
              <a:t>from</a:t>
            </a:r>
            <a:r>
              <a:rPr sz="2600" dirty="0">
                <a:latin typeface="Calibri"/>
                <a:cs typeface="Calibri"/>
              </a:rPr>
              <a:t> which</a:t>
            </a:r>
            <a:r>
              <a:rPr sz="2600" spc="-5" dirty="0">
                <a:latin typeface="Calibri"/>
                <a:cs typeface="Calibri"/>
              </a:rPr>
              <a:t> </a:t>
            </a:r>
            <a:r>
              <a:rPr sz="2600" dirty="0">
                <a:latin typeface="Calibri"/>
                <a:cs typeface="Calibri"/>
              </a:rPr>
              <a:t>the</a:t>
            </a:r>
            <a:r>
              <a:rPr sz="2600" spc="-20" dirty="0">
                <a:latin typeface="Calibri"/>
                <a:cs typeface="Calibri"/>
              </a:rPr>
              <a:t> </a:t>
            </a:r>
            <a:r>
              <a:rPr sz="2600" spc="-10" dirty="0">
                <a:latin typeface="Calibri"/>
                <a:cs typeface="Calibri"/>
              </a:rPr>
              <a:t>problem-solving</a:t>
            </a:r>
            <a:r>
              <a:rPr sz="2600" spc="-15" dirty="0">
                <a:latin typeface="Calibri"/>
                <a:cs typeface="Calibri"/>
              </a:rPr>
              <a:t> </a:t>
            </a:r>
            <a:r>
              <a:rPr sz="2600" spc="-10" dirty="0">
                <a:latin typeface="Calibri"/>
                <a:cs typeface="Calibri"/>
              </a:rPr>
              <a:t>process</a:t>
            </a:r>
            <a:r>
              <a:rPr sz="2600" spc="-35" dirty="0">
                <a:latin typeface="Calibri"/>
                <a:cs typeface="Calibri"/>
              </a:rPr>
              <a:t> </a:t>
            </a:r>
            <a:r>
              <a:rPr sz="2600" spc="-20" dirty="0">
                <a:latin typeface="Calibri"/>
                <a:cs typeface="Calibri"/>
              </a:rPr>
              <a:t>may</a:t>
            </a:r>
            <a:r>
              <a:rPr sz="2600" spc="10" dirty="0">
                <a:latin typeface="Calibri"/>
                <a:cs typeface="Calibri"/>
              </a:rPr>
              <a:t> </a:t>
            </a:r>
            <a:r>
              <a:rPr sz="2600" spc="-10" dirty="0">
                <a:latin typeface="Calibri"/>
                <a:cs typeface="Calibri"/>
              </a:rPr>
              <a:t>start,</a:t>
            </a:r>
            <a:r>
              <a:rPr sz="2600" spc="5" dirty="0">
                <a:latin typeface="Calibri"/>
                <a:cs typeface="Calibri"/>
              </a:rPr>
              <a:t> </a:t>
            </a:r>
            <a:r>
              <a:rPr sz="2600" spc="-5" dirty="0">
                <a:latin typeface="Calibri"/>
                <a:cs typeface="Calibri"/>
              </a:rPr>
              <a:t>known</a:t>
            </a:r>
            <a:r>
              <a:rPr sz="2600" spc="5" dirty="0">
                <a:latin typeface="Calibri"/>
                <a:cs typeface="Calibri"/>
              </a:rPr>
              <a:t> </a:t>
            </a:r>
            <a:r>
              <a:rPr sz="2600" dirty="0">
                <a:latin typeface="Calibri"/>
                <a:cs typeface="Calibri"/>
              </a:rPr>
              <a:t>as</a:t>
            </a:r>
            <a:r>
              <a:rPr sz="2600" spc="-5" dirty="0">
                <a:latin typeface="Calibri"/>
                <a:cs typeface="Calibri"/>
              </a:rPr>
              <a:t> </a:t>
            </a:r>
            <a:r>
              <a:rPr sz="2600" dirty="0">
                <a:latin typeface="Calibri"/>
                <a:cs typeface="Calibri"/>
              </a:rPr>
              <a:t>the</a:t>
            </a:r>
            <a:r>
              <a:rPr sz="2600" spc="-5" dirty="0">
                <a:latin typeface="Calibri"/>
                <a:cs typeface="Calibri"/>
              </a:rPr>
              <a:t> </a:t>
            </a:r>
            <a:r>
              <a:rPr sz="2600" dirty="0">
                <a:latin typeface="Calibri"/>
                <a:cs typeface="Calibri"/>
              </a:rPr>
              <a:t>initial </a:t>
            </a:r>
            <a:r>
              <a:rPr sz="2600" spc="-15" dirty="0">
                <a:latin typeface="Calibri"/>
                <a:cs typeface="Calibri"/>
              </a:rPr>
              <a:t>states.</a:t>
            </a:r>
            <a:endParaRPr sz="2600" dirty="0">
              <a:latin typeface="Calibri"/>
              <a:cs typeface="Calibri"/>
            </a:endParaRPr>
          </a:p>
          <a:p>
            <a:pPr marL="241300" marR="1179830" indent="-228600">
              <a:lnSpc>
                <a:spcPct val="70000"/>
              </a:lnSpc>
              <a:spcBef>
                <a:spcPts val="994"/>
              </a:spcBef>
              <a:buFont typeface="Arial MT"/>
              <a:buChar char="•"/>
              <a:tabLst>
                <a:tab pos="241300" algn="l"/>
              </a:tabLst>
            </a:pPr>
            <a:r>
              <a:rPr sz="2600" dirty="0">
                <a:latin typeface="Calibri"/>
                <a:cs typeface="Calibri"/>
              </a:rPr>
              <a:t>Specify</a:t>
            </a:r>
            <a:r>
              <a:rPr sz="2600" spc="-25" dirty="0">
                <a:latin typeface="Calibri"/>
                <a:cs typeface="Calibri"/>
              </a:rPr>
              <a:t> </a:t>
            </a:r>
            <a:r>
              <a:rPr sz="2600" spc="-5" dirty="0">
                <a:latin typeface="Calibri"/>
                <a:cs typeface="Calibri"/>
              </a:rPr>
              <a:t>one</a:t>
            </a:r>
            <a:r>
              <a:rPr sz="2600" spc="-10" dirty="0">
                <a:latin typeface="Calibri"/>
                <a:cs typeface="Calibri"/>
              </a:rPr>
              <a:t> </a:t>
            </a:r>
            <a:r>
              <a:rPr sz="2600" spc="-5" dirty="0">
                <a:latin typeface="Calibri"/>
                <a:cs typeface="Calibri"/>
              </a:rPr>
              <a:t>or</a:t>
            </a:r>
            <a:r>
              <a:rPr sz="2600" spc="15" dirty="0">
                <a:latin typeface="Calibri"/>
                <a:cs typeface="Calibri"/>
              </a:rPr>
              <a:t> </a:t>
            </a:r>
            <a:r>
              <a:rPr sz="2600" spc="-10" dirty="0">
                <a:latin typeface="Calibri"/>
                <a:cs typeface="Calibri"/>
              </a:rPr>
              <a:t>more</a:t>
            </a:r>
            <a:r>
              <a:rPr sz="2600" spc="5" dirty="0">
                <a:latin typeface="Calibri"/>
                <a:cs typeface="Calibri"/>
              </a:rPr>
              <a:t> </a:t>
            </a:r>
            <a:r>
              <a:rPr sz="2600" spc="-15" dirty="0">
                <a:latin typeface="Calibri"/>
                <a:cs typeface="Calibri"/>
              </a:rPr>
              <a:t>states </a:t>
            </a:r>
            <a:r>
              <a:rPr sz="2600" spc="-5" dirty="0">
                <a:latin typeface="Calibri"/>
                <a:cs typeface="Calibri"/>
              </a:rPr>
              <a:t>that</a:t>
            </a:r>
            <a:r>
              <a:rPr sz="2600" dirty="0">
                <a:latin typeface="Calibri"/>
                <a:cs typeface="Calibri"/>
              </a:rPr>
              <a:t> </a:t>
            </a:r>
            <a:r>
              <a:rPr sz="2600" spc="-10" dirty="0">
                <a:latin typeface="Calibri"/>
                <a:cs typeface="Calibri"/>
              </a:rPr>
              <a:t>would</a:t>
            </a:r>
            <a:r>
              <a:rPr sz="2600" dirty="0">
                <a:latin typeface="Calibri"/>
                <a:cs typeface="Calibri"/>
              </a:rPr>
              <a:t> be</a:t>
            </a:r>
            <a:r>
              <a:rPr sz="2600" spc="-5" dirty="0">
                <a:latin typeface="Calibri"/>
                <a:cs typeface="Calibri"/>
              </a:rPr>
              <a:t> acceptable</a:t>
            </a:r>
            <a:r>
              <a:rPr sz="2600" spc="-30" dirty="0">
                <a:latin typeface="Calibri"/>
                <a:cs typeface="Calibri"/>
              </a:rPr>
              <a:t> </a:t>
            </a:r>
            <a:r>
              <a:rPr sz="2600" dirty="0">
                <a:latin typeface="Calibri"/>
                <a:cs typeface="Calibri"/>
              </a:rPr>
              <a:t>as</a:t>
            </a:r>
            <a:r>
              <a:rPr sz="2600" spc="5" dirty="0">
                <a:latin typeface="Calibri"/>
                <a:cs typeface="Calibri"/>
              </a:rPr>
              <a:t> </a:t>
            </a:r>
            <a:r>
              <a:rPr sz="2600" dirty="0">
                <a:latin typeface="Calibri"/>
                <a:cs typeface="Calibri"/>
              </a:rPr>
              <a:t>solutions</a:t>
            </a:r>
            <a:r>
              <a:rPr sz="2600" spc="5" dirty="0">
                <a:latin typeface="Calibri"/>
                <a:cs typeface="Calibri"/>
              </a:rPr>
              <a:t> </a:t>
            </a:r>
            <a:r>
              <a:rPr sz="2600" spc="-15" dirty="0">
                <a:latin typeface="Calibri"/>
                <a:cs typeface="Calibri"/>
              </a:rPr>
              <a:t>to</a:t>
            </a:r>
            <a:r>
              <a:rPr sz="2600" spc="-5" dirty="0">
                <a:latin typeface="Calibri"/>
                <a:cs typeface="Calibri"/>
              </a:rPr>
              <a:t> </a:t>
            </a:r>
            <a:r>
              <a:rPr sz="2600" dirty="0">
                <a:latin typeface="Calibri"/>
                <a:cs typeface="Calibri"/>
              </a:rPr>
              <a:t>the </a:t>
            </a:r>
            <a:r>
              <a:rPr sz="2600" spc="-570" dirty="0">
                <a:latin typeface="Calibri"/>
                <a:cs typeface="Calibri"/>
              </a:rPr>
              <a:t> </a:t>
            </a:r>
            <a:r>
              <a:rPr sz="2600" spc="-5" dirty="0">
                <a:latin typeface="Calibri"/>
                <a:cs typeface="Calibri"/>
              </a:rPr>
              <a:t>problem,</a:t>
            </a:r>
            <a:r>
              <a:rPr sz="2600" spc="-25" dirty="0">
                <a:latin typeface="Calibri"/>
                <a:cs typeface="Calibri"/>
              </a:rPr>
              <a:t> </a:t>
            </a:r>
            <a:r>
              <a:rPr sz="2600" dirty="0">
                <a:latin typeface="Calibri"/>
                <a:cs typeface="Calibri"/>
              </a:rPr>
              <a:t>known as</a:t>
            </a:r>
            <a:r>
              <a:rPr sz="2600" spc="-10" dirty="0">
                <a:latin typeface="Calibri"/>
                <a:cs typeface="Calibri"/>
              </a:rPr>
              <a:t> </a:t>
            </a:r>
            <a:r>
              <a:rPr sz="2600" dirty="0">
                <a:latin typeface="Calibri"/>
                <a:cs typeface="Calibri"/>
              </a:rPr>
              <a:t>the </a:t>
            </a:r>
            <a:r>
              <a:rPr sz="2600" spc="-5" dirty="0">
                <a:latin typeface="Calibri"/>
                <a:cs typeface="Calibri"/>
              </a:rPr>
              <a:t>goal </a:t>
            </a:r>
            <a:r>
              <a:rPr sz="2600" spc="-15" dirty="0">
                <a:latin typeface="Calibri"/>
                <a:cs typeface="Calibri"/>
              </a:rPr>
              <a:t>states</a:t>
            </a:r>
            <a:r>
              <a:rPr sz="2600" spc="-20" dirty="0">
                <a:latin typeface="Calibri"/>
                <a:cs typeface="Calibri"/>
              </a:rPr>
              <a:t> </a:t>
            </a:r>
            <a:r>
              <a:rPr sz="2600" dirty="0">
                <a:latin typeface="Calibri"/>
                <a:cs typeface="Calibri"/>
              </a:rPr>
              <a:t>or</a:t>
            </a:r>
            <a:r>
              <a:rPr sz="2600" spc="-5" dirty="0">
                <a:latin typeface="Calibri"/>
                <a:cs typeface="Calibri"/>
              </a:rPr>
              <a:t> final </a:t>
            </a:r>
            <a:r>
              <a:rPr sz="2600" spc="-15" dirty="0">
                <a:latin typeface="Calibri"/>
                <a:cs typeface="Calibri"/>
              </a:rPr>
              <a:t>states.</a:t>
            </a:r>
            <a:endParaRPr sz="2600" dirty="0">
              <a:latin typeface="Calibri"/>
              <a:cs typeface="Calibri"/>
            </a:endParaRPr>
          </a:p>
          <a:p>
            <a:pPr marL="241300" marR="5080" indent="-228600">
              <a:lnSpc>
                <a:spcPct val="70000"/>
              </a:lnSpc>
              <a:spcBef>
                <a:spcPts val="1000"/>
              </a:spcBef>
              <a:buFont typeface="Arial MT"/>
              <a:buChar char="•"/>
              <a:tabLst>
                <a:tab pos="241300" algn="l"/>
              </a:tabLst>
            </a:pPr>
            <a:r>
              <a:rPr sz="2600" dirty="0">
                <a:latin typeface="Calibri"/>
                <a:cs typeface="Calibri"/>
              </a:rPr>
              <a:t>Specify</a:t>
            </a:r>
            <a:r>
              <a:rPr sz="2600" spc="-20" dirty="0">
                <a:latin typeface="Calibri"/>
                <a:cs typeface="Calibri"/>
              </a:rPr>
              <a:t> </a:t>
            </a:r>
            <a:r>
              <a:rPr sz="2600" dirty="0">
                <a:latin typeface="Calibri"/>
                <a:cs typeface="Calibri"/>
              </a:rPr>
              <a:t>a</a:t>
            </a:r>
            <a:r>
              <a:rPr sz="2600" spc="10" dirty="0">
                <a:latin typeface="Calibri"/>
                <a:cs typeface="Calibri"/>
              </a:rPr>
              <a:t> </a:t>
            </a:r>
            <a:r>
              <a:rPr sz="2600" spc="-5" dirty="0">
                <a:latin typeface="Calibri"/>
                <a:cs typeface="Calibri"/>
              </a:rPr>
              <a:t>set</a:t>
            </a:r>
            <a:r>
              <a:rPr sz="2600" spc="-10" dirty="0">
                <a:latin typeface="Calibri"/>
                <a:cs typeface="Calibri"/>
              </a:rPr>
              <a:t> </a:t>
            </a:r>
            <a:r>
              <a:rPr sz="2600" spc="-5" dirty="0">
                <a:latin typeface="Calibri"/>
                <a:cs typeface="Calibri"/>
              </a:rPr>
              <a:t>of</a:t>
            </a:r>
            <a:r>
              <a:rPr sz="2600" spc="5" dirty="0">
                <a:latin typeface="Calibri"/>
                <a:cs typeface="Calibri"/>
              </a:rPr>
              <a:t> </a:t>
            </a:r>
            <a:r>
              <a:rPr sz="2600" dirty="0">
                <a:latin typeface="Calibri"/>
                <a:cs typeface="Calibri"/>
              </a:rPr>
              <a:t>rules</a:t>
            </a:r>
            <a:r>
              <a:rPr sz="2600" spc="-15" dirty="0">
                <a:latin typeface="Calibri"/>
                <a:cs typeface="Calibri"/>
              </a:rPr>
              <a:t> </a:t>
            </a:r>
            <a:r>
              <a:rPr sz="2600" spc="-5" dirty="0">
                <a:latin typeface="Calibri"/>
                <a:cs typeface="Calibri"/>
              </a:rPr>
              <a:t>that</a:t>
            </a:r>
            <a:r>
              <a:rPr sz="2600" spc="5" dirty="0">
                <a:latin typeface="Calibri"/>
                <a:cs typeface="Calibri"/>
              </a:rPr>
              <a:t> </a:t>
            </a:r>
            <a:r>
              <a:rPr sz="2600" spc="-5" dirty="0">
                <a:latin typeface="Calibri"/>
                <a:cs typeface="Calibri"/>
              </a:rPr>
              <a:t>describe</a:t>
            </a:r>
            <a:r>
              <a:rPr sz="2600" spc="-20" dirty="0">
                <a:latin typeface="Calibri"/>
                <a:cs typeface="Calibri"/>
              </a:rPr>
              <a:t> </a:t>
            </a:r>
            <a:r>
              <a:rPr sz="2600" dirty="0">
                <a:latin typeface="Calibri"/>
                <a:cs typeface="Calibri"/>
              </a:rPr>
              <a:t>the</a:t>
            </a:r>
            <a:r>
              <a:rPr sz="2600" spc="-5" dirty="0">
                <a:latin typeface="Calibri"/>
                <a:cs typeface="Calibri"/>
              </a:rPr>
              <a:t> </a:t>
            </a:r>
            <a:r>
              <a:rPr sz="2600" dirty="0">
                <a:latin typeface="Calibri"/>
                <a:cs typeface="Calibri"/>
              </a:rPr>
              <a:t>actions </a:t>
            </a:r>
            <a:r>
              <a:rPr sz="2600" spc="-15" dirty="0">
                <a:latin typeface="Calibri"/>
                <a:cs typeface="Calibri"/>
              </a:rPr>
              <a:t>(operators)</a:t>
            </a:r>
            <a:r>
              <a:rPr sz="2600" spc="5" dirty="0">
                <a:latin typeface="Calibri"/>
                <a:cs typeface="Calibri"/>
              </a:rPr>
              <a:t> </a:t>
            </a:r>
            <a:r>
              <a:rPr sz="2600" spc="-10" dirty="0">
                <a:latin typeface="Calibri"/>
                <a:cs typeface="Calibri"/>
              </a:rPr>
              <a:t>available.</a:t>
            </a:r>
            <a:r>
              <a:rPr sz="2600" dirty="0">
                <a:latin typeface="Calibri"/>
                <a:cs typeface="Calibri"/>
              </a:rPr>
              <a:t> While </a:t>
            </a:r>
            <a:r>
              <a:rPr sz="2600" spc="-5" dirty="0">
                <a:latin typeface="Calibri"/>
                <a:cs typeface="Calibri"/>
              </a:rPr>
              <a:t>doing </a:t>
            </a:r>
            <a:r>
              <a:rPr sz="2600" spc="-575" dirty="0">
                <a:latin typeface="Calibri"/>
                <a:cs typeface="Calibri"/>
              </a:rPr>
              <a:t> </a:t>
            </a:r>
            <a:r>
              <a:rPr sz="2600" dirty="0">
                <a:latin typeface="Calibri"/>
                <a:cs typeface="Calibri"/>
              </a:rPr>
              <a:t>these,</a:t>
            </a:r>
            <a:r>
              <a:rPr sz="2600" spc="-25" dirty="0">
                <a:latin typeface="Calibri"/>
                <a:cs typeface="Calibri"/>
              </a:rPr>
              <a:t> </a:t>
            </a:r>
            <a:r>
              <a:rPr sz="2600" dirty="0">
                <a:latin typeface="Calibri"/>
                <a:cs typeface="Calibri"/>
              </a:rPr>
              <a:t>the</a:t>
            </a:r>
            <a:r>
              <a:rPr sz="2600" spc="-25" dirty="0">
                <a:latin typeface="Calibri"/>
                <a:cs typeface="Calibri"/>
              </a:rPr>
              <a:t> </a:t>
            </a:r>
            <a:r>
              <a:rPr sz="2600" spc="-10" dirty="0">
                <a:latin typeface="Calibri"/>
                <a:cs typeface="Calibri"/>
              </a:rPr>
              <a:t>following</a:t>
            </a:r>
            <a:r>
              <a:rPr sz="2600" spc="10" dirty="0">
                <a:latin typeface="Calibri"/>
                <a:cs typeface="Calibri"/>
              </a:rPr>
              <a:t> </a:t>
            </a:r>
            <a:r>
              <a:rPr sz="2600" dirty="0">
                <a:latin typeface="Calibri"/>
                <a:cs typeface="Calibri"/>
              </a:rPr>
              <a:t>issues</a:t>
            </a:r>
            <a:r>
              <a:rPr sz="2600" spc="-30" dirty="0">
                <a:latin typeface="Calibri"/>
                <a:cs typeface="Calibri"/>
              </a:rPr>
              <a:t> </a:t>
            </a:r>
            <a:r>
              <a:rPr sz="2600" spc="-10" dirty="0">
                <a:latin typeface="Calibri"/>
                <a:cs typeface="Calibri"/>
              </a:rPr>
              <a:t>are</a:t>
            </a:r>
            <a:r>
              <a:rPr sz="2600" dirty="0">
                <a:latin typeface="Calibri"/>
                <a:cs typeface="Calibri"/>
              </a:rPr>
              <a:t> </a:t>
            </a:r>
            <a:r>
              <a:rPr sz="2600" spc="-10" dirty="0">
                <a:latin typeface="Calibri"/>
                <a:cs typeface="Calibri"/>
              </a:rPr>
              <a:t>to</a:t>
            </a:r>
            <a:r>
              <a:rPr sz="2600" spc="-5" dirty="0">
                <a:latin typeface="Calibri"/>
                <a:cs typeface="Calibri"/>
              </a:rPr>
              <a:t> be</a:t>
            </a:r>
            <a:r>
              <a:rPr sz="2600" spc="-15" dirty="0">
                <a:latin typeface="Calibri"/>
                <a:cs typeface="Calibri"/>
              </a:rPr>
              <a:t> </a:t>
            </a:r>
            <a:r>
              <a:rPr sz="2600" spc="-5" dirty="0">
                <a:latin typeface="Calibri"/>
                <a:cs typeface="Calibri"/>
              </a:rPr>
              <a:t>highlighted:</a:t>
            </a:r>
            <a:endParaRPr sz="2600" dirty="0">
              <a:latin typeface="Calibri"/>
              <a:cs typeface="Calibri"/>
            </a:endParaRPr>
          </a:p>
          <a:p>
            <a:pPr marL="698500" lvl="1" indent="-229235">
              <a:lnSpc>
                <a:spcPts val="2210"/>
              </a:lnSpc>
              <a:buFont typeface="Arial MT"/>
              <a:buChar char="•"/>
              <a:tabLst>
                <a:tab pos="698500" algn="l"/>
                <a:tab pos="699135" algn="l"/>
              </a:tabLst>
            </a:pPr>
            <a:r>
              <a:rPr sz="2200" spc="-10" dirty="0">
                <a:latin typeface="Calibri"/>
                <a:cs typeface="Calibri"/>
              </a:rPr>
              <a:t>What</a:t>
            </a:r>
            <a:r>
              <a:rPr sz="2200" dirty="0">
                <a:latin typeface="Calibri"/>
                <a:cs typeface="Calibri"/>
              </a:rPr>
              <a:t> </a:t>
            </a:r>
            <a:r>
              <a:rPr sz="2200" spc="-20" dirty="0">
                <a:latin typeface="Calibri"/>
                <a:cs typeface="Calibri"/>
              </a:rPr>
              <a:t>unstated</a:t>
            </a:r>
            <a:r>
              <a:rPr sz="2200" spc="10" dirty="0">
                <a:latin typeface="Calibri"/>
                <a:cs typeface="Calibri"/>
              </a:rPr>
              <a:t> </a:t>
            </a:r>
            <a:r>
              <a:rPr sz="2200" spc="-5" dirty="0">
                <a:latin typeface="Calibri"/>
                <a:cs typeface="Calibri"/>
              </a:rPr>
              <a:t>assumptions</a:t>
            </a:r>
            <a:r>
              <a:rPr sz="2200" spc="20" dirty="0">
                <a:latin typeface="Calibri"/>
                <a:cs typeface="Calibri"/>
              </a:rPr>
              <a:t> </a:t>
            </a:r>
            <a:r>
              <a:rPr sz="2200" spc="-10" dirty="0">
                <a:latin typeface="Calibri"/>
                <a:cs typeface="Calibri"/>
              </a:rPr>
              <a:t>are</a:t>
            </a:r>
            <a:r>
              <a:rPr sz="2200" spc="10" dirty="0">
                <a:latin typeface="Calibri"/>
                <a:cs typeface="Calibri"/>
              </a:rPr>
              <a:t> </a:t>
            </a:r>
            <a:r>
              <a:rPr sz="2200" spc="-15" dirty="0">
                <a:latin typeface="Calibri"/>
                <a:cs typeface="Calibri"/>
              </a:rPr>
              <a:t>present</a:t>
            </a:r>
            <a:r>
              <a:rPr sz="2200" spc="5" dirty="0">
                <a:latin typeface="Calibri"/>
                <a:cs typeface="Calibri"/>
              </a:rPr>
              <a:t> </a:t>
            </a:r>
            <a:r>
              <a:rPr sz="2200" spc="-5" dirty="0">
                <a:latin typeface="Calibri"/>
                <a:cs typeface="Calibri"/>
              </a:rPr>
              <a:t>in</a:t>
            </a:r>
            <a:r>
              <a:rPr sz="2200" spc="10" dirty="0">
                <a:latin typeface="Calibri"/>
                <a:cs typeface="Calibri"/>
              </a:rPr>
              <a:t> </a:t>
            </a:r>
            <a:r>
              <a:rPr sz="2200" spc="-10" dirty="0">
                <a:latin typeface="Calibri"/>
                <a:cs typeface="Calibri"/>
              </a:rPr>
              <a:t>the</a:t>
            </a:r>
            <a:r>
              <a:rPr sz="2200" spc="25" dirty="0">
                <a:latin typeface="Calibri"/>
                <a:cs typeface="Calibri"/>
              </a:rPr>
              <a:t> </a:t>
            </a:r>
            <a:r>
              <a:rPr sz="2200" spc="-10" dirty="0">
                <a:latin typeface="Calibri"/>
                <a:cs typeface="Calibri"/>
              </a:rPr>
              <a:t>informal</a:t>
            </a:r>
            <a:r>
              <a:rPr sz="2200" spc="10" dirty="0">
                <a:latin typeface="Calibri"/>
                <a:cs typeface="Calibri"/>
              </a:rPr>
              <a:t> </a:t>
            </a:r>
            <a:r>
              <a:rPr sz="2200" spc="-15" dirty="0">
                <a:latin typeface="Calibri"/>
                <a:cs typeface="Calibri"/>
              </a:rPr>
              <a:t>problem</a:t>
            </a:r>
            <a:r>
              <a:rPr sz="2200" spc="5" dirty="0">
                <a:latin typeface="Calibri"/>
                <a:cs typeface="Calibri"/>
              </a:rPr>
              <a:t> </a:t>
            </a:r>
            <a:r>
              <a:rPr sz="2200" spc="-10" dirty="0">
                <a:latin typeface="Calibri"/>
                <a:cs typeface="Calibri"/>
              </a:rPr>
              <a:t>description?</a:t>
            </a:r>
            <a:endParaRPr sz="2200" dirty="0">
              <a:latin typeface="Calibri"/>
              <a:cs typeface="Calibri"/>
            </a:endParaRPr>
          </a:p>
          <a:p>
            <a:pPr marL="698500" lvl="1" indent="-229235">
              <a:lnSpc>
                <a:spcPts val="2345"/>
              </a:lnSpc>
              <a:buFont typeface="Arial MT"/>
              <a:buChar char="•"/>
              <a:tabLst>
                <a:tab pos="698500" algn="l"/>
                <a:tab pos="699135" algn="l"/>
              </a:tabLst>
            </a:pPr>
            <a:r>
              <a:rPr sz="2200" spc="-10" dirty="0">
                <a:latin typeface="Calibri"/>
                <a:cs typeface="Calibri"/>
              </a:rPr>
              <a:t>How</a:t>
            </a:r>
            <a:r>
              <a:rPr sz="2200" spc="10" dirty="0">
                <a:latin typeface="Calibri"/>
                <a:cs typeface="Calibri"/>
              </a:rPr>
              <a:t> </a:t>
            </a:r>
            <a:r>
              <a:rPr sz="2200" spc="-5" dirty="0">
                <a:latin typeface="Calibri"/>
                <a:cs typeface="Calibri"/>
              </a:rPr>
              <a:t>much</a:t>
            </a:r>
            <a:r>
              <a:rPr sz="2200" spc="-10"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rules</a:t>
            </a:r>
            <a:r>
              <a:rPr sz="2200" dirty="0">
                <a:latin typeface="Calibri"/>
                <a:cs typeface="Calibri"/>
              </a:rPr>
              <a:t> </a:t>
            </a:r>
            <a:r>
              <a:rPr sz="2200" spc="-5" dirty="0">
                <a:latin typeface="Calibri"/>
                <a:cs typeface="Calibri"/>
              </a:rPr>
              <a:t>should</a:t>
            </a:r>
            <a:r>
              <a:rPr sz="2200" spc="-30" dirty="0">
                <a:latin typeface="Calibri"/>
                <a:cs typeface="Calibri"/>
              </a:rPr>
              <a:t> </a:t>
            </a:r>
            <a:r>
              <a:rPr sz="2200" spc="-5" dirty="0">
                <a:latin typeface="Calibri"/>
                <a:cs typeface="Calibri"/>
              </a:rPr>
              <a:t>be</a:t>
            </a:r>
            <a:r>
              <a:rPr sz="2200" dirty="0">
                <a:latin typeface="Calibri"/>
                <a:cs typeface="Calibri"/>
              </a:rPr>
              <a:t> </a:t>
            </a:r>
            <a:r>
              <a:rPr sz="2200" spc="-15" dirty="0">
                <a:latin typeface="Calibri"/>
                <a:cs typeface="Calibri"/>
              </a:rPr>
              <a:t>generalized?</a:t>
            </a:r>
            <a:endParaRPr sz="2200" dirty="0">
              <a:latin typeface="Calibri"/>
              <a:cs typeface="Calibri"/>
            </a:endParaRPr>
          </a:p>
          <a:p>
            <a:pPr marL="698500" marR="946785" lvl="1" indent="-228600">
              <a:lnSpc>
                <a:spcPct val="70000"/>
              </a:lnSpc>
              <a:spcBef>
                <a:spcPts val="640"/>
              </a:spcBef>
              <a:buFont typeface="Arial MT"/>
              <a:buChar char="•"/>
              <a:tabLst>
                <a:tab pos="698500" algn="l"/>
                <a:tab pos="699135" algn="l"/>
              </a:tabLst>
            </a:pPr>
            <a:r>
              <a:rPr sz="2200" spc="-10" dirty="0">
                <a:latin typeface="Calibri"/>
                <a:cs typeface="Calibri"/>
              </a:rPr>
              <a:t>How</a:t>
            </a:r>
            <a:r>
              <a:rPr sz="2200" spc="15" dirty="0">
                <a:latin typeface="Calibri"/>
                <a:cs typeface="Calibri"/>
              </a:rPr>
              <a:t> </a:t>
            </a:r>
            <a:r>
              <a:rPr sz="2200" spc="-5" dirty="0">
                <a:latin typeface="Calibri"/>
                <a:cs typeface="Calibri"/>
              </a:rPr>
              <a:t>much</a:t>
            </a:r>
            <a:r>
              <a:rPr sz="2200" spc="10" dirty="0">
                <a:latin typeface="Calibri"/>
                <a:cs typeface="Calibri"/>
              </a:rPr>
              <a:t> </a:t>
            </a:r>
            <a:r>
              <a:rPr sz="2200" spc="-5" dirty="0">
                <a:latin typeface="Calibri"/>
                <a:cs typeface="Calibri"/>
              </a:rPr>
              <a:t>of</a:t>
            </a:r>
            <a:r>
              <a:rPr sz="2200" spc="15" dirty="0">
                <a:latin typeface="Calibri"/>
                <a:cs typeface="Calibri"/>
              </a:rPr>
              <a:t> </a:t>
            </a:r>
            <a:r>
              <a:rPr sz="2200" spc="-5" dirty="0">
                <a:latin typeface="Calibri"/>
                <a:cs typeface="Calibri"/>
              </a:rPr>
              <a:t>the</a:t>
            </a:r>
            <a:r>
              <a:rPr sz="2200" spc="5" dirty="0">
                <a:latin typeface="Calibri"/>
                <a:cs typeface="Calibri"/>
              </a:rPr>
              <a:t> </a:t>
            </a:r>
            <a:r>
              <a:rPr sz="2200" spc="-10" dirty="0">
                <a:latin typeface="Calibri"/>
                <a:cs typeface="Calibri"/>
              </a:rPr>
              <a:t>work</a:t>
            </a:r>
            <a:r>
              <a:rPr sz="2200" spc="5" dirty="0">
                <a:latin typeface="Calibri"/>
                <a:cs typeface="Calibri"/>
              </a:rPr>
              <a:t> </a:t>
            </a:r>
            <a:r>
              <a:rPr sz="2200" spc="-10" dirty="0">
                <a:latin typeface="Calibri"/>
                <a:cs typeface="Calibri"/>
              </a:rPr>
              <a:t>required</a:t>
            </a:r>
            <a:r>
              <a:rPr sz="2200" dirty="0">
                <a:latin typeface="Calibri"/>
                <a:cs typeface="Calibri"/>
              </a:rPr>
              <a:t> </a:t>
            </a:r>
            <a:r>
              <a:rPr sz="2200" spc="-5" dirty="0">
                <a:latin typeface="Calibri"/>
                <a:cs typeface="Calibri"/>
              </a:rPr>
              <a:t>solving</a:t>
            </a:r>
            <a:r>
              <a:rPr sz="2200" spc="-10" dirty="0">
                <a:latin typeface="Calibri"/>
                <a:cs typeface="Calibri"/>
              </a:rPr>
              <a:t> </a:t>
            </a:r>
            <a:r>
              <a:rPr sz="2200" spc="-5" dirty="0">
                <a:latin typeface="Calibri"/>
                <a:cs typeface="Calibri"/>
              </a:rPr>
              <a:t>the</a:t>
            </a:r>
            <a:r>
              <a:rPr sz="2200" spc="20" dirty="0">
                <a:latin typeface="Calibri"/>
                <a:cs typeface="Calibri"/>
              </a:rPr>
              <a:t> </a:t>
            </a:r>
            <a:r>
              <a:rPr sz="2200" spc="-15" dirty="0">
                <a:latin typeface="Calibri"/>
                <a:cs typeface="Calibri"/>
              </a:rPr>
              <a:t>problem</a:t>
            </a:r>
            <a:r>
              <a:rPr sz="2200" dirty="0">
                <a:latin typeface="Calibri"/>
                <a:cs typeface="Calibri"/>
              </a:rPr>
              <a:t> </a:t>
            </a:r>
            <a:r>
              <a:rPr sz="2200" spc="-10" dirty="0">
                <a:latin typeface="Calibri"/>
                <a:cs typeface="Calibri"/>
              </a:rPr>
              <a:t>should </a:t>
            </a:r>
            <a:r>
              <a:rPr sz="2200" spc="-5" dirty="0">
                <a:latin typeface="Calibri"/>
                <a:cs typeface="Calibri"/>
              </a:rPr>
              <a:t>be</a:t>
            </a:r>
            <a:r>
              <a:rPr sz="2200" spc="5" dirty="0">
                <a:latin typeface="Calibri"/>
                <a:cs typeface="Calibri"/>
              </a:rPr>
              <a:t> </a:t>
            </a:r>
            <a:r>
              <a:rPr sz="2200" spc="-5" dirty="0">
                <a:latin typeface="Calibri"/>
                <a:cs typeface="Calibri"/>
              </a:rPr>
              <a:t>pre-</a:t>
            </a:r>
            <a:r>
              <a:rPr sz="2200" spc="15" dirty="0">
                <a:latin typeface="Calibri"/>
                <a:cs typeface="Calibri"/>
              </a:rPr>
              <a:t> </a:t>
            </a:r>
            <a:r>
              <a:rPr sz="2200" spc="-15" dirty="0">
                <a:latin typeface="Calibri"/>
                <a:cs typeface="Calibri"/>
              </a:rPr>
              <a:t>computed</a:t>
            </a:r>
            <a:r>
              <a:rPr sz="2200" spc="30" dirty="0">
                <a:latin typeface="Calibri"/>
                <a:cs typeface="Calibri"/>
              </a:rPr>
              <a:t> </a:t>
            </a:r>
            <a:r>
              <a:rPr sz="2200" spc="-5" dirty="0">
                <a:latin typeface="Calibri"/>
                <a:cs typeface="Calibri"/>
              </a:rPr>
              <a:t>and </a:t>
            </a:r>
            <a:r>
              <a:rPr sz="2200" spc="-480" dirty="0">
                <a:latin typeface="Calibri"/>
                <a:cs typeface="Calibri"/>
              </a:rPr>
              <a:t> </a:t>
            </a:r>
            <a:r>
              <a:rPr sz="2200" spc="-15" dirty="0">
                <a:latin typeface="Calibri"/>
                <a:cs typeface="Calibri"/>
              </a:rPr>
              <a:t>represented</a:t>
            </a:r>
            <a:r>
              <a:rPr sz="2200" spc="10" dirty="0">
                <a:latin typeface="Calibri"/>
                <a:cs typeface="Calibri"/>
              </a:rPr>
              <a:t> </a:t>
            </a:r>
            <a:r>
              <a:rPr sz="2200" spc="-5" dirty="0">
                <a:latin typeface="Calibri"/>
                <a:cs typeface="Calibri"/>
              </a:rPr>
              <a:t>in</a:t>
            </a:r>
            <a:r>
              <a:rPr sz="2200" dirty="0">
                <a:latin typeface="Calibri"/>
                <a:cs typeface="Calibri"/>
              </a:rPr>
              <a:t> </a:t>
            </a:r>
            <a:r>
              <a:rPr sz="2200" spc="-10" dirty="0">
                <a:latin typeface="Calibri"/>
                <a:cs typeface="Calibri"/>
              </a:rPr>
              <a:t>the</a:t>
            </a:r>
            <a:r>
              <a:rPr sz="2200" spc="10" dirty="0">
                <a:latin typeface="Calibri"/>
                <a:cs typeface="Calibri"/>
              </a:rPr>
              <a:t> </a:t>
            </a:r>
            <a:r>
              <a:rPr sz="2200" spc="-5" dirty="0">
                <a:latin typeface="Calibri"/>
                <a:cs typeface="Calibri"/>
              </a:rPr>
              <a:t>rules.</a:t>
            </a:r>
            <a:endParaRPr sz="22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3F5F61-1D75-4ABD-AABF-07B304476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92" y="-12357"/>
            <a:ext cx="6598508" cy="6336957"/>
          </a:xfrm>
          <a:prstGeom prst="rect">
            <a:avLst/>
          </a:prstGeom>
        </p:spPr>
      </p:pic>
      <p:sp>
        <p:nvSpPr>
          <p:cNvPr id="4" name="TextBox 3">
            <a:extLst>
              <a:ext uri="{FF2B5EF4-FFF2-40B4-BE49-F238E27FC236}">
                <a16:creationId xmlns:a16="http://schemas.microsoft.com/office/drawing/2014/main" id="{4720B591-A195-42E2-BC7D-B9617B3445FB}"/>
              </a:ext>
            </a:extLst>
          </p:cNvPr>
          <p:cNvSpPr txBox="1"/>
          <p:nvPr/>
        </p:nvSpPr>
        <p:spPr>
          <a:xfrm>
            <a:off x="6858000" y="1219201"/>
            <a:ext cx="5303108" cy="1200329"/>
          </a:xfrm>
          <a:prstGeom prst="rect">
            <a:avLst/>
          </a:prstGeom>
          <a:noFill/>
        </p:spPr>
        <p:txBody>
          <a:bodyPr wrap="square">
            <a:spAutoFit/>
          </a:bodyPr>
          <a:lstStyle/>
          <a:p>
            <a:r>
              <a:rPr lang="en-US" dirty="0"/>
              <a:t>The five problem characteristics were: (1) </a:t>
            </a:r>
            <a:r>
              <a:rPr lang="en-US" b="1" dirty="0"/>
              <a:t>problem clarity</a:t>
            </a:r>
            <a:r>
              <a:rPr lang="en-US" dirty="0"/>
              <a:t>, (2) problem familiarity, (3) the extent to which the problem stimulated group discussion, (4) self-study, and (5) identification of learning goals</a:t>
            </a:r>
          </a:p>
        </p:txBody>
      </p:sp>
    </p:spTree>
    <p:extLst>
      <p:ext uri="{BB962C8B-B14F-4D97-AF65-F5344CB8AC3E}">
        <p14:creationId xmlns:p14="http://schemas.microsoft.com/office/powerpoint/2010/main" val="2586673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317490" cy="697230"/>
          </a:xfrm>
          <a:prstGeom prst="rect">
            <a:avLst/>
          </a:prstGeom>
        </p:spPr>
        <p:txBody>
          <a:bodyPr vert="horz" wrap="square" lIns="0" tIns="13335" rIns="0" bIns="0" rtlCol="0">
            <a:spAutoFit/>
          </a:bodyPr>
          <a:lstStyle/>
          <a:p>
            <a:pPr marL="12700">
              <a:lnSpc>
                <a:spcPct val="100000"/>
              </a:lnSpc>
              <a:spcBef>
                <a:spcPts val="105"/>
              </a:spcBef>
            </a:pPr>
            <a:r>
              <a:rPr spc="-20" dirty="0"/>
              <a:t>Problem</a:t>
            </a:r>
            <a:r>
              <a:rPr spc="-40" dirty="0"/>
              <a:t> </a:t>
            </a:r>
            <a:r>
              <a:rPr spc="-15" dirty="0"/>
              <a:t>Characteristics</a:t>
            </a:r>
          </a:p>
        </p:txBody>
      </p:sp>
      <p:sp>
        <p:nvSpPr>
          <p:cNvPr id="3" name="object 3"/>
          <p:cNvSpPr txBox="1"/>
          <p:nvPr/>
        </p:nvSpPr>
        <p:spPr>
          <a:xfrm>
            <a:off x="916939" y="1706841"/>
            <a:ext cx="7762240" cy="4605748"/>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What</a:t>
            </a:r>
            <a:r>
              <a:rPr sz="2800" spc="1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possibility</a:t>
            </a:r>
            <a:r>
              <a:rPr sz="2800" spc="60" dirty="0">
                <a:latin typeface="Calibri"/>
                <a:cs typeface="Calibri"/>
              </a:rPr>
              <a:t> </a:t>
            </a:r>
            <a:r>
              <a:rPr sz="2800" spc="-5" dirty="0">
                <a:latin typeface="Calibri"/>
                <a:cs typeface="Calibri"/>
              </a:rPr>
              <a:t>in</a:t>
            </a:r>
            <a:r>
              <a:rPr sz="2800" spc="15" dirty="0">
                <a:latin typeface="Calibri"/>
                <a:cs typeface="Calibri"/>
              </a:rPr>
              <a:t> </a:t>
            </a:r>
            <a:r>
              <a:rPr sz="2800" spc="-10" dirty="0">
                <a:latin typeface="Calibri"/>
                <a:cs typeface="Calibri"/>
              </a:rPr>
              <a:t>terms</a:t>
            </a:r>
            <a:r>
              <a:rPr sz="2800" spc="5" dirty="0">
                <a:latin typeface="Calibri"/>
                <a:cs typeface="Calibri"/>
              </a:rPr>
              <a:t> </a:t>
            </a:r>
            <a:r>
              <a:rPr sz="2800" spc="-5" dirty="0">
                <a:latin typeface="Calibri"/>
                <a:cs typeface="Calibri"/>
              </a:rPr>
              <a:t>of</a:t>
            </a:r>
            <a:r>
              <a:rPr sz="2800" spc="-75" dirty="0">
                <a:latin typeface="Calibri"/>
                <a:cs typeface="Calibri"/>
              </a:rPr>
              <a:t> </a:t>
            </a:r>
            <a:r>
              <a:rPr sz="2800" b="1" spc="-5" dirty="0">
                <a:latin typeface="Calibri"/>
                <a:cs typeface="Calibri"/>
              </a:rPr>
              <a:t>decomposability</a:t>
            </a:r>
            <a:r>
              <a:rPr lang="en-US" sz="2800" spc="-5" dirty="0">
                <a:latin typeface="Calibri"/>
                <a:cs typeface="Calibri"/>
              </a:rPr>
              <a:t>( To Decay)</a:t>
            </a:r>
            <a:r>
              <a:rPr sz="2800" spc="-5" dirty="0">
                <a:latin typeface="Calibri"/>
                <a:cs typeface="Calibri"/>
              </a:rPr>
              <a:t>?</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10" dirty="0">
                <a:latin typeface="Calibri"/>
                <a:cs typeface="Calibri"/>
              </a:rPr>
              <a:t>Can </a:t>
            </a:r>
            <a:r>
              <a:rPr sz="2800" b="1" spc="-5" dirty="0">
                <a:latin typeface="Calibri"/>
                <a:cs typeface="Calibri"/>
              </a:rPr>
              <a:t>solution be</a:t>
            </a:r>
            <a:r>
              <a:rPr sz="2800" b="1" spc="5" dirty="0">
                <a:latin typeface="Calibri"/>
                <a:cs typeface="Calibri"/>
              </a:rPr>
              <a:t> </a:t>
            </a:r>
            <a:r>
              <a:rPr sz="2800" b="1" spc="-10" dirty="0">
                <a:latin typeface="Calibri"/>
                <a:cs typeface="Calibri"/>
              </a:rPr>
              <a:t>ignored</a:t>
            </a:r>
            <a:r>
              <a:rPr sz="2800" b="1" spc="10" dirty="0">
                <a:latin typeface="Calibri"/>
                <a:cs typeface="Calibri"/>
              </a:rPr>
              <a:t> </a:t>
            </a:r>
            <a:r>
              <a:rPr sz="2800" b="1" spc="-5" dirty="0">
                <a:latin typeface="Calibri"/>
                <a:cs typeface="Calibri"/>
              </a:rPr>
              <a:t>or</a:t>
            </a:r>
            <a:r>
              <a:rPr sz="2800" b="1" spc="5" dirty="0">
                <a:latin typeface="Calibri"/>
                <a:cs typeface="Calibri"/>
              </a:rPr>
              <a:t> </a:t>
            </a:r>
            <a:r>
              <a:rPr sz="2800" b="1" spc="-5" dirty="0">
                <a:latin typeface="Calibri"/>
                <a:cs typeface="Calibri"/>
              </a:rPr>
              <a:t>undone</a:t>
            </a:r>
            <a:r>
              <a:rPr sz="2800" spc="-5" dirty="0">
                <a:latin typeface="Calibri"/>
                <a:cs typeface="Calibri"/>
              </a:rPr>
              <a:t>?</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What</a:t>
            </a:r>
            <a:r>
              <a:rPr sz="2800" spc="15" dirty="0">
                <a:latin typeface="Calibri"/>
                <a:cs typeface="Calibri"/>
              </a:rPr>
              <a:t> </a:t>
            </a:r>
            <a:r>
              <a:rPr sz="2800" spc="-5" dirty="0">
                <a:latin typeface="Calibri"/>
                <a:cs typeface="Calibri"/>
              </a:rPr>
              <a:t>about</a:t>
            </a:r>
            <a:r>
              <a:rPr sz="2800" spc="-15" dirty="0">
                <a:latin typeface="Calibri"/>
                <a:cs typeface="Calibri"/>
              </a:rPr>
              <a:t> </a:t>
            </a:r>
            <a:r>
              <a:rPr sz="2800" b="1" spc="-10" dirty="0">
                <a:latin typeface="Calibri"/>
                <a:cs typeface="Calibri"/>
              </a:rPr>
              <a:t>predictability</a:t>
            </a:r>
            <a:r>
              <a:rPr sz="2800" b="1" spc="40" dirty="0">
                <a:latin typeface="Calibri"/>
                <a:cs typeface="Calibri"/>
              </a:rPr>
              <a:t> </a:t>
            </a:r>
            <a:r>
              <a:rPr sz="2800" b="1" spc="-5" dirty="0">
                <a:latin typeface="Calibri"/>
                <a:cs typeface="Calibri"/>
              </a:rPr>
              <a:t>of</a:t>
            </a:r>
            <a:r>
              <a:rPr sz="2800" b="1" dirty="0">
                <a:latin typeface="Calibri"/>
                <a:cs typeface="Calibri"/>
              </a:rPr>
              <a:t> </a:t>
            </a:r>
            <a:r>
              <a:rPr sz="2800" b="1" spc="-15" dirty="0">
                <a:latin typeface="Calibri"/>
                <a:cs typeface="Calibri"/>
              </a:rPr>
              <a:t>universe</a:t>
            </a:r>
            <a:r>
              <a:rPr sz="2800" spc="-15" dirty="0">
                <a:latin typeface="Calibri"/>
                <a:cs typeface="Calibri"/>
              </a:rPr>
              <a:t>?</a:t>
            </a:r>
            <a:endParaRPr sz="2800" dirty="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Is</a:t>
            </a:r>
            <a:r>
              <a:rPr sz="2800" spc="5" dirty="0">
                <a:latin typeface="Calibri"/>
                <a:cs typeface="Calibri"/>
              </a:rPr>
              <a:t> </a:t>
            </a:r>
            <a:r>
              <a:rPr sz="2800" spc="-5" dirty="0">
                <a:latin typeface="Calibri"/>
                <a:cs typeface="Calibri"/>
              </a:rPr>
              <a:t>it</a:t>
            </a:r>
            <a:r>
              <a:rPr sz="2800" spc="-10" dirty="0">
                <a:latin typeface="Calibri"/>
                <a:cs typeface="Calibri"/>
              </a:rPr>
              <a:t> </a:t>
            </a:r>
            <a:r>
              <a:rPr sz="2800" b="1" spc="-10" dirty="0">
                <a:latin typeface="Calibri"/>
                <a:cs typeface="Calibri"/>
              </a:rPr>
              <a:t>absolute</a:t>
            </a:r>
            <a:r>
              <a:rPr sz="2800" b="1" spc="15" dirty="0">
                <a:latin typeface="Calibri"/>
                <a:cs typeface="Calibri"/>
              </a:rPr>
              <a:t> </a:t>
            </a:r>
            <a:r>
              <a:rPr sz="2800" b="1" spc="-5" dirty="0">
                <a:latin typeface="Calibri"/>
                <a:cs typeface="Calibri"/>
              </a:rPr>
              <a:t>or</a:t>
            </a:r>
            <a:r>
              <a:rPr sz="2800" b="1" spc="5" dirty="0">
                <a:latin typeface="Calibri"/>
                <a:cs typeface="Calibri"/>
              </a:rPr>
              <a:t> </a:t>
            </a:r>
            <a:r>
              <a:rPr sz="2800" b="1" spc="-20" dirty="0">
                <a:latin typeface="Calibri"/>
                <a:cs typeface="Calibri"/>
              </a:rPr>
              <a:t>relative</a:t>
            </a:r>
            <a:r>
              <a:rPr sz="2800" b="1" spc="40" dirty="0">
                <a:latin typeface="Calibri"/>
                <a:cs typeface="Calibri"/>
              </a:rPr>
              <a:t> </a:t>
            </a:r>
            <a:r>
              <a:rPr sz="2800" b="1" spc="-5" dirty="0">
                <a:latin typeface="Calibri"/>
                <a:cs typeface="Calibri"/>
              </a:rPr>
              <a:t>solution</a:t>
            </a:r>
            <a:r>
              <a:rPr sz="2800" spc="-5" dirty="0">
                <a:latin typeface="Calibri"/>
                <a:cs typeface="Calibri"/>
              </a:rPr>
              <a:t>?</a:t>
            </a:r>
            <a:endParaRPr sz="2800" dirty="0">
              <a:latin typeface="Calibri"/>
              <a:cs typeface="Calibri"/>
            </a:endParaRPr>
          </a:p>
          <a:p>
            <a:pPr marL="241300" indent="-228600">
              <a:lnSpc>
                <a:spcPct val="100000"/>
              </a:lnSpc>
              <a:spcBef>
                <a:spcPts val="670"/>
              </a:spcBef>
              <a:buFont typeface="Arial MT"/>
              <a:buChar char="•"/>
              <a:tabLst>
                <a:tab pos="241300" algn="l"/>
              </a:tabLst>
            </a:pPr>
            <a:r>
              <a:rPr sz="2800" spc="-5" dirty="0">
                <a:latin typeface="Calibri"/>
                <a:cs typeface="Calibri"/>
              </a:rPr>
              <a:t>Is</a:t>
            </a:r>
            <a:r>
              <a:rPr sz="2800" spc="5" dirty="0">
                <a:latin typeface="Calibri"/>
                <a:cs typeface="Calibri"/>
              </a:rPr>
              <a:t> </a:t>
            </a:r>
            <a:r>
              <a:rPr sz="2800" spc="-5" dirty="0">
                <a:latin typeface="Calibri"/>
                <a:cs typeface="Calibri"/>
              </a:rPr>
              <a:t>the</a:t>
            </a:r>
            <a:r>
              <a:rPr sz="2800" dirty="0">
                <a:latin typeface="Calibri"/>
                <a:cs typeface="Calibri"/>
              </a:rPr>
              <a:t> </a:t>
            </a:r>
            <a:r>
              <a:rPr sz="2800" b="1" spc="-5" dirty="0">
                <a:latin typeface="Calibri"/>
                <a:cs typeface="Calibri"/>
              </a:rPr>
              <a:t>solution a</a:t>
            </a:r>
            <a:r>
              <a:rPr sz="2800" b="1" dirty="0">
                <a:latin typeface="Calibri"/>
                <a:cs typeface="Calibri"/>
              </a:rPr>
              <a:t> </a:t>
            </a:r>
            <a:r>
              <a:rPr sz="2800" b="1" spc="-10" dirty="0">
                <a:latin typeface="Calibri"/>
                <a:cs typeface="Calibri"/>
              </a:rPr>
              <a:t>path</a:t>
            </a:r>
            <a:r>
              <a:rPr sz="2800" b="1" spc="10" dirty="0">
                <a:latin typeface="Calibri"/>
                <a:cs typeface="Calibri"/>
              </a:rPr>
              <a:t> </a:t>
            </a:r>
            <a:r>
              <a:rPr sz="2800" b="1" spc="-5" dirty="0">
                <a:latin typeface="Calibri"/>
                <a:cs typeface="Calibri"/>
              </a:rPr>
              <a:t>or</a:t>
            </a:r>
            <a:r>
              <a:rPr sz="2800" b="1" spc="5" dirty="0">
                <a:latin typeface="Calibri"/>
                <a:cs typeface="Calibri"/>
              </a:rPr>
              <a:t> </a:t>
            </a:r>
            <a:r>
              <a:rPr sz="2800" b="1" spc="-5" dirty="0">
                <a:latin typeface="Calibri"/>
                <a:cs typeface="Calibri"/>
              </a:rPr>
              <a:t>a </a:t>
            </a:r>
            <a:r>
              <a:rPr sz="2800" b="1" spc="-25" dirty="0">
                <a:latin typeface="Calibri"/>
                <a:cs typeface="Calibri"/>
              </a:rPr>
              <a:t>state</a:t>
            </a:r>
            <a:r>
              <a:rPr sz="2800" spc="-25" dirty="0">
                <a:latin typeface="Calibri"/>
                <a:cs typeface="Calibri"/>
              </a:rPr>
              <a:t>?</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What</a:t>
            </a:r>
            <a:r>
              <a:rPr sz="2800" spc="10"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the</a:t>
            </a:r>
            <a:r>
              <a:rPr sz="2800" spc="-35" dirty="0">
                <a:latin typeface="Calibri"/>
                <a:cs typeface="Calibri"/>
              </a:rPr>
              <a:t> </a:t>
            </a:r>
            <a:r>
              <a:rPr sz="2800" b="1" spc="-15" dirty="0">
                <a:latin typeface="Calibri"/>
                <a:cs typeface="Calibri"/>
              </a:rPr>
              <a:t>role</a:t>
            </a:r>
            <a:r>
              <a:rPr sz="2800" b="1" spc="15" dirty="0">
                <a:latin typeface="Calibri"/>
                <a:cs typeface="Calibri"/>
              </a:rPr>
              <a:t> </a:t>
            </a:r>
            <a:r>
              <a:rPr sz="2800" b="1" spc="-5" dirty="0">
                <a:latin typeface="Calibri"/>
                <a:cs typeface="Calibri"/>
              </a:rPr>
              <a:t>of </a:t>
            </a:r>
            <a:r>
              <a:rPr sz="2800" b="1" spc="-10" dirty="0">
                <a:latin typeface="Calibri"/>
                <a:cs typeface="Calibri"/>
              </a:rPr>
              <a:t>knowledge</a:t>
            </a:r>
            <a:r>
              <a:rPr sz="2800" spc="-10" dirty="0">
                <a:latin typeface="Calibri"/>
                <a:cs typeface="Calibri"/>
              </a:rPr>
              <a:t>?</a:t>
            </a:r>
            <a:endParaRPr sz="2800" dirty="0">
              <a:latin typeface="Calibri"/>
              <a:cs typeface="Calibri"/>
            </a:endParaRPr>
          </a:p>
          <a:p>
            <a:pPr marL="241300" indent="-228600">
              <a:lnSpc>
                <a:spcPct val="100000"/>
              </a:lnSpc>
              <a:spcBef>
                <a:spcPts val="665"/>
              </a:spcBef>
              <a:buFont typeface="Arial MT"/>
              <a:buChar char="•"/>
              <a:tabLst>
                <a:tab pos="241300" algn="l"/>
              </a:tabLst>
            </a:pPr>
            <a:r>
              <a:rPr sz="2800" spc="-10" dirty="0">
                <a:latin typeface="Calibri"/>
                <a:cs typeface="Calibri"/>
              </a:rPr>
              <a:t>Does</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task</a:t>
            </a:r>
            <a:r>
              <a:rPr sz="2800" spc="20" dirty="0">
                <a:latin typeface="Calibri"/>
                <a:cs typeface="Calibri"/>
              </a:rPr>
              <a:t> </a:t>
            </a:r>
            <a:r>
              <a:rPr sz="2800" spc="-15" dirty="0">
                <a:latin typeface="Calibri"/>
                <a:cs typeface="Calibri"/>
              </a:rPr>
              <a:t>require</a:t>
            </a:r>
            <a:r>
              <a:rPr sz="2800" spc="-20" dirty="0">
                <a:latin typeface="Calibri"/>
                <a:cs typeface="Calibri"/>
              </a:rPr>
              <a:t> </a:t>
            </a:r>
            <a:r>
              <a:rPr sz="2800" b="1" spc="-15" dirty="0">
                <a:latin typeface="Calibri"/>
                <a:cs typeface="Calibri"/>
              </a:rPr>
              <a:t>interaction</a:t>
            </a:r>
            <a:r>
              <a:rPr sz="2800" b="1" spc="35" dirty="0">
                <a:latin typeface="Calibri"/>
                <a:cs typeface="Calibri"/>
              </a:rPr>
              <a:t> </a:t>
            </a:r>
            <a:r>
              <a:rPr sz="2800" b="1" spc="-10" dirty="0">
                <a:latin typeface="Calibri"/>
                <a:cs typeface="Calibri"/>
              </a:rPr>
              <a:t>with</a:t>
            </a:r>
            <a:r>
              <a:rPr sz="2800" b="1" spc="10" dirty="0">
                <a:latin typeface="Calibri"/>
                <a:cs typeface="Calibri"/>
              </a:rPr>
              <a:t> </a:t>
            </a:r>
            <a:r>
              <a:rPr sz="2800" b="1" spc="-5" dirty="0">
                <a:latin typeface="Calibri"/>
                <a:cs typeface="Calibri"/>
              </a:rPr>
              <a:t>a</a:t>
            </a:r>
            <a:r>
              <a:rPr sz="2800" b="1" dirty="0">
                <a:latin typeface="Calibri"/>
                <a:cs typeface="Calibri"/>
              </a:rPr>
              <a:t> </a:t>
            </a:r>
            <a:r>
              <a:rPr sz="2800" b="1" spc="-10" dirty="0">
                <a:latin typeface="Calibri"/>
                <a:cs typeface="Calibri"/>
              </a:rPr>
              <a:t>person</a:t>
            </a:r>
            <a:r>
              <a:rPr sz="2800" spc="-10" dirty="0">
                <a:latin typeface="Calibri"/>
                <a:cs typeface="Calibri"/>
              </a:rPr>
              <a:t>?</a:t>
            </a:r>
            <a:endParaRPr sz="2800" dirty="0">
              <a:latin typeface="Calibri"/>
              <a:cs typeface="Calibri"/>
            </a:endParaRPr>
          </a:p>
          <a:p>
            <a:pPr marL="241300" indent="-228600">
              <a:lnSpc>
                <a:spcPct val="100000"/>
              </a:lnSpc>
              <a:spcBef>
                <a:spcPts val="670"/>
              </a:spcBef>
              <a:buFont typeface="Arial MT"/>
              <a:buChar char="•"/>
              <a:tabLst>
                <a:tab pos="241300" algn="l"/>
              </a:tabLst>
            </a:pPr>
            <a:r>
              <a:rPr sz="2800" spc="-5" dirty="0">
                <a:latin typeface="Calibri"/>
                <a:cs typeface="Calibri"/>
              </a:rPr>
              <a:t>Can</a:t>
            </a:r>
            <a:r>
              <a:rPr sz="2800" spc="-20" dirty="0">
                <a:latin typeface="Calibri"/>
                <a:cs typeface="Calibri"/>
              </a:rPr>
              <a:t> </a:t>
            </a:r>
            <a:r>
              <a:rPr sz="2800" spc="-15" dirty="0">
                <a:latin typeface="Calibri"/>
                <a:cs typeface="Calibri"/>
              </a:rPr>
              <a:t>problem</a:t>
            </a:r>
            <a:r>
              <a:rPr sz="2800" spc="15" dirty="0">
                <a:latin typeface="Calibri"/>
                <a:cs typeface="Calibri"/>
              </a:rPr>
              <a:t> </a:t>
            </a:r>
            <a:r>
              <a:rPr sz="2800" spc="-5" dirty="0">
                <a:latin typeface="Calibri"/>
                <a:cs typeface="Calibri"/>
              </a:rPr>
              <a:t>be</a:t>
            </a:r>
            <a:r>
              <a:rPr sz="2800" spc="-15" dirty="0">
                <a:latin typeface="Calibri"/>
                <a:cs typeface="Calibri"/>
              </a:rPr>
              <a:t> </a:t>
            </a:r>
            <a:r>
              <a:rPr sz="2800" b="1" spc="-5" dirty="0">
                <a:latin typeface="Calibri"/>
                <a:cs typeface="Calibri"/>
              </a:rPr>
              <a:t>classified</a:t>
            </a:r>
            <a:r>
              <a:rPr sz="2800" spc="-5" dirty="0">
                <a:latin typeface="Calibri"/>
                <a:cs typeface="Calibri"/>
              </a:rPr>
              <a:t>?</a:t>
            </a:r>
            <a:endParaRPr sz="28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609676"/>
            <a:ext cx="5331461" cy="567463"/>
          </a:xfrm>
          <a:prstGeom prst="rect">
            <a:avLst/>
          </a:prstGeom>
        </p:spPr>
        <p:txBody>
          <a:bodyPr vert="horz" wrap="square" lIns="0" tIns="13335" rIns="0" bIns="0" rtlCol="0">
            <a:spAutoFit/>
          </a:bodyPr>
          <a:lstStyle/>
          <a:p>
            <a:pPr marL="12700">
              <a:lnSpc>
                <a:spcPct val="100000"/>
              </a:lnSpc>
              <a:spcBef>
                <a:spcPts val="105"/>
              </a:spcBef>
            </a:pPr>
            <a:r>
              <a:rPr lang="en-US" sz="3600" b="1" spc="-20" dirty="0"/>
              <a:t>2.3. </a:t>
            </a:r>
            <a:r>
              <a:rPr sz="3600" b="1" spc="-20" dirty="0"/>
              <a:t>Problem</a:t>
            </a:r>
            <a:r>
              <a:rPr sz="3600" b="1" spc="-80" dirty="0"/>
              <a:t> </a:t>
            </a:r>
            <a:r>
              <a:rPr sz="3600" b="1" spc="-50" dirty="0"/>
              <a:t>Types</a:t>
            </a:r>
          </a:p>
        </p:txBody>
      </p:sp>
      <p:sp>
        <p:nvSpPr>
          <p:cNvPr id="3" name="object 3"/>
          <p:cNvSpPr txBox="1"/>
          <p:nvPr/>
        </p:nvSpPr>
        <p:spPr>
          <a:xfrm>
            <a:off x="916939" y="1706841"/>
            <a:ext cx="4928235" cy="105092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30" dirty="0">
                <a:latin typeface="Calibri"/>
                <a:cs typeface="Calibri"/>
              </a:rPr>
              <a:t>Well</a:t>
            </a:r>
            <a:r>
              <a:rPr sz="2800" spc="-15" dirty="0">
                <a:latin typeface="Calibri"/>
                <a:cs typeface="Calibri"/>
              </a:rPr>
              <a:t> </a:t>
            </a:r>
            <a:r>
              <a:rPr sz="2800" spc="-10" dirty="0">
                <a:latin typeface="Calibri"/>
                <a:cs typeface="Calibri"/>
              </a:rPr>
              <a:t>Defined</a:t>
            </a:r>
            <a:r>
              <a:rPr sz="2800" dirty="0">
                <a:latin typeface="Calibri"/>
                <a:cs typeface="Calibri"/>
              </a:rPr>
              <a:t> </a:t>
            </a:r>
            <a:r>
              <a:rPr sz="2800" spc="-15" dirty="0">
                <a:latin typeface="Calibri"/>
                <a:cs typeface="Calibri"/>
              </a:rPr>
              <a:t>Problems</a:t>
            </a:r>
            <a:endParaRPr sz="2800">
              <a:latin typeface="Calibri"/>
              <a:cs typeface="Calibri"/>
            </a:endParaRPr>
          </a:p>
          <a:p>
            <a:pPr marL="241300" indent="-228600">
              <a:lnSpc>
                <a:spcPct val="100000"/>
              </a:lnSpc>
              <a:spcBef>
                <a:spcPts val="675"/>
              </a:spcBef>
              <a:buFont typeface="Arial MT"/>
              <a:buChar char="•"/>
              <a:tabLst>
                <a:tab pos="241300" algn="l"/>
              </a:tabLst>
            </a:pPr>
            <a:r>
              <a:rPr sz="2800" spc="-20" dirty="0">
                <a:latin typeface="Calibri"/>
                <a:cs typeface="Calibri"/>
              </a:rPr>
              <a:t>Constraint</a:t>
            </a:r>
            <a:r>
              <a:rPr sz="2800" spc="50" dirty="0">
                <a:latin typeface="Calibri"/>
                <a:cs typeface="Calibri"/>
              </a:rPr>
              <a:t> </a:t>
            </a:r>
            <a:r>
              <a:rPr sz="2800" spc="-15" dirty="0">
                <a:latin typeface="Calibri"/>
                <a:cs typeface="Calibri"/>
              </a:rPr>
              <a:t>Satisfaction</a:t>
            </a:r>
            <a:r>
              <a:rPr sz="2800" spc="25" dirty="0">
                <a:latin typeface="Calibri"/>
                <a:cs typeface="Calibri"/>
              </a:rPr>
              <a:t> </a:t>
            </a:r>
            <a:r>
              <a:rPr sz="2800" spc="-15" dirty="0">
                <a:latin typeface="Calibri"/>
                <a:cs typeface="Calibri"/>
              </a:rPr>
              <a:t>Problems</a:t>
            </a:r>
            <a:endParaRPr sz="2800">
              <a:latin typeface="Calibri"/>
              <a:cs typeface="Calibri"/>
            </a:endParaRPr>
          </a:p>
        </p:txBody>
      </p:sp>
      <p:pic>
        <p:nvPicPr>
          <p:cNvPr id="5" name="Picture 4">
            <a:extLst>
              <a:ext uri="{FF2B5EF4-FFF2-40B4-BE49-F238E27FC236}">
                <a16:creationId xmlns:a16="http://schemas.microsoft.com/office/drawing/2014/main" id="{494AD6B7-ABB5-4B94-9EB5-3ABD5AD9A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5174" y="326858"/>
            <a:ext cx="6042026" cy="500714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A2E9DD-20BB-41F5-807E-C060D4B0AE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977584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472805" cy="697230"/>
          </a:xfrm>
          <a:prstGeom prst="rect">
            <a:avLst/>
          </a:prstGeom>
        </p:spPr>
        <p:txBody>
          <a:bodyPr vert="horz" wrap="square" lIns="0" tIns="13335" rIns="0" bIns="0" rtlCol="0">
            <a:spAutoFit/>
          </a:bodyPr>
          <a:lstStyle/>
          <a:p>
            <a:pPr marL="12700">
              <a:lnSpc>
                <a:spcPct val="100000"/>
              </a:lnSpc>
              <a:spcBef>
                <a:spcPts val="105"/>
              </a:spcBef>
            </a:pPr>
            <a:r>
              <a:rPr spc="-20" dirty="0"/>
              <a:t>Problem </a:t>
            </a:r>
            <a:r>
              <a:rPr spc="-40" dirty="0"/>
              <a:t>Types:</a:t>
            </a:r>
            <a:r>
              <a:rPr spc="-10" dirty="0"/>
              <a:t> </a:t>
            </a:r>
            <a:r>
              <a:rPr spc="-45" dirty="0"/>
              <a:t>Well</a:t>
            </a:r>
            <a:r>
              <a:rPr spc="-15" dirty="0"/>
              <a:t> </a:t>
            </a:r>
            <a:r>
              <a:rPr spc="-5" dirty="0"/>
              <a:t>Defined</a:t>
            </a:r>
            <a:r>
              <a:rPr spc="-15" dirty="0"/>
              <a:t> </a:t>
            </a:r>
            <a:r>
              <a:rPr spc="-20" dirty="0"/>
              <a:t>Problem</a:t>
            </a:r>
          </a:p>
        </p:txBody>
      </p:sp>
      <p:sp>
        <p:nvSpPr>
          <p:cNvPr id="3" name="object 3"/>
          <p:cNvSpPr txBox="1"/>
          <p:nvPr/>
        </p:nvSpPr>
        <p:spPr>
          <a:xfrm>
            <a:off x="916939" y="1756565"/>
            <a:ext cx="10274935" cy="3669029"/>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5" dirty="0">
                <a:latin typeface="Calibri"/>
                <a:cs typeface="Calibri"/>
              </a:rPr>
              <a:t>Major</a:t>
            </a:r>
            <a:r>
              <a:rPr sz="2800" spc="5" dirty="0">
                <a:latin typeface="Calibri"/>
                <a:cs typeface="Calibri"/>
              </a:rPr>
              <a:t> </a:t>
            </a:r>
            <a:r>
              <a:rPr sz="2800" spc="-10" dirty="0">
                <a:latin typeface="Calibri"/>
                <a:cs typeface="Calibri"/>
              </a:rPr>
              <a:t>Components</a:t>
            </a:r>
            <a:r>
              <a:rPr sz="2800" spc="3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Problem</a:t>
            </a:r>
            <a:endParaRPr sz="2800">
              <a:latin typeface="Calibri"/>
              <a:cs typeface="Calibri"/>
            </a:endParaRPr>
          </a:p>
          <a:p>
            <a:pPr marL="698500" lvl="1" indent="-229235">
              <a:lnSpc>
                <a:spcPct val="100000"/>
              </a:lnSpc>
              <a:spcBef>
                <a:spcPts val="245"/>
              </a:spcBef>
              <a:buFont typeface="Arial MT"/>
              <a:buChar char="•"/>
              <a:tabLst>
                <a:tab pos="699135" algn="l"/>
              </a:tabLst>
            </a:pPr>
            <a:r>
              <a:rPr sz="2400" b="1" spc="-5" dirty="0">
                <a:latin typeface="Calibri"/>
                <a:cs typeface="Calibri"/>
              </a:rPr>
              <a:t>Initial</a:t>
            </a:r>
            <a:r>
              <a:rPr sz="2400" b="1" spc="-25" dirty="0">
                <a:latin typeface="Calibri"/>
                <a:cs typeface="Calibri"/>
              </a:rPr>
              <a:t> </a:t>
            </a:r>
            <a:r>
              <a:rPr sz="2400" b="1" spc="-20" dirty="0">
                <a:latin typeface="Calibri"/>
                <a:cs typeface="Calibri"/>
              </a:rPr>
              <a:t>State</a:t>
            </a:r>
            <a:endParaRPr sz="2400">
              <a:latin typeface="Calibri"/>
              <a:cs typeface="Calibri"/>
            </a:endParaRPr>
          </a:p>
          <a:p>
            <a:pPr marL="698500" lvl="1" indent="-229235">
              <a:lnSpc>
                <a:spcPct val="100000"/>
              </a:lnSpc>
              <a:spcBef>
                <a:spcPts val="219"/>
              </a:spcBef>
              <a:buFont typeface="Arial MT"/>
              <a:buChar char="•"/>
              <a:tabLst>
                <a:tab pos="699135" algn="l"/>
              </a:tabLst>
            </a:pPr>
            <a:r>
              <a:rPr sz="2400" b="1" dirty="0">
                <a:latin typeface="Calibri"/>
                <a:cs typeface="Calibri"/>
              </a:rPr>
              <a:t>Actions</a:t>
            </a:r>
            <a:r>
              <a:rPr sz="2400" b="1" spc="-25" dirty="0">
                <a:latin typeface="Calibri"/>
                <a:cs typeface="Calibri"/>
              </a:rPr>
              <a:t> </a:t>
            </a:r>
            <a:r>
              <a:rPr sz="2400" spc="-10" dirty="0">
                <a:latin typeface="Calibri"/>
                <a:cs typeface="Calibri"/>
              </a:rPr>
              <a:t>available</a:t>
            </a:r>
            <a:r>
              <a:rPr sz="2400" dirty="0">
                <a:latin typeface="Calibri"/>
                <a:cs typeface="Calibri"/>
              </a:rPr>
              <a:t> </a:t>
            </a:r>
            <a:r>
              <a:rPr sz="2400" spc="-15" dirty="0">
                <a:latin typeface="Calibri"/>
                <a:cs typeface="Calibri"/>
              </a:rPr>
              <a:t>to </a:t>
            </a:r>
            <a:r>
              <a:rPr sz="2400" dirty="0">
                <a:latin typeface="Calibri"/>
                <a:cs typeface="Calibri"/>
              </a:rPr>
              <a:t>the</a:t>
            </a:r>
            <a:r>
              <a:rPr sz="2400" spc="-20" dirty="0">
                <a:latin typeface="Calibri"/>
                <a:cs typeface="Calibri"/>
              </a:rPr>
              <a:t> </a:t>
            </a:r>
            <a:r>
              <a:rPr sz="2400" spc="-10" dirty="0">
                <a:latin typeface="Calibri"/>
                <a:cs typeface="Calibri"/>
              </a:rPr>
              <a:t>agent</a:t>
            </a:r>
            <a:r>
              <a:rPr sz="2400" spc="-5"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the</a:t>
            </a:r>
            <a:r>
              <a:rPr sz="2400" spc="-20" dirty="0">
                <a:latin typeface="Calibri"/>
                <a:cs typeface="Calibri"/>
              </a:rPr>
              <a:t> </a:t>
            </a:r>
            <a:r>
              <a:rPr sz="2400" b="1" spc="-20" dirty="0">
                <a:latin typeface="Calibri"/>
                <a:cs typeface="Calibri"/>
              </a:rPr>
              <a:t>state</a:t>
            </a:r>
            <a:r>
              <a:rPr sz="2400" b="1" spc="10" dirty="0">
                <a:latin typeface="Calibri"/>
                <a:cs typeface="Calibri"/>
              </a:rPr>
              <a:t> </a:t>
            </a:r>
            <a:r>
              <a:rPr sz="2400" b="1" spc="-5" dirty="0">
                <a:latin typeface="Calibri"/>
                <a:cs typeface="Calibri"/>
              </a:rPr>
              <a:t>space</a:t>
            </a:r>
            <a:endParaRPr sz="2400">
              <a:latin typeface="Calibri"/>
              <a:cs typeface="Calibri"/>
            </a:endParaRPr>
          </a:p>
          <a:p>
            <a:pPr marL="698500" lvl="1" indent="-229235">
              <a:lnSpc>
                <a:spcPct val="100000"/>
              </a:lnSpc>
              <a:spcBef>
                <a:spcPts val="200"/>
              </a:spcBef>
              <a:buFont typeface="Arial MT"/>
              <a:buChar char="•"/>
              <a:tabLst>
                <a:tab pos="699135" algn="l"/>
              </a:tabLst>
            </a:pPr>
            <a:r>
              <a:rPr sz="2400" b="1" spc="-5" dirty="0">
                <a:latin typeface="Calibri"/>
                <a:cs typeface="Calibri"/>
              </a:rPr>
              <a:t>Goal</a:t>
            </a:r>
            <a:r>
              <a:rPr sz="2400" b="1" spc="-25" dirty="0">
                <a:latin typeface="Calibri"/>
                <a:cs typeface="Calibri"/>
              </a:rPr>
              <a:t> </a:t>
            </a:r>
            <a:r>
              <a:rPr sz="2400" b="1" spc="-60" dirty="0">
                <a:latin typeface="Calibri"/>
                <a:cs typeface="Calibri"/>
              </a:rPr>
              <a:t>Test</a:t>
            </a:r>
            <a:r>
              <a:rPr sz="2400" b="1" spc="-5" dirty="0">
                <a:latin typeface="Calibri"/>
                <a:cs typeface="Calibri"/>
              </a:rPr>
              <a:t> </a:t>
            </a:r>
            <a:r>
              <a:rPr sz="2400" spc="-5" dirty="0">
                <a:latin typeface="Calibri"/>
                <a:cs typeface="Calibri"/>
              </a:rPr>
              <a:t>determining</a:t>
            </a:r>
            <a:r>
              <a:rPr sz="2400" spc="-15" dirty="0">
                <a:latin typeface="Calibri"/>
                <a:cs typeface="Calibri"/>
              </a:rPr>
              <a:t> </a:t>
            </a:r>
            <a:r>
              <a:rPr sz="2400" dirty="0">
                <a:latin typeface="Calibri"/>
                <a:cs typeface="Calibri"/>
              </a:rPr>
              <a:t>the</a:t>
            </a:r>
            <a:r>
              <a:rPr sz="2400" spc="-20" dirty="0">
                <a:latin typeface="Calibri"/>
                <a:cs typeface="Calibri"/>
              </a:rPr>
              <a:t> </a:t>
            </a:r>
            <a:r>
              <a:rPr sz="2400" spc="-10" dirty="0">
                <a:latin typeface="Calibri"/>
                <a:cs typeface="Calibri"/>
              </a:rPr>
              <a:t>given</a:t>
            </a:r>
            <a:r>
              <a:rPr sz="2400" spc="10" dirty="0">
                <a:latin typeface="Calibri"/>
                <a:cs typeface="Calibri"/>
              </a:rPr>
              <a:t> </a:t>
            </a:r>
            <a:r>
              <a:rPr sz="2400" spc="-20" dirty="0">
                <a:latin typeface="Calibri"/>
                <a:cs typeface="Calibri"/>
              </a:rPr>
              <a:t>state</a:t>
            </a:r>
            <a:r>
              <a:rPr sz="2400" spc="-25" dirty="0">
                <a:latin typeface="Calibri"/>
                <a:cs typeface="Calibri"/>
              </a:rPr>
              <a:t> </a:t>
            </a:r>
            <a:r>
              <a:rPr sz="2400" dirty="0">
                <a:latin typeface="Calibri"/>
                <a:cs typeface="Calibri"/>
              </a:rPr>
              <a:t>as a</a:t>
            </a:r>
            <a:r>
              <a:rPr sz="2400" spc="-25" dirty="0">
                <a:latin typeface="Calibri"/>
                <a:cs typeface="Calibri"/>
              </a:rPr>
              <a:t> </a:t>
            </a:r>
            <a:r>
              <a:rPr sz="2400" spc="-10" dirty="0">
                <a:latin typeface="Calibri"/>
                <a:cs typeface="Calibri"/>
              </a:rPr>
              <a:t>goal</a:t>
            </a:r>
            <a:r>
              <a:rPr sz="2400" spc="-25" dirty="0">
                <a:latin typeface="Calibri"/>
                <a:cs typeface="Calibri"/>
              </a:rPr>
              <a:t> </a:t>
            </a:r>
            <a:r>
              <a:rPr sz="2400" spc="-20" dirty="0">
                <a:latin typeface="Calibri"/>
                <a:cs typeface="Calibri"/>
              </a:rPr>
              <a:t>state</a:t>
            </a:r>
            <a:endParaRPr sz="2400">
              <a:latin typeface="Calibri"/>
              <a:cs typeface="Calibri"/>
            </a:endParaRPr>
          </a:p>
          <a:p>
            <a:pPr marL="698500" lvl="1" indent="-229235">
              <a:lnSpc>
                <a:spcPts val="2735"/>
              </a:lnSpc>
              <a:spcBef>
                <a:spcPts val="220"/>
              </a:spcBef>
              <a:buFont typeface="Arial MT"/>
              <a:buChar char="•"/>
              <a:tabLst>
                <a:tab pos="699135" algn="l"/>
              </a:tabLst>
            </a:pPr>
            <a:r>
              <a:rPr sz="2400" b="1" spc="-20" dirty="0">
                <a:latin typeface="Calibri"/>
                <a:cs typeface="Calibri"/>
              </a:rPr>
              <a:t>Path</a:t>
            </a:r>
            <a:r>
              <a:rPr sz="2400" b="1" spc="-5" dirty="0">
                <a:latin typeface="Calibri"/>
                <a:cs typeface="Calibri"/>
              </a:rPr>
              <a:t> </a:t>
            </a:r>
            <a:r>
              <a:rPr sz="2400" b="1" spc="-10" dirty="0">
                <a:latin typeface="Calibri"/>
                <a:cs typeface="Calibri"/>
              </a:rPr>
              <a:t>Cost</a:t>
            </a:r>
            <a:r>
              <a:rPr sz="2400" b="1" dirty="0">
                <a:latin typeface="Calibri"/>
                <a:cs typeface="Calibri"/>
              </a:rPr>
              <a:t> </a:t>
            </a:r>
            <a:r>
              <a:rPr sz="2400" spc="-5" dirty="0">
                <a:latin typeface="Calibri"/>
                <a:cs typeface="Calibri"/>
              </a:rPr>
              <a:t>function </a:t>
            </a:r>
            <a:r>
              <a:rPr sz="2400" spc="-10" dirty="0">
                <a:latin typeface="Calibri"/>
                <a:cs typeface="Calibri"/>
              </a:rPr>
              <a:t>that</a:t>
            </a:r>
            <a:r>
              <a:rPr sz="2400" dirty="0">
                <a:latin typeface="Calibri"/>
                <a:cs typeface="Calibri"/>
              </a:rPr>
              <a:t> </a:t>
            </a:r>
            <a:r>
              <a:rPr sz="2400" spc="-5" dirty="0">
                <a:latin typeface="Calibri"/>
                <a:cs typeface="Calibri"/>
              </a:rPr>
              <a:t>assigns</a:t>
            </a:r>
            <a:r>
              <a:rPr sz="2400" spc="-20" dirty="0">
                <a:latin typeface="Calibri"/>
                <a:cs typeface="Calibri"/>
              </a:rPr>
              <a:t> </a:t>
            </a:r>
            <a:r>
              <a:rPr sz="2400" spc="-5" dirty="0">
                <a:latin typeface="Calibri"/>
                <a:cs typeface="Calibri"/>
              </a:rPr>
              <a:t>numeric</a:t>
            </a:r>
            <a:r>
              <a:rPr sz="2400" spc="-10" dirty="0">
                <a:latin typeface="Calibri"/>
                <a:cs typeface="Calibri"/>
              </a:rPr>
              <a:t> value</a:t>
            </a:r>
            <a:r>
              <a:rPr sz="2400" dirty="0">
                <a:latin typeface="Calibri"/>
                <a:cs typeface="Calibri"/>
              </a:rPr>
              <a:t> </a:t>
            </a:r>
            <a:r>
              <a:rPr sz="2400" spc="-10" dirty="0">
                <a:latin typeface="Calibri"/>
                <a:cs typeface="Calibri"/>
              </a:rPr>
              <a:t>to </a:t>
            </a:r>
            <a:r>
              <a:rPr sz="2400" dirty="0">
                <a:latin typeface="Calibri"/>
                <a:cs typeface="Calibri"/>
              </a:rPr>
              <a:t>each</a:t>
            </a:r>
            <a:r>
              <a:rPr sz="2400" spc="-10" dirty="0">
                <a:latin typeface="Calibri"/>
                <a:cs typeface="Calibri"/>
              </a:rPr>
              <a:t> path</a:t>
            </a:r>
            <a:r>
              <a:rPr sz="2400" dirty="0">
                <a:latin typeface="Calibri"/>
                <a:cs typeface="Calibri"/>
              </a:rPr>
              <a:t> </a:t>
            </a:r>
            <a:r>
              <a:rPr sz="2400" spc="-5" dirty="0">
                <a:latin typeface="Calibri"/>
                <a:cs typeface="Calibri"/>
              </a:rPr>
              <a:t>considering</a:t>
            </a:r>
            <a:r>
              <a:rPr sz="2400" dirty="0">
                <a:latin typeface="Calibri"/>
                <a:cs typeface="Calibri"/>
              </a:rPr>
              <a:t> the</a:t>
            </a:r>
            <a:endParaRPr sz="2400">
              <a:latin typeface="Calibri"/>
              <a:cs typeface="Calibri"/>
            </a:endParaRPr>
          </a:p>
          <a:p>
            <a:pPr marL="698500">
              <a:lnSpc>
                <a:spcPts val="2735"/>
              </a:lnSpc>
            </a:pPr>
            <a:r>
              <a:rPr sz="2400" b="1" spc="-15" dirty="0">
                <a:latin typeface="Calibri"/>
                <a:cs typeface="Calibri"/>
              </a:rPr>
              <a:t>step</a:t>
            </a:r>
            <a:r>
              <a:rPr sz="2400" b="1" spc="-25" dirty="0">
                <a:latin typeface="Calibri"/>
                <a:cs typeface="Calibri"/>
              </a:rPr>
              <a:t> </a:t>
            </a:r>
            <a:r>
              <a:rPr sz="2400" b="1" spc="-10" dirty="0">
                <a:latin typeface="Calibri"/>
                <a:cs typeface="Calibri"/>
              </a:rPr>
              <a:t>cost</a:t>
            </a:r>
            <a:r>
              <a:rPr sz="2400" b="1" spc="-25" dirty="0">
                <a:latin typeface="Calibri"/>
                <a:cs typeface="Calibri"/>
              </a:rPr>
              <a:t> </a:t>
            </a:r>
            <a:r>
              <a:rPr sz="2400" dirty="0">
                <a:latin typeface="Calibri"/>
                <a:cs typeface="Calibri"/>
              </a:rPr>
              <a:t>as</a:t>
            </a:r>
            <a:r>
              <a:rPr sz="2400" spc="-30" dirty="0">
                <a:latin typeface="Calibri"/>
                <a:cs typeface="Calibri"/>
              </a:rPr>
              <a:t> </a:t>
            </a:r>
            <a:r>
              <a:rPr sz="2400" spc="-10" dirty="0">
                <a:latin typeface="Calibri"/>
                <a:cs typeface="Calibri"/>
              </a:rPr>
              <a:t>well</a:t>
            </a:r>
            <a:endParaRPr sz="2400">
              <a:latin typeface="Calibri"/>
              <a:cs typeface="Calibri"/>
            </a:endParaRPr>
          </a:p>
          <a:p>
            <a:pPr marL="241300" marR="5080" indent="-228600">
              <a:lnSpc>
                <a:spcPct val="90000"/>
              </a:lnSpc>
              <a:spcBef>
                <a:spcPts val="970"/>
              </a:spcBef>
              <a:buFont typeface="Arial MT"/>
              <a:buChar char="•"/>
              <a:tabLst>
                <a:tab pos="241300" algn="l"/>
              </a:tabLst>
            </a:pPr>
            <a:r>
              <a:rPr sz="2800" spc="-5" dirty="0">
                <a:latin typeface="Calibri"/>
                <a:cs typeface="Calibri"/>
              </a:rPr>
              <a:t>If all these</a:t>
            </a:r>
            <a:r>
              <a:rPr sz="2800" spc="15" dirty="0">
                <a:latin typeface="Calibri"/>
                <a:cs typeface="Calibri"/>
              </a:rPr>
              <a:t> </a:t>
            </a:r>
            <a:r>
              <a:rPr sz="2800" spc="-10" dirty="0">
                <a:latin typeface="Calibri"/>
                <a:cs typeface="Calibri"/>
              </a:rPr>
              <a:t>components</a:t>
            </a:r>
            <a:r>
              <a:rPr sz="2800" spc="55" dirty="0">
                <a:latin typeface="Calibri"/>
                <a:cs typeface="Calibri"/>
              </a:rPr>
              <a:t> </a:t>
            </a:r>
            <a:r>
              <a:rPr sz="2800" spc="-15" dirty="0">
                <a:latin typeface="Calibri"/>
                <a:cs typeface="Calibri"/>
              </a:rPr>
              <a:t>are</a:t>
            </a:r>
            <a:r>
              <a:rPr sz="2800" dirty="0">
                <a:latin typeface="Calibri"/>
                <a:cs typeface="Calibri"/>
              </a:rPr>
              <a:t> </a:t>
            </a:r>
            <a:r>
              <a:rPr sz="2800" spc="-10" dirty="0">
                <a:latin typeface="Calibri"/>
                <a:cs typeface="Calibri"/>
              </a:rPr>
              <a:t>completely</a:t>
            </a:r>
            <a:r>
              <a:rPr sz="2800" spc="5" dirty="0">
                <a:latin typeface="Calibri"/>
                <a:cs typeface="Calibri"/>
              </a:rPr>
              <a:t> </a:t>
            </a:r>
            <a:r>
              <a:rPr sz="2800" spc="-10" dirty="0">
                <a:latin typeface="Calibri"/>
                <a:cs typeface="Calibri"/>
              </a:rPr>
              <a:t>defined</a:t>
            </a:r>
            <a:r>
              <a:rPr sz="2800" spc="15" dirty="0">
                <a:latin typeface="Calibri"/>
                <a:cs typeface="Calibri"/>
              </a:rPr>
              <a:t> </a:t>
            </a:r>
            <a:r>
              <a:rPr sz="2800" spc="-5" dirty="0">
                <a:latin typeface="Calibri"/>
                <a:cs typeface="Calibri"/>
              </a:rPr>
              <a:t>along</a:t>
            </a:r>
            <a:r>
              <a:rPr sz="2800" spc="10" dirty="0">
                <a:latin typeface="Calibri"/>
                <a:cs typeface="Calibri"/>
              </a:rPr>
              <a:t> </a:t>
            </a:r>
            <a:r>
              <a:rPr sz="2800" spc="-5" dirty="0">
                <a:latin typeface="Calibri"/>
                <a:cs typeface="Calibri"/>
              </a:rPr>
              <a:t>with</a:t>
            </a:r>
            <a:r>
              <a:rPr sz="2800" spc="10" dirty="0">
                <a:latin typeface="Calibri"/>
                <a:cs typeface="Calibri"/>
              </a:rPr>
              <a:t> </a:t>
            </a:r>
            <a:r>
              <a:rPr sz="2800" spc="-5" dirty="0">
                <a:latin typeface="Calibri"/>
                <a:cs typeface="Calibri"/>
              </a:rPr>
              <a:t>the </a:t>
            </a:r>
            <a:r>
              <a:rPr sz="2800" dirty="0">
                <a:latin typeface="Calibri"/>
                <a:cs typeface="Calibri"/>
              </a:rPr>
              <a:t> </a:t>
            </a:r>
            <a:r>
              <a:rPr sz="2800" spc="-5" dirty="0">
                <a:latin typeface="Calibri"/>
                <a:cs typeface="Calibri"/>
              </a:rPr>
              <a:t>optimal</a:t>
            </a:r>
            <a:r>
              <a:rPr sz="2800" spc="20" dirty="0">
                <a:latin typeface="Calibri"/>
                <a:cs typeface="Calibri"/>
              </a:rPr>
              <a:t> </a:t>
            </a:r>
            <a:r>
              <a:rPr sz="2800" spc="-10" dirty="0">
                <a:latin typeface="Calibri"/>
                <a:cs typeface="Calibri"/>
              </a:rPr>
              <a:t>solution</a:t>
            </a:r>
            <a:r>
              <a:rPr sz="2800" spc="40" dirty="0">
                <a:latin typeface="Calibri"/>
                <a:cs typeface="Calibri"/>
              </a:rPr>
              <a:t> </a:t>
            </a:r>
            <a:r>
              <a:rPr sz="2800" spc="-25" dirty="0">
                <a:latin typeface="Calibri"/>
                <a:cs typeface="Calibri"/>
              </a:rPr>
              <a:t>for</a:t>
            </a:r>
            <a:r>
              <a:rPr sz="2800" spc="15"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problem,</a:t>
            </a:r>
            <a:r>
              <a:rPr sz="2800" spc="40" dirty="0">
                <a:latin typeface="Calibri"/>
                <a:cs typeface="Calibri"/>
              </a:rPr>
              <a:t> </a:t>
            </a:r>
            <a:r>
              <a:rPr sz="2800" spc="-5" dirty="0">
                <a:latin typeface="Calibri"/>
                <a:cs typeface="Calibri"/>
              </a:rPr>
              <a:t>then</a:t>
            </a:r>
            <a:r>
              <a:rPr sz="2800" spc="35" dirty="0">
                <a:latin typeface="Calibri"/>
                <a:cs typeface="Calibri"/>
              </a:rPr>
              <a:t> </a:t>
            </a:r>
            <a:r>
              <a:rPr sz="2800" spc="-10" dirty="0">
                <a:latin typeface="Calibri"/>
                <a:cs typeface="Calibri"/>
              </a:rPr>
              <a:t>such</a:t>
            </a:r>
            <a:r>
              <a:rPr sz="2800" spc="35" dirty="0">
                <a:latin typeface="Calibri"/>
                <a:cs typeface="Calibri"/>
              </a:rPr>
              <a:t> </a:t>
            </a:r>
            <a:r>
              <a:rPr sz="2800" spc="-15" dirty="0">
                <a:latin typeface="Calibri"/>
                <a:cs typeface="Calibri"/>
              </a:rPr>
              <a:t>problem</a:t>
            </a:r>
            <a:r>
              <a:rPr sz="2800" spc="4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well</a:t>
            </a:r>
            <a:r>
              <a:rPr sz="2800" spc="10" dirty="0">
                <a:latin typeface="Calibri"/>
                <a:cs typeface="Calibri"/>
              </a:rPr>
              <a:t> </a:t>
            </a:r>
            <a:r>
              <a:rPr sz="2800" spc="-15" dirty="0">
                <a:latin typeface="Calibri"/>
                <a:cs typeface="Calibri"/>
              </a:rPr>
              <a:t>defined </a:t>
            </a:r>
            <a:r>
              <a:rPr sz="2800" spc="-620" dirty="0">
                <a:latin typeface="Calibri"/>
                <a:cs typeface="Calibri"/>
              </a:rPr>
              <a:t> </a:t>
            </a:r>
            <a:r>
              <a:rPr sz="2800" spc="-15" dirty="0">
                <a:latin typeface="Calibri"/>
                <a:cs typeface="Calibri"/>
              </a:rPr>
              <a:t>problem</a:t>
            </a:r>
            <a:endParaRPr sz="2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472805" cy="697230"/>
          </a:xfrm>
          <a:prstGeom prst="rect">
            <a:avLst/>
          </a:prstGeom>
        </p:spPr>
        <p:txBody>
          <a:bodyPr vert="horz" wrap="square" lIns="0" tIns="13335" rIns="0" bIns="0" rtlCol="0">
            <a:spAutoFit/>
          </a:bodyPr>
          <a:lstStyle/>
          <a:p>
            <a:pPr marL="12700">
              <a:lnSpc>
                <a:spcPct val="100000"/>
              </a:lnSpc>
              <a:spcBef>
                <a:spcPts val="105"/>
              </a:spcBef>
            </a:pPr>
            <a:r>
              <a:rPr spc="-20" dirty="0"/>
              <a:t>Problem </a:t>
            </a:r>
            <a:r>
              <a:rPr spc="-40" dirty="0"/>
              <a:t>Types:</a:t>
            </a:r>
            <a:r>
              <a:rPr spc="-10" dirty="0"/>
              <a:t> </a:t>
            </a:r>
            <a:r>
              <a:rPr spc="-45" dirty="0"/>
              <a:t>Well</a:t>
            </a:r>
            <a:r>
              <a:rPr spc="-15" dirty="0"/>
              <a:t> </a:t>
            </a:r>
            <a:r>
              <a:rPr spc="-5" dirty="0"/>
              <a:t>Defined</a:t>
            </a:r>
            <a:r>
              <a:rPr spc="-15" dirty="0"/>
              <a:t> </a:t>
            </a:r>
            <a:r>
              <a:rPr spc="-20" dirty="0"/>
              <a:t>Problem</a:t>
            </a:r>
          </a:p>
        </p:txBody>
      </p:sp>
      <p:sp>
        <p:nvSpPr>
          <p:cNvPr id="3" name="object 3"/>
          <p:cNvSpPr txBox="1"/>
          <p:nvPr/>
        </p:nvSpPr>
        <p:spPr>
          <a:xfrm>
            <a:off x="916939" y="1706841"/>
            <a:ext cx="5255260" cy="105092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5" dirty="0">
                <a:latin typeface="Calibri"/>
                <a:cs typeface="Calibri"/>
              </a:rPr>
              <a:t>Generalization</a:t>
            </a:r>
            <a:r>
              <a:rPr sz="2800" spc="5" dirty="0">
                <a:latin typeface="Calibri"/>
                <a:cs typeface="Calibri"/>
              </a:rPr>
              <a:t> </a:t>
            </a:r>
            <a:r>
              <a:rPr sz="2800" spc="-5" dirty="0">
                <a:latin typeface="Calibri"/>
                <a:cs typeface="Calibri"/>
              </a:rPr>
              <a:t>of</a:t>
            </a:r>
            <a:r>
              <a:rPr sz="2800" spc="-10" dirty="0">
                <a:latin typeface="Calibri"/>
                <a:cs typeface="Calibri"/>
              </a:rPr>
              <a:t> </a:t>
            </a:r>
            <a:r>
              <a:rPr sz="2800" dirty="0">
                <a:latin typeface="Calibri"/>
                <a:cs typeface="Calibri"/>
              </a:rPr>
              <a:t>actions</a:t>
            </a:r>
            <a:r>
              <a:rPr sz="2800" spc="15" dirty="0">
                <a:latin typeface="Calibri"/>
                <a:cs typeface="Calibri"/>
              </a:rPr>
              <a:t> </a:t>
            </a:r>
            <a:r>
              <a:rPr sz="2800" spc="-5" dirty="0">
                <a:latin typeface="Calibri"/>
                <a:cs typeface="Calibri"/>
              </a:rPr>
              <a:t>and</a:t>
            </a:r>
            <a:r>
              <a:rPr sz="2800" spc="10" dirty="0">
                <a:latin typeface="Calibri"/>
                <a:cs typeface="Calibri"/>
              </a:rPr>
              <a:t> </a:t>
            </a:r>
            <a:r>
              <a:rPr sz="2800" spc="-5" dirty="0">
                <a:latin typeface="Calibri"/>
                <a:cs typeface="Calibri"/>
              </a:rPr>
              <a:t>rules</a:t>
            </a:r>
            <a:endParaRPr sz="2800">
              <a:latin typeface="Calibri"/>
              <a:cs typeface="Calibri"/>
            </a:endParaRPr>
          </a:p>
          <a:p>
            <a:pPr marL="241300" indent="-228600">
              <a:lnSpc>
                <a:spcPct val="100000"/>
              </a:lnSpc>
              <a:spcBef>
                <a:spcPts val="675"/>
              </a:spcBef>
              <a:buFont typeface="Arial MT"/>
              <a:buChar char="•"/>
              <a:tabLst>
                <a:tab pos="241300" algn="l"/>
              </a:tabLst>
            </a:pPr>
            <a:r>
              <a:rPr sz="2800" spc="-10" dirty="0">
                <a:latin typeface="Calibri"/>
                <a:cs typeface="Calibri"/>
              </a:rPr>
              <a:t>Specialization</a:t>
            </a:r>
            <a:r>
              <a:rPr sz="2800" spc="1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actions</a:t>
            </a:r>
            <a:r>
              <a:rPr sz="2800" spc="15" dirty="0">
                <a:latin typeface="Calibri"/>
                <a:cs typeface="Calibri"/>
              </a:rPr>
              <a:t> </a:t>
            </a:r>
            <a:r>
              <a:rPr sz="2800" spc="-5" dirty="0">
                <a:latin typeface="Calibri"/>
                <a:cs typeface="Calibri"/>
              </a:rPr>
              <a:t>and</a:t>
            </a:r>
            <a:r>
              <a:rPr sz="2800" spc="20" dirty="0">
                <a:latin typeface="Calibri"/>
                <a:cs typeface="Calibri"/>
              </a:rPr>
              <a:t> </a:t>
            </a:r>
            <a:r>
              <a:rPr sz="2800" spc="-5" dirty="0">
                <a:latin typeface="Calibri"/>
                <a:cs typeface="Calibri"/>
              </a:rPr>
              <a:t>rules</a:t>
            </a:r>
            <a:endParaRPr sz="2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535" rIns="0" bIns="0" rtlCol="0">
            <a:spAutoFit/>
          </a:bodyPr>
          <a:lstStyle/>
          <a:p>
            <a:pPr marL="12700" marR="5080">
              <a:lnSpc>
                <a:spcPts val="4750"/>
              </a:lnSpc>
              <a:spcBef>
                <a:spcPts val="705"/>
              </a:spcBef>
            </a:pPr>
            <a:r>
              <a:rPr spc="-20" dirty="0"/>
              <a:t>Problem </a:t>
            </a:r>
            <a:r>
              <a:rPr spc="-40" dirty="0"/>
              <a:t>Types:</a:t>
            </a:r>
            <a:r>
              <a:rPr spc="-15" dirty="0"/>
              <a:t> </a:t>
            </a:r>
            <a:r>
              <a:rPr spc="-20" dirty="0"/>
              <a:t>Constraint</a:t>
            </a:r>
            <a:r>
              <a:rPr spc="-30" dirty="0"/>
              <a:t> </a:t>
            </a:r>
            <a:r>
              <a:rPr spc="-15" dirty="0"/>
              <a:t>Satisfaction </a:t>
            </a:r>
            <a:r>
              <a:rPr spc="-980" dirty="0"/>
              <a:t> </a:t>
            </a:r>
            <a:r>
              <a:rPr spc="-25" dirty="0"/>
              <a:t>Problem</a:t>
            </a:r>
          </a:p>
        </p:txBody>
      </p:sp>
      <p:sp>
        <p:nvSpPr>
          <p:cNvPr id="3" name="object 3"/>
          <p:cNvSpPr txBox="1"/>
          <p:nvPr/>
        </p:nvSpPr>
        <p:spPr>
          <a:xfrm>
            <a:off x="916939" y="1706841"/>
            <a:ext cx="10192385" cy="4241546"/>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lang="en-US" sz="2800" dirty="0"/>
              <a:t>For example, in a crossword puzzle it is only required that words that cross each other have the same letter in the location where they cross.</a:t>
            </a:r>
            <a:endParaRPr lang="en-US" sz="2800" spc="-5" dirty="0">
              <a:latin typeface="Calibri"/>
              <a:cs typeface="Calibri"/>
            </a:endParaRPr>
          </a:p>
          <a:p>
            <a:pPr marL="241300" indent="-228600">
              <a:lnSpc>
                <a:spcPct val="100000"/>
              </a:lnSpc>
              <a:spcBef>
                <a:spcPts val="775"/>
              </a:spcBef>
              <a:buFont typeface="Arial MT"/>
              <a:buChar char="•"/>
              <a:tabLst>
                <a:tab pos="241300" algn="l"/>
              </a:tabLst>
            </a:pPr>
            <a:r>
              <a:rPr sz="2800" spc="-5" dirty="0">
                <a:latin typeface="Calibri"/>
                <a:cs typeface="Calibri"/>
              </a:rPr>
              <a:t>A</a:t>
            </a:r>
            <a:r>
              <a:rPr sz="2800" spc="20" dirty="0">
                <a:latin typeface="Calibri"/>
                <a:cs typeface="Calibri"/>
              </a:rPr>
              <a:t> </a:t>
            </a:r>
            <a:r>
              <a:rPr sz="2800" spc="-10" dirty="0">
                <a:latin typeface="Calibri"/>
                <a:cs typeface="Calibri"/>
              </a:rPr>
              <a:t>search</a:t>
            </a:r>
            <a:r>
              <a:rPr sz="2800" spc="10" dirty="0">
                <a:latin typeface="Calibri"/>
                <a:cs typeface="Calibri"/>
              </a:rPr>
              <a:t> </a:t>
            </a:r>
            <a:r>
              <a:rPr sz="2800" spc="-15" dirty="0">
                <a:latin typeface="Calibri"/>
                <a:cs typeface="Calibri"/>
              </a:rPr>
              <a:t>procedure</a:t>
            </a:r>
            <a:r>
              <a:rPr sz="2800" spc="45" dirty="0">
                <a:latin typeface="Calibri"/>
                <a:cs typeface="Calibri"/>
              </a:rPr>
              <a:t> </a:t>
            </a:r>
            <a:r>
              <a:rPr sz="2800" spc="-10" dirty="0">
                <a:latin typeface="Calibri"/>
                <a:cs typeface="Calibri"/>
              </a:rPr>
              <a:t>that</a:t>
            </a:r>
            <a:r>
              <a:rPr sz="2800" dirty="0">
                <a:latin typeface="Calibri"/>
                <a:cs typeface="Calibri"/>
              </a:rPr>
              <a:t> </a:t>
            </a:r>
            <a:r>
              <a:rPr sz="2800" spc="-20" dirty="0">
                <a:latin typeface="Calibri"/>
                <a:cs typeface="Calibri"/>
              </a:rPr>
              <a:t>operates</a:t>
            </a:r>
            <a:r>
              <a:rPr sz="2800" spc="2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a</a:t>
            </a:r>
            <a:r>
              <a:rPr sz="2800" dirty="0">
                <a:latin typeface="Calibri"/>
                <a:cs typeface="Calibri"/>
              </a:rPr>
              <a:t> </a:t>
            </a:r>
            <a:r>
              <a:rPr sz="2800" spc="-5" dirty="0">
                <a:latin typeface="Calibri"/>
                <a:cs typeface="Calibri"/>
              </a:rPr>
              <a:t>space</a:t>
            </a:r>
            <a:r>
              <a:rPr sz="2800" spc="20" dirty="0">
                <a:latin typeface="Calibri"/>
                <a:cs typeface="Calibri"/>
              </a:rPr>
              <a:t> </a:t>
            </a:r>
            <a:r>
              <a:rPr sz="2800" spc="-5" dirty="0">
                <a:latin typeface="Calibri"/>
                <a:cs typeface="Calibri"/>
              </a:rPr>
              <a:t>of</a:t>
            </a:r>
            <a:r>
              <a:rPr sz="2800" spc="10" dirty="0">
                <a:latin typeface="Calibri"/>
                <a:cs typeface="Calibri"/>
              </a:rPr>
              <a:t> </a:t>
            </a:r>
            <a:r>
              <a:rPr sz="2800" spc="-20" dirty="0">
                <a:latin typeface="Calibri"/>
                <a:cs typeface="Calibri"/>
              </a:rPr>
              <a:t>constraint</a:t>
            </a:r>
            <a:r>
              <a:rPr sz="2800" spc="45" dirty="0">
                <a:latin typeface="Calibri"/>
                <a:cs typeface="Calibri"/>
              </a:rPr>
              <a:t> </a:t>
            </a:r>
            <a:r>
              <a:rPr sz="2800" spc="-10" dirty="0">
                <a:latin typeface="Calibri"/>
                <a:cs typeface="Calibri"/>
              </a:rPr>
              <a:t>sets</a:t>
            </a:r>
            <a:endParaRPr sz="2800" dirty="0">
              <a:latin typeface="Calibri"/>
              <a:cs typeface="Calibri"/>
            </a:endParaRPr>
          </a:p>
          <a:p>
            <a:pPr marL="241300" marR="5080" indent="-228600">
              <a:lnSpc>
                <a:spcPts val="3020"/>
              </a:lnSpc>
              <a:spcBef>
                <a:spcPts val="1060"/>
              </a:spcBef>
              <a:buFont typeface="Arial MT"/>
              <a:buChar char="•"/>
              <a:tabLst>
                <a:tab pos="241300" algn="l"/>
              </a:tabLst>
            </a:pPr>
            <a:r>
              <a:rPr sz="2800" spc="-15" dirty="0">
                <a:latin typeface="Calibri"/>
                <a:cs typeface="Calibri"/>
              </a:rPr>
              <a:t>Constraints</a:t>
            </a:r>
            <a:r>
              <a:rPr sz="2800" spc="60" dirty="0">
                <a:latin typeface="Calibri"/>
                <a:cs typeface="Calibri"/>
              </a:rPr>
              <a:t> </a:t>
            </a:r>
            <a:r>
              <a:rPr sz="2800" spc="-15" dirty="0">
                <a:latin typeface="Calibri"/>
                <a:cs typeface="Calibri"/>
              </a:rPr>
              <a:t>are</a:t>
            </a:r>
            <a:r>
              <a:rPr sz="2800" spc="5" dirty="0">
                <a:latin typeface="Calibri"/>
                <a:cs typeface="Calibri"/>
              </a:rPr>
              <a:t> </a:t>
            </a:r>
            <a:r>
              <a:rPr sz="2800" spc="-15" dirty="0">
                <a:latin typeface="Calibri"/>
                <a:cs typeface="Calibri"/>
              </a:rPr>
              <a:t>discovered</a:t>
            </a:r>
            <a:r>
              <a:rPr sz="2800" spc="30" dirty="0">
                <a:latin typeface="Calibri"/>
                <a:cs typeface="Calibri"/>
              </a:rPr>
              <a:t> </a:t>
            </a:r>
            <a:r>
              <a:rPr sz="2800" spc="-5" dirty="0">
                <a:latin typeface="Calibri"/>
                <a:cs typeface="Calibri"/>
              </a:rPr>
              <a:t>and</a:t>
            </a:r>
            <a:r>
              <a:rPr sz="2800" spc="20" dirty="0">
                <a:latin typeface="Calibri"/>
                <a:cs typeface="Calibri"/>
              </a:rPr>
              <a:t> </a:t>
            </a:r>
            <a:r>
              <a:rPr sz="2800" spc="-20" dirty="0">
                <a:latin typeface="Calibri"/>
                <a:cs typeface="Calibri"/>
              </a:rPr>
              <a:t>propagated</a:t>
            </a:r>
            <a:r>
              <a:rPr sz="2800" spc="20" dirty="0">
                <a:latin typeface="Calibri"/>
                <a:cs typeface="Calibri"/>
              </a:rPr>
              <a:t> </a:t>
            </a:r>
            <a:r>
              <a:rPr sz="2800" spc="-5" dirty="0">
                <a:latin typeface="Calibri"/>
                <a:cs typeface="Calibri"/>
              </a:rPr>
              <a:t>as</a:t>
            </a:r>
            <a:r>
              <a:rPr sz="2800" spc="15" dirty="0">
                <a:latin typeface="Calibri"/>
                <a:cs typeface="Calibri"/>
              </a:rPr>
              <a:t> </a:t>
            </a:r>
            <a:r>
              <a:rPr sz="2800" spc="-25" dirty="0">
                <a:latin typeface="Calibri"/>
                <a:cs typeface="Calibri"/>
              </a:rPr>
              <a:t>far</a:t>
            </a:r>
            <a:r>
              <a:rPr sz="2800" spc="10" dirty="0">
                <a:latin typeface="Calibri"/>
                <a:cs typeface="Calibri"/>
              </a:rPr>
              <a:t> </a:t>
            </a:r>
            <a:r>
              <a:rPr sz="2800" spc="-5" dirty="0">
                <a:latin typeface="Calibri"/>
                <a:cs typeface="Calibri"/>
              </a:rPr>
              <a:t>as</a:t>
            </a:r>
            <a:r>
              <a:rPr sz="2800" spc="15" dirty="0">
                <a:latin typeface="Calibri"/>
                <a:cs typeface="Calibri"/>
              </a:rPr>
              <a:t> </a:t>
            </a:r>
            <a:r>
              <a:rPr sz="2800" spc="-10" dirty="0">
                <a:latin typeface="Calibri"/>
                <a:cs typeface="Calibri"/>
              </a:rPr>
              <a:t>possible</a:t>
            </a:r>
            <a:r>
              <a:rPr sz="2800" spc="45" dirty="0">
                <a:latin typeface="Calibri"/>
                <a:cs typeface="Calibri"/>
              </a:rPr>
              <a:t> </a:t>
            </a:r>
            <a:r>
              <a:rPr sz="2800" spc="-15" dirty="0">
                <a:latin typeface="Calibri"/>
                <a:cs typeface="Calibri"/>
              </a:rPr>
              <a:t>through </a:t>
            </a:r>
            <a:r>
              <a:rPr sz="2800" spc="-615" dirty="0">
                <a:latin typeface="Calibri"/>
                <a:cs typeface="Calibri"/>
              </a:rPr>
              <a:t> </a:t>
            </a:r>
            <a:r>
              <a:rPr sz="2800" spc="-10" dirty="0">
                <a:latin typeface="Calibri"/>
                <a:cs typeface="Calibri"/>
              </a:rPr>
              <a:t>out</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30" dirty="0">
                <a:latin typeface="Calibri"/>
                <a:cs typeface="Calibri"/>
              </a:rPr>
              <a:t>system</a:t>
            </a:r>
            <a:endParaRPr sz="2800" dirty="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It</a:t>
            </a:r>
            <a:r>
              <a:rPr sz="2800" spc="5" dirty="0">
                <a:latin typeface="Calibri"/>
                <a:cs typeface="Calibri"/>
              </a:rPr>
              <a:t> </a:t>
            </a:r>
            <a:r>
              <a:rPr sz="2800" spc="-5" dirty="0">
                <a:latin typeface="Calibri"/>
                <a:cs typeface="Calibri"/>
              </a:rPr>
              <a:t>(Search)</a:t>
            </a:r>
            <a:r>
              <a:rPr sz="2800" spc="5" dirty="0">
                <a:latin typeface="Calibri"/>
                <a:cs typeface="Calibri"/>
              </a:rPr>
              <a:t> </a:t>
            </a:r>
            <a:r>
              <a:rPr sz="2800" spc="-10" dirty="0">
                <a:latin typeface="Calibri"/>
                <a:cs typeface="Calibri"/>
              </a:rPr>
              <a:t>continues</a:t>
            </a:r>
            <a:r>
              <a:rPr sz="2800" spc="60" dirty="0">
                <a:latin typeface="Calibri"/>
                <a:cs typeface="Calibri"/>
              </a:rPr>
              <a:t> </a:t>
            </a:r>
            <a:r>
              <a:rPr sz="2800" spc="-10" dirty="0">
                <a:latin typeface="Calibri"/>
                <a:cs typeface="Calibri"/>
              </a:rPr>
              <a:t>until</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solution</a:t>
            </a:r>
            <a:r>
              <a:rPr sz="2800" spc="30"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achieved</a:t>
            </a:r>
            <a:endParaRPr sz="2800" dirty="0">
              <a:latin typeface="Calibri"/>
              <a:cs typeface="Calibri"/>
            </a:endParaRPr>
          </a:p>
          <a:p>
            <a:pPr marL="241300" marR="1081405" indent="-228600">
              <a:lnSpc>
                <a:spcPts val="3020"/>
              </a:lnSpc>
              <a:spcBef>
                <a:spcPts val="1045"/>
              </a:spcBef>
              <a:buFont typeface="Arial MT"/>
              <a:buChar char="•"/>
              <a:tabLst>
                <a:tab pos="241300" algn="l"/>
              </a:tabLst>
            </a:pPr>
            <a:r>
              <a:rPr sz="2800" spc="-5" dirty="0">
                <a:latin typeface="Calibri"/>
                <a:cs typeface="Calibri"/>
              </a:rPr>
              <a:t>An</a:t>
            </a:r>
            <a:r>
              <a:rPr sz="2800" spc="15" dirty="0">
                <a:latin typeface="Calibri"/>
                <a:cs typeface="Calibri"/>
              </a:rPr>
              <a:t> </a:t>
            </a:r>
            <a:r>
              <a:rPr sz="2800" spc="-5" dirty="0">
                <a:latin typeface="Calibri"/>
                <a:cs typeface="Calibri"/>
              </a:rPr>
              <a:t>assumption</a:t>
            </a:r>
            <a:r>
              <a:rPr sz="2800" spc="60"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made</a:t>
            </a:r>
            <a:r>
              <a:rPr sz="2800" spc="10" dirty="0">
                <a:latin typeface="Calibri"/>
                <a:cs typeface="Calibri"/>
              </a:rPr>
              <a:t> </a:t>
            </a:r>
            <a:r>
              <a:rPr sz="2800" spc="-5" dirty="0">
                <a:latin typeface="Calibri"/>
                <a:cs typeface="Calibri"/>
              </a:rPr>
              <a:t>about</a:t>
            </a:r>
            <a:r>
              <a:rPr sz="2800" spc="20" dirty="0">
                <a:latin typeface="Calibri"/>
                <a:cs typeface="Calibri"/>
              </a:rPr>
              <a:t> </a:t>
            </a:r>
            <a:r>
              <a:rPr sz="2800" spc="-10" dirty="0">
                <a:latin typeface="Calibri"/>
                <a:cs typeface="Calibri"/>
              </a:rPr>
              <a:t>something</a:t>
            </a:r>
            <a:r>
              <a:rPr sz="2800" spc="35"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added</a:t>
            </a:r>
            <a:r>
              <a:rPr sz="2800" spc="30" dirty="0">
                <a:latin typeface="Calibri"/>
                <a:cs typeface="Calibri"/>
              </a:rPr>
              <a:t> </a:t>
            </a:r>
            <a:r>
              <a:rPr sz="2800" spc="-5" dirty="0">
                <a:latin typeface="Calibri"/>
                <a:cs typeface="Calibri"/>
              </a:rPr>
              <a:t>as</a:t>
            </a:r>
            <a:r>
              <a:rPr sz="2800" spc="10"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new </a:t>
            </a:r>
            <a:r>
              <a:rPr sz="2800" spc="-615" dirty="0">
                <a:latin typeface="Calibri"/>
                <a:cs typeface="Calibri"/>
              </a:rPr>
              <a:t> </a:t>
            </a:r>
            <a:r>
              <a:rPr sz="2800" spc="-20" dirty="0">
                <a:latin typeface="Calibri"/>
                <a:cs typeface="Calibri"/>
              </a:rPr>
              <a:t>constraint</a:t>
            </a: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535" rIns="0" bIns="0" rtlCol="0">
            <a:spAutoFit/>
          </a:bodyPr>
          <a:lstStyle/>
          <a:p>
            <a:pPr marL="12700" marR="5080">
              <a:lnSpc>
                <a:spcPts val="4750"/>
              </a:lnSpc>
              <a:spcBef>
                <a:spcPts val="705"/>
              </a:spcBef>
            </a:pPr>
            <a:r>
              <a:rPr spc="-20" dirty="0"/>
              <a:t>Problem </a:t>
            </a:r>
            <a:r>
              <a:rPr spc="-40" dirty="0"/>
              <a:t>Types:</a:t>
            </a:r>
            <a:r>
              <a:rPr spc="-15" dirty="0"/>
              <a:t> </a:t>
            </a:r>
            <a:r>
              <a:rPr spc="-20" dirty="0"/>
              <a:t>Constraint</a:t>
            </a:r>
            <a:r>
              <a:rPr spc="-30" dirty="0"/>
              <a:t> </a:t>
            </a:r>
            <a:r>
              <a:rPr spc="-15" dirty="0"/>
              <a:t>Satisfaction </a:t>
            </a:r>
            <a:r>
              <a:rPr spc="-980" dirty="0"/>
              <a:t> </a:t>
            </a:r>
            <a:r>
              <a:rPr spc="-25" dirty="0"/>
              <a:t>Problem</a:t>
            </a:r>
          </a:p>
        </p:txBody>
      </p:sp>
      <p:sp>
        <p:nvSpPr>
          <p:cNvPr id="3" name="object 3"/>
          <p:cNvSpPr txBox="1"/>
          <p:nvPr/>
        </p:nvSpPr>
        <p:spPr>
          <a:xfrm>
            <a:off x="916939" y="1793189"/>
            <a:ext cx="10196195" cy="3650615"/>
          </a:xfrm>
          <a:prstGeom prst="rect">
            <a:avLst/>
          </a:prstGeom>
        </p:spPr>
        <p:txBody>
          <a:bodyPr vert="horz" wrap="square" lIns="0" tIns="60325" rIns="0" bIns="0" rtlCol="0">
            <a:spAutoFit/>
          </a:bodyPr>
          <a:lstStyle/>
          <a:p>
            <a:pPr marL="241300" marR="53975" indent="-228600">
              <a:lnSpc>
                <a:spcPts val="3030"/>
              </a:lnSpc>
              <a:spcBef>
                <a:spcPts val="475"/>
              </a:spcBef>
              <a:buFont typeface="Arial MT"/>
              <a:buChar char="•"/>
              <a:tabLst>
                <a:tab pos="241300" algn="l"/>
              </a:tabLst>
            </a:pPr>
            <a:r>
              <a:rPr sz="2800" spc="-20" dirty="0">
                <a:latin typeface="Calibri"/>
                <a:cs typeface="Calibri"/>
              </a:rPr>
              <a:t>Constraint</a:t>
            </a:r>
            <a:r>
              <a:rPr sz="2800" spc="50" dirty="0">
                <a:latin typeface="Calibri"/>
                <a:cs typeface="Calibri"/>
              </a:rPr>
              <a:t> </a:t>
            </a:r>
            <a:r>
              <a:rPr sz="2800" spc="-10" dirty="0">
                <a:latin typeface="Calibri"/>
                <a:cs typeface="Calibri"/>
              </a:rPr>
              <a:t>Satisfaction</a:t>
            </a:r>
            <a:r>
              <a:rPr sz="2800" spc="25" dirty="0">
                <a:latin typeface="Calibri"/>
                <a:cs typeface="Calibri"/>
              </a:rPr>
              <a:t> </a:t>
            </a:r>
            <a:r>
              <a:rPr sz="2800" spc="-15" dirty="0">
                <a:latin typeface="Calibri"/>
                <a:cs typeface="Calibri"/>
              </a:rPr>
              <a:t>Problem</a:t>
            </a:r>
            <a:r>
              <a:rPr sz="2800" spc="50" dirty="0">
                <a:latin typeface="Calibri"/>
                <a:cs typeface="Calibri"/>
              </a:rPr>
              <a:t> </a:t>
            </a:r>
            <a:r>
              <a:rPr sz="2800" spc="-15" dirty="0">
                <a:latin typeface="Calibri"/>
                <a:cs typeface="Calibri"/>
              </a:rPr>
              <a:t>consists</a:t>
            </a:r>
            <a:r>
              <a:rPr sz="2800" spc="50" dirty="0">
                <a:latin typeface="Calibri"/>
                <a:cs typeface="Calibri"/>
              </a:rPr>
              <a:t> </a:t>
            </a:r>
            <a:r>
              <a:rPr sz="2800" spc="-5" dirty="0">
                <a:latin typeface="Calibri"/>
                <a:cs typeface="Calibri"/>
              </a:rPr>
              <a:t>of</a:t>
            </a:r>
            <a:r>
              <a:rPr sz="2800" spc="25" dirty="0">
                <a:latin typeface="Calibri"/>
                <a:cs typeface="Calibri"/>
              </a:rPr>
              <a:t> </a:t>
            </a:r>
            <a:r>
              <a:rPr sz="2800" spc="-10" dirty="0">
                <a:latin typeface="Calibri"/>
                <a:cs typeface="Calibri"/>
              </a:rPr>
              <a:t>variables</a:t>
            </a:r>
            <a:r>
              <a:rPr sz="2800" spc="25" dirty="0">
                <a:latin typeface="Calibri"/>
                <a:cs typeface="Calibri"/>
              </a:rPr>
              <a:t> </a:t>
            </a:r>
            <a:r>
              <a:rPr sz="2800" spc="-5" dirty="0">
                <a:latin typeface="Calibri"/>
                <a:cs typeface="Calibri"/>
              </a:rPr>
              <a:t>with</a:t>
            </a:r>
            <a:r>
              <a:rPr sz="2800" spc="25" dirty="0">
                <a:latin typeface="Calibri"/>
                <a:cs typeface="Calibri"/>
              </a:rPr>
              <a:t> </a:t>
            </a:r>
            <a:r>
              <a:rPr sz="2800" spc="-20" dirty="0">
                <a:latin typeface="Calibri"/>
                <a:cs typeface="Calibri"/>
              </a:rPr>
              <a:t>constraints </a:t>
            </a:r>
            <a:r>
              <a:rPr sz="2800" spc="-615" dirty="0">
                <a:latin typeface="Calibri"/>
                <a:cs typeface="Calibri"/>
              </a:rPr>
              <a:t> </a:t>
            </a:r>
            <a:r>
              <a:rPr sz="2800" spc="-5" dirty="0">
                <a:latin typeface="Calibri"/>
                <a:cs typeface="Calibri"/>
              </a:rPr>
              <a:t>on</a:t>
            </a:r>
            <a:r>
              <a:rPr sz="2800" spc="10" dirty="0">
                <a:latin typeface="Calibri"/>
                <a:cs typeface="Calibri"/>
              </a:rPr>
              <a:t> </a:t>
            </a:r>
            <a:r>
              <a:rPr sz="2800" spc="-5" dirty="0">
                <a:latin typeface="Calibri"/>
                <a:cs typeface="Calibri"/>
              </a:rPr>
              <a:t>them</a:t>
            </a:r>
            <a:endParaRPr sz="2800">
              <a:latin typeface="Calibri"/>
              <a:cs typeface="Calibri"/>
            </a:endParaRPr>
          </a:p>
          <a:p>
            <a:pPr marL="241300" indent="-228600">
              <a:lnSpc>
                <a:spcPct val="100000"/>
              </a:lnSpc>
              <a:spcBef>
                <a:spcPts val="620"/>
              </a:spcBef>
              <a:buFont typeface="Arial MT"/>
              <a:buChar char="•"/>
              <a:tabLst>
                <a:tab pos="241300" algn="l"/>
              </a:tabLst>
            </a:pPr>
            <a:r>
              <a:rPr sz="2800" spc="-15" dirty="0">
                <a:latin typeface="Calibri"/>
                <a:cs typeface="Calibri"/>
              </a:rPr>
              <a:t>Many</a:t>
            </a:r>
            <a:r>
              <a:rPr sz="2800" spc="10" dirty="0">
                <a:latin typeface="Calibri"/>
                <a:cs typeface="Calibri"/>
              </a:rPr>
              <a:t> </a:t>
            </a:r>
            <a:r>
              <a:rPr sz="2800" spc="-10" dirty="0">
                <a:latin typeface="Calibri"/>
                <a:cs typeface="Calibri"/>
              </a:rPr>
              <a:t>important</a:t>
            </a:r>
            <a:r>
              <a:rPr sz="2800" spc="40" dirty="0">
                <a:latin typeface="Calibri"/>
                <a:cs typeface="Calibri"/>
              </a:rPr>
              <a:t> </a:t>
            </a:r>
            <a:r>
              <a:rPr sz="2800" spc="-15" dirty="0">
                <a:latin typeface="Calibri"/>
                <a:cs typeface="Calibri"/>
              </a:rPr>
              <a:t>real</a:t>
            </a:r>
            <a:r>
              <a:rPr sz="2800" spc="-10" dirty="0">
                <a:latin typeface="Calibri"/>
                <a:cs typeface="Calibri"/>
              </a:rPr>
              <a:t> world</a:t>
            </a:r>
            <a:r>
              <a:rPr sz="2800" spc="10" dirty="0">
                <a:latin typeface="Calibri"/>
                <a:cs typeface="Calibri"/>
              </a:rPr>
              <a:t> </a:t>
            </a:r>
            <a:r>
              <a:rPr sz="2800" spc="-15" dirty="0">
                <a:latin typeface="Calibri"/>
                <a:cs typeface="Calibri"/>
              </a:rPr>
              <a:t>problems</a:t>
            </a:r>
            <a:r>
              <a:rPr sz="2800" spc="35" dirty="0">
                <a:latin typeface="Calibri"/>
                <a:cs typeface="Calibri"/>
              </a:rPr>
              <a:t> </a:t>
            </a:r>
            <a:r>
              <a:rPr sz="2800" spc="-10" dirty="0">
                <a:latin typeface="Calibri"/>
                <a:cs typeface="Calibri"/>
              </a:rPr>
              <a:t>can</a:t>
            </a:r>
            <a:r>
              <a:rPr sz="2800" spc="20" dirty="0">
                <a:latin typeface="Calibri"/>
                <a:cs typeface="Calibri"/>
              </a:rPr>
              <a:t> </a:t>
            </a:r>
            <a:r>
              <a:rPr sz="2800" spc="-5" dirty="0">
                <a:latin typeface="Calibri"/>
                <a:cs typeface="Calibri"/>
              </a:rPr>
              <a:t>be</a:t>
            </a:r>
            <a:r>
              <a:rPr sz="2800" spc="10" dirty="0">
                <a:latin typeface="Calibri"/>
                <a:cs typeface="Calibri"/>
              </a:rPr>
              <a:t> </a:t>
            </a:r>
            <a:r>
              <a:rPr sz="2800" spc="-5" dirty="0">
                <a:latin typeface="Calibri"/>
                <a:cs typeface="Calibri"/>
              </a:rPr>
              <a:t>described</a:t>
            </a:r>
            <a:r>
              <a:rPr sz="2800" spc="35" dirty="0">
                <a:latin typeface="Calibri"/>
                <a:cs typeface="Calibri"/>
              </a:rPr>
              <a:t> </a:t>
            </a:r>
            <a:r>
              <a:rPr sz="2800" spc="-5" dirty="0">
                <a:latin typeface="Calibri"/>
                <a:cs typeface="Calibri"/>
              </a:rPr>
              <a:t>as</a:t>
            </a:r>
            <a:r>
              <a:rPr sz="2800" spc="10" dirty="0">
                <a:latin typeface="Calibri"/>
                <a:cs typeface="Calibri"/>
              </a:rPr>
              <a:t> </a:t>
            </a:r>
            <a:r>
              <a:rPr sz="2800" spc="-20" dirty="0">
                <a:latin typeface="Calibri"/>
                <a:cs typeface="Calibri"/>
              </a:rPr>
              <a:t>CSPs</a:t>
            </a:r>
            <a:endParaRPr sz="2800">
              <a:latin typeface="Calibri"/>
              <a:cs typeface="Calibri"/>
            </a:endParaRPr>
          </a:p>
          <a:p>
            <a:pPr marL="241300" indent="-228600">
              <a:lnSpc>
                <a:spcPct val="100000"/>
              </a:lnSpc>
              <a:spcBef>
                <a:spcPts val="660"/>
              </a:spcBef>
              <a:buFont typeface="Arial MT"/>
              <a:buChar char="•"/>
              <a:tabLst>
                <a:tab pos="241300" algn="l"/>
                <a:tab pos="6461125" algn="l"/>
              </a:tabLst>
            </a:pPr>
            <a:r>
              <a:rPr sz="2800" spc="-5" dirty="0">
                <a:latin typeface="Calibri"/>
                <a:cs typeface="Calibri"/>
              </a:rPr>
              <a:t>The</a:t>
            </a:r>
            <a:r>
              <a:rPr sz="2800" spc="10" dirty="0">
                <a:latin typeface="Calibri"/>
                <a:cs typeface="Calibri"/>
              </a:rPr>
              <a:t> </a:t>
            </a:r>
            <a:r>
              <a:rPr sz="2800" spc="-10" dirty="0">
                <a:latin typeface="Calibri"/>
                <a:cs typeface="Calibri"/>
              </a:rPr>
              <a:t>structure</a:t>
            </a:r>
            <a:r>
              <a:rPr sz="2800" spc="45" dirty="0">
                <a:latin typeface="Calibri"/>
                <a:cs typeface="Calibri"/>
              </a:rPr>
              <a:t> </a:t>
            </a:r>
            <a:r>
              <a:rPr sz="2800" spc="-5" dirty="0">
                <a:latin typeface="Calibri"/>
                <a:cs typeface="Calibri"/>
              </a:rPr>
              <a:t>of</a:t>
            </a:r>
            <a:r>
              <a:rPr sz="2800" spc="15" dirty="0">
                <a:latin typeface="Calibri"/>
                <a:cs typeface="Calibri"/>
              </a:rPr>
              <a:t> </a:t>
            </a:r>
            <a:r>
              <a:rPr sz="2800" spc="-5" dirty="0">
                <a:latin typeface="Calibri"/>
                <a:cs typeface="Calibri"/>
              </a:rPr>
              <a:t>a</a:t>
            </a:r>
            <a:r>
              <a:rPr sz="2800" spc="10" dirty="0">
                <a:latin typeface="Calibri"/>
                <a:cs typeface="Calibri"/>
              </a:rPr>
              <a:t> </a:t>
            </a:r>
            <a:r>
              <a:rPr sz="2800" spc="-5" dirty="0">
                <a:latin typeface="Calibri"/>
                <a:cs typeface="Calibri"/>
              </a:rPr>
              <a:t>CSP</a:t>
            </a:r>
            <a:r>
              <a:rPr sz="2800" spc="10" dirty="0">
                <a:latin typeface="Calibri"/>
                <a:cs typeface="Calibri"/>
              </a:rPr>
              <a:t> </a:t>
            </a:r>
            <a:r>
              <a:rPr sz="2800" spc="-10" dirty="0">
                <a:latin typeface="Calibri"/>
                <a:cs typeface="Calibri"/>
              </a:rPr>
              <a:t>can</a:t>
            </a:r>
            <a:r>
              <a:rPr sz="2800" spc="20" dirty="0">
                <a:latin typeface="Calibri"/>
                <a:cs typeface="Calibri"/>
              </a:rPr>
              <a:t> </a:t>
            </a:r>
            <a:r>
              <a:rPr sz="2800" spc="-5" dirty="0">
                <a:latin typeface="Calibri"/>
                <a:cs typeface="Calibri"/>
              </a:rPr>
              <a:t>be</a:t>
            </a:r>
            <a:r>
              <a:rPr sz="2800" spc="5" dirty="0">
                <a:latin typeface="Calibri"/>
                <a:cs typeface="Calibri"/>
              </a:rPr>
              <a:t> </a:t>
            </a:r>
            <a:r>
              <a:rPr sz="2800" spc="-15" dirty="0">
                <a:latin typeface="Calibri"/>
                <a:cs typeface="Calibri"/>
              </a:rPr>
              <a:t>represented	</a:t>
            </a:r>
            <a:r>
              <a:rPr sz="2800" spc="-10" dirty="0">
                <a:latin typeface="Calibri"/>
                <a:cs typeface="Calibri"/>
              </a:rPr>
              <a:t>by</a:t>
            </a:r>
            <a:r>
              <a:rPr sz="2800" spc="-5" dirty="0">
                <a:latin typeface="Calibri"/>
                <a:cs typeface="Calibri"/>
              </a:rPr>
              <a:t> </a:t>
            </a:r>
            <a:r>
              <a:rPr sz="2800" spc="-20" dirty="0">
                <a:latin typeface="Calibri"/>
                <a:cs typeface="Calibri"/>
              </a:rPr>
              <a:t>constraint</a:t>
            </a:r>
            <a:r>
              <a:rPr sz="2800" spc="35" dirty="0">
                <a:latin typeface="Calibri"/>
                <a:cs typeface="Calibri"/>
              </a:rPr>
              <a:t> </a:t>
            </a:r>
            <a:r>
              <a:rPr sz="2800" spc="-15" dirty="0">
                <a:latin typeface="Calibri"/>
                <a:cs typeface="Calibri"/>
              </a:rPr>
              <a:t>graph</a:t>
            </a:r>
            <a:endParaRPr sz="2800">
              <a:latin typeface="Calibri"/>
              <a:cs typeface="Calibri"/>
            </a:endParaRPr>
          </a:p>
          <a:p>
            <a:pPr marL="241300" marR="5080" indent="-228600">
              <a:lnSpc>
                <a:spcPts val="3020"/>
              </a:lnSpc>
              <a:spcBef>
                <a:spcPts val="1045"/>
              </a:spcBef>
              <a:buFont typeface="Arial MT"/>
              <a:buChar char="•"/>
              <a:tabLst>
                <a:tab pos="241300" algn="l"/>
              </a:tabLst>
            </a:pPr>
            <a:r>
              <a:rPr sz="2800" spc="-10" dirty="0">
                <a:latin typeface="Calibri"/>
                <a:cs typeface="Calibri"/>
              </a:rPr>
              <a:t>CSP</a:t>
            </a:r>
            <a:r>
              <a:rPr sz="2800" spc="10" dirty="0">
                <a:latin typeface="Calibri"/>
                <a:cs typeface="Calibri"/>
              </a:rPr>
              <a:t> </a:t>
            </a:r>
            <a:r>
              <a:rPr sz="2800" spc="-10" dirty="0">
                <a:latin typeface="Calibri"/>
                <a:cs typeface="Calibri"/>
              </a:rPr>
              <a:t>has</a:t>
            </a:r>
            <a:r>
              <a:rPr sz="2800" spc="20" dirty="0">
                <a:latin typeface="Calibri"/>
                <a:cs typeface="Calibri"/>
              </a:rPr>
              <a:t> </a:t>
            </a:r>
            <a:r>
              <a:rPr sz="2800" spc="-25" dirty="0">
                <a:latin typeface="Calibri"/>
                <a:cs typeface="Calibri"/>
              </a:rPr>
              <a:t>states</a:t>
            </a:r>
            <a:r>
              <a:rPr sz="2800" spc="25" dirty="0">
                <a:latin typeface="Calibri"/>
                <a:cs typeface="Calibri"/>
              </a:rPr>
              <a:t> </a:t>
            </a:r>
            <a:r>
              <a:rPr sz="2800" spc="-5" dirty="0">
                <a:latin typeface="Calibri"/>
                <a:cs typeface="Calibri"/>
              </a:rPr>
              <a:t>and</a:t>
            </a:r>
            <a:r>
              <a:rPr sz="2800" spc="20" dirty="0">
                <a:latin typeface="Calibri"/>
                <a:cs typeface="Calibri"/>
              </a:rPr>
              <a:t> </a:t>
            </a:r>
            <a:r>
              <a:rPr sz="2800" spc="-10" dirty="0">
                <a:latin typeface="Calibri"/>
                <a:cs typeface="Calibri"/>
              </a:rPr>
              <a:t>goal</a:t>
            </a:r>
            <a:r>
              <a:rPr sz="2800" spc="5" dirty="0">
                <a:latin typeface="Calibri"/>
                <a:cs typeface="Calibri"/>
              </a:rPr>
              <a:t> </a:t>
            </a:r>
            <a:r>
              <a:rPr sz="2800" spc="-20" dirty="0">
                <a:latin typeface="Calibri"/>
                <a:cs typeface="Calibri"/>
              </a:rPr>
              <a:t>test</a:t>
            </a:r>
            <a:r>
              <a:rPr sz="2800" dirty="0">
                <a:latin typeface="Calibri"/>
                <a:cs typeface="Calibri"/>
              </a:rPr>
              <a:t> </a:t>
            </a:r>
            <a:r>
              <a:rPr sz="2800" spc="-15" dirty="0">
                <a:latin typeface="Calibri"/>
                <a:cs typeface="Calibri"/>
              </a:rPr>
              <a:t>conformed</a:t>
            </a:r>
            <a:r>
              <a:rPr sz="2800" spc="25"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a</a:t>
            </a:r>
            <a:r>
              <a:rPr sz="2800" spc="15" dirty="0">
                <a:latin typeface="Calibri"/>
                <a:cs typeface="Calibri"/>
              </a:rPr>
              <a:t> </a:t>
            </a:r>
            <a:r>
              <a:rPr sz="2800" spc="-15" dirty="0">
                <a:latin typeface="Calibri"/>
                <a:cs typeface="Calibri"/>
              </a:rPr>
              <a:t>standard,</a:t>
            </a:r>
            <a:r>
              <a:rPr sz="2800" spc="35" dirty="0">
                <a:latin typeface="Calibri"/>
                <a:cs typeface="Calibri"/>
              </a:rPr>
              <a:t> </a:t>
            </a:r>
            <a:r>
              <a:rPr sz="2800" spc="-10" dirty="0">
                <a:latin typeface="Calibri"/>
                <a:cs typeface="Calibri"/>
              </a:rPr>
              <a:t>structured</a:t>
            </a:r>
            <a:r>
              <a:rPr sz="2800" spc="55" dirty="0">
                <a:latin typeface="Calibri"/>
                <a:cs typeface="Calibri"/>
              </a:rPr>
              <a:t> </a:t>
            </a:r>
            <a:r>
              <a:rPr sz="2800" spc="-5" dirty="0">
                <a:latin typeface="Calibri"/>
                <a:cs typeface="Calibri"/>
              </a:rPr>
              <a:t>and </a:t>
            </a:r>
            <a:r>
              <a:rPr sz="2800" spc="-620" dirty="0">
                <a:latin typeface="Calibri"/>
                <a:cs typeface="Calibri"/>
              </a:rPr>
              <a:t> </a:t>
            </a:r>
            <a:r>
              <a:rPr sz="2800" spc="-10" dirty="0">
                <a:latin typeface="Calibri"/>
                <a:cs typeface="Calibri"/>
              </a:rPr>
              <a:t>very</a:t>
            </a:r>
            <a:r>
              <a:rPr sz="2800" spc="-5" dirty="0">
                <a:latin typeface="Calibri"/>
                <a:cs typeface="Calibri"/>
              </a:rPr>
              <a:t> simple</a:t>
            </a:r>
            <a:r>
              <a:rPr sz="2800" spc="20" dirty="0">
                <a:latin typeface="Calibri"/>
                <a:cs typeface="Calibri"/>
              </a:rPr>
              <a:t> </a:t>
            </a:r>
            <a:r>
              <a:rPr sz="2800" spc="-15" dirty="0">
                <a:latin typeface="Calibri"/>
                <a:cs typeface="Calibri"/>
              </a:rPr>
              <a:t>representation</a:t>
            </a:r>
            <a:endParaRPr sz="2800">
              <a:latin typeface="Calibri"/>
              <a:cs typeface="Calibri"/>
            </a:endParaRPr>
          </a:p>
          <a:p>
            <a:pPr marL="241300" marR="403860" indent="-228600">
              <a:lnSpc>
                <a:spcPts val="3020"/>
              </a:lnSpc>
              <a:spcBef>
                <a:spcPts val="1019"/>
              </a:spcBef>
              <a:buFont typeface="Arial MT"/>
              <a:buChar char="•"/>
              <a:tabLst>
                <a:tab pos="241300" algn="l"/>
              </a:tabLst>
            </a:pPr>
            <a:r>
              <a:rPr sz="2800" spc="-40" dirty="0">
                <a:latin typeface="Calibri"/>
                <a:cs typeface="Calibri"/>
              </a:rPr>
              <a:t>Simply,</a:t>
            </a:r>
            <a:r>
              <a:rPr sz="2800" spc="45" dirty="0">
                <a:latin typeface="Calibri"/>
                <a:cs typeface="Calibri"/>
              </a:rPr>
              <a:t> </a:t>
            </a:r>
            <a:r>
              <a:rPr sz="2800" spc="-10" dirty="0">
                <a:latin typeface="Calibri"/>
                <a:cs typeface="Calibri"/>
              </a:rPr>
              <a:t>CSP</a:t>
            </a:r>
            <a:r>
              <a:rPr sz="2800" spc="15"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such</a:t>
            </a:r>
            <a:r>
              <a:rPr sz="2800" spc="45" dirty="0">
                <a:latin typeface="Calibri"/>
                <a:cs typeface="Calibri"/>
              </a:rPr>
              <a:t> </a:t>
            </a:r>
            <a:r>
              <a:rPr sz="2800" spc="-10" dirty="0">
                <a:latin typeface="Calibri"/>
                <a:cs typeface="Calibri"/>
              </a:rPr>
              <a:t>that</a:t>
            </a:r>
            <a:r>
              <a:rPr sz="280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goal</a:t>
            </a:r>
            <a:r>
              <a:rPr sz="2800" spc="-5" dirty="0">
                <a:latin typeface="Calibri"/>
                <a:cs typeface="Calibri"/>
              </a:rPr>
              <a:t> is</a:t>
            </a:r>
            <a:r>
              <a:rPr sz="2800" spc="15" dirty="0">
                <a:latin typeface="Calibri"/>
                <a:cs typeface="Calibri"/>
              </a:rPr>
              <a:t> </a:t>
            </a:r>
            <a:r>
              <a:rPr sz="2800" spc="-15" dirty="0">
                <a:latin typeface="Calibri"/>
                <a:cs typeface="Calibri"/>
              </a:rPr>
              <a:t>to</a:t>
            </a:r>
            <a:r>
              <a:rPr sz="2800" spc="10" dirty="0">
                <a:latin typeface="Calibri"/>
                <a:cs typeface="Calibri"/>
              </a:rPr>
              <a:t> </a:t>
            </a:r>
            <a:r>
              <a:rPr sz="2800" spc="-15" dirty="0">
                <a:latin typeface="Calibri"/>
                <a:cs typeface="Calibri"/>
              </a:rPr>
              <a:t>discover</a:t>
            </a:r>
            <a:r>
              <a:rPr sz="2800" spc="30" dirty="0">
                <a:latin typeface="Calibri"/>
                <a:cs typeface="Calibri"/>
              </a:rPr>
              <a:t> </a:t>
            </a:r>
            <a:r>
              <a:rPr sz="2800" spc="-10" dirty="0">
                <a:latin typeface="Calibri"/>
                <a:cs typeface="Calibri"/>
              </a:rPr>
              <a:t>some</a:t>
            </a:r>
            <a:r>
              <a:rPr sz="2800" spc="25" dirty="0">
                <a:latin typeface="Calibri"/>
                <a:cs typeface="Calibri"/>
              </a:rPr>
              <a:t> </a:t>
            </a:r>
            <a:r>
              <a:rPr sz="2800" spc="-15" dirty="0">
                <a:latin typeface="Calibri"/>
                <a:cs typeface="Calibri"/>
              </a:rPr>
              <a:t>problem</a:t>
            </a:r>
            <a:r>
              <a:rPr sz="2800" spc="25" dirty="0">
                <a:latin typeface="Calibri"/>
                <a:cs typeface="Calibri"/>
              </a:rPr>
              <a:t> </a:t>
            </a:r>
            <a:r>
              <a:rPr sz="2800" spc="-25" dirty="0">
                <a:latin typeface="Calibri"/>
                <a:cs typeface="Calibri"/>
              </a:rPr>
              <a:t>state </a:t>
            </a:r>
            <a:r>
              <a:rPr sz="2800" spc="-620" dirty="0">
                <a:latin typeface="Calibri"/>
                <a:cs typeface="Calibri"/>
              </a:rPr>
              <a:t> </a:t>
            </a:r>
            <a:r>
              <a:rPr sz="2800" spc="-10" dirty="0">
                <a:latin typeface="Calibri"/>
                <a:cs typeface="Calibri"/>
              </a:rPr>
              <a:t>that</a:t>
            </a:r>
            <a:r>
              <a:rPr sz="2800" spc="10" dirty="0">
                <a:latin typeface="Calibri"/>
                <a:cs typeface="Calibri"/>
              </a:rPr>
              <a:t> </a:t>
            </a:r>
            <a:r>
              <a:rPr sz="2800" spc="-10" dirty="0">
                <a:latin typeface="Calibri"/>
                <a:cs typeface="Calibri"/>
              </a:rPr>
              <a:t>satisfies</a:t>
            </a:r>
            <a:r>
              <a:rPr sz="2800" spc="10" dirty="0">
                <a:latin typeface="Calibri"/>
                <a:cs typeface="Calibri"/>
              </a:rPr>
              <a:t> </a:t>
            </a:r>
            <a:r>
              <a:rPr sz="2800" spc="-5" dirty="0">
                <a:latin typeface="Calibri"/>
                <a:cs typeface="Calibri"/>
              </a:rPr>
              <a:t>a </a:t>
            </a:r>
            <a:r>
              <a:rPr sz="2800" spc="-10" dirty="0">
                <a:latin typeface="Calibri"/>
                <a:cs typeface="Calibri"/>
              </a:rPr>
              <a:t>given</a:t>
            </a:r>
            <a:r>
              <a:rPr sz="2800" dirty="0">
                <a:latin typeface="Calibri"/>
                <a:cs typeface="Calibri"/>
              </a:rPr>
              <a:t> </a:t>
            </a:r>
            <a:r>
              <a:rPr sz="2800" spc="-5" dirty="0">
                <a:latin typeface="Calibri"/>
                <a:cs typeface="Calibri"/>
              </a:rPr>
              <a:t>set</a:t>
            </a:r>
            <a:r>
              <a:rPr sz="2800" spc="15" dirty="0">
                <a:latin typeface="Calibri"/>
                <a:cs typeface="Calibri"/>
              </a:rPr>
              <a:t> </a:t>
            </a:r>
            <a:r>
              <a:rPr sz="2800" spc="-5" dirty="0">
                <a:latin typeface="Calibri"/>
                <a:cs typeface="Calibri"/>
              </a:rPr>
              <a:t>of</a:t>
            </a:r>
            <a:r>
              <a:rPr sz="2800" spc="5" dirty="0">
                <a:latin typeface="Calibri"/>
                <a:cs typeface="Calibri"/>
              </a:rPr>
              <a:t> </a:t>
            </a:r>
            <a:r>
              <a:rPr sz="2800" spc="-20" dirty="0">
                <a:latin typeface="Calibri"/>
                <a:cs typeface="Calibri"/>
              </a:rPr>
              <a:t>constraints</a:t>
            </a:r>
            <a:endParaRPr sz="2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535" rIns="0" bIns="0" rtlCol="0">
            <a:spAutoFit/>
          </a:bodyPr>
          <a:lstStyle/>
          <a:p>
            <a:pPr marL="12700" marR="5080">
              <a:lnSpc>
                <a:spcPts val="4750"/>
              </a:lnSpc>
              <a:spcBef>
                <a:spcPts val="705"/>
              </a:spcBef>
            </a:pPr>
            <a:r>
              <a:rPr spc="-20" dirty="0"/>
              <a:t>Problem </a:t>
            </a:r>
            <a:r>
              <a:rPr spc="-40" dirty="0"/>
              <a:t>Types:</a:t>
            </a:r>
            <a:r>
              <a:rPr spc="-15" dirty="0"/>
              <a:t> </a:t>
            </a:r>
            <a:r>
              <a:rPr spc="-20" dirty="0"/>
              <a:t>Constraint</a:t>
            </a:r>
            <a:r>
              <a:rPr spc="-30" dirty="0"/>
              <a:t> </a:t>
            </a:r>
            <a:r>
              <a:rPr spc="-15" dirty="0"/>
              <a:t>Satisfaction </a:t>
            </a:r>
            <a:r>
              <a:rPr spc="-980" dirty="0"/>
              <a:t> </a:t>
            </a:r>
            <a:r>
              <a:rPr spc="-25" dirty="0"/>
              <a:t>Problem</a:t>
            </a:r>
          </a:p>
        </p:txBody>
      </p:sp>
      <p:sp>
        <p:nvSpPr>
          <p:cNvPr id="3" name="object 3"/>
          <p:cNvSpPr txBox="1"/>
          <p:nvPr/>
        </p:nvSpPr>
        <p:spPr>
          <a:xfrm>
            <a:off x="916939" y="1793189"/>
            <a:ext cx="10095865" cy="2372995"/>
          </a:xfrm>
          <a:prstGeom prst="rect">
            <a:avLst/>
          </a:prstGeom>
        </p:spPr>
        <p:txBody>
          <a:bodyPr vert="horz" wrap="square" lIns="0" tIns="55244" rIns="0" bIns="0" rtlCol="0">
            <a:spAutoFit/>
          </a:bodyPr>
          <a:lstStyle/>
          <a:p>
            <a:pPr marL="241300" marR="5080" indent="-228600">
              <a:lnSpc>
                <a:spcPct val="90000"/>
              </a:lnSpc>
              <a:spcBef>
                <a:spcPts val="434"/>
              </a:spcBef>
              <a:buFont typeface="Arial MT"/>
              <a:buChar char="•"/>
              <a:tabLst>
                <a:tab pos="241300" algn="l"/>
              </a:tabLst>
            </a:pPr>
            <a:r>
              <a:rPr sz="2800" spc="-5" dirty="0">
                <a:latin typeface="Calibri"/>
                <a:cs typeface="Calibri"/>
              </a:rPr>
              <a:t>A</a:t>
            </a:r>
            <a:r>
              <a:rPr sz="2800" spc="15" dirty="0">
                <a:latin typeface="Calibri"/>
                <a:cs typeface="Calibri"/>
              </a:rPr>
              <a:t> </a:t>
            </a:r>
            <a:r>
              <a:rPr sz="2800" spc="-5" dirty="0">
                <a:latin typeface="Calibri"/>
                <a:cs typeface="Calibri"/>
              </a:rPr>
              <a:t>CSP</a:t>
            </a:r>
            <a:r>
              <a:rPr sz="2800" spc="5"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defined</a:t>
            </a:r>
            <a:r>
              <a:rPr sz="2800" spc="15" dirty="0">
                <a:latin typeface="Calibri"/>
                <a:cs typeface="Calibri"/>
              </a:rPr>
              <a:t> </a:t>
            </a:r>
            <a:r>
              <a:rPr sz="2800" spc="-15" dirty="0">
                <a:latin typeface="Calibri"/>
                <a:cs typeface="Calibri"/>
              </a:rPr>
              <a:t>by</a:t>
            </a:r>
            <a:r>
              <a:rPr sz="2800" spc="1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set</a:t>
            </a:r>
            <a:r>
              <a:rPr sz="2800" spc="15" dirty="0">
                <a:latin typeface="Calibri"/>
                <a:cs typeface="Calibri"/>
              </a:rPr>
              <a:t> </a:t>
            </a:r>
            <a:r>
              <a:rPr sz="2800" spc="-5" dirty="0">
                <a:latin typeface="Calibri"/>
                <a:cs typeface="Calibri"/>
              </a:rPr>
              <a:t>of</a:t>
            </a:r>
            <a:r>
              <a:rPr sz="2800" spc="-45" dirty="0">
                <a:latin typeface="Calibri"/>
                <a:cs typeface="Calibri"/>
              </a:rPr>
              <a:t> </a:t>
            </a:r>
            <a:r>
              <a:rPr sz="2800" b="1" spc="-10" dirty="0">
                <a:latin typeface="Calibri"/>
                <a:cs typeface="Calibri"/>
              </a:rPr>
              <a:t>variables,</a:t>
            </a:r>
            <a:r>
              <a:rPr sz="2800" b="1" spc="35" dirty="0">
                <a:latin typeface="Calibri"/>
                <a:cs typeface="Calibri"/>
              </a:rPr>
              <a:t> </a:t>
            </a:r>
            <a:r>
              <a:rPr sz="2800" spc="-5" dirty="0">
                <a:latin typeface="Calibri"/>
                <a:cs typeface="Calibri"/>
              </a:rPr>
              <a:t>X1,</a:t>
            </a:r>
            <a:r>
              <a:rPr sz="2800" dirty="0">
                <a:latin typeface="Calibri"/>
                <a:cs typeface="Calibri"/>
              </a:rPr>
              <a:t> </a:t>
            </a:r>
            <a:r>
              <a:rPr sz="2800" spc="-5" dirty="0">
                <a:latin typeface="Calibri"/>
                <a:cs typeface="Calibri"/>
              </a:rPr>
              <a:t>X2,</a:t>
            </a:r>
            <a:r>
              <a:rPr sz="2800" spc="5" dirty="0">
                <a:latin typeface="Calibri"/>
                <a:cs typeface="Calibri"/>
              </a:rPr>
              <a:t> </a:t>
            </a:r>
            <a:r>
              <a:rPr sz="2800" spc="-5" dirty="0">
                <a:latin typeface="Calibri"/>
                <a:cs typeface="Calibri"/>
              </a:rPr>
              <a:t>…,</a:t>
            </a:r>
            <a:r>
              <a:rPr sz="2800" spc="25" dirty="0">
                <a:latin typeface="Calibri"/>
                <a:cs typeface="Calibri"/>
              </a:rPr>
              <a:t> </a:t>
            </a:r>
            <a:r>
              <a:rPr sz="2800" spc="-10" dirty="0">
                <a:latin typeface="Calibri"/>
                <a:cs typeface="Calibri"/>
              </a:rPr>
              <a:t>Xn,</a:t>
            </a:r>
            <a:r>
              <a:rPr sz="2800" spc="10" dirty="0">
                <a:latin typeface="Calibri"/>
                <a:cs typeface="Calibri"/>
              </a:rPr>
              <a:t> </a:t>
            </a:r>
            <a:r>
              <a:rPr sz="2800" spc="-5" dirty="0">
                <a:latin typeface="Calibri"/>
                <a:cs typeface="Calibri"/>
              </a:rPr>
              <a:t>and</a:t>
            </a:r>
            <a:r>
              <a:rPr sz="2800" spc="10" dirty="0">
                <a:latin typeface="Calibri"/>
                <a:cs typeface="Calibri"/>
              </a:rPr>
              <a:t> </a:t>
            </a:r>
            <a:r>
              <a:rPr sz="2800" spc="-5" dirty="0">
                <a:latin typeface="Calibri"/>
                <a:cs typeface="Calibri"/>
              </a:rPr>
              <a:t>a </a:t>
            </a:r>
            <a:r>
              <a:rPr sz="2800" spc="-10" dirty="0">
                <a:latin typeface="Calibri"/>
                <a:cs typeface="Calibri"/>
              </a:rPr>
              <a:t>set</a:t>
            </a:r>
            <a:r>
              <a:rPr sz="2800" spc="-5" dirty="0">
                <a:latin typeface="Calibri"/>
                <a:cs typeface="Calibri"/>
              </a:rPr>
              <a:t> </a:t>
            </a:r>
            <a:r>
              <a:rPr sz="2800" spc="-10" dirty="0">
                <a:latin typeface="Calibri"/>
                <a:cs typeface="Calibri"/>
              </a:rPr>
              <a:t>of </a:t>
            </a:r>
            <a:r>
              <a:rPr sz="2800" spc="-5" dirty="0">
                <a:latin typeface="Calibri"/>
                <a:cs typeface="Calibri"/>
              </a:rPr>
              <a:t> </a:t>
            </a:r>
            <a:r>
              <a:rPr sz="2800" spc="-15" dirty="0">
                <a:latin typeface="Calibri"/>
                <a:cs typeface="Calibri"/>
              </a:rPr>
              <a:t>constraints,</a:t>
            </a:r>
            <a:r>
              <a:rPr sz="2800" spc="50" dirty="0">
                <a:latin typeface="Calibri"/>
                <a:cs typeface="Calibri"/>
              </a:rPr>
              <a:t> </a:t>
            </a:r>
            <a:r>
              <a:rPr sz="2800" spc="-10" dirty="0">
                <a:latin typeface="Calibri"/>
                <a:cs typeface="Calibri"/>
              </a:rPr>
              <a:t>C1,</a:t>
            </a:r>
            <a:r>
              <a:rPr sz="2800" spc="15" dirty="0">
                <a:latin typeface="Calibri"/>
                <a:cs typeface="Calibri"/>
              </a:rPr>
              <a:t> </a:t>
            </a:r>
            <a:r>
              <a:rPr sz="2800" spc="-10" dirty="0">
                <a:latin typeface="Calibri"/>
                <a:cs typeface="Calibri"/>
              </a:rPr>
              <a:t>C2,</a:t>
            </a:r>
            <a:r>
              <a:rPr sz="2800" spc="15" dirty="0">
                <a:latin typeface="Calibri"/>
                <a:cs typeface="Calibri"/>
              </a:rPr>
              <a:t> </a:t>
            </a:r>
            <a:r>
              <a:rPr sz="2800" spc="-5" dirty="0">
                <a:latin typeface="Calibri"/>
                <a:cs typeface="Calibri"/>
              </a:rPr>
              <a:t>…,</a:t>
            </a:r>
            <a:r>
              <a:rPr sz="2800" spc="15" dirty="0">
                <a:latin typeface="Calibri"/>
                <a:cs typeface="Calibri"/>
              </a:rPr>
              <a:t> </a:t>
            </a:r>
            <a:r>
              <a:rPr sz="2800" spc="-10" dirty="0">
                <a:latin typeface="Calibri"/>
                <a:cs typeface="Calibri"/>
              </a:rPr>
              <a:t>Cm.</a:t>
            </a:r>
            <a:r>
              <a:rPr sz="2800" spc="25" dirty="0">
                <a:latin typeface="Calibri"/>
                <a:cs typeface="Calibri"/>
              </a:rPr>
              <a:t> </a:t>
            </a:r>
            <a:r>
              <a:rPr sz="2800" spc="-15" dirty="0">
                <a:latin typeface="Calibri"/>
                <a:cs typeface="Calibri"/>
              </a:rPr>
              <a:t>Each</a:t>
            </a:r>
            <a:r>
              <a:rPr sz="2800" dirty="0">
                <a:latin typeface="Calibri"/>
                <a:cs typeface="Calibri"/>
              </a:rPr>
              <a:t> </a:t>
            </a:r>
            <a:r>
              <a:rPr sz="2800" spc="-10" dirty="0">
                <a:latin typeface="Calibri"/>
                <a:cs typeface="Calibri"/>
              </a:rPr>
              <a:t>variable</a:t>
            </a:r>
            <a:r>
              <a:rPr sz="2800" spc="10" dirty="0">
                <a:latin typeface="Calibri"/>
                <a:cs typeface="Calibri"/>
              </a:rPr>
              <a:t> </a:t>
            </a:r>
            <a:r>
              <a:rPr sz="2800" spc="-5" dirty="0">
                <a:latin typeface="Calibri"/>
                <a:cs typeface="Calibri"/>
              </a:rPr>
              <a:t>Xi has</a:t>
            </a:r>
            <a:r>
              <a:rPr sz="2800" spc="3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non</a:t>
            </a:r>
            <a:r>
              <a:rPr sz="2800" spc="25" dirty="0">
                <a:latin typeface="Calibri"/>
                <a:cs typeface="Calibri"/>
              </a:rPr>
              <a:t> </a:t>
            </a:r>
            <a:r>
              <a:rPr sz="2800" spc="-5" dirty="0">
                <a:latin typeface="Calibri"/>
                <a:cs typeface="Calibri"/>
              </a:rPr>
              <a:t>empty</a:t>
            </a:r>
            <a:r>
              <a:rPr sz="2800" spc="15" dirty="0">
                <a:latin typeface="Calibri"/>
                <a:cs typeface="Calibri"/>
              </a:rPr>
              <a:t> </a:t>
            </a:r>
            <a:r>
              <a:rPr sz="2800" spc="-5" dirty="0">
                <a:latin typeface="Calibri"/>
                <a:cs typeface="Calibri"/>
              </a:rPr>
              <a:t>domain </a:t>
            </a:r>
            <a:r>
              <a:rPr sz="2800" spc="-615" dirty="0">
                <a:latin typeface="Calibri"/>
                <a:cs typeface="Calibri"/>
              </a:rPr>
              <a:t> </a:t>
            </a:r>
            <a:r>
              <a:rPr sz="2800" spc="-5" dirty="0">
                <a:latin typeface="Calibri"/>
                <a:cs typeface="Calibri"/>
              </a:rPr>
              <a:t>Di</a:t>
            </a:r>
            <a:r>
              <a:rPr sz="2800" spc="10" dirty="0">
                <a:latin typeface="Calibri"/>
                <a:cs typeface="Calibri"/>
              </a:rPr>
              <a:t> </a:t>
            </a:r>
            <a:r>
              <a:rPr sz="2800" spc="-5" dirty="0">
                <a:latin typeface="Calibri"/>
                <a:cs typeface="Calibri"/>
              </a:rPr>
              <a:t>of</a:t>
            </a:r>
            <a:r>
              <a:rPr sz="2800" spc="10" dirty="0">
                <a:latin typeface="Calibri"/>
                <a:cs typeface="Calibri"/>
              </a:rPr>
              <a:t> </a:t>
            </a:r>
            <a:r>
              <a:rPr sz="2800" spc="-10" dirty="0">
                <a:latin typeface="Calibri"/>
                <a:cs typeface="Calibri"/>
              </a:rPr>
              <a:t>possible</a:t>
            </a:r>
            <a:r>
              <a:rPr sz="2800" spc="35" dirty="0">
                <a:latin typeface="Calibri"/>
                <a:cs typeface="Calibri"/>
              </a:rPr>
              <a:t> </a:t>
            </a:r>
            <a:r>
              <a:rPr sz="2800" spc="-10" dirty="0">
                <a:latin typeface="Calibri"/>
                <a:cs typeface="Calibri"/>
              </a:rPr>
              <a:t>values.</a:t>
            </a:r>
            <a:r>
              <a:rPr sz="2800" spc="25" dirty="0">
                <a:latin typeface="Calibri"/>
                <a:cs typeface="Calibri"/>
              </a:rPr>
              <a:t> </a:t>
            </a:r>
            <a:r>
              <a:rPr sz="2800" spc="-15" dirty="0">
                <a:latin typeface="Calibri"/>
                <a:cs typeface="Calibri"/>
              </a:rPr>
              <a:t>Each</a:t>
            </a:r>
            <a:r>
              <a:rPr sz="2800" dirty="0">
                <a:latin typeface="Calibri"/>
                <a:cs typeface="Calibri"/>
              </a:rPr>
              <a:t> </a:t>
            </a:r>
            <a:r>
              <a:rPr sz="2800" spc="-20" dirty="0">
                <a:latin typeface="Calibri"/>
                <a:cs typeface="Calibri"/>
              </a:rPr>
              <a:t>constraint</a:t>
            </a:r>
            <a:r>
              <a:rPr sz="2800" spc="50" dirty="0">
                <a:latin typeface="Calibri"/>
                <a:cs typeface="Calibri"/>
              </a:rPr>
              <a:t> </a:t>
            </a:r>
            <a:r>
              <a:rPr sz="2800" spc="-5" dirty="0">
                <a:latin typeface="Calibri"/>
                <a:cs typeface="Calibri"/>
              </a:rPr>
              <a:t>Ci</a:t>
            </a:r>
            <a:r>
              <a:rPr sz="2800" dirty="0">
                <a:latin typeface="Calibri"/>
                <a:cs typeface="Calibri"/>
              </a:rPr>
              <a:t> </a:t>
            </a:r>
            <a:r>
              <a:rPr sz="2800" spc="-20" dirty="0">
                <a:latin typeface="Calibri"/>
                <a:cs typeface="Calibri"/>
              </a:rPr>
              <a:t>involves</a:t>
            </a:r>
            <a:r>
              <a:rPr sz="2800" spc="35" dirty="0">
                <a:latin typeface="Calibri"/>
                <a:cs typeface="Calibri"/>
              </a:rPr>
              <a:t> </a:t>
            </a:r>
            <a:r>
              <a:rPr sz="2800" spc="-10" dirty="0">
                <a:latin typeface="Calibri"/>
                <a:cs typeface="Calibri"/>
              </a:rPr>
              <a:t>some</a:t>
            </a:r>
            <a:r>
              <a:rPr sz="2800" spc="25" dirty="0">
                <a:latin typeface="Calibri"/>
                <a:cs typeface="Calibri"/>
              </a:rPr>
              <a:t> </a:t>
            </a:r>
            <a:r>
              <a:rPr sz="2800" spc="-10" dirty="0">
                <a:latin typeface="Calibri"/>
                <a:cs typeface="Calibri"/>
              </a:rPr>
              <a:t>subset</a:t>
            </a:r>
            <a:r>
              <a:rPr sz="2800" spc="5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variables</a:t>
            </a:r>
            <a:r>
              <a:rPr sz="2800" spc="20" dirty="0">
                <a:latin typeface="Calibri"/>
                <a:cs typeface="Calibri"/>
              </a:rPr>
              <a:t> </a:t>
            </a:r>
            <a:r>
              <a:rPr sz="2800" spc="-5" dirty="0">
                <a:latin typeface="Calibri"/>
                <a:cs typeface="Calibri"/>
              </a:rPr>
              <a:t>and</a:t>
            </a:r>
            <a:r>
              <a:rPr sz="2800" spc="30" dirty="0">
                <a:latin typeface="Calibri"/>
                <a:cs typeface="Calibri"/>
              </a:rPr>
              <a:t> </a:t>
            </a:r>
            <a:r>
              <a:rPr sz="2800" spc="-10" dirty="0">
                <a:latin typeface="Calibri"/>
                <a:cs typeface="Calibri"/>
              </a:rPr>
              <a:t>specifies</a:t>
            </a:r>
            <a:r>
              <a:rPr sz="2800" spc="3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allowable</a:t>
            </a:r>
            <a:r>
              <a:rPr sz="2800" spc="5" dirty="0">
                <a:latin typeface="Calibri"/>
                <a:cs typeface="Calibri"/>
              </a:rPr>
              <a:t> </a:t>
            </a:r>
            <a:r>
              <a:rPr sz="2800" spc="-10" dirty="0">
                <a:latin typeface="Calibri"/>
                <a:cs typeface="Calibri"/>
              </a:rPr>
              <a:t>combinations</a:t>
            </a:r>
            <a:r>
              <a:rPr sz="2800" spc="60" dirty="0">
                <a:latin typeface="Calibri"/>
                <a:cs typeface="Calibri"/>
              </a:rPr>
              <a:t> </a:t>
            </a:r>
            <a:r>
              <a:rPr sz="2800" spc="-5" dirty="0">
                <a:latin typeface="Calibri"/>
                <a:cs typeface="Calibri"/>
              </a:rPr>
              <a:t>of</a:t>
            </a:r>
            <a:r>
              <a:rPr sz="2800" spc="20" dirty="0">
                <a:latin typeface="Calibri"/>
                <a:cs typeface="Calibri"/>
              </a:rPr>
              <a:t> </a:t>
            </a:r>
            <a:r>
              <a:rPr sz="2800" spc="-10" dirty="0">
                <a:latin typeface="Calibri"/>
                <a:cs typeface="Calibri"/>
              </a:rPr>
              <a:t>values</a:t>
            </a:r>
            <a:r>
              <a:rPr sz="2800" spc="20" dirty="0">
                <a:latin typeface="Calibri"/>
                <a:cs typeface="Calibri"/>
              </a:rPr>
              <a:t> </a:t>
            </a:r>
            <a:r>
              <a:rPr sz="2800" spc="-25" dirty="0">
                <a:latin typeface="Calibri"/>
                <a:cs typeface="Calibri"/>
              </a:rPr>
              <a:t>for</a:t>
            </a:r>
            <a:r>
              <a:rPr sz="2800" spc="10" dirty="0">
                <a:latin typeface="Calibri"/>
                <a:cs typeface="Calibri"/>
              </a:rPr>
              <a:t> </a:t>
            </a:r>
            <a:r>
              <a:rPr sz="2800" spc="-5" dirty="0">
                <a:latin typeface="Calibri"/>
                <a:cs typeface="Calibri"/>
              </a:rPr>
              <a:t>that </a:t>
            </a:r>
            <a:r>
              <a:rPr sz="2800" spc="-620" dirty="0">
                <a:latin typeface="Calibri"/>
                <a:cs typeface="Calibri"/>
              </a:rPr>
              <a:t> </a:t>
            </a:r>
            <a:r>
              <a:rPr sz="2800" spc="-10" dirty="0">
                <a:latin typeface="Calibri"/>
                <a:cs typeface="Calibri"/>
              </a:rPr>
              <a:t>subset.</a:t>
            </a:r>
            <a:r>
              <a:rPr sz="2800" spc="40" dirty="0">
                <a:latin typeface="Calibri"/>
                <a:cs typeface="Calibri"/>
              </a:rPr>
              <a:t> </a:t>
            </a:r>
            <a:r>
              <a:rPr sz="2800" spc="-5" dirty="0">
                <a:latin typeface="Calibri"/>
                <a:cs typeface="Calibri"/>
              </a:rPr>
              <a:t>A</a:t>
            </a:r>
            <a:r>
              <a:rPr sz="2800" spc="20" dirty="0">
                <a:latin typeface="Calibri"/>
                <a:cs typeface="Calibri"/>
              </a:rPr>
              <a:t> </a:t>
            </a:r>
            <a:r>
              <a:rPr sz="2800" spc="-25" dirty="0">
                <a:latin typeface="Calibri"/>
                <a:cs typeface="Calibri"/>
              </a:rPr>
              <a:t>state</a:t>
            </a:r>
            <a:r>
              <a:rPr sz="2800" spc="5" dirty="0">
                <a:latin typeface="Calibri"/>
                <a:cs typeface="Calibri"/>
              </a:rPr>
              <a:t> </a:t>
            </a:r>
            <a:r>
              <a:rPr sz="2800" spc="-5" dirty="0">
                <a:latin typeface="Calibri"/>
                <a:cs typeface="Calibri"/>
              </a:rPr>
              <a:t>of the</a:t>
            </a:r>
            <a:r>
              <a:rPr sz="2800" spc="15" dirty="0">
                <a:latin typeface="Calibri"/>
                <a:cs typeface="Calibri"/>
              </a:rPr>
              <a:t> </a:t>
            </a:r>
            <a:r>
              <a:rPr sz="2800" spc="-15" dirty="0">
                <a:latin typeface="Calibri"/>
                <a:cs typeface="Calibri"/>
              </a:rPr>
              <a:t>problem</a:t>
            </a:r>
            <a:r>
              <a:rPr sz="2800" spc="3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defined</a:t>
            </a:r>
            <a:r>
              <a:rPr sz="2800" spc="20" dirty="0">
                <a:latin typeface="Calibri"/>
                <a:cs typeface="Calibri"/>
              </a:rPr>
              <a:t> </a:t>
            </a:r>
            <a:r>
              <a:rPr sz="2800" spc="-15" dirty="0">
                <a:latin typeface="Calibri"/>
                <a:cs typeface="Calibri"/>
              </a:rPr>
              <a:t>by</a:t>
            </a:r>
            <a:r>
              <a:rPr sz="2800" spc="10" dirty="0">
                <a:latin typeface="Calibri"/>
                <a:cs typeface="Calibri"/>
              </a:rPr>
              <a:t> </a:t>
            </a:r>
            <a:r>
              <a:rPr sz="2800" spc="-5" dirty="0">
                <a:latin typeface="Calibri"/>
                <a:cs typeface="Calibri"/>
              </a:rPr>
              <a:t>an</a:t>
            </a:r>
            <a:r>
              <a:rPr sz="2800" spc="5" dirty="0">
                <a:latin typeface="Calibri"/>
                <a:cs typeface="Calibri"/>
              </a:rPr>
              <a:t> </a:t>
            </a:r>
            <a:r>
              <a:rPr sz="2800" spc="-5" dirty="0">
                <a:latin typeface="Calibri"/>
                <a:cs typeface="Calibri"/>
              </a:rPr>
              <a:t>assignment</a:t>
            </a:r>
            <a:r>
              <a:rPr sz="2800" spc="4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values </a:t>
            </a:r>
            <a:r>
              <a:rPr sz="2800" spc="-620" dirty="0">
                <a:latin typeface="Calibri"/>
                <a:cs typeface="Calibri"/>
              </a:rPr>
              <a:t> </a:t>
            </a:r>
            <a:r>
              <a:rPr sz="2800" spc="-15" dirty="0">
                <a:latin typeface="Calibri"/>
                <a:cs typeface="Calibri"/>
              </a:rPr>
              <a:t>to</a:t>
            </a:r>
            <a:r>
              <a:rPr sz="2800" spc="5" dirty="0">
                <a:latin typeface="Calibri"/>
                <a:cs typeface="Calibri"/>
              </a:rPr>
              <a:t> </a:t>
            </a:r>
            <a:r>
              <a:rPr sz="2800" spc="-10" dirty="0">
                <a:latin typeface="Calibri"/>
                <a:cs typeface="Calibri"/>
              </a:rPr>
              <a:t>some</a:t>
            </a:r>
            <a:r>
              <a:rPr sz="2800" spc="20" dirty="0">
                <a:latin typeface="Calibri"/>
                <a:cs typeface="Calibri"/>
              </a:rPr>
              <a:t> </a:t>
            </a:r>
            <a:r>
              <a:rPr sz="2800" spc="-5" dirty="0">
                <a:latin typeface="Calibri"/>
                <a:cs typeface="Calibri"/>
              </a:rPr>
              <a:t>or</a:t>
            </a:r>
            <a:r>
              <a:rPr sz="2800" spc="5" dirty="0">
                <a:latin typeface="Calibri"/>
                <a:cs typeface="Calibri"/>
              </a:rPr>
              <a:t> </a:t>
            </a:r>
            <a:r>
              <a:rPr sz="2800" spc="-5" dirty="0">
                <a:latin typeface="Calibri"/>
                <a:cs typeface="Calibri"/>
              </a:rPr>
              <a:t>all of the variables,</a:t>
            </a:r>
            <a:r>
              <a:rPr sz="2800" spc="15" dirty="0">
                <a:latin typeface="Calibri"/>
                <a:cs typeface="Calibri"/>
              </a:rPr>
              <a:t> </a:t>
            </a:r>
            <a:r>
              <a:rPr sz="2800" spc="-10" dirty="0">
                <a:latin typeface="Calibri"/>
                <a:cs typeface="Calibri"/>
              </a:rPr>
              <a:t>{Xi=Vi,</a:t>
            </a:r>
            <a:r>
              <a:rPr sz="2800" spc="-15" dirty="0">
                <a:latin typeface="Calibri"/>
                <a:cs typeface="Calibri"/>
              </a:rPr>
              <a:t> </a:t>
            </a:r>
            <a:r>
              <a:rPr sz="2800" spc="-5" dirty="0">
                <a:latin typeface="Calibri"/>
                <a:cs typeface="Calibri"/>
              </a:rPr>
              <a:t>Xj=Vj,…}.</a:t>
            </a:r>
            <a:endParaRPr sz="28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535" rIns="0" bIns="0" rtlCol="0">
            <a:spAutoFit/>
          </a:bodyPr>
          <a:lstStyle/>
          <a:p>
            <a:pPr marL="12700" marR="5080">
              <a:lnSpc>
                <a:spcPts val="4750"/>
              </a:lnSpc>
              <a:spcBef>
                <a:spcPts val="705"/>
              </a:spcBef>
            </a:pPr>
            <a:r>
              <a:rPr spc="-20" dirty="0"/>
              <a:t>Problem </a:t>
            </a:r>
            <a:r>
              <a:rPr spc="-40" dirty="0"/>
              <a:t>Types:</a:t>
            </a:r>
            <a:r>
              <a:rPr spc="-15" dirty="0"/>
              <a:t> </a:t>
            </a:r>
            <a:r>
              <a:rPr spc="-20" dirty="0"/>
              <a:t>Constraint</a:t>
            </a:r>
            <a:r>
              <a:rPr spc="-30" dirty="0"/>
              <a:t> </a:t>
            </a:r>
            <a:r>
              <a:rPr spc="-15" dirty="0"/>
              <a:t>Satisfaction </a:t>
            </a:r>
            <a:r>
              <a:rPr spc="-980" dirty="0"/>
              <a:t> </a:t>
            </a:r>
            <a:r>
              <a:rPr spc="-25" dirty="0"/>
              <a:t>Problem</a:t>
            </a:r>
          </a:p>
        </p:txBody>
      </p:sp>
      <p:sp>
        <p:nvSpPr>
          <p:cNvPr id="3" name="object 3"/>
          <p:cNvSpPr txBox="1"/>
          <p:nvPr/>
        </p:nvSpPr>
        <p:spPr>
          <a:xfrm>
            <a:off x="916939" y="1756565"/>
            <a:ext cx="10060305" cy="160845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20" dirty="0">
                <a:latin typeface="Calibri"/>
                <a:cs typeface="Calibri"/>
              </a:rPr>
              <a:t>Constraint</a:t>
            </a:r>
            <a:r>
              <a:rPr sz="2800" spc="40" dirty="0">
                <a:latin typeface="Calibri"/>
                <a:cs typeface="Calibri"/>
              </a:rPr>
              <a:t> </a:t>
            </a:r>
            <a:r>
              <a:rPr sz="2800" spc="-15" dirty="0">
                <a:latin typeface="Calibri"/>
                <a:cs typeface="Calibri"/>
              </a:rPr>
              <a:t>propagation</a:t>
            </a:r>
            <a:r>
              <a:rPr sz="2800" spc="15" dirty="0">
                <a:latin typeface="Calibri"/>
                <a:cs typeface="Calibri"/>
              </a:rPr>
              <a:t> </a:t>
            </a:r>
            <a:r>
              <a:rPr sz="2800" spc="-10" dirty="0">
                <a:latin typeface="Calibri"/>
                <a:cs typeface="Calibri"/>
              </a:rPr>
              <a:t>terminates</a:t>
            </a:r>
            <a:r>
              <a:rPr sz="2800" spc="20" dirty="0">
                <a:latin typeface="Calibri"/>
                <a:cs typeface="Calibri"/>
              </a:rPr>
              <a:t> </a:t>
            </a:r>
            <a:r>
              <a:rPr sz="2800" spc="-25" dirty="0">
                <a:latin typeface="Calibri"/>
                <a:cs typeface="Calibri"/>
              </a:rPr>
              <a:t>for</a:t>
            </a:r>
            <a:r>
              <a:rPr sz="2800" dirty="0">
                <a:latin typeface="Calibri"/>
                <a:cs typeface="Calibri"/>
              </a:rPr>
              <a:t> </a:t>
            </a:r>
            <a:r>
              <a:rPr sz="2800" spc="-5" dirty="0">
                <a:latin typeface="Calibri"/>
                <a:cs typeface="Calibri"/>
              </a:rPr>
              <a:t>one</a:t>
            </a:r>
            <a:r>
              <a:rPr sz="280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two</a:t>
            </a:r>
            <a:r>
              <a:rPr sz="2800" spc="5" dirty="0">
                <a:latin typeface="Calibri"/>
                <a:cs typeface="Calibri"/>
              </a:rPr>
              <a:t> </a:t>
            </a:r>
            <a:r>
              <a:rPr sz="2800" spc="-10" dirty="0">
                <a:latin typeface="Calibri"/>
                <a:cs typeface="Calibri"/>
              </a:rPr>
              <a:t>reasons:</a:t>
            </a:r>
            <a:endParaRPr sz="2800">
              <a:latin typeface="Calibri"/>
              <a:cs typeface="Calibri"/>
            </a:endParaRPr>
          </a:p>
          <a:p>
            <a:pPr marL="698500" lvl="1" indent="-229235">
              <a:lnSpc>
                <a:spcPct val="100000"/>
              </a:lnSpc>
              <a:spcBef>
                <a:spcPts val="245"/>
              </a:spcBef>
              <a:buFont typeface="Arial MT"/>
              <a:buChar char="•"/>
              <a:tabLst>
                <a:tab pos="699135" algn="l"/>
              </a:tabLst>
            </a:pPr>
            <a:r>
              <a:rPr sz="2400" spc="-10" dirty="0">
                <a:latin typeface="Calibri"/>
                <a:cs typeface="Calibri"/>
              </a:rPr>
              <a:t>Contradiction</a:t>
            </a:r>
            <a:r>
              <a:rPr sz="2400" spc="-30" dirty="0">
                <a:latin typeface="Calibri"/>
                <a:cs typeface="Calibri"/>
              </a:rPr>
              <a:t> </a:t>
            </a:r>
            <a:r>
              <a:rPr sz="2400" spc="-10" dirty="0">
                <a:latin typeface="Calibri"/>
                <a:cs typeface="Calibri"/>
              </a:rPr>
              <a:t>detected:</a:t>
            </a:r>
            <a:r>
              <a:rPr sz="2400" spc="-15" dirty="0">
                <a:latin typeface="Calibri"/>
                <a:cs typeface="Calibri"/>
              </a:rPr>
              <a:t> </a:t>
            </a:r>
            <a:r>
              <a:rPr sz="2400" dirty="0">
                <a:latin typeface="Calibri"/>
                <a:cs typeface="Calibri"/>
              </a:rPr>
              <a:t>No </a:t>
            </a:r>
            <a:r>
              <a:rPr sz="2400" spc="-5" dirty="0">
                <a:latin typeface="Calibri"/>
                <a:cs typeface="Calibri"/>
              </a:rPr>
              <a:t>solution</a:t>
            </a:r>
            <a:r>
              <a:rPr sz="2400" dirty="0">
                <a:latin typeface="Calibri"/>
                <a:cs typeface="Calibri"/>
              </a:rPr>
              <a:t> </a:t>
            </a:r>
            <a:r>
              <a:rPr sz="2400" spc="-15" dirty="0">
                <a:latin typeface="Calibri"/>
                <a:cs typeface="Calibri"/>
              </a:rPr>
              <a:t>consistent</a:t>
            </a:r>
            <a:r>
              <a:rPr sz="2400" spc="-5" dirty="0">
                <a:latin typeface="Calibri"/>
                <a:cs typeface="Calibri"/>
              </a:rPr>
              <a:t> </a:t>
            </a:r>
            <a:r>
              <a:rPr sz="2400" dirty="0">
                <a:latin typeface="Calibri"/>
                <a:cs typeface="Calibri"/>
              </a:rPr>
              <a:t>with</a:t>
            </a:r>
            <a:r>
              <a:rPr sz="2400" spc="-10" dirty="0">
                <a:latin typeface="Calibri"/>
                <a:cs typeface="Calibri"/>
              </a:rPr>
              <a:t> </a:t>
            </a:r>
            <a:r>
              <a:rPr sz="2400" spc="-5" dirty="0">
                <a:latin typeface="Calibri"/>
                <a:cs typeface="Calibri"/>
              </a:rPr>
              <a:t>known</a:t>
            </a:r>
            <a:r>
              <a:rPr sz="2400" spc="5" dirty="0">
                <a:latin typeface="Calibri"/>
                <a:cs typeface="Calibri"/>
              </a:rPr>
              <a:t> </a:t>
            </a:r>
            <a:r>
              <a:rPr sz="2400" spc="-15" dirty="0">
                <a:latin typeface="Calibri"/>
                <a:cs typeface="Calibri"/>
              </a:rPr>
              <a:t>constraints</a:t>
            </a:r>
            <a:endParaRPr sz="2400">
              <a:latin typeface="Calibri"/>
              <a:cs typeface="Calibri"/>
            </a:endParaRPr>
          </a:p>
          <a:p>
            <a:pPr marL="698500" marR="5080" lvl="1" indent="-228600">
              <a:lnSpc>
                <a:spcPts val="2590"/>
              </a:lnSpc>
              <a:spcBef>
                <a:spcPts val="545"/>
              </a:spcBef>
              <a:buFont typeface="Arial MT"/>
              <a:buChar char="•"/>
              <a:tabLst>
                <a:tab pos="699135" algn="l"/>
              </a:tabLst>
            </a:pPr>
            <a:r>
              <a:rPr sz="2400" spc="-15" dirty="0">
                <a:latin typeface="Calibri"/>
                <a:cs typeface="Calibri"/>
              </a:rPr>
              <a:t>Propagation</a:t>
            </a:r>
            <a:r>
              <a:rPr sz="2400" spc="-10" dirty="0">
                <a:latin typeface="Calibri"/>
                <a:cs typeface="Calibri"/>
              </a:rPr>
              <a:t> </a:t>
            </a:r>
            <a:r>
              <a:rPr sz="2400" spc="-5" dirty="0">
                <a:latin typeface="Calibri"/>
                <a:cs typeface="Calibri"/>
              </a:rPr>
              <a:t>has </a:t>
            </a:r>
            <a:r>
              <a:rPr sz="2400" dirty="0">
                <a:latin typeface="Calibri"/>
                <a:cs typeface="Calibri"/>
              </a:rPr>
              <a:t>run </a:t>
            </a:r>
            <a:r>
              <a:rPr sz="2400" spc="-5" dirty="0">
                <a:latin typeface="Calibri"/>
                <a:cs typeface="Calibri"/>
              </a:rPr>
              <a:t>of </a:t>
            </a:r>
            <a:r>
              <a:rPr sz="2400" spc="-10" dirty="0">
                <a:latin typeface="Calibri"/>
                <a:cs typeface="Calibri"/>
              </a:rPr>
              <a:t>stream </a:t>
            </a:r>
            <a:r>
              <a:rPr sz="2400" dirty="0">
                <a:latin typeface="Calibri"/>
                <a:cs typeface="Calibri"/>
              </a:rPr>
              <a:t>and</a:t>
            </a:r>
            <a:r>
              <a:rPr sz="2400" spc="-5" dirty="0">
                <a:latin typeface="Calibri"/>
                <a:cs typeface="Calibri"/>
              </a:rPr>
              <a:t> </a:t>
            </a:r>
            <a:r>
              <a:rPr sz="2400" spc="-10" dirty="0">
                <a:latin typeface="Calibri"/>
                <a:cs typeface="Calibri"/>
              </a:rPr>
              <a:t>there</a:t>
            </a:r>
            <a:r>
              <a:rPr sz="2400" dirty="0">
                <a:latin typeface="Calibri"/>
                <a:cs typeface="Calibri"/>
              </a:rPr>
              <a:t> </a:t>
            </a:r>
            <a:r>
              <a:rPr sz="2400" spc="-10" dirty="0">
                <a:latin typeface="Calibri"/>
                <a:cs typeface="Calibri"/>
              </a:rPr>
              <a:t>are </a:t>
            </a:r>
            <a:r>
              <a:rPr sz="2400" spc="-5" dirty="0">
                <a:latin typeface="Calibri"/>
                <a:cs typeface="Calibri"/>
              </a:rPr>
              <a:t>no</a:t>
            </a:r>
            <a:r>
              <a:rPr sz="2400" dirty="0">
                <a:latin typeface="Calibri"/>
                <a:cs typeface="Calibri"/>
              </a:rPr>
              <a:t> </a:t>
            </a:r>
            <a:r>
              <a:rPr sz="2400" spc="-5" dirty="0">
                <a:latin typeface="Calibri"/>
                <a:cs typeface="Calibri"/>
              </a:rPr>
              <a:t>further</a:t>
            </a:r>
            <a:r>
              <a:rPr sz="2400" dirty="0">
                <a:latin typeface="Calibri"/>
                <a:cs typeface="Calibri"/>
              </a:rPr>
              <a:t> </a:t>
            </a:r>
            <a:r>
              <a:rPr sz="2400" spc="-5" dirty="0">
                <a:latin typeface="Calibri"/>
                <a:cs typeface="Calibri"/>
              </a:rPr>
              <a:t>changes</a:t>
            </a:r>
            <a:r>
              <a:rPr sz="2400" spc="-15" dirty="0">
                <a:latin typeface="Calibri"/>
                <a:cs typeface="Calibri"/>
              </a:rPr>
              <a:t> </a:t>
            </a:r>
            <a:r>
              <a:rPr sz="2400" spc="-10" dirty="0">
                <a:latin typeface="Calibri"/>
                <a:cs typeface="Calibri"/>
              </a:rPr>
              <a:t>that</a:t>
            </a:r>
            <a:r>
              <a:rPr sz="2400" dirty="0">
                <a:latin typeface="Calibri"/>
                <a:cs typeface="Calibri"/>
              </a:rPr>
              <a:t> </a:t>
            </a:r>
            <a:r>
              <a:rPr sz="2400" spc="-10" dirty="0">
                <a:latin typeface="Calibri"/>
                <a:cs typeface="Calibri"/>
              </a:rPr>
              <a:t>can</a:t>
            </a:r>
            <a:r>
              <a:rPr sz="2400" spc="-15" dirty="0">
                <a:latin typeface="Calibri"/>
                <a:cs typeface="Calibri"/>
              </a:rPr>
              <a:t> </a:t>
            </a:r>
            <a:r>
              <a:rPr sz="2400" spc="-5" dirty="0">
                <a:latin typeface="Calibri"/>
                <a:cs typeface="Calibri"/>
              </a:rPr>
              <a:t>be </a:t>
            </a:r>
            <a:r>
              <a:rPr sz="2400" spc="-525" dirty="0">
                <a:latin typeface="Calibri"/>
                <a:cs typeface="Calibri"/>
              </a:rPr>
              <a:t> </a:t>
            </a:r>
            <a:r>
              <a:rPr sz="2400" dirty="0">
                <a:latin typeface="Calibri"/>
                <a:cs typeface="Calibri"/>
              </a:rPr>
              <a:t>made</a:t>
            </a:r>
            <a:r>
              <a:rPr sz="2400" spc="-20" dirty="0">
                <a:latin typeface="Calibri"/>
                <a:cs typeface="Calibri"/>
              </a:rPr>
              <a:t> </a:t>
            </a:r>
            <a:r>
              <a:rPr sz="2400" spc="-5" dirty="0">
                <a:latin typeface="Calibri"/>
                <a:cs typeface="Calibri"/>
              </a:rPr>
              <a:t>on</a:t>
            </a:r>
            <a:r>
              <a:rPr sz="2400" spc="-10" dirty="0">
                <a:latin typeface="Calibri"/>
                <a:cs typeface="Calibri"/>
              </a:rPr>
              <a:t> </a:t>
            </a:r>
            <a:r>
              <a:rPr sz="2400" dirty="0">
                <a:latin typeface="Calibri"/>
                <a:cs typeface="Calibri"/>
              </a:rPr>
              <a:t>the </a:t>
            </a:r>
            <a:r>
              <a:rPr sz="2400" spc="-5" dirty="0">
                <a:latin typeface="Calibri"/>
                <a:cs typeface="Calibri"/>
              </a:rPr>
              <a:t>basis</a:t>
            </a:r>
            <a:r>
              <a:rPr sz="2400" dirty="0">
                <a:latin typeface="Calibri"/>
                <a:cs typeface="Calibri"/>
              </a:rPr>
              <a:t> </a:t>
            </a:r>
            <a:r>
              <a:rPr sz="2400" spc="-10" dirty="0">
                <a:latin typeface="Calibri"/>
                <a:cs typeface="Calibri"/>
              </a:rPr>
              <a:t>of</a:t>
            </a:r>
            <a:r>
              <a:rPr sz="2400" spc="-5" dirty="0">
                <a:latin typeface="Calibri"/>
                <a:cs typeface="Calibri"/>
              </a:rPr>
              <a:t> </a:t>
            </a:r>
            <a:r>
              <a:rPr sz="2400" spc="-10" dirty="0">
                <a:latin typeface="Calibri"/>
                <a:cs typeface="Calibri"/>
              </a:rPr>
              <a:t>current</a:t>
            </a:r>
            <a:r>
              <a:rPr sz="2400" dirty="0">
                <a:latin typeface="Calibri"/>
                <a:cs typeface="Calibri"/>
              </a:rPr>
              <a:t> </a:t>
            </a:r>
            <a:r>
              <a:rPr sz="2400" spc="-5" dirty="0">
                <a:latin typeface="Calibri"/>
                <a:cs typeface="Calibri"/>
              </a:rPr>
              <a:t>knowledge</a:t>
            </a:r>
            <a:endParaRPr sz="2400">
              <a:latin typeface="Calibri"/>
              <a:cs typeface="Calibri"/>
            </a:endParaRPr>
          </a:p>
        </p:txBody>
      </p:sp>
      <p:sp>
        <p:nvSpPr>
          <p:cNvPr id="4" name="object 4"/>
          <p:cNvSpPr txBox="1"/>
          <p:nvPr/>
        </p:nvSpPr>
        <p:spPr>
          <a:xfrm>
            <a:off x="916939" y="3729376"/>
            <a:ext cx="1975485" cy="1046480"/>
          </a:xfrm>
          <a:prstGeom prst="rect">
            <a:avLst/>
          </a:prstGeom>
        </p:spPr>
        <p:txBody>
          <a:bodyPr vert="horz" wrap="square" lIns="0" tIns="95885" rIns="0" bIns="0" rtlCol="0">
            <a:spAutoFit/>
          </a:bodyPr>
          <a:lstStyle/>
          <a:p>
            <a:pPr marL="241300" indent="-228600">
              <a:lnSpc>
                <a:spcPct val="100000"/>
              </a:lnSpc>
              <a:spcBef>
                <a:spcPts val="755"/>
              </a:spcBef>
              <a:buFont typeface="Arial MT"/>
              <a:buChar char="•"/>
              <a:tabLst>
                <a:tab pos="241300" algn="l"/>
              </a:tabLst>
            </a:pPr>
            <a:r>
              <a:rPr sz="2800" spc="-20" dirty="0">
                <a:latin typeface="Calibri"/>
                <a:cs typeface="Calibri"/>
              </a:rPr>
              <a:t>Variables:</a:t>
            </a:r>
            <a:endParaRPr sz="2800">
              <a:latin typeface="Calibri"/>
              <a:cs typeface="Calibri"/>
            </a:endParaRPr>
          </a:p>
          <a:p>
            <a:pPr marL="241300" indent="-228600">
              <a:lnSpc>
                <a:spcPct val="100000"/>
              </a:lnSpc>
              <a:spcBef>
                <a:spcPts val="660"/>
              </a:spcBef>
              <a:buFont typeface="Arial MT"/>
              <a:buChar char="•"/>
              <a:tabLst>
                <a:tab pos="241300" algn="l"/>
              </a:tabLst>
            </a:pPr>
            <a:r>
              <a:rPr sz="2800" spc="-15" dirty="0">
                <a:latin typeface="Calibri"/>
                <a:cs typeface="Calibri"/>
              </a:rPr>
              <a:t>Constraints:</a:t>
            </a:r>
            <a:endParaRPr sz="2800">
              <a:latin typeface="Calibri"/>
              <a:cs typeface="Calibri"/>
            </a:endParaRPr>
          </a:p>
        </p:txBody>
      </p:sp>
      <p:sp>
        <p:nvSpPr>
          <p:cNvPr id="5" name="object 5"/>
          <p:cNvSpPr txBox="1"/>
          <p:nvPr/>
        </p:nvSpPr>
        <p:spPr>
          <a:xfrm>
            <a:off x="3660394" y="3729376"/>
            <a:ext cx="3925570" cy="1046480"/>
          </a:xfrm>
          <a:prstGeom prst="rect">
            <a:avLst/>
          </a:prstGeom>
        </p:spPr>
        <p:txBody>
          <a:bodyPr vert="horz" wrap="square" lIns="0" tIns="12700" rIns="0" bIns="0" rtlCol="0">
            <a:spAutoFit/>
          </a:bodyPr>
          <a:lstStyle/>
          <a:p>
            <a:pPr marL="12700" marR="5080">
              <a:lnSpc>
                <a:spcPct val="119600"/>
              </a:lnSpc>
              <a:spcBef>
                <a:spcPts val="100"/>
              </a:spcBef>
            </a:pPr>
            <a:r>
              <a:rPr sz="2800" spc="-15" dirty="0">
                <a:latin typeface="Calibri"/>
                <a:cs typeface="Calibri"/>
              </a:rPr>
              <a:t>Discrete</a:t>
            </a:r>
            <a:r>
              <a:rPr sz="2800" spc="-10" dirty="0">
                <a:latin typeface="Calibri"/>
                <a:cs typeface="Calibri"/>
              </a:rPr>
              <a:t> </a:t>
            </a:r>
            <a:r>
              <a:rPr sz="2800" spc="-5" dirty="0">
                <a:latin typeface="Calibri"/>
                <a:cs typeface="Calibri"/>
              </a:rPr>
              <a:t>and</a:t>
            </a:r>
            <a:r>
              <a:rPr sz="2800" spc="10" dirty="0">
                <a:latin typeface="Calibri"/>
                <a:cs typeface="Calibri"/>
              </a:rPr>
              <a:t> </a:t>
            </a:r>
            <a:r>
              <a:rPr sz="2800" spc="-15" dirty="0">
                <a:latin typeface="Calibri"/>
                <a:cs typeface="Calibri"/>
              </a:rPr>
              <a:t>Finite</a:t>
            </a:r>
            <a:r>
              <a:rPr sz="2800" spc="5" dirty="0">
                <a:latin typeface="Calibri"/>
                <a:cs typeface="Calibri"/>
              </a:rPr>
              <a:t> </a:t>
            </a:r>
            <a:r>
              <a:rPr sz="2800" spc="-5" dirty="0">
                <a:latin typeface="Calibri"/>
                <a:cs typeface="Calibri"/>
              </a:rPr>
              <a:t>Domain </a:t>
            </a:r>
            <a:r>
              <a:rPr sz="2800" spc="-620" dirty="0">
                <a:latin typeface="Calibri"/>
                <a:cs typeface="Calibri"/>
              </a:rPr>
              <a:t> </a:t>
            </a:r>
            <a:r>
              <a:rPr sz="2800" spc="-5" dirty="0">
                <a:latin typeface="Calibri"/>
                <a:cs typeface="Calibri"/>
              </a:rPr>
              <a:t>Linear</a:t>
            </a:r>
            <a:r>
              <a:rPr sz="2800" spc="-10" dirty="0">
                <a:latin typeface="Calibri"/>
                <a:cs typeface="Calibri"/>
              </a:rPr>
              <a:t> </a:t>
            </a:r>
            <a:r>
              <a:rPr sz="2800" spc="-5" dirty="0">
                <a:latin typeface="Calibri"/>
                <a:cs typeface="Calibri"/>
              </a:rPr>
              <a:t>and</a:t>
            </a:r>
            <a:r>
              <a:rPr sz="2800" spc="10" dirty="0">
                <a:latin typeface="Calibri"/>
                <a:cs typeface="Calibri"/>
              </a:rPr>
              <a:t> </a:t>
            </a:r>
            <a:r>
              <a:rPr sz="2800" spc="-5" dirty="0">
                <a:latin typeface="Calibri"/>
                <a:cs typeface="Calibri"/>
              </a:rPr>
              <a:t>Non</a:t>
            </a:r>
            <a:r>
              <a:rPr sz="2800" spc="15" dirty="0">
                <a:latin typeface="Calibri"/>
                <a:cs typeface="Calibri"/>
              </a:rPr>
              <a:t> </a:t>
            </a:r>
            <a:r>
              <a:rPr sz="2800" spc="-10" dirty="0">
                <a:latin typeface="Calibri"/>
                <a:cs typeface="Calibri"/>
              </a:rPr>
              <a:t>Linear</a:t>
            </a:r>
            <a:endParaRPr sz="28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535" rIns="0" bIns="0" rtlCol="0">
            <a:spAutoFit/>
          </a:bodyPr>
          <a:lstStyle/>
          <a:p>
            <a:pPr marL="12700" marR="5080">
              <a:lnSpc>
                <a:spcPts val="4750"/>
              </a:lnSpc>
              <a:spcBef>
                <a:spcPts val="705"/>
              </a:spcBef>
            </a:pPr>
            <a:r>
              <a:rPr spc="-20" dirty="0"/>
              <a:t>Problem </a:t>
            </a:r>
            <a:r>
              <a:rPr spc="-40" dirty="0"/>
              <a:t>Types:</a:t>
            </a:r>
            <a:r>
              <a:rPr spc="-15" dirty="0"/>
              <a:t> </a:t>
            </a:r>
            <a:r>
              <a:rPr spc="-20" dirty="0"/>
              <a:t>Constraint</a:t>
            </a:r>
            <a:r>
              <a:rPr spc="-30" dirty="0"/>
              <a:t> </a:t>
            </a:r>
            <a:r>
              <a:rPr spc="-15" dirty="0"/>
              <a:t>Satisfaction </a:t>
            </a:r>
            <a:r>
              <a:rPr spc="-980" dirty="0"/>
              <a:t> </a:t>
            </a:r>
            <a:r>
              <a:rPr spc="-25" dirty="0"/>
              <a:t>Problem</a:t>
            </a:r>
          </a:p>
        </p:txBody>
      </p:sp>
      <p:sp>
        <p:nvSpPr>
          <p:cNvPr id="3" name="object 3"/>
          <p:cNvSpPr txBox="1"/>
          <p:nvPr/>
        </p:nvSpPr>
        <p:spPr>
          <a:xfrm>
            <a:off x="916939" y="1756565"/>
            <a:ext cx="3791585" cy="167068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30" dirty="0">
                <a:latin typeface="Calibri"/>
                <a:cs typeface="Calibri"/>
              </a:rPr>
              <a:t>Types</a:t>
            </a:r>
            <a:r>
              <a:rPr sz="2800" spc="-15" dirty="0">
                <a:latin typeface="Calibri"/>
                <a:cs typeface="Calibri"/>
              </a:rPr>
              <a:t> </a:t>
            </a:r>
            <a:r>
              <a:rPr sz="2800" spc="-5" dirty="0">
                <a:latin typeface="Calibri"/>
                <a:cs typeface="Calibri"/>
              </a:rPr>
              <a:t>of</a:t>
            </a:r>
            <a:r>
              <a:rPr sz="2800" spc="-15" dirty="0">
                <a:latin typeface="Calibri"/>
                <a:cs typeface="Calibri"/>
              </a:rPr>
              <a:t> Constraints</a:t>
            </a:r>
            <a:endParaRPr sz="2800">
              <a:latin typeface="Calibri"/>
              <a:cs typeface="Calibri"/>
            </a:endParaRPr>
          </a:p>
          <a:p>
            <a:pPr marL="698500" lvl="1" indent="-229235">
              <a:lnSpc>
                <a:spcPct val="100000"/>
              </a:lnSpc>
              <a:spcBef>
                <a:spcPts val="245"/>
              </a:spcBef>
              <a:buFont typeface="Arial MT"/>
              <a:buChar char="•"/>
              <a:tabLst>
                <a:tab pos="699135" algn="l"/>
              </a:tabLst>
            </a:pPr>
            <a:r>
              <a:rPr sz="2400" dirty="0">
                <a:latin typeface="Calibri"/>
                <a:cs typeface="Calibri"/>
              </a:rPr>
              <a:t>Unary:</a:t>
            </a:r>
            <a:endParaRPr sz="2400">
              <a:latin typeface="Calibri"/>
              <a:cs typeface="Calibri"/>
            </a:endParaRPr>
          </a:p>
          <a:p>
            <a:pPr marL="698500" lvl="1" indent="-229235">
              <a:lnSpc>
                <a:spcPct val="100000"/>
              </a:lnSpc>
              <a:spcBef>
                <a:spcPts val="219"/>
              </a:spcBef>
              <a:buFont typeface="Arial MT"/>
              <a:buChar char="•"/>
              <a:tabLst>
                <a:tab pos="699135" algn="l"/>
              </a:tabLst>
            </a:pPr>
            <a:r>
              <a:rPr sz="2400" dirty="0">
                <a:latin typeface="Calibri"/>
                <a:cs typeface="Calibri"/>
              </a:rPr>
              <a:t>Binary:</a:t>
            </a:r>
            <a:endParaRPr sz="2400">
              <a:latin typeface="Calibri"/>
              <a:cs typeface="Calibri"/>
            </a:endParaRPr>
          </a:p>
          <a:p>
            <a:pPr marL="698500" lvl="1" indent="-229235">
              <a:lnSpc>
                <a:spcPct val="100000"/>
              </a:lnSpc>
              <a:spcBef>
                <a:spcPts val="200"/>
              </a:spcBef>
              <a:buFont typeface="Arial MT"/>
              <a:buChar char="•"/>
              <a:tabLst>
                <a:tab pos="699135" algn="l"/>
              </a:tabLst>
            </a:pPr>
            <a:r>
              <a:rPr sz="2400" spc="-5" dirty="0">
                <a:latin typeface="Calibri"/>
                <a:cs typeface="Calibri"/>
              </a:rPr>
              <a:t>Higher</a:t>
            </a:r>
            <a:r>
              <a:rPr sz="2400" spc="-25" dirty="0">
                <a:latin typeface="Calibri"/>
                <a:cs typeface="Calibri"/>
              </a:rPr>
              <a:t> </a:t>
            </a:r>
            <a:r>
              <a:rPr sz="2400" spc="-15" dirty="0">
                <a:latin typeface="Calibri"/>
                <a:cs typeface="Calibri"/>
              </a:rPr>
              <a:t>order</a:t>
            </a:r>
            <a:r>
              <a:rPr sz="2400" spc="-10" dirty="0">
                <a:latin typeface="Calibri"/>
                <a:cs typeface="Calibri"/>
              </a:rPr>
              <a:t> </a:t>
            </a:r>
            <a:r>
              <a:rPr sz="2400" spc="-15" dirty="0">
                <a:latin typeface="Calibri"/>
                <a:cs typeface="Calibri"/>
              </a:rPr>
              <a:t>constraints:</a:t>
            </a:r>
            <a:endParaRPr sz="2400">
              <a:latin typeface="Calibri"/>
              <a:cs typeface="Calibri"/>
            </a:endParaRPr>
          </a:p>
        </p:txBody>
      </p:sp>
      <p:sp>
        <p:nvSpPr>
          <p:cNvPr id="4" name="object 4"/>
          <p:cNvSpPr txBox="1"/>
          <p:nvPr/>
        </p:nvSpPr>
        <p:spPr>
          <a:xfrm>
            <a:off x="5489575" y="2223643"/>
            <a:ext cx="4448810" cy="1203960"/>
          </a:xfrm>
          <a:prstGeom prst="rect">
            <a:avLst/>
          </a:prstGeom>
        </p:spPr>
        <p:txBody>
          <a:bodyPr vert="horz" wrap="square" lIns="0" tIns="12700" rIns="0" bIns="0" rtlCol="0">
            <a:spAutoFit/>
          </a:bodyPr>
          <a:lstStyle/>
          <a:p>
            <a:pPr marL="12700" marR="5080">
              <a:lnSpc>
                <a:spcPct val="107500"/>
              </a:lnSpc>
              <a:spcBef>
                <a:spcPts val="100"/>
              </a:spcBef>
            </a:pPr>
            <a:r>
              <a:rPr sz="2400" spc="-10" dirty="0">
                <a:latin typeface="Calibri"/>
                <a:cs typeface="Calibri"/>
              </a:rPr>
              <a:t>Restricts </a:t>
            </a:r>
            <a:r>
              <a:rPr sz="2400" dirty="0">
                <a:latin typeface="Calibri"/>
                <a:cs typeface="Calibri"/>
              </a:rPr>
              <a:t>the </a:t>
            </a:r>
            <a:r>
              <a:rPr sz="2400" spc="-10" dirty="0">
                <a:latin typeface="Calibri"/>
                <a:cs typeface="Calibri"/>
              </a:rPr>
              <a:t>value </a:t>
            </a:r>
            <a:r>
              <a:rPr sz="2400" spc="-5" dirty="0">
                <a:latin typeface="Calibri"/>
                <a:cs typeface="Calibri"/>
              </a:rPr>
              <a:t>of single </a:t>
            </a:r>
            <a:r>
              <a:rPr sz="2400" spc="-10" dirty="0">
                <a:latin typeface="Calibri"/>
                <a:cs typeface="Calibri"/>
              </a:rPr>
              <a:t>variable </a:t>
            </a:r>
            <a:r>
              <a:rPr sz="2400" spc="-530" dirty="0">
                <a:latin typeface="Calibri"/>
                <a:cs typeface="Calibri"/>
              </a:rPr>
              <a:t> </a:t>
            </a:r>
            <a:r>
              <a:rPr sz="2400" spc="-45" dirty="0">
                <a:latin typeface="Calibri"/>
                <a:cs typeface="Calibri"/>
              </a:rPr>
              <a:t>Two</a:t>
            </a:r>
            <a:r>
              <a:rPr sz="2400" spc="-15" dirty="0">
                <a:latin typeface="Calibri"/>
                <a:cs typeface="Calibri"/>
              </a:rPr>
              <a:t> </a:t>
            </a:r>
            <a:r>
              <a:rPr sz="2400" spc="-10" dirty="0">
                <a:latin typeface="Calibri"/>
                <a:cs typeface="Calibri"/>
              </a:rPr>
              <a:t>variables</a:t>
            </a:r>
            <a:endParaRPr sz="2400">
              <a:latin typeface="Calibri"/>
              <a:cs typeface="Calibri"/>
            </a:endParaRPr>
          </a:p>
          <a:p>
            <a:pPr marL="12700">
              <a:lnSpc>
                <a:spcPct val="100000"/>
              </a:lnSpc>
              <a:spcBef>
                <a:spcPts val="200"/>
              </a:spcBef>
            </a:pPr>
            <a:r>
              <a:rPr sz="2400" spc="-10" dirty="0">
                <a:latin typeface="Calibri"/>
                <a:cs typeface="Calibri"/>
              </a:rPr>
              <a:t>More</a:t>
            </a:r>
            <a:r>
              <a:rPr sz="2400" spc="-20" dirty="0">
                <a:latin typeface="Calibri"/>
                <a:cs typeface="Calibri"/>
              </a:rPr>
              <a:t> </a:t>
            </a:r>
            <a:r>
              <a:rPr sz="2400" dirty="0">
                <a:latin typeface="Calibri"/>
                <a:cs typeface="Calibri"/>
              </a:rPr>
              <a:t>than</a:t>
            </a:r>
            <a:r>
              <a:rPr sz="2400" spc="-15" dirty="0">
                <a:latin typeface="Calibri"/>
                <a:cs typeface="Calibri"/>
              </a:rPr>
              <a:t> two</a:t>
            </a:r>
            <a:r>
              <a:rPr sz="2400" spc="-40" dirty="0">
                <a:latin typeface="Calibri"/>
                <a:cs typeface="Calibri"/>
              </a:rPr>
              <a:t> </a:t>
            </a:r>
            <a:r>
              <a:rPr sz="2400" spc="-5" dirty="0">
                <a:latin typeface="Calibri"/>
                <a:cs typeface="Calibri"/>
              </a:rPr>
              <a:t>variables</a:t>
            </a:r>
            <a:endParaRPr sz="24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DE1E-98EF-4C51-8B8D-14223D675ECB}"/>
              </a:ext>
            </a:extLst>
          </p:cNvPr>
          <p:cNvSpPr>
            <a:spLocks noGrp="1"/>
          </p:cNvSpPr>
          <p:nvPr>
            <p:ph type="title"/>
          </p:nvPr>
        </p:nvSpPr>
        <p:spPr>
          <a:xfrm>
            <a:off x="916939" y="307924"/>
            <a:ext cx="10358120" cy="492443"/>
          </a:xfrm>
        </p:spPr>
        <p:txBody>
          <a:bodyPr/>
          <a:lstStyle/>
          <a:p>
            <a:r>
              <a:rPr lang="en-US" sz="3200" b="1" dirty="0">
                <a:latin typeface="Times New Roman" panose="02020603050405020304" pitchFamily="18" charset="0"/>
                <a:cs typeface="Times New Roman" panose="02020603050405020304" pitchFamily="18" charset="0"/>
              </a:rPr>
              <a:t>Definition: Constraint Satisfaction Problem</a:t>
            </a:r>
          </a:p>
        </p:txBody>
      </p:sp>
      <p:sp>
        <p:nvSpPr>
          <p:cNvPr id="3" name="Text Placeholder 2">
            <a:extLst>
              <a:ext uri="{FF2B5EF4-FFF2-40B4-BE49-F238E27FC236}">
                <a16:creationId xmlns:a16="http://schemas.microsoft.com/office/drawing/2014/main" id="{BFDE52D7-FAC4-41E3-9DB4-076315ED6732}"/>
              </a:ext>
            </a:extLst>
          </p:cNvPr>
          <p:cNvSpPr>
            <a:spLocks noGrp="1"/>
          </p:cNvSpPr>
          <p:nvPr>
            <p:ph type="body" idx="1"/>
          </p:nvPr>
        </p:nvSpPr>
        <p:spPr>
          <a:xfrm>
            <a:off x="908685" y="1143000"/>
            <a:ext cx="10374629" cy="4616648"/>
          </a:xfrm>
        </p:spPr>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Consider a Sudoku game with some numbers filled initially in some squares.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are expected to fill the empty squares with numbers ranging from 1 to 9 in such a way that no row, column or a block has a number repeating itself.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is a very basic constraint satisfaction problem.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are supposed to solve a problem keeping in mind some constraints.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remaining squares that are to be filled are known as variables, and the range of numbers (1-9) that can fill them is known as a domain.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Variables take on values from the domain. The conditions governing how a variable will choose its domain are known as constraints. </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751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9525F2-8020-491F-8773-70CD41B22347}"/>
              </a:ext>
            </a:extLst>
          </p:cNvPr>
          <p:cNvSpPr>
            <a:spLocks noGrp="1"/>
          </p:cNvSpPr>
          <p:nvPr>
            <p:ph type="body" idx="1"/>
          </p:nvPr>
        </p:nvSpPr>
        <p:spPr>
          <a:xfrm>
            <a:off x="908685" y="1676400"/>
            <a:ext cx="10374629" cy="3816429"/>
          </a:xfrm>
        </p:spPr>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constraint satisfaction problem (CSP)</a:t>
            </a:r>
            <a:r>
              <a:rPr lang="en-US" sz="2000" dirty="0">
                <a:latin typeface="Times New Roman" panose="02020603050405020304" pitchFamily="18" charset="0"/>
                <a:cs typeface="Times New Roman" panose="02020603050405020304" pitchFamily="18" charset="0"/>
              </a:rPr>
              <a:t> is a problem that requires its solution within some limitations or conditions also known as constraints.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consists of the following: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finite set of </a:t>
            </a:r>
            <a:r>
              <a:rPr lang="en-US" sz="2000" b="1" dirty="0">
                <a:latin typeface="Times New Roman" panose="02020603050405020304" pitchFamily="18" charset="0"/>
                <a:cs typeface="Times New Roman" panose="02020603050405020304" pitchFamily="18" charset="0"/>
              </a:rPr>
              <a:t>variables</a:t>
            </a:r>
            <a:r>
              <a:rPr lang="en-US" sz="2000" dirty="0">
                <a:latin typeface="Times New Roman" panose="02020603050405020304" pitchFamily="18" charset="0"/>
                <a:cs typeface="Times New Roman" panose="02020603050405020304" pitchFamily="18" charset="0"/>
              </a:rPr>
              <a:t> which stores the solution (V = {V1, V2, V3,....., </a:t>
            </a:r>
            <a:r>
              <a:rPr lang="en-US" sz="2000" dirty="0" err="1">
                <a:latin typeface="Times New Roman" panose="02020603050405020304" pitchFamily="18" charset="0"/>
                <a:cs typeface="Times New Roman" panose="02020603050405020304" pitchFamily="18" charset="0"/>
              </a:rPr>
              <a:t>Vn</a:t>
            </a:r>
            <a:r>
              <a:rPr lang="en-US" sz="20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set of </a:t>
            </a:r>
            <a:r>
              <a:rPr lang="en-US" sz="2000" b="1" dirty="0">
                <a:latin typeface="Times New Roman" panose="02020603050405020304" pitchFamily="18" charset="0"/>
                <a:cs typeface="Times New Roman" panose="02020603050405020304" pitchFamily="18" charset="0"/>
              </a:rPr>
              <a:t>discrete</a:t>
            </a:r>
            <a:r>
              <a:rPr lang="en-US" sz="2000" dirty="0">
                <a:latin typeface="Times New Roman" panose="02020603050405020304" pitchFamily="18" charset="0"/>
                <a:cs typeface="Times New Roman" panose="02020603050405020304" pitchFamily="18" charset="0"/>
              </a:rPr>
              <a:t> values known as </a:t>
            </a:r>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from which the solution is picked (D = {D1, D2, D3,.....,</a:t>
            </a:r>
            <a:r>
              <a:rPr lang="en-US" sz="2000" dirty="0" err="1">
                <a:latin typeface="Times New Roman" panose="02020603050405020304" pitchFamily="18" charset="0"/>
                <a:cs typeface="Times New Roman" panose="02020603050405020304" pitchFamily="18" charset="0"/>
              </a:rPr>
              <a:t>Dn</a:t>
            </a:r>
            <a:r>
              <a:rPr lang="en-US" sz="20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finite set of </a:t>
            </a:r>
            <a:r>
              <a:rPr lang="en-US" sz="2000" b="1" dirty="0">
                <a:latin typeface="Times New Roman" panose="02020603050405020304" pitchFamily="18" charset="0"/>
                <a:cs typeface="Times New Roman" panose="02020603050405020304" pitchFamily="18" charset="0"/>
              </a:rPr>
              <a:t>constraints</a:t>
            </a:r>
            <a:r>
              <a:rPr lang="en-US" sz="2000" dirty="0">
                <a:latin typeface="Times New Roman" panose="02020603050405020304" pitchFamily="18" charset="0"/>
                <a:cs typeface="Times New Roman" panose="02020603050405020304" pitchFamily="18" charset="0"/>
              </a:rPr>
              <a:t> (C = {C1, C2, C3,......, Cn}) </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2262597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52A59-6877-4F1B-9A8E-1673DEF96DD4}"/>
              </a:ext>
            </a:extLst>
          </p:cNvPr>
          <p:cNvSpPr>
            <a:spLocks noGrp="1"/>
          </p:cNvSpPr>
          <p:nvPr>
            <p:ph type="title"/>
          </p:nvPr>
        </p:nvSpPr>
        <p:spPr>
          <a:xfrm>
            <a:off x="916939" y="307924"/>
            <a:ext cx="10358120" cy="677108"/>
          </a:xfrm>
        </p:spPr>
        <p:txBody>
          <a:bodyPr/>
          <a:lstStyle/>
          <a:p>
            <a:r>
              <a:rPr lang="en-US" dirty="0"/>
              <a:t>Popular Problems with CSP</a:t>
            </a:r>
          </a:p>
        </p:txBody>
      </p:sp>
      <p:sp>
        <p:nvSpPr>
          <p:cNvPr id="3" name="Text Placeholder 2">
            <a:extLst>
              <a:ext uri="{FF2B5EF4-FFF2-40B4-BE49-F238E27FC236}">
                <a16:creationId xmlns:a16="http://schemas.microsoft.com/office/drawing/2014/main" id="{09758768-E21A-42A5-BAFE-14147F923857}"/>
              </a:ext>
            </a:extLst>
          </p:cNvPr>
          <p:cNvSpPr>
            <a:spLocks noGrp="1"/>
          </p:cNvSpPr>
          <p:nvPr>
            <p:ph type="body" idx="1"/>
          </p:nvPr>
        </p:nvSpPr>
        <p:spPr>
          <a:xfrm>
            <a:off x="908685" y="1706841"/>
            <a:ext cx="10374629" cy="4001095"/>
          </a:xfrm>
        </p:spPr>
        <p:txBody>
          <a:bodyPr/>
          <a:lstStyle/>
          <a:p>
            <a:r>
              <a:rPr lang="en-US" sz="2000" dirty="0">
                <a:latin typeface="Times New Roman" panose="02020603050405020304" pitchFamily="18" charset="0"/>
                <a:cs typeface="Times New Roman" panose="02020603050405020304" pitchFamily="18" charset="0"/>
              </a:rPr>
              <a:t>The following problems are some of the popular problems that can be solved using CSP: </a:t>
            </a:r>
          </a:p>
          <a:p>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a:latin typeface="Times New Roman" panose="02020603050405020304" pitchFamily="18" charset="0"/>
                <a:cs typeface="Times New Roman" panose="02020603050405020304" pitchFamily="18" charset="0"/>
              </a:rPr>
              <a:t>Crypt Arithmetic </a:t>
            </a:r>
            <a:r>
              <a:rPr lang="en-US" sz="2000" dirty="0">
                <a:latin typeface="Times New Roman" panose="02020603050405020304" pitchFamily="18" charset="0"/>
                <a:cs typeface="Times New Roman" panose="02020603050405020304" pitchFamily="18" charset="0"/>
              </a:rPr>
              <a:t>(Coding alphabets to numbers.) </a:t>
            </a:r>
          </a:p>
          <a:p>
            <a:pPr>
              <a:buFont typeface="+mj-lt"/>
              <a:buAutoNum type="arabicPeriod"/>
            </a:pP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n-Queen (In an n-queen problem, n queens should be placed in an </a:t>
            </a:r>
            <a:r>
              <a:rPr lang="en-US" sz="2000" dirty="0" err="1">
                <a:latin typeface="Times New Roman" panose="02020603050405020304" pitchFamily="18" charset="0"/>
                <a:cs typeface="Times New Roman" panose="02020603050405020304" pitchFamily="18" charset="0"/>
              </a:rPr>
              <a:t>nXn</a:t>
            </a:r>
            <a:r>
              <a:rPr lang="en-US" sz="2000" dirty="0">
                <a:latin typeface="Times New Roman" panose="02020603050405020304" pitchFamily="18" charset="0"/>
                <a:cs typeface="Times New Roman" panose="02020603050405020304" pitchFamily="18" charset="0"/>
              </a:rPr>
              <a:t> matrix such that no queen shares the same row, column or diagonal) </a:t>
            </a:r>
          </a:p>
          <a:p>
            <a:pPr>
              <a:buFont typeface="+mj-lt"/>
              <a:buAutoNum type="arabicPeriod"/>
            </a:pP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Map Coloring (coloring different regions of map, ensuring no adjacent regions have the same color) </a:t>
            </a:r>
          </a:p>
          <a:p>
            <a:pPr>
              <a:buFont typeface="+mj-lt"/>
              <a:buAutoNum type="arabicPeriod"/>
            </a:pP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Crossword (everyday puzzles appearing in newspapers) </a:t>
            </a:r>
          </a:p>
          <a:p>
            <a:pPr>
              <a:buFont typeface="+mj-lt"/>
              <a:buAutoNum type="arabicPeriod"/>
            </a:pP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Sudoku (a number grid)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256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067685" cy="697230"/>
          </a:xfrm>
          <a:prstGeom prst="rect">
            <a:avLst/>
          </a:prstGeom>
        </p:spPr>
        <p:txBody>
          <a:bodyPr vert="horz" wrap="square" lIns="0" tIns="13335" rIns="0" bIns="0" rtlCol="0">
            <a:spAutoFit/>
          </a:bodyPr>
          <a:lstStyle/>
          <a:p>
            <a:pPr marL="12700">
              <a:lnSpc>
                <a:spcPct val="100000"/>
              </a:lnSpc>
              <a:spcBef>
                <a:spcPts val="105"/>
              </a:spcBef>
            </a:pPr>
            <a:r>
              <a:rPr dirty="0"/>
              <a:t>Game</a:t>
            </a:r>
            <a:r>
              <a:rPr spc="-65" dirty="0"/>
              <a:t> </a:t>
            </a:r>
            <a:r>
              <a:rPr spc="-15" dirty="0"/>
              <a:t>Playing</a:t>
            </a:r>
          </a:p>
        </p:txBody>
      </p:sp>
      <p:sp>
        <p:nvSpPr>
          <p:cNvPr id="3" name="object 3"/>
          <p:cNvSpPr txBox="1">
            <a:spLocks noGrp="1"/>
          </p:cNvSpPr>
          <p:nvPr>
            <p:ph type="body" idx="1"/>
          </p:nvPr>
        </p:nvSpPr>
        <p:spPr>
          <a:prstGeom prst="rect">
            <a:avLst/>
          </a:prstGeom>
        </p:spPr>
        <p:txBody>
          <a:bodyPr vert="horz" wrap="square" lIns="0" tIns="98425" rIns="0" bIns="0" rtlCol="0">
            <a:spAutoFit/>
          </a:bodyPr>
          <a:lstStyle/>
          <a:p>
            <a:pPr marL="248920" indent="-228600">
              <a:lnSpc>
                <a:spcPct val="100000"/>
              </a:lnSpc>
              <a:spcBef>
                <a:spcPts val="775"/>
              </a:spcBef>
              <a:buFont typeface="Arial MT"/>
              <a:buChar char="•"/>
              <a:tabLst>
                <a:tab pos="249554" algn="l"/>
              </a:tabLst>
            </a:pPr>
            <a:r>
              <a:rPr spc="-5" dirty="0"/>
              <a:t>Multi </a:t>
            </a:r>
            <a:r>
              <a:rPr spc="-10" dirty="0"/>
              <a:t>agent</a:t>
            </a:r>
            <a:r>
              <a:rPr spc="-25" dirty="0"/>
              <a:t> </a:t>
            </a:r>
            <a:r>
              <a:rPr spc="-15" dirty="0"/>
              <a:t>environments</a:t>
            </a:r>
          </a:p>
          <a:p>
            <a:pPr marL="248920" indent="-228600">
              <a:lnSpc>
                <a:spcPct val="100000"/>
              </a:lnSpc>
              <a:spcBef>
                <a:spcPts val="675"/>
              </a:spcBef>
              <a:buFont typeface="Arial MT"/>
              <a:buChar char="•"/>
              <a:tabLst>
                <a:tab pos="249554" algn="l"/>
              </a:tabLst>
            </a:pPr>
            <a:r>
              <a:rPr spc="-5" dirty="0"/>
              <a:t>Games</a:t>
            </a:r>
            <a:r>
              <a:rPr spc="-10" dirty="0"/>
              <a:t> </a:t>
            </a:r>
            <a:r>
              <a:rPr spc="-5" dirty="0"/>
              <a:t>and</a:t>
            </a:r>
            <a:r>
              <a:rPr spc="10" dirty="0"/>
              <a:t> </a:t>
            </a:r>
            <a:r>
              <a:rPr spc="-10" dirty="0"/>
              <a:t>adversarial</a:t>
            </a:r>
            <a:r>
              <a:rPr spc="-15" dirty="0"/>
              <a:t> </a:t>
            </a:r>
            <a:r>
              <a:rPr spc="-10" dirty="0"/>
              <a:t>search</a:t>
            </a:r>
          </a:p>
          <a:p>
            <a:pPr marL="248920" marR="5080" indent="-228600">
              <a:lnSpc>
                <a:spcPct val="90000"/>
              </a:lnSpc>
              <a:spcBef>
                <a:spcPts val="1000"/>
              </a:spcBef>
              <a:buFont typeface="Arial MT"/>
              <a:buChar char="•"/>
              <a:tabLst>
                <a:tab pos="249554" algn="l"/>
              </a:tabLst>
            </a:pPr>
            <a:r>
              <a:rPr spc="-5" dirty="0"/>
              <a:t>Game</a:t>
            </a:r>
            <a:r>
              <a:rPr spc="5" dirty="0"/>
              <a:t> </a:t>
            </a:r>
            <a:r>
              <a:rPr spc="-5" dirty="0"/>
              <a:t>theory:</a:t>
            </a:r>
            <a:r>
              <a:rPr spc="10" dirty="0"/>
              <a:t> </a:t>
            </a:r>
            <a:r>
              <a:rPr spc="-5" dirty="0"/>
              <a:t>a</a:t>
            </a:r>
            <a:r>
              <a:rPr spc="10" dirty="0"/>
              <a:t> </a:t>
            </a:r>
            <a:r>
              <a:rPr spc="-15" dirty="0"/>
              <a:t>branch</a:t>
            </a:r>
            <a:r>
              <a:rPr spc="40" dirty="0"/>
              <a:t> </a:t>
            </a:r>
            <a:r>
              <a:rPr spc="-5" dirty="0"/>
              <a:t>of</a:t>
            </a:r>
            <a:r>
              <a:rPr spc="5" dirty="0"/>
              <a:t> </a:t>
            </a:r>
            <a:r>
              <a:rPr spc="-10" dirty="0"/>
              <a:t>economics</a:t>
            </a:r>
            <a:r>
              <a:rPr spc="25" dirty="0"/>
              <a:t> </a:t>
            </a:r>
            <a:r>
              <a:rPr spc="-10" dirty="0"/>
              <a:t>that</a:t>
            </a:r>
            <a:r>
              <a:rPr spc="15" dirty="0"/>
              <a:t> </a:t>
            </a:r>
            <a:r>
              <a:rPr spc="-10" dirty="0"/>
              <a:t>views</a:t>
            </a:r>
            <a:r>
              <a:rPr dirty="0"/>
              <a:t> </a:t>
            </a:r>
            <a:r>
              <a:rPr spc="-20" dirty="0"/>
              <a:t>any</a:t>
            </a:r>
            <a:r>
              <a:rPr spc="10" dirty="0"/>
              <a:t> </a:t>
            </a:r>
            <a:r>
              <a:rPr spc="-5" dirty="0"/>
              <a:t>multi</a:t>
            </a:r>
            <a:r>
              <a:rPr spc="10" dirty="0"/>
              <a:t> </a:t>
            </a:r>
            <a:r>
              <a:rPr spc="-10" dirty="0"/>
              <a:t>agent </a:t>
            </a:r>
            <a:r>
              <a:rPr spc="-5" dirty="0"/>
              <a:t> </a:t>
            </a:r>
            <a:r>
              <a:rPr spc="-20" dirty="0"/>
              <a:t>environment</a:t>
            </a:r>
            <a:r>
              <a:rPr spc="40" dirty="0"/>
              <a:t> </a:t>
            </a:r>
            <a:r>
              <a:rPr spc="-5" dirty="0"/>
              <a:t>as</a:t>
            </a:r>
            <a:r>
              <a:rPr spc="30" dirty="0"/>
              <a:t> </a:t>
            </a:r>
            <a:r>
              <a:rPr spc="-5" dirty="0"/>
              <a:t>a</a:t>
            </a:r>
            <a:r>
              <a:rPr dirty="0"/>
              <a:t> </a:t>
            </a:r>
            <a:r>
              <a:rPr spc="-15" dirty="0"/>
              <a:t>game</a:t>
            </a:r>
            <a:r>
              <a:rPr spc="5" dirty="0"/>
              <a:t> </a:t>
            </a:r>
            <a:r>
              <a:rPr spc="-15" dirty="0"/>
              <a:t>provided</a:t>
            </a:r>
            <a:r>
              <a:rPr spc="35" dirty="0"/>
              <a:t> </a:t>
            </a:r>
            <a:r>
              <a:rPr spc="-10" dirty="0"/>
              <a:t>that</a:t>
            </a:r>
            <a:r>
              <a:rPr spc="20" dirty="0"/>
              <a:t> </a:t>
            </a:r>
            <a:r>
              <a:rPr spc="-5" dirty="0"/>
              <a:t>the</a:t>
            </a:r>
            <a:r>
              <a:rPr spc="20" dirty="0"/>
              <a:t> </a:t>
            </a:r>
            <a:r>
              <a:rPr spc="-5" dirty="0"/>
              <a:t>impact</a:t>
            </a:r>
            <a:r>
              <a:rPr spc="25" dirty="0"/>
              <a:t> </a:t>
            </a:r>
            <a:r>
              <a:rPr spc="-5" dirty="0"/>
              <a:t>of</a:t>
            </a:r>
            <a:r>
              <a:rPr spc="10" dirty="0"/>
              <a:t> </a:t>
            </a:r>
            <a:r>
              <a:rPr dirty="0"/>
              <a:t>each</a:t>
            </a:r>
            <a:r>
              <a:rPr spc="5" dirty="0"/>
              <a:t> </a:t>
            </a:r>
            <a:r>
              <a:rPr spc="-10" dirty="0"/>
              <a:t>agent</a:t>
            </a:r>
            <a:r>
              <a:rPr dirty="0"/>
              <a:t> </a:t>
            </a:r>
            <a:r>
              <a:rPr spc="-5" dirty="0"/>
              <a:t>on</a:t>
            </a:r>
            <a:r>
              <a:rPr spc="15" dirty="0"/>
              <a:t> </a:t>
            </a:r>
            <a:r>
              <a:rPr spc="-5" dirty="0"/>
              <a:t>the </a:t>
            </a:r>
            <a:r>
              <a:rPr spc="-620" dirty="0"/>
              <a:t> </a:t>
            </a:r>
            <a:r>
              <a:rPr spc="-15" dirty="0"/>
              <a:t>others</a:t>
            </a:r>
            <a:r>
              <a:rPr spc="25" dirty="0"/>
              <a:t> </a:t>
            </a:r>
            <a:r>
              <a:rPr spc="-5" dirty="0"/>
              <a:t>is</a:t>
            </a:r>
            <a:r>
              <a:rPr spc="15" dirty="0"/>
              <a:t> </a:t>
            </a:r>
            <a:r>
              <a:rPr spc="-10" dirty="0"/>
              <a:t>significant,</a:t>
            </a:r>
            <a:r>
              <a:rPr spc="30" dirty="0"/>
              <a:t> </a:t>
            </a:r>
            <a:r>
              <a:rPr spc="-20" dirty="0"/>
              <a:t>regardless</a:t>
            </a:r>
            <a:r>
              <a:rPr spc="-5" dirty="0"/>
              <a:t> of</a:t>
            </a:r>
            <a:r>
              <a:rPr dirty="0"/>
              <a:t> </a:t>
            </a:r>
            <a:r>
              <a:rPr spc="-5" dirty="0"/>
              <a:t>whether</a:t>
            </a:r>
            <a:r>
              <a:rPr spc="20" dirty="0"/>
              <a:t> </a:t>
            </a:r>
            <a:r>
              <a:rPr spc="-5" dirty="0"/>
              <a:t>the</a:t>
            </a:r>
            <a:r>
              <a:rPr spc="15" dirty="0"/>
              <a:t> </a:t>
            </a:r>
            <a:r>
              <a:rPr spc="-10" dirty="0"/>
              <a:t>agents</a:t>
            </a:r>
            <a:r>
              <a:rPr spc="5" dirty="0"/>
              <a:t> </a:t>
            </a:r>
            <a:r>
              <a:rPr spc="-15" dirty="0"/>
              <a:t>are</a:t>
            </a:r>
            <a:r>
              <a:rPr spc="5" dirty="0"/>
              <a:t> </a:t>
            </a:r>
            <a:r>
              <a:rPr spc="-15" dirty="0"/>
              <a:t>cooperative </a:t>
            </a:r>
            <a:r>
              <a:rPr spc="-10" dirty="0"/>
              <a:t> </a:t>
            </a:r>
            <a:r>
              <a:rPr spc="-5" dirty="0"/>
              <a:t>and</a:t>
            </a:r>
            <a:r>
              <a:rPr spc="10" dirty="0"/>
              <a:t> </a:t>
            </a:r>
            <a:r>
              <a:rPr spc="-10" dirty="0"/>
              <a:t>competitive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0FFFEB-6708-4660-9077-3A33912AC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933450"/>
            <a:ext cx="7620000" cy="4991100"/>
          </a:xfrm>
          <a:prstGeom prst="rect">
            <a:avLst/>
          </a:prstGeom>
        </p:spPr>
      </p:pic>
    </p:spTree>
    <p:extLst>
      <p:ext uri="{BB962C8B-B14F-4D97-AF65-F5344CB8AC3E}">
        <p14:creationId xmlns:p14="http://schemas.microsoft.com/office/powerpoint/2010/main" val="33250365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B4E35A-B649-4308-9421-B3963E056152}"/>
              </a:ext>
            </a:extLst>
          </p:cNvPr>
          <p:cNvSpPr>
            <a:spLocks noGrp="1"/>
          </p:cNvSpPr>
          <p:nvPr>
            <p:ph type="body" idx="1"/>
          </p:nvPr>
        </p:nvSpPr>
        <p:spPr>
          <a:xfrm>
            <a:off x="908685" y="228600"/>
            <a:ext cx="10374629" cy="6709529"/>
          </a:xfrm>
        </p:spPr>
        <p:txBody>
          <a:bodyPr/>
          <a:lstStyle/>
          <a:p>
            <a:pPr marL="457200" indent="-457200">
              <a:buFont typeface="Arial" panose="020B0604020202020204" pitchFamily="34" charset="0"/>
              <a:buChar char="•"/>
            </a:pPr>
            <a:r>
              <a:rPr lang="en-US" sz="2400" dirty="0"/>
              <a:t>Game Playing is an important domain of artificial intelligence. </a:t>
            </a:r>
          </a:p>
          <a:p>
            <a:pPr marL="457200" indent="-457200">
              <a:buFont typeface="Arial" panose="020B0604020202020204" pitchFamily="34" charset="0"/>
              <a:buChar char="•"/>
            </a:pPr>
            <a:r>
              <a:rPr lang="en-US" sz="2400" dirty="0"/>
              <a:t>Games don’t require much knowledge; the only knowledge we need to provide is the rules, legal moves and the conditions of winning or losing the game.</a:t>
            </a:r>
          </a:p>
          <a:p>
            <a:pPr marL="457200" indent="-457200">
              <a:buFont typeface="Arial" panose="020B0604020202020204" pitchFamily="34" charset="0"/>
              <a:buChar char="•"/>
            </a:pPr>
            <a:r>
              <a:rPr lang="en-US" sz="2400" dirty="0"/>
              <a:t>Both players try to win the game. </a:t>
            </a:r>
          </a:p>
          <a:p>
            <a:pPr marL="457200" indent="-457200">
              <a:buFont typeface="Arial" panose="020B0604020202020204" pitchFamily="34" charset="0"/>
              <a:buChar char="•"/>
            </a:pPr>
            <a:r>
              <a:rPr lang="en-US" sz="2400" dirty="0"/>
              <a:t>So, both of them try to make the best move possible at each turn. Searching techniques like BFS(Breadth First Search) are not accurate for this as the branching factor is very high, so searching will take a lot of time. </a:t>
            </a:r>
          </a:p>
          <a:p>
            <a:pPr marL="457200" indent="-457200">
              <a:buFont typeface="Arial" panose="020B0604020202020204" pitchFamily="34" charset="0"/>
              <a:buChar char="•"/>
            </a:pPr>
            <a:r>
              <a:rPr lang="en-US" sz="2400" dirty="0"/>
              <a:t>So, we need another search procedures that improve –</a:t>
            </a:r>
          </a:p>
          <a:p>
            <a:pPr>
              <a:buFont typeface="Arial" panose="020B0604020202020204" pitchFamily="34" charset="0"/>
              <a:buChar char="•"/>
            </a:pPr>
            <a:endParaRPr lang="en-US" sz="2400" b="1" dirty="0"/>
          </a:p>
          <a:p>
            <a:pPr>
              <a:buFont typeface="Arial" panose="020B0604020202020204" pitchFamily="34" charset="0"/>
              <a:buChar char="•"/>
            </a:pPr>
            <a:r>
              <a:rPr lang="en-US" sz="2400" b="1" dirty="0"/>
              <a:t>Generate procedure</a:t>
            </a:r>
            <a:r>
              <a:rPr lang="en-US" sz="2400" dirty="0"/>
              <a:t> so that only good moves are generated.</a:t>
            </a:r>
          </a:p>
          <a:p>
            <a:pPr>
              <a:buFont typeface="Arial" panose="020B0604020202020204" pitchFamily="34" charset="0"/>
              <a:buChar char="•"/>
            </a:pPr>
            <a:endParaRPr lang="en-US" sz="2400" b="1" dirty="0"/>
          </a:p>
          <a:p>
            <a:pPr>
              <a:buFont typeface="Arial" panose="020B0604020202020204" pitchFamily="34" charset="0"/>
              <a:buChar char="•"/>
            </a:pPr>
            <a:r>
              <a:rPr lang="en-US" sz="2400" b="1" dirty="0"/>
              <a:t>Test procedure</a:t>
            </a:r>
            <a:r>
              <a:rPr lang="en-US" sz="2400" dirty="0"/>
              <a:t> so that the best move can be explored first.</a:t>
            </a:r>
          </a:p>
          <a:p>
            <a:pPr>
              <a:buFont typeface="Arial" panose="020B0604020202020204" pitchFamily="34" charset="0"/>
              <a:buChar char="•"/>
            </a:pPr>
            <a:endParaRPr lang="en-US" sz="2400" dirty="0"/>
          </a:p>
          <a:p>
            <a:pPr>
              <a:buFont typeface="Arial" panose="020B0604020202020204" pitchFamily="34" charset="0"/>
              <a:buChar char="•"/>
            </a:pPr>
            <a:r>
              <a:rPr lang="en-US" sz="2400" dirty="0"/>
              <a:t>The most common search technique in game playing is </a:t>
            </a:r>
            <a:r>
              <a:rPr lang="en-US" sz="2400" dirty="0">
                <a:hlinkClick r:id="rId2">
                  <a:extLst>
                    <a:ext uri="{A12FA001-AC4F-418D-AE19-62706E023703}">
                      <ahyp:hlinkClr xmlns:ahyp="http://schemas.microsoft.com/office/drawing/2018/hyperlinkcolor" val="tx"/>
                    </a:ext>
                  </a:extLst>
                </a:hlinkClick>
              </a:rPr>
              <a:t>Minimax search procedure</a:t>
            </a:r>
            <a:r>
              <a:rPr lang="en-US" sz="2400" dirty="0"/>
              <a:t>. It is depth-first depth-limited search procedure. </a:t>
            </a:r>
          </a:p>
          <a:p>
            <a:pPr>
              <a:buFont typeface="Arial" panose="020B0604020202020204" pitchFamily="34" charset="0"/>
              <a:buChar char="•"/>
            </a:pPr>
            <a:endParaRPr lang="en-US" sz="2400" dirty="0"/>
          </a:p>
          <a:p>
            <a:pPr>
              <a:buFont typeface="Arial" panose="020B0604020202020204" pitchFamily="34" charset="0"/>
              <a:buChar char="•"/>
            </a:pPr>
            <a:r>
              <a:rPr lang="en-US" sz="2400" dirty="0"/>
              <a:t>It is used for games like chess and tic-tac-toe.</a:t>
            </a:r>
          </a:p>
          <a:p>
            <a:endParaRPr lang="en-US" dirty="0"/>
          </a:p>
        </p:txBody>
      </p:sp>
    </p:spTree>
    <p:extLst>
      <p:ext uri="{BB962C8B-B14F-4D97-AF65-F5344CB8AC3E}">
        <p14:creationId xmlns:p14="http://schemas.microsoft.com/office/powerpoint/2010/main" val="2569321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59CD8D-9EFE-40E4-B111-26F500FD4FB5}"/>
              </a:ext>
            </a:extLst>
          </p:cNvPr>
          <p:cNvSpPr>
            <a:spLocks noGrp="1"/>
          </p:cNvSpPr>
          <p:nvPr>
            <p:ph type="body" idx="1"/>
          </p:nvPr>
        </p:nvSpPr>
        <p:spPr>
          <a:xfrm>
            <a:off x="908685" y="228600"/>
            <a:ext cx="10374629" cy="2585323"/>
          </a:xfrm>
        </p:spPr>
        <p:txBody>
          <a:bodyPr/>
          <a:lstStyle/>
          <a:p>
            <a:pPr marL="457200" indent="-457200">
              <a:buFont typeface="Arial" panose="020B0604020202020204" pitchFamily="34" charset="0"/>
              <a:buChar char="•"/>
            </a:pPr>
            <a:r>
              <a:rPr lang="en-US" b="1" dirty="0"/>
              <a:t>Minimax algorithm uses two functions –</a:t>
            </a:r>
            <a:endParaRPr lang="en-US" dirty="0"/>
          </a:p>
          <a:p>
            <a:pPr marL="457200" indent="-457200">
              <a:buFont typeface="Arial" panose="020B0604020202020204" pitchFamily="34" charset="0"/>
              <a:buChar char="•"/>
            </a:pPr>
            <a:r>
              <a:rPr lang="en-US" b="1" dirty="0"/>
              <a:t>MOVEGEN :</a:t>
            </a:r>
            <a:r>
              <a:rPr lang="en-US" dirty="0"/>
              <a:t> It generates all the possible moves that can be generated from the current position.</a:t>
            </a:r>
          </a:p>
          <a:p>
            <a:pPr marL="457200" indent="-457200">
              <a:buFont typeface="Arial" panose="020B0604020202020204" pitchFamily="34" charset="0"/>
              <a:buChar char="•"/>
            </a:pPr>
            <a:r>
              <a:rPr lang="en-US" b="1" dirty="0"/>
              <a:t>STATICEVALUATION :</a:t>
            </a:r>
            <a:r>
              <a:rPr lang="en-US" dirty="0"/>
              <a:t> It returns a value depending upon the goodness from the viewpoint of two-player</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407591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2C52-CE11-4AF8-9682-0AF8D5ABF2E0}"/>
              </a:ext>
            </a:extLst>
          </p:cNvPr>
          <p:cNvSpPr>
            <a:spLocks noGrp="1"/>
          </p:cNvSpPr>
          <p:nvPr>
            <p:ph type="title"/>
          </p:nvPr>
        </p:nvSpPr>
        <p:spPr>
          <a:xfrm>
            <a:off x="916939" y="307924"/>
            <a:ext cx="4264661" cy="606476"/>
          </a:xfrm>
        </p:spPr>
        <p:txBody>
          <a:bodyPr/>
          <a:lstStyle/>
          <a:p>
            <a:r>
              <a:rPr lang="en-US" b="1" dirty="0"/>
              <a:t>Production System</a:t>
            </a:r>
          </a:p>
        </p:txBody>
      </p:sp>
      <p:sp>
        <p:nvSpPr>
          <p:cNvPr id="3" name="Text Placeholder 2">
            <a:extLst>
              <a:ext uri="{FF2B5EF4-FFF2-40B4-BE49-F238E27FC236}">
                <a16:creationId xmlns:a16="http://schemas.microsoft.com/office/drawing/2014/main" id="{1AD654FA-D3C6-4B72-A655-0DBD1A846C97}"/>
              </a:ext>
            </a:extLst>
          </p:cNvPr>
          <p:cNvSpPr>
            <a:spLocks noGrp="1"/>
          </p:cNvSpPr>
          <p:nvPr>
            <p:ph type="body" idx="1"/>
          </p:nvPr>
        </p:nvSpPr>
        <p:spPr>
          <a:xfrm>
            <a:off x="908685" y="1706841"/>
            <a:ext cx="10374629" cy="4001095"/>
          </a:xfrm>
        </p:spPr>
        <p:txBody>
          <a:bodyPr/>
          <a:lstStyle/>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A production system in AI is a type of computer program that provides artificial intelligence based on a set of rules.</a:t>
            </a:r>
          </a:p>
          <a:p>
            <a:pPr marL="457200" indent="-457200">
              <a:buFont typeface="Arial" panose="020B0604020202020204" pitchFamily="34" charset="0"/>
              <a:buChar char="•"/>
            </a:pPr>
            <a:endParaRPr lang="en-US" sz="2000" b="0" dirty="0">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A production system (popularly known as a production rule system) is a kind of cognitive architecture that is used to implement search algorithms and replicate human problem-solving skills.</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This problem-solving knowledge is encoded in the system in the form of little quanta popularly known as productions. </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It consists of two components: rule and action.</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 Water Jug Problem</a:t>
            </a:r>
            <a:r>
              <a:rPr lang="en-US" sz="2000" b="0" dirty="0">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5419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FB632F-0732-4539-BAFA-67C222B14EE2}"/>
              </a:ext>
            </a:extLst>
          </p:cNvPr>
          <p:cNvSpPr>
            <a:spLocks noGrp="1"/>
          </p:cNvSpPr>
          <p:nvPr>
            <p:ph type="body" idx="1"/>
          </p:nvPr>
        </p:nvSpPr>
        <p:spPr>
          <a:xfrm>
            <a:off x="908685" y="1706841"/>
            <a:ext cx="10374629" cy="3077766"/>
          </a:xfrm>
        </p:spPr>
        <p:txBody>
          <a:bodyPr/>
          <a:lstStyle/>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Rules recognize the condition, and the actions part has the knowledge of how to deal with the condition. </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In simpler words, the production system in AI contains a set of rules which are defined by the left side and right side of the system. </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The left side contains a set of things to watch for (condition), and the right side contains the things to do (action).</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078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030F-C6CE-45C8-82D9-AD230690EF26}"/>
              </a:ext>
            </a:extLst>
          </p:cNvPr>
          <p:cNvSpPr>
            <a:spLocks noGrp="1"/>
          </p:cNvSpPr>
          <p:nvPr>
            <p:ph type="title"/>
          </p:nvPr>
        </p:nvSpPr>
        <p:spPr>
          <a:xfrm>
            <a:off x="916939" y="307924"/>
            <a:ext cx="10358120" cy="1107996"/>
          </a:xfrm>
        </p:spPr>
        <p:txBody>
          <a:bodyPr/>
          <a:lstStyle/>
          <a:p>
            <a:r>
              <a:rPr lang="en-US" sz="2800" b="1" dirty="0">
                <a:latin typeface="Times New Roman" panose="02020603050405020304" pitchFamily="18" charset="0"/>
                <a:cs typeface="Times New Roman" panose="02020603050405020304" pitchFamily="18" charset="0"/>
              </a:rPr>
              <a:t>What are the Elements of a Production System?</a:t>
            </a:r>
            <a:br>
              <a:rPr lang="en-US" b="1" dirty="0"/>
            </a:br>
            <a:endParaRPr lang="en-US" dirty="0"/>
          </a:p>
        </p:txBody>
      </p:sp>
      <p:sp>
        <p:nvSpPr>
          <p:cNvPr id="3" name="Text Placeholder 2">
            <a:extLst>
              <a:ext uri="{FF2B5EF4-FFF2-40B4-BE49-F238E27FC236}">
                <a16:creationId xmlns:a16="http://schemas.microsoft.com/office/drawing/2014/main" id="{11D98F1F-2FB7-498D-9BCF-8EA738DC946D}"/>
              </a:ext>
            </a:extLst>
          </p:cNvPr>
          <p:cNvSpPr>
            <a:spLocks noGrp="1"/>
          </p:cNvSpPr>
          <p:nvPr>
            <p:ph type="body" idx="1"/>
          </p:nvPr>
        </p:nvSpPr>
        <p:spPr>
          <a:xfrm>
            <a:off x="908685" y="1706841"/>
            <a:ext cx="10374629" cy="4308872"/>
          </a:xfrm>
        </p:spPr>
        <p:txBody>
          <a:bodyPr/>
          <a:lstStyle/>
          <a:p>
            <a:r>
              <a:rPr lang="en-US" sz="2000" b="0" dirty="0">
                <a:effectLst/>
                <a:latin typeface="Times New Roman" panose="02020603050405020304" pitchFamily="18" charset="0"/>
                <a:cs typeface="Times New Roman" panose="02020603050405020304" pitchFamily="18" charset="0"/>
              </a:rPr>
              <a:t>An AI production system has three main elements which are as follows:</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Global Database:</a:t>
            </a:r>
            <a:r>
              <a:rPr lang="en-US" sz="2000" b="0" dirty="0">
                <a:effectLst/>
                <a:latin typeface="Times New Roman" panose="02020603050405020304" pitchFamily="18" charset="0"/>
                <a:cs typeface="Times New Roman" panose="02020603050405020304" pitchFamily="18" charset="0"/>
              </a:rPr>
              <a:t>  The primary database which contains all the information necessary to successfully complete a task. It is further broken down into two parts: temporary and permanent. The temporary part contains information relevant to the current situation only whereas the permanent part contains information about the fixed actions.</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 set of Production Rules:</a:t>
            </a:r>
            <a:r>
              <a:rPr lang="en-US" sz="2000" b="0" dirty="0">
                <a:effectLst/>
                <a:latin typeface="Times New Roman" panose="02020603050405020304" pitchFamily="18" charset="0"/>
                <a:cs typeface="Times New Roman" panose="02020603050405020304" pitchFamily="18" charset="0"/>
              </a:rPr>
              <a:t> A set of rules that operates on the global database. Each rule consists of a precondition and postcondition that the global database either meets or not. For example, if a condition is met by the global database, then the production rule is applied successfully.</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Control System:</a:t>
            </a:r>
            <a:r>
              <a:rPr lang="en-US" sz="2000" b="0" dirty="0">
                <a:effectLst/>
                <a:latin typeface="Times New Roman" panose="02020603050405020304" pitchFamily="18" charset="0"/>
                <a:cs typeface="Times New Roman" panose="02020603050405020304" pitchFamily="18" charset="0"/>
              </a:rPr>
              <a:t> A control system that acts as the decision-maker, decides which production rule should be applied. The Control system stops computation or processing when a termination condition is met on the database.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350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A454AB-F6D5-4C6D-A889-C0FF9890A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838200"/>
            <a:ext cx="6172199" cy="5715000"/>
          </a:xfrm>
          <a:prstGeom prst="rect">
            <a:avLst/>
          </a:prstGeom>
        </p:spPr>
      </p:pic>
    </p:spTree>
    <p:extLst>
      <p:ext uri="{BB962C8B-B14F-4D97-AF65-F5344CB8AC3E}">
        <p14:creationId xmlns:p14="http://schemas.microsoft.com/office/powerpoint/2010/main" val="4154189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825D-ECA5-4BB9-A7FD-2184DC37DF68}"/>
              </a:ext>
            </a:extLst>
          </p:cNvPr>
          <p:cNvSpPr>
            <a:spLocks noGrp="1"/>
          </p:cNvSpPr>
          <p:nvPr>
            <p:ph type="title"/>
          </p:nvPr>
        </p:nvSpPr>
        <p:spPr>
          <a:xfrm>
            <a:off x="916939" y="307924"/>
            <a:ext cx="10358120" cy="738664"/>
          </a:xfrm>
        </p:spPr>
        <p:txBody>
          <a:bodyPr/>
          <a:lstStyle/>
          <a:p>
            <a:r>
              <a:rPr lang="en-US" sz="2400" b="1" dirty="0">
                <a:latin typeface="Times New Roman" panose="02020603050405020304" pitchFamily="18" charset="0"/>
                <a:cs typeface="Times New Roman" panose="02020603050405020304" pitchFamily="18" charset="0"/>
              </a:rPr>
              <a:t>What are the Features of a Production System?</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3245A9-FCE0-4102-8484-8F6F2E84DB7B}"/>
              </a:ext>
            </a:extLst>
          </p:cNvPr>
          <p:cNvSpPr>
            <a:spLocks noGrp="1"/>
          </p:cNvSpPr>
          <p:nvPr>
            <p:ph type="body" idx="1"/>
          </p:nvPr>
        </p:nvSpPr>
        <p:spPr>
          <a:xfrm>
            <a:off x="908685" y="1046588"/>
            <a:ext cx="10374629" cy="4739759"/>
          </a:xfrm>
        </p:spPr>
        <p:txBody>
          <a:bodyPr/>
          <a:lstStyle/>
          <a:p>
            <a:r>
              <a:rPr lang="en-US" sz="2000" b="1" dirty="0">
                <a:latin typeface="Times New Roman" panose="02020603050405020304" pitchFamily="18" charset="0"/>
                <a:cs typeface="Times New Roman" panose="02020603050405020304" pitchFamily="18" charset="0"/>
              </a:rPr>
              <a:t>A production system has the following features: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1. Simplicity:</a:t>
            </a:r>
            <a:r>
              <a:rPr lang="en-US" sz="2000" b="0" dirty="0">
                <a:effectLst/>
                <a:latin typeface="Times New Roman" panose="02020603050405020304" pitchFamily="18" charset="0"/>
                <a:cs typeface="Times New Roman" panose="02020603050405020304" pitchFamily="18" charset="0"/>
              </a:rPr>
              <a:t> Due to the use of the IF-THEN structure, each sentence is unique in the production system. This uniqueness makes the knowledge representation simple to enhance the readability of the production rules.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Modularity:</a:t>
            </a:r>
            <a:r>
              <a:rPr lang="en-US" sz="2000" b="0" dirty="0">
                <a:effectLst/>
                <a:latin typeface="Times New Roman" panose="02020603050405020304" pitchFamily="18" charset="0"/>
                <a:cs typeface="Times New Roman" panose="02020603050405020304" pitchFamily="18" charset="0"/>
              </a:rPr>
              <a:t> The knowledge available is coded in discrete pieces by the production system, which makes it easy to add, modify, or delete the information without any side effects.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Modifiability:</a:t>
            </a:r>
            <a:r>
              <a:rPr lang="en-US" sz="2000" b="0" dirty="0">
                <a:effectLst/>
                <a:latin typeface="Times New Roman" panose="02020603050405020304" pitchFamily="18" charset="0"/>
                <a:cs typeface="Times New Roman" panose="02020603050405020304" pitchFamily="18" charset="0"/>
              </a:rPr>
              <a:t> This feature allows for the modification of the production rules. The rules are first defined in the skeletal form and then modified to suit an application.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Knowledge-intensive:</a:t>
            </a:r>
            <a:r>
              <a:rPr lang="en-US" sz="2000" b="0" dirty="0">
                <a:effectLst/>
                <a:latin typeface="Times New Roman" panose="02020603050405020304" pitchFamily="18" charset="0"/>
                <a:cs typeface="Times New Roman" panose="02020603050405020304" pitchFamily="18" charset="0"/>
              </a:rPr>
              <a:t> As the name suggests, the system only stores knowledge. All the rules are written in the English language. This type of representation solves the semantics problem.</a:t>
            </a:r>
            <a:endParaRPr lang="en-US"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993874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CA0B5A-0821-4DAD-BE2C-599898BECB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762000"/>
            <a:ext cx="9906001" cy="6858000"/>
          </a:xfrm>
          <a:prstGeom prst="rect">
            <a:avLst/>
          </a:prstGeom>
        </p:spPr>
      </p:pic>
    </p:spTree>
    <p:extLst>
      <p:ext uri="{BB962C8B-B14F-4D97-AF65-F5344CB8AC3E}">
        <p14:creationId xmlns:p14="http://schemas.microsoft.com/office/powerpoint/2010/main" val="3328620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9E42489-5D3A-4DEC-94DA-F1A4048ADD0D}"/>
              </a:ext>
            </a:extLst>
          </p:cNvPr>
          <p:cNvSpPr>
            <a:spLocks noGrp="1" noChangeArrowheads="1"/>
          </p:cNvSpPr>
          <p:nvPr>
            <p:ph type="body" idx="1"/>
          </p:nvPr>
        </p:nvSpPr>
        <p:spPr bwMode="auto">
          <a:xfrm>
            <a:off x="908686" y="709347"/>
            <a:ext cx="1036637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Monotonic Production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 monotonic production system, the use of one rule never prevents the involvement of another rule when both the rules are selected at the same time. Hence, it enables the system to apply rules simultaneously.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Partially Commutative Production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this production system if a set of rules is used to change state A to state B then any allowable combination of these rules will also produce the same results (convert state A to state B).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Non-Monotonic Production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production system increases the problem-solving efficiency of the machine by not keeping a record of the changes made in the previous search process. These types of production systems are useful from an implementation point of view as they do not backtrack to the previous state when it is found that an incorrect path was followed.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Commutative Production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type of production systems is used when the order of operation is not important, and the changes are reversible. </a:t>
            </a:r>
          </a:p>
        </p:txBody>
      </p:sp>
    </p:spTree>
    <p:extLst>
      <p:ext uri="{BB962C8B-B14F-4D97-AF65-F5344CB8AC3E}">
        <p14:creationId xmlns:p14="http://schemas.microsoft.com/office/powerpoint/2010/main" val="468796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1006</TotalTime>
  <Words>2899</Words>
  <Application>Microsoft Office PowerPoint</Application>
  <PresentationFormat>Widescreen</PresentationFormat>
  <Paragraphs>255</Paragraphs>
  <Slides>38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Arial MT</vt:lpstr>
      <vt:lpstr>Calibri</vt:lpstr>
      <vt:lpstr>Calibri Light</vt:lpstr>
      <vt:lpstr>Times New Roman</vt:lpstr>
      <vt:lpstr>Wingdings</vt:lpstr>
      <vt:lpstr>Office Theme</vt:lpstr>
      <vt:lpstr>Artificial Intelligence Chapter II: Problem Solving</vt:lpstr>
      <vt:lpstr>Outline</vt:lpstr>
      <vt:lpstr>PowerPoint Presentation</vt:lpstr>
      <vt:lpstr>Steps in Problem Solving</vt:lpstr>
      <vt:lpstr>2.1 Defining Problems as a State Space Search</vt:lpstr>
      <vt:lpstr>Defining Problems as a State Space Search</vt:lpstr>
      <vt:lpstr>Defining Problems as a State Space Search</vt:lpstr>
      <vt:lpstr>Defining Problems as a State Space Search:  An Example – A Water Jug Problem</vt:lpstr>
      <vt:lpstr>Defining Problems as a State Space Search:  An Example – A Water Jug Problem</vt:lpstr>
      <vt:lpstr>Defining Problems as a State Space Search:  An Example – A Water Jug Problem  Rules</vt:lpstr>
      <vt:lpstr>Defining Problems as a State Space Search: An Example – A Water Jug Problem  Solution</vt:lpstr>
      <vt:lpstr>Defining Problems as a State Space Search</vt:lpstr>
      <vt:lpstr>2.2 Problem Formulation</vt:lpstr>
      <vt:lpstr>PowerPoint Presentation</vt:lpstr>
      <vt:lpstr>Problem Characteristics</vt:lpstr>
      <vt:lpstr>2.3. Problem Types</vt:lpstr>
      <vt:lpstr>PowerPoint Presentation</vt:lpstr>
      <vt:lpstr>Problem Types: Well Defined Problem</vt:lpstr>
      <vt:lpstr>Problem Types: Well Defined Problem</vt:lpstr>
      <vt:lpstr>Problem Types: Constraint Satisfaction  Problem</vt:lpstr>
      <vt:lpstr>Problem Types: Constraint Satisfaction  Problem</vt:lpstr>
      <vt:lpstr>Problem Types: Constraint Satisfaction  Problem</vt:lpstr>
      <vt:lpstr>Problem Types: Constraint Satisfaction  Problem</vt:lpstr>
      <vt:lpstr>Problem Types: Constraint Satisfaction  Problem</vt:lpstr>
      <vt:lpstr>Definition: Constraint Satisfaction Problem</vt:lpstr>
      <vt:lpstr>PowerPoint Presentation</vt:lpstr>
      <vt:lpstr>Popular Problems with CSP</vt:lpstr>
      <vt:lpstr>Game Playing</vt:lpstr>
      <vt:lpstr>PowerPoint Presentation</vt:lpstr>
      <vt:lpstr>PowerPoint Presentation</vt:lpstr>
      <vt:lpstr>PowerPoint Presentation</vt:lpstr>
      <vt:lpstr>Production System</vt:lpstr>
      <vt:lpstr>PowerPoint Presentation</vt:lpstr>
      <vt:lpstr>What are the Elements of a Production System? </vt:lpstr>
      <vt:lpstr>PowerPoint Presentation</vt:lpstr>
      <vt:lpstr>What are the Features of a Production System?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Lecture III Chapter II: Problem Solving</dc:title>
  <dc:creator>Bibek Ropakheti</dc:creator>
  <cp:lastModifiedBy>Sarju Sriju</cp:lastModifiedBy>
  <cp:revision>31</cp:revision>
  <dcterms:created xsi:type="dcterms:W3CDTF">2021-12-08T02:36:24Z</dcterms:created>
  <dcterms:modified xsi:type="dcterms:W3CDTF">2021-12-19T02:54:04Z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2014-06-12T00:00:00Z</vt:filetime>
  </property>
  <property fmtid="{D5CDD505-2E9C-101B-9397-08002B2CF9AE}" pid="3" name="Creator">
    <vt:lpwstr>Microsoft® PowerPoint® 2013</vt:lpwstr>
  </property>
  <property fmtid="{D5CDD505-2E9C-101B-9397-08002B2CF9AE}" pid="4" name="LastSaved">
    <vt:filetime>2021-12-08T00:00:00Z</vt:filetime>
  </property>
</Properties>
</file>