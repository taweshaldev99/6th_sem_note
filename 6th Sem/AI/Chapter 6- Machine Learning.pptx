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93" r:id="rId5"/>
    <p:sldId id="259" r:id="rId6"/>
    <p:sldId id="260" r:id="rId7"/>
    <p:sldId id="261" r:id="rId8"/>
    <p:sldId id="294" r:id="rId9"/>
    <p:sldId id="262" r:id="rId10"/>
    <p:sldId id="295" r:id="rId11"/>
    <p:sldId id="317" r:id="rId12"/>
    <p:sldId id="316" r:id="rId13"/>
    <p:sldId id="318" r:id="rId14"/>
    <p:sldId id="319" r:id="rId15"/>
    <p:sldId id="299" r:id="rId16"/>
    <p:sldId id="300" r:id="rId17"/>
    <p:sldId id="271" r:id="rId18"/>
    <p:sldId id="274" r:id="rId19"/>
    <p:sldId id="303" r:id="rId20"/>
    <p:sldId id="275" r:id="rId21"/>
    <p:sldId id="304" r:id="rId22"/>
    <p:sldId id="276" r:id="rId23"/>
    <p:sldId id="305" r:id="rId24"/>
    <p:sldId id="306" r:id="rId25"/>
    <p:sldId id="307" r:id="rId26"/>
    <p:sldId id="308" r:id="rId27"/>
    <p:sldId id="309" r:id="rId28"/>
    <p:sldId id="310" r:id="rId29"/>
    <p:sldId id="277" r:id="rId30"/>
    <p:sldId id="280" r:id="rId31"/>
    <p:sldId id="311" r:id="rId32"/>
    <p:sldId id="312" r:id="rId33"/>
    <p:sldId id="313" r:id="rId34"/>
    <p:sldId id="314" r:id="rId35"/>
    <p:sldId id="281" r:id="rId36"/>
    <p:sldId id="320" r:id="rId37"/>
    <p:sldId id="315" r:id="rId38"/>
    <p:sldId id="283" r:id="rId39"/>
    <p:sldId id="321" r:id="rId40"/>
    <p:sldId id="322" r:id="rId41"/>
    <p:sldId id="284" r:id="rId42"/>
    <p:sldId id="287" r:id="rId43"/>
    <p:sldId id="323" r:id="rId44"/>
    <p:sldId id="324" r:id="rId45"/>
    <p:sldId id="288" r:id="rId4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70"/>
    <p:restoredTop sz="94681"/>
  </p:normalViewPr>
  <p:slideViewPr>
    <p:cSldViewPr>
      <p:cViewPr varScale="1">
        <p:scale>
          <a:sx n="74" d="100"/>
          <a:sy n="74" d="100"/>
        </p:scale>
        <p:origin x="1373"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0844" y="3265500"/>
            <a:ext cx="10370311" cy="169291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916939" y="1756565"/>
            <a:ext cx="5014595" cy="364680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sz="half" idx="3"/>
          </p:nvPr>
        </p:nvSpPr>
        <p:spPr>
          <a:xfrm>
            <a:off x="6251828" y="1756565"/>
            <a:ext cx="4726940" cy="346773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09013" y="2716479"/>
            <a:ext cx="8173973" cy="1590039"/>
          </a:xfrm>
          <a:prstGeom prst="rect">
            <a:avLst/>
          </a:prstGeom>
        </p:spPr>
        <p:txBody>
          <a:bodyPr wrap="square" lIns="0" tIns="0" rIns="0" bIns="0">
            <a:spAutoFit/>
          </a:bodyPr>
          <a:lstStyle>
            <a:lvl1pPr>
              <a:defRPr sz="5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09320" y="1793189"/>
            <a:ext cx="10373359" cy="352234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searchbusinessanalytics.techtarget.com/definition/natural-language-processing-NLP" TargetMode="External"/><Relationship Id="rId2" Type="http://schemas.openxmlformats.org/officeDocument/2006/relationships/hyperlink" Target="https://www.techtarget.com/searchenterpriseai/definition/image-recognition"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045" rIns="0" bIns="0" rtlCol="0">
            <a:spAutoFit/>
          </a:bodyPr>
          <a:lstStyle/>
          <a:p>
            <a:pPr marL="12700" marR="5080" indent="1275715">
              <a:lnSpc>
                <a:spcPts val="5830"/>
              </a:lnSpc>
              <a:spcBef>
                <a:spcPts val="835"/>
              </a:spcBef>
            </a:pPr>
            <a:br>
              <a:rPr lang="en-US" spc="-15" dirty="0"/>
            </a:br>
            <a:r>
              <a:rPr spc="-15" dirty="0"/>
              <a:t>Chapter</a:t>
            </a:r>
            <a:r>
              <a:rPr spc="-50" dirty="0"/>
              <a:t> </a:t>
            </a:r>
            <a:r>
              <a:rPr spc="-5" dirty="0"/>
              <a:t>VI:</a:t>
            </a:r>
            <a:r>
              <a:rPr spc="-25" dirty="0"/>
              <a:t> </a:t>
            </a:r>
            <a:r>
              <a:rPr spc="-5" dirty="0"/>
              <a:t>Machine</a:t>
            </a:r>
            <a:r>
              <a:rPr spc="-40" dirty="0"/>
              <a:t> </a:t>
            </a:r>
            <a:r>
              <a:rPr dirty="0"/>
              <a:t>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679575" cy="697230"/>
          </a:xfrm>
          <a:prstGeom prst="rect">
            <a:avLst/>
          </a:prstGeom>
        </p:spPr>
        <p:txBody>
          <a:bodyPr vert="horz" wrap="square" lIns="0" tIns="13335" rIns="0" bIns="0" rtlCol="0">
            <a:spAutoFit/>
          </a:bodyPr>
          <a:lstStyle/>
          <a:p>
            <a:pPr marL="12700">
              <a:lnSpc>
                <a:spcPct val="100000"/>
              </a:lnSpc>
              <a:spcBef>
                <a:spcPts val="105"/>
              </a:spcBef>
            </a:pPr>
            <a:r>
              <a:rPr sz="4400" spc="-5" dirty="0"/>
              <a:t>Outline</a:t>
            </a:r>
            <a:endParaRPr sz="4400"/>
          </a:p>
        </p:txBody>
      </p:sp>
      <p:sp>
        <p:nvSpPr>
          <p:cNvPr id="3" name="object 3"/>
          <p:cNvSpPr txBox="1"/>
          <p:nvPr/>
        </p:nvSpPr>
        <p:spPr>
          <a:xfrm>
            <a:off x="916939" y="1706841"/>
            <a:ext cx="3284854" cy="3094990"/>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Concept</a:t>
            </a:r>
            <a:r>
              <a:rPr sz="2800" spc="-1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Learning</a:t>
            </a:r>
            <a:endParaRPr sz="280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Learning</a:t>
            </a:r>
            <a:r>
              <a:rPr sz="2800" spc="5" dirty="0">
                <a:latin typeface="Calibri"/>
                <a:cs typeface="Calibri"/>
              </a:rPr>
              <a:t> </a:t>
            </a:r>
            <a:r>
              <a:rPr sz="2800" spc="-15" dirty="0">
                <a:latin typeface="Calibri"/>
                <a:cs typeface="Calibri"/>
              </a:rPr>
              <a:t>By </a:t>
            </a:r>
            <a:r>
              <a:rPr sz="2800" spc="-5" dirty="0">
                <a:latin typeface="Calibri"/>
                <a:cs typeface="Calibri"/>
              </a:rPr>
              <a:t>Analogy</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Boltzmann</a:t>
            </a:r>
            <a:r>
              <a:rPr sz="2800" spc="-20" dirty="0">
                <a:latin typeface="Calibri"/>
                <a:cs typeface="Calibri"/>
              </a:rPr>
              <a:t> </a:t>
            </a:r>
            <a:r>
              <a:rPr sz="2800" spc="-5" dirty="0">
                <a:latin typeface="Calibri"/>
                <a:cs typeface="Calibri"/>
              </a:rPr>
              <a:t>Machines</a:t>
            </a:r>
            <a:endParaRPr sz="2800">
              <a:latin typeface="Calibri"/>
              <a:cs typeface="Calibri"/>
            </a:endParaRPr>
          </a:p>
          <a:p>
            <a:pPr marL="241300" indent="-228600">
              <a:lnSpc>
                <a:spcPct val="100000"/>
              </a:lnSpc>
              <a:spcBef>
                <a:spcPts val="665"/>
              </a:spcBef>
              <a:buFont typeface="Arial MT"/>
              <a:buChar char="•"/>
              <a:tabLst>
                <a:tab pos="241300" algn="l"/>
              </a:tabLst>
            </a:pPr>
            <a:r>
              <a:rPr sz="2800" spc="-10" dirty="0">
                <a:latin typeface="Calibri"/>
                <a:cs typeface="Calibri"/>
              </a:rPr>
              <a:t>Fuzzy</a:t>
            </a:r>
            <a:r>
              <a:rPr sz="2800" spc="-30" dirty="0">
                <a:latin typeface="Calibri"/>
                <a:cs typeface="Calibri"/>
              </a:rPr>
              <a:t> </a:t>
            </a:r>
            <a:r>
              <a:rPr sz="2800" spc="-10" dirty="0">
                <a:latin typeface="Calibri"/>
                <a:cs typeface="Calibri"/>
              </a:rPr>
              <a:t>Logic</a:t>
            </a:r>
            <a:endParaRPr sz="2800">
              <a:latin typeface="Calibri"/>
              <a:cs typeface="Calibri"/>
            </a:endParaRPr>
          </a:p>
          <a:p>
            <a:pPr marL="241300" indent="-228600">
              <a:lnSpc>
                <a:spcPct val="100000"/>
              </a:lnSpc>
              <a:spcBef>
                <a:spcPts val="670"/>
              </a:spcBef>
              <a:buFont typeface="Arial MT"/>
              <a:buChar char="•"/>
              <a:tabLst>
                <a:tab pos="241300" algn="l"/>
              </a:tabLst>
            </a:pPr>
            <a:r>
              <a:rPr sz="2800" spc="-15" dirty="0">
                <a:latin typeface="Calibri"/>
                <a:cs typeface="Calibri"/>
              </a:rPr>
              <a:t>Neural</a:t>
            </a:r>
            <a:r>
              <a:rPr sz="2800" spc="-20" dirty="0">
                <a:latin typeface="Calibri"/>
                <a:cs typeface="Calibri"/>
              </a:rPr>
              <a:t> </a:t>
            </a:r>
            <a:r>
              <a:rPr sz="2800" spc="-10" dirty="0">
                <a:latin typeface="Calibri"/>
                <a:cs typeface="Calibri"/>
              </a:rPr>
              <a:t>Network</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Genetic</a:t>
            </a:r>
            <a:r>
              <a:rPr sz="2800" spc="-30" dirty="0">
                <a:latin typeface="Calibri"/>
                <a:cs typeface="Calibri"/>
              </a:rPr>
              <a:t> </a:t>
            </a:r>
            <a:r>
              <a:rPr sz="2800" spc="-10" dirty="0">
                <a:latin typeface="Calibri"/>
                <a:cs typeface="Calibri"/>
              </a:rPr>
              <a:t>Algorithm</a:t>
            </a:r>
            <a:endParaRPr sz="2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1960245" cy="697230"/>
          </a:xfrm>
          <a:prstGeom prst="rect">
            <a:avLst/>
          </a:prstGeom>
        </p:spPr>
        <p:txBody>
          <a:bodyPr vert="horz" wrap="square" lIns="0" tIns="13335" rIns="0" bIns="0" rtlCol="0">
            <a:spAutoFit/>
          </a:bodyPr>
          <a:lstStyle/>
          <a:p>
            <a:pPr marL="12700">
              <a:lnSpc>
                <a:spcPct val="100000"/>
              </a:lnSpc>
              <a:spcBef>
                <a:spcPts val="105"/>
              </a:spcBef>
            </a:pPr>
            <a:r>
              <a:rPr sz="4400" dirty="0"/>
              <a:t>Learning</a:t>
            </a:r>
            <a:endParaRPr sz="4400"/>
          </a:p>
        </p:txBody>
      </p:sp>
      <p:sp>
        <p:nvSpPr>
          <p:cNvPr id="3" name="object 3"/>
          <p:cNvSpPr txBox="1"/>
          <p:nvPr/>
        </p:nvSpPr>
        <p:spPr>
          <a:xfrm>
            <a:off x="916939" y="1706841"/>
            <a:ext cx="8781415" cy="207200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Acquiring</a:t>
            </a:r>
            <a:r>
              <a:rPr sz="2800" spc="40" dirty="0">
                <a:latin typeface="Calibri"/>
                <a:cs typeface="Calibri"/>
              </a:rPr>
              <a:t> </a:t>
            </a:r>
            <a:r>
              <a:rPr sz="2800" spc="-10" dirty="0">
                <a:latin typeface="Calibri"/>
                <a:cs typeface="Calibri"/>
              </a:rPr>
              <a:t>new</a:t>
            </a:r>
            <a:r>
              <a:rPr sz="2800" spc="5" dirty="0">
                <a:latin typeface="Calibri"/>
                <a:cs typeface="Calibri"/>
              </a:rPr>
              <a:t> </a:t>
            </a:r>
            <a:r>
              <a:rPr sz="2800" spc="-10" dirty="0">
                <a:latin typeface="Calibri"/>
                <a:cs typeface="Calibri"/>
              </a:rPr>
              <a:t>knowledge-</a:t>
            </a:r>
            <a:r>
              <a:rPr sz="2800" spc="20" dirty="0">
                <a:latin typeface="Calibri"/>
                <a:cs typeface="Calibri"/>
              </a:rPr>
              <a:t> </a:t>
            </a:r>
            <a:r>
              <a:rPr sz="2800" spc="-10" dirty="0">
                <a:latin typeface="Calibri"/>
                <a:cs typeface="Calibri"/>
              </a:rPr>
              <a:t>knowledge</a:t>
            </a:r>
            <a:r>
              <a:rPr sz="2800" spc="10" dirty="0">
                <a:latin typeface="Calibri"/>
                <a:cs typeface="Calibri"/>
              </a:rPr>
              <a:t> </a:t>
            </a:r>
            <a:r>
              <a:rPr sz="2800" spc="-10" dirty="0">
                <a:latin typeface="Calibri"/>
                <a:cs typeface="Calibri"/>
              </a:rPr>
              <a:t>acquisition</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Modifying</a:t>
            </a:r>
            <a:r>
              <a:rPr sz="2800" spc="40" dirty="0">
                <a:latin typeface="Calibri"/>
                <a:cs typeface="Calibri"/>
              </a:rPr>
              <a:t> </a:t>
            </a:r>
            <a:r>
              <a:rPr sz="2800" spc="-5" dirty="0">
                <a:latin typeface="Calibri"/>
                <a:cs typeface="Calibri"/>
              </a:rPr>
              <a:t>old</a:t>
            </a:r>
            <a:r>
              <a:rPr sz="2800" spc="10" dirty="0">
                <a:latin typeface="Calibri"/>
                <a:cs typeface="Calibri"/>
              </a:rPr>
              <a:t> </a:t>
            </a:r>
            <a:r>
              <a:rPr sz="2800" spc="-5" dirty="0">
                <a:latin typeface="Calibri"/>
                <a:cs typeface="Calibri"/>
              </a:rPr>
              <a:t>knowledge,</a:t>
            </a:r>
            <a:r>
              <a:rPr sz="2800" spc="15" dirty="0">
                <a:latin typeface="Calibri"/>
                <a:cs typeface="Calibri"/>
              </a:rPr>
              <a:t> </a:t>
            </a:r>
            <a:r>
              <a:rPr sz="2800" spc="-35" dirty="0">
                <a:latin typeface="Calibri"/>
                <a:cs typeface="Calibri"/>
              </a:rPr>
              <a:t>behaviour,</a:t>
            </a:r>
            <a:r>
              <a:rPr sz="2800" spc="45" dirty="0">
                <a:latin typeface="Calibri"/>
                <a:cs typeface="Calibri"/>
              </a:rPr>
              <a:t> </a:t>
            </a:r>
            <a:r>
              <a:rPr sz="2800" spc="-20" dirty="0">
                <a:latin typeface="Calibri"/>
                <a:cs typeface="Calibri"/>
              </a:rPr>
              <a:t>skills-</a:t>
            </a:r>
            <a:r>
              <a:rPr sz="2800" spc="35" dirty="0">
                <a:latin typeface="Calibri"/>
                <a:cs typeface="Calibri"/>
              </a:rPr>
              <a:t> </a:t>
            </a:r>
            <a:r>
              <a:rPr sz="2800" spc="-10" dirty="0">
                <a:latin typeface="Calibri"/>
                <a:cs typeface="Calibri"/>
              </a:rPr>
              <a:t>skill</a:t>
            </a:r>
            <a:r>
              <a:rPr sz="2800" dirty="0">
                <a:latin typeface="Calibri"/>
                <a:cs typeface="Calibri"/>
              </a:rPr>
              <a:t> </a:t>
            </a:r>
            <a:r>
              <a:rPr sz="2800" spc="-15" dirty="0">
                <a:latin typeface="Calibri"/>
                <a:cs typeface="Calibri"/>
              </a:rPr>
              <a:t>refinement</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20" dirty="0">
                <a:latin typeface="Calibri"/>
                <a:cs typeface="Calibri"/>
              </a:rPr>
              <a:t>May</a:t>
            </a:r>
            <a:r>
              <a:rPr sz="2800" dirty="0">
                <a:latin typeface="Calibri"/>
                <a:cs typeface="Calibri"/>
              </a:rPr>
              <a:t> </a:t>
            </a:r>
            <a:r>
              <a:rPr sz="2800" spc="-20" dirty="0">
                <a:latin typeface="Calibri"/>
                <a:cs typeface="Calibri"/>
              </a:rPr>
              <a:t>involve</a:t>
            </a:r>
            <a:r>
              <a:rPr sz="2800" spc="20" dirty="0">
                <a:latin typeface="Calibri"/>
                <a:cs typeface="Calibri"/>
              </a:rPr>
              <a:t> </a:t>
            </a:r>
            <a:r>
              <a:rPr sz="2800" spc="-10" dirty="0">
                <a:latin typeface="Calibri"/>
                <a:cs typeface="Calibri"/>
              </a:rPr>
              <a:t>synthesizing</a:t>
            </a:r>
            <a:r>
              <a:rPr sz="2800" spc="35" dirty="0">
                <a:latin typeface="Calibri"/>
                <a:cs typeface="Calibri"/>
              </a:rPr>
              <a:t> </a:t>
            </a:r>
            <a:r>
              <a:rPr sz="2800" spc="-25" dirty="0">
                <a:latin typeface="Calibri"/>
                <a:cs typeface="Calibri"/>
              </a:rPr>
              <a:t>different</a:t>
            </a:r>
            <a:r>
              <a:rPr sz="2800" spc="30" dirty="0">
                <a:latin typeface="Calibri"/>
                <a:cs typeface="Calibri"/>
              </a:rPr>
              <a:t> </a:t>
            </a:r>
            <a:r>
              <a:rPr sz="2800" spc="-5" dirty="0">
                <a:latin typeface="Calibri"/>
                <a:cs typeface="Calibri"/>
              </a:rPr>
              <a:t>types</a:t>
            </a:r>
            <a:r>
              <a:rPr sz="2800" spc="10"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information</a:t>
            </a:r>
            <a:endParaRPr sz="2800" dirty="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Learning</a:t>
            </a:r>
            <a:r>
              <a:rPr sz="2800" spc="1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also based</a:t>
            </a:r>
            <a:r>
              <a:rPr sz="2800" spc="25" dirty="0">
                <a:latin typeface="Calibri"/>
                <a:cs typeface="Calibri"/>
              </a:rPr>
              <a:t> </a:t>
            </a:r>
            <a:r>
              <a:rPr sz="2800" spc="-5" dirty="0">
                <a:latin typeface="Calibri"/>
                <a:cs typeface="Calibri"/>
              </a:rPr>
              <a:t>on</a:t>
            </a:r>
            <a:r>
              <a:rPr sz="2800" spc="10" dirty="0">
                <a:latin typeface="Calibri"/>
                <a:cs typeface="Calibri"/>
              </a:rPr>
              <a:t> </a:t>
            </a:r>
            <a:r>
              <a:rPr sz="2800" spc="-15" dirty="0">
                <a:latin typeface="Calibri"/>
                <a:cs typeface="Calibri"/>
              </a:rPr>
              <a:t>feedbacks</a:t>
            </a: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AB857-40D5-45C4-9547-ADE341323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6150" y="0"/>
            <a:ext cx="5099699" cy="6858000"/>
          </a:xfrm>
          <a:prstGeom prst="rect">
            <a:avLst/>
          </a:prstGeom>
        </p:spPr>
      </p:pic>
    </p:spTree>
    <p:extLst>
      <p:ext uri="{BB962C8B-B14F-4D97-AF65-F5344CB8AC3E}">
        <p14:creationId xmlns:p14="http://schemas.microsoft.com/office/powerpoint/2010/main" val="2477682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943350" cy="697230"/>
          </a:xfrm>
          <a:prstGeom prst="rect">
            <a:avLst/>
          </a:prstGeom>
        </p:spPr>
        <p:txBody>
          <a:bodyPr vert="horz" wrap="square" lIns="0" tIns="13335" rIns="0" bIns="0" rtlCol="0">
            <a:spAutoFit/>
          </a:bodyPr>
          <a:lstStyle/>
          <a:p>
            <a:pPr marL="12700">
              <a:lnSpc>
                <a:spcPct val="100000"/>
              </a:lnSpc>
              <a:spcBef>
                <a:spcPts val="105"/>
              </a:spcBef>
            </a:pPr>
            <a:r>
              <a:rPr sz="4400" spc="-50" dirty="0"/>
              <a:t>Types</a:t>
            </a:r>
            <a:r>
              <a:rPr sz="4400" spc="-25" dirty="0"/>
              <a:t> </a:t>
            </a:r>
            <a:r>
              <a:rPr sz="4400" dirty="0"/>
              <a:t>of</a:t>
            </a:r>
            <a:r>
              <a:rPr sz="4400" spc="-30" dirty="0"/>
              <a:t> </a:t>
            </a:r>
            <a:r>
              <a:rPr sz="4400" dirty="0"/>
              <a:t>Learning</a:t>
            </a:r>
            <a:endParaRPr sz="4400"/>
          </a:p>
        </p:txBody>
      </p:sp>
      <p:sp>
        <p:nvSpPr>
          <p:cNvPr id="3" name="object 3"/>
          <p:cNvSpPr txBox="1">
            <a:spLocks noGrp="1"/>
          </p:cNvSpPr>
          <p:nvPr>
            <p:ph sz="half" idx="2"/>
          </p:nvPr>
        </p:nvSpPr>
        <p:spPr>
          <a:xfrm>
            <a:off x="916939" y="1270433"/>
            <a:ext cx="5014595" cy="557152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1800" spc="-25" dirty="0"/>
              <a:t>Rote</a:t>
            </a:r>
            <a:r>
              <a:rPr sz="1800" spc="-20" dirty="0"/>
              <a:t> </a:t>
            </a:r>
            <a:r>
              <a:rPr sz="1800" spc="-5" dirty="0"/>
              <a:t>Learning</a:t>
            </a:r>
          </a:p>
          <a:p>
            <a:pPr marL="698500" marR="72390" lvl="1" indent="-228600">
              <a:lnSpc>
                <a:spcPts val="2590"/>
              </a:lnSpc>
              <a:spcBef>
                <a:spcPts val="575"/>
              </a:spcBef>
              <a:buFont typeface="Arial MT"/>
              <a:buChar char="•"/>
              <a:tabLst>
                <a:tab pos="699135" algn="l"/>
              </a:tabLst>
            </a:pPr>
            <a:r>
              <a:rPr spc="-20" dirty="0">
                <a:highlight>
                  <a:srgbClr val="FFFF00"/>
                </a:highlight>
                <a:latin typeface="Calibri"/>
                <a:cs typeface="Calibri"/>
              </a:rPr>
              <a:t>Rote</a:t>
            </a:r>
            <a:r>
              <a:rPr spc="-30" dirty="0">
                <a:highlight>
                  <a:srgbClr val="FFFF00"/>
                </a:highlight>
                <a:latin typeface="Calibri"/>
                <a:cs typeface="Calibri"/>
              </a:rPr>
              <a:t> </a:t>
            </a:r>
            <a:r>
              <a:rPr dirty="0">
                <a:highlight>
                  <a:srgbClr val="FFFF00"/>
                </a:highlight>
                <a:latin typeface="Calibri"/>
                <a:cs typeface="Calibri"/>
              </a:rPr>
              <a:t>learning</a:t>
            </a:r>
            <a:r>
              <a:rPr spc="-30" dirty="0">
                <a:highlight>
                  <a:srgbClr val="FFFF00"/>
                </a:highlight>
                <a:latin typeface="Calibri"/>
                <a:cs typeface="Calibri"/>
              </a:rPr>
              <a:t> </a:t>
            </a:r>
            <a:r>
              <a:rPr dirty="0">
                <a:highlight>
                  <a:srgbClr val="FFFF00"/>
                </a:highlight>
                <a:latin typeface="Calibri"/>
                <a:cs typeface="Calibri"/>
              </a:rPr>
              <a:t>is</a:t>
            </a:r>
            <a:r>
              <a:rPr spc="-20" dirty="0">
                <a:highlight>
                  <a:srgbClr val="FFFF00"/>
                </a:highlight>
                <a:latin typeface="Calibri"/>
                <a:cs typeface="Calibri"/>
              </a:rPr>
              <a:t> </a:t>
            </a:r>
            <a:r>
              <a:rPr dirty="0">
                <a:highlight>
                  <a:srgbClr val="FFFF00"/>
                </a:highlight>
                <a:latin typeface="Calibri"/>
                <a:cs typeface="Calibri"/>
              </a:rPr>
              <a:t>a</a:t>
            </a:r>
            <a:r>
              <a:rPr spc="-35" dirty="0">
                <a:highlight>
                  <a:srgbClr val="FFFF00"/>
                </a:highlight>
                <a:latin typeface="Calibri"/>
                <a:cs typeface="Calibri"/>
              </a:rPr>
              <a:t> </a:t>
            </a:r>
            <a:r>
              <a:rPr spc="-5" dirty="0">
                <a:highlight>
                  <a:srgbClr val="FFFF00"/>
                </a:highlight>
                <a:latin typeface="Calibri"/>
                <a:cs typeface="Calibri"/>
              </a:rPr>
              <a:t>technique</a:t>
            </a:r>
            <a:r>
              <a:rPr spc="-25" dirty="0">
                <a:highlight>
                  <a:srgbClr val="FFFF00"/>
                </a:highlight>
                <a:latin typeface="Calibri"/>
                <a:cs typeface="Calibri"/>
              </a:rPr>
              <a:t> </a:t>
            </a:r>
            <a:r>
              <a:rPr dirty="0">
                <a:highlight>
                  <a:srgbClr val="FFFF00"/>
                </a:highlight>
                <a:latin typeface="Calibri"/>
                <a:cs typeface="Calibri"/>
              </a:rPr>
              <a:t>which </a:t>
            </a:r>
            <a:r>
              <a:rPr spc="-530" dirty="0">
                <a:highlight>
                  <a:srgbClr val="FFFF00"/>
                </a:highlight>
                <a:latin typeface="Calibri"/>
                <a:cs typeface="Calibri"/>
              </a:rPr>
              <a:t> </a:t>
            </a:r>
            <a:r>
              <a:rPr spc="-15" dirty="0">
                <a:highlight>
                  <a:srgbClr val="FFFF00"/>
                </a:highlight>
                <a:latin typeface="Calibri"/>
                <a:cs typeface="Calibri"/>
              </a:rPr>
              <a:t>focuses</a:t>
            </a:r>
            <a:r>
              <a:rPr spc="-10" dirty="0">
                <a:highlight>
                  <a:srgbClr val="FFFF00"/>
                </a:highlight>
                <a:latin typeface="Calibri"/>
                <a:cs typeface="Calibri"/>
              </a:rPr>
              <a:t> </a:t>
            </a:r>
            <a:r>
              <a:rPr spc="-5" dirty="0">
                <a:highlight>
                  <a:srgbClr val="FFFF00"/>
                </a:highlight>
                <a:latin typeface="Calibri"/>
                <a:cs typeface="Calibri"/>
              </a:rPr>
              <a:t>on </a:t>
            </a:r>
            <a:r>
              <a:rPr spc="-10" dirty="0">
                <a:highlight>
                  <a:srgbClr val="FFFF00"/>
                </a:highlight>
                <a:latin typeface="Calibri"/>
                <a:cs typeface="Calibri"/>
              </a:rPr>
              <a:t>memorization</a:t>
            </a:r>
            <a:endParaRPr dirty="0">
              <a:highlight>
                <a:srgbClr val="FFFF00"/>
              </a:highlight>
              <a:latin typeface="Calibri"/>
              <a:cs typeface="Calibri"/>
            </a:endParaRPr>
          </a:p>
          <a:p>
            <a:pPr marL="698500" marR="5080" lvl="1" indent="-228600">
              <a:lnSpc>
                <a:spcPct val="90000"/>
              </a:lnSpc>
              <a:spcBef>
                <a:spcPts val="470"/>
              </a:spcBef>
              <a:buFont typeface="Arial MT"/>
              <a:buChar char="•"/>
              <a:tabLst>
                <a:tab pos="699135" algn="l"/>
              </a:tabLst>
            </a:pPr>
            <a:r>
              <a:rPr dirty="0">
                <a:highlight>
                  <a:srgbClr val="FFFF00"/>
                </a:highlight>
                <a:latin typeface="Calibri"/>
                <a:cs typeface="Calibri"/>
              </a:rPr>
              <a:t>It </a:t>
            </a:r>
            <a:r>
              <a:rPr spc="-15" dirty="0">
                <a:highlight>
                  <a:srgbClr val="FFFF00"/>
                </a:highlight>
                <a:latin typeface="Calibri"/>
                <a:cs typeface="Calibri"/>
              </a:rPr>
              <a:t>avoids </a:t>
            </a:r>
            <a:r>
              <a:rPr spc="-10" dirty="0">
                <a:highlight>
                  <a:srgbClr val="FFFF00"/>
                </a:highlight>
                <a:latin typeface="Calibri"/>
                <a:cs typeface="Calibri"/>
              </a:rPr>
              <a:t>understanding </a:t>
            </a:r>
            <a:r>
              <a:rPr dirty="0">
                <a:highlight>
                  <a:srgbClr val="FFFF00"/>
                </a:highlight>
                <a:latin typeface="Calibri"/>
                <a:cs typeface="Calibri"/>
              </a:rPr>
              <a:t>the inner </a:t>
            </a:r>
            <a:r>
              <a:rPr spc="5" dirty="0">
                <a:highlight>
                  <a:srgbClr val="FFFF00"/>
                </a:highlight>
                <a:latin typeface="Calibri"/>
                <a:cs typeface="Calibri"/>
              </a:rPr>
              <a:t> </a:t>
            </a:r>
            <a:r>
              <a:rPr spc="-10" dirty="0">
                <a:highlight>
                  <a:srgbClr val="FFFF00"/>
                </a:highlight>
                <a:latin typeface="Calibri"/>
                <a:cs typeface="Calibri"/>
              </a:rPr>
              <a:t>complexities </a:t>
            </a:r>
            <a:r>
              <a:rPr dirty="0">
                <a:highlight>
                  <a:srgbClr val="FFFF00"/>
                </a:highlight>
                <a:latin typeface="Calibri"/>
                <a:cs typeface="Calibri"/>
              </a:rPr>
              <a:t>and </a:t>
            </a:r>
            <a:r>
              <a:rPr spc="-15" dirty="0">
                <a:highlight>
                  <a:srgbClr val="FFFF00"/>
                </a:highlight>
                <a:latin typeface="Calibri"/>
                <a:cs typeface="Calibri"/>
              </a:rPr>
              <a:t>inferences </a:t>
            </a:r>
            <a:r>
              <a:rPr spc="-5" dirty="0">
                <a:highlight>
                  <a:srgbClr val="FFFF00"/>
                </a:highlight>
                <a:latin typeface="Calibri"/>
                <a:cs typeface="Calibri"/>
              </a:rPr>
              <a:t>of </a:t>
            </a:r>
            <a:r>
              <a:rPr dirty="0">
                <a:highlight>
                  <a:srgbClr val="FFFF00"/>
                </a:highlight>
                <a:latin typeface="Calibri"/>
                <a:cs typeface="Calibri"/>
              </a:rPr>
              <a:t>the </a:t>
            </a:r>
            <a:r>
              <a:rPr spc="5" dirty="0">
                <a:highlight>
                  <a:srgbClr val="FFFF00"/>
                </a:highlight>
                <a:latin typeface="Calibri"/>
                <a:cs typeface="Calibri"/>
              </a:rPr>
              <a:t> </a:t>
            </a:r>
            <a:r>
              <a:rPr spc="-5" dirty="0">
                <a:highlight>
                  <a:srgbClr val="FFFF00"/>
                </a:highlight>
                <a:latin typeface="Calibri"/>
                <a:cs typeface="Calibri"/>
              </a:rPr>
              <a:t>subject </a:t>
            </a:r>
            <a:r>
              <a:rPr spc="-10" dirty="0">
                <a:highlight>
                  <a:srgbClr val="FFFF00"/>
                </a:highlight>
                <a:latin typeface="Calibri"/>
                <a:cs typeface="Calibri"/>
              </a:rPr>
              <a:t>that </a:t>
            </a:r>
            <a:r>
              <a:rPr dirty="0">
                <a:highlight>
                  <a:srgbClr val="FFFF00"/>
                </a:highlight>
                <a:latin typeface="Calibri"/>
                <a:cs typeface="Calibri"/>
              </a:rPr>
              <a:t>is </a:t>
            </a:r>
            <a:r>
              <a:rPr spc="-5" dirty="0">
                <a:highlight>
                  <a:srgbClr val="FFFF00"/>
                </a:highlight>
                <a:latin typeface="Calibri"/>
                <a:cs typeface="Calibri"/>
              </a:rPr>
              <a:t>being learned </a:t>
            </a:r>
            <a:r>
              <a:rPr dirty="0">
                <a:highlight>
                  <a:srgbClr val="FFFF00"/>
                </a:highlight>
                <a:latin typeface="Calibri"/>
                <a:cs typeface="Calibri"/>
              </a:rPr>
              <a:t>and </a:t>
            </a:r>
            <a:r>
              <a:rPr spc="5" dirty="0">
                <a:highlight>
                  <a:srgbClr val="FFFF00"/>
                </a:highlight>
                <a:latin typeface="Calibri"/>
                <a:cs typeface="Calibri"/>
              </a:rPr>
              <a:t> </a:t>
            </a:r>
            <a:r>
              <a:rPr spc="-10" dirty="0">
                <a:highlight>
                  <a:srgbClr val="FFFF00"/>
                </a:highlight>
                <a:latin typeface="Calibri"/>
                <a:cs typeface="Calibri"/>
              </a:rPr>
              <a:t>instead </a:t>
            </a:r>
            <a:r>
              <a:rPr spc="-15" dirty="0">
                <a:highlight>
                  <a:srgbClr val="FFFF00"/>
                </a:highlight>
                <a:latin typeface="Calibri"/>
                <a:cs typeface="Calibri"/>
              </a:rPr>
              <a:t>focuses </a:t>
            </a:r>
            <a:r>
              <a:rPr spc="-5" dirty="0">
                <a:highlight>
                  <a:srgbClr val="FFFF00"/>
                </a:highlight>
                <a:latin typeface="Calibri"/>
                <a:cs typeface="Calibri"/>
              </a:rPr>
              <a:t>on memorizing </a:t>
            </a:r>
            <a:r>
              <a:rPr dirty="0">
                <a:highlight>
                  <a:srgbClr val="FFFF00"/>
                </a:highlight>
                <a:latin typeface="Calibri"/>
                <a:cs typeface="Calibri"/>
              </a:rPr>
              <a:t>the </a:t>
            </a:r>
            <a:r>
              <a:rPr spc="-530" dirty="0">
                <a:highlight>
                  <a:srgbClr val="FFFF00"/>
                </a:highlight>
                <a:latin typeface="Calibri"/>
                <a:cs typeface="Calibri"/>
              </a:rPr>
              <a:t> </a:t>
            </a:r>
            <a:r>
              <a:rPr spc="-10" dirty="0">
                <a:highlight>
                  <a:srgbClr val="FFFF00"/>
                </a:highlight>
                <a:latin typeface="Calibri"/>
                <a:cs typeface="Calibri"/>
              </a:rPr>
              <a:t>material</a:t>
            </a:r>
            <a:endParaRPr dirty="0">
              <a:highlight>
                <a:srgbClr val="FFFF00"/>
              </a:highlight>
              <a:latin typeface="Calibri"/>
              <a:cs typeface="Calibri"/>
            </a:endParaRPr>
          </a:p>
          <a:p>
            <a:pPr marL="698500" marR="7620" lvl="1" indent="-228600">
              <a:lnSpc>
                <a:spcPts val="2590"/>
              </a:lnSpc>
              <a:spcBef>
                <a:spcPts val="535"/>
              </a:spcBef>
              <a:buFont typeface="Arial MT"/>
              <a:buChar char="•"/>
              <a:tabLst>
                <a:tab pos="699135" algn="l"/>
              </a:tabLst>
            </a:pPr>
            <a:r>
              <a:rPr spc="-5" dirty="0">
                <a:highlight>
                  <a:srgbClr val="FFFF00"/>
                </a:highlight>
                <a:latin typeface="Calibri"/>
                <a:cs typeface="Calibri"/>
              </a:rPr>
              <a:t>The </a:t>
            </a:r>
            <a:r>
              <a:rPr dirty="0">
                <a:highlight>
                  <a:srgbClr val="FFFF00"/>
                </a:highlight>
                <a:latin typeface="Calibri"/>
                <a:cs typeface="Calibri"/>
              </a:rPr>
              <a:t>major </a:t>
            </a:r>
            <a:r>
              <a:rPr spc="-10" dirty="0">
                <a:highlight>
                  <a:srgbClr val="FFFF00"/>
                </a:highlight>
                <a:latin typeface="Calibri"/>
                <a:cs typeface="Calibri"/>
              </a:rPr>
              <a:t>practice </a:t>
            </a:r>
            <a:r>
              <a:rPr spc="-15" dirty="0">
                <a:highlight>
                  <a:srgbClr val="FFFF00"/>
                </a:highlight>
                <a:latin typeface="Calibri"/>
                <a:cs typeface="Calibri"/>
              </a:rPr>
              <a:t>involved </a:t>
            </a:r>
            <a:r>
              <a:rPr dirty="0">
                <a:highlight>
                  <a:srgbClr val="FFFF00"/>
                </a:highlight>
                <a:latin typeface="Calibri"/>
                <a:cs typeface="Calibri"/>
              </a:rPr>
              <a:t>in </a:t>
            </a:r>
            <a:r>
              <a:rPr spc="-20" dirty="0">
                <a:highlight>
                  <a:srgbClr val="FFFF00"/>
                </a:highlight>
                <a:latin typeface="Calibri"/>
                <a:cs typeface="Calibri"/>
              </a:rPr>
              <a:t>rote </a:t>
            </a:r>
            <a:r>
              <a:rPr spc="-530" dirty="0">
                <a:highlight>
                  <a:srgbClr val="FFFF00"/>
                </a:highlight>
                <a:latin typeface="Calibri"/>
                <a:cs typeface="Calibri"/>
              </a:rPr>
              <a:t> </a:t>
            </a:r>
            <a:r>
              <a:rPr dirty="0">
                <a:highlight>
                  <a:srgbClr val="FFFF00"/>
                </a:highlight>
                <a:latin typeface="Calibri"/>
                <a:cs typeface="Calibri"/>
              </a:rPr>
              <a:t>learning</a:t>
            </a:r>
            <a:r>
              <a:rPr spc="-20" dirty="0">
                <a:highlight>
                  <a:srgbClr val="FFFF00"/>
                </a:highlight>
                <a:latin typeface="Calibri"/>
                <a:cs typeface="Calibri"/>
              </a:rPr>
              <a:t> </a:t>
            </a:r>
            <a:r>
              <a:rPr dirty="0">
                <a:highlight>
                  <a:srgbClr val="FFFF00"/>
                </a:highlight>
                <a:latin typeface="Calibri"/>
                <a:cs typeface="Calibri"/>
              </a:rPr>
              <a:t>is</a:t>
            </a:r>
            <a:r>
              <a:rPr spc="-5" dirty="0">
                <a:highlight>
                  <a:srgbClr val="FFFF00"/>
                </a:highlight>
                <a:latin typeface="Calibri"/>
                <a:cs typeface="Calibri"/>
              </a:rPr>
              <a:t> repetition</a:t>
            </a:r>
            <a:endParaRPr lang="en-US" spc="-5" dirty="0">
              <a:highlight>
                <a:srgbClr val="FFFF00"/>
              </a:highlight>
              <a:latin typeface="Calibri"/>
              <a:cs typeface="Calibri"/>
            </a:endParaRPr>
          </a:p>
          <a:p>
            <a:pPr marL="698500" marR="7620" lvl="1" indent="-228600">
              <a:lnSpc>
                <a:spcPts val="2590"/>
              </a:lnSpc>
              <a:spcBef>
                <a:spcPts val="535"/>
              </a:spcBef>
              <a:buFont typeface="Arial MT"/>
              <a:buChar char="•"/>
              <a:tabLst>
                <a:tab pos="699135" algn="l"/>
              </a:tabLst>
            </a:pPr>
            <a:r>
              <a:rPr lang="en-US" dirty="0"/>
              <a:t>Here, data is stored in the brain without necessarily understanding it. One should be able to recall material quicker the more one repeats it. Rote memorization isn’t considered higher-level thinking or critical thinking since students don’t learn how to think, analyze or solve problems with this type of learning.</a:t>
            </a:r>
            <a:endParaRPr dirty="0">
              <a:latin typeface="Calibri"/>
              <a:cs typeface="Calibri"/>
            </a:endParaRPr>
          </a:p>
        </p:txBody>
      </p:sp>
      <p:pic>
        <p:nvPicPr>
          <p:cNvPr id="8" name="Picture 7">
            <a:extLst>
              <a:ext uri="{FF2B5EF4-FFF2-40B4-BE49-F238E27FC236}">
                <a16:creationId xmlns:a16="http://schemas.microsoft.com/office/drawing/2014/main" id="{82775FD9-BC9E-4A43-AA71-1590433B33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143000"/>
            <a:ext cx="5181600" cy="533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036061" cy="697230"/>
          </a:xfrm>
          <a:prstGeom prst="rect">
            <a:avLst/>
          </a:prstGeom>
        </p:spPr>
        <p:txBody>
          <a:bodyPr vert="horz" wrap="square" lIns="0" tIns="13335" rIns="0" bIns="0" rtlCol="0">
            <a:spAutoFit/>
          </a:bodyPr>
          <a:lstStyle/>
          <a:p>
            <a:pPr marL="12700">
              <a:lnSpc>
                <a:spcPct val="100000"/>
              </a:lnSpc>
              <a:spcBef>
                <a:spcPts val="105"/>
              </a:spcBef>
            </a:pPr>
            <a:r>
              <a:rPr sz="4400" spc="-50" dirty="0">
                <a:highlight>
                  <a:srgbClr val="FFFF00"/>
                </a:highlight>
              </a:rPr>
              <a:t>Types</a:t>
            </a:r>
            <a:r>
              <a:rPr sz="4400" dirty="0">
                <a:highlight>
                  <a:srgbClr val="FFFF00"/>
                </a:highlight>
              </a:rPr>
              <a:t> of</a:t>
            </a:r>
            <a:r>
              <a:rPr sz="4400" spc="-5" dirty="0">
                <a:highlight>
                  <a:srgbClr val="FFFF00"/>
                </a:highlight>
              </a:rPr>
              <a:t> </a:t>
            </a:r>
            <a:r>
              <a:rPr sz="4400" dirty="0">
                <a:highlight>
                  <a:srgbClr val="FFFF00"/>
                </a:highlight>
              </a:rPr>
              <a:t>Learning</a:t>
            </a:r>
          </a:p>
        </p:txBody>
      </p:sp>
      <p:sp>
        <p:nvSpPr>
          <p:cNvPr id="3" name="object 3"/>
          <p:cNvSpPr txBox="1"/>
          <p:nvPr/>
        </p:nvSpPr>
        <p:spPr>
          <a:xfrm>
            <a:off x="916939" y="1756565"/>
            <a:ext cx="4759960" cy="193802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5" dirty="0">
                <a:latin typeface="Calibri"/>
                <a:cs typeface="Calibri"/>
              </a:rPr>
              <a:t>Inductive</a:t>
            </a:r>
            <a:r>
              <a:rPr sz="2800" spc="-15" dirty="0">
                <a:latin typeface="Calibri"/>
                <a:cs typeface="Calibri"/>
              </a:rPr>
              <a:t> </a:t>
            </a:r>
            <a:r>
              <a:rPr sz="2800" spc="-5" dirty="0">
                <a:latin typeface="Calibri"/>
                <a:cs typeface="Calibri"/>
              </a:rPr>
              <a:t>Learning</a:t>
            </a:r>
            <a:endParaRPr sz="2800">
              <a:latin typeface="Calibri"/>
              <a:cs typeface="Calibri"/>
            </a:endParaRPr>
          </a:p>
          <a:p>
            <a:pPr marL="698500" marR="5080" lvl="1" indent="-228600">
              <a:lnSpc>
                <a:spcPts val="2590"/>
              </a:lnSpc>
              <a:spcBef>
                <a:spcPts val="575"/>
              </a:spcBef>
              <a:buFont typeface="Arial MT"/>
              <a:buChar char="•"/>
              <a:tabLst>
                <a:tab pos="699135" algn="l"/>
              </a:tabLst>
            </a:pPr>
            <a:r>
              <a:rPr sz="2400" spc="-5" dirty="0">
                <a:latin typeface="Calibri"/>
                <a:cs typeface="Calibri"/>
              </a:rPr>
              <a:t>Determine</a:t>
            </a:r>
            <a:r>
              <a:rPr sz="2400" spc="-40" dirty="0">
                <a:latin typeface="Calibri"/>
                <a:cs typeface="Calibri"/>
              </a:rPr>
              <a:t> </a:t>
            </a:r>
            <a:r>
              <a:rPr sz="2400" spc="-10" dirty="0">
                <a:latin typeface="Calibri"/>
                <a:cs typeface="Calibri"/>
              </a:rPr>
              <a:t>general</a:t>
            </a:r>
            <a:r>
              <a:rPr sz="2400" spc="-25" dirty="0">
                <a:latin typeface="Calibri"/>
                <a:cs typeface="Calibri"/>
              </a:rPr>
              <a:t> </a:t>
            </a:r>
            <a:r>
              <a:rPr sz="2400" spc="-15" dirty="0">
                <a:latin typeface="Calibri"/>
                <a:cs typeface="Calibri"/>
              </a:rPr>
              <a:t>pattern,</a:t>
            </a:r>
            <a:r>
              <a:rPr sz="2400" spc="-40" dirty="0">
                <a:latin typeface="Calibri"/>
                <a:cs typeface="Calibri"/>
              </a:rPr>
              <a:t> </a:t>
            </a:r>
            <a:r>
              <a:rPr sz="2400" dirty="0">
                <a:latin typeface="Calibri"/>
                <a:cs typeface="Calibri"/>
              </a:rPr>
              <a:t>rules </a:t>
            </a:r>
            <a:r>
              <a:rPr sz="2400" spc="-530" dirty="0">
                <a:latin typeface="Calibri"/>
                <a:cs typeface="Calibri"/>
              </a:rPr>
              <a:t> </a:t>
            </a:r>
            <a:r>
              <a:rPr sz="2400" dirty="0">
                <a:latin typeface="Calibri"/>
                <a:cs typeface="Calibri"/>
              </a:rPr>
              <a:t>and</a:t>
            </a:r>
            <a:r>
              <a:rPr sz="2400" spc="-10" dirty="0">
                <a:latin typeface="Calibri"/>
                <a:cs typeface="Calibri"/>
              </a:rPr>
              <a:t> facts</a:t>
            </a:r>
            <a:endParaRPr sz="2400">
              <a:latin typeface="Calibri"/>
              <a:cs typeface="Calibri"/>
            </a:endParaRPr>
          </a:p>
          <a:p>
            <a:pPr marL="698500" lvl="1" indent="-229235">
              <a:lnSpc>
                <a:spcPts val="2735"/>
              </a:lnSpc>
              <a:spcBef>
                <a:spcPts val="180"/>
              </a:spcBef>
              <a:buFont typeface="Arial MT"/>
              <a:buChar char="•"/>
              <a:tabLst>
                <a:tab pos="699135" algn="l"/>
              </a:tabLst>
            </a:pPr>
            <a:r>
              <a:rPr sz="2400" dirty="0">
                <a:latin typeface="Calibri"/>
                <a:cs typeface="Calibri"/>
              </a:rPr>
              <a:t>Mainly</a:t>
            </a:r>
            <a:r>
              <a:rPr sz="2400" spc="-25" dirty="0">
                <a:latin typeface="Calibri"/>
                <a:cs typeface="Calibri"/>
              </a:rPr>
              <a:t> </a:t>
            </a:r>
            <a:r>
              <a:rPr sz="2400" spc="-15" dirty="0">
                <a:latin typeface="Calibri"/>
                <a:cs typeface="Calibri"/>
              </a:rPr>
              <a:t>example</a:t>
            </a:r>
            <a:r>
              <a:rPr sz="2400" spc="-20" dirty="0">
                <a:latin typeface="Calibri"/>
                <a:cs typeface="Calibri"/>
              </a:rPr>
              <a:t> </a:t>
            </a:r>
            <a:r>
              <a:rPr sz="2400" spc="-5" dirty="0">
                <a:latin typeface="Calibri"/>
                <a:cs typeface="Calibri"/>
              </a:rPr>
              <a:t>or</a:t>
            </a:r>
            <a:r>
              <a:rPr sz="2400" spc="-20" dirty="0">
                <a:latin typeface="Calibri"/>
                <a:cs typeface="Calibri"/>
              </a:rPr>
              <a:t> </a:t>
            </a:r>
            <a:r>
              <a:rPr sz="2400" spc="-5" dirty="0">
                <a:latin typeface="Calibri"/>
                <a:cs typeface="Calibri"/>
              </a:rPr>
              <a:t>experienced</a:t>
            </a:r>
            <a:endParaRPr sz="2400">
              <a:latin typeface="Calibri"/>
              <a:cs typeface="Calibri"/>
            </a:endParaRPr>
          </a:p>
          <a:p>
            <a:pPr marL="698500">
              <a:lnSpc>
                <a:spcPts val="2735"/>
              </a:lnSpc>
            </a:pPr>
            <a:r>
              <a:rPr sz="2400" spc="-5" dirty="0">
                <a:latin typeface="Calibri"/>
                <a:cs typeface="Calibri"/>
              </a:rPr>
              <a:t>based</a:t>
            </a:r>
            <a:r>
              <a:rPr sz="2400" spc="-45" dirty="0">
                <a:latin typeface="Calibri"/>
                <a:cs typeface="Calibri"/>
              </a:rPr>
              <a:t> </a:t>
            </a:r>
            <a:r>
              <a:rPr sz="2400" dirty="0">
                <a:latin typeface="Calibri"/>
                <a:cs typeface="Calibri"/>
              </a:rPr>
              <a:t>learning</a:t>
            </a:r>
            <a:endParaRPr sz="2400">
              <a:latin typeface="Calibri"/>
              <a:cs typeface="Calibri"/>
            </a:endParaRPr>
          </a:p>
        </p:txBody>
      </p:sp>
      <p:sp>
        <p:nvSpPr>
          <p:cNvPr id="4" name="object 4"/>
          <p:cNvSpPr txBox="1"/>
          <p:nvPr/>
        </p:nvSpPr>
        <p:spPr>
          <a:xfrm>
            <a:off x="6251828" y="1756565"/>
            <a:ext cx="4879340" cy="193802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5" dirty="0">
                <a:latin typeface="Calibri"/>
                <a:cs typeface="Calibri"/>
              </a:rPr>
              <a:t>Deductive</a:t>
            </a:r>
            <a:r>
              <a:rPr sz="2800" dirty="0">
                <a:latin typeface="Calibri"/>
                <a:cs typeface="Calibri"/>
              </a:rPr>
              <a:t> </a:t>
            </a:r>
            <a:r>
              <a:rPr sz="2800" spc="-10" dirty="0">
                <a:latin typeface="Calibri"/>
                <a:cs typeface="Calibri"/>
              </a:rPr>
              <a:t>Learning</a:t>
            </a:r>
            <a:endParaRPr sz="2800" dirty="0">
              <a:latin typeface="Calibri"/>
              <a:cs typeface="Calibri"/>
            </a:endParaRPr>
          </a:p>
          <a:p>
            <a:pPr marL="698500" marR="5080" lvl="1" indent="-228600">
              <a:lnSpc>
                <a:spcPts val="2590"/>
              </a:lnSpc>
              <a:spcBef>
                <a:spcPts val="575"/>
              </a:spcBef>
              <a:buFont typeface="Arial MT"/>
              <a:buChar char="•"/>
              <a:tabLst>
                <a:tab pos="698500" algn="l"/>
              </a:tabLst>
            </a:pPr>
            <a:r>
              <a:rPr sz="2400" spc="-5" dirty="0">
                <a:latin typeface="Calibri"/>
                <a:cs typeface="Calibri"/>
              </a:rPr>
              <a:t>Determine specific </a:t>
            </a:r>
            <a:r>
              <a:rPr sz="2400" spc="-15" dirty="0">
                <a:latin typeface="Calibri"/>
                <a:cs typeface="Calibri"/>
              </a:rPr>
              <a:t>patterns, </a:t>
            </a:r>
            <a:r>
              <a:rPr sz="2400" dirty="0">
                <a:latin typeface="Calibri"/>
                <a:cs typeface="Calibri"/>
              </a:rPr>
              <a:t>rules </a:t>
            </a:r>
            <a:r>
              <a:rPr sz="2400" spc="-530" dirty="0">
                <a:latin typeface="Calibri"/>
                <a:cs typeface="Calibri"/>
              </a:rPr>
              <a:t> </a:t>
            </a:r>
            <a:r>
              <a:rPr sz="2400" dirty="0">
                <a:latin typeface="Calibri"/>
                <a:cs typeface="Calibri"/>
              </a:rPr>
              <a:t>and</a:t>
            </a:r>
            <a:r>
              <a:rPr sz="2400" spc="-10" dirty="0">
                <a:latin typeface="Calibri"/>
                <a:cs typeface="Calibri"/>
              </a:rPr>
              <a:t> facts</a:t>
            </a:r>
            <a:endParaRPr sz="2400" dirty="0">
              <a:latin typeface="Calibri"/>
              <a:cs typeface="Calibri"/>
            </a:endParaRPr>
          </a:p>
          <a:p>
            <a:pPr marL="698500" lvl="1" indent="-228600">
              <a:lnSpc>
                <a:spcPts val="2735"/>
              </a:lnSpc>
              <a:spcBef>
                <a:spcPts val="180"/>
              </a:spcBef>
              <a:buFont typeface="Arial MT"/>
              <a:buChar char="•"/>
              <a:tabLst>
                <a:tab pos="698500" algn="l"/>
              </a:tabLst>
            </a:pPr>
            <a:r>
              <a:rPr sz="2400" spc="-5" dirty="0">
                <a:latin typeface="Calibri"/>
                <a:cs typeface="Calibri"/>
              </a:rPr>
              <a:t>New</a:t>
            </a:r>
            <a:r>
              <a:rPr sz="2400" spc="-10" dirty="0">
                <a:latin typeface="Calibri"/>
                <a:cs typeface="Calibri"/>
              </a:rPr>
              <a:t> </a:t>
            </a:r>
            <a:r>
              <a:rPr sz="2400" dirty="0">
                <a:latin typeface="Calibri"/>
                <a:cs typeface="Calibri"/>
              </a:rPr>
              <a:t>rules</a:t>
            </a:r>
            <a:r>
              <a:rPr sz="2400" spc="-25" dirty="0">
                <a:latin typeface="Calibri"/>
                <a:cs typeface="Calibri"/>
              </a:rPr>
              <a:t> </a:t>
            </a:r>
            <a:r>
              <a:rPr sz="2400" spc="-15" dirty="0">
                <a:latin typeface="Calibri"/>
                <a:cs typeface="Calibri"/>
              </a:rPr>
              <a:t>are</a:t>
            </a:r>
            <a:r>
              <a:rPr sz="2400" spc="-5" dirty="0">
                <a:latin typeface="Calibri"/>
                <a:cs typeface="Calibri"/>
              </a:rPr>
              <a:t> </a:t>
            </a:r>
            <a:r>
              <a:rPr sz="2400" spc="-15" dirty="0">
                <a:latin typeface="Calibri"/>
                <a:cs typeface="Calibri"/>
              </a:rPr>
              <a:t>generated</a:t>
            </a:r>
            <a:r>
              <a:rPr sz="2400" spc="-10" dirty="0">
                <a:latin typeface="Calibri"/>
                <a:cs typeface="Calibri"/>
              </a:rPr>
              <a:t> </a:t>
            </a:r>
            <a:r>
              <a:rPr sz="2400" spc="-15" dirty="0">
                <a:latin typeface="Calibri"/>
                <a:cs typeface="Calibri"/>
              </a:rPr>
              <a:t>from</a:t>
            </a:r>
            <a:r>
              <a:rPr sz="2400" spc="-30" dirty="0">
                <a:latin typeface="Calibri"/>
                <a:cs typeface="Calibri"/>
              </a:rPr>
              <a:t> </a:t>
            </a:r>
            <a:r>
              <a:rPr sz="2400" spc="-5" dirty="0">
                <a:latin typeface="Calibri"/>
                <a:cs typeface="Calibri"/>
              </a:rPr>
              <a:t>old</a:t>
            </a:r>
            <a:endParaRPr sz="2400" dirty="0">
              <a:latin typeface="Calibri"/>
              <a:cs typeface="Calibri"/>
            </a:endParaRPr>
          </a:p>
          <a:p>
            <a:pPr marL="698500">
              <a:lnSpc>
                <a:spcPts val="2735"/>
              </a:lnSpc>
            </a:pPr>
            <a:r>
              <a:rPr sz="2400" spc="-5" dirty="0">
                <a:latin typeface="Calibri"/>
                <a:cs typeface="Calibri"/>
              </a:rPr>
              <a:t>one</a:t>
            </a:r>
            <a:endParaRPr sz="24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046220" cy="697230"/>
          </a:xfrm>
          <a:prstGeom prst="rect">
            <a:avLst/>
          </a:prstGeom>
        </p:spPr>
        <p:txBody>
          <a:bodyPr vert="horz" wrap="square" lIns="0" tIns="13335" rIns="0" bIns="0" rtlCol="0">
            <a:spAutoFit/>
          </a:bodyPr>
          <a:lstStyle/>
          <a:p>
            <a:pPr marL="12700">
              <a:lnSpc>
                <a:spcPct val="100000"/>
              </a:lnSpc>
              <a:spcBef>
                <a:spcPts val="105"/>
              </a:spcBef>
            </a:pPr>
            <a:r>
              <a:rPr sz="4400" dirty="0"/>
              <a:t>Machine</a:t>
            </a:r>
            <a:r>
              <a:rPr sz="4400" spc="-45" dirty="0"/>
              <a:t> </a:t>
            </a:r>
            <a:r>
              <a:rPr sz="4400" dirty="0"/>
              <a:t>Learning</a:t>
            </a:r>
            <a:endParaRPr sz="4400"/>
          </a:p>
        </p:txBody>
      </p:sp>
      <p:sp>
        <p:nvSpPr>
          <p:cNvPr id="3" name="object 3"/>
          <p:cNvSpPr txBox="1"/>
          <p:nvPr/>
        </p:nvSpPr>
        <p:spPr>
          <a:xfrm>
            <a:off x="916939" y="1793189"/>
            <a:ext cx="10284461" cy="3011805"/>
          </a:xfrm>
          <a:prstGeom prst="rect">
            <a:avLst/>
          </a:prstGeom>
        </p:spPr>
        <p:txBody>
          <a:bodyPr vert="horz" wrap="square" lIns="0" tIns="55244" rIns="0" bIns="0" rtlCol="0">
            <a:spAutoFit/>
          </a:bodyPr>
          <a:lstStyle/>
          <a:p>
            <a:pPr marL="241300" marR="778510" indent="-228600">
              <a:lnSpc>
                <a:spcPct val="90000"/>
              </a:lnSpc>
              <a:spcBef>
                <a:spcPts val="434"/>
              </a:spcBef>
              <a:buFont typeface="Arial MT"/>
              <a:buChar char="•"/>
              <a:tabLst>
                <a:tab pos="241300" algn="l"/>
              </a:tabLst>
            </a:pPr>
            <a:r>
              <a:rPr sz="2800" spc="-10" dirty="0">
                <a:highlight>
                  <a:srgbClr val="FFFF00"/>
                </a:highlight>
                <a:latin typeface="Calibri"/>
                <a:cs typeface="Calibri"/>
              </a:rPr>
              <a:t>Branch</a:t>
            </a:r>
            <a:r>
              <a:rPr sz="2800" spc="20" dirty="0">
                <a:highlight>
                  <a:srgbClr val="FFFF00"/>
                </a:highlight>
                <a:latin typeface="Calibri"/>
                <a:cs typeface="Calibri"/>
              </a:rPr>
              <a:t> </a:t>
            </a:r>
            <a:r>
              <a:rPr sz="2800" spc="-5" dirty="0">
                <a:highlight>
                  <a:srgbClr val="FFFF00"/>
                </a:highlight>
                <a:latin typeface="Calibri"/>
                <a:cs typeface="Calibri"/>
              </a:rPr>
              <a:t>of</a:t>
            </a:r>
            <a:r>
              <a:rPr sz="2800" spc="5" dirty="0">
                <a:highlight>
                  <a:srgbClr val="FFFF00"/>
                </a:highlight>
                <a:latin typeface="Calibri"/>
                <a:cs typeface="Calibri"/>
              </a:rPr>
              <a:t> </a:t>
            </a:r>
            <a:r>
              <a:rPr sz="2800" spc="-5" dirty="0">
                <a:highlight>
                  <a:srgbClr val="FFFF00"/>
                </a:highlight>
                <a:latin typeface="Calibri"/>
                <a:cs typeface="Calibri"/>
              </a:rPr>
              <a:t>AI</a:t>
            </a:r>
            <a:r>
              <a:rPr sz="2800" spc="10" dirty="0">
                <a:highlight>
                  <a:srgbClr val="FFFF00"/>
                </a:highlight>
                <a:latin typeface="Calibri"/>
                <a:cs typeface="Calibri"/>
              </a:rPr>
              <a:t> </a:t>
            </a:r>
            <a:r>
              <a:rPr sz="2800" spc="-10" dirty="0">
                <a:highlight>
                  <a:srgbClr val="FFFF00"/>
                </a:highlight>
                <a:latin typeface="Calibri"/>
                <a:cs typeface="Calibri"/>
              </a:rPr>
              <a:t>that</a:t>
            </a:r>
            <a:r>
              <a:rPr sz="2800" spc="-5" dirty="0">
                <a:highlight>
                  <a:srgbClr val="FFFF00"/>
                </a:highlight>
                <a:latin typeface="Calibri"/>
                <a:cs typeface="Calibri"/>
              </a:rPr>
              <a:t> use</a:t>
            </a:r>
            <a:r>
              <a:rPr sz="2800" spc="30" dirty="0">
                <a:highlight>
                  <a:srgbClr val="FFFF00"/>
                </a:highlight>
                <a:latin typeface="Calibri"/>
                <a:cs typeface="Calibri"/>
              </a:rPr>
              <a:t> </a:t>
            </a:r>
            <a:r>
              <a:rPr sz="2800" spc="-10" dirty="0">
                <a:highlight>
                  <a:srgbClr val="FFFF00"/>
                </a:highlight>
                <a:latin typeface="Calibri"/>
                <a:cs typeface="Calibri"/>
              </a:rPr>
              <a:t>algorithms</a:t>
            </a:r>
            <a:r>
              <a:rPr sz="2800" spc="15" dirty="0">
                <a:highlight>
                  <a:srgbClr val="FFFF00"/>
                </a:highlight>
                <a:latin typeface="Calibri"/>
                <a:cs typeface="Calibri"/>
              </a:rPr>
              <a:t> </a:t>
            </a:r>
            <a:r>
              <a:rPr sz="2800" spc="-15" dirty="0">
                <a:highlight>
                  <a:srgbClr val="FFFF00"/>
                </a:highlight>
                <a:latin typeface="Calibri"/>
                <a:cs typeface="Calibri"/>
              </a:rPr>
              <a:t>to</a:t>
            </a:r>
            <a:r>
              <a:rPr sz="2800" spc="-5" dirty="0">
                <a:highlight>
                  <a:srgbClr val="FFFF00"/>
                </a:highlight>
                <a:latin typeface="Calibri"/>
                <a:cs typeface="Calibri"/>
              </a:rPr>
              <a:t> allow</a:t>
            </a:r>
            <a:r>
              <a:rPr sz="2800" spc="5" dirty="0">
                <a:highlight>
                  <a:srgbClr val="FFFF00"/>
                </a:highlight>
                <a:latin typeface="Calibri"/>
                <a:cs typeface="Calibri"/>
              </a:rPr>
              <a:t> </a:t>
            </a:r>
            <a:r>
              <a:rPr sz="2800" spc="-10" dirty="0">
                <a:highlight>
                  <a:srgbClr val="FFFF00"/>
                </a:highlight>
                <a:latin typeface="Calibri"/>
                <a:cs typeface="Calibri"/>
              </a:rPr>
              <a:t>computer</a:t>
            </a:r>
            <a:r>
              <a:rPr sz="2800" spc="25" dirty="0">
                <a:highlight>
                  <a:srgbClr val="FFFF00"/>
                </a:highlight>
                <a:latin typeface="Calibri"/>
                <a:cs typeface="Calibri"/>
              </a:rPr>
              <a:t> </a:t>
            </a:r>
            <a:r>
              <a:rPr sz="2800" spc="-15" dirty="0">
                <a:highlight>
                  <a:srgbClr val="FFFF00"/>
                </a:highlight>
                <a:latin typeface="Calibri"/>
                <a:cs typeface="Calibri"/>
              </a:rPr>
              <a:t>to</a:t>
            </a:r>
            <a:r>
              <a:rPr sz="2800" dirty="0">
                <a:highlight>
                  <a:srgbClr val="FFFF00"/>
                </a:highlight>
                <a:latin typeface="Calibri"/>
                <a:cs typeface="Calibri"/>
              </a:rPr>
              <a:t> </a:t>
            </a:r>
            <a:r>
              <a:rPr sz="2800" spc="-15" dirty="0">
                <a:highlight>
                  <a:srgbClr val="FFFF00"/>
                </a:highlight>
                <a:latin typeface="Calibri"/>
                <a:cs typeface="Calibri"/>
              </a:rPr>
              <a:t>evolve </a:t>
            </a:r>
            <a:r>
              <a:rPr sz="2800" spc="-10" dirty="0">
                <a:highlight>
                  <a:srgbClr val="FFFF00"/>
                </a:highlight>
                <a:latin typeface="Calibri"/>
                <a:cs typeface="Calibri"/>
              </a:rPr>
              <a:t> </a:t>
            </a:r>
            <a:r>
              <a:rPr sz="2800" spc="-15" dirty="0">
                <a:highlight>
                  <a:srgbClr val="FFFF00"/>
                </a:highlight>
                <a:latin typeface="Calibri"/>
                <a:cs typeface="Calibri"/>
              </a:rPr>
              <a:t>behaviours</a:t>
            </a:r>
            <a:r>
              <a:rPr sz="2800" spc="30" dirty="0">
                <a:highlight>
                  <a:srgbClr val="FFFF00"/>
                </a:highlight>
                <a:latin typeface="Calibri"/>
                <a:cs typeface="Calibri"/>
              </a:rPr>
              <a:t> </a:t>
            </a:r>
            <a:r>
              <a:rPr sz="2800" spc="-5" dirty="0">
                <a:highlight>
                  <a:srgbClr val="FFFF00"/>
                </a:highlight>
                <a:latin typeface="Calibri"/>
                <a:cs typeface="Calibri"/>
              </a:rPr>
              <a:t>based</a:t>
            </a:r>
            <a:r>
              <a:rPr sz="2800" spc="15" dirty="0">
                <a:highlight>
                  <a:srgbClr val="FFFF00"/>
                </a:highlight>
                <a:latin typeface="Calibri"/>
                <a:cs typeface="Calibri"/>
              </a:rPr>
              <a:t> </a:t>
            </a:r>
            <a:r>
              <a:rPr sz="2800" spc="-5" dirty="0">
                <a:highlight>
                  <a:srgbClr val="FFFF00"/>
                </a:highlight>
                <a:latin typeface="Calibri"/>
                <a:cs typeface="Calibri"/>
              </a:rPr>
              <a:t>on</a:t>
            </a:r>
            <a:r>
              <a:rPr sz="2800" spc="5" dirty="0">
                <a:highlight>
                  <a:srgbClr val="FFFF00"/>
                </a:highlight>
                <a:latin typeface="Calibri"/>
                <a:cs typeface="Calibri"/>
              </a:rPr>
              <a:t> </a:t>
            </a:r>
            <a:r>
              <a:rPr sz="2800" spc="-20" dirty="0">
                <a:highlight>
                  <a:srgbClr val="FFFF00"/>
                </a:highlight>
                <a:latin typeface="Calibri"/>
                <a:cs typeface="Calibri"/>
              </a:rPr>
              <a:t>data</a:t>
            </a:r>
            <a:r>
              <a:rPr sz="2800" spc="5" dirty="0">
                <a:highlight>
                  <a:srgbClr val="FFFF00"/>
                </a:highlight>
                <a:latin typeface="Calibri"/>
                <a:cs typeface="Calibri"/>
              </a:rPr>
              <a:t> </a:t>
            </a:r>
            <a:r>
              <a:rPr sz="2800" spc="-10" dirty="0">
                <a:highlight>
                  <a:srgbClr val="FFFF00"/>
                </a:highlight>
                <a:latin typeface="Calibri"/>
                <a:cs typeface="Calibri"/>
              </a:rPr>
              <a:t>collected</a:t>
            </a:r>
            <a:r>
              <a:rPr sz="2800" spc="-5" dirty="0">
                <a:highlight>
                  <a:srgbClr val="FFFF00"/>
                </a:highlight>
                <a:latin typeface="Calibri"/>
                <a:cs typeface="Calibri"/>
              </a:rPr>
              <a:t> </a:t>
            </a:r>
            <a:r>
              <a:rPr sz="2800" spc="-15" dirty="0">
                <a:highlight>
                  <a:srgbClr val="FFFF00"/>
                </a:highlight>
                <a:latin typeface="Calibri"/>
                <a:cs typeface="Calibri"/>
              </a:rPr>
              <a:t>from</a:t>
            </a:r>
            <a:r>
              <a:rPr sz="2800" spc="5" dirty="0">
                <a:highlight>
                  <a:srgbClr val="FFFF00"/>
                </a:highlight>
                <a:latin typeface="Calibri"/>
                <a:cs typeface="Calibri"/>
              </a:rPr>
              <a:t> </a:t>
            </a:r>
            <a:r>
              <a:rPr sz="2800" spc="-10" dirty="0">
                <a:highlight>
                  <a:srgbClr val="FFFF00"/>
                </a:highlight>
                <a:latin typeface="Calibri"/>
                <a:cs typeface="Calibri"/>
              </a:rPr>
              <a:t>database</a:t>
            </a:r>
            <a:r>
              <a:rPr sz="2800" spc="10" dirty="0">
                <a:highlight>
                  <a:srgbClr val="FFFF00"/>
                </a:highlight>
                <a:latin typeface="Calibri"/>
                <a:cs typeface="Calibri"/>
              </a:rPr>
              <a:t> </a:t>
            </a:r>
            <a:r>
              <a:rPr sz="2800" spc="-5" dirty="0">
                <a:highlight>
                  <a:srgbClr val="FFFF00"/>
                </a:highlight>
                <a:latin typeface="Calibri"/>
                <a:cs typeface="Calibri"/>
              </a:rPr>
              <a:t>or</a:t>
            </a:r>
            <a:r>
              <a:rPr sz="2800" dirty="0">
                <a:highlight>
                  <a:srgbClr val="FFFF00"/>
                </a:highlight>
                <a:latin typeface="Calibri"/>
                <a:cs typeface="Calibri"/>
              </a:rPr>
              <a:t> </a:t>
            </a:r>
            <a:r>
              <a:rPr sz="2800" spc="-15" dirty="0">
                <a:highlight>
                  <a:srgbClr val="FFFF00"/>
                </a:highlight>
                <a:latin typeface="Calibri"/>
                <a:cs typeface="Calibri"/>
              </a:rPr>
              <a:t>gathered </a:t>
            </a:r>
            <a:r>
              <a:rPr sz="2800" spc="-620" dirty="0">
                <a:highlight>
                  <a:srgbClr val="FFFF00"/>
                </a:highlight>
                <a:latin typeface="Calibri"/>
                <a:cs typeface="Calibri"/>
              </a:rPr>
              <a:t> </a:t>
            </a:r>
            <a:r>
              <a:rPr sz="2800" spc="-15" dirty="0">
                <a:highlight>
                  <a:srgbClr val="FFFF00"/>
                </a:highlight>
                <a:latin typeface="Calibri"/>
                <a:cs typeface="Calibri"/>
              </a:rPr>
              <a:t>through</a:t>
            </a:r>
            <a:r>
              <a:rPr sz="2800" spc="30" dirty="0">
                <a:highlight>
                  <a:srgbClr val="FFFF00"/>
                </a:highlight>
                <a:latin typeface="Calibri"/>
                <a:cs typeface="Calibri"/>
              </a:rPr>
              <a:t> </a:t>
            </a:r>
            <a:r>
              <a:rPr sz="2800" spc="-15" dirty="0">
                <a:highlight>
                  <a:srgbClr val="FFFF00"/>
                </a:highlight>
                <a:latin typeface="Calibri"/>
                <a:cs typeface="Calibri"/>
              </a:rPr>
              <a:t>sensors</a:t>
            </a:r>
            <a:endParaRPr sz="2800" dirty="0">
              <a:highlight>
                <a:srgbClr val="FFFF00"/>
              </a:highlight>
              <a:latin typeface="Calibri"/>
              <a:cs typeface="Calibri"/>
            </a:endParaRPr>
          </a:p>
          <a:p>
            <a:pPr marL="241300" marR="5080" indent="-228600">
              <a:lnSpc>
                <a:spcPts val="3030"/>
              </a:lnSpc>
              <a:spcBef>
                <a:spcPts val="1045"/>
              </a:spcBef>
              <a:buFont typeface="Arial MT"/>
              <a:buChar char="•"/>
              <a:tabLst>
                <a:tab pos="241300" algn="l"/>
              </a:tabLst>
            </a:pPr>
            <a:r>
              <a:rPr sz="2800" spc="-10" dirty="0">
                <a:highlight>
                  <a:srgbClr val="FFFF00"/>
                </a:highlight>
                <a:latin typeface="Calibri"/>
                <a:cs typeface="Calibri"/>
              </a:rPr>
              <a:t>Focuses</a:t>
            </a:r>
            <a:r>
              <a:rPr sz="2800" spc="25" dirty="0">
                <a:highlight>
                  <a:srgbClr val="FFFF00"/>
                </a:highlight>
                <a:latin typeface="Calibri"/>
                <a:cs typeface="Calibri"/>
              </a:rPr>
              <a:t> </a:t>
            </a:r>
            <a:r>
              <a:rPr sz="2800" spc="-5" dirty="0">
                <a:highlight>
                  <a:srgbClr val="FFFF00"/>
                </a:highlight>
                <a:latin typeface="Calibri"/>
                <a:cs typeface="Calibri"/>
              </a:rPr>
              <a:t>on</a:t>
            </a:r>
            <a:r>
              <a:rPr sz="2800" spc="20" dirty="0">
                <a:highlight>
                  <a:srgbClr val="FFFF00"/>
                </a:highlight>
                <a:latin typeface="Calibri"/>
                <a:cs typeface="Calibri"/>
              </a:rPr>
              <a:t> </a:t>
            </a:r>
            <a:r>
              <a:rPr sz="2800" spc="-10" dirty="0">
                <a:highlight>
                  <a:srgbClr val="FFFF00"/>
                </a:highlight>
                <a:latin typeface="Calibri"/>
                <a:cs typeface="Calibri"/>
              </a:rPr>
              <a:t>prediction,</a:t>
            </a:r>
            <a:r>
              <a:rPr sz="2800" spc="45" dirty="0">
                <a:highlight>
                  <a:srgbClr val="FFFF00"/>
                </a:highlight>
                <a:latin typeface="Calibri"/>
                <a:cs typeface="Calibri"/>
              </a:rPr>
              <a:t> </a:t>
            </a:r>
            <a:r>
              <a:rPr sz="2800" spc="-5" dirty="0">
                <a:highlight>
                  <a:srgbClr val="FFFF00"/>
                </a:highlight>
                <a:latin typeface="Calibri"/>
                <a:cs typeface="Calibri"/>
              </a:rPr>
              <a:t>based</a:t>
            </a:r>
            <a:r>
              <a:rPr sz="2800" spc="35" dirty="0">
                <a:highlight>
                  <a:srgbClr val="FFFF00"/>
                </a:highlight>
                <a:latin typeface="Calibri"/>
                <a:cs typeface="Calibri"/>
              </a:rPr>
              <a:t> </a:t>
            </a:r>
            <a:r>
              <a:rPr sz="2800" spc="-5" dirty="0">
                <a:highlight>
                  <a:srgbClr val="FFFF00"/>
                </a:highlight>
                <a:latin typeface="Calibri"/>
                <a:cs typeface="Calibri"/>
              </a:rPr>
              <a:t>on</a:t>
            </a:r>
            <a:r>
              <a:rPr sz="2800" spc="20" dirty="0">
                <a:highlight>
                  <a:srgbClr val="FFFF00"/>
                </a:highlight>
                <a:latin typeface="Calibri"/>
                <a:cs typeface="Calibri"/>
              </a:rPr>
              <a:t> </a:t>
            </a:r>
            <a:r>
              <a:rPr sz="2800" spc="-5" dirty="0">
                <a:highlight>
                  <a:srgbClr val="FFFF00"/>
                </a:highlight>
                <a:latin typeface="Calibri"/>
                <a:cs typeface="Calibri"/>
              </a:rPr>
              <a:t>known</a:t>
            </a:r>
            <a:r>
              <a:rPr sz="2800" spc="40" dirty="0">
                <a:highlight>
                  <a:srgbClr val="FFFF00"/>
                </a:highlight>
                <a:latin typeface="Calibri"/>
                <a:cs typeface="Calibri"/>
              </a:rPr>
              <a:t> </a:t>
            </a:r>
            <a:r>
              <a:rPr sz="2800" spc="-15" dirty="0">
                <a:highlight>
                  <a:srgbClr val="FFFF00"/>
                </a:highlight>
                <a:latin typeface="Calibri"/>
                <a:cs typeface="Calibri"/>
              </a:rPr>
              <a:t>properties</a:t>
            </a:r>
            <a:r>
              <a:rPr sz="2800" spc="35" dirty="0">
                <a:highlight>
                  <a:srgbClr val="FFFF00"/>
                </a:highlight>
                <a:latin typeface="Calibri"/>
                <a:cs typeface="Calibri"/>
              </a:rPr>
              <a:t> </a:t>
            </a:r>
            <a:r>
              <a:rPr sz="2800" spc="-5" dirty="0">
                <a:highlight>
                  <a:srgbClr val="FFFF00"/>
                </a:highlight>
                <a:latin typeface="Calibri"/>
                <a:cs typeface="Calibri"/>
              </a:rPr>
              <a:t>learned</a:t>
            </a:r>
            <a:r>
              <a:rPr sz="2800" spc="20" dirty="0">
                <a:highlight>
                  <a:srgbClr val="FFFF00"/>
                </a:highlight>
                <a:latin typeface="Calibri"/>
                <a:cs typeface="Calibri"/>
              </a:rPr>
              <a:t> </a:t>
            </a:r>
            <a:r>
              <a:rPr sz="2800" spc="-20" dirty="0">
                <a:highlight>
                  <a:srgbClr val="FFFF00"/>
                </a:highlight>
                <a:latin typeface="Calibri"/>
                <a:cs typeface="Calibri"/>
              </a:rPr>
              <a:t>from</a:t>
            </a:r>
            <a:r>
              <a:rPr sz="2800" spc="5" dirty="0">
                <a:highlight>
                  <a:srgbClr val="FFFF00"/>
                </a:highlight>
                <a:latin typeface="Calibri"/>
                <a:cs typeface="Calibri"/>
              </a:rPr>
              <a:t> </a:t>
            </a:r>
            <a:r>
              <a:rPr sz="2800" spc="-5" dirty="0">
                <a:highlight>
                  <a:srgbClr val="FFFF00"/>
                </a:highlight>
                <a:latin typeface="Calibri"/>
                <a:cs typeface="Calibri"/>
              </a:rPr>
              <a:t>the </a:t>
            </a:r>
            <a:r>
              <a:rPr sz="2800" spc="-620" dirty="0">
                <a:highlight>
                  <a:srgbClr val="FFFF00"/>
                </a:highlight>
                <a:latin typeface="Calibri"/>
                <a:cs typeface="Calibri"/>
              </a:rPr>
              <a:t> </a:t>
            </a:r>
            <a:r>
              <a:rPr sz="2800" spc="-10" dirty="0">
                <a:highlight>
                  <a:srgbClr val="FFFF00"/>
                </a:highlight>
                <a:latin typeface="Calibri"/>
                <a:cs typeface="Calibri"/>
              </a:rPr>
              <a:t>training</a:t>
            </a:r>
            <a:r>
              <a:rPr sz="2800" spc="20" dirty="0">
                <a:highlight>
                  <a:srgbClr val="FFFF00"/>
                </a:highlight>
                <a:latin typeface="Calibri"/>
                <a:cs typeface="Calibri"/>
              </a:rPr>
              <a:t> </a:t>
            </a:r>
            <a:r>
              <a:rPr sz="2800" spc="-20" dirty="0">
                <a:highlight>
                  <a:srgbClr val="FFFF00"/>
                </a:highlight>
                <a:latin typeface="Calibri"/>
                <a:cs typeface="Calibri"/>
              </a:rPr>
              <a:t>data</a:t>
            </a:r>
            <a:endParaRPr sz="2800" dirty="0">
              <a:highlight>
                <a:srgbClr val="FFFF00"/>
              </a:highlight>
              <a:latin typeface="Calibri"/>
              <a:cs typeface="Calibri"/>
            </a:endParaRPr>
          </a:p>
          <a:p>
            <a:pPr marL="241300" marR="270510" indent="-228600">
              <a:lnSpc>
                <a:spcPts val="3020"/>
              </a:lnSpc>
              <a:spcBef>
                <a:spcPts val="994"/>
              </a:spcBef>
              <a:buFont typeface="Arial MT"/>
              <a:buChar char="•"/>
              <a:tabLst>
                <a:tab pos="241300" algn="l"/>
              </a:tabLst>
            </a:pPr>
            <a:r>
              <a:rPr sz="2800" spc="-5" dirty="0">
                <a:latin typeface="Calibri"/>
                <a:cs typeface="Calibri"/>
              </a:rPr>
              <a:t>The</a:t>
            </a:r>
            <a:r>
              <a:rPr sz="2800" dirty="0">
                <a:latin typeface="Calibri"/>
                <a:cs typeface="Calibri"/>
              </a:rPr>
              <a:t> </a:t>
            </a:r>
            <a:r>
              <a:rPr sz="2800" spc="-15" dirty="0">
                <a:latin typeface="Calibri"/>
                <a:cs typeface="Calibri"/>
              </a:rPr>
              <a:t>performance</a:t>
            </a:r>
            <a:r>
              <a:rPr sz="2800" spc="40"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usually</a:t>
            </a:r>
            <a:r>
              <a:rPr sz="2800" spc="25" dirty="0">
                <a:latin typeface="Calibri"/>
                <a:cs typeface="Calibri"/>
              </a:rPr>
              <a:t> </a:t>
            </a:r>
            <a:r>
              <a:rPr sz="2800" spc="-15" dirty="0">
                <a:latin typeface="Calibri"/>
                <a:cs typeface="Calibri"/>
              </a:rPr>
              <a:t>evaluated</a:t>
            </a:r>
            <a:r>
              <a:rPr sz="2800" spc="5" dirty="0">
                <a:latin typeface="Calibri"/>
                <a:cs typeface="Calibri"/>
              </a:rPr>
              <a:t> </a:t>
            </a:r>
            <a:r>
              <a:rPr sz="2800" spc="-5" dirty="0">
                <a:latin typeface="Calibri"/>
                <a:cs typeface="Calibri"/>
              </a:rPr>
              <a:t>with</a:t>
            </a:r>
            <a:r>
              <a:rPr sz="2800" spc="20" dirty="0">
                <a:latin typeface="Calibri"/>
                <a:cs typeface="Calibri"/>
              </a:rPr>
              <a:t> </a:t>
            </a:r>
            <a:r>
              <a:rPr sz="2800" spc="-10" dirty="0">
                <a:latin typeface="Calibri"/>
                <a:cs typeface="Calibri"/>
              </a:rPr>
              <a:t>respect</a:t>
            </a:r>
            <a:r>
              <a:rPr sz="2800" spc="35"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ability</a:t>
            </a:r>
            <a:r>
              <a:rPr sz="2800" spc="25" dirty="0">
                <a:latin typeface="Calibri"/>
                <a:cs typeface="Calibri"/>
              </a:rPr>
              <a:t> </a:t>
            </a:r>
            <a:r>
              <a:rPr sz="2800" spc="-15" dirty="0">
                <a:latin typeface="Calibri"/>
                <a:cs typeface="Calibri"/>
              </a:rPr>
              <a:t>to </a:t>
            </a:r>
            <a:r>
              <a:rPr sz="2800" spc="-615" dirty="0">
                <a:latin typeface="Calibri"/>
                <a:cs typeface="Calibri"/>
              </a:rPr>
              <a:t> </a:t>
            </a:r>
            <a:r>
              <a:rPr sz="2800" spc="-15" dirty="0">
                <a:latin typeface="Calibri"/>
                <a:cs typeface="Calibri"/>
              </a:rPr>
              <a:t>reproduce</a:t>
            </a:r>
            <a:r>
              <a:rPr sz="2800" spc="35" dirty="0">
                <a:latin typeface="Calibri"/>
                <a:cs typeface="Calibri"/>
              </a:rPr>
              <a:t> </a:t>
            </a:r>
            <a:r>
              <a:rPr sz="2800" spc="-5" dirty="0">
                <a:latin typeface="Calibri"/>
                <a:cs typeface="Calibri"/>
              </a:rPr>
              <a:t>known</a:t>
            </a:r>
            <a:r>
              <a:rPr sz="2800" spc="30" dirty="0">
                <a:latin typeface="Calibri"/>
                <a:cs typeface="Calibri"/>
              </a:rPr>
              <a:t> </a:t>
            </a:r>
            <a:r>
              <a:rPr sz="2800" spc="-5" dirty="0">
                <a:latin typeface="Calibri"/>
                <a:cs typeface="Calibri"/>
              </a:rPr>
              <a:t>knowledge</a:t>
            </a:r>
            <a:endParaRPr sz="28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chine Learning Tutorial - All the Essential Concepts in Single Tutorial -  DataFlair">
            <a:extLst>
              <a:ext uri="{FF2B5EF4-FFF2-40B4-BE49-F238E27FC236}">
                <a16:creationId xmlns:a16="http://schemas.microsoft.com/office/drawing/2014/main" id="{FBC941BD-E095-4787-8BA9-EC8FF0C15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447800"/>
            <a:ext cx="65532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668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046220" cy="697230"/>
          </a:xfrm>
          <a:prstGeom prst="rect">
            <a:avLst/>
          </a:prstGeom>
        </p:spPr>
        <p:txBody>
          <a:bodyPr vert="horz" wrap="square" lIns="0" tIns="13335" rIns="0" bIns="0" rtlCol="0">
            <a:spAutoFit/>
          </a:bodyPr>
          <a:lstStyle/>
          <a:p>
            <a:pPr marL="12700">
              <a:lnSpc>
                <a:spcPct val="100000"/>
              </a:lnSpc>
              <a:spcBef>
                <a:spcPts val="105"/>
              </a:spcBef>
            </a:pPr>
            <a:r>
              <a:rPr sz="4400" dirty="0"/>
              <a:t>Machine</a:t>
            </a:r>
            <a:r>
              <a:rPr sz="4400" spc="-45" dirty="0"/>
              <a:t> </a:t>
            </a:r>
            <a:r>
              <a:rPr sz="4400" dirty="0"/>
              <a:t>Learning</a:t>
            </a:r>
            <a:endParaRPr sz="4400"/>
          </a:p>
        </p:txBody>
      </p:sp>
      <p:sp>
        <p:nvSpPr>
          <p:cNvPr id="3" name="object 3"/>
          <p:cNvSpPr txBox="1"/>
          <p:nvPr/>
        </p:nvSpPr>
        <p:spPr>
          <a:xfrm>
            <a:off x="916939" y="1756565"/>
            <a:ext cx="9715500" cy="167068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25" dirty="0">
                <a:latin typeface="Calibri"/>
                <a:cs typeface="Calibri"/>
              </a:rPr>
              <a:t>Different</a:t>
            </a:r>
            <a:r>
              <a:rPr sz="2800" spc="5" dirty="0">
                <a:latin typeface="Calibri"/>
                <a:cs typeface="Calibri"/>
              </a:rPr>
              <a:t> </a:t>
            </a:r>
            <a:r>
              <a:rPr sz="2800" spc="-5" dirty="0">
                <a:latin typeface="Calibri"/>
                <a:cs typeface="Calibri"/>
              </a:rPr>
              <a:t>cases</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machine</a:t>
            </a:r>
            <a:r>
              <a:rPr sz="2800" spc="15" dirty="0">
                <a:latin typeface="Calibri"/>
                <a:cs typeface="Calibri"/>
              </a:rPr>
              <a:t> </a:t>
            </a:r>
            <a:r>
              <a:rPr sz="2800" spc="-5" dirty="0">
                <a:latin typeface="Calibri"/>
                <a:cs typeface="Calibri"/>
              </a:rPr>
              <a:t>learning</a:t>
            </a:r>
            <a:endParaRPr sz="2800">
              <a:latin typeface="Calibri"/>
              <a:cs typeface="Calibri"/>
            </a:endParaRPr>
          </a:p>
          <a:p>
            <a:pPr marL="698500" lvl="1" indent="-229235">
              <a:lnSpc>
                <a:spcPct val="100000"/>
              </a:lnSpc>
              <a:spcBef>
                <a:spcPts val="245"/>
              </a:spcBef>
              <a:buFont typeface="Arial MT"/>
              <a:buChar char="•"/>
              <a:tabLst>
                <a:tab pos="699135" algn="l"/>
              </a:tabLst>
            </a:pPr>
            <a:r>
              <a:rPr sz="2400" spc="-5" dirty="0">
                <a:latin typeface="Calibri"/>
                <a:cs typeface="Calibri"/>
              </a:rPr>
              <a:t>Supervised</a:t>
            </a:r>
            <a:r>
              <a:rPr sz="2400" dirty="0">
                <a:latin typeface="Calibri"/>
                <a:cs typeface="Calibri"/>
              </a:rPr>
              <a:t> learning:</a:t>
            </a:r>
            <a:r>
              <a:rPr sz="2400" spc="-5" dirty="0">
                <a:latin typeface="Calibri"/>
                <a:cs typeface="Calibri"/>
              </a:rPr>
              <a:t> </a:t>
            </a:r>
            <a:r>
              <a:rPr sz="2400" dirty="0">
                <a:latin typeface="Calibri"/>
                <a:cs typeface="Calibri"/>
              </a:rPr>
              <a:t>inputs</a:t>
            </a:r>
            <a:r>
              <a:rPr sz="2400" spc="5"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corresponding</a:t>
            </a:r>
            <a:r>
              <a:rPr sz="2400" spc="-5" dirty="0">
                <a:latin typeface="Calibri"/>
                <a:cs typeface="Calibri"/>
              </a:rPr>
              <a:t> outputs </a:t>
            </a:r>
            <a:r>
              <a:rPr sz="2400" spc="-15" dirty="0">
                <a:latin typeface="Calibri"/>
                <a:cs typeface="Calibri"/>
              </a:rPr>
              <a:t>are</a:t>
            </a:r>
            <a:r>
              <a:rPr sz="2400" dirty="0">
                <a:latin typeface="Calibri"/>
                <a:cs typeface="Calibri"/>
              </a:rPr>
              <a:t> </a:t>
            </a:r>
            <a:r>
              <a:rPr sz="2400" spc="-5" dirty="0">
                <a:latin typeface="Calibri"/>
                <a:cs typeface="Calibri"/>
              </a:rPr>
              <a:t>bind</a:t>
            </a:r>
            <a:r>
              <a:rPr sz="2400" dirty="0">
                <a:latin typeface="Calibri"/>
                <a:cs typeface="Calibri"/>
              </a:rPr>
              <a:t> </a:t>
            </a:r>
            <a:r>
              <a:rPr sz="2400" spc="-10" dirty="0">
                <a:latin typeface="Calibri"/>
                <a:cs typeface="Calibri"/>
              </a:rPr>
              <a:t>together</a:t>
            </a:r>
            <a:endParaRPr sz="240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Unsupervised</a:t>
            </a:r>
            <a:r>
              <a:rPr sz="2400" spc="5" dirty="0">
                <a:latin typeface="Calibri"/>
                <a:cs typeface="Calibri"/>
              </a:rPr>
              <a:t> </a:t>
            </a:r>
            <a:r>
              <a:rPr sz="2400" dirty="0">
                <a:latin typeface="Calibri"/>
                <a:cs typeface="Calibri"/>
              </a:rPr>
              <a:t>learning:</a:t>
            </a:r>
            <a:r>
              <a:rPr sz="2400" spc="-10" dirty="0">
                <a:latin typeface="Calibri"/>
                <a:cs typeface="Calibri"/>
              </a:rPr>
              <a:t> </a:t>
            </a:r>
            <a:r>
              <a:rPr sz="2400" spc="-5" dirty="0">
                <a:latin typeface="Calibri"/>
                <a:cs typeface="Calibri"/>
              </a:rPr>
              <a:t>only</a:t>
            </a:r>
            <a:r>
              <a:rPr sz="2400" spc="-20" dirty="0">
                <a:latin typeface="Calibri"/>
                <a:cs typeface="Calibri"/>
              </a:rPr>
              <a:t> </a:t>
            </a:r>
            <a:r>
              <a:rPr sz="2400" dirty="0">
                <a:latin typeface="Calibri"/>
                <a:cs typeface="Calibri"/>
              </a:rPr>
              <a:t>inputs </a:t>
            </a:r>
            <a:r>
              <a:rPr sz="2400" spc="-15" dirty="0">
                <a:latin typeface="Calibri"/>
                <a:cs typeface="Calibri"/>
              </a:rPr>
              <a:t>are</a:t>
            </a:r>
            <a:r>
              <a:rPr sz="2400" dirty="0">
                <a:latin typeface="Calibri"/>
                <a:cs typeface="Calibri"/>
              </a:rPr>
              <a:t> </a:t>
            </a:r>
            <a:r>
              <a:rPr sz="2400" spc="-10" dirty="0">
                <a:latin typeface="Calibri"/>
                <a:cs typeface="Calibri"/>
              </a:rPr>
              <a:t>available </a:t>
            </a:r>
            <a:r>
              <a:rPr sz="2400" spc="-20" dirty="0">
                <a:latin typeface="Calibri"/>
                <a:cs typeface="Calibri"/>
              </a:rPr>
              <a:t>for</a:t>
            </a:r>
            <a:r>
              <a:rPr sz="2400" spc="-5" dirty="0">
                <a:latin typeface="Calibri"/>
                <a:cs typeface="Calibri"/>
              </a:rPr>
              <a:t> </a:t>
            </a:r>
            <a:r>
              <a:rPr sz="2400" dirty="0">
                <a:latin typeface="Calibri"/>
                <a:cs typeface="Calibri"/>
              </a:rPr>
              <a:t>the learner</a:t>
            </a:r>
            <a:endParaRPr sz="2400">
              <a:latin typeface="Calibri"/>
              <a:cs typeface="Calibri"/>
            </a:endParaRPr>
          </a:p>
          <a:p>
            <a:pPr marL="698500" lvl="1" indent="-229235">
              <a:lnSpc>
                <a:spcPct val="100000"/>
              </a:lnSpc>
              <a:spcBef>
                <a:spcPts val="200"/>
              </a:spcBef>
              <a:buFont typeface="Arial MT"/>
              <a:buChar char="•"/>
              <a:tabLst>
                <a:tab pos="699135" algn="l"/>
              </a:tabLst>
            </a:pPr>
            <a:r>
              <a:rPr sz="2400" spc="-15" dirty="0">
                <a:latin typeface="Calibri"/>
                <a:cs typeface="Calibri"/>
              </a:rPr>
              <a:t>Reinforcement</a:t>
            </a:r>
            <a:r>
              <a:rPr sz="2400" spc="-25" dirty="0">
                <a:latin typeface="Calibri"/>
                <a:cs typeface="Calibri"/>
              </a:rPr>
              <a:t> </a:t>
            </a:r>
            <a:r>
              <a:rPr sz="2400" dirty="0">
                <a:latin typeface="Calibri"/>
                <a:cs typeface="Calibri"/>
              </a:rPr>
              <a:t>learning:</a:t>
            </a:r>
            <a:r>
              <a:rPr sz="2400" spc="-20" dirty="0">
                <a:latin typeface="Calibri"/>
                <a:cs typeface="Calibri"/>
              </a:rPr>
              <a:t> </a:t>
            </a:r>
            <a:r>
              <a:rPr sz="2400" dirty="0">
                <a:latin typeface="Calibri"/>
                <a:cs typeface="Calibri"/>
              </a:rPr>
              <a:t>learning</a:t>
            </a:r>
            <a:r>
              <a:rPr sz="2400" spc="-10" dirty="0">
                <a:latin typeface="Calibri"/>
                <a:cs typeface="Calibri"/>
              </a:rPr>
              <a:t> </a:t>
            </a:r>
            <a:r>
              <a:rPr sz="2400" spc="-5" dirty="0">
                <a:latin typeface="Calibri"/>
                <a:cs typeface="Calibri"/>
              </a:rPr>
              <a:t>based</a:t>
            </a:r>
            <a:r>
              <a:rPr sz="2400" dirty="0">
                <a:latin typeface="Calibri"/>
                <a:cs typeface="Calibri"/>
              </a:rPr>
              <a:t> </a:t>
            </a:r>
            <a:r>
              <a:rPr sz="2400" spc="-10" dirty="0">
                <a:latin typeface="Calibri"/>
                <a:cs typeface="Calibri"/>
              </a:rPr>
              <a:t>on</a:t>
            </a:r>
            <a:r>
              <a:rPr sz="2400" spc="5" dirty="0">
                <a:latin typeface="Calibri"/>
                <a:cs typeface="Calibri"/>
              </a:rPr>
              <a:t> </a:t>
            </a:r>
            <a:r>
              <a:rPr sz="2400" spc="-20" dirty="0">
                <a:latin typeface="Calibri"/>
                <a:cs typeface="Calibri"/>
              </a:rPr>
              <a:t>reward</a:t>
            </a:r>
            <a:r>
              <a:rPr sz="2400" spc="-15" dirty="0">
                <a:latin typeface="Calibri"/>
                <a:cs typeface="Calibri"/>
              </a:rPr>
              <a:t> </a:t>
            </a:r>
            <a:r>
              <a:rPr sz="2400" spc="-5" dirty="0">
                <a:latin typeface="Calibri"/>
                <a:cs typeface="Calibri"/>
              </a:rPr>
              <a:t>or </a:t>
            </a:r>
            <a:r>
              <a:rPr sz="2400" spc="-10" dirty="0">
                <a:latin typeface="Calibri"/>
                <a:cs typeface="Calibri"/>
              </a:rPr>
              <a:t>punishment</a:t>
            </a:r>
            <a:endParaRPr sz="24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33FCF1-A1EF-4D54-B5FF-24EB9D58A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258" y="0"/>
            <a:ext cx="9587484" cy="6858000"/>
          </a:xfrm>
          <a:prstGeom prst="rect">
            <a:avLst/>
          </a:prstGeom>
        </p:spPr>
      </p:pic>
    </p:spTree>
    <p:extLst>
      <p:ext uri="{BB962C8B-B14F-4D97-AF65-F5344CB8AC3E}">
        <p14:creationId xmlns:p14="http://schemas.microsoft.com/office/powerpoint/2010/main" val="1394463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71BDD3-77A8-4D0F-9D69-ABB1BD560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037" y="766762"/>
            <a:ext cx="9305925" cy="5324475"/>
          </a:xfrm>
          <a:prstGeom prst="rect">
            <a:avLst/>
          </a:prstGeom>
        </p:spPr>
      </p:pic>
    </p:spTree>
    <p:extLst>
      <p:ext uri="{BB962C8B-B14F-4D97-AF65-F5344CB8AC3E}">
        <p14:creationId xmlns:p14="http://schemas.microsoft.com/office/powerpoint/2010/main" val="662989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516FC9-B4C7-483D-AA2D-19650A915E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047750"/>
            <a:ext cx="9829800" cy="5124450"/>
          </a:xfrm>
          <a:prstGeom prst="rect">
            <a:avLst/>
          </a:prstGeom>
        </p:spPr>
      </p:pic>
    </p:spTree>
    <p:extLst>
      <p:ext uri="{BB962C8B-B14F-4D97-AF65-F5344CB8AC3E}">
        <p14:creationId xmlns:p14="http://schemas.microsoft.com/office/powerpoint/2010/main" val="118649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27DAD-93CE-4951-AF71-3592F89A5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6201"/>
            <a:ext cx="7162800" cy="3733799"/>
          </a:xfrm>
          <a:prstGeom prst="rect">
            <a:avLst/>
          </a:prstGeom>
        </p:spPr>
      </p:pic>
      <p:pic>
        <p:nvPicPr>
          <p:cNvPr id="5" name="Picture 4">
            <a:extLst>
              <a:ext uri="{FF2B5EF4-FFF2-40B4-BE49-F238E27FC236}">
                <a16:creationId xmlns:a16="http://schemas.microsoft.com/office/drawing/2014/main" id="{7A4A80AB-4040-48ED-8D16-F1BC16F4D0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0" y="3810000"/>
            <a:ext cx="7696200" cy="3467100"/>
          </a:xfrm>
          <a:prstGeom prst="rect">
            <a:avLst/>
          </a:prstGeom>
        </p:spPr>
      </p:pic>
    </p:spTree>
    <p:extLst>
      <p:ext uri="{BB962C8B-B14F-4D97-AF65-F5344CB8AC3E}">
        <p14:creationId xmlns:p14="http://schemas.microsoft.com/office/powerpoint/2010/main" val="578484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7CC18E-1634-410B-A96C-5A59A35B5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760"/>
            <a:ext cx="12192000" cy="6380480"/>
          </a:xfrm>
          <a:prstGeom prst="rect">
            <a:avLst/>
          </a:prstGeom>
        </p:spPr>
      </p:pic>
    </p:spTree>
    <p:extLst>
      <p:ext uri="{BB962C8B-B14F-4D97-AF65-F5344CB8AC3E}">
        <p14:creationId xmlns:p14="http://schemas.microsoft.com/office/powerpoint/2010/main" val="2164888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2EEB-A94D-4D93-A0A2-A0C05FAA0974}"/>
              </a:ext>
            </a:extLst>
          </p:cNvPr>
          <p:cNvSpPr>
            <a:spLocks noGrp="1"/>
          </p:cNvSpPr>
          <p:nvPr>
            <p:ph type="title"/>
          </p:nvPr>
        </p:nvSpPr>
        <p:spPr>
          <a:xfrm>
            <a:off x="1828800" y="1752600"/>
            <a:ext cx="8173973" cy="4431983"/>
          </a:xfrm>
        </p:spPr>
        <p:txBody>
          <a:bodyPr/>
          <a:lstStyle/>
          <a:p>
            <a:r>
              <a:rPr lang="en-US" sz="3200" b="1" dirty="0" err="1"/>
              <a:t>i</a:t>
            </a:r>
            <a:r>
              <a:rPr lang="en-US" sz="3200" b="1" dirty="0"/>
              <a:t>. </a:t>
            </a:r>
            <a:r>
              <a:rPr lang="en-US" sz="3200" dirty="0"/>
              <a:t>Inductive learning, also known as discovery learning, is a process where the learner discovers rules by observing examples. </a:t>
            </a:r>
            <a:br>
              <a:rPr lang="en-US" sz="3200" dirty="0"/>
            </a:br>
            <a:br>
              <a:rPr lang="en-US" sz="3200" dirty="0"/>
            </a:br>
            <a:r>
              <a:rPr lang="en-US" sz="3200" b="1" dirty="0"/>
              <a:t>ii. </a:t>
            </a:r>
            <a:r>
              <a:rPr lang="en-US" sz="3200" dirty="0"/>
              <a:t>This is different from deductive learning, where students are given rules that they then need to apply</a:t>
            </a:r>
            <a:br>
              <a:rPr lang="en-US" sz="3200" dirty="0"/>
            </a:br>
            <a:br>
              <a:rPr lang="en-US" sz="3200" dirty="0"/>
            </a:br>
            <a:r>
              <a:rPr lang="en-US" sz="3200" b="1" dirty="0"/>
              <a:t>iii.</a:t>
            </a:r>
            <a:r>
              <a:rPr lang="en-US" sz="3200" dirty="0"/>
              <a:t> It is a supervised learning method</a:t>
            </a:r>
          </a:p>
        </p:txBody>
      </p:sp>
      <p:sp>
        <p:nvSpPr>
          <p:cNvPr id="3" name="Text Placeholder 2">
            <a:extLst>
              <a:ext uri="{FF2B5EF4-FFF2-40B4-BE49-F238E27FC236}">
                <a16:creationId xmlns:a16="http://schemas.microsoft.com/office/drawing/2014/main" id="{7D84B7C6-A94C-4CB4-B48E-5EAFEA180AFC}"/>
              </a:ext>
            </a:extLst>
          </p:cNvPr>
          <p:cNvSpPr>
            <a:spLocks noGrp="1"/>
          </p:cNvSpPr>
          <p:nvPr>
            <p:ph type="body" idx="1"/>
          </p:nvPr>
        </p:nvSpPr>
        <p:spPr>
          <a:xfrm>
            <a:off x="762000" y="838200"/>
            <a:ext cx="3205480" cy="492443"/>
          </a:xfrm>
        </p:spPr>
        <p:txBody>
          <a:bodyPr/>
          <a:lstStyle/>
          <a:p>
            <a:r>
              <a:rPr lang="en-US" sz="3200" b="1" dirty="0"/>
              <a:t>Inductive Learning</a:t>
            </a:r>
          </a:p>
        </p:txBody>
      </p:sp>
    </p:spTree>
    <p:extLst>
      <p:ext uri="{BB962C8B-B14F-4D97-AF65-F5344CB8AC3E}">
        <p14:creationId xmlns:p14="http://schemas.microsoft.com/office/powerpoint/2010/main" val="407243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6E11F3-8BC7-43DA-B305-C1985606D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50" y="1304924"/>
            <a:ext cx="11544300" cy="5248275"/>
          </a:xfrm>
          <a:prstGeom prst="rect">
            <a:avLst/>
          </a:prstGeom>
        </p:spPr>
      </p:pic>
    </p:spTree>
    <p:extLst>
      <p:ext uri="{BB962C8B-B14F-4D97-AF65-F5344CB8AC3E}">
        <p14:creationId xmlns:p14="http://schemas.microsoft.com/office/powerpoint/2010/main" val="3891567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266305" cy="697230"/>
          </a:xfrm>
          <a:prstGeom prst="rect">
            <a:avLst/>
          </a:prstGeom>
        </p:spPr>
        <p:txBody>
          <a:bodyPr vert="horz" wrap="square" lIns="0" tIns="13335" rIns="0" bIns="0" rtlCol="0">
            <a:spAutoFit/>
          </a:bodyPr>
          <a:lstStyle/>
          <a:p>
            <a:pPr marL="12700">
              <a:lnSpc>
                <a:spcPct val="100000"/>
              </a:lnSpc>
              <a:spcBef>
                <a:spcPts val="105"/>
              </a:spcBef>
            </a:pPr>
            <a:r>
              <a:rPr sz="4400" dirty="0"/>
              <a:t>Learning</a:t>
            </a:r>
            <a:r>
              <a:rPr sz="4400" spc="-20" dirty="0"/>
              <a:t> </a:t>
            </a:r>
            <a:r>
              <a:rPr sz="4400" spc="-10" dirty="0"/>
              <a:t>by</a:t>
            </a:r>
            <a:r>
              <a:rPr sz="4400" dirty="0"/>
              <a:t> </a:t>
            </a:r>
            <a:r>
              <a:rPr sz="4400" spc="-10" dirty="0"/>
              <a:t>Examples:</a:t>
            </a:r>
            <a:r>
              <a:rPr sz="4400" spc="-35" dirty="0"/>
              <a:t> </a:t>
            </a:r>
            <a:r>
              <a:rPr sz="4400" spc="-5" dirty="0"/>
              <a:t>Induction</a:t>
            </a:r>
            <a:endParaRPr sz="4400"/>
          </a:p>
        </p:txBody>
      </p:sp>
      <p:sp>
        <p:nvSpPr>
          <p:cNvPr id="3" name="object 3"/>
          <p:cNvSpPr txBox="1"/>
          <p:nvPr/>
        </p:nvSpPr>
        <p:spPr>
          <a:xfrm>
            <a:off x="916939" y="1706841"/>
            <a:ext cx="7574915" cy="376618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Based</a:t>
            </a:r>
            <a:r>
              <a:rPr sz="2800" spc="10" dirty="0">
                <a:latin typeface="Calibri"/>
                <a:cs typeface="Calibri"/>
              </a:rPr>
              <a:t> </a:t>
            </a:r>
            <a:r>
              <a:rPr sz="2800" spc="-5" dirty="0">
                <a:latin typeface="Calibri"/>
                <a:cs typeface="Calibri"/>
              </a:rPr>
              <a:t>on</a:t>
            </a:r>
            <a:r>
              <a:rPr sz="2800" spc="15" dirty="0">
                <a:latin typeface="Calibri"/>
                <a:cs typeface="Calibri"/>
              </a:rPr>
              <a:t> </a:t>
            </a:r>
            <a:r>
              <a:rPr sz="2800" spc="-5" dirty="0">
                <a:latin typeface="Calibri"/>
                <a:cs typeface="Calibri"/>
              </a:rPr>
              <a:t>classification</a:t>
            </a:r>
            <a:r>
              <a:rPr sz="2800" spc="10" dirty="0">
                <a:latin typeface="Calibri"/>
                <a:cs typeface="Calibri"/>
              </a:rPr>
              <a:t> </a:t>
            </a:r>
            <a:r>
              <a:rPr sz="2800" spc="-5" dirty="0">
                <a:latin typeface="Calibri"/>
                <a:cs typeface="Calibri"/>
              </a:rPr>
              <a:t>of</a:t>
            </a:r>
            <a:r>
              <a:rPr sz="2800" spc="10" dirty="0">
                <a:latin typeface="Calibri"/>
                <a:cs typeface="Calibri"/>
              </a:rPr>
              <a:t> </a:t>
            </a:r>
            <a:r>
              <a:rPr sz="2800" spc="-15" dirty="0">
                <a:latin typeface="Calibri"/>
                <a:cs typeface="Calibri"/>
              </a:rPr>
              <a:t>problems</a:t>
            </a:r>
            <a:r>
              <a:rPr sz="2800" spc="30" dirty="0">
                <a:latin typeface="Calibri"/>
                <a:cs typeface="Calibri"/>
              </a:rPr>
              <a:t> </a:t>
            </a:r>
            <a:r>
              <a:rPr sz="2800" spc="-10" dirty="0">
                <a:latin typeface="Calibri"/>
                <a:cs typeface="Calibri"/>
              </a:rPr>
              <a:t>prior</a:t>
            </a:r>
            <a:r>
              <a:rPr sz="2800" spc="30"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solving</a:t>
            </a:r>
            <a:endParaRPr sz="280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Based</a:t>
            </a:r>
            <a:r>
              <a:rPr sz="2800" spc="5" dirty="0">
                <a:latin typeface="Calibri"/>
                <a:cs typeface="Calibri"/>
              </a:rPr>
              <a:t> </a:t>
            </a:r>
            <a:r>
              <a:rPr sz="2800" spc="-5" dirty="0">
                <a:latin typeface="Calibri"/>
                <a:cs typeface="Calibri"/>
              </a:rPr>
              <a:t>on</a:t>
            </a:r>
            <a:r>
              <a:rPr sz="2800" spc="5" dirty="0">
                <a:latin typeface="Calibri"/>
                <a:cs typeface="Calibri"/>
              </a:rPr>
              <a:t> </a:t>
            </a:r>
            <a:r>
              <a:rPr sz="2800" spc="-5" dirty="0">
                <a:latin typeface="Calibri"/>
                <a:cs typeface="Calibri"/>
              </a:rPr>
              <a:t>induction</a:t>
            </a:r>
            <a:r>
              <a:rPr sz="2800" spc="40" dirty="0">
                <a:latin typeface="Calibri"/>
                <a:cs typeface="Calibri"/>
              </a:rPr>
              <a:t> </a:t>
            </a:r>
            <a:r>
              <a:rPr sz="2800" spc="-5" dirty="0">
                <a:latin typeface="Calibri"/>
                <a:cs typeface="Calibri"/>
              </a:rPr>
              <a:t>of </a:t>
            </a:r>
            <a:r>
              <a:rPr sz="2800" spc="-10" dirty="0">
                <a:latin typeface="Calibri"/>
                <a:cs typeface="Calibri"/>
              </a:rPr>
              <a:t>result</a:t>
            </a:r>
            <a:endParaRPr sz="280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Based</a:t>
            </a:r>
            <a:r>
              <a:rPr sz="2800" spc="5" dirty="0">
                <a:latin typeface="Calibri"/>
                <a:cs typeface="Calibri"/>
              </a:rPr>
              <a:t> </a:t>
            </a:r>
            <a:r>
              <a:rPr sz="2800" spc="-5" dirty="0">
                <a:latin typeface="Calibri"/>
                <a:cs typeface="Calibri"/>
              </a:rPr>
              <a:t>on</a:t>
            </a:r>
            <a:r>
              <a:rPr sz="2800" spc="10" dirty="0">
                <a:latin typeface="Calibri"/>
                <a:cs typeface="Calibri"/>
              </a:rPr>
              <a:t> </a:t>
            </a:r>
            <a:r>
              <a:rPr sz="2800" spc="-5" dirty="0">
                <a:latin typeface="Calibri"/>
                <a:cs typeface="Calibri"/>
              </a:rPr>
              <a:t>generic</a:t>
            </a:r>
            <a:r>
              <a:rPr sz="2800" dirty="0">
                <a:latin typeface="Calibri"/>
                <a:cs typeface="Calibri"/>
              </a:rPr>
              <a:t> </a:t>
            </a:r>
            <a:r>
              <a:rPr sz="2800" spc="-10" dirty="0">
                <a:latin typeface="Calibri"/>
                <a:cs typeface="Calibri"/>
              </a:rPr>
              <a:t>facts,</a:t>
            </a:r>
            <a:r>
              <a:rPr sz="2800" spc="10" dirty="0">
                <a:latin typeface="Calibri"/>
                <a:cs typeface="Calibri"/>
              </a:rPr>
              <a:t> </a:t>
            </a:r>
            <a:r>
              <a:rPr sz="2800" spc="-5" dirty="0">
                <a:latin typeface="Calibri"/>
                <a:cs typeface="Calibri"/>
              </a:rPr>
              <a:t>rules</a:t>
            </a:r>
            <a:r>
              <a:rPr sz="2800" spc="15" dirty="0">
                <a:latin typeface="Calibri"/>
                <a:cs typeface="Calibri"/>
              </a:rPr>
              <a:t> </a:t>
            </a:r>
            <a:r>
              <a:rPr sz="2800" spc="-5" dirty="0">
                <a:latin typeface="Calibri"/>
                <a:cs typeface="Calibri"/>
              </a:rPr>
              <a:t>and</a:t>
            </a:r>
            <a:r>
              <a:rPr sz="2800" spc="10" dirty="0">
                <a:latin typeface="Calibri"/>
                <a:cs typeface="Calibri"/>
              </a:rPr>
              <a:t> </a:t>
            </a:r>
            <a:r>
              <a:rPr sz="2800" spc="-15" dirty="0">
                <a:latin typeface="Calibri"/>
                <a:cs typeface="Calibri"/>
              </a:rPr>
              <a:t>patterns</a:t>
            </a:r>
            <a:endParaRPr sz="2800">
              <a:latin typeface="Calibri"/>
              <a:cs typeface="Calibri"/>
            </a:endParaRPr>
          </a:p>
          <a:p>
            <a:pPr marL="241300" indent="-228600">
              <a:lnSpc>
                <a:spcPct val="100000"/>
              </a:lnSpc>
              <a:spcBef>
                <a:spcPts val="665"/>
              </a:spcBef>
              <a:buFont typeface="Arial MT"/>
              <a:buChar char="•"/>
              <a:tabLst>
                <a:tab pos="241300" algn="l"/>
              </a:tabLst>
            </a:pPr>
            <a:r>
              <a:rPr sz="2800" spc="-5" dirty="0">
                <a:latin typeface="Calibri"/>
                <a:cs typeface="Calibri"/>
              </a:rPr>
              <a:t>Also</a:t>
            </a:r>
            <a:r>
              <a:rPr sz="2800" spc="10" dirty="0">
                <a:latin typeface="Calibri"/>
                <a:cs typeface="Calibri"/>
              </a:rPr>
              <a:t> </a:t>
            </a:r>
            <a:r>
              <a:rPr sz="2800" spc="-5" dirty="0">
                <a:latin typeface="Calibri"/>
                <a:cs typeface="Calibri"/>
              </a:rPr>
              <a:t>called</a:t>
            </a:r>
            <a:r>
              <a:rPr sz="2800" dirty="0">
                <a:latin typeface="Calibri"/>
                <a:cs typeface="Calibri"/>
              </a:rPr>
              <a:t> </a:t>
            </a:r>
            <a:r>
              <a:rPr sz="2800" spc="-10" dirty="0">
                <a:latin typeface="Calibri"/>
                <a:cs typeface="Calibri"/>
              </a:rPr>
              <a:t>concept</a:t>
            </a:r>
            <a:r>
              <a:rPr sz="2800" spc="5" dirty="0">
                <a:latin typeface="Calibri"/>
                <a:cs typeface="Calibri"/>
              </a:rPr>
              <a:t> </a:t>
            </a:r>
            <a:r>
              <a:rPr sz="2800" spc="-5" dirty="0">
                <a:latin typeface="Calibri"/>
                <a:cs typeface="Calibri"/>
              </a:rPr>
              <a:t>learning</a:t>
            </a:r>
            <a:endParaRPr sz="2800">
              <a:latin typeface="Calibri"/>
              <a:cs typeface="Calibri"/>
            </a:endParaRPr>
          </a:p>
          <a:p>
            <a:pPr marL="241300" indent="-228600">
              <a:lnSpc>
                <a:spcPct val="100000"/>
              </a:lnSpc>
              <a:spcBef>
                <a:spcPts val="670"/>
              </a:spcBef>
              <a:buFont typeface="Arial MT"/>
              <a:buChar char="•"/>
              <a:tabLst>
                <a:tab pos="241300" algn="l"/>
              </a:tabLst>
            </a:pPr>
            <a:r>
              <a:rPr sz="2800" spc="-10" dirty="0">
                <a:latin typeface="Calibri"/>
                <a:cs typeface="Calibri"/>
              </a:rPr>
              <a:t>Approaches:</a:t>
            </a:r>
            <a:endParaRPr sz="2800">
              <a:latin typeface="Calibri"/>
              <a:cs typeface="Calibri"/>
            </a:endParaRPr>
          </a:p>
          <a:p>
            <a:pPr marL="698500" lvl="1" indent="-229235">
              <a:lnSpc>
                <a:spcPct val="100000"/>
              </a:lnSpc>
              <a:spcBef>
                <a:spcPts val="234"/>
              </a:spcBef>
              <a:buFont typeface="Arial MT"/>
              <a:buChar char="•"/>
              <a:tabLst>
                <a:tab pos="699135" algn="l"/>
              </a:tabLst>
            </a:pPr>
            <a:r>
              <a:rPr sz="2400" spc="-25" dirty="0">
                <a:latin typeface="Calibri"/>
                <a:cs typeface="Calibri"/>
              </a:rPr>
              <a:t>Winston’s</a:t>
            </a:r>
            <a:r>
              <a:rPr sz="2400" spc="-20" dirty="0">
                <a:latin typeface="Calibri"/>
                <a:cs typeface="Calibri"/>
              </a:rPr>
              <a:t> </a:t>
            </a:r>
            <a:r>
              <a:rPr sz="2400" spc="-5" dirty="0">
                <a:latin typeface="Calibri"/>
                <a:cs typeface="Calibri"/>
              </a:rPr>
              <a:t>Learning</a:t>
            </a:r>
            <a:r>
              <a:rPr sz="2400" spc="-10" dirty="0">
                <a:latin typeface="Calibri"/>
                <a:cs typeface="Calibri"/>
              </a:rPr>
              <a:t> </a:t>
            </a:r>
            <a:r>
              <a:rPr sz="2400" spc="-15" dirty="0">
                <a:latin typeface="Calibri"/>
                <a:cs typeface="Calibri"/>
              </a:rPr>
              <a:t>Program</a:t>
            </a:r>
            <a:endParaRPr sz="2400">
              <a:latin typeface="Calibri"/>
              <a:cs typeface="Calibri"/>
            </a:endParaRPr>
          </a:p>
          <a:p>
            <a:pPr marL="698500" lvl="1" indent="-229235">
              <a:lnSpc>
                <a:spcPct val="100000"/>
              </a:lnSpc>
              <a:spcBef>
                <a:spcPts val="215"/>
              </a:spcBef>
              <a:buFont typeface="Arial MT"/>
              <a:buChar char="•"/>
              <a:tabLst>
                <a:tab pos="699135" algn="l"/>
              </a:tabLst>
            </a:pPr>
            <a:r>
              <a:rPr sz="2400" spc="-30" dirty="0">
                <a:latin typeface="Calibri"/>
                <a:cs typeface="Calibri"/>
              </a:rPr>
              <a:t>Version</a:t>
            </a:r>
            <a:r>
              <a:rPr sz="2400" spc="-35" dirty="0">
                <a:latin typeface="Calibri"/>
                <a:cs typeface="Calibri"/>
              </a:rPr>
              <a:t> </a:t>
            </a:r>
            <a:r>
              <a:rPr sz="2400" spc="-5" dirty="0">
                <a:latin typeface="Calibri"/>
                <a:cs typeface="Calibri"/>
              </a:rPr>
              <a:t>Space</a:t>
            </a:r>
            <a:endParaRPr sz="240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Decision</a:t>
            </a:r>
            <a:r>
              <a:rPr sz="2400" spc="-45" dirty="0">
                <a:latin typeface="Calibri"/>
                <a:cs typeface="Calibri"/>
              </a:rPr>
              <a:t> </a:t>
            </a:r>
            <a:r>
              <a:rPr sz="2400" spc="-50" dirty="0">
                <a:latin typeface="Calibri"/>
                <a:cs typeface="Calibri"/>
              </a:rPr>
              <a:t>Tree</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025140" cy="697230"/>
          </a:xfrm>
          <a:prstGeom prst="rect">
            <a:avLst/>
          </a:prstGeom>
        </p:spPr>
        <p:txBody>
          <a:bodyPr vert="horz" wrap="square" lIns="0" tIns="13335" rIns="0" bIns="0" rtlCol="0">
            <a:spAutoFit/>
          </a:bodyPr>
          <a:lstStyle/>
          <a:p>
            <a:pPr marL="12700">
              <a:lnSpc>
                <a:spcPct val="100000"/>
              </a:lnSpc>
              <a:spcBef>
                <a:spcPts val="105"/>
              </a:spcBef>
            </a:pPr>
            <a:r>
              <a:rPr sz="4400" dirty="0"/>
              <a:t>Decision</a:t>
            </a:r>
            <a:r>
              <a:rPr sz="4400" spc="-65" dirty="0"/>
              <a:t> </a:t>
            </a:r>
            <a:r>
              <a:rPr sz="4400" spc="-90" dirty="0"/>
              <a:t>Tree</a:t>
            </a:r>
            <a:endParaRPr sz="4400"/>
          </a:p>
        </p:txBody>
      </p:sp>
      <p:sp>
        <p:nvSpPr>
          <p:cNvPr id="3" name="object 3"/>
          <p:cNvSpPr txBox="1"/>
          <p:nvPr/>
        </p:nvSpPr>
        <p:spPr>
          <a:xfrm>
            <a:off x="916939" y="1706841"/>
            <a:ext cx="10015855" cy="3343864"/>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Uses</a:t>
            </a:r>
            <a:r>
              <a:rPr sz="2800" spc="15" dirty="0">
                <a:latin typeface="Calibri"/>
                <a:cs typeface="Calibri"/>
              </a:rPr>
              <a:t> </a:t>
            </a:r>
            <a:r>
              <a:rPr sz="2800" spc="-5" dirty="0">
                <a:latin typeface="Calibri"/>
                <a:cs typeface="Calibri"/>
              </a:rPr>
              <a:t>a</a:t>
            </a:r>
            <a:r>
              <a:rPr sz="2800" spc="5" dirty="0">
                <a:latin typeface="Calibri"/>
                <a:cs typeface="Calibri"/>
              </a:rPr>
              <a:t> </a:t>
            </a:r>
            <a:r>
              <a:rPr sz="2800" spc="-15" dirty="0">
                <a:latin typeface="Calibri"/>
                <a:cs typeface="Calibri"/>
              </a:rPr>
              <a:t>tree</a:t>
            </a:r>
            <a:r>
              <a:rPr sz="2800" dirty="0">
                <a:latin typeface="Calibri"/>
                <a:cs typeface="Calibri"/>
              </a:rPr>
              <a:t> </a:t>
            </a:r>
            <a:r>
              <a:rPr sz="2800" spc="-15" dirty="0">
                <a:latin typeface="Calibri"/>
                <a:cs typeface="Calibri"/>
              </a:rPr>
              <a:t>representation</a:t>
            </a:r>
            <a:r>
              <a:rPr sz="2800" spc="3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concepts</a:t>
            </a:r>
            <a:endParaRPr lang="en-US" sz="2800" spc="-10" dirty="0">
              <a:latin typeface="Calibri"/>
              <a:cs typeface="Calibri"/>
            </a:endParaRPr>
          </a:p>
          <a:p>
            <a:pPr marL="241300" indent="-228600">
              <a:lnSpc>
                <a:spcPct val="100000"/>
              </a:lnSpc>
              <a:spcBef>
                <a:spcPts val="775"/>
              </a:spcBef>
              <a:buFont typeface="Arial MT"/>
              <a:buChar char="•"/>
              <a:tabLst>
                <a:tab pos="241300" algn="l"/>
              </a:tabLst>
            </a:pPr>
            <a:r>
              <a:rPr lang="en-US" sz="2800" dirty="0"/>
              <a:t>Decision trees in artificial intelligence are used to arrive at conclusions based on the data available from decisions made in the past</a:t>
            </a:r>
            <a:endParaRPr sz="2800" dirty="0">
              <a:latin typeface="Calibri"/>
              <a:cs typeface="Calibri"/>
            </a:endParaRPr>
          </a:p>
          <a:p>
            <a:pPr marL="241300" marR="5080" indent="-228600">
              <a:lnSpc>
                <a:spcPts val="3020"/>
              </a:lnSpc>
              <a:spcBef>
                <a:spcPts val="1060"/>
              </a:spcBef>
              <a:buFont typeface="Arial MT"/>
              <a:buChar char="•"/>
              <a:tabLst>
                <a:tab pos="241300" algn="l"/>
              </a:tabLst>
            </a:pPr>
            <a:r>
              <a:rPr sz="2800" spc="-15" dirty="0">
                <a:latin typeface="Calibri"/>
                <a:cs typeface="Calibri"/>
              </a:rPr>
              <a:t>Problem</a:t>
            </a:r>
            <a:r>
              <a:rPr sz="2800" spc="20" dirty="0">
                <a:latin typeface="Calibri"/>
                <a:cs typeface="Calibri"/>
              </a:rPr>
              <a:t> </a:t>
            </a:r>
            <a:r>
              <a:rPr sz="2800" spc="-5" dirty="0">
                <a:latin typeface="Calibri"/>
                <a:cs typeface="Calibri"/>
              </a:rPr>
              <a:t>is</a:t>
            </a:r>
            <a:r>
              <a:rPr sz="2800" spc="15" dirty="0">
                <a:latin typeface="Calibri"/>
                <a:cs typeface="Calibri"/>
              </a:rPr>
              <a:t> </a:t>
            </a:r>
            <a:r>
              <a:rPr sz="2800" spc="-15" dirty="0">
                <a:latin typeface="Calibri"/>
                <a:cs typeface="Calibri"/>
              </a:rPr>
              <a:t>started</a:t>
            </a:r>
            <a:r>
              <a:rPr sz="2800" spc="25" dirty="0">
                <a:latin typeface="Calibri"/>
                <a:cs typeface="Calibri"/>
              </a:rPr>
              <a:t> </a:t>
            </a:r>
            <a:r>
              <a:rPr sz="2800" spc="-15" dirty="0">
                <a:latin typeface="Calibri"/>
                <a:cs typeface="Calibri"/>
              </a:rPr>
              <a:t>at</a:t>
            </a:r>
            <a:r>
              <a:rPr sz="280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top</a:t>
            </a:r>
            <a:r>
              <a:rPr sz="2800" spc="2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tree</a:t>
            </a:r>
            <a:r>
              <a:rPr sz="2800" dirty="0">
                <a:latin typeface="Calibri"/>
                <a:cs typeface="Calibri"/>
              </a:rPr>
              <a:t> </a:t>
            </a:r>
            <a:r>
              <a:rPr sz="2800" spc="-5" dirty="0">
                <a:latin typeface="Calibri"/>
                <a:cs typeface="Calibri"/>
              </a:rPr>
              <a:t>and</a:t>
            </a:r>
            <a:r>
              <a:rPr sz="2800" spc="30" dirty="0">
                <a:latin typeface="Calibri"/>
                <a:cs typeface="Calibri"/>
              </a:rPr>
              <a:t> </a:t>
            </a:r>
            <a:r>
              <a:rPr sz="2800" spc="-10" dirty="0">
                <a:latin typeface="Calibri"/>
                <a:cs typeface="Calibri"/>
              </a:rPr>
              <a:t>solution</a:t>
            </a:r>
            <a:r>
              <a:rPr sz="2800" spc="30"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identified</a:t>
            </a:r>
            <a:r>
              <a:rPr sz="2800" spc="35" dirty="0">
                <a:latin typeface="Calibri"/>
                <a:cs typeface="Calibri"/>
              </a:rPr>
              <a:t> </a:t>
            </a:r>
            <a:r>
              <a:rPr sz="2800" spc="-15" dirty="0">
                <a:latin typeface="Calibri"/>
                <a:cs typeface="Calibri"/>
              </a:rPr>
              <a:t>at </a:t>
            </a:r>
            <a:r>
              <a:rPr sz="2800" spc="-62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leaf</a:t>
            </a:r>
            <a:endParaRPr sz="2800" dirty="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ID3</a:t>
            </a:r>
            <a:r>
              <a:rPr sz="2800" spc="15"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a </a:t>
            </a:r>
            <a:r>
              <a:rPr sz="2800" spc="-10" dirty="0">
                <a:latin typeface="Calibri"/>
                <a:cs typeface="Calibri"/>
              </a:rPr>
              <a:t>common</a:t>
            </a:r>
            <a:r>
              <a:rPr sz="2800" spc="30" dirty="0">
                <a:latin typeface="Calibri"/>
                <a:cs typeface="Calibri"/>
              </a:rPr>
              <a:t> </a:t>
            </a:r>
            <a:r>
              <a:rPr sz="2800" spc="-30" dirty="0">
                <a:latin typeface="Calibri"/>
                <a:cs typeface="Calibri"/>
              </a:rPr>
              <a:t>way</a:t>
            </a:r>
            <a:r>
              <a:rPr sz="2800"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programming</a:t>
            </a:r>
            <a:r>
              <a:rPr sz="2800" spc="20"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build</a:t>
            </a:r>
            <a:r>
              <a:rPr sz="2800" spc="35" dirty="0">
                <a:latin typeface="Calibri"/>
                <a:cs typeface="Calibri"/>
              </a:rPr>
              <a:t> </a:t>
            </a:r>
            <a:r>
              <a:rPr sz="2800" spc="-5" dirty="0">
                <a:latin typeface="Calibri"/>
                <a:cs typeface="Calibri"/>
              </a:rPr>
              <a:t>decision</a:t>
            </a:r>
            <a:r>
              <a:rPr sz="2800" spc="15" dirty="0">
                <a:latin typeface="Calibri"/>
                <a:cs typeface="Calibri"/>
              </a:rPr>
              <a:t> </a:t>
            </a:r>
            <a:r>
              <a:rPr sz="2800" spc="-10" dirty="0">
                <a:latin typeface="Calibri"/>
                <a:cs typeface="Calibri"/>
              </a:rPr>
              <a:t>trees</a:t>
            </a:r>
            <a:endParaRPr sz="28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Comprehensive Guide to Decision Tree Learning - AI, ML, Data Science  Articles | Interviews | Insights | AI TIME JOURNAL">
            <a:extLst>
              <a:ext uri="{FF2B5EF4-FFF2-40B4-BE49-F238E27FC236}">
                <a16:creationId xmlns:a16="http://schemas.microsoft.com/office/drawing/2014/main" id="{F4291B48-E808-4B54-BC79-0CEF663389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85800"/>
            <a:ext cx="53340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chine Learning Decision Tree Classification Algorithm - Javatpoint">
            <a:extLst>
              <a:ext uri="{FF2B5EF4-FFF2-40B4-BE49-F238E27FC236}">
                <a16:creationId xmlns:a16="http://schemas.microsoft.com/office/drawing/2014/main" id="{DE9D273E-6360-4D5C-90B0-706FB8822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143000"/>
            <a:ext cx="56388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820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415280" cy="697230"/>
          </a:xfrm>
          <a:prstGeom prst="rect">
            <a:avLst/>
          </a:prstGeom>
        </p:spPr>
        <p:txBody>
          <a:bodyPr vert="horz" wrap="square" lIns="0" tIns="13335" rIns="0" bIns="0" rtlCol="0">
            <a:spAutoFit/>
          </a:bodyPr>
          <a:lstStyle/>
          <a:p>
            <a:pPr marL="12700">
              <a:lnSpc>
                <a:spcPct val="100000"/>
              </a:lnSpc>
              <a:spcBef>
                <a:spcPts val="105"/>
              </a:spcBef>
            </a:pPr>
            <a:r>
              <a:rPr sz="4400" spc="-25" dirty="0"/>
              <a:t>Iterative</a:t>
            </a:r>
            <a:r>
              <a:rPr sz="4400" spc="-35" dirty="0"/>
              <a:t> </a:t>
            </a:r>
            <a:r>
              <a:rPr sz="4400" spc="-15" dirty="0"/>
              <a:t>Dichotomizer</a:t>
            </a:r>
            <a:r>
              <a:rPr sz="4400" spc="-5" dirty="0"/>
              <a:t> </a:t>
            </a:r>
            <a:r>
              <a:rPr sz="4400" dirty="0"/>
              <a:t>3</a:t>
            </a:r>
            <a:endParaRPr sz="4400"/>
          </a:p>
        </p:txBody>
      </p:sp>
      <p:sp>
        <p:nvSpPr>
          <p:cNvPr id="3" name="object 3"/>
          <p:cNvSpPr txBox="1"/>
          <p:nvPr/>
        </p:nvSpPr>
        <p:spPr>
          <a:xfrm>
            <a:off x="916939" y="1793189"/>
            <a:ext cx="10304780" cy="4782720"/>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lang="en-US" sz="2800" i="1" dirty="0"/>
              <a:t>ID3</a:t>
            </a:r>
            <a:r>
              <a:rPr lang="en-US" sz="2800" dirty="0"/>
              <a:t> stands for Iterative </a:t>
            </a:r>
            <a:r>
              <a:rPr lang="en-US" sz="2800" dirty="0" err="1"/>
              <a:t>Dichotomizer</a:t>
            </a:r>
            <a:r>
              <a:rPr lang="en-US" sz="2800" dirty="0"/>
              <a:t> 3 and is named such because the </a:t>
            </a:r>
            <a:r>
              <a:rPr lang="en-US" sz="2800" i="1" dirty="0"/>
              <a:t>algorithm</a:t>
            </a:r>
            <a:r>
              <a:rPr lang="en-US" sz="2800" dirty="0"/>
              <a:t> iteratively (repeatedly) dichotomizes(divides) features into two or more group at each stage</a:t>
            </a:r>
            <a:endParaRPr lang="en-US" sz="2800" spc="-5" dirty="0">
              <a:latin typeface="Calibri"/>
              <a:cs typeface="Calibri"/>
            </a:endParaRPr>
          </a:p>
          <a:p>
            <a:pPr marL="241300" marR="5080" indent="-228600">
              <a:lnSpc>
                <a:spcPts val="3030"/>
              </a:lnSpc>
              <a:spcBef>
                <a:spcPts val="475"/>
              </a:spcBef>
              <a:buFont typeface="Arial MT"/>
              <a:buChar char="•"/>
              <a:tabLst>
                <a:tab pos="241300" algn="l"/>
              </a:tabLst>
            </a:pPr>
            <a:r>
              <a:rPr sz="2800" spc="-5" dirty="0">
                <a:latin typeface="Calibri"/>
                <a:cs typeface="Calibri"/>
              </a:rPr>
              <a:t>ID3</a:t>
            </a:r>
            <a:r>
              <a:rPr sz="2800" spc="20"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algorithm</a:t>
            </a:r>
            <a:r>
              <a:rPr sz="2800" spc="20" dirty="0">
                <a:latin typeface="Calibri"/>
                <a:cs typeface="Calibri"/>
              </a:rPr>
              <a:t> </a:t>
            </a:r>
            <a:r>
              <a:rPr sz="2800" spc="-5" dirty="0">
                <a:latin typeface="Calibri"/>
                <a:cs typeface="Calibri"/>
              </a:rPr>
              <a:t>used</a:t>
            </a:r>
            <a:r>
              <a:rPr sz="2800" spc="25"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decision</a:t>
            </a:r>
            <a:r>
              <a:rPr sz="2800" spc="20" dirty="0">
                <a:latin typeface="Calibri"/>
                <a:cs typeface="Calibri"/>
              </a:rPr>
              <a:t> </a:t>
            </a:r>
            <a:r>
              <a:rPr sz="2800" spc="-15" dirty="0">
                <a:latin typeface="Calibri"/>
                <a:cs typeface="Calibri"/>
              </a:rPr>
              <a:t>tree</a:t>
            </a:r>
            <a:r>
              <a:rPr sz="2800" spc="5" dirty="0">
                <a:latin typeface="Calibri"/>
                <a:cs typeface="Calibri"/>
              </a:rPr>
              <a:t> </a:t>
            </a:r>
            <a:r>
              <a:rPr sz="2800" spc="-5" dirty="0">
                <a:latin typeface="Calibri"/>
                <a:cs typeface="Calibri"/>
              </a:rPr>
              <a:t>learning</a:t>
            </a:r>
            <a:r>
              <a:rPr sz="2800" spc="20" dirty="0">
                <a:latin typeface="Calibri"/>
                <a:cs typeface="Calibri"/>
              </a:rPr>
              <a:t> </a:t>
            </a:r>
            <a:r>
              <a:rPr sz="2800" spc="-15" dirty="0">
                <a:latin typeface="Calibri"/>
                <a:cs typeface="Calibri"/>
              </a:rPr>
              <a:t>to</a:t>
            </a:r>
            <a:r>
              <a:rPr sz="2800" spc="5" dirty="0">
                <a:latin typeface="Calibri"/>
                <a:cs typeface="Calibri"/>
              </a:rPr>
              <a:t> </a:t>
            </a:r>
            <a:r>
              <a:rPr sz="2800" spc="-20" dirty="0">
                <a:latin typeface="Calibri"/>
                <a:cs typeface="Calibri"/>
              </a:rPr>
              <a:t>generate</a:t>
            </a:r>
            <a:r>
              <a:rPr sz="2800" spc="5" dirty="0">
                <a:latin typeface="Calibri"/>
                <a:cs typeface="Calibri"/>
              </a:rPr>
              <a:t> </a:t>
            </a:r>
            <a:r>
              <a:rPr sz="2800" spc="-10" dirty="0">
                <a:latin typeface="Calibri"/>
                <a:cs typeface="Calibri"/>
              </a:rPr>
              <a:t>decision </a:t>
            </a:r>
            <a:r>
              <a:rPr sz="2800" spc="-620" dirty="0">
                <a:latin typeface="Calibri"/>
                <a:cs typeface="Calibri"/>
              </a:rPr>
              <a:t> </a:t>
            </a:r>
            <a:r>
              <a:rPr sz="2800" spc="-10" dirty="0">
                <a:latin typeface="Calibri"/>
                <a:cs typeface="Calibri"/>
              </a:rPr>
              <a:t>trees</a:t>
            </a:r>
            <a:endParaRPr sz="2800" dirty="0">
              <a:latin typeface="Calibri"/>
              <a:cs typeface="Calibri"/>
            </a:endParaRPr>
          </a:p>
          <a:p>
            <a:pPr marL="241300" marR="699770" indent="-228600">
              <a:lnSpc>
                <a:spcPts val="3020"/>
              </a:lnSpc>
              <a:spcBef>
                <a:spcPts val="1005"/>
              </a:spcBef>
              <a:buFont typeface="Arial MT"/>
              <a:buChar char="•"/>
              <a:tabLst>
                <a:tab pos="241300" algn="l"/>
              </a:tabLst>
            </a:pPr>
            <a:r>
              <a:rPr sz="2800" spc="-5" dirty="0">
                <a:latin typeface="Calibri"/>
                <a:cs typeface="Calibri"/>
              </a:rPr>
              <a:t>A</a:t>
            </a:r>
            <a:r>
              <a:rPr sz="2800" spc="25" dirty="0">
                <a:latin typeface="Calibri"/>
                <a:cs typeface="Calibri"/>
              </a:rPr>
              <a:t> </a:t>
            </a:r>
            <a:r>
              <a:rPr sz="2800" spc="-10" dirty="0">
                <a:latin typeface="Calibri"/>
                <a:cs typeface="Calibri"/>
              </a:rPr>
              <a:t>decision</a:t>
            </a:r>
            <a:r>
              <a:rPr sz="2800" spc="35" dirty="0">
                <a:latin typeface="Calibri"/>
                <a:cs typeface="Calibri"/>
              </a:rPr>
              <a:t> </a:t>
            </a:r>
            <a:r>
              <a:rPr sz="2800" spc="-15" dirty="0">
                <a:latin typeface="Calibri"/>
                <a:cs typeface="Calibri"/>
              </a:rPr>
              <a:t>tree</a:t>
            </a:r>
            <a:r>
              <a:rPr sz="2800" spc="10" dirty="0">
                <a:latin typeface="Calibri"/>
                <a:cs typeface="Calibri"/>
              </a:rPr>
              <a:t> </a:t>
            </a:r>
            <a:r>
              <a:rPr sz="2800" spc="-15" dirty="0">
                <a:latin typeface="Calibri"/>
                <a:cs typeface="Calibri"/>
              </a:rPr>
              <a:t>consists</a:t>
            </a:r>
            <a:r>
              <a:rPr sz="2800" spc="50" dirty="0">
                <a:latin typeface="Calibri"/>
                <a:cs typeface="Calibri"/>
              </a:rPr>
              <a:t> </a:t>
            </a:r>
            <a:r>
              <a:rPr sz="2800" spc="-5" dirty="0">
                <a:latin typeface="Calibri"/>
                <a:cs typeface="Calibri"/>
              </a:rPr>
              <a:t>of</a:t>
            </a:r>
            <a:r>
              <a:rPr sz="2800" spc="10" dirty="0">
                <a:latin typeface="Calibri"/>
                <a:cs typeface="Calibri"/>
              </a:rPr>
              <a:t> </a:t>
            </a:r>
            <a:r>
              <a:rPr sz="2800" spc="-10" dirty="0">
                <a:latin typeface="Calibri"/>
                <a:cs typeface="Calibri"/>
              </a:rPr>
              <a:t>decision</a:t>
            </a:r>
            <a:r>
              <a:rPr sz="2800" spc="35" dirty="0">
                <a:latin typeface="Calibri"/>
                <a:cs typeface="Calibri"/>
              </a:rPr>
              <a:t> </a:t>
            </a:r>
            <a:r>
              <a:rPr sz="2800" spc="-10" dirty="0">
                <a:latin typeface="Calibri"/>
                <a:cs typeface="Calibri"/>
              </a:rPr>
              <a:t>nodes</a:t>
            </a:r>
            <a:r>
              <a:rPr sz="2800" spc="50" dirty="0">
                <a:latin typeface="Calibri"/>
                <a:cs typeface="Calibri"/>
              </a:rPr>
              <a:t> </a:t>
            </a:r>
            <a:r>
              <a:rPr sz="2800" spc="-5" dirty="0">
                <a:latin typeface="Calibri"/>
                <a:cs typeface="Calibri"/>
              </a:rPr>
              <a:t>and</a:t>
            </a:r>
            <a:r>
              <a:rPr sz="2800" spc="20" dirty="0">
                <a:latin typeface="Calibri"/>
                <a:cs typeface="Calibri"/>
              </a:rPr>
              <a:t> </a:t>
            </a:r>
            <a:r>
              <a:rPr sz="2800" spc="-5" dirty="0">
                <a:latin typeface="Calibri"/>
                <a:cs typeface="Calibri"/>
              </a:rPr>
              <a:t>leaf</a:t>
            </a:r>
            <a:r>
              <a:rPr sz="2800" dirty="0">
                <a:latin typeface="Calibri"/>
                <a:cs typeface="Calibri"/>
              </a:rPr>
              <a:t> </a:t>
            </a:r>
            <a:r>
              <a:rPr sz="2800" spc="-10" dirty="0">
                <a:latin typeface="Calibri"/>
                <a:cs typeface="Calibri"/>
              </a:rPr>
              <a:t>nodes</a:t>
            </a:r>
            <a:r>
              <a:rPr sz="2800" spc="35" dirty="0">
                <a:latin typeface="Calibri"/>
                <a:cs typeface="Calibri"/>
              </a:rPr>
              <a:t> </a:t>
            </a:r>
            <a:r>
              <a:rPr sz="2800" spc="-5" dirty="0">
                <a:latin typeface="Calibri"/>
                <a:cs typeface="Calibri"/>
              </a:rPr>
              <a:t>and</a:t>
            </a:r>
            <a:r>
              <a:rPr sz="2800" spc="25" dirty="0">
                <a:latin typeface="Calibri"/>
                <a:cs typeface="Calibri"/>
              </a:rPr>
              <a:t> </a:t>
            </a:r>
            <a:r>
              <a:rPr sz="2800" spc="-15" dirty="0">
                <a:latin typeface="Calibri"/>
                <a:cs typeface="Calibri"/>
              </a:rPr>
              <a:t>are </a:t>
            </a:r>
            <a:r>
              <a:rPr sz="2800" spc="-620" dirty="0">
                <a:latin typeface="Calibri"/>
                <a:cs typeface="Calibri"/>
              </a:rPr>
              <a:t> </a:t>
            </a:r>
            <a:r>
              <a:rPr sz="2800" spc="-10" dirty="0">
                <a:latin typeface="Calibri"/>
                <a:cs typeface="Calibri"/>
              </a:rPr>
              <a:t>connected</a:t>
            </a:r>
            <a:r>
              <a:rPr sz="2800" spc="20" dirty="0">
                <a:latin typeface="Calibri"/>
                <a:cs typeface="Calibri"/>
              </a:rPr>
              <a:t> </a:t>
            </a:r>
            <a:r>
              <a:rPr sz="2800" spc="-15" dirty="0">
                <a:latin typeface="Calibri"/>
                <a:cs typeface="Calibri"/>
              </a:rPr>
              <a:t>by</a:t>
            </a:r>
            <a:r>
              <a:rPr sz="2800" spc="10" dirty="0">
                <a:latin typeface="Calibri"/>
                <a:cs typeface="Calibri"/>
              </a:rPr>
              <a:t> </a:t>
            </a:r>
            <a:r>
              <a:rPr sz="2800" spc="-10" dirty="0">
                <a:latin typeface="Calibri"/>
                <a:cs typeface="Calibri"/>
              </a:rPr>
              <a:t>arcs</a:t>
            </a:r>
            <a:endParaRPr sz="2800" dirty="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ID3</a:t>
            </a:r>
            <a:r>
              <a:rPr sz="2800" spc="20" dirty="0">
                <a:latin typeface="Calibri"/>
                <a:cs typeface="Calibri"/>
              </a:rPr>
              <a:t> </a:t>
            </a:r>
            <a:r>
              <a:rPr sz="2800" spc="-10" dirty="0">
                <a:latin typeface="Calibri"/>
                <a:cs typeface="Calibri"/>
              </a:rPr>
              <a:t>builds</a:t>
            </a:r>
            <a:r>
              <a:rPr sz="2800" spc="5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tree</a:t>
            </a:r>
            <a:r>
              <a:rPr sz="2800" dirty="0">
                <a:latin typeface="Calibri"/>
                <a:cs typeface="Calibri"/>
              </a:rPr>
              <a:t> </a:t>
            </a:r>
            <a:r>
              <a:rPr sz="2800" spc="-20" dirty="0">
                <a:latin typeface="Calibri"/>
                <a:cs typeface="Calibri"/>
              </a:rPr>
              <a:t>from</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top</a:t>
            </a:r>
            <a:r>
              <a:rPr sz="2800" spc="20" dirty="0">
                <a:latin typeface="Calibri"/>
                <a:cs typeface="Calibri"/>
              </a:rPr>
              <a:t> </a:t>
            </a:r>
            <a:r>
              <a:rPr sz="2800" spc="-10" dirty="0">
                <a:latin typeface="Calibri"/>
                <a:cs typeface="Calibri"/>
              </a:rPr>
              <a:t>down</a:t>
            </a:r>
            <a:r>
              <a:rPr lang="en-US" sz="2800" spc="-10" dirty="0">
                <a:latin typeface="Calibri"/>
                <a:cs typeface="Calibri"/>
              </a:rPr>
              <a:t> greedy approach</a:t>
            </a:r>
            <a:r>
              <a:rPr sz="2800" spc="20" dirty="0">
                <a:latin typeface="Calibri"/>
                <a:cs typeface="Calibri"/>
              </a:rPr>
              <a:t> </a:t>
            </a:r>
            <a:r>
              <a:rPr sz="2800" spc="-5" dirty="0">
                <a:latin typeface="Calibri"/>
                <a:cs typeface="Calibri"/>
              </a:rPr>
              <a:t>with</a:t>
            </a:r>
            <a:r>
              <a:rPr sz="2800" spc="20" dirty="0">
                <a:latin typeface="Calibri"/>
                <a:cs typeface="Calibri"/>
              </a:rPr>
              <a:t> </a:t>
            </a:r>
            <a:r>
              <a:rPr sz="2800" spc="-5" dirty="0">
                <a:latin typeface="Calibri"/>
                <a:cs typeface="Calibri"/>
              </a:rPr>
              <a:t>no</a:t>
            </a:r>
            <a:r>
              <a:rPr sz="2800" spc="20" dirty="0">
                <a:latin typeface="Calibri"/>
                <a:cs typeface="Calibri"/>
              </a:rPr>
              <a:t> </a:t>
            </a:r>
            <a:r>
              <a:rPr sz="2800" spc="-10" dirty="0">
                <a:latin typeface="Calibri"/>
                <a:cs typeface="Calibri"/>
              </a:rPr>
              <a:t>backtracking</a:t>
            </a:r>
            <a:endParaRPr sz="2800" dirty="0">
              <a:latin typeface="Calibri"/>
              <a:cs typeface="Calibri"/>
            </a:endParaRPr>
          </a:p>
          <a:p>
            <a:pPr marL="241300" marR="1214120" indent="-228600">
              <a:lnSpc>
                <a:spcPts val="3030"/>
              </a:lnSpc>
              <a:spcBef>
                <a:spcPts val="1040"/>
              </a:spcBef>
              <a:buFont typeface="Arial MT"/>
              <a:buChar char="•"/>
              <a:tabLst>
                <a:tab pos="241300" algn="l"/>
              </a:tabLst>
            </a:pPr>
            <a:r>
              <a:rPr sz="2800" spc="-15" dirty="0">
                <a:latin typeface="Calibri"/>
                <a:cs typeface="Calibri"/>
              </a:rPr>
              <a:t>Information</a:t>
            </a:r>
            <a:r>
              <a:rPr sz="2800" spc="10" dirty="0">
                <a:latin typeface="Calibri"/>
                <a:cs typeface="Calibri"/>
              </a:rPr>
              <a:t> </a:t>
            </a:r>
            <a:r>
              <a:rPr sz="2800" spc="-15" dirty="0">
                <a:latin typeface="Calibri"/>
                <a:cs typeface="Calibri"/>
              </a:rPr>
              <a:t>gain</a:t>
            </a:r>
            <a:r>
              <a:rPr sz="2800"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used</a:t>
            </a:r>
            <a:r>
              <a:rPr sz="2800" spc="20" dirty="0">
                <a:latin typeface="Calibri"/>
                <a:cs typeface="Calibri"/>
              </a:rPr>
              <a:t> </a:t>
            </a:r>
            <a:r>
              <a:rPr sz="2800" spc="-15" dirty="0">
                <a:latin typeface="Calibri"/>
                <a:cs typeface="Calibri"/>
              </a:rPr>
              <a:t>to</a:t>
            </a:r>
            <a:r>
              <a:rPr sz="2800" dirty="0">
                <a:latin typeface="Calibri"/>
                <a:cs typeface="Calibri"/>
              </a:rPr>
              <a:t> </a:t>
            </a:r>
            <a:r>
              <a:rPr sz="2800" spc="-5" dirty="0">
                <a:latin typeface="Calibri"/>
                <a:cs typeface="Calibri"/>
              </a:rPr>
              <a:t>select</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most</a:t>
            </a:r>
            <a:r>
              <a:rPr sz="2800" spc="20" dirty="0">
                <a:latin typeface="Calibri"/>
                <a:cs typeface="Calibri"/>
              </a:rPr>
              <a:t> </a:t>
            </a:r>
            <a:r>
              <a:rPr sz="2800" spc="-10" dirty="0">
                <a:latin typeface="Calibri"/>
                <a:cs typeface="Calibri"/>
              </a:rPr>
              <a:t>useful</a:t>
            </a:r>
            <a:r>
              <a:rPr sz="2800" spc="30" dirty="0">
                <a:latin typeface="Calibri"/>
                <a:cs typeface="Calibri"/>
              </a:rPr>
              <a:t> </a:t>
            </a:r>
            <a:r>
              <a:rPr sz="2800" spc="-15" dirty="0">
                <a:latin typeface="Calibri"/>
                <a:cs typeface="Calibri"/>
              </a:rPr>
              <a:t>attribute</a:t>
            </a:r>
            <a:r>
              <a:rPr sz="2800" dirty="0">
                <a:latin typeface="Calibri"/>
                <a:cs typeface="Calibri"/>
              </a:rPr>
              <a:t> of </a:t>
            </a:r>
            <a:r>
              <a:rPr sz="2800" spc="-615" dirty="0">
                <a:latin typeface="Calibri"/>
                <a:cs typeface="Calibri"/>
              </a:rPr>
              <a:t> </a:t>
            </a:r>
            <a:r>
              <a:rPr sz="2800" spc="-10" dirty="0">
                <a:latin typeface="Calibri"/>
                <a:cs typeface="Calibri"/>
              </a:rPr>
              <a:t>classification</a:t>
            </a: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E6736-B01F-4C5C-833E-272065FE1AC9}"/>
              </a:ext>
            </a:extLst>
          </p:cNvPr>
          <p:cNvPicPr>
            <a:picLocks noChangeAspect="1"/>
          </p:cNvPicPr>
          <p:nvPr/>
        </p:nvPicPr>
        <p:blipFill>
          <a:blip r:embed="rId2"/>
          <a:stretch>
            <a:fillRect/>
          </a:stretch>
        </p:blipFill>
        <p:spPr>
          <a:xfrm>
            <a:off x="1371600" y="152400"/>
            <a:ext cx="7086600" cy="6477000"/>
          </a:xfrm>
          <a:prstGeom prst="rect">
            <a:avLst/>
          </a:prstGeom>
        </p:spPr>
      </p:pic>
    </p:spTree>
    <p:extLst>
      <p:ext uri="{BB962C8B-B14F-4D97-AF65-F5344CB8AC3E}">
        <p14:creationId xmlns:p14="http://schemas.microsoft.com/office/powerpoint/2010/main" val="3023839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85495" cy="697230"/>
          </a:xfrm>
          <a:prstGeom prst="rect">
            <a:avLst/>
          </a:prstGeom>
        </p:spPr>
        <p:txBody>
          <a:bodyPr vert="horz" wrap="square" lIns="0" tIns="13335" rIns="0" bIns="0" rtlCol="0">
            <a:spAutoFit/>
          </a:bodyPr>
          <a:lstStyle/>
          <a:p>
            <a:pPr marL="12700">
              <a:lnSpc>
                <a:spcPct val="100000"/>
              </a:lnSpc>
              <a:spcBef>
                <a:spcPts val="105"/>
              </a:spcBef>
            </a:pPr>
            <a:r>
              <a:rPr sz="4400" spc="-5" dirty="0"/>
              <a:t>ID3</a:t>
            </a:r>
            <a:endParaRPr sz="4400"/>
          </a:p>
        </p:txBody>
      </p:sp>
      <p:sp>
        <p:nvSpPr>
          <p:cNvPr id="3" name="object 3"/>
          <p:cNvSpPr txBox="1"/>
          <p:nvPr/>
        </p:nvSpPr>
        <p:spPr>
          <a:xfrm>
            <a:off x="916939" y="1793189"/>
            <a:ext cx="8135620" cy="289182"/>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pc="-15" dirty="0">
                <a:latin typeface="Calibri"/>
                <a:cs typeface="Calibri"/>
              </a:rPr>
              <a:t>Information</a:t>
            </a:r>
            <a:r>
              <a:rPr spc="10" dirty="0">
                <a:latin typeface="Calibri"/>
                <a:cs typeface="Calibri"/>
              </a:rPr>
              <a:t> </a:t>
            </a:r>
            <a:r>
              <a:rPr spc="-15" dirty="0">
                <a:latin typeface="Calibri"/>
                <a:cs typeface="Calibri"/>
              </a:rPr>
              <a:t>gain</a:t>
            </a:r>
            <a:r>
              <a:rPr dirty="0">
                <a:latin typeface="Calibri"/>
                <a:cs typeface="Calibri"/>
              </a:rPr>
              <a:t> </a:t>
            </a:r>
            <a:r>
              <a:rPr spc="-5" dirty="0">
                <a:latin typeface="Calibri"/>
                <a:cs typeface="Calibri"/>
              </a:rPr>
              <a:t>is</a:t>
            </a:r>
            <a:r>
              <a:rPr spc="20" dirty="0">
                <a:latin typeface="Calibri"/>
                <a:cs typeface="Calibri"/>
              </a:rPr>
              <a:t> </a:t>
            </a:r>
            <a:r>
              <a:rPr spc="-10" dirty="0">
                <a:latin typeface="Calibri"/>
                <a:cs typeface="Calibri"/>
              </a:rPr>
              <a:t>calculated</a:t>
            </a:r>
            <a:r>
              <a:rPr spc="5" dirty="0">
                <a:latin typeface="Calibri"/>
                <a:cs typeface="Calibri"/>
              </a:rPr>
              <a:t> </a:t>
            </a:r>
            <a:r>
              <a:rPr spc="-20" dirty="0">
                <a:latin typeface="Calibri"/>
                <a:cs typeface="Calibri"/>
              </a:rPr>
              <a:t>from</a:t>
            </a:r>
            <a:r>
              <a:rPr spc="15" dirty="0">
                <a:latin typeface="Calibri"/>
                <a:cs typeface="Calibri"/>
              </a:rPr>
              <a:t> </a:t>
            </a:r>
            <a:r>
              <a:rPr spc="-15" dirty="0">
                <a:latin typeface="Calibri"/>
                <a:cs typeface="Calibri"/>
              </a:rPr>
              <a:t>entropy</a:t>
            </a:r>
            <a:r>
              <a:rPr spc="25" dirty="0">
                <a:latin typeface="Calibri"/>
                <a:cs typeface="Calibri"/>
              </a:rPr>
              <a:t> </a:t>
            </a:r>
            <a:r>
              <a:rPr spc="-5" dirty="0">
                <a:latin typeface="Calibri"/>
                <a:cs typeface="Calibri"/>
              </a:rPr>
              <a:t>calculation</a:t>
            </a:r>
            <a:endParaRPr dirty="0">
              <a:latin typeface="Calibri"/>
              <a:cs typeface="Calibri"/>
            </a:endParaRPr>
          </a:p>
        </p:txBody>
      </p:sp>
      <p:sp>
        <p:nvSpPr>
          <p:cNvPr id="23" name="object 23"/>
          <p:cNvSpPr txBox="1"/>
          <p:nvPr/>
        </p:nvSpPr>
        <p:spPr>
          <a:xfrm>
            <a:off x="1309686" y="3456285"/>
            <a:ext cx="8566150" cy="2966838"/>
          </a:xfrm>
          <a:prstGeom prst="rect">
            <a:avLst/>
          </a:prstGeom>
        </p:spPr>
        <p:txBody>
          <a:bodyPr vert="horz" wrap="square" lIns="0" tIns="67945" rIns="0" bIns="0" rtlCol="0">
            <a:spAutoFit/>
          </a:bodyPr>
          <a:lstStyle/>
          <a:p>
            <a:pPr marL="266700" marR="30480" indent="-228600">
              <a:lnSpc>
                <a:spcPts val="3460"/>
              </a:lnSpc>
              <a:spcBef>
                <a:spcPts val="535"/>
              </a:spcBef>
              <a:buFont typeface="Arial MT"/>
              <a:buChar char="•"/>
              <a:tabLst>
                <a:tab pos="266700" algn="l"/>
              </a:tabLst>
            </a:pPr>
            <a:r>
              <a:rPr sz="2000" spc="-5" dirty="0">
                <a:latin typeface="Calibri"/>
                <a:cs typeface="Calibri"/>
              </a:rPr>
              <a:t>Where,</a:t>
            </a:r>
            <a:r>
              <a:rPr sz="2000" spc="-30" dirty="0">
                <a:latin typeface="Calibri"/>
                <a:cs typeface="Calibri"/>
              </a:rPr>
              <a:t> </a:t>
            </a:r>
            <a:r>
              <a:rPr sz="2000" dirty="0">
                <a:latin typeface="Calibri"/>
                <a:cs typeface="Calibri"/>
              </a:rPr>
              <a:t>N</a:t>
            </a:r>
            <a:r>
              <a:rPr sz="2000" baseline="-21164" dirty="0">
                <a:latin typeface="Calibri"/>
                <a:cs typeface="Calibri"/>
              </a:rPr>
              <a:t>p</a:t>
            </a:r>
            <a:r>
              <a:rPr sz="2000" spc="375" baseline="-21164" dirty="0">
                <a:latin typeface="Calibri"/>
                <a:cs typeface="Calibri"/>
              </a:rPr>
              <a:t> </a:t>
            </a:r>
            <a:r>
              <a:rPr sz="2000" dirty="0">
                <a:latin typeface="Calibri"/>
                <a:cs typeface="Calibri"/>
              </a:rPr>
              <a:t>is</a:t>
            </a:r>
            <a:r>
              <a:rPr sz="2000" spc="-15" dirty="0">
                <a:latin typeface="Calibri"/>
                <a:cs typeface="Calibri"/>
              </a:rPr>
              <a:t> </a:t>
            </a:r>
            <a:r>
              <a:rPr sz="2000" dirty="0">
                <a:latin typeface="Calibri"/>
                <a:cs typeface="Calibri"/>
              </a:rPr>
              <a:t>of</a:t>
            </a:r>
            <a:r>
              <a:rPr sz="2000" spc="-5" dirty="0">
                <a:latin typeface="Calibri"/>
                <a:cs typeface="Calibri"/>
              </a:rPr>
              <a:t> </a:t>
            </a:r>
            <a:r>
              <a:rPr sz="2000" spc="-10" dirty="0">
                <a:latin typeface="Calibri"/>
                <a:cs typeface="Calibri"/>
              </a:rPr>
              <a:t>positive</a:t>
            </a:r>
            <a:r>
              <a:rPr sz="2000" spc="15" dirty="0">
                <a:latin typeface="Calibri"/>
                <a:cs typeface="Calibri"/>
              </a:rPr>
              <a:t> </a:t>
            </a:r>
            <a:r>
              <a:rPr sz="2000" spc="-10" dirty="0">
                <a:latin typeface="Calibri"/>
                <a:cs typeface="Calibri"/>
              </a:rPr>
              <a:t>instances</a:t>
            </a:r>
            <a:r>
              <a:rPr sz="2000" spc="5" dirty="0">
                <a:latin typeface="Calibri"/>
                <a:cs typeface="Calibri"/>
              </a:rPr>
              <a:t> </a:t>
            </a:r>
            <a:r>
              <a:rPr sz="2000" dirty="0">
                <a:latin typeface="Calibri"/>
                <a:cs typeface="Calibri"/>
              </a:rPr>
              <a:t>and</a:t>
            </a:r>
            <a:r>
              <a:rPr sz="2000" spc="20" dirty="0">
                <a:latin typeface="Calibri"/>
                <a:cs typeface="Calibri"/>
              </a:rPr>
              <a:t> </a:t>
            </a:r>
            <a:r>
              <a:rPr sz="2000" spc="5" dirty="0">
                <a:latin typeface="Calibri"/>
                <a:cs typeface="Calibri"/>
              </a:rPr>
              <a:t>N</a:t>
            </a:r>
            <a:r>
              <a:rPr sz="2000" spc="7" baseline="-21164" dirty="0">
                <a:latin typeface="Calibri"/>
                <a:cs typeface="Calibri"/>
              </a:rPr>
              <a:t>n</a:t>
            </a:r>
            <a:r>
              <a:rPr sz="2000" spc="367" baseline="-21164" dirty="0">
                <a:latin typeface="Calibri"/>
                <a:cs typeface="Calibri"/>
              </a:rPr>
              <a:t> </a:t>
            </a:r>
            <a:r>
              <a:rPr sz="2000" dirty="0">
                <a:latin typeface="Calibri"/>
                <a:cs typeface="Calibri"/>
              </a:rPr>
              <a:t>is</a:t>
            </a:r>
            <a:r>
              <a:rPr sz="2000" spc="-10" dirty="0">
                <a:latin typeface="Calibri"/>
                <a:cs typeface="Calibri"/>
              </a:rPr>
              <a:t> </a:t>
            </a:r>
            <a:r>
              <a:rPr sz="2000" spc="-5" dirty="0">
                <a:latin typeface="Calibri"/>
                <a:cs typeface="Calibri"/>
              </a:rPr>
              <a:t>that</a:t>
            </a:r>
            <a:r>
              <a:rPr sz="2000" spc="5" dirty="0">
                <a:latin typeface="Calibri"/>
                <a:cs typeface="Calibri"/>
              </a:rPr>
              <a:t> </a:t>
            </a:r>
            <a:r>
              <a:rPr sz="2000" spc="-5" dirty="0">
                <a:latin typeface="Calibri"/>
                <a:cs typeface="Calibri"/>
              </a:rPr>
              <a:t>of </a:t>
            </a:r>
            <a:r>
              <a:rPr sz="2000" spc="-705" dirty="0">
                <a:latin typeface="Calibri"/>
                <a:cs typeface="Calibri"/>
              </a:rPr>
              <a:t> </a:t>
            </a:r>
            <a:r>
              <a:rPr sz="2000" spc="-20" dirty="0">
                <a:latin typeface="Calibri"/>
                <a:cs typeface="Calibri"/>
              </a:rPr>
              <a:t>negative</a:t>
            </a:r>
            <a:r>
              <a:rPr sz="2000" spc="-5" dirty="0">
                <a:latin typeface="Calibri"/>
                <a:cs typeface="Calibri"/>
              </a:rPr>
              <a:t> </a:t>
            </a:r>
            <a:r>
              <a:rPr sz="2000" spc="-10" dirty="0">
                <a:latin typeface="Calibri"/>
                <a:cs typeface="Calibri"/>
              </a:rPr>
              <a:t>instances</a:t>
            </a:r>
            <a:endParaRPr lang="en-US" sz="2000" spc="-10" dirty="0">
              <a:latin typeface="Calibri"/>
              <a:cs typeface="Calibri"/>
            </a:endParaRPr>
          </a:p>
          <a:p>
            <a:r>
              <a:rPr lang="en-US" sz="2000" b="1" dirty="0"/>
              <a:t>n</a:t>
            </a:r>
            <a:r>
              <a:rPr lang="en-US" sz="2000" dirty="0"/>
              <a:t> is the total number of classes in the target column (in our case n = 2 </a:t>
            </a:r>
            <a:r>
              <a:rPr lang="en-US" sz="2000" dirty="0" err="1"/>
              <a:t>i.e</a:t>
            </a:r>
            <a:r>
              <a:rPr lang="en-US" sz="2000" dirty="0"/>
              <a:t> YES and NO) </a:t>
            </a:r>
            <a:br>
              <a:rPr lang="en-US" sz="2000" dirty="0"/>
            </a:br>
            <a:r>
              <a:rPr lang="en-US" sz="2000" b="1" dirty="0"/>
              <a:t>pᵢ</a:t>
            </a:r>
            <a:r>
              <a:rPr lang="en-US" sz="2000" dirty="0"/>
              <a:t> is the </a:t>
            </a:r>
            <a:r>
              <a:rPr lang="en-US" sz="2000" b="1" dirty="0"/>
              <a:t>probability of class ‘</a:t>
            </a:r>
            <a:r>
              <a:rPr lang="en-US" sz="2000" b="1" dirty="0" err="1"/>
              <a:t>i</a:t>
            </a:r>
            <a:r>
              <a:rPr lang="en-US" sz="2000" b="1" dirty="0"/>
              <a:t>’ </a:t>
            </a:r>
            <a:r>
              <a:rPr lang="en-US" sz="2000" dirty="0"/>
              <a:t>or the ratio of “</a:t>
            </a:r>
            <a:r>
              <a:rPr lang="en-US" sz="2000" i="1" dirty="0"/>
              <a:t>number of rows with class </a:t>
            </a:r>
            <a:r>
              <a:rPr lang="en-US" sz="2000" i="1" dirty="0" err="1"/>
              <a:t>i</a:t>
            </a:r>
            <a:r>
              <a:rPr lang="en-US" sz="2000" i="1" dirty="0"/>
              <a:t> in the target column”</a:t>
            </a:r>
            <a:r>
              <a:rPr lang="en-US" sz="2000" dirty="0"/>
              <a:t> to the “</a:t>
            </a:r>
            <a:r>
              <a:rPr lang="en-US" sz="2000" i="1" dirty="0"/>
              <a:t>total number of rows” </a:t>
            </a:r>
            <a:r>
              <a:rPr lang="en-US" sz="2000" dirty="0"/>
              <a:t>in the dataset.</a:t>
            </a:r>
          </a:p>
          <a:p>
            <a:r>
              <a:rPr lang="en-US" sz="2000" dirty="0"/>
              <a:t>Information Gain for a feature column </a:t>
            </a:r>
            <a:r>
              <a:rPr lang="en-US" sz="2000" b="1" dirty="0"/>
              <a:t>A </a:t>
            </a:r>
            <a:r>
              <a:rPr lang="en-US" sz="2000" dirty="0"/>
              <a:t>is calculated as:</a:t>
            </a:r>
          </a:p>
          <a:p>
            <a:pPr marL="266700" marR="30480" indent="-228600">
              <a:lnSpc>
                <a:spcPts val="3460"/>
              </a:lnSpc>
              <a:spcBef>
                <a:spcPts val="535"/>
              </a:spcBef>
              <a:buFont typeface="Arial MT"/>
              <a:buChar char="•"/>
              <a:tabLst>
                <a:tab pos="266700" algn="l"/>
              </a:tabLst>
            </a:pPr>
            <a:r>
              <a:rPr lang="en-US" dirty="0"/>
              <a:t>where </a:t>
            </a:r>
            <a:r>
              <a:rPr lang="en-US" b="1" dirty="0"/>
              <a:t>Sᵥ </a:t>
            </a:r>
            <a:r>
              <a:rPr lang="en-US" dirty="0"/>
              <a:t>is the set of rows in </a:t>
            </a:r>
            <a:r>
              <a:rPr lang="en-US" b="1" dirty="0"/>
              <a:t>S</a:t>
            </a:r>
            <a:r>
              <a:rPr lang="en-US" dirty="0"/>
              <a:t> for which the feature column </a:t>
            </a:r>
            <a:r>
              <a:rPr lang="en-US" b="1" dirty="0"/>
              <a:t>A</a:t>
            </a:r>
            <a:r>
              <a:rPr lang="en-US" dirty="0"/>
              <a:t> has value </a:t>
            </a:r>
            <a:r>
              <a:rPr lang="en-US" b="1" dirty="0"/>
              <a:t>v</a:t>
            </a:r>
            <a:r>
              <a:rPr lang="en-US" dirty="0"/>
              <a:t>, |</a:t>
            </a:r>
            <a:r>
              <a:rPr lang="en-US" b="1" dirty="0"/>
              <a:t>Sᵥ</a:t>
            </a:r>
            <a:r>
              <a:rPr lang="en-US" dirty="0"/>
              <a:t>| is the number of rows in </a:t>
            </a:r>
            <a:r>
              <a:rPr lang="en-US" b="1" dirty="0"/>
              <a:t>Sᵥ </a:t>
            </a:r>
            <a:r>
              <a:rPr lang="en-US" dirty="0"/>
              <a:t>and likewise </a:t>
            </a:r>
            <a:r>
              <a:rPr lang="en-US" b="1" dirty="0"/>
              <a:t>|S|</a:t>
            </a:r>
            <a:r>
              <a:rPr lang="en-US" dirty="0"/>
              <a:t> is the number of rows in </a:t>
            </a:r>
            <a:r>
              <a:rPr lang="en-US" b="1" dirty="0"/>
              <a:t>S.</a:t>
            </a:r>
            <a:endParaRPr dirty="0">
              <a:latin typeface="Calibri"/>
              <a:cs typeface="Calibri"/>
            </a:endParaRPr>
          </a:p>
        </p:txBody>
      </p:sp>
      <p:sp>
        <p:nvSpPr>
          <p:cNvPr id="25" name="Rectangle 2">
            <a:extLst>
              <a:ext uri="{FF2B5EF4-FFF2-40B4-BE49-F238E27FC236}">
                <a16:creationId xmlns:a16="http://schemas.microsoft.com/office/drawing/2014/main" id="{51B1C7E5-D417-4A53-98D8-419067A32DE0}"/>
              </a:ext>
            </a:extLst>
          </p:cNvPr>
          <p:cNvSpPr>
            <a:spLocks noChangeArrowheads="1"/>
          </p:cNvSpPr>
          <p:nvPr/>
        </p:nvSpPr>
        <p:spPr bwMode="auto">
          <a:xfrm>
            <a:off x="1226922" y="2114504"/>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Entropy(S) = - ∑ pᵢ * log</a:t>
            </a:r>
            <a:r>
              <a:rPr kumimoji="0" lang="en-US" altLang="en-US" sz="1400" b="0" i="0" u="none" strike="noStrike" cap="none" normalizeH="0" baseline="0" dirty="0">
                <a:ln>
                  <a:noFill/>
                </a:ln>
                <a:solidFill>
                  <a:schemeClr val="tx1"/>
                </a:solidFill>
                <a:effectLst/>
                <a:latin typeface="Arial Unicode MS"/>
              </a:rPr>
              <a:t>₂</a:t>
            </a:r>
            <a:r>
              <a:rPr kumimoji="0" lang="en-US" altLang="en-US" sz="1400" b="1" i="0" u="none" strike="noStrike" cap="none" normalizeH="0" baseline="0" dirty="0">
                <a:ln>
                  <a:noFill/>
                </a:ln>
                <a:solidFill>
                  <a:schemeClr val="tx1"/>
                </a:solidFill>
                <a:effectLst/>
                <a:latin typeface="Arial Unicode MS"/>
              </a:rPr>
              <a:t>(pᵢ) ; </a:t>
            </a:r>
            <a:r>
              <a:rPr kumimoji="0" lang="en-US" altLang="en-US" sz="1400" b="1" i="0" u="none" strike="noStrike" cap="none" normalizeH="0" baseline="0" dirty="0" err="1">
                <a:ln>
                  <a:noFill/>
                </a:ln>
                <a:solidFill>
                  <a:schemeClr val="tx1"/>
                </a:solidFill>
                <a:effectLst/>
                <a:latin typeface="Arial Unicode MS"/>
              </a:rPr>
              <a:t>i</a:t>
            </a:r>
            <a:r>
              <a:rPr kumimoji="0" lang="en-US" altLang="en-US" sz="1400" b="1" i="0" u="none" strike="noStrike" cap="none" normalizeH="0" baseline="0" dirty="0">
                <a:ln>
                  <a:noFill/>
                </a:ln>
                <a:solidFill>
                  <a:schemeClr val="tx1"/>
                </a:solidFill>
                <a:effectLst/>
                <a:latin typeface="Arial Unicode MS"/>
              </a:rPr>
              <a:t> = 1 to 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6" name="Rectangle 3">
            <a:extLst>
              <a:ext uri="{FF2B5EF4-FFF2-40B4-BE49-F238E27FC236}">
                <a16:creationId xmlns:a16="http://schemas.microsoft.com/office/drawing/2014/main" id="{D0B157E2-DFFB-4A53-B7E8-E71613D3B2F8}"/>
              </a:ext>
            </a:extLst>
          </p:cNvPr>
          <p:cNvSpPr>
            <a:spLocks noChangeArrowheads="1"/>
          </p:cNvSpPr>
          <p:nvPr/>
        </p:nvSpPr>
        <p:spPr bwMode="auto">
          <a:xfrm>
            <a:off x="1222911" y="2377917"/>
            <a:ext cx="6172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Information Gain for a feature column </a:t>
            </a:r>
            <a:r>
              <a:rPr kumimoji="0" lang="en-US" altLang="en-US" sz="1600" b="1" i="0" u="none" strike="noStrike" cap="none" normalizeH="0" baseline="0" dirty="0">
                <a:ln>
                  <a:noFill/>
                </a:ln>
                <a:solidFill>
                  <a:schemeClr val="tx1"/>
                </a:solidFill>
                <a:effectLst/>
                <a:latin typeface="Arial" panose="020B0604020202020204" pitchFamily="34" charset="0"/>
              </a:rPr>
              <a:t>A </a:t>
            </a:r>
            <a:r>
              <a:rPr kumimoji="0" lang="en-US" altLang="en-US" sz="1600" b="0" i="0" u="none" strike="noStrike" cap="none" normalizeH="0" baseline="0" dirty="0">
                <a:ln>
                  <a:noFill/>
                </a:ln>
                <a:solidFill>
                  <a:schemeClr val="tx1"/>
                </a:solidFill>
                <a:effectLst/>
                <a:latin typeface="Arial" panose="020B0604020202020204" pitchFamily="34" charset="0"/>
              </a:rPr>
              <a:t>is calculated 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Unicode MS"/>
              </a:rPr>
              <a:t>IG(S, A) = Entropy(S) - ∑((|Sᵥ| / |S|) * Entropy(Sᵥ))</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DEC66B-56BC-4897-ABB9-D3EC8D72439B}"/>
              </a:ext>
            </a:extLst>
          </p:cNvPr>
          <p:cNvSpPr txBox="1"/>
          <p:nvPr/>
        </p:nvSpPr>
        <p:spPr>
          <a:xfrm>
            <a:off x="685800" y="566678"/>
            <a:ext cx="10744200" cy="5632311"/>
          </a:xfrm>
          <a:prstGeom prst="rect">
            <a:avLst/>
          </a:prstGeom>
          <a:noFill/>
        </p:spPr>
        <p:txBody>
          <a:bodyPr wrap="square">
            <a:spAutoFit/>
          </a:bodyPr>
          <a:lstStyle/>
          <a:p>
            <a:r>
              <a:rPr lang="en-US" dirty="0"/>
              <a:t>As stated in the previous section the first step is to find the best feature i.e. the one that has the maximum Information Gain(IG). We’ll calculate the IG for each of the features now, but for that, we first need to calculate the entropy of S</a:t>
            </a:r>
          </a:p>
          <a:p>
            <a:endParaRPr lang="en-US" dirty="0"/>
          </a:p>
          <a:p>
            <a:r>
              <a:rPr lang="en-US" dirty="0"/>
              <a:t>From the total of 14 rows in our dataset S, there are 8 rows with the target value YES and 6 rows with the target value NO. The entropy of S is calculated as:</a:t>
            </a:r>
          </a:p>
          <a:p>
            <a:endParaRPr lang="en-US" dirty="0"/>
          </a:p>
          <a:p>
            <a:r>
              <a:rPr lang="en-US" b="1" dirty="0"/>
              <a:t>Entropy(S) = — (8/14) * log₂(8/14) — (6/14) * log₂(6/14) = 0.99</a:t>
            </a:r>
          </a:p>
          <a:p>
            <a:endParaRPr lang="en-US" b="1" dirty="0"/>
          </a:p>
          <a:p>
            <a:r>
              <a:rPr lang="en-US" dirty="0"/>
              <a:t>We now calculate the Information Gain for each feature:</a:t>
            </a:r>
          </a:p>
          <a:p>
            <a:endParaRPr lang="en-US" dirty="0"/>
          </a:p>
          <a:p>
            <a:r>
              <a:rPr lang="en-US" dirty="0"/>
              <a:t>IG calculation for Fever:</a:t>
            </a:r>
          </a:p>
          <a:p>
            <a:endParaRPr lang="en-US" dirty="0"/>
          </a:p>
          <a:p>
            <a:r>
              <a:rPr lang="en-US" dirty="0"/>
              <a:t>In this(Fever) feature there are 8 rows having value YES and 6 rows having value NO.</a:t>
            </a:r>
          </a:p>
          <a:p>
            <a:endParaRPr lang="en-US" dirty="0"/>
          </a:p>
          <a:p>
            <a:endParaRPr lang="en-US" dirty="0"/>
          </a:p>
          <a:p>
            <a:r>
              <a:rPr lang="en-US" dirty="0"/>
              <a:t>As shown below, in the 8 rows with YES for Fever, there are 6 rows having target value YES and 2 rows having target value NO.</a:t>
            </a:r>
          </a:p>
          <a:p>
            <a:endParaRPr lang="en-US" dirty="0"/>
          </a:p>
          <a:p>
            <a:endParaRPr lang="en-US" b="1" dirty="0"/>
          </a:p>
        </p:txBody>
      </p:sp>
    </p:spTree>
    <p:extLst>
      <p:ext uri="{BB962C8B-B14F-4D97-AF65-F5344CB8AC3E}">
        <p14:creationId xmlns:p14="http://schemas.microsoft.com/office/powerpoint/2010/main" val="1178720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4CE01E-D8F3-4218-AF16-BD58B49D098C}"/>
              </a:ext>
            </a:extLst>
          </p:cNvPr>
          <p:cNvPicPr>
            <a:picLocks noChangeAspect="1"/>
          </p:cNvPicPr>
          <p:nvPr/>
        </p:nvPicPr>
        <p:blipFill>
          <a:blip r:embed="rId2"/>
          <a:stretch>
            <a:fillRect/>
          </a:stretch>
        </p:blipFill>
        <p:spPr>
          <a:xfrm>
            <a:off x="609600" y="457200"/>
            <a:ext cx="5943600" cy="5105400"/>
          </a:xfrm>
          <a:prstGeom prst="rect">
            <a:avLst/>
          </a:prstGeom>
        </p:spPr>
      </p:pic>
      <p:sp>
        <p:nvSpPr>
          <p:cNvPr id="5" name="TextBox 4">
            <a:extLst>
              <a:ext uri="{FF2B5EF4-FFF2-40B4-BE49-F238E27FC236}">
                <a16:creationId xmlns:a16="http://schemas.microsoft.com/office/drawing/2014/main" id="{3AD8DFDD-5B8A-491E-9C1A-F095751C6D75}"/>
              </a:ext>
            </a:extLst>
          </p:cNvPr>
          <p:cNvSpPr txBox="1"/>
          <p:nvPr/>
        </p:nvSpPr>
        <p:spPr>
          <a:xfrm>
            <a:off x="633662" y="5867400"/>
            <a:ext cx="7443537" cy="646331"/>
          </a:xfrm>
          <a:prstGeom prst="rect">
            <a:avLst/>
          </a:prstGeom>
          <a:noFill/>
        </p:spPr>
        <p:txBody>
          <a:bodyPr wrap="square">
            <a:spAutoFit/>
          </a:bodyPr>
          <a:lstStyle/>
          <a:p>
            <a:r>
              <a:rPr lang="en-US" dirty="0"/>
              <a:t>As shown below, in the 6 rows with NO, there are 2 rows having target value YES and 4 rows having target value NO.</a:t>
            </a:r>
          </a:p>
        </p:txBody>
      </p:sp>
    </p:spTree>
    <p:extLst>
      <p:ext uri="{BB962C8B-B14F-4D97-AF65-F5344CB8AC3E}">
        <p14:creationId xmlns:p14="http://schemas.microsoft.com/office/powerpoint/2010/main" val="3176490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8B938-E556-497B-A6B1-161F1ED8303F}"/>
              </a:ext>
            </a:extLst>
          </p:cNvPr>
          <p:cNvPicPr>
            <a:picLocks noChangeAspect="1"/>
          </p:cNvPicPr>
          <p:nvPr/>
        </p:nvPicPr>
        <p:blipFill>
          <a:blip r:embed="rId2"/>
          <a:stretch>
            <a:fillRect/>
          </a:stretch>
        </p:blipFill>
        <p:spPr>
          <a:xfrm>
            <a:off x="762000" y="228600"/>
            <a:ext cx="5105400" cy="3200400"/>
          </a:xfrm>
          <a:prstGeom prst="rect">
            <a:avLst/>
          </a:prstGeom>
        </p:spPr>
      </p:pic>
      <p:sp>
        <p:nvSpPr>
          <p:cNvPr id="5" name="TextBox 4">
            <a:extLst>
              <a:ext uri="{FF2B5EF4-FFF2-40B4-BE49-F238E27FC236}">
                <a16:creationId xmlns:a16="http://schemas.microsoft.com/office/drawing/2014/main" id="{C001B114-F217-4F31-8DF2-9F5E98A72F5D}"/>
              </a:ext>
            </a:extLst>
          </p:cNvPr>
          <p:cNvSpPr txBox="1"/>
          <p:nvPr/>
        </p:nvSpPr>
        <p:spPr>
          <a:xfrm>
            <a:off x="609600" y="3581400"/>
            <a:ext cx="11253537" cy="2862322"/>
          </a:xfrm>
          <a:prstGeom prst="rect">
            <a:avLst/>
          </a:prstGeom>
          <a:noFill/>
        </p:spPr>
        <p:txBody>
          <a:bodyPr wrap="square">
            <a:spAutoFit/>
          </a:bodyPr>
          <a:lstStyle/>
          <a:p>
            <a:r>
              <a:rPr lang="en-US" dirty="0"/>
              <a:t>The block, below, demonstrates the calculation of Information Gain for Fever.</a:t>
            </a:r>
          </a:p>
          <a:p>
            <a:endParaRPr lang="en-US" dirty="0"/>
          </a:p>
          <a:p>
            <a:r>
              <a:rPr lang="en-US" dirty="0"/>
              <a:t># total rows</a:t>
            </a:r>
          </a:p>
          <a:p>
            <a:r>
              <a:rPr lang="en-US" b="1" dirty="0"/>
              <a:t>|S| = 14 For v = YES, |Sᵥ| = 8</a:t>
            </a:r>
          </a:p>
          <a:p>
            <a:r>
              <a:rPr lang="en-US" b="1" dirty="0"/>
              <a:t>Entropy(Sᵥ) </a:t>
            </a:r>
            <a:r>
              <a:rPr lang="en-US" dirty="0"/>
              <a:t>= - (6/8) * log₂(6/8) - (2/8) * log₂(2/8) = 0.81For v = NO, |Sᵥ| = 6</a:t>
            </a:r>
          </a:p>
          <a:p>
            <a:r>
              <a:rPr lang="en-US" b="1" dirty="0"/>
              <a:t>Entropy(Sᵥ) </a:t>
            </a:r>
            <a:r>
              <a:rPr lang="en-US" dirty="0"/>
              <a:t>= - (2/6) * log₂(2/6) - (4/6) * log₂(4/6) = 0.91</a:t>
            </a:r>
          </a:p>
          <a:p>
            <a:r>
              <a:rPr lang="en-US" dirty="0"/>
              <a:t># Expanding the summation in the IG formula:</a:t>
            </a:r>
          </a:p>
          <a:p>
            <a:r>
              <a:rPr lang="en-US" b="1" dirty="0"/>
              <a:t>IG(S, Fever) </a:t>
            </a:r>
            <a:r>
              <a:rPr lang="en-US" dirty="0"/>
              <a:t>= Entropy(S) - (|</a:t>
            </a:r>
            <a:r>
              <a:rPr lang="en-US" dirty="0" err="1"/>
              <a:t>Sʏ</a:t>
            </a:r>
            <a:r>
              <a:rPr lang="en-US" dirty="0"/>
              <a:t>ᴇꜱ| / |S|) * Entropy(</a:t>
            </a:r>
            <a:r>
              <a:rPr lang="en-US" dirty="0" err="1"/>
              <a:t>Sʏ</a:t>
            </a:r>
            <a:r>
              <a:rPr lang="en-US" dirty="0"/>
              <a:t>ᴇꜱ) - </a:t>
            </a:r>
          </a:p>
          <a:p>
            <a:r>
              <a:rPr lang="en-US" dirty="0"/>
              <a:t>(|</a:t>
            </a:r>
            <a:r>
              <a:rPr lang="en-US" dirty="0" err="1"/>
              <a:t>Sɴ</a:t>
            </a:r>
            <a:r>
              <a:rPr lang="en-US" dirty="0"/>
              <a:t>ᴏ| / |S|) * Entropy(</a:t>
            </a:r>
            <a:r>
              <a:rPr lang="en-US" dirty="0" err="1"/>
              <a:t>Sɴ</a:t>
            </a:r>
            <a:r>
              <a:rPr lang="en-US" dirty="0"/>
              <a:t>ᴏ)</a:t>
            </a:r>
          </a:p>
          <a:p>
            <a:r>
              <a:rPr lang="en-US" dirty="0"/>
              <a:t>∴ </a:t>
            </a:r>
            <a:r>
              <a:rPr lang="en-US" b="1" dirty="0"/>
              <a:t>IG(S, Fever) </a:t>
            </a:r>
            <a:r>
              <a:rPr lang="en-US" dirty="0"/>
              <a:t>= 0.99 - (8/14) * 0.81 - (6/14) * 0.91 = 0.13</a:t>
            </a:r>
          </a:p>
        </p:txBody>
      </p:sp>
    </p:spTree>
    <p:extLst>
      <p:ext uri="{BB962C8B-B14F-4D97-AF65-F5344CB8AC3E}">
        <p14:creationId xmlns:p14="http://schemas.microsoft.com/office/powerpoint/2010/main" val="3678657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5E7F5D-A25B-4BE2-8A6B-71A286DDC451}"/>
              </a:ext>
            </a:extLst>
          </p:cNvPr>
          <p:cNvSpPr>
            <a:spLocks noChangeArrowheads="1"/>
          </p:cNvSpPr>
          <p:nvPr/>
        </p:nvSpPr>
        <p:spPr bwMode="auto">
          <a:xfrm>
            <a:off x="16042" y="120878"/>
            <a:ext cx="35052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IG(S, Cough) = 0.04</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1" i="0" u="none" strike="noStrike" cap="none" normalizeH="0" baseline="0" dirty="0">
                <a:ln>
                  <a:noFill/>
                </a:ln>
                <a:solidFill>
                  <a:schemeClr val="tx1"/>
                </a:solidFill>
                <a:effectLst/>
                <a:latin typeface="Arial Unicode MS"/>
              </a:rPr>
            </a:br>
            <a:r>
              <a:rPr kumimoji="0" lang="en-US" altLang="en-US" sz="1400" b="1" i="0" u="none" strike="noStrike" cap="none" normalizeH="0" baseline="0" dirty="0">
                <a:ln>
                  <a:noFill/>
                </a:ln>
                <a:solidFill>
                  <a:schemeClr val="tx1"/>
                </a:solidFill>
                <a:effectLst/>
                <a:latin typeface="Arial Unicode MS"/>
              </a:rPr>
              <a:t>IG(S, </a:t>
            </a:r>
            <a:r>
              <a:rPr kumimoji="0" lang="en-US" altLang="en-US" sz="1400" b="1" i="0" u="none" strike="noStrike" cap="none" normalizeH="0" baseline="0" dirty="0" err="1">
                <a:ln>
                  <a:noFill/>
                </a:ln>
                <a:solidFill>
                  <a:schemeClr val="tx1"/>
                </a:solidFill>
                <a:effectLst/>
                <a:latin typeface="Arial Unicode MS"/>
              </a:rPr>
              <a:t>BreathingIssues</a:t>
            </a:r>
            <a:r>
              <a:rPr kumimoji="0" lang="en-US" altLang="en-US" sz="1400" b="1" i="0" u="none" strike="noStrike" cap="none" normalizeH="0" baseline="0" dirty="0">
                <a:ln>
                  <a:noFill/>
                </a:ln>
                <a:solidFill>
                  <a:schemeClr val="tx1"/>
                </a:solidFill>
                <a:effectLst/>
                <a:latin typeface="Arial Unicode MS"/>
              </a:rPr>
              <a:t>) = 0.40</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2617D771-9382-44C5-AFB5-C2A7156DC80B}"/>
              </a:ext>
            </a:extLst>
          </p:cNvPr>
          <p:cNvSpPr txBox="1"/>
          <p:nvPr/>
        </p:nvSpPr>
        <p:spPr>
          <a:xfrm>
            <a:off x="152400" y="1295400"/>
            <a:ext cx="8382000" cy="923330"/>
          </a:xfrm>
          <a:prstGeom prst="rect">
            <a:avLst/>
          </a:prstGeom>
          <a:noFill/>
        </p:spPr>
        <p:txBody>
          <a:bodyPr wrap="square">
            <a:spAutoFit/>
          </a:bodyPr>
          <a:lstStyle/>
          <a:p>
            <a:r>
              <a:rPr lang="en-US" dirty="0"/>
              <a:t>Since the feature </a:t>
            </a:r>
            <a:r>
              <a:rPr lang="en-US" b="1" dirty="0"/>
              <a:t>Breathing issues </a:t>
            </a:r>
            <a:r>
              <a:rPr lang="en-US" dirty="0"/>
              <a:t>have the highest Information Gain it is used to create the root node.</a:t>
            </a:r>
            <a:br>
              <a:rPr lang="en-US" dirty="0"/>
            </a:br>
            <a:r>
              <a:rPr lang="en-US" dirty="0"/>
              <a:t>Hence, after this initial step our tree looks like this:</a:t>
            </a:r>
          </a:p>
        </p:txBody>
      </p:sp>
      <p:pic>
        <p:nvPicPr>
          <p:cNvPr id="6" name="Picture 5">
            <a:extLst>
              <a:ext uri="{FF2B5EF4-FFF2-40B4-BE49-F238E27FC236}">
                <a16:creationId xmlns:a16="http://schemas.microsoft.com/office/drawing/2014/main" id="{18E47687-ACF8-4C55-8BB3-960D7942FB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800" y="859542"/>
            <a:ext cx="2590800" cy="1578858"/>
          </a:xfrm>
          <a:prstGeom prst="rect">
            <a:avLst/>
          </a:prstGeom>
        </p:spPr>
      </p:pic>
      <p:sp>
        <p:nvSpPr>
          <p:cNvPr id="8" name="TextBox 7">
            <a:extLst>
              <a:ext uri="{FF2B5EF4-FFF2-40B4-BE49-F238E27FC236}">
                <a16:creationId xmlns:a16="http://schemas.microsoft.com/office/drawing/2014/main" id="{62C6466A-ED05-49E5-AE96-D2609FE0AB07}"/>
              </a:ext>
            </a:extLst>
          </p:cNvPr>
          <p:cNvSpPr txBox="1"/>
          <p:nvPr/>
        </p:nvSpPr>
        <p:spPr>
          <a:xfrm>
            <a:off x="1447800" y="3733800"/>
            <a:ext cx="9982200" cy="1754326"/>
          </a:xfrm>
          <a:prstGeom prst="rect">
            <a:avLst/>
          </a:prstGeom>
          <a:noFill/>
        </p:spPr>
        <p:txBody>
          <a:bodyPr wrap="square">
            <a:spAutoFit/>
          </a:bodyPr>
          <a:lstStyle/>
          <a:p>
            <a:r>
              <a:rPr lang="en-US" dirty="0"/>
              <a:t>Next, from the remaining two unused features, namely, </a:t>
            </a:r>
            <a:r>
              <a:rPr lang="en-US" b="1" dirty="0"/>
              <a:t>Fever </a:t>
            </a:r>
            <a:r>
              <a:rPr lang="en-US" dirty="0"/>
              <a:t>and </a:t>
            </a:r>
            <a:r>
              <a:rPr lang="en-US" b="1" dirty="0"/>
              <a:t>Cough</a:t>
            </a:r>
            <a:r>
              <a:rPr lang="en-US" dirty="0"/>
              <a:t>, we decide which one is the best for the left branch of </a:t>
            </a:r>
            <a:r>
              <a:rPr lang="en-US" b="1" dirty="0"/>
              <a:t>Breathing Issues</a:t>
            </a:r>
            <a:r>
              <a:rPr lang="en-US" dirty="0"/>
              <a:t>.</a:t>
            </a:r>
            <a:br>
              <a:rPr lang="en-US" dirty="0"/>
            </a:br>
            <a:endParaRPr lang="en-US" dirty="0"/>
          </a:p>
          <a:p>
            <a:r>
              <a:rPr lang="en-US" dirty="0"/>
              <a:t>Since the left branch of </a:t>
            </a:r>
            <a:r>
              <a:rPr lang="en-US" b="1" dirty="0"/>
              <a:t>Breathing Issues </a:t>
            </a:r>
            <a:r>
              <a:rPr lang="en-US" dirty="0"/>
              <a:t>denotes</a:t>
            </a:r>
            <a:r>
              <a:rPr lang="en-US" b="1" dirty="0"/>
              <a:t> YES, </a:t>
            </a:r>
            <a:r>
              <a:rPr lang="en-US" dirty="0"/>
              <a:t>we will work with the subset of the original data </a:t>
            </a:r>
            <a:r>
              <a:rPr lang="en-US" dirty="0" err="1"/>
              <a:t>i.e</a:t>
            </a:r>
            <a:r>
              <a:rPr lang="en-US" dirty="0"/>
              <a:t> the set of rows having </a:t>
            </a:r>
            <a:r>
              <a:rPr lang="en-US" b="1" dirty="0"/>
              <a:t>YES </a:t>
            </a:r>
            <a:r>
              <a:rPr lang="en-US" dirty="0"/>
              <a:t>as the value in the Breathing Issues column.</a:t>
            </a:r>
            <a:r>
              <a:rPr lang="en-US" b="1" dirty="0"/>
              <a:t> </a:t>
            </a:r>
            <a:r>
              <a:rPr lang="en-US" dirty="0"/>
              <a:t>These </a:t>
            </a:r>
            <a:r>
              <a:rPr lang="en-US" b="1" dirty="0"/>
              <a:t>8 rows </a:t>
            </a:r>
            <a:r>
              <a:rPr lang="en-US" dirty="0"/>
              <a:t>are shown below:</a:t>
            </a:r>
          </a:p>
        </p:txBody>
      </p:sp>
    </p:spTree>
    <p:extLst>
      <p:ext uri="{BB962C8B-B14F-4D97-AF65-F5344CB8AC3E}">
        <p14:creationId xmlns:p14="http://schemas.microsoft.com/office/powerpoint/2010/main" val="1652482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76847C-582C-402D-8936-85C3C70CFE33}"/>
              </a:ext>
            </a:extLst>
          </p:cNvPr>
          <p:cNvPicPr>
            <a:picLocks noChangeAspect="1"/>
          </p:cNvPicPr>
          <p:nvPr/>
        </p:nvPicPr>
        <p:blipFill>
          <a:blip r:embed="rId2"/>
          <a:stretch>
            <a:fillRect/>
          </a:stretch>
        </p:blipFill>
        <p:spPr>
          <a:xfrm>
            <a:off x="762000" y="104311"/>
            <a:ext cx="4953000" cy="3324689"/>
          </a:xfrm>
          <a:prstGeom prst="rect">
            <a:avLst/>
          </a:prstGeom>
        </p:spPr>
      </p:pic>
      <p:sp>
        <p:nvSpPr>
          <p:cNvPr id="4" name="Rectangle 1">
            <a:extLst>
              <a:ext uri="{FF2B5EF4-FFF2-40B4-BE49-F238E27FC236}">
                <a16:creationId xmlns:a16="http://schemas.microsoft.com/office/drawing/2014/main" id="{7A3FDED1-158F-4A15-8A56-A10C9BD3DFD4}"/>
              </a:ext>
            </a:extLst>
          </p:cNvPr>
          <p:cNvSpPr>
            <a:spLocks noChangeArrowheads="1"/>
          </p:cNvSpPr>
          <p:nvPr/>
        </p:nvSpPr>
        <p:spPr bwMode="auto">
          <a:xfrm>
            <a:off x="7391400" y="124364"/>
            <a:ext cx="3276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Unicode MS"/>
              </a:rPr>
              <a:t>IG(</a:t>
            </a:r>
            <a:r>
              <a:rPr kumimoji="0" lang="en-US" altLang="en-US" b="1" i="0" u="none" strike="noStrike" cap="none" normalizeH="0" baseline="0" dirty="0" err="1">
                <a:ln>
                  <a:noFill/>
                </a:ln>
                <a:solidFill>
                  <a:schemeClr val="tx1"/>
                </a:solidFill>
                <a:effectLst/>
                <a:latin typeface="Arial Unicode MS"/>
              </a:rPr>
              <a:t>Sʙʏ</a:t>
            </a:r>
            <a:r>
              <a:rPr kumimoji="0" lang="en-US" altLang="en-US" b="1" i="0" u="none" strike="noStrike" cap="none" normalizeH="0" baseline="0" dirty="0">
                <a:ln>
                  <a:noFill/>
                </a:ln>
                <a:solidFill>
                  <a:schemeClr val="tx1"/>
                </a:solidFill>
                <a:effectLst/>
                <a:latin typeface="Arial Unicode MS"/>
              </a:rPr>
              <a:t>, Fever) = 0.20</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1" i="0" u="none" strike="noStrike" cap="none" normalizeH="0" baseline="0" dirty="0">
                <a:ln>
                  <a:noFill/>
                </a:ln>
                <a:solidFill>
                  <a:schemeClr val="tx1"/>
                </a:solidFill>
                <a:effectLst/>
                <a:latin typeface="Arial Unicode MS"/>
              </a:rPr>
            </a:br>
            <a:r>
              <a:rPr kumimoji="0" lang="en-US" altLang="en-US" b="1" i="0" u="none" strike="noStrike" cap="none" normalizeH="0" baseline="0" dirty="0">
                <a:ln>
                  <a:noFill/>
                </a:ln>
                <a:solidFill>
                  <a:schemeClr val="tx1"/>
                </a:solidFill>
                <a:effectLst/>
                <a:latin typeface="Arial Unicode MS"/>
              </a:rPr>
              <a:t>IG(</a:t>
            </a:r>
            <a:r>
              <a:rPr kumimoji="0" lang="en-US" altLang="en-US" b="1" i="0" u="none" strike="noStrike" cap="none" normalizeH="0" baseline="0" dirty="0" err="1">
                <a:ln>
                  <a:noFill/>
                </a:ln>
                <a:solidFill>
                  <a:schemeClr val="tx1"/>
                </a:solidFill>
                <a:effectLst/>
                <a:latin typeface="Arial Unicode MS"/>
              </a:rPr>
              <a:t>Sʙʏ</a:t>
            </a:r>
            <a:r>
              <a:rPr kumimoji="0" lang="en-US" altLang="en-US" b="1" i="0" u="none" strike="noStrike" cap="none" normalizeH="0" baseline="0" dirty="0">
                <a:ln>
                  <a:noFill/>
                </a:ln>
                <a:solidFill>
                  <a:schemeClr val="tx1"/>
                </a:solidFill>
                <a:effectLst/>
                <a:latin typeface="Arial Unicode MS"/>
              </a:rPr>
              <a:t>, Cough) = 0.09</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4AA703E-E0B9-41CF-8C44-6471456CC19E}"/>
              </a:ext>
            </a:extLst>
          </p:cNvPr>
          <p:cNvSpPr txBox="1"/>
          <p:nvPr/>
        </p:nvSpPr>
        <p:spPr>
          <a:xfrm>
            <a:off x="762000" y="4191000"/>
            <a:ext cx="7772400" cy="1200329"/>
          </a:xfrm>
          <a:prstGeom prst="rect">
            <a:avLst/>
          </a:prstGeom>
          <a:noFill/>
        </p:spPr>
        <p:txBody>
          <a:bodyPr wrap="square">
            <a:spAutoFit/>
          </a:bodyPr>
          <a:lstStyle/>
          <a:p>
            <a:r>
              <a:rPr lang="en-US" dirty="0"/>
              <a:t>IG of Fever is greater than that of Cough, so we select </a:t>
            </a:r>
            <a:r>
              <a:rPr lang="en-US" b="1" dirty="0"/>
              <a:t>Fever </a:t>
            </a:r>
            <a:r>
              <a:rPr lang="en-US" dirty="0"/>
              <a:t>as the left branch of Breathing Issues:</a:t>
            </a:r>
          </a:p>
          <a:p>
            <a:br>
              <a:rPr lang="en-US" dirty="0"/>
            </a:br>
            <a:r>
              <a:rPr lang="en-US" dirty="0"/>
              <a:t>Our tree now looks like this:</a:t>
            </a:r>
          </a:p>
        </p:txBody>
      </p:sp>
      <p:pic>
        <p:nvPicPr>
          <p:cNvPr id="8" name="Picture 7">
            <a:extLst>
              <a:ext uri="{FF2B5EF4-FFF2-40B4-BE49-F238E27FC236}">
                <a16:creationId xmlns:a16="http://schemas.microsoft.com/office/drawing/2014/main" id="{1187351E-5569-436E-A1B1-C27CCE1DC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6379" y="3671976"/>
            <a:ext cx="2962275" cy="2238375"/>
          </a:xfrm>
          <a:prstGeom prst="rect">
            <a:avLst/>
          </a:prstGeom>
        </p:spPr>
      </p:pic>
    </p:spTree>
    <p:extLst>
      <p:ext uri="{BB962C8B-B14F-4D97-AF65-F5344CB8AC3E}">
        <p14:creationId xmlns:p14="http://schemas.microsoft.com/office/powerpoint/2010/main" val="3192773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B52806-6A6F-46C5-B172-803E11549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950" y="1143000"/>
            <a:ext cx="5886450" cy="4876800"/>
          </a:xfrm>
          <a:prstGeom prst="rect">
            <a:avLst/>
          </a:prstGeom>
        </p:spPr>
      </p:pic>
    </p:spTree>
    <p:extLst>
      <p:ext uri="{BB962C8B-B14F-4D97-AF65-F5344CB8AC3E}">
        <p14:creationId xmlns:p14="http://schemas.microsoft.com/office/powerpoint/2010/main" val="2658801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279140" cy="697230"/>
          </a:xfrm>
          <a:prstGeom prst="rect">
            <a:avLst/>
          </a:prstGeom>
        </p:spPr>
        <p:txBody>
          <a:bodyPr vert="horz" wrap="square" lIns="0" tIns="13335" rIns="0" bIns="0" rtlCol="0">
            <a:spAutoFit/>
          </a:bodyPr>
          <a:lstStyle/>
          <a:p>
            <a:pPr marL="12700">
              <a:lnSpc>
                <a:spcPct val="100000"/>
              </a:lnSpc>
              <a:spcBef>
                <a:spcPts val="105"/>
              </a:spcBef>
            </a:pPr>
            <a:r>
              <a:rPr sz="4400" spc="-5" dirty="0"/>
              <a:t>ID3:</a:t>
            </a:r>
            <a:r>
              <a:rPr sz="4400" spc="-45" dirty="0"/>
              <a:t> </a:t>
            </a:r>
            <a:r>
              <a:rPr sz="4400" spc="-10" dirty="0"/>
              <a:t>Algorithm</a:t>
            </a:r>
            <a:endParaRPr sz="4400"/>
          </a:p>
        </p:txBody>
      </p:sp>
      <p:sp>
        <p:nvSpPr>
          <p:cNvPr id="3" name="object 3"/>
          <p:cNvSpPr txBox="1"/>
          <p:nvPr/>
        </p:nvSpPr>
        <p:spPr>
          <a:xfrm>
            <a:off x="916939" y="1706841"/>
            <a:ext cx="10170795" cy="5372625"/>
          </a:xfrm>
          <a:prstGeom prst="rect">
            <a:avLst/>
          </a:prstGeom>
        </p:spPr>
        <p:txBody>
          <a:bodyPr vert="horz" wrap="square" lIns="0" tIns="98425" rIns="0" bIns="0" rtlCol="0">
            <a:spAutoFit/>
          </a:bodyPr>
          <a:lstStyle/>
          <a:p>
            <a:pPr>
              <a:buFont typeface="+mj-lt"/>
              <a:buAutoNum type="arabicPeriod"/>
            </a:pPr>
            <a:r>
              <a:rPr lang="en-US" sz="2400" dirty="0"/>
              <a:t>Calculate the Information Gain of each feature.</a:t>
            </a:r>
          </a:p>
          <a:p>
            <a:pPr>
              <a:buFont typeface="+mj-lt"/>
              <a:buAutoNum type="arabicPeriod"/>
            </a:pPr>
            <a:endParaRPr lang="en-US" sz="2400" dirty="0"/>
          </a:p>
          <a:p>
            <a:pPr>
              <a:buFont typeface="+mj-lt"/>
              <a:buAutoNum type="arabicPeriod"/>
            </a:pPr>
            <a:r>
              <a:rPr lang="en-US" sz="2400" dirty="0"/>
              <a:t>Considering that all rows don’t belong to the same class, split the dataset </a:t>
            </a:r>
            <a:r>
              <a:rPr lang="en-US" sz="2400" b="1" dirty="0"/>
              <a:t>S </a:t>
            </a:r>
            <a:r>
              <a:rPr lang="en-US" sz="2400" dirty="0"/>
              <a:t>into subsets using the feature for which the Information Gain is maximum.</a:t>
            </a:r>
          </a:p>
          <a:p>
            <a:pPr>
              <a:buFont typeface="+mj-lt"/>
              <a:buAutoNum type="arabicPeriod"/>
            </a:pPr>
            <a:endParaRPr lang="en-US" sz="2400" dirty="0"/>
          </a:p>
          <a:p>
            <a:pPr>
              <a:buFont typeface="+mj-lt"/>
              <a:buAutoNum type="arabicPeriod"/>
            </a:pPr>
            <a:r>
              <a:rPr lang="en-US" sz="2400" dirty="0"/>
              <a:t>Make a decision tree node using the feature with the maximum Information gain.</a:t>
            </a:r>
          </a:p>
          <a:p>
            <a:pPr>
              <a:buFont typeface="+mj-lt"/>
              <a:buAutoNum type="arabicPeriod"/>
            </a:pPr>
            <a:endParaRPr lang="en-US" sz="2400" dirty="0"/>
          </a:p>
          <a:p>
            <a:pPr>
              <a:buFont typeface="+mj-lt"/>
              <a:buAutoNum type="arabicPeriod"/>
            </a:pPr>
            <a:r>
              <a:rPr lang="en-US" sz="2400" dirty="0"/>
              <a:t>If all rows belong to the same class, make the current node as a leaf node with the class as its label.</a:t>
            </a:r>
          </a:p>
          <a:p>
            <a:pPr>
              <a:buFont typeface="+mj-lt"/>
              <a:buAutoNum type="arabicPeriod"/>
            </a:pPr>
            <a:endParaRPr lang="en-US" sz="2400" dirty="0"/>
          </a:p>
          <a:p>
            <a:pPr>
              <a:buFont typeface="+mj-lt"/>
              <a:buAutoNum type="arabicPeriod"/>
            </a:pPr>
            <a:r>
              <a:rPr lang="en-US" sz="2400" dirty="0"/>
              <a:t>Repeat for the remaining features until we run out of all features, or the decision tree has all leaf nodes.</a:t>
            </a:r>
          </a:p>
          <a:p>
            <a:pPr marL="527685" indent="-515620">
              <a:lnSpc>
                <a:spcPct val="100000"/>
              </a:lnSpc>
              <a:spcBef>
                <a:spcPts val="775"/>
              </a:spcBef>
              <a:buAutoNum type="arabicPeriod"/>
              <a:tabLst>
                <a:tab pos="527685" algn="l"/>
                <a:tab pos="528320" algn="l"/>
              </a:tabLst>
            </a:pPr>
            <a:endParaRPr sz="2400" dirty="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85495" cy="697230"/>
          </a:xfrm>
          <a:prstGeom prst="rect">
            <a:avLst/>
          </a:prstGeom>
        </p:spPr>
        <p:txBody>
          <a:bodyPr vert="horz" wrap="square" lIns="0" tIns="13335" rIns="0" bIns="0" rtlCol="0">
            <a:spAutoFit/>
          </a:bodyPr>
          <a:lstStyle/>
          <a:p>
            <a:pPr marL="12700">
              <a:lnSpc>
                <a:spcPct val="100000"/>
              </a:lnSpc>
              <a:spcBef>
                <a:spcPts val="105"/>
              </a:spcBef>
            </a:pPr>
            <a:r>
              <a:rPr sz="4400" spc="-5" dirty="0"/>
              <a:t>ID3</a:t>
            </a:r>
            <a:endParaRPr sz="4400"/>
          </a:p>
        </p:txBody>
      </p:sp>
      <p:sp>
        <p:nvSpPr>
          <p:cNvPr id="3" name="object 3"/>
          <p:cNvSpPr txBox="1"/>
          <p:nvPr/>
        </p:nvSpPr>
        <p:spPr>
          <a:xfrm>
            <a:off x="916939" y="1793189"/>
            <a:ext cx="10283825" cy="1732914"/>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5" dirty="0">
                <a:latin typeface="Calibri"/>
                <a:cs typeface="Calibri"/>
              </a:rPr>
              <a:t>Hence,</a:t>
            </a:r>
            <a:r>
              <a:rPr sz="2800" spc="20" dirty="0">
                <a:latin typeface="Calibri"/>
                <a:cs typeface="Calibri"/>
              </a:rPr>
              <a:t> </a:t>
            </a:r>
            <a:r>
              <a:rPr sz="2800" spc="-15" dirty="0">
                <a:latin typeface="Calibri"/>
                <a:cs typeface="Calibri"/>
              </a:rPr>
              <a:t>information</a:t>
            </a:r>
            <a:r>
              <a:rPr sz="2800" spc="25" dirty="0">
                <a:latin typeface="Calibri"/>
                <a:cs typeface="Calibri"/>
              </a:rPr>
              <a:t> </a:t>
            </a:r>
            <a:r>
              <a:rPr sz="2800" spc="-15" dirty="0">
                <a:latin typeface="Calibri"/>
                <a:cs typeface="Calibri"/>
              </a:rPr>
              <a:t>gain</a:t>
            </a:r>
            <a:r>
              <a:rPr sz="280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weight</a:t>
            </a:r>
            <a:r>
              <a:rPr sz="2800" spc="5" dirty="0">
                <a:latin typeface="Calibri"/>
                <a:cs typeface="Calibri"/>
              </a:rPr>
              <a:t> </a:t>
            </a:r>
            <a:r>
              <a:rPr sz="2800" spc="-10" dirty="0">
                <a:latin typeface="Calibri"/>
                <a:cs typeface="Calibri"/>
              </a:rPr>
              <a:t>is</a:t>
            </a:r>
            <a:r>
              <a:rPr sz="2800" spc="15" dirty="0">
                <a:latin typeface="Calibri"/>
                <a:cs typeface="Calibri"/>
              </a:rPr>
              <a:t> </a:t>
            </a:r>
            <a:r>
              <a:rPr sz="2800" spc="-15" dirty="0">
                <a:latin typeface="Calibri"/>
                <a:cs typeface="Calibri"/>
              </a:rPr>
              <a:t>highest</a:t>
            </a:r>
            <a:r>
              <a:rPr sz="2800" spc="40" dirty="0">
                <a:latin typeface="Calibri"/>
                <a:cs typeface="Calibri"/>
              </a:rPr>
              <a:t> </a:t>
            </a:r>
            <a:r>
              <a:rPr sz="2800" spc="-5" dirty="0">
                <a:latin typeface="Calibri"/>
                <a:cs typeface="Calibri"/>
              </a:rPr>
              <a:t>and</a:t>
            </a:r>
            <a:r>
              <a:rPr sz="2800" spc="20" dirty="0">
                <a:latin typeface="Calibri"/>
                <a:cs typeface="Calibri"/>
              </a:rPr>
              <a:t> </a:t>
            </a:r>
            <a:r>
              <a:rPr sz="2800" spc="-5" dirty="0">
                <a:latin typeface="Calibri"/>
                <a:cs typeface="Calibri"/>
              </a:rPr>
              <a:t>so</a:t>
            </a:r>
            <a:r>
              <a:rPr sz="2800" spc="25" dirty="0">
                <a:latin typeface="Calibri"/>
                <a:cs typeface="Calibri"/>
              </a:rPr>
              <a:t> </a:t>
            </a:r>
            <a:r>
              <a:rPr sz="2800" spc="-10" dirty="0">
                <a:latin typeface="Calibri"/>
                <a:cs typeface="Calibri"/>
              </a:rPr>
              <a:t>weight</a:t>
            </a:r>
            <a:r>
              <a:rPr sz="2800" dirty="0">
                <a:latin typeface="Calibri"/>
                <a:cs typeface="Calibri"/>
              </a:rPr>
              <a:t> </a:t>
            </a:r>
            <a:r>
              <a:rPr sz="2800" spc="-10" dirty="0">
                <a:latin typeface="Calibri"/>
                <a:cs typeface="Calibri"/>
              </a:rPr>
              <a:t>is</a:t>
            </a:r>
            <a:r>
              <a:rPr sz="2800" spc="15" dirty="0">
                <a:latin typeface="Calibri"/>
                <a:cs typeface="Calibri"/>
              </a:rPr>
              <a:t> </a:t>
            </a:r>
            <a:r>
              <a:rPr sz="2800" spc="-10" dirty="0">
                <a:latin typeface="Calibri"/>
                <a:cs typeface="Calibri"/>
              </a:rPr>
              <a:t>selected </a:t>
            </a:r>
            <a:r>
              <a:rPr sz="2800" spc="-620" dirty="0">
                <a:latin typeface="Calibri"/>
                <a:cs typeface="Calibri"/>
              </a:rPr>
              <a:t> </a:t>
            </a:r>
            <a:r>
              <a:rPr sz="2800" spc="-5" dirty="0">
                <a:latin typeface="Calibri"/>
                <a:cs typeface="Calibri"/>
              </a:rPr>
              <a:t>as</a:t>
            </a:r>
            <a:r>
              <a:rPr sz="2800" spc="5" dirty="0">
                <a:latin typeface="Calibri"/>
                <a:cs typeface="Calibri"/>
              </a:rPr>
              <a:t> </a:t>
            </a:r>
            <a:r>
              <a:rPr sz="2800" spc="-15" dirty="0">
                <a:latin typeface="Calibri"/>
                <a:cs typeface="Calibri"/>
              </a:rPr>
              <a:t>root</a:t>
            </a:r>
            <a:r>
              <a:rPr sz="2800" spc="15" dirty="0">
                <a:latin typeface="Calibri"/>
                <a:cs typeface="Calibri"/>
              </a:rPr>
              <a:t> </a:t>
            </a:r>
            <a:r>
              <a:rPr sz="2800" spc="-10" dirty="0">
                <a:latin typeface="Calibri"/>
                <a:cs typeface="Calibri"/>
              </a:rPr>
              <a:t>node</a:t>
            </a:r>
            <a:endParaRPr sz="2800">
              <a:latin typeface="Calibri"/>
              <a:cs typeface="Calibri"/>
            </a:endParaRPr>
          </a:p>
          <a:p>
            <a:pPr marL="241300" marR="1292225" indent="-228600">
              <a:lnSpc>
                <a:spcPts val="3020"/>
              </a:lnSpc>
              <a:spcBef>
                <a:spcPts val="1005"/>
              </a:spcBef>
              <a:buFont typeface="Arial MT"/>
              <a:buChar char="•"/>
              <a:tabLst>
                <a:tab pos="241300" algn="l"/>
              </a:tabLst>
            </a:pPr>
            <a:r>
              <a:rPr sz="2800" spc="-10" dirty="0">
                <a:latin typeface="Calibri"/>
                <a:cs typeface="Calibri"/>
              </a:rPr>
              <a:t>Similarly</a:t>
            </a:r>
            <a:r>
              <a:rPr sz="2800" spc="15" dirty="0">
                <a:latin typeface="Calibri"/>
                <a:cs typeface="Calibri"/>
              </a:rPr>
              <a:t> </a:t>
            </a:r>
            <a:r>
              <a:rPr sz="2800" spc="-15" dirty="0">
                <a:latin typeface="Calibri"/>
                <a:cs typeface="Calibri"/>
              </a:rPr>
              <a:t>by</a:t>
            </a:r>
            <a:r>
              <a:rPr sz="2800" spc="15" dirty="0">
                <a:latin typeface="Calibri"/>
                <a:cs typeface="Calibri"/>
              </a:rPr>
              <a:t> </a:t>
            </a:r>
            <a:r>
              <a:rPr sz="2800" spc="-10" dirty="0">
                <a:latin typeface="Calibri"/>
                <a:cs typeface="Calibri"/>
              </a:rPr>
              <a:t>calculating</a:t>
            </a:r>
            <a:r>
              <a:rPr sz="2800" spc="20" dirty="0">
                <a:latin typeface="Calibri"/>
                <a:cs typeface="Calibri"/>
              </a:rPr>
              <a:t> </a:t>
            </a:r>
            <a:r>
              <a:rPr sz="2800" spc="-5" dirty="0">
                <a:latin typeface="Calibri"/>
                <a:cs typeface="Calibri"/>
              </a:rPr>
              <a:t>subclass</a:t>
            </a:r>
            <a:r>
              <a:rPr sz="2800" spc="55" dirty="0">
                <a:latin typeface="Calibri"/>
                <a:cs typeface="Calibri"/>
              </a:rPr>
              <a:t> </a:t>
            </a:r>
            <a:r>
              <a:rPr sz="2800" spc="-15" dirty="0">
                <a:latin typeface="Calibri"/>
                <a:cs typeface="Calibri"/>
              </a:rPr>
              <a:t>entropy</a:t>
            </a:r>
            <a:r>
              <a:rPr sz="2800" spc="25" dirty="0">
                <a:latin typeface="Calibri"/>
                <a:cs typeface="Calibri"/>
              </a:rPr>
              <a:t> </a:t>
            </a:r>
            <a:r>
              <a:rPr sz="2800" spc="-10" dirty="0">
                <a:latin typeface="Calibri"/>
                <a:cs typeface="Calibri"/>
              </a:rPr>
              <a:t>decision</a:t>
            </a:r>
            <a:r>
              <a:rPr sz="2800" spc="35" dirty="0">
                <a:latin typeface="Calibri"/>
                <a:cs typeface="Calibri"/>
              </a:rPr>
              <a:t> </a:t>
            </a:r>
            <a:r>
              <a:rPr sz="2800" spc="-15" dirty="0">
                <a:latin typeface="Calibri"/>
                <a:cs typeface="Calibri"/>
              </a:rPr>
              <a:t>tree</a:t>
            </a:r>
            <a:r>
              <a:rPr sz="2800" spc="10" dirty="0">
                <a:latin typeface="Calibri"/>
                <a:cs typeface="Calibri"/>
              </a:rPr>
              <a:t> </a:t>
            </a:r>
            <a:r>
              <a:rPr sz="2800" spc="-10" dirty="0">
                <a:latin typeface="Calibri"/>
                <a:cs typeface="Calibri"/>
              </a:rPr>
              <a:t>can</a:t>
            </a:r>
            <a:r>
              <a:rPr sz="2800" spc="10" dirty="0">
                <a:latin typeface="Calibri"/>
                <a:cs typeface="Calibri"/>
              </a:rPr>
              <a:t> </a:t>
            </a:r>
            <a:r>
              <a:rPr sz="2800" spc="-10" dirty="0">
                <a:latin typeface="Calibri"/>
                <a:cs typeface="Calibri"/>
              </a:rPr>
              <a:t>ne </a:t>
            </a:r>
            <a:r>
              <a:rPr sz="2800" spc="-620" dirty="0">
                <a:latin typeface="Calibri"/>
                <a:cs typeface="Calibri"/>
              </a:rPr>
              <a:t> </a:t>
            </a:r>
            <a:r>
              <a:rPr sz="2800" spc="-20" dirty="0">
                <a:latin typeface="Calibri"/>
                <a:cs typeface="Calibri"/>
              </a:rPr>
              <a:t>generated</a:t>
            </a:r>
            <a:endParaRPr sz="28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8CC8-BF2A-4A53-8E06-B439BC6BBE55}"/>
              </a:ext>
            </a:extLst>
          </p:cNvPr>
          <p:cNvSpPr>
            <a:spLocks noGrp="1"/>
          </p:cNvSpPr>
          <p:nvPr>
            <p:ph type="title"/>
          </p:nvPr>
        </p:nvSpPr>
        <p:spPr>
          <a:xfrm>
            <a:off x="1524000" y="1447800"/>
            <a:ext cx="8173973" cy="3016210"/>
          </a:xfrm>
        </p:spPr>
        <p:txBody>
          <a:bodyPr/>
          <a:lstStyle/>
          <a:p>
            <a:pPr marL="457200" indent="-457200">
              <a:buFont typeface="Arial" panose="020B0604020202020204" pitchFamily="34" charset="0"/>
              <a:buChar char="•"/>
            </a:pPr>
            <a:r>
              <a:rPr lang="en-US" sz="2800" dirty="0"/>
              <a:t>Neural networks are computing systems with interconnected nodes that work much like neurons in the human brain. </a:t>
            </a:r>
            <a:br>
              <a:rPr lang="en-US" sz="2800" dirty="0"/>
            </a:br>
            <a:br>
              <a:rPr lang="en-US" sz="2800" dirty="0"/>
            </a:br>
            <a:r>
              <a:rPr lang="en-US" sz="2800" dirty="0"/>
              <a:t>Using algorithms, they can recognize hidden patterns and correlations in raw data, cluster and classify it, and – over time – </a:t>
            </a:r>
            <a:r>
              <a:rPr lang="en-US" sz="2800" b="1" dirty="0"/>
              <a:t>continuously learn and improve</a:t>
            </a:r>
            <a:r>
              <a:rPr lang="en-US" sz="2800" dirty="0"/>
              <a:t>.</a:t>
            </a:r>
          </a:p>
        </p:txBody>
      </p:sp>
      <p:sp>
        <p:nvSpPr>
          <p:cNvPr id="3" name="Text Placeholder 2">
            <a:extLst>
              <a:ext uri="{FF2B5EF4-FFF2-40B4-BE49-F238E27FC236}">
                <a16:creationId xmlns:a16="http://schemas.microsoft.com/office/drawing/2014/main" id="{C790C806-0B9D-43D7-B281-70DEA39BA30D}"/>
              </a:ext>
            </a:extLst>
          </p:cNvPr>
          <p:cNvSpPr>
            <a:spLocks noGrp="1"/>
          </p:cNvSpPr>
          <p:nvPr>
            <p:ph type="body" idx="1"/>
          </p:nvPr>
        </p:nvSpPr>
        <p:spPr>
          <a:xfrm>
            <a:off x="609600" y="457200"/>
            <a:ext cx="10373359" cy="430887"/>
          </a:xfrm>
        </p:spPr>
        <p:txBody>
          <a:bodyPr/>
          <a:lstStyle/>
          <a:p>
            <a:r>
              <a:rPr lang="en-US" dirty="0"/>
              <a:t>Neural Networks</a:t>
            </a:r>
          </a:p>
        </p:txBody>
      </p:sp>
    </p:spTree>
    <p:extLst>
      <p:ext uri="{BB962C8B-B14F-4D97-AF65-F5344CB8AC3E}">
        <p14:creationId xmlns:p14="http://schemas.microsoft.com/office/powerpoint/2010/main" val="2744205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53AE8-C63E-4FD1-83B9-D7386FF325A0}"/>
              </a:ext>
            </a:extLst>
          </p:cNvPr>
          <p:cNvSpPr>
            <a:spLocks noGrp="1"/>
          </p:cNvSpPr>
          <p:nvPr>
            <p:ph type="title"/>
          </p:nvPr>
        </p:nvSpPr>
        <p:spPr>
          <a:xfrm>
            <a:off x="397042" y="1123950"/>
            <a:ext cx="10210800" cy="2462213"/>
          </a:xfrm>
        </p:spPr>
        <p:txBody>
          <a:bodyPr/>
          <a:lstStyle/>
          <a:p>
            <a:r>
              <a:rPr lang="en-US" sz="2000" b="1" dirty="0"/>
              <a:t>1. Artificial Neural Networks (ANN)</a:t>
            </a:r>
            <a:br>
              <a:rPr lang="en-US" sz="2000" b="1" dirty="0"/>
            </a:br>
            <a:r>
              <a:rPr lang="en-US" sz="2000" dirty="0"/>
              <a:t>Artificial neural networks (ANNs), usually simply called neural networks (NNs), are computing systems inspired by the biological neural networks that constitute animal brains. </a:t>
            </a:r>
            <a:br>
              <a:rPr lang="en-US" sz="2000" dirty="0"/>
            </a:br>
            <a:br>
              <a:rPr lang="en-US" sz="2000" dirty="0"/>
            </a:br>
            <a:r>
              <a:rPr lang="en-US" sz="2000" dirty="0"/>
              <a:t>An ANN is based on a collection of connected units or nodes called artificial neurons, which loosely model the neurons in a biological brain.</a:t>
            </a:r>
            <a:br>
              <a:rPr lang="en-US" sz="2000" dirty="0"/>
            </a:br>
            <a:br>
              <a:rPr lang="en-US" sz="2000" b="1" dirty="0"/>
            </a:br>
            <a:endParaRPr lang="en-US" sz="2000" dirty="0"/>
          </a:p>
        </p:txBody>
      </p:sp>
      <p:sp>
        <p:nvSpPr>
          <p:cNvPr id="3" name="Text Placeholder 2">
            <a:extLst>
              <a:ext uri="{FF2B5EF4-FFF2-40B4-BE49-F238E27FC236}">
                <a16:creationId xmlns:a16="http://schemas.microsoft.com/office/drawing/2014/main" id="{B6C31E55-395A-43E8-9684-ED93C6E62570}"/>
              </a:ext>
            </a:extLst>
          </p:cNvPr>
          <p:cNvSpPr>
            <a:spLocks noGrp="1"/>
          </p:cNvSpPr>
          <p:nvPr>
            <p:ph type="body" idx="1"/>
          </p:nvPr>
        </p:nvSpPr>
        <p:spPr>
          <a:xfrm>
            <a:off x="381000" y="457200"/>
            <a:ext cx="10373359" cy="430887"/>
          </a:xfrm>
        </p:spPr>
        <p:txBody>
          <a:bodyPr/>
          <a:lstStyle/>
          <a:p>
            <a:r>
              <a:rPr lang="en-US" dirty="0"/>
              <a:t>Major Characteristics of Neural Network</a:t>
            </a:r>
          </a:p>
        </p:txBody>
      </p:sp>
      <p:pic>
        <p:nvPicPr>
          <p:cNvPr id="7170" name="Picture 2" descr="Artificial neural network architecture (ANN i-h 1-h 2-h n-o). | Download  Scientific Diagram">
            <a:extLst>
              <a:ext uri="{FF2B5EF4-FFF2-40B4-BE49-F238E27FC236}">
                <a16:creationId xmlns:a16="http://schemas.microsoft.com/office/drawing/2014/main" id="{234E1AAE-4083-4A89-B8E4-A487D9299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0011" y="3048000"/>
            <a:ext cx="4339389"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862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9C4C-21E3-4843-9831-7FF8C043747C}"/>
              </a:ext>
            </a:extLst>
          </p:cNvPr>
          <p:cNvSpPr>
            <a:spLocks noGrp="1"/>
          </p:cNvSpPr>
          <p:nvPr>
            <p:ph type="title"/>
          </p:nvPr>
        </p:nvSpPr>
        <p:spPr>
          <a:xfrm>
            <a:off x="457200" y="228124"/>
            <a:ext cx="8173973" cy="3200876"/>
          </a:xfrm>
        </p:spPr>
        <p:txBody>
          <a:bodyPr/>
          <a:lstStyle/>
          <a:p>
            <a:r>
              <a:rPr lang="en-US" sz="2400" b="1" dirty="0"/>
              <a:t>2. Convolution Neural Network</a:t>
            </a:r>
            <a:br>
              <a:rPr lang="en-US" sz="2400" dirty="0"/>
            </a:br>
            <a:br>
              <a:rPr lang="en-US" sz="2400" dirty="0"/>
            </a:br>
            <a:r>
              <a:rPr lang="en-US" sz="2000" dirty="0"/>
              <a:t>A convolutional neural network (CNN) is </a:t>
            </a:r>
            <a:r>
              <a:rPr lang="en-US" sz="2000" b="1" dirty="0"/>
              <a:t>a type of artificial neural network used in image recognition and processing that is specifically designed to process pixel data</a:t>
            </a:r>
            <a:br>
              <a:rPr lang="en-US" sz="2000" b="1" dirty="0"/>
            </a:br>
            <a:br>
              <a:rPr lang="en-US" sz="2000" b="1" dirty="0"/>
            </a:br>
            <a:r>
              <a:rPr lang="en-US" sz="2000" dirty="0"/>
              <a:t>CNNs are powerful image processing, artificial intelligence (</a:t>
            </a:r>
            <a:r>
              <a:rPr lang="en-US" sz="2000" dirty="0">
                <a:hlinkClick r:id="rId2"/>
              </a:rPr>
              <a:t>AI</a:t>
            </a:r>
            <a:r>
              <a:rPr lang="en-US" sz="2000" dirty="0"/>
              <a:t>) that use deep learning to perform both generative and descriptive tasks, often using machine vison that includes image and video recognition, along with recommender systems and natural language processing (</a:t>
            </a:r>
            <a:r>
              <a:rPr lang="en-US" sz="2000" dirty="0">
                <a:hlinkClick r:id="rId3"/>
              </a:rPr>
              <a:t>NLP</a:t>
            </a:r>
            <a:r>
              <a:rPr lang="en-US" sz="2000" dirty="0"/>
              <a:t>).</a:t>
            </a:r>
          </a:p>
        </p:txBody>
      </p:sp>
      <p:pic>
        <p:nvPicPr>
          <p:cNvPr id="5" name="Picture 4">
            <a:extLst>
              <a:ext uri="{FF2B5EF4-FFF2-40B4-BE49-F238E27FC236}">
                <a16:creationId xmlns:a16="http://schemas.microsoft.com/office/drawing/2014/main" id="{86152C5A-ACEF-4785-9B29-8BB3A40352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0" y="3820528"/>
            <a:ext cx="8115300" cy="3057525"/>
          </a:xfrm>
          <a:prstGeom prst="rect">
            <a:avLst/>
          </a:prstGeom>
        </p:spPr>
      </p:pic>
    </p:spTree>
    <p:extLst>
      <p:ext uri="{BB962C8B-B14F-4D97-AF65-F5344CB8AC3E}">
        <p14:creationId xmlns:p14="http://schemas.microsoft.com/office/powerpoint/2010/main" val="4108551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1DA3A-FE33-43F6-84D0-E6A450D4F25E}"/>
              </a:ext>
            </a:extLst>
          </p:cNvPr>
          <p:cNvSpPr>
            <a:spLocks noGrp="1"/>
          </p:cNvSpPr>
          <p:nvPr>
            <p:ph type="title"/>
          </p:nvPr>
        </p:nvSpPr>
        <p:spPr>
          <a:xfrm>
            <a:off x="685800" y="228600"/>
            <a:ext cx="8173973" cy="369332"/>
          </a:xfrm>
        </p:spPr>
        <p:txBody>
          <a:bodyPr/>
          <a:lstStyle/>
          <a:p>
            <a:r>
              <a:rPr lang="en-US" sz="2400" b="1" dirty="0"/>
              <a:t>3. Recurrent Neural Network</a:t>
            </a:r>
          </a:p>
        </p:txBody>
      </p:sp>
      <p:sp>
        <p:nvSpPr>
          <p:cNvPr id="5" name="TextBox 4">
            <a:extLst>
              <a:ext uri="{FF2B5EF4-FFF2-40B4-BE49-F238E27FC236}">
                <a16:creationId xmlns:a16="http://schemas.microsoft.com/office/drawing/2014/main" id="{E3737745-6B6D-4F09-93EF-3C6DDA2F030C}"/>
              </a:ext>
            </a:extLst>
          </p:cNvPr>
          <p:cNvSpPr txBox="1"/>
          <p:nvPr/>
        </p:nvSpPr>
        <p:spPr>
          <a:xfrm>
            <a:off x="685800" y="762000"/>
            <a:ext cx="10972800" cy="1477328"/>
          </a:xfrm>
          <a:prstGeom prst="rect">
            <a:avLst/>
          </a:prstGeom>
          <a:noFill/>
        </p:spPr>
        <p:txBody>
          <a:bodyPr wrap="square">
            <a:spAutoFit/>
          </a:bodyPr>
          <a:lstStyle/>
          <a:p>
            <a:r>
              <a:rPr lang="en-US" dirty="0"/>
              <a:t>Recurrent neural networks (RNN) are </a:t>
            </a:r>
            <a:r>
              <a:rPr lang="en-US" b="1" dirty="0"/>
              <a:t>the state of the art algorithm for sequential data</a:t>
            </a:r>
            <a:r>
              <a:rPr lang="en-US" dirty="0"/>
              <a:t> and are used by Apple's Siri and </a:t>
            </a:r>
            <a:r>
              <a:rPr lang="en-US" dirty="0" err="1"/>
              <a:t>and</a:t>
            </a:r>
            <a:r>
              <a:rPr lang="en-US" dirty="0"/>
              <a:t> Google's voice search. </a:t>
            </a:r>
          </a:p>
          <a:p>
            <a:endParaRPr lang="en-US" dirty="0"/>
          </a:p>
          <a:p>
            <a:r>
              <a:rPr lang="en-US" dirty="0"/>
              <a:t>It is one of the algorithms behind the scenes of the amazing achievements seen in deep learning over the past few years.</a:t>
            </a:r>
          </a:p>
        </p:txBody>
      </p:sp>
      <p:pic>
        <p:nvPicPr>
          <p:cNvPr id="7" name="Picture 6">
            <a:extLst>
              <a:ext uri="{FF2B5EF4-FFF2-40B4-BE49-F238E27FC236}">
                <a16:creationId xmlns:a16="http://schemas.microsoft.com/office/drawing/2014/main" id="{07E28936-18BD-431D-863B-5B627F30B1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2633118"/>
            <a:ext cx="9220200" cy="3976229"/>
          </a:xfrm>
          <a:prstGeom prst="rect">
            <a:avLst/>
          </a:prstGeom>
        </p:spPr>
      </p:pic>
    </p:spTree>
    <p:extLst>
      <p:ext uri="{BB962C8B-B14F-4D97-AF65-F5344CB8AC3E}">
        <p14:creationId xmlns:p14="http://schemas.microsoft.com/office/powerpoint/2010/main" val="3437417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516120" cy="697230"/>
          </a:xfrm>
          <a:prstGeom prst="rect">
            <a:avLst/>
          </a:prstGeom>
        </p:spPr>
        <p:txBody>
          <a:bodyPr vert="horz" wrap="square" lIns="0" tIns="13335" rIns="0" bIns="0" rtlCol="0">
            <a:spAutoFit/>
          </a:bodyPr>
          <a:lstStyle/>
          <a:p>
            <a:pPr marL="12700">
              <a:lnSpc>
                <a:spcPct val="100000"/>
              </a:lnSpc>
              <a:spcBef>
                <a:spcPts val="105"/>
              </a:spcBef>
            </a:pPr>
            <a:r>
              <a:rPr sz="4400" spc="-5" dirty="0"/>
              <a:t>Boltzmann</a:t>
            </a:r>
            <a:r>
              <a:rPr sz="4400" spc="-35" dirty="0"/>
              <a:t> </a:t>
            </a:r>
            <a:r>
              <a:rPr sz="4400" dirty="0"/>
              <a:t>Machine</a:t>
            </a:r>
            <a:endParaRPr sz="4400"/>
          </a:p>
        </p:txBody>
      </p:sp>
      <p:sp>
        <p:nvSpPr>
          <p:cNvPr id="3" name="object 3"/>
          <p:cNvSpPr txBox="1"/>
          <p:nvPr/>
        </p:nvSpPr>
        <p:spPr>
          <a:xfrm>
            <a:off x="916939" y="1793189"/>
            <a:ext cx="9793605" cy="4575420"/>
          </a:xfrm>
          <a:prstGeom prst="rect">
            <a:avLst/>
          </a:prstGeom>
        </p:spPr>
        <p:txBody>
          <a:bodyPr vert="horz" wrap="square" lIns="0" tIns="60325" rIns="0" bIns="0" rtlCol="0">
            <a:spAutoFit/>
          </a:bodyPr>
          <a:lstStyle/>
          <a:p>
            <a:pPr marL="241300" indent="-228600">
              <a:lnSpc>
                <a:spcPct val="100000"/>
              </a:lnSpc>
              <a:spcBef>
                <a:spcPts val="620"/>
              </a:spcBef>
              <a:buFont typeface="Arial MT"/>
              <a:buChar char="•"/>
              <a:tabLst>
                <a:tab pos="241300" algn="l"/>
              </a:tabLst>
            </a:pPr>
            <a:r>
              <a:rPr lang="en-US" sz="2400" dirty="0"/>
              <a:t>It is a network of neurons in which all the neurons are connected to each other. In this machine, there are two layers named visible layer or input layer and hidden layer. </a:t>
            </a:r>
          </a:p>
          <a:p>
            <a:pPr marL="241300" indent="-228600">
              <a:lnSpc>
                <a:spcPct val="100000"/>
              </a:lnSpc>
              <a:spcBef>
                <a:spcPts val="620"/>
              </a:spcBef>
              <a:buFont typeface="Arial MT"/>
              <a:buChar char="•"/>
              <a:tabLst>
                <a:tab pos="241300" algn="l"/>
              </a:tabLst>
            </a:pPr>
            <a:r>
              <a:rPr lang="en-US" sz="2400" dirty="0"/>
              <a:t>The visible layer is denoted as </a:t>
            </a:r>
            <a:r>
              <a:rPr lang="en-US" sz="2400" b="1" dirty="0"/>
              <a:t>v</a:t>
            </a:r>
            <a:r>
              <a:rPr lang="en-US" sz="2400" dirty="0"/>
              <a:t> and the hidden layer is denoted as the </a:t>
            </a:r>
            <a:r>
              <a:rPr lang="en-US" sz="2400" b="1" dirty="0"/>
              <a:t>h.</a:t>
            </a:r>
            <a:r>
              <a:rPr lang="en-US" sz="2400" dirty="0"/>
              <a:t> </a:t>
            </a:r>
          </a:p>
          <a:p>
            <a:pPr marL="241300" indent="-228600">
              <a:lnSpc>
                <a:spcPct val="100000"/>
              </a:lnSpc>
              <a:spcBef>
                <a:spcPts val="620"/>
              </a:spcBef>
              <a:buFont typeface="Arial MT"/>
              <a:buChar char="•"/>
              <a:tabLst>
                <a:tab pos="241300" algn="l"/>
              </a:tabLst>
            </a:pPr>
            <a:r>
              <a:rPr lang="en-US" sz="2400" dirty="0"/>
              <a:t>In Boltzmann machine, there is no output layer. </a:t>
            </a:r>
          </a:p>
          <a:p>
            <a:pPr marL="241300" indent="-228600">
              <a:lnSpc>
                <a:spcPct val="100000"/>
              </a:lnSpc>
              <a:spcBef>
                <a:spcPts val="620"/>
              </a:spcBef>
              <a:buFont typeface="Arial MT"/>
              <a:buChar char="•"/>
              <a:tabLst>
                <a:tab pos="241300" algn="l"/>
              </a:tabLst>
            </a:pPr>
            <a:r>
              <a:rPr lang="en-US" sz="2400" dirty="0"/>
              <a:t>Boltzmann machines are random and generative neural networks capable of learning internal representations and are able to represent and (given enough time) solve tough combinatoric problems.</a:t>
            </a:r>
            <a:endParaRPr lang="en-US" sz="2400" spc="-40" dirty="0">
              <a:latin typeface="Calibri"/>
              <a:cs typeface="Calibri"/>
            </a:endParaRPr>
          </a:p>
          <a:p>
            <a:pPr marL="241300" indent="-228600">
              <a:lnSpc>
                <a:spcPct val="100000"/>
              </a:lnSpc>
              <a:spcBef>
                <a:spcPts val="620"/>
              </a:spcBef>
              <a:buFont typeface="Arial MT"/>
              <a:buChar char="•"/>
              <a:tabLst>
                <a:tab pos="241300" algn="l"/>
              </a:tabLst>
            </a:pPr>
            <a:r>
              <a:rPr sz="2400" spc="-40" dirty="0">
                <a:latin typeface="Calibri"/>
                <a:cs typeface="Calibri"/>
              </a:rPr>
              <a:t>Very</a:t>
            </a:r>
            <a:r>
              <a:rPr sz="2400" spc="-5" dirty="0">
                <a:latin typeface="Calibri"/>
                <a:cs typeface="Calibri"/>
              </a:rPr>
              <a:t> </a:t>
            </a:r>
            <a:r>
              <a:rPr sz="2400" spc="-10" dirty="0">
                <a:latin typeface="Calibri"/>
                <a:cs typeface="Calibri"/>
              </a:rPr>
              <a:t>slow</a:t>
            </a:r>
            <a:r>
              <a:rPr sz="2400" spc="5" dirty="0">
                <a:latin typeface="Calibri"/>
                <a:cs typeface="Calibri"/>
              </a:rPr>
              <a:t> </a:t>
            </a:r>
            <a:r>
              <a:rPr sz="2400" spc="-5" dirty="0">
                <a:latin typeface="Calibri"/>
                <a:cs typeface="Calibri"/>
              </a:rPr>
              <a:t>learning</a:t>
            </a:r>
            <a:endParaRPr sz="2400" dirty="0">
              <a:latin typeface="Calibri"/>
              <a:cs typeface="Calibri"/>
            </a:endParaRPr>
          </a:p>
          <a:p>
            <a:pPr marL="241300" marR="988694" indent="-228600">
              <a:lnSpc>
                <a:spcPts val="3030"/>
              </a:lnSpc>
              <a:spcBef>
                <a:spcPts val="1040"/>
              </a:spcBef>
              <a:buFont typeface="Arial MT"/>
              <a:buChar char="•"/>
              <a:tabLst>
                <a:tab pos="241300" algn="l"/>
              </a:tabLst>
            </a:pPr>
            <a:r>
              <a:rPr sz="2400" spc="-15" dirty="0">
                <a:latin typeface="Calibri"/>
                <a:cs typeface="Calibri"/>
              </a:rPr>
              <a:t>For</a:t>
            </a:r>
            <a:r>
              <a:rPr sz="2400" spc="-5" dirty="0">
                <a:latin typeface="Calibri"/>
                <a:cs typeface="Calibri"/>
              </a:rPr>
              <a:t> searching,</a:t>
            </a:r>
            <a:r>
              <a:rPr sz="2400" spc="20" dirty="0">
                <a:latin typeface="Calibri"/>
                <a:cs typeface="Calibri"/>
              </a:rPr>
              <a:t> </a:t>
            </a:r>
            <a:r>
              <a:rPr sz="2400" spc="-5" dirty="0">
                <a:latin typeface="Calibri"/>
                <a:cs typeface="Calibri"/>
              </a:rPr>
              <a:t>Boltzmann</a:t>
            </a:r>
            <a:r>
              <a:rPr sz="2400" spc="20" dirty="0">
                <a:latin typeface="Calibri"/>
                <a:cs typeface="Calibri"/>
              </a:rPr>
              <a:t> </a:t>
            </a:r>
            <a:r>
              <a:rPr sz="2400" spc="-5" dirty="0">
                <a:latin typeface="Calibri"/>
                <a:cs typeface="Calibri"/>
              </a:rPr>
              <a:t>machine</a:t>
            </a:r>
            <a:r>
              <a:rPr sz="2400" spc="30" dirty="0">
                <a:latin typeface="Calibri"/>
                <a:cs typeface="Calibri"/>
              </a:rPr>
              <a:t> </a:t>
            </a:r>
            <a:r>
              <a:rPr sz="2400" spc="-5" dirty="0">
                <a:latin typeface="Calibri"/>
                <a:cs typeface="Calibri"/>
              </a:rPr>
              <a:t>has</a:t>
            </a:r>
            <a:r>
              <a:rPr sz="2400" spc="20" dirty="0">
                <a:latin typeface="Calibri"/>
                <a:cs typeface="Calibri"/>
              </a:rPr>
              <a:t> </a:t>
            </a:r>
            <a:r>
              <a:rPr sz="2400" spc="-20" dirty="0">
                <a:latin typeface="Calibri"/>
                <a:cs typeface="Calibri"/>
              </a:rPr>
              <a:t>fixed</a:t>
            </a:r>
            <a:r>
              <a:rPr sz="2400" spc="5" dirty="0">
                <a:latin typeface="Calibri"/>
                <a:cs typeface="Calibri"/>
              </a:rPr>
              <a:t> </a:t>
            </a:r>
            <a:r>
              <a:rPr sz="2400" spc="-10" dirty="0">
                <a:latin typeface="Calibri"/>
                <a:cs typeface="Calibri"/>
              </a:rPr>
              <a:t>weights</a:t>
            </a:r>
            <a:r>
              <a:rPr sz="2400" spc="15" dirty="0">
                <a:latin typeface="Calibri"/>
                <a:cs typeface="Calibri"/>
              </a:rPr>
              <a:t> </a:t>
            </a:r>
            <a:r>
              <a:rPr sz="2400" spc="-5" dirty="0">
                <a:latin typeface="Calibri"/>
                <a:cs typeface="Calibri"/>
              </a:rPr>
              <a:t>on</a:t>
            </a:r>
            <a:r>
              <a:rPr sz="2400" spc="15" dirty="0">
                <a:latin typeface="Calibri"/>
                <a:cs typeface="Calibri"/>
              </a:rPr>
              <a:t> </a:t>
            </a:r>
            <a:r>
              <a:rPr sz="2400" spc="-5" dirty="0">
                <a:latin typeface="Calibri"/>
                <a:cs typeface="Calibri"/>
              </a:rPr>
              <a:t>the </a:t>
            </a:r>
            <a:r>
              <a:rPr sz="2400" spc="-615" dirty="0">
                <a:latin typeface="Calibri"/>
                <a:cs typeface="Calibri"/>
              </a:rPr>
              <a:t> </a:t>
            </a:r>
            <a:r>
              <a:rPr sz="2400" spc="-10" dirty="0">
                <a:latin typeface="Calibri"/>
                <a:cs typeface="Calibri"/>
              </a:rPr>
              <a:t>connection</a:t>
            </a:r>
            <a:r>
              <a:rPr sz="2400" spc="35" dirty="0">
                <a:latin typeface="Calibri"/>
                <a:cs typeface="Calibri"/>
              </a:rPr>
              <a:t> </a:t>
            </a:r>
            <a:r>
              <a:rPr sz="2400" spc="-10" dirty="0">
                <a:latin typeface="Calibri"/>
                <a:cs typeface="Calibri"/>
              </a:rPr>
              <a:t>but</a:t>
            </a:r>
            <a:r>
              <a:rPr sz="2400" spc="25" dirty="0">
                <a:latin typeface="Calibri"/>
                <a:cs typeface="Calibri"/>
              </a:rPr>
              <a:t> </a:t>
            </a:r>
            <a:r>
              <a:rPr sz="2400" spc="-25" dirty="0">
                <a:latin typeface="Calibri"/>
                <a:cs typeface="Calibri"/>
              </a:rPr>
              <a:t>for</a:t>
            </a:r>
            <a:r>
              <a:rPr sz="2400" spc="5" dirty="0">
                <a:latin typeface="Calibri"/>
                <a:cs typeface="Calibri"/>
              </a:rPr>
              <a:t> </a:t>
            </a:r>
            <a:r>
              <a:rPr sz="2400" spc="-5" dirty="0">
                <a:latin typeface="Calibri"/>
                <a:cs typeface="Calibri"/>
              </a:rPr>
              <a:t>learning</a:t>
            </a:r>
            <a:r>
              <a:rPr sz="2400" spc="20" dirty="0">
                <a:latin typeface="Calibri"/>
                <a:cs typeface="Calibri"/>
              </a:rPr>
              <a:t> </a:t>
            </a:r>
            <a:r>
              <a:rPr sz="2400" spc="-10" dirty="0">
                <a:latin typeface="Calibri"/>
                <a:cs typeface="Calibri"/>
              </a:rPr>
              <a:t>weights</a:t>
            </a:r>
            <a:r>
              <a:rPr sz="2400" dirty="0">
                <a:latin typeface="Calibri"/>
                <a:cs typeface="Calibri"/>
              </a:rPr>
              <a:t> </a:t>
            </a:r>
            <a:r>
              <a:rPr sz="2400" spc="-10" dirty="0">
                <a:latin typeface="Calibri"/>
                <a:cs typeface="Calibri"/>
              </a:rPr>
              <a:t>use</a:t>
            </a:r>
            <a:r>
              <a:rPr sz="2400" spc="30" dirty="0">
                <a:latin typeface="Calibri"/>
                <a:cs typeface="Calibri"/>
              </a:rPr>
              <a:t> </a:t>
            </a:r>
            <a:r>
              <a:rPr sz="2400" spc="-5" dirty="0">
                <a:latin typeface="Calibri"/>
                <a:cs typeface="Calibri"/>
              </a:rPr>
              <a:t>small</a:t>
            </a:r>
            <a:r>
              <a:rPr sz="2400" spc="5" dirty="0">
                <a:latin typeface="Calibri"/>
                <a:cs typeface="Calibri"/>
              </a:rPr>
              <a:t> </a:t>
            </a:r>
            <a:r>
              <a:rPr sz="2400" spc="-15" dirty="0">
                <a:latin typeface="Calibri"/>
                <a:cs typeface="Calibri"/>
              </a:rPr>
              <a:t>update</a:t>
            </a:r>
            <a:endParaRPr sz="2400" dirty="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0BFA7-A9A3-4A93-B96B-EA4F94A9004F}"/>
              </a:ext>
            </a:extLst>
          </p:cNvPr>
          <p:cNvSpPr>
            <a:spLocks noGrp="1"/>
          </p:cNvSpPr>
          <p:nvPr>
            <p:ph type="title"/>
          </p:nvPr>
        </p:nvSpPr>
        <p:spPr>
          <a:xfrm>
            <a:off x="914400" y="685800"/>
            <a:ext cx="8173973" cy="2954655"/>
          </a:xfrm>
        </p:spPr>
        <p:txBody>
          <a:bodyPr/>
          <a:lstStyle/>
          <a:p>
            <a:pPr marL="342900" indent="-342900">
              <a:buFont typeface="Arial" panose="020B0604020202020204" pitchFamily="34" charset="0"/>
              <a:buChar char="•"/>
            </a:pPr>
            <a:r>
              <a:rPr lang="en-US" sz="2400" dirty="0"/>
              <a:t>Boltzmann machines are typically used to </a:t>
            </a:r>
            <a:r>
              <a:rPr lang="en-US" sz="2400" b="1" dirty="0"/>
              <a:t>solve different computational problems</a:t>
            </a:r>
            <a:r>
              <a:rPr lang="en-US" sz="2400" dirty="0"/>
              <a:t> such as, for a search problem, the weights present on the connections can be fixed and are used to represent the cost function of the optimization problem</a:t>
            </a:r>
            <a:br>
              <a:rPr lang="en-US" sz="2400" dirty="0"/>
            </a:br>
            <a:br>
              <a:rPr lang="en-US" sz="2400" dirty="0"/>
            </a:br>
            <a:br>
              <a:rPr lang="en-US" sz="2400" dirty="0"/>
            </a:br>
            <a:br>
              <a:rPr lang="en-US" sz="2400" dirty="0"/>
            </a:br>
            <a:endParaRPr lang="en-US" sz="2400" dirty="0"/>
          </a:p>
        </p:txBody>
      </p:sp>
      <p:pic>
        <p:nvPicPr>
          <p:cNvPr id="5" name="Picture 4">
            <a:extLst>
              <a:ext uri="{FF2B5EF4-FFF2-40B4-BE49-F238E27FC236}">
                <a16:creationId xmlns:a16="http://schemas.microsoft.com/office/drawing/2014/main" id="{87CE0508-41E5-4FA8-9C24-1A9FA7F0A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590800"/>
            <a:ext cx="5495925" cy="3733800"/>
          </a:xfrm>
          <a:prstGeom prst="rect">
            <a:avLst/>
          </a:prstGeom>
        </p:spPr>
      </p:pic>
    </p:spTree>
    <p:extLst>
      <p:ext uri="{BB962C8B-B14F-4D97-AF65-F5344CB8AC3E}">
        <p14:creationId xmlns:p14="http://schemas.microsoft.com/office/powerpoint/2010/main" val="3309075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AAA5A3-BCAA-4874-9275-A1D8BAD6E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285874"/>
            <a:ext cx="6567487" cy="4962525"/>
          </a:xfrm>
          <a:prstGeom prst="rect">
            <a:avLst/>
          </a:prstGeom>
        </p:spPr>
      </p:pic>
    </p:spTree>
    <p:extLst>
      <p:ext uri="{BB962C8B-B14F-4D97-AF65-F5344CB8AC3E}">
        <p14:creationId xmlns:p14="http://schemas.microsoft.com/office/powerpoint/2010/main" val="2600665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531745" cy="697230"/>
          </a:xfrm>
          <a:prstGeom prst="rect">
            <a:avLst/>
          </a:prstGeom>
        </p:spPr>
        <p:txBody>
          <a:bodyPr vert="horz" wrap="square" lIns="0" tIns="13335" rIns="0" bIns="0" rtlCol="0">
            <a:spAutoFit/>
          </a:bodyPr>
          <a:lstStyle/>
          <a:p>
            <a:pPr marL="12700">
              <a:lnSpc>
                <a:spcPct val="100000"/>
              </a:lnSpc>
              <a:spcBef>
                <a:spcPts val="105"/>
              </a:spcBef>
            </a:pPr>
            <a:r>
              <a:rPr sz="4400" spc="-10" dirty="0"/>
              <a:t>Fuzzy</a:t>
            </a:r>
            <a:r>
              <a:rPr sz="4400" spc="-65" dirty="0"/>
              <a:t> </a:t>
            </a:r>
            <a:r>
              <a:rPr sz="4400" dirty="0"/>
              <a:t>Logic</a:t>
            </a:r>
            <a:endParaRPr sz="4400"/>
          </a:p>
        </p:txBody>
      </p:sp>
      <p:sp>
        <p:nvSpPr>
          <p:cNvPr id="3" name="object 3"/>
          <p:cNvSpPr txBox="1"/>
          <p:nvPr/>
        </p:nvSpPr>
        <p:spPr>
          <a:xfrm>
            <a:off x="916939" y="1706841"/>
            <a:ext cx="10282555" cy="4059894"/>
          </a:xfrm>
          <a:prstGeom prst="rect">
            <a:avLst/>
          </a:prstGeom>
        </p:spPr>
        <p:txBody>
          <a:bodyPr vert="horz" wrap="square" lIns="0" tIns="98425" rIns="0" bIns="0" rtlCol="0">
            <a:spAutoFit/>
          </a:bodyPr>
          <a:lstStyle/>
          <a:p>
            <a:pPr marL="241300" marR="372110" indent="-228600">
              <a:lnSpc>
                <a:spcPts val="3020"/>
              </a:lnSpc>
              <a:spcBef>
                <a:spcPts val="1010"/>
              </a:spcBef>
              <a:buFont typeface="Arial MT"/>
              <a:buChar char="•"/>
              <a:tabLst>
                <a:tab pos="241300" algn="l"/>
              </a:tabLst>
            </a:pPr>
            <a:r>
              <a:rPr lang="en-US" sz="2400" dirty="0"/>
              <a:t>Fuzzy Logic resembles the human decision-making methodology and deals with vague and imprecise information.</a:t>
            </a:r>
            <a:endParaRPr lang="en-US" sz="2400" spc="-10" dirty="0">
              <a:latin typeface="Calibri"/>
              <a:cs typeface="Calibri"/>
            </a:endParaRPr>
          </a:p>
          <a:p>
            <a:pPr marL="241300" marR="372110" indent="-228600">
              <a:lnSpc>
                <a:spcPts val="3020"/>
              </a:lnSpc>
              <a:spcBef>
                <a:spcPts val="1010"/>
              </a:spcBef>
              <a:buFont typeface="Arial MT"/>
              <a:buChar char="•"/>
              <a:tabLst>
                <a:tab pos="241300" algn="l"/>
              </a:tabLst>
            </a:pPr>
            <a:r>
              <a:rPr sz="2400" spc="-10" dirty="0">
                <a:latin typeface="Calibri"/>
                <a:cs typeface="Calibri"/>
              </a:rPr>
              <a:t>Fuzzy</a:t>
            </a:r>
            <a:r>
              <a:rPr sz="2400" spc="10" dirty="0">
                <a:latin typeface="Calibri"/>
                <a:cs typeface="Calibri"/>
              </a:rPr>
              <a:t> </a:t>
            </a:r>
            <a:r>
              <a:rPr sz="2400" spc="-5" dirty="0">
                <a:latin typeface="Calibri"/>
                <a:cs typeface="Calibri"/>
              </a:rPr>
              <a:t>logic</a:t>
            </a:r>
            <a:r>
              <a:rPr sz="2400" spc="10" dirty="0">
                <a:latin typeface="Calibri"/>
                <a:cs typeface="Calibri"/>
              </a:rPr>
              <a:t> </a:t>
            </a:r>
            <a:r>
              <a:rPr sz="2400" spc="-10" dirty="0">
                <a:latin typeface="Calibri"/>
                <a:cs typeface="Calibri"/>
              </a:rPr>
              <a:t>is</a:t>
            </a:r>
            <a:r>
              <a:rPr sz="2400" spc="20" dirty="0">
                <a:latin typeface="Calibri"/>
                <a:cs typeface="Calibri"/>
              </a:rPr>
              <a:t> </a:t>
            </a:r>
            <a:r>
              <a:rPr sz="2400" spc="-5" dirty="0">
                <a:latin typeface="Calibri"/>
                <a:cs typeface="Calibri"/>
              </a:rPr>
              <a:t>a</a:t>
            </a:r>
            <a:r>
              <a:rPr sz="2400" spc="15" dirty="0">
                <a:latin typeface="Calibri"/>
                <a:cs typeface="Calibri"/>
              </a:rPr>
              <a:t> </a:t>
            </a:r>
            <a:r>
              <a:rPr sz="2400" spc="-10" dirty="0">
                <a:latin typeface="Calibri"/>
                <a:cs typeface="Calibri"/>
              </a:rPr>
              <a:t>concept</a:t>
            </a:r>
            <a:r>
              <a:rPr sz="2400" spc="30" dirty="0">
                <a:latin typeface="Calibri"/>
                <a:cs typeface="Calibri"/>
              </a:rPr>
              <a:t> </a:t>
            </a:r>
            <a:r>
              <a:rPr sz="2400" spc="-5" dirty="0">
                <a:latin typeface="Calibri"/>
                <a:cs typeface="Calibri"/>
              </a:rPr>
              <a:t>of</a:t>
            </a:r>
            <a:r>
              <a:rPr sz="2400" dirty="0">
                <a:latin typeface="Calibri"/>
                <a:cs typeface="Calibri"/>
              </a:rPr>
              <a:t> </a:t>
            </a:r>
            <a:r>
              <a:rPr sz="2400" spc="-10" dirty="0">
                <a:latin typeface="Calibri"/>
                <a:cs typeface="Calibri"/>
              </a:rPr>
              <a:t>partial</a:t>
            </a:r>
            <a:r>
              <a:rPr sz="2400" spc="10" dirty="0">
                <a:latin typeface="Calibri"/>
                <a:cs typeface="Calibri"/>
              </a:rPr>
              <a:t> </a:t>
            </a:r>
            <a:r>
              <a:rPr sz="2400" spc="-5" dirty="0">
                <a:latin typeface="Calibri"/>
                <a:cs typeface="Calibri"/>
              </a:rPr>
              <a:t>truth</a:t>
            </a:r>
            <a:r>
              <a:rPr sz="2400" spc="30" dirty="0">
                <a:latin typeface="Calibri"/>
                <a:cs typeface="Calibri"/>
              </a:rPr>
              <a:t> </a:t>
            </a:r>
            <a:r>
              <a:rPr sz="2400" spc="-10" dirty="0">
                <a:latin typeface="Calibri"/>
                <a:cs typeface="Calibri"/>
              </a:rPr>
              <a:t>where</a:t>
            </a:r>
            <a:r>
              <a:rPr sz="2400" spc="20" dirty="0">
                <a:latin typeface="Calibri"/>
                <a:cs typeface="Calibri"/>
              </a:rPr>
              <a:t> </a:t>
            </a:r>
            <a:r>
              <a:rPr sz="2400" spc="-5" dirty="0">
                <a:latin typeface="Calibri"/>
                <a:cs typeface="Calibri"/>
              </a:rPr>
              <a:t>true</a:t>
            </a:r>
            <a:r>
              <a:rPr sz="2400" spc="20" dirty="0">
                <a:latin typeface="Calibri"/>
                <a:cs typeface="Calibri"/>
              </a:rPr>
              <a:t> </a:t>
            </a:r>
            <a:r>
              <a:rPr sz="2400" spc="-10" dirty="0">
                <a:latin typeface="Calibri"/>
                <a:cs typeface="Calibri"/>
              </a:rPr>
              <a:t>value</a:t>
            </a:r>
            <a:r>
              <a:rPr sz="2400" spc="5" dirty="0">
                <a:latin typeface="Calibri"/>
                <a:cs typeface="Calibri"/>
              </a:rPr>
              <a:t> </a:t>
            </a:r>
            <a:r>
              <a:rPr sz="2400" spc="-20" dirty="0">
                <a:latin typeface="Calibri"/>
                <a:cs typeface="Calibri"/>
              </a:rPr>
              <a:t>may</a:t>
            </a:r>
            <a:r>
              <a:rPr sz="2400" spc="5" dirty="0">
                <a:latin typeface="Calibri"/>
                <a:cs typeface="Calibri"/>
              </a:rPr>
              <a:t> </a:t>
            </a:r>
            <a:r>
              <a:rPr sz="2400" spc="-20" dirty="0">
                <a:latin typeface="Calibri"/>
                <a:cs typeface="Calibri"/>
              </a:rPr>
              <a:t>range </a:t>
            </a:r>
            <a:r>
              <a:rPr sz="2400" spc="-620" dirty="0">
                <a:latin typeface="Calibri"/>
                <a:cs typeface="Calibri"/>
              </a:rPr>
              <a:t> </a:t>
            </a:r>
            <a:r>
              <a:rPr sz="2400" spc="-10" dirty="0">
                <a:latin typeface="Calibri"/>
                <a:cs typeface="Calibri"/>
              </a:rPr>
              <a:t>between</a:t>
            </a:r>
            <a:r>
              <a:rPr sz="2400" dirty="0">
                <a:latin typeface="Calibri"/>
                <a:cs typeface="Calibri"/>
              </a:rPr>
              <a:t> </a:t>
            </a:r>
            <a:r>
              <a:rPr sz="2400" spc="-10" dirty="0">
                <a:latin typeface="Calibri"/>
                <a:cs typeface="Calibri"/>
              </a:rPr>
              <a:t>completely</a:t>
            </a:r>
            <a:r>
              <a:rPr sz="2400" spc="5" dirty="0">
                <a:latin typeface="Calibri"/>
                <a:cs typeface="Calibri"/>
              </a:rPr>
              <a:t> </a:t>
            </a:r>
            <a:r>
              <a:rPr sz="2400" spc="-5" dirty="0">
                <a:latin typeface="Calibri"/>
                <a:cs typeface="Calibri"/>
              </a:rPr>
              <a:t>true</a:t>
            </a:r>
            <a:r>
              <a:rPr sz="2400" spc="15" dirty="0">
                <a:latin typeface="Calibri"/>
                <a:cs typeface="Calibri"/>
              </a:rPr>
              <a:t> </a:t>
            </a:r>
            <a:r>
              <a:rPr sz="2400" spc="-5" dirty="0">
                <a:latin typeface="Calibri"/>
                <a:cs typeface="Calibri"/>
              </a:rPr>
              <a:t>or</a:t>
            </a:r>
            <a:r>
              <a:rPr sz="2400" spc="5" dirty="0">
                <a:latin typeface="Calibri"/>
                <a:cs typeface="Calibri"/>
              </a:rPr>
              <a:t> </a:t>
            </a:r>
            <a:r>
              <a:rPr sz="2400" spc="-10" dirty="0">
                <a:latin typeface="Calibri"/>
                <a:cs typeface="Calibri"/>
              </a:rPr>
              <a:t>completely</a:t>
            </a:r>
            <a:r>
              <a:rPr sz="2400" dirty="0">
                <a:latin typeface="Calibri"/>
                <a:cs typeface="Calibri"/>
              </a:rPr>
              <a:t> </a:t>
            </a:r>
            <a:r>
              <a:rPr sz="2400" spc="-15" dirty="0">
                <a:latin typeface="Calibri"/>
                <a:cs typeface="Calibri"/>
              </a:rPr>
              <a:t>false</a:t>
            </a:r>
            <a:endParaRPr lang="en-US" sz="2400" spc="-15" dirty="0">
              <a:latin typeface="Calibri"/>
              <a:cs typeface="Calibri"/>
            </a:endParaRPr>
          </a:p>
          <a:p>
            <a:pPr marL="241300" marR="372110" indent="-228600">
              <a:lnSpc>
                <a:spcPts val="3020"/>
              </a:lnSpc>
              <a:spcBef>
                <a:spcPts val="1010"/>
              </a:spcBef>
              <a:buFont typeface="Arial MT"/>
              <a:buChar char="•"/>
              <a:tabLst>
                <a:tab pos="241300" algn="l"/>
              </a:tabLst>
            </a:pPr>
            <a:r>
              <a:rPr lang="en-US" sz="2400" dirty="0"/>
              <a:t>Fuzzy Logic resembles the human decision-making methodology. It deals with vague and imprecise information. </a:t>
            </a:r>
          </a:p>
          <a:p>
            <a:pPr marL="241300" marR="372110" indent="-228600">
              <a:lnSpc>
                <a:spcPts val="3020"/>
              </a:lnSpc>
              <a:spcBef>
                <a:spcPts val="1010"/>
              </a:spcBef>
              <a:buFont typeface="Arial MT"/>
              <a:buChar char="•"/>
              <a:tabLst>
                <a:tab pos="241300" algn="l"/>
              </a:tabLst>
            </a:pPr>
            <a:r>
              <a:rPr lang="en-US" sz="2400" dirty="0"/>
              <a:t>This is gross oversimplification of the real-world problems and based on degrees of truth rather than usual true/false or 1/0 like Boolean logic.</a:t>
            </a:r>
          </a:p>
          <a:p>
            <a:pPr marL="241300" marR="372110" indent="-228600">
              <a:lnSpc>
                <a:spcPts val="3020"/>
              </a:lnSpc>
              <a:spcBef>
                <a:spcPts val="1010"/>
              </a:spcBef>
              <a:buFont typeface="Arial MT"/>
              <a:buChar char="•"/>
              <a:tabLst>
                <a:tab pos="241300" algn="l"/>
              </a:tabLst>
            </a:pPr>
            <a:endParaRPr sz="2400" dirty="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531745" cy="697230"/>
          </a:xfrm>
          <a:prstGeom prst="rect">
            <a:avLst/>
          </a:prstGeom>
        </p:spPr>
        <p:txBody>
          <a:bodyPr vert="horz" wrap="square" lIns="0" tIns="13335" rIns="0" bIns="0" rtlCol="0">
            <a:spAutoFit/>
          </a:bodyPr>
          <a:lstStyle/>
          <a:p>
            <a:pPr marL="12700">
              <a:lnSpc>
                <a:spcPct val="100000"/>
              </a:lnSpc>
              <a:spcBef>
                <a:spcPts val="105"/>
              </a:spcBef>
            </a:pPr>
            <a:r>
              <a:rPr sz="4400" spc="-10" dirty="0"/>
              <a:t>Fuzzy</a:t>
            </a:r>
            <a:r>
              <a:rPr sz="4400" spc="-65" dirty="0"/>
              <a:t> </a:t>
            </a:r>
            <a:r>
              <a:rPr sz="4400" dirty="0"/>
              <a:t>Logic</a:t>
            </a:r>
          </a:p>
        </p:txBody>
      </p:sp>
      <p:sp>
        <p:nvSpPr>
          <p:cNvPr id="3" name="object 3"/>
          <p:cNvSpPr txBox="1"/>
          <p:nvPr/>
        </p:nvSpPr>
        <p:spPr>
          <a:xfrm>
            <a:off x="916939" y="1706841"/>
            <a:ext cx="10282555" cy="2649251"/>
          </a:xfrm>
          <a:prstGeom prst="rect">
            <a:avLst/>
          </a:prstGeom>
        </p:spPr>
        <p:txBody>
          <a:bodyPr vert="horz" wrap="square" lIns="0" tIns="98425" rIns="0" bIns="0" rtlCol="0">
            <a:spAutoFit/>
          </a:bodyPr>
          <a:lstStyle/>
          <a:p>
            <a:pPr marL="241300" marR="372110" indent="-228600">
              <a:lnSpc>
                <a:spcPts val="3020"/>
              </a:lnSpc>
              <a:spcBef>
                <a:spcPts val="1010"/>
              </a:spcBef>
              <a:buFont typeface="Arial MT"/>
              <a:buChar char="•"/>
              <a:tabLst>
                <a:tab pos="241300" algn="l"/>
              </a:tabLst>
            </a:pPr>
            <a:r>
              <a:rPr lang="en-US" sz="2400" dirty="0"/>
              <a:t>Take a look at the following diagram. It shows that in fuzzy systems, the values are indicated by a number in the range from 0 to 1. </a:t>
            </a:r>
          </a:p>
          <a:p>
            <a:pPr marL="241300" marR="372110" indent="-228600">
              <a:lnSpc>
                <a:spcPts val="3020"/>
              </a:lnSpc>
              <a:spcBef>
                <a:spcPts val="1010"/>
              </a:spcBef>
              <a:buFont typeface="Arial MT"/>
              <a:buChar char="•"/>
              <a:tabLst>
                <a:tab pos="241300" algn="l"/>
              </a:tabLst>
            </a:pPr>
            <a:r>
              <a:rPr lang="en-US" sz="2400" dirty="0"/>
              <a:t>Here 1.0 represents </a:t>
            </a:r>
            <a:r>
              <a:rPr lang="en-US" sz="2400" b="1" dirty="0"/>
              <a:t>absolute truth</a:t>
            </a:r>
            <a:r>
              <a:rPr lang="en-US" sz="2400" dirty="0"/>
              <a:t> and 0.0 represents </a:t>
            </a:r>
            <a:r>
              <a:rPr lang="en-US" sz="2400" b="1" dirty="0"/>
              <a:t>absolute falseness</a:t>
            </a:r>
            <a:r>
              <a:rPr lang="en-US" sz="2400" dirty="0"/>
              <a:t>. The number which indicates the value in fuzzy systems is called the </a:t>
            </a:r>
            <a:r>
              <a:rPr lang="en-US" sz="2400" b="1" dirty="0"/>
              <a:t>truth value</a:t>
            </a:r>
            <a:r>
              <a:rPr lang="en-US" sz="2400" dirty="0"/>
              <a:t>.</a:t>
            </a:r>
          </a:p>
          <a:p>
            <a:pPr marL="241300" marR="372110" indent="-228600">
              <a:lnSpc>
                <a:spcPts val="3020"/>
              </a:lnSpc>
              <a:spcBef>
                <a:spcPts val="1010"/>
              </a:spcBef>
              <a:buFont typeface="Arial MT"/>
              <a:buChar char="•"/>
              <a:tabLst>
                <a:tab pos="241300" algn="l"/>
              </a:tabLst>
            </a:pPr>
            <a:endParaRPr sz="2400" dirty="0">
              <a:latin typeface="Calibri"/>
              <a:cs typeface="Calibri"/>
            </a:endParaRPr>
          </a:p>
        </p:txBody>
      </p:sp>
      <p:pic>
        <p:nvPicPr>
          <p:cNvPr id="5" name="Picture 4">
            <a:extLst>
              <a:ext uri="{FF2B5EF4-FFF2-40B4-BE49-F238E27FC236}">
                <a16:creationId xmlns:a16="http://schemas.microsoft.com/office/drawing/2014/main" id="{EDDEAAA0-7CDE-4E31-8F1A-4CECF0BA9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2811" y="3886200"/>
            <a:ext cx="5334744" cy="2753109"/>
          </a:xfrm>
          <a:prstGeom prst="rect">
            <a:avLst/>
          </a:prstGeom>
        </p:spPr>
      </p:pic>
    </p:spTree>
    <p:extLst>
      <p:ext uri="{BB962C8B-B14F-4D97-AF65-F5344CB8AC3E}">
        <p14:creationId xmlns:p14="http://schemas.microsoft.com/office/powerpoint/2010/main" val="1445703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777B65-E36F-4921-AE83-ED5562C8A89C}"/>
              </a:ext>
            </a:extLst>
          </p:cNvPr>
          <p:cNvSpPr txBox="1"/>
          <p:nvPr/>
        </p:nvSpPr>
        <p:spPr>
          <a:xfrm>
            <a:off x="990600" y="914400"/>
            <a:ext cx="10439400" cy="2677656"/>
          </a:xfrm>
          <a:prstGeom prst="rect">
            <a:avLst/>
          </a:prstGeom>
          <a:noFill/>
        </p:spPr>
        <p:txBody>
          <a:bodyPr wrap="square">
            <a:spAutoFit/>
          </a:bodyPr>
          <a:lstStyle/>
          <a:p>
            <a:pPr marL="342900" indent="-342900">
              <a:buFont typeface="Arial" panose="020B0604020202020204" pitchFamily="34" charset="0"/>
              <a:buChar char="•"/>
            </a:pPr>
            <a:r>
              <a:rPr lang="en-US" sz="2400" dirty="0"/>
              <a:t>In other words, we can say that fuzzy logic is not logic that is fuzzy, but logic that is used to describe fuzziness. </a:t>
            </a:r>
          </a:p>
          <a:p>
            <a:pPr marL="342900" indent="-342900">
              <a:buFont typeface="Arial" panose="020B0604020202020204" pitchFamily="34" charset="0"/>
              <a:buChar char="•"/>
            </a:pPr>
            <a:r>
              <a:rPr lang="en-US" sz="2400" dirty="0"/>
              <a:t>There can be numerous other examples like this with the help of which we can understand the concept of fuzzy logic.</a:t>
            </a:r>
          </a:p>
          <a:p>
            <a:pPr marL="342900" indent="-342900">
              <a:buFont typeface="Arial" panose="020B0604020202020204" pitchFamily="34" charset="0"/>
              <a:buChar char="•"/>
            </a:pPr>
            <a:r>
              <a:rPr lang="en-US" sz="2400" dirty="0"/>
              <a:t>Fuzzy Logic was introduced in 1965 by </a:t>
            </a:r>
            <a:r>
              <a:rPr lang="en-US" sz="2400" dirty="0" err="1"/>
              <a:t>Lofti</a:t>
            </a:r>
            <a:r>
              <a:rPr lang="en-US" sz="2400" dirty="0"/>
              <a:t> A. Zadeh in his research paper “Fuzzy Sets”. </a:t>
            </a:r>
          </a:p>
          <a:p>
            <a:pPr marL="342900" indent="-342900">
              <a:buFont typeface="Arial" panose="020B0604020202020204" pitchFamily="34" charset="0"/>
              <a:buChar char="•"/>
            </a:pPr>
            <a:r>
              <a:rPr lang="en-US" sz="2400" dirty="0"/>
              <a:t>He is considered as the father of Fuzzy Logic</a:t>
            </a:r>
          </a:p>
        </p:txBody>
      </p:sp>
    </p:spTree>
    <p:extLst>
      <p:ext uri="{BB962C8B-B14F-4D97-AF65-F5344CB8AC3E}">
        <p14:creationId xmlns:p14="http://schemas.microsoft.com/office/powerpoint/2010/main" val="553292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531745" cy="697230"/>
          </a:xfrm>
          <a:prstGeom prst="rect">
            <a:avLst/>
          </a:prstGeom>
        </p:spPr>
        <p:txBody>
          <a:bodyPr vert="horz" wrap="square" lIns="0" tIns="13335" rIns="0" bIns="0" rtlCol="0">
            <a:spAutoFit/>
          </a:bodyPr>
          <a:lstStyle/>
          <a:p>
            <a:pPr marL="12700">
              <a:lnSpc>
                <a:spcPct val="100000"/>
              </a:lnSpc>
              <a:spcBef>
                <a:spcPts val="105"/>
              </a:spcBef>
            </a:pPr>
            <a:r>
              <a:rPr sz="4400" spc="-10" dirty="0"/>
              <a:t>Fuzzy</a:t>
            </a:r>
            <a:r>
              <a:rPr sz="4400" spc="-65" dirty="0"/>
              <a:t> </a:t>
            </a:r>
            <a:r>
              <a:rPr sz="4400" dirty="0"/>
              <a:t>Logic</a:t>
            </a:r>
            <a:endParaRPr sz="4400"/>
          </a:p>
        </p:txBody>
      </p:sp>
      <p:sp>
        <p:nvSpPr>
          <p:cNvPr id="3" name="object 3"/>
          <p:cNvSpPr txBox="1"/>
          <p:nvPr/>
        </p:nvSpPr>
        <p:spPr>
          <a:xfrm>
            <a:off x="891539" y="1793189"/>
            <a:ext cx="10046335" cy="3776979"/>
          </a:xfrm>
          <a:prstGeom prst="rect">
            <a:avLst/>
          </a:prstGeom>
        </p:spPr>
        <p:txBody>
          <a:bodyPr vert="horz" wrap="square" lIns="0" tIns="60325" rIns="0" bIns="0" rtlCol="0">
            <a:spAutoFit/>
          </a:bodyPr>
          <a:lstStyle/>
          <a:p>
            <a:pPr marL="266700" marR="210820" indent="-228600">
              <a:lnSpc>
                <a:spcPts val="3030"/>
              </a:lnSpc>
              <a:spcBef>
                <a:spcPts val="475"/>
              </a:spcBef>
              <a:buFont typeface="Arial MT"/>
              <a:buChar char="•"/>
              <a:tabLst>
                <a:tab pos="266700" algn="l"/>
              </a:tabLst>
            </a:pPr>
            <a:r>
              <a:rPr sz="2800" spc="-10" dirty="0">
                <a:latin typeface="Calibri"/>
                <a:cs typeface="Calibri"/>
              </a:rPr>
              <a:t>Fuzzy</a:t>
            </a:r>
            <a:r>
              <a:rPr sz="2800" spc="10" dirty="0">
                <a:latin typeface="Calibri"/>
                <a:cs typeface="Calibri"/>
              </a:rPr>
              <a:t> </a:t>
            </a:r>
            <a:r>
              <a:rPr sz="2800" spc="-5" dirty="0">
                <a:latin typeface="Calibri"/>
                <a:cs typeface="Calibri"/>
              </a:rPr>
              <a:t>logic</a:t>
            </a:r>
            <a:r>
              <a:rPr sz="2800" spc="5" dirty="0">
                <a:latin typeface="Calibri"/>
                <a:cs typeface="Calibri"/>
              </a:rPr>
              <a:t> </a:t>
            </a:r>
            <a:r>
              <a:rPr sz="2800" spc="-15" dirty="0">
                <a:latin typeface="Calibri"/>
                <a:cs typeface="Calibri"/>
              </a:rPr>
              <a:t>reflects</a:t>
            </a:r>
            <a:r>
              <a:rPr sz="2800" spc="15" dirty="0">
                <a:latin typeface="Calibri"/>
                <a:cs typeface="Calibri"/>
              </a:rPr>
              <a:t> </a:t>
            </a:r>
            <a:r>
              <a:rPr sz="2800" spc="-10" dirty="0">
                <a:latin typeface="Calibri"/>
                <a:cs typeface="Calibri"/>
              </a:rPr>
              <a:t>how</a:t>
            </a:r>
            <a:r>
              <a:rPr sz="2800" spc="10" dirty="0">
                <a:latin typeface="Calibri"/>
                <a:cs typeface="Calibri"/>
              </a:rPr>
              <a:t> </a:t>
            </a:r>
            <a:r>
              <a:rPr sz="2800" spc="-10" dirty="0">
                <a:latin typeface="Calibri"/>
                <a:cs typeface="Calibri"/>
              </a:rPr>
              <a:t>two</a:t>
            </a:r>
            <a:r>
              <a:rPr sz="2800" dirty="0">
                <a:latin typeface="Calibri"/>
                <a:cs typeface="Calibri"/>
              </a:rPr>
              <a:t> </a:t>
            </a:r>
            <a:r>
              <a:rPr sz="2800" spc="-5" dirty="0">
                <a:latin typeface="Calibri"/>
                <a:cs typeface="Calibri"/>
              </a:rPr>
              <a:t>people</a:t>
            </a:r>
            <a:r>
              <a:rPr sz="2800" spc="10" dirty="0">
                <a:latin typeface="Calibri"/>
                <a:cs typeface="Calibri"/>
              </a:rPr>
              <a:t> </a:t>
            </a:r>
            <a:r>
              <a:rPr sz="2800" spc="-5" dirty="0">
                <a:latin typeface="Calibri"/>
                <a:cs typeface="Calibri"/>
              </a:rPr>
              <a:t>think</a:t>
            </a:r>
            <a:r>
              <a:rPr sz="2800" spc="40" dirty="0">
                <a:latin typeface="Calibri"/>
                <a:cs typeface="Calibri"/>
              </a:rPr>
              <a:t> </a:t>
            </a:r>
            <a:r>
              <a:rPr sz="2800" spc="-5" dirty="0">
                <a:latin typeface="Calibri"/>
                <a:cs typeface="Calibri"/>
              </a:rPr>
              <a:t>it</a:t>
            </a:r>
            <a:r>
              <a:rPr sz="2800" spc="5" dirty="0">
                <a:latin typeface="Calibri"/>
                <a:cs typeface="Calibri"/>
              </a:rPr>
              <a:t> </a:t>
            </a:r>
            <a:r>
              <a:rPr sz="2800" spc="-15" dirty="0">
                <a:latin typeface="Calibri"/>
                <a:cs typeface="Calibri"/>
              </a:rPr>
              <a:t>attempts</a:t>
            </a:r>
            <a:r>
              <a:rPr sz="2800" spc="15" dirty="0">
                <a:latin typeface="Calibri"/>
                <a:cs typeface="Calibri"/>
              </a:rPr>
              <a:t> </a:t>
            </a:r>
            <a:r>
              <a:rPr sz="2800" spc="-15" dirty="0">
                <a:latin typeface="Calibri"/>
                <a:cs typeface="Calibri"/>
              </a:rPr>
              <a:t>to</a:t>
            </a:r>
            <a:r>
              <a:rPr sz="2800" spc="5" dirty="0">
                <a:latin typeface="Calibri"/>
                <a:cs typeface="Calibri"/>
              </a:rPr>
              <a:t> </a:t>
            </a:r>
            <a:r>
              <a:rPr sz="2800" spc="-5" dirty="0">
                <a:latin typeface="Calibri"/>
                <a:cs typeface="Calibri"/>
              </a:rPr>
              <a:t>model</a:t>
            </a:r>
            <a:r>
              <a:rPr sz="2800" spc="15" dirty="0">
                <a:latin typeface="Calibri"/>
                <a:cs typeface="Calibri"/>
              </a:rPr>
              <a:t> </a:t>
            </a:r>
            <a:r>
              <a:rPr sz="2800" spc="-10" dirty="0">
                <a:latin typeface="Calibri"/>
                <a:cs typeface="Calibri"/>
              </a:rPr>
              <a:t>our </a:t>
            </a:r>
            <a:r>
              <a:rPr sz="2800" spc="-620" dirty="0">
                <a:latin typeface="Calibri"/>
                <a:cs typeface="Calibri"/>
              </a:rPr>
              <a:t> </a:t>
            </a:r>
            <a:r>
              <a:rPr sz="2800" spc="-10" dirty="0">
                <a:latin typeface="Calibri"/>
                <a:cs typeface="Calibri"/>
              </a:rPr>
              <a:t>sense</a:t>
            </a:r>
            <a:r>
              <a:rPr sz="2800" spc="30" dirty="0">
                <a:latin typeface="Calibri"/>
                <a:cs typeface="Calibri"/>
              </a:rPr>
              <a:t> </a:t>
            </a:r>
            <a:r>
              <a:rPr sz="2800" spc="-5" dirty="0">
                <a:latin typeface="Calibri"/>
                <a:cs typeface="Calibri"/>
              </a:rPr>
              <a:t>of </a:t>
            </a:r>
            <a:r>
              <a:rPr sz="2800" spc="-10" dirty="0">
                <a:latin typeface="Calibri"/>
                <a:cs typeface="Calibri"/>
              </a:rPr>
              <a:t>our</a:t>
            </a:r>
            <a:r>
              <a:rPr sz="2800" spc="25" dirty="0">
                <a:latin typeface="Calibri"/>
                <a:cs typeface="Calibri"/>
              </a:rPr>
              <a:t> </a:t>
            </a:r>
            <a:r>
              <a:rPr sz="2800" spc="-10" dirty="0">
                <a:latin typeface="Calibri"/>
                <a:cs typeface="Calibri"/>
              </a:rPr>
              <a:t>decision</a:t>
            </a:r>
            <a:r>
              <a:rPr sz="2800" spc="30" dirty="0">
                <a:latin typeface="Calibri"/>
                <a:cs typeface="Calibri"/>
              </a:rPr>
              <a:t> </a:t>
            </a:r>
            <a:r>
              <a:rPr sz="2800" spc="-5" dirty="0">
                <a:latin typeface="Calibri"/>
                <a:cs typeface="Calibri"/>
              </a:rPr>
              <a:t>making</a:t>
            </a:r>
            <a:r>
              <a:rPr sz="2800" spc="15" dirty="0">
                <a:latin typeface="Calibri"/>
                <a:cs typeface="Calibri"/>
              </a:rPr>
              <a:t> </a:t>
            </a:r>
            <a:r>
              <a:rPr sz="2800" spc="-5" dirty="0">
                <a:latin typeface="Calibri"/>
                <a:cs typeface="Calibri"/>
              </a:rPr>
              <a:t>and</a:t>
            </a:r>
            <a:r>
              <a:rPr sz="2800" spc="15" dirty="0">
                <a:latin typeface="Calibri"/>
                <a:cs typeface="Calibri"/>
              </a:rPr>
              <a:t> </a:t>
            </a:r>
            <a:r>
              <a:rPr sz="2800" spc="-10" dirty="0">
                <a:latin typeface="Calibri"/>
                <a:cs typeface="Calibri"/>
              </a:rPr>
              <a:t>our</a:t>
            </a:r>
            <a:r>
              <a:rPr sz="2800" spc="15" dirty="0">
                <a:latin typeface="Calibri"/>
                <a:cs typeface="Calibri"/>
              </a:rPr>
              <a:t> </a:t>
            </a:r>
            <a:r>
              <a:rPr sz="2800" spc="-10" dirty="0">
                <a:latin typeface="Calibri"/>
                <a:cs typeface="Calibri"/>
              </a:rPr>
              <a:t>common</a:t>
            </a:r>
            <a:r>
              <a:rPr sz="2800" spc="20" dirty="0">
                <a:latin typeface="Calibri"/>
                <a:cs typeface="Calibri"/>
              </a:rPr>
              <a:t> </a:t>
            </a:r>
            <a:r>
              <a:rPr sz="2800" spc="-10" dirty="0">
                <a:latin typeface="Calibri"/>
                <a:cs typeface="Calibri"/>
              </a:rPr>
              <a:t>sense</a:t>
            </a:r>
            <a:endParaRPr sz="2800">
              <a:latin typeface="Calibri"/>
              <a:cs typeface="Calibri"/>
            </a:endParaRPr>
          </a:p>
          <a:p>
            <a:pPr marL="266700" marR="30480" indent="-228600">
              <a:lnSpc>
                <a:spcPts val="3020"/>
              </a:lnSpc>
              <a:spcBef>
                <a:spcPts val="1005"/>
              </a:spcBef>
              <a:buFont typeface="Arial MT"/>
              <a:buChar char="•"/>
              <a:tabLst>
                <a:tab pos="266700" algn="l"/>
              </a:tabLst>
            </a:pPr>
            <a:r>
              <a:rPr sz="2800" spc="-5" dirty="0">
                <a:latin typeface="Calibri"/>
                <a:cs typeface="Calibri"/>
              </a:rPr>
              <a:t>In</a:t>
            </a:r>
            <a:r>
              <a:rPr sz="2800" spc="5" dirty="0">
                <a:latin typeface="Calibri"/>
                <a:cs typeface="Calibri"/>
              </a:rPr>
              <a:t> </a:t>
            </a:r>
            <a:r>
              <a:rPr sz="2800" spc="-10" dirty="0">
                <a:latin typeface="Calibri"/>
                <a:cs typeface="Calibri"/>
              </a:rPr>
              <a:t>fuzzy</a:t>
            </a:r>
            <a:r>
              <a:rPr sz="2800" spc="10" dirty="0">
                <a:latin typeface="Calibri"/>
                <a:cs typeface="Calibri"/>
              </a:rPr>
              <a:t> </a:t>
            </a:r>
            <a:r>
              <a:rPr sz="2800" spc="-35" dirty="0">
                <a:latin typeface="Calibri"/>
                <a:cs typeface="Calibri"/>
              </a:rPr>
              <a:t>theory,</a:t>
            </a:r>
            <a:r>
              <a:rPr sz="2800" spc="30" dirty="0">
                <a:latin typeface="Calibri"/>
                <a:cs typeface="Calibri"/>
              </a:rPr>
              <a:t> </a:t>
            </a:r>
            <a:r>
              <a:rPr sz="2800" spc="-10" dirty="0">
                <a:latin typeface="Calibri"/>
                <a:cs typeface="Calibri"/>
              </a:rPr>
              <a:t>fuzzy</a:t>
            </a:r>
            <a:r>
              <a:rPr sz="2800" dirty="0">
                <a:latin typeface="Calibri"/>
                <a:cs typeface="Calibri"/>
              </a:rPr>
              <a:t> </a:t>
            </a:r>
            <a:r>
              <a:rPr sz="2800" spc="-5" dirty="0">
                <a:latin typeface="Calibri"/>
                <a:cs typeface="Calibri"/>
              </a:rPr>
              <a:t>set A</a:t>
            </a:r>
            <a:r>
              <a:rPr sz="2800" spc="2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universe</a:t>
            </a:r>
            <a:r>
              <a:rPr sz="2800" spc="25" dirty="0">
                <a:latin typeface="Calibri"/>
                <a:cs typeface="Calibri"/>
              </a:rPr>
              <a:t> </a:t>
            </a:r>
            <a:r>
              <a:rPr sz="2800" spc="-5" dirty="0">
                <a:latin typeface="Calibri"/>
                <a:cs typeface="Calibri"/>
              </a:rPr>
              <a:t>X</a:t>
            </a:r>
            <a:r>
              <a:rPr sz="2800" spc="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defined</a:t>
            </a:r>
            <a:r>
              <a:rPr sz="2800" spc="20" dirty="0">
                <a:latin typeface="Calibri"/>
                <a:cs typeface="Calibri"/>
              </a:rPr>
              <a:t> </a:t>
            </a:r>
            <a:r>
              <a:rPr sz="2800" spc="-15" dirty="0">
                <a:latin typeface="Calibri"/>
                <a:cs typeface="Calibri"/>
              </a:rPr>
              <a:t>by</a:t>
            </a:r>
            <a:r>
              <a:rPr sz="2800" spc="15" dirty="0">
                <a:latin typeface="Calibri"/>
                <a:cs typeface="Calibri"/>
              </a:rPr>
              <a:t> </a:t>
            </a:r>
            <a:r>
              <a:rPr sz="2800" spc="-10" dirty="0">
                <a:latin typeface="Calibri"/>
                <a:cs typeface="Calibri"/>
              </a:rPr>
              <a:t>function</a:t>
            </a:r>
            <a:r>
              <a:rPr sz="2800" spc="-55" dirty="0">
                <a:latin typeface="Calibri"/>
                <a:cs typeface="Calibri"/>
              </a:rPr>
              <a:t> </a:t>
            </a:r>
            <a:r>
              <a:rPr sz="2800" spc="-5" dirty="0">
                <a:latin typeface="Calibri"/>
                <a:cs typeface="Calibri"/>
              </a:rPr>
              <a:t>U</a:t>
            </a:r>
            <a:r>
              <a:rPr sz="2775" spc="-7" baseline="-21021" dirty="0">
                <a:latin typeface="Calibri"/>
                <a:cs typeface="Calibri"/>
              </a:rPr>
              <a:t>a</a:t>
            </a:r>
            <a:r>
              <a:rPr sz="2800" spc="-5" dirty="0">
                <a:latin typeface="Calibri"/>
                <a:cs typeface="Calibri"/>
              </a:rPr>
              <a:t>(x) </a:t>
            </a:r>
            <a:r>
              <a:rPr sz="2800" spc="-620" dirty="0">
                <a:latin typeface="Calibri"/>
                <a:cs typeface="Calibri"/>
              </a:rPr>
              <a:t> </a:t>
            </a:r>
            <a:r>
              <a:rPr sz="2800" spc="-5" dirty="0">
                <a:latin typeface="Calibri"/>
                <a:cs typeface="Calibri"/>
              </a:rPr>
              <a:t>called</a:t>
            </a:r>
            <a:r>
              <a:rPr sz="2800" spc="-10" dirty="0">
                <a:latin typeface="Calibri"/>
                <a:cs typeface="Calibri"/>
              </a:rPr>
              <a:t> membership</a:t>
            </a:r>
            <a:r>
              <a:rPr sz="2800" spc="50" dirty="0">
                <a:latin typeface="Calibri"/>
                <a:cs typeface="Calibri"/>
              </a:rPr>
              <a:t> </a:t>
            </a:r>
            <a:r>
              <a:rPr sz="2800" spc="-10" dirty="0">
                <a:latin typeface="Calibri"/>
                <a:cs typeface="Calibri"/>
              </a:rPr>
              <a:t>function</a:t>
            </a:r>
            <a:r>
              <a:rPr sz="2800" spc="2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set</a:t>
            </a:r>
            <a:r>
              <a:rPr sz="2800" spc="15" dirty="0">
                <a:latin typeface="Calibri"/>
                <a:cs typeface="Calibri"/>
              </a:rPr>
              <a:t> </a:t>
            </a:r>
            <a:r>
              <a:rPr sz="2800" spc="-5" dirty="0">
                <a:latin typeface="Calibri"/>
                <a:cs typeface="Calibri"/>
              </a:rPr>
              <a:t>A</a:t>
            </a:r>
            <a:endParaRPr sz="2800">
              <a:latin typeface="Calibri"/>
              <a:cs typeface="Calibri"/>
            </a:endParaRPr>
          </a:p>
          <a:p>
            <a:pPr marL="266700" indent="-228600">
              <a:lnSpc>
                <a:spcPct val="100000"/>
              </a:lnSpc>
              <a:spcBef>
                <a:spcPts val="645"/>
              </a:spcBef>
              <a:buFont typeface="Arial MT"/>
              <a:buChar char="•"/>
              <a:tabLst>
                <a:tab pos="266700" algn="l"/>
              </a:tabLst>
            </a:pPr>
            <a:r>
              <a:rPr sz="2800" spc="-5" dirty="0">
                <a:latin typeface="Calibri"/>
                <a:cs typeface="Calibri"/>
              </a:rPr>
              <a:t>U</a:t>
            </a:r>
            <a:r>
              <a:rPr sz="2775" spc="-7" baseline="-21021" dirty="0">
                <a:latin typeface="Calibri"/>
                <a:cs typeface="Calibri"/>
              </a:rPr>
              <a:t>a</a:t>
            </a:r>
            <a:r>
              <a:rPr sz="2800" spc="-5" dirty="0">
                <a:latin typeface="Calibri"/>
                <a:cs typeface="Calibri"/>
              </a:rPr>
              <a:t>(x):X</a:t>
            </a:r>
            <a:r>
              <a:rPr sz="2800" spc="-5" dirty="0">
                <a:latin typeface="Wingdings"/>
                <a:cs typeface="Wingdings"/>
              </a:rPr>
              <a:t></a:t>
            </a:r>
            <a:r>
              <a:rPr sz="2800" spc="-5" dirty="0">
                <a:latin typeface="Calibri"/>
                <a:cs typeface="Calibri"/>
              </a:rPr>
              <a:t>[0,1],</a:t>
            </a:r>
            <a:endParaRPr sz="2800">
              <a:latin typeface="Calibri"/>
              <a:cs typeface="Calibri"/>
            </a:endParaRPr>
          </a:p>
          <a:p>
            <a:pPr marL="952500">
              <a:lnSpc>
                <a:spcPct val="100000"/>
              </a:lnSpc>
              <a:spcBef>
                <a:spcPts val="635"/>
              </a:spcBef>
            </a:pPr>
            <a:r>
              <a:rPr sz="2800" spc="-5" dirty="0">
                <a:latin typeface="Calibri"/>
                <a:cs typeface="Calibri"/>
              </a:rPr>
              <a:t>whe</a:t>
            </a:r>
            <a:r>
              <a:rPr sz="2800" spc="-50" dirty="0">
                <a:latin typeface="Calibri"/>
                <a:cs typeface="Calibri"/>
              </a:rPr>
              <a:t>r</a:t>
            </a:r>
            <a:r>
              <a:rPr sz="2800" spc="-5" dirty="0">
                <a:latin typeface="Calibri"/>
                <a:cs typeface="Calibri"/>
              </a:rPr>
              <a:t>e, U</a:t>
            </a:r>
            <a:r>
              <a:rPr sz="2775" spc="15" baseline="-21021" dirty="0">
                <a:latin typeface="Calibri"/>
                <a:cs typeface="Calibri"/>
              </a:rPr>
              <a:t>a</a:t>
            </a:r>
            <a:r>
              <a:rPr sz="2800" spc="-5" dirty="0">
                <a:latin typeface="Calibri"/>
                <a:cs typeface="Calibri"/>
              </a:rPr>
              <a:t>(x)</a:t>
            </a:r>
            <a:r>
              <a:rPr sz="2800" spc="-370" dirty="0">
                <a:latin typeface="Calibri"/>
                <a:cs typeface="Calibri"/>
              </a:rPr>
              <a:t> </a:t>
            </a:r>
            <a:r>
              <a:rPr sz="2800" spc="-10" dirty="0">
                <a:latin typeface="Calibri"/>
                <a:cs typeface="Calibri"/>
              </a:rPr>
              <a:t>=</a:t>
            </a:r>
            <a:r>
              <a:rPr sz="2800" spc="-5" dirty="0">
                <a:latin typeface="Calibri"/>
                <a:cs typeface="Calibri"/>
              </a:rPr>
              <a:t>1</a:t>
            </a:r>
            <a:r>
              <a:rPr sz="2800" spc="25" dirty="0">
                <a:latin typeface="Calibri"/>
                <a:cs typeface="Calibri"/>
              </a:rPr>
              <a:t> </a:t>
            </a:r>
            <a:r>
              <a:rPr sz="2800" spc="-5" dirty="0">
                <a:latin typeface="Calibri"/>
                <a:cs typeface="Calibri"/>
              </a:rPr>
              <a:t>if</a:t>
            </a:r>
            <a:r>
              <a:rPr sz="2800" dirty="0">
                <a:latin typeface="Calibri"/>
                <a:cs typeface="Calibri"/>
              </a:rPr>
              <a:t> </a:t>
            </a:r>
            <a:r>
              <a:rPr sz="2800" spc="-5" dirty="0">
                <a:latin typeface="Calibri"/>
                <a:cs typeface="Calibri"/>
              </a:rPr>
              <a:t>x</a:t>
            </a:r>
            <a:r>
              <a:rPr sz="2800" spc="5" dirty="0">
                <a:latin typeface="Calibri"/>
                <a:cs typeface="Calibri"/>
              </a:rPr>
              <a:t> </a:t>
            </a:r>
            <a:r>
              <a:rPr sz="2800" spc="-5" dirty="0">
                <a:latin typeface="Calibri"/>
                <a:cs typeface="Calibri"/>
              </a:rPr>
              <a:t>is</a:t>
            </a:r>
            <a:r>
              <a:rPr sz="2800" spc="10" dirty="0">
                <a:latin typeface="Calibri"/>
                <a:cs typeface="Calibri"/>
              </a:rPr>
              <a:t> </a:t>
            </a:r>
            <a:r>
              <a:rPr sz="2800" spc="-30" dirty="0">
                <a:latin typeface="Calibri"/>
                <a:cs typeface="Calibri"/>
              </a:rPr>
              <a:t>t</a:t>
            </a:r>
            <a:r>
              <a:rPr sz="2800" spc="-10" dirty="0">
                <a:latin typeface="Calibri"/>
                <a:cs typeface="Calibri"/>
              </a:rPr>
              <a:t>o</a:t>
            </a:r>
            <a:r>
              <a:rPr sz="2800" spc="-40" dirty="0">
                <a:latin typeface="Calibri"/>
                <a:cs typeface="Calibri"/>
              </a:rPr>
              <a:t>t</a:t>
            </a:r>
            <a:r>
              <a:rPr sz="2800" spc="-5" dirty="0">
                <a:latin typeface="Calibri"/>
                <a:cs typeface="Calibri"/>
              </a:rPr>
              <a:t>ally</a:t>
            </a:r>
            <a:r>
              <a:rPr sz="2800" spc="-1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A</a:t>
            </a:r>
            <a:endParaRPr sz="2800">
              <a:latin typeface="Calibri"/>
              <a:cs typeface="Calibri"/>
            </a:endParaRPr>
          </a:p>
          <a:p>
            <a:pPr marL="2781300">
              <a:lnSpc>
                <a:spcPct val="100000"/>
              </a:lnSpc>
              <a:spcBef>
                <a:spcPts val="675"/>
              </a:spcBef>
            </a:pPr>
            <a:r>
              <a:rPr sz="2800" spc="-5" dirty="0">
                <a:latin typeface="Calibri"/>
                <a:cs typeface="Calibri"/>
              </a:rPr>
              <a:t>=0</a:t>
            </a:r>
            <a:r>
              <a:rPr sz="2800" spc="15" dirty="0">
                <a:latin typeface="Calibri"/>
                <a:cs typeface="Calibri"/>
              </a:rPr>
              <a:t> </a:t>
            </a:r>
            <a:r>
              <a:rPr sz="2800" spc="-5" dirty="0">
                <a:latin typeface="Calibri"/>
                <a:cs typeface="Calibri"/>
              </a:rPr>
              <a:t>if</a:t>
            </a:r>
            <a:r>
              <a:rPr sz="2800" spc="-10" dirty="0">
                <a:latin typeface="Calibri"/>
                <a:cs typeface="Calibri"/>
              </a:rPr>
              <a:t> </a:t>
            </a:r>
            <a:r>
              <a:rPr sz="2800" spc="-5" dirty="0">
                <a:latin typeface="Calibri"/>
                <a:cs typeface="Calibri"/>
              </a:rPr>
              <a:t>x</a:t>
            </a:r>
            <a:r>
              <a:rPr sz="2800"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not</a:t>
            </a:r>
            <a:r>
              <a:rPr sz="2800" spc="1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A</a:t>
            </a:r>
            <a:endParaRPr sz="2800">
              <a:latin typeface="Calibri"/>
              <a:cs typeface="Calibri"/>
            </a:endParaRPr>
          </a:p>
          <a:p>
            <a:pPr marL="2781300">
              <a:lnSpc>
                <a:spcPct val="100000"/>
              </a:lnSpc>
              <a:spcBef>
                <a:spcPts val="660"/>
              </a:spcBef>
            </a:pPr>
            <a:r>
              <a:rPr sz="2800" spc="-5" dirty="0">
                <a:latin typeface="Calibri"/>
                <a:cs typeface="Calibri"/>
              </a:rPr>
              <a:t>0&lt;</a:t>
            </a:r>
            <a:r>
              <a:rPr sz="2800" spc="20" dirty="0">
                <a:latin typeface="Calibri"/>
                <a:cs typeface="Calibri"/>
              </a:rPr>
              <a:t> </a:t>
            </a:r>
            <a:r>
              <a:rPr sz="2800" spc="-5" dirty="0">
                <a:latin typeface="Calibri"/>
                <a:cs typeface="Calibri"/>
              </a:rPr>
              <a:t>U</a:t>
            </a:r>
            <a:r>
              <a:rPr sz="2775" spc="-7" baseline="-21021" dirty="0">
                <a:latin typeface="Calibri"/>
                <a:cs typeface="Calibri"/>
              </a:rPr>
              <a:t>a</a:t>
            </a:r>
            <a:r>
              <a:rPr sz="2800" spc="-5" dirty="0">
                <a:latin typeface="Calibri"/>
                <a:cs typeface="Calibri"/>
              </a:rPr>
              <a:t>(x)&lt;1,</a:t>
            </a:r>
            <a:r>
              <a:rPr sz="2800" spc="10" dirty="0">
                <a:latin typeface="Calibri"/>
                <a:cs typeface="Calibri"/>
              </a:rPr>
              <a:t> </a:t>
            </a:r>
            <a:r>
              <a:rPr sz="2800" spc="-5" dirty="0">
                <a:latin typeface="Calibri"/>
                <a:cs typeface="Calibri"/>
              </a:rPr>
              <a:t>if x is</a:t>
            </a:r>
            <a:r>
              <a:rPr sz="2800" dirty="0">
                <a:latin typeface="Calibri"/>
                <a:cs typeface="Calibri"/>
              </a:rPr>
              <a:t> </a:t>
            </a:r>
            <a:r>
              <a:rPr sz="2800" spc="-10" dirty="0">
                <a:latin typeface="Calibri"/>
                <a:cs typeface="Calibri"/>
              </a:rPr>
              <a:t>partly</a:t>
            </a:r>
            <a:r>
              <a:rPr sz="2800" spc="20" dirty="0">
                <a:latin typeface="Calibri"/>
                <a:cs typeface="Calibri"/>
              </a:rPr>
              <a:t> </a:t>
            </a:r>
            <a:r>
              <a:rPr sz="2800" spc="-5" dirty="0">
                <a:latin typeface="Calibri"/>
                <a:cs typeface="Calibri"/>
              </a:rPr>
              <a:t>in</a:t>
            </a:r>
            <a:r>
              <a:rPr sz="2800" dirty="0">
                <a:latin typeface="Calibri"/>
                <a:cs typeface="Calibri"/>
              </a:rPr>
              <a:t> A.</a:t>
            </a:r>
            <a:endParaRPr sz="28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112260" cy="697230"/>
          </a:xfrm>
          <a:prstGeom prst="rect">
            <a:avLst/>
          </a:prstGeom>
        </p:spPr>
        <p:txBody>
          <a:bodyPr vert="horz" wrap="square" lIns="0" tIns="13335" rIns="0" bIns="0" rtlCol="0">
            <a:spAutoFit/>
          </a:bodyPr>
          <a:lstStyle/>
          <a:p>
            <a:pPr marL="12700">
              <a:lnSpc>
                <a:spcPct val="100000"/>
              </a:lnSpc>
              <a:spcBef>
                <a:spcPts val="105"/>
              </a:spcBef>
            </a:pPr>
            <a:r>
              <a:rPr sz="4400" spc="-5" dirty="0"/>
              <a:t>Genetic</a:t>
            </a:r>
            <a:r>
              <a:rPr sz="4400" spc="-65" dirty="0"/>
              <a:t> </a:t>
            </a:r>
            <a:r>
              <a:rPr sz="4400" spc="-5" dirty="0"/>
              <a:t>Algorithm</a:t>
            </a:r>
            <a:endParaRPr sz="4400"/>
          </a:p>
        </p:txBody>
      </p:sp>
      <p:sp>
        <p:nvSpPr>
          <p:cNvPr id="3" name="object 3"/>
          <p:cNvSpPr txBox="1">
            <a:spLocks noGrp="1"/>
          </p:cNvSpPr>
          <p:nvPr>
            <p:ph type="body" idx="1"/>
          </p:nvPr>
        </p:nvSpPr>
        <p:spPr>
          <a:xfrm>
            <a:off x="909320" y="1793189"/>
            <a:ext cx="10373359" cy="2868861"/>
          </a:xfrm>
          <a:prstGeom prst="rect">
            <a:avLst/>
          </a:prstGeom>
        </p:spPr>
        <p:txBody>
          <a:bodyPr vert="horz" wrap="square" lIns="0" tIns="55244" rIns="0" bIns="0" rtlCol="0">
            <a:spAutoFit/>
          </a:bodyPr>
          <a:lstStyle/>
          <a:p>
            <a:pPr marL="248285" marR="5080" indent="-228600">
              <a:lnSpc>
                <a:spcPct val="90000"/>
              </a:lnSpc>
              <a:spcBef>
                <a:spcPts val="434"/>
              </a:spcBef>
              <a:buFont typeface="Arial MT"/>
              <a:buChar char="•"/>
              <a:tabLst>
                <a:tab pos="248920" algn="l"/>
              </a:tabLst>
            </a:pPr>
            <a:r>
              <a:rPr lang="en-US" sz="2400" dirty="0"/>
              <a:t>Genetic Algorithm (GA) is a search-based optimization technique based on the principles of </a:t>
            </a:r>
            <a:r>
              <a:rPr lang="en-US" sz="2400" b="1" dirty="0"/>
              <a:t>Genetics and Natural Selection</a:t>
            </a:r>
            <a:r>
              <a:rPr lang="en-US" sz="2400" dirty="0"/>
              <a:t>. </a:t>
            </a:r>
          </a:p>
          <a:p>
            <a:pPr marL="248285" marR="5080" indent="-228600">
              <a:lnSpc>
                <a:spcPct val="90000"/>
              </a:lnSpc>
              <a:spcBef>
                <a:spcPts val="434"/>
              </a:spcBef>
              <a:buFont typeface="Arial MT"/>
              <a:buChar char="•"/>
              <a:tabLst>
                <a:tab pos="248920" algn="l"/>
              </a:tabLst>
            </a:pPr>
            <a:r>
              <a:rPr lang="en-US" sz="2400" dirty="0"/>
              <a:t>It is frequently used to find optimal or near-optimal solutions to difficult problems which otherwise would take a lifetime to solve. </a:t>
            </a:r>
          </a:p>
          <a:p>
            <a:pPr marL="248285" marR="5080" indent="-228600">
              <a:lnSpc>
                <a:spcPct val="90000"/>
              </a:lnSpc>
              <a:spcBef>
                <a:spcPts val="434"/>
              </a:spcBef>
              <a:buFont typeface="Arial MT"/>
              <a:buChar char="•"/>
              <a:tabLst>
                <a:tab pos="248920" algn="l"/>
              </a:tabLst>
            </a:pPr>
            <a:r>
              <a:rPr lang="en-US" sz="2400" dirty="0"/>
              <a:t>It is frequently used to solve optimization problems, in research, and in machine learning.</a:t>
            </a:r>
          </a:p>
          <a:p>
            <a:pPr marL="248285" marR="5080" indent="-228600">
              <a:lnSpc>
                <a:spcPct val="90000"/>
              </a:lnSpc>
              <a:spcBef>
                <a:spcPts val="434"/>
              </a:spcBef>
              <a:buFont typeface="Arial MT"/>
              <a:buChar char="•"/>
              <a:tabLst>
                <a:tab pos="248920" algn="l"/>
              </a:tabLst>
            </a:pPr>
            <a:r>
              <a:rPr lang="en-US" sz="2400" dirty="0"/>
              <a:t>Optimization is the process of </a:t>
            </a:r>
            <a:r>
              <a:rPr lang="en-US" sz="2400" b="1" dirty="0"/>
              <a:t>making something better</a:t>
            </a:r>
            <a:r>
              <a:rPr lang="en-US" sz="2400" dirty="0"/>
              <a:t>. In any process, we have a set of inputs and a set of outputs as shown in the following figure.</a:t>
            </a:r>
            <a:endParaRPr sz="2400" b="1" spc="-25" dirty="0"/>
          </a:p>
        </p:txBody>
      </p:sp>
      <p:pic>
        <p:nvPicPr>
          <p:cNvPr id="5" name="Picture 4">
            <a:extLst>
              <a:ext uri="{FF2B5EF4-FFF2-40B4-BE49-F238E27FC236}">
                <a16:creationId xmlns:a16="http://schemas.microsoft.com/office/drawing/2014/main" id="{91AD3D6F-FEDF-4CEE-8117-45B3BEF05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3069" y="4953000"/>
            <a:ext cx="5715798" cy="175284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B93EE7-B4B8-4732-8604-E49EA0AB37C1}"/>
              </a:ext>
            </a:extLst>
          </p:cNvPr>
          <p:cNvSpPr txBox="1"/>
          <p:nvPr/>
        </p:nvSpPr>
        <p:spPr>
          <a:xfrm>
            <a:off x="533400" y="609600"/>
            <a:ext cx="11277600" cy="2862322"/>
          </a:xfrm>
          <a:prstGeom prst="rect">
            <a:avLst/>
          </a:prstGeom>
          <a:noFill/>
        </p:spPr>
        <p:txBody>
          <a:bodyPr wrap="square">
            <a:spAutoFit/>
          </a:bodyPr>
          <a:lstStyle/>
          <a:p>
            <a:pPr marL="285750" indent="-285750">
              <a:buFont typeface="Arial" panose="020B0604020202020204" pitchFamily="34" charset="0"/>
              <a:buChar char="•"/>
            </a:pPr>
            <a:r>
              <a:rPr lang="en-US" dirty="0"/>
              <a:t>Genetic Algorithms (GAs) are search based algorithms based on the concepts of natural selection and genetics. GAs are a subset of a much larger branch of computation known as </a:t>
            </a:r>
            <a:r>
              <a:rPr lang="en-US" b="1" dirty="0"/>
              <a:t>Evolutionary Computation</a:t>
            </a:r>
            <a:r>
              <a:rPr lang="en-US" dirty="0"/>
              <a:t>.</a:t>
            </a:r>
          </a:p>
          <a:p>
            <a:pPr marL="285750" indent="-285750">
              <a:buFont typeface="Arial" panose="020B0604020202020204" pitchFamily="34" charset="0"/>
              <a:buChar char="•"/>
            </a:pPr>
            <a:r>
              <a:rPr lang="en-US" dirty="0"/>
              <a:t>GAs were developed by John Holland and his students and colleagues at the University of Michigan, most notably David E. Goldberg and has since been tried on various optimization problems with a high degree of success.</a:t>
            </a:r>
          </a:p>
          <a:p>
            <a:pPr marL="285750" indent="-285750">
              <a:buFont typeface="Arial" panose="020B0604020202020204" pitchFamily="34" charset="0"/>
              <a:buChar char="•"/>
            </a:pPr>
            <a:r>
              <a:rPr lang="en-US" dirty="0"/>
              <a:t>In GAs, we have a </a:t>
            </a:r>
            <a:r>
              <a:rPr lang="en-US" b="1" dirty="0"/>
              <a:t>pool or a population of possible solutions</a:t>
            </a:r>
            <a:r>
              <a:rPr lang="en-US" dirty="0"/>
              <a:t> to the given problem. </a:t>
            </a:r>
          </a:p>
          <a:p>
            <a:pPr marL="285750" indent="-285750">
              <a:buFont typeface="Arial" panose="020B0604020202020204" pitchFamily="34" charset="0"/>
              <a:buChar char="•"/>
            </a:pPr>
            <a:r>
              <a:rPr lang="en-US" dirty="0"/>
              <a:t>These solutions then undergo recombination and mutation (like in natural genetics), producing new children, and the process is repeated over various generations. </a:t>
            </a:r>
          </a:p>
          <a:p>
            <a:pPr marL="285750" indent="-285750">
              <a:buFont typeface="Arial" panose="020B0604020202020204" pitchFamily="34" charset="0"/>
              <a:buChar char="•"/>
            </a:pPr>
            <a:r>
              <a:rPr lang="en-US" dirty="0"/>
              <a:t>Each individual (or candidate solution) is assigned a fitness value (based on its objective function value) and the fitter individuals are given a higher chance to mate and yield more “fitter” individuals. </a:t>
            </a:r>
          </a:p>
          <a:p>
            <a:pPr marL="285750" indent="-285750">
              <a:buFont typeface="Arial" panose="020B0604020202020204" pitchFamily="34" charset="0"/>
              <a:buChar char="•"/>
            </a:pPr>
            <a:r>
              <a:rPr lang="en-US" dirty="0"/>
              <a:t>This is in line with the Darwinian Theory of “Survival of the Fittest”.</a:t>
            </a:r>
          </a:p>
        </p:txBody>
      </p:sp>
    </p:spTree>
    <p:extLst>
      <p:ext uri="{BB962C8B-B14F-4D97-AF65-F5344CB8AC3E}">
        <p14:creationId xmlns:p14="http://schemas.microsoft.com/office/powerpoint/2010/main" val="341552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B93EE7-B4B8-4732-8604-E49EA0AB37C1}"/>
              </a:ext>
            </a:extLst>
          </p:cNvPr>
          <p:cNvSpPr txBox="1"/>
          <p:nvPr/>
        </p:nvSpPr>
        <p:spPr>
          <a:xfrm>
            <a:off x="1676400" y="609600"/>
            <a:ext cx="10134600" cy="3139321"/>
          </a:xfrm>
          <a:prstGeom prst="rect">
            <a:avLst/>
          </a:prstGeom>
          <a:noFill/>
        </p:spPr>
        <p:txBody>
          <a:bodyPr wrap="square">
            <a:spAutoFit/>
          </a:bodyPr>
          <a:lstStyle/>
          <a:p>
            <a:r>
              <a:rPr lang="en-US" b="1" dirty="0"/>
              <a:t>Advantages of GAs</a:t>
            </a:r>
          </a:p>
          <a:p>
            <a:r>
              <a:rPr lang="en-US" dirty="0"/>
              <a:t>GAs have various advantages which have made them immensely popular. These include −</a:t>
            </a:r>
          </a:p>
          <a:p>
            <a:endParaRPr lang="en-US" dirty="0"/>
          </a:p>
          <a:p>
            <a:pPr>
              <a:buFont typeface="Arial" panose="020B0604020202020204" pitchFamily="34" charset="0"/>
              <a:buChar char="•"/>
            </a:pPr>
            <a:r>
              <a:rPr lang="en-US" dirty="0"/>
              <a:t>Does not require any derivative information (which may not be available for many real-world problems).</a:t>
            </a:r>
          </a:p>
          <a:p>
            <a:pPr>
              <a:buFont typeface="Arial" panose="020B0604020202020204" pitchFamily="34" charset="0"/>
              <a:buChar char="•"/>
            </a:pPr>
            <a:r>
              <a:rPr lang="en-US" dirty="0"/>
              <a:t>Is faster and more efficient as compared to the traditional methods.</a:t>
            </a:r>
          </a:p>
          <a:p>
            <a:pPr>
              <a:buFont typeface="Arial" panose="020B0604020202020204" pitchFamily="34" charset="0"/>
              <a:buChar char="•"/>
            </a:pPr>
            <a:r>
              <a:rPr lang="en-US" dirty="0"/>
              <a:t>Has very good parallel capabilities.</a:t>
            </a:r>
          </a:p>
          <a:p>
            <a:pPr>
              <a:buFont typeface="Arial" panose="020B0604020202020204" pitchFamily="34" charset="0"/>
              <a:buChar char="•"/>
            </a:pPr>
            <a:r>
              <a:rPr lang="en-US" dirty="0"/>
              <a:t>Optimizes both continuous and discrete functions and also multi-objective problems.</a:t>
            </a:r>
          </a:p>
          <a:p>
            <a:pPr>
              <a:buFont typeface="Arial" panose="020B0604020202020204" pitchFamily="34" charset="0"/>
              <a:buChar char="•"/>
            </a:pPr>
            <a:r>
              <a:rPr lang="en-US" dirty="0"/>
              <a:t>Provides a list of “good” solutions and not just a single solution.</a:t>
            </a:r>
          </a:p>
          <a:p>
            <a:pPr>
              <a:buFont typeface="Arial" panose="020B0604020202020204" pitchFamily="34" charset="0"/>
              <a:buChar char="•"/>
            </a:pPr>
            <a:r>
              <a:rPr lang="en-US" dirty="0"/>
              <a:t>Always gets an answer to the problem, which gets better over the time.</a:t>
            </a:r>
          </a:p>
          <a:p>
            <a:pPr>
              <a:buFont typeface="Arial" panose="020B0604020202020204" pitchFamily="34" charset="0"/>
              <a:buChar char="•"/>
            </a:pPr>
            <a:r>
              <a:rPr lang="en-US" dirty="0"/>
              <a:t>Useful when the search space is very large and there are a large number of parameters involved.</a:t>
            </a:r>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796EDCBB-5491-4833-A0B2-743A3AC4C483}"/>
              </a:ext>
            </a:extLst>
          </p:cNvPr>
          <p:cNvSpPr txBox="1"/>
          <p:nvPr/>
        </p:nvSpPr>
        <p:spPr>
          <a:xfrm>
            <a:off x="1676400" y="3581400"/>
            <a:ext cx="9525000" cy="2308324"/>
          </a:xfrm>
          <a:prstGeom prst="rect">
            <a:avLst/>
          </a:prstGeom>
          <a:noFill/>
        </p:spPr>
        <p:txBody>
          <a:bodyPr wrap="square">
            <a:spAutoFit/>
          </a:bodyPr>
          <a:lstStyle/>
          <a:p>
            <a:r>
              <a:rPr lang="en-US" b="1" dirty="0"/>
              <a:t>Limitations of GAs</a:t>
            </a:r>
          </a:p>
          <a:p>
            <a:r>
              <a:rPr lang="en-US" dirty="0"/>
              <a:t>Like any technique, GAs also suffer from a few limitations. These include −</a:t>
            </a:r>
          </a:p>
          <a:p>
            <a:pPr>
              <a:buFont typeface="Arial" panose="020B0604020202020204" pitchFamily="34" charset="0"/>
              <a:buChar char="•"/>
            </a:pPr>
            <a:r>
              <a:rPr lang="en-US" dirty="0"/>
              <a:t>GAs are not suited for all problems, especially problems which are simple and for which derivative information is available.</a:t>
            </a:r>
          </a:p>
          <a:p>
            <a:pPr>
              <a:buFont typeface="Arial" panose="020B0604020202020204" pitchFamily="34" charset="0"/>
              <a:buChar char="•"/>
            </a:pPr>
            <a:r>
              <a:rPr lang="en-US" dirty="0"/>
              <a:t>Fitness value is calculated repeatedly which might be computationally expensive for some problems.</a:t>
            </a:r>
          </a:p>
          <a:p>
            <a:pPr>
              <a:buFont typeface="Arial" panose="020B0604020202020204" pitchFamily="34" charset="0"/>
              <a:buChar char="•"/>
            </a:pPr>
            <a:r>
              <a:rPr lang="en-US" dirty="0"/>
              <a:t>Being stochastic, there are no guarantees on the optimality or the quality of the solution.</a:t>
            </a:r>
          </a:p>
          <a:p>
            <a:pPr>
              <a:buFont typeface="Arial" panose="020B0604020202020204" pitchFamily="34" charset="0"/>
              <a:buChar char="•"/>
            </a:pPr>
            <a:r>
              <a:rPr lang="en-US" dirty="0"/>
              <a:t>If not implemented properly, the GA may not converge to the optimal solution</a:t>
            </a:r>
          </a:p>
        </p:txBody>
      </p:sp>
    </p:spTree>
    <p:extLst>
      <p:ext uri="{BB962C8B-B14F-4D97-AF65-F5344CB8AC3E}">
        <p14:creationId xmlns:p14="http://schemas.microsoft.com/office/powerpoint/2010/main" val="1097062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112260" cy="697230"/>
          </a:xfrm>
          <a:prstGeom prst="rect">
            <a:avLst/>
          </a:prstGeom>
        </p:spPr>
        <p:txBody>
          <a:bodyPr vert="horz" wrap="square" lIns="0" tIns="13335" rIns="0" bIns="0" rtlCol="0">
            <a:spAutoFit/>
          </a:bodyPr>
          <a:lstStyle/>
          <a:p>
            <a:pPr marL="12700">
              <a:lnSpc>
                <a:spcPct val="100000"/>
              </a:lnSpc>
              <a:spcBef>
                <a:spcPts val="105"/>
              </a:spcBef>
            </a:pPr>
            <a:r>
              <a:rPr sz="4400" spc="-5" dirty="0"/>
              <a:t>Genetic</a:t>
            </a:r>
            <a:r>
              <a:rPr sz="4400" spc="-65" dirty="0"/>
              <a:t> </a:t>
            </a:r>
            <a:r>
              <a:rPr sz="4400" spc="-5" dirty="0"/>
              <a:t>Algorithm</a:t>
            </a:r>
            <a:endParaRPr sz="4400"/>
          </a:p>
        </p:txBody>
      </p:sp>
      <p:sp>
        <p:nvSpPr>
          <p:cNvPr id="3" name="object 3"/>
          <p:cNvSpPr txBox="1"/>
          <p:nvPr/>
        </p:nvSpPr>
        <p:spPr>
          <a:xfrm>
            <a:off x="916939" y="1793189"/>
            <a:ext cx="9909810" cy="4034790"/>
          </a:xfrm>
          <a:prstGeom prst="rect">
            <a:avLst/>
          </a:prstGeom>
        </p:spPr>
        <p:txBody>
          <a:bodyPr vert="horz" wrap="square" lIns="0" tIns="60325" rIns="0" bIns="0" rtlCol="0">
            <a:spAutoFit/>
          </a:bodyPr>
          <a:lstStyle/>
          <a:p>
            <a:pPr marL="241300" marR="258445" indent="-228600">
              <a:lnSpc>
                <a:spcPts val="3030"/>
              </a:lnSpc>
              <a:spcBef>
                <a:spcPts val="475"/>
              </a:spcBef>
              <a:buFont typeface="Arial MT"/>
              <a:buChar char="•"/>
              <a:tabLst>
                <a:tab pos="241300" algn="l"/>
              </a:tabLst>
            </a:pPr>
            <a:r>
              <a:rPr sz="2800" spc="-15" dirty="0">
                <a:latin typeface="Calibri"/>
                <a:cs typeface="Calibri"/>
              </a:rPr>
              <a:t>Cross</a:t>
            </a:r>
            <a:r>
              <a:rPr sz="2800" spc="25" dirty="0">
                <a:latin typeface="Calibri"/>
                <a:cs typeface="Calibri"/>
              </a:rPr>
              <a:t> </a:t>
            </a:r>
            <a:r>
              <a:rPr sz="2800" spc="-15" dirty="0">
                <a:latin typeface="Calibri"/>
                <a:cs typeface="Calibri"/>
              </a:rPr>
              <a:t>over</a:t>
            </a:r>
            <a:r>
              <a:rPr sz="2800" dirty="0">
                <a:latin typeface="Calibri"/>
                <a:cs typeface="Calibri"/>
              </a:rPr>
              <a:t> </a:t>
            </a:r>
            <a:r>
              <a:rPr sz="2800" spc="-10" dirty="0">
                <a:latin typeface="Calibri"/>
                <a:cs typeface="Calibri"/>
              </a:rPr>
              <a:t>point</a:t>
            </a:r>
            <a:r>
              <a:rPr sz="2800" spc="2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randomly</a:t>
            </a:r>
            <a:r>
              <a:rPr sz="2800" spc="15" dirty="0">
                <a:latin typeface="Calibri"/>
                <a:cs typeface="Calibri"/>
              </a:rPr>
              <a:t> </a:t>
            </a:r>
            <a:r>
              <a:rPr sz="2800" dirty="0">
                <a:latin typeface="Calibri"/>
                <a:cs typeface="Calibri"/>
              </a:rPr>
              <a:t>chosen</a:t>
            </a:r>
            <a:r>
              <a:rPr sz="2800" spc="20"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crossing</a:t>
            </a:r>
            <a:r>
              <a:rPr sz="2800" spc="4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strings,</a:t>
            </a:r>
            <a:r>
              <a:rPr sz="2800" spc="40" dirty="0">
                <a:latin typeface="Calibri"/>
                <a:cs typeface="Calibri"/>
              </a:rPr>
              <a:t> </a:t>
            </a:r>
            <a:r>
              <a:rPr sz="2800" spc="-5" dirty="0">
                <a:latin typeface="Calibri"/>
                <a:cs typeface="Calibri"/>
              </a:rPr>
              <a:t>which </a:t>
            </a:r>
            <a:r>
              <a:rPr sz="2800" spc="-620" dirty="0">
                <a:latin typeface="Calibri"/>
                <a:cs typeface="Calibri"/>
              </a:rPr>
              <a:t> </a:t>
            </a:r>
            <a:r>
              <a:rPr sz="2800" spc="-5" dirty="0">
                <a:latin typeface="Calibri"/>
                <a:cs typeface="Calibri"/>
              </a:rPr>
              <a:t>yields</a:t>
            </a:r>
            <a:r>
              <a:rPr sz="2800" spc="25" dirty="0">
                <a:latin typeface="Calibri"/>
                <a:cs typeface="Calibri"/>
              </a:rPr>
              <a:t> </a:t>
            </a:r>
            <a:r>
              <a:rPr sz="2800" spc="-15" dirty="0">
                <a:latin typeface="Calibri"/>
                <a:cs typeface="Calibri"/>
              </a:rPr>
              <a:t>offspring</a:t>
            </a:r>
            <a:r>
              <a:rPr sz="2800" spc="10" dirty="0">
                <a:latin typeface="Calibri"/>
                <a:cs typeface="Calibri"/>
              </a:rPr>
              <a:t> </a:t>
            </a:r>
            <a:r>
              <a:rPr sz="2800" spc="-25" dirty="0">
                <a:latin typeface="Calibri"/>
                <a:cs typeface="Calibri"/>
              </a:rPr>
              <a:t>for</a:t>
            </a:r>
            <a:r>
              <a:rPr sz="2800" spc="15" dirty="0">
                <a:latin typeface="Calibri"/>
                <a:cs typeface="Calibri"/>
              </a:rPr>
              <a:t> </a:t>
            </a:r>
            <a:r>
              <a:rPr sz="2800" spc="-5" dirty="0">
                <a:latin typeface="Calibri"/>
                <a:cs typeface="Calibri"/>
              </a:rPr>
              <a:t>each</a:t>
            </a:r>
            <a:r>
              <a:rPr sz="2800" spc="10" dirty="0">
                <a:latin typeface="Calibri"/>
                <a:cs typeface="Calibri"/>
              </a:rPr>
              <a:t> </a:t>
            </a:r>
            <a:r>
              <a:rPr sz="2800" spc="-15" dirty="0">
                <a:latin typeface="Calibri"/>
                <a:cs typeface="Calibri"/>
              </a:rPr>
              <a:t>generation</a:t>
            </a:r>
            <a:endParaRPr sz="2800">
              <a:latin typeface="Calibri"/>
              <a:cs typeface="Calibri"/>
            </a:endParaRPr>
          </a:p>
          <a:p>
            <a:pPr marL="241300" marR="5080" indent="-228600">
              <a:lnSpc>
                <a:spcPts val="3020"/>
              </a:lnSpc>
              <a:spcBef>
                <a:spcPts val="1005"/>
              </a:spcBef>
              <a:buFont typeface="Arial MT"/>
              <a:buChar char="•"/>
              <a:tabLst>
                <a:tab pos="241300" algn="l"/>
              </a:tabLst>
            </a:pPr>
            <a:r>
              <a:rPr sz="2800" spc="-15" dirty="0">
                <a:latin typeface="Calibri"/>
                <a:cs typeface="Calibri"/>
              </a:rPr>
              <a:t>Each</a:t>
            </a:r>
            <a:r>
              <a:rPr sz="2800" dirty="0">
                <a:latin typeface="Calibri"/>
                <a:cs typeface="Calibri"/>
              </a:rPr>
              <a:t> </a:t>
            </a:r>
            <a:r>
              <a:rPr sz="2800" spc="-5" dirty="0">
                <a:latin typeface="Calibri"/>
                <a:cs typeface="Calibri"/>
              </a:rPr>
              <a:t>individual</a:t>
            </a:r>
            <a:r>
              <a:rPr sz="2800" spc="55" dirty="0">
                <a:latin typeface="Calibri"/>
                <a:cs typeface="Calibri"/>
              </a:rPr>
              <a:t> </a:t>
            </a:r>
            <a:r>
              <a:rPr sz="2800" spc="-5" dirty="0">
                <a:latin typeface="Calibri"/>
                <a:cs typeface="Calibri"/>
              </a:rPr>
              <a:t>of</a:t>
            </a:r>
            <a:r>
              <a:rPr sz="2800" spc="15" dirty="0">
                <a:latin typeface="Calibri"/>
                <a:cs typeface="Calibri"/>
              </a:rPr>
              <a:t> </a:t>
            </a:r>
            <a:r>
              <a:rPr sz="2800" spc="-15" dirty="0">
                <a:latin typeface="Calibri"/>
                <a:cs typeface="Calibri"/>
              </a:rPr>
              <a:t>next</a:t>
            </a:r>
            <a:r>
              <a:rPr sz="2800" spc="20" dirty="0">
                <a:latin typeface="Calibri"/>
                <a:cs typeface="Calibri"/>
              </a:rPr>
              <a:t> </a:t>
            </a:r>
            <a:r>
              <a:rPr sz="2800" spc="-15" dirty="0">
                <a:latin typeface="Calibri"/>
                <a:cs typeface="Calibri"/>
              </a:rPr>
              <a:t>generation</a:t>
            </a:r>
            <a:r>
              <a:rPr sz="2800" spc="25" dirty="0">
                <a:latin typeface="Calibri"/>
                <a:cs typeface="Calibri"/>
              </a:rPr>
              <a:t> </a:t>
            </a:r>
            <a:r>
              <a:rPr sz="2800" spc="-15" dirty="0">
                <a:latin typeface="Calibri"/>
                <a:cs typeface="Calibri"/>
              </a:rPr>
              <a:t>offspring</a:t>
            </a:r>
            <a:r>
              <a:rPr sz="2800" spc="20" dirty="0">
                <a:latin typeface="Calibri"/>
                <a:cs typeface="Calibri"/>
              </a:rPr>
              <a:t> </a:t>
            </a:r>
            <a:r>
              <a:rPr sz="2800" spc="-5" dirty="0">
                <a:latin typeface="Calibri"/>
                <a:cs typeface="Calibri"/>
              </a:rPr>
              <a:t>is</a:t>
            </a:r>
            <a:r>
              <a:rPr sz="2800" spc="15" dirty="0">
                <a:latin typeface="Calibri"/>
                <a:cs typeface="Calibri"/>
              </a:rPr>
              <a:t> </a:t>
            </a:r>
            <a:r>
              <a:rPr sz="2800" spc="-10" dirty="0">
                <a:latin typeface="Calibri"/>
                <a:cs typeface="Calibri"/>
              </a:rPr>
              <a:t>subjected</a:t>
            </a:r>
            <a:r>
              <a:rPr sz="2800" spc="50" dirty="0">
                <a:latin typeface="Calibri"/>
                <a:cs typeface="Calibri"/>
              </a:rPr>
              <a:t> </a:t>
            </a:r>
            <a:r>
              <a:rPr sz="2800" spc="-15" dirty="0">
                <a:latin typeface="Calibri"/>
                <a:cs typeface="Calibri"/>
              </a:rPr>
              <a:t>to</a:t>
            </a:r>
            <a:r>
              <a:rPr sz="2800" spc="15" dirty="0">
                <a:latin typeface="Calibri"/>
                <a:cs typeface="Calibri"/>
              </a:rPr>
              <a:t> </a:t>
            </a:r>
            <a:r>
              <a:rPr sz="2800" spc="-15" dirty="0">
                <a:latin typeface="Calibri"/>
                <a:cs typeface="Calibri"/>
              </a:rPr>
              <a:t>random </a:t>
            </a:r>
            <a:r>
              <a:rPr sz="2800" spc="-620" dirty="0">
                <a:latin typeface="Calibri"/>
                <a:cs typeface="Calibri"/>
              </a:rPr>
              <a:t> </a:t>
            </a:r>
            <a:r>
              <a:rPr sz="2800" spc="-10" dirty="0">
                <a:latin typeface="Calibri"/>
                <a:cs typeface="Calibri"/>
              </a:rPr>
              <a:t>mutation</a:t>
            </a:r>
            <a:r>
              <a:rPr sz="2800" spc="15" dirty="0">
                <a:latin typeface="Calibri"/>
                <a:cs typeface="Calibri"/>
              </a:rPr>
              <a:t> </a:t>
            </a:r>
            <a:r>
              <a:rPr sz="2800" spc="-5" dirty="0">
                <a:latin typeface="Calibri"/>
                <a:cs typeface="Calibri"/>
              </a:rPr>
              <a:t>with</a:t>
            </a:r>
            <a:r>
              <a:rPr sz="2800" spc="10" dirty="0">
                <a:latin typeface="Calibri"/>
                <a:cs typeface="Calibri"/>
              </a:rPr>
              <a:t> </a:t>
            </a:r>
            <a:r>
              <a:rPr sz="2800" spc="-5" dirty="0">
                <a:latin typeface="Calibri"/>
                <a:cs typeface="Calibri"/>
              </a:rPr>
              <a:t>a</a:t>
            </a:r>
            <a:r>
              <a:rPr sz="2800" spc="5" dirty="0">
                <a:latin typeface="Calibri"/>
                <a:cs typeface="Calibri"/>
              </a:rPr>
              <a:t> </a:t>
            </a:r>
            <a:r>
              <a:rPr sz="2800" spc="-5" dirty="0">
                <a:latin typeface="Calibri"/>
                <a:cs typeface="Calibri"/>
              </a:rPr>
              <a:t>small</a:t>
            </a:r>
            <a:r>
              <a:rPr sz="2800" spc="5" dirty="0">
                <a:latin typeface="Calibri"/>
                <a:cs typeface="Calibri"/>
              </a:rPr>
              <a:t> </a:t>
            </a:r>
            <a:r>
              <a:rPr sz="2800" spc="-5" dirty="0">
                <a:latin typeface="Calibri"/>
                <a:cs typeface="Calibri"/>
              </a:rPr>
              <a:t>independent</a:t>
            </a:r>
            <a:r>
              <a:rPr sz="2800" spc="50" dirty="0">
                <a:latin typeface="Calibri"/>
                <a:cs typeface="Calibri"/>
              </a:rPr>
              <a:t> </a:t>
            </a:r>
            <a:r>
              <a:rPr sz="2800" spc="-15" dirty="0">
                <a:latin typeface="Calibri"/>
                <a:cs typeface="Calibri"/>
              </a:rPr>
              <a:t>probability</a:t>
            </a:r>
            <a:endParaRPr sz="280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The</a:t>
            </a:r>
            <a:r>
              <a:rPr sz="2800" spc="-10" dirty="0">
                <a:latin typeface="Calibri"/>
                <a:cs typeface="Calibri"/>
              </a:rPr>
              <a:t> </a:t>
            </a:r>
            <a:r>
              <a:rPr sz="2800" spc="-5" dirty="0">
                <a:latin typeface="Calibri"/>
                <a:cs typeface="Calibri"/>
              </a:rPr>
              <a:t>primary</a:t>
            </a:r>
            <a:r>
              <a:rPr sz="2800" spc="20" dirty="0">
                <a:latin typeface="Calibri"/>
                <a:cs typeface="Calibri"/>
              </a:rPr>
              <a:t> </a:t>
            </a:r>
            <a:r>
              <a:rPr sz="2800" spc="-15" dirty="0">
                <a:latin typeface="Calibri"/>
                <a:cs typeface="Calibri"/>
              </a:rPr>
              <a:t>advantage</a:t>
            </a:r>
            <a:r>
              <a:rPr sz="280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GA</a:t>
            </a:r>
            <a:r>
              <a:rPr sz="2800" spc="20" dirty="0">
                <a:latin typeface="Calibri"/>
                <a:cs typeface="Calibri"/>
              </a:rPr>
              <a:t> </a:t>
            </a:r>
            <a:r>
              <a:rPr sz="2800" spc="-10" dirty="0">
                <a:latin typeface="Calibri"/>
                <a:cs typeface="Calibri"/>
              </a:rPr>
              <a:t>comes</a:t>
            </a:r>
            <a:r>
              <a:rPr sz="2800" spc="20" dirty="0">
                <a:latin typeface="Calibri"/>
                <a:cs typeface="Calibri"/>
              </a:rPr>
              <a:t> </a:t>
            </a:r>
            <a:r>
              <a:rPr sz="2800" spc="-20" dirty="0">
                <a:latin typeface="Calibri"/>
                <a:cs typeface="Calibri"/>
              </a:rPr>
              <a:t>from</a:t>
            </a:r>
            <a:r>
              <a:rPr sz="2800" spc="5" dirty="0">
                <a:latin typeface="Calibri"/>
                <a:cs typeface="Calibri"/>
              </a:rPr>
              <a:t> </a:t>
            </a:r>
            <a:r>
              <a:rPr sz="2800" spc="-15" dirty="0">
                <a:latin typeface="Calibri"/>
                <a:cs typeface="Calibri"/>
              </a:rPr>
              <a:t>crossover</a:t>
            </a:r>
            <a:r>
              <a:rPr sz="2800" spc="25" dirty="0">
                <a:latin typeface="Calibri"/>
                <a:cs typeface="Calibri"/>
              </a:rPr>
              <a:t> </a:t>
            </a:r>
            <a:r>
              <a:rPr sz="2800" spc="-15" dirty="0">
                <a:latin typeface="Calibri"/>
                <a:cs typeface="Calibri"/>
              </a:rPr>
              <a:t>operation</a:t>
            </a:r>
            <a:endParaRPr sz="2800">
              <a:latin typeface="Calibri"/>
              <a:cs typeface="Calibri"/>
            </a:endParaRPr>
          </a:p>
          <a:p>
            <a:pPr marL="241300" marR="716280" indent="-228600">
              <a:lnSpc>
                <a:spcPts val="3030"/>
              </a:lnSpc>
              <a:spcBef>
                <a:spcPts val="1040"/>
              </a:spcBef>
              <a:buFont typeface="Arial MT"/>
              <a:buChar char="•"/>
              <a:tabLst>
                <a:tab pos="241300" algn="l"/>
              </a:tabLst>
            </a:pPr>
            <a:r>
              <a:rPr sz="2800" spc="-5" dirty="0">
                <a:latin typeface="Calibri"/>
                <a:cs typeface="Calibri"/>
              </a:rPr>
              <a:t>GA</a:t>
            </a:r>
            <a:r>
              <a:rPr sz="2800" spc="5" dirty="0">
                <a:latin typeface="Calibri"/>
                <a:cs typeface="Calibri"/>
              </a:rPr>
              <a:t> </a:t>
            </a:r>
            <a:r>
              <a:rPr sz="2800" spc="-10" dirty="0">
                <a:latin typeface="Calibri"/>
                <a:cs typeface="Calibri"/>
              </a:rPr>
              <a:t>combines</a:t>
            </a:r>
            <a:r>
              <a:rPr sz="2800" spc="45" dirty="0">
                <a:latin typeface="Calibri"/>
                <a:cs typeface="Calibri"/>
              </a:rPr>
              <a:t> </a:t>
            </a:r>
            <a:r>
              <a:rPr sz="2800" spc="-5" dirty="0">
                <a:latin typeface="Calibri"/>
                <a:cs typeface="Calibri"/>
              </a:rPr>
              <a:t>an</a:t>
            </a:r>
            <a:r>
              <a:rPr sz="2800" spc="15" dirty="0">
                <a:latin typeface="Calibri"/>
                <a:cs typeface="Calibri"/>
              </a:rPr>
              <a:t> </a:t>
            </a:r>
            <a:r>
              <a:rPr sz="2800" spc="-10" dirty="0">
                <a:latin typeface="Calibri"/>
                <a:cs typeface="Calibri"/>
              </a:rPr>
              <a:t>uphill</a:t>
            </a:r>
            <a:r>
              <a:rPr sz="2800" spc="30" dirty="0">
                <a:latin typeface="Calibri"/>
                <a:cs typeface="Calibri"/>
              </a:rPr>
              <a:t> </a:t>
            </a:r>
            <a:r>
              <a:rPr sz="2800" spc="-5" dirty="0">
                <a:latin typeface="Calibri"/>
                <a:cs typeface="Calibri"/>
              </a:rPr>
              <a:t>tendency</a:t>
            </a:r>
            <a:r>
              <a:rPr sz="2800" spc="20" dirty="0">
                <a:latin typeface="Calibri"/>
                <a:cs typeface="Calibri"/>
              </a:rPr>
              <a:t> </a:t>
            </a:r>
            <a:r>
              <a:rPr sz="2800" spc="-5" dirty="0">
                <a:latin typeface="Calibri"/>
                <a:cs typeface="Calibri"/>
              </a:rPr>
              <a:t>with</a:t>
            </a:r>
            <a:r>
              <a:rPr sz="2800" spc="15" dirty="0">
                <a:latin typeface="Calibri"/>
                <a:cs typeface="Calibri"/>
              </a:rPr>
              <a:t> </a:t>
            </a:r>
            <a:r>
              <a:rPr sz="2800" spc="-15" dirty="0">
                <a:latin typeface="Calibri"/>
                <a:cs typeface="Calibri"/>
              </a:rPr>
              <a:t>random</a:t>
            </a:r>
            <a:r>
              <a:rPr sz="2800" spc="30" dirty="0">
                <a:latin typeface="Calibri"/>
                <a:cs typeface="Calibri"/>
              </a:rPr>
              <a:t> </a:t>
            </a:r>
            <a:r>
              <a:rPr sz="2800" spc="-15" dirty="0">
                <a:latin typeface="Calibri"/>
                <a:cs typeface="Calibri"/>
              </a:rPr>
              <a:t>exploration</a:t>
            </a:r>
            <a:r>
              <a:rPr sz="2800" spc="25" dirty="0">
                <a:latin typeface="Calibri"/>
                <a:cs typeface="Calibri"/>
              </a:rPr>
              <a:t> </a:t>
            </a:r>
            <a:r>
              <a:rPr sz="2800" spc="-5" dirty="0">
                <a:latin typeface="Calibri"/>
                <a:cs typeface="Calibri"/>
              </a:rPr>
              <a:t>and </a:t>
            </a:r>
            <a:r>
              <a:rPr sz="2800" spc="-620" dirty="0">
                <a:latin typeface="Calibri"/>
                <a:cs typeface="Calibri"/>
              </a:rPr>
              <a:t> </a:t>
            </a:r>
            <a:r>
              <a:rPr sz="2800" spc="-20" dirty="0">
                <a:latin typeface="Calibri"/>
                <a:cs typeface="Calibri"/>
              </a:rPr>
              <a:t>exchange</a:t>
            </a:r>
            <a:r>
              <a:rPr sz="2800" spc="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information</a:t>
            </a:r>
            <a:r>
              <a:rPr sz="2800" spc="25" dirty="0">
                <a:latin typeface="Calibri"/>
                <a:cs typeface="Calibri"/>
              </a:rPr>
              <a:t> </a:t>
            </a:r>
            <a:r>
              <a:rPr sz="2800" spc="-5" dirty="0">
                <a:latin typeface="Calibri"/>
                <a:cs typeface="Calibri"/>
              </a:rPr>
              <a:t>among</a:t>
            </a:r>
            <a:r>
              <a:rPr sz="2800" spc="10" dirty="0">
                <a:latin typeface="Calibri"/>
                <a:cs typeface="Calibri"/>
              </a:rPr>
              <a:t> </a:t>
            </a:r>
            <a:r>
              <a:rPr sz="2800" spc="-15" dirty="0">
                <a:latin typeface="Calibri"/>
                <a:cs typeface="Calibri"/>
              </a:rPr>
              <a:t>parallel</a:t>
            </a:r>
            <a:r>
              <a:rPr sz="2800" spc="10" dirty="0">
                <a:latin typeface="Calibri"/>
                <a:cs typeface="Calibri"/>
              </a:rPr>
              <a:t> </a:t>
            </a:r>
            <a:r>
              <a:rPr sz="2800" spc="-10" dirty="0">
                <a:latin typeface="Calibri"/>
                <a:cs typeface="Calibri"/>
              </a:rPr>
              <a:t>search</a:t>
            </a:r>
            <a:r>
              <a:rPr sz="2800" spc="10" dirty="0">
                <a:latin typeface="Calibri"/>
                <a:cs typeface="Calibri"/>
              </a:rPr>
              <a:t> </a:t>
            </a:r>
            <a:r>
              <a:rPr sz="2800" spc="-10" dirty="0">
                <a:latin typeface="Calibri"/>
                <a:cs typeface="Calibri"/>
              </a:rPr>
              <a:t>threads</a:t>
            </a:r>
            <a:endParaRPr sz="2800">
              <a:latin typeface="Calibri"/>
              <a:cs typeface="Calibri"/>
            </a:endParaRPr>
          </a:p>
          <a:p>
            <a:pPr marL="241300" marR="50165" indent="-228600">
              <a:lnSpc>
                <a:spcPts val="3020"/>
              </a:lnSpc>
              <a:spcBef>
                <a:spcPts val="1005"/>
              </a:spcBef>
              <a:buFont typeface="Arial MT"/>
              <a:buChar char="•"/>
              <a:tabLst>
                <a:tab pos="241300" algn="l"/>
              </a:tabLst>
            </a:pPr>
            <a:r>
              <a:rPr sz="2800" spc="-5" dirty="0">
                <a:latin typeface="Calibri"/>
                <a:cs typeface="Calibri"/>
              </a:rPr>
              <a:t>GA</a:t>
            </a:r>
            <a:r>
              <a:rPr sz="2800" spc="5" dirty="0">
                <a:latin typeface="Calibri"/>
                <a:cs typeface="Calibri"/>
              </a:rPr>
              <a:t> </a:t>
            </a:r>
            <a:r>
              <a:rPr sz="2800" spc="-10" dirty="0">
                <a:latin typeface="Calibri"/>
                <a:cs typeface="Calibri"/>
              </a:rPr>
              <a:t>has</a:t>
            </a:r>
            <a:r>
              <a:rPr sz="2800" spc="30" dirty="0">
                <a:latin typeface="Calibri"/>
                <a:cs typeface="Calibri"/>
              </a:rPr>
              <a:t> </a:t>
            </a:r>
            <a:r>
              <a:rPr sz="2800" spc="-5" dirty="0">
                <a:latin typeface="Calibri"/>
                <a:cs typeface="Calibri"/>
              </a:rPr>
              <a:t>widespread</a:t>
            </a:r>
            <a:r>
              <a:rPr sz="2800" spc="20" dirty="0">
                <a:latin typeface="Calibri"/>
                <a:cs typeface="Calibri"/>
              </a:rPr>
              <a:t> </a:t>
            </a:r>
            <a:r>
              <a:rPr sz="2800" spc="-5" dirty="0">
                <a:latin typeface="Calibri"/>
                <a:cs typeface="Calibri"/>
              </a:rPr>
              <a:t>impact</a:t>
            </a:r>
            <a:r>
              <a:rPr sz="2800" spc="20" dirty="0">
                <a:latin typeface="Calibri"/>
                <a:cs typeface="Calibri"/>
              </a:rPr>
              <a:t> </a:t>
            </a:r>
            <a:r>
              <a:rPr sz="2800" spc="-5" dirty="0">
                <a:latin typeface="Calibri"/>
                <a:cs typeface="Calibri"/>
              </a:rPr>
              <a:t>on</a:t>
            </a:r>
            <a:r>
              <a:rPr sz="2800" spc="15" dirty="0">
                <a:latin typeface="Calibri"/>
                <a:cs typeface="Calibri"/>
              </a:rPr>
              <a:t> </a:t>
            </a:r>
            <a:r>
              <a:rPr sz="2800" spc="-10" dirty="0">
                <a:latin typeface="Calibri"/>
                <a:cs typeface="Calibri"/>
              </a:rPr>
              <a:t>optimization</a:t>
            </a:r>
            <a:r>
              <a:rPr sz="2800" spc="25" dirty="0">
                <a:latin typeface="Calibri"/>
                <a:cs typeface="Calibri"/>
              </a:rPr>
              <a:t> </a:t>
            </a:r>
            <a:r>
              <a:rPr sz="2800" spc="-15" dirty="0">
                <a:latin typeface="Calibri"/>
                <a:cs typeface="Calibri"/>
              </a:rPr>
              <a:t>problem</a:t>
            </a:r>
            <a:r>
              <a:rPr sz="2800" spc="25" dirty="0">
                <a:latin typeface="Calibri"/>
                <a:cs typeface="Calibri"/>
              </a:rPr>
              <a:t> </a:t>
            </a:r>
            <a:r>
              <a:rPr sz="2800" spc="-10" dirty="0">
                <a:latin typeface="Calibri"/>
                <a:cs typeface="Calibri"/>
              </a:rPr>
              <a:t>such</a:t>
            </a:r>
            <a:r>
              <a:rPr sz="2800" spc="40" dirty="0">
                <a:latin typeface="Calibri"/>
                <a:cs typeface="Calibri"/>
              </a:rPr>
              <a:t> </a:t>
            </a:r>
            <a:r>
              <a:rPr sz="2800" spc="-5" dirty="0">
                <a:latin typeface="Calibri"/>
                <a:cs typeface="Calibri"/>
              </a:rPr>
              <a:t>as</a:t>
            </a:r>
            <a:r>
              <a:rPr sz="2800" spc="10" dirty="0">
                <a:latin typeface="Calibri"/>
                <a:cs typeface="Calibri"/>
              </a:rPr>
              <a:t> </a:t>
            </a:r>
            <a:r>
              <a:rPr sz="2800" spc="-10" dirty="0">
                <a:latin typeface="Calibri"/>
                <a:cs typeface="Calibri"/>
              </a:rPr>
              <a:t>circuit </a:t>
            </a:r>
            <a:r>
              <a:rPr sz="2800" spc="-615" dirty="0">
                <a:latin typeface="Calibri"/>
                <a:cs typeface="Calibri"/>
              </a:rPr>
              <a:t> </a:t>
            </a:r>
            <a:r>
              <a:rPr sz="2800" spc="-20" dirty="0">
                <a:latin typeface="Calibri"/>
                <a:cs typeface="Calibri"/>
              </a:rPr>
              <a:t>layout</a:t>
            </a:r>
            <a:r>
              <a:rPr sz="2800" spc="5"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job</a:t>
            </a:r>
            <a:r>
              <a:rPr sz="2800" spc="5" dirty="0">
                <a:latin typeface="Calibri"/>
                <a:cs typeface="Calibri"/>
              </a:rPr>
              <a:t> </a:t>
            </a:r>
            <a:r>
              <a:rPr sz="2800" spc="-10" dirty="0">
                <a:latin typeface="Calibri"/>
                <a:cs typeface="Calibri"/>
              </a:rPr>
              <a:t>scheduling</a:t>
            </a:r>
            <a:endParaRPr sz="2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405</TotalTime>
  <Words>2630</Words>
  <Application>Microsoft Office PowerPoint</Application>
  <PresentationFormat>Widescreen</PresentationFormat>
  <Paragraphs>186</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Arial MT</vt:lpstr>
      <vt:lpstr>Arial Unicode MS</vt:lpstr>
      <vt:lpstr>Calibri</vt:lpstr>
      <vt:lpstr>Calibri Light</vt:lpstr>
      <vt:lpstr>Wingdings</vt:lpstr>
      <vt:lpstr>Office Theme</vt:lpstr>
      <vt:lpstr> Chapter VI: Machine Learning</vt:lpstr>
      <vt:lpstr>Outline</vt:lpstr>
      <vt:lpstr>Learning</vt:lpstr>
      <vt:lpstr>PowerPoint Presentation</vt:lpstr>
      <vt:lpstr>Types of Learning</vt:lpstr>
      <vt:lpstr>Types of Learning</vt:lpstr>
      <vt:lpstr>Machine Learning</vt:lpstr>
      <vt:lpstr>PowerPoint Presentation</vt:lpstr>
      <vt:lpstr>Machine Learning</vt:lpstr>
      <vt:lpstr>PowerPoint Presentation</vt:lpstr>
      <vt:lpstr>PowerPoint Presentation</vt:lpstr>
      <vt:lpstr>PowerPoint Presentation</vt:lpstr>
      <vt:lpstr>PowerPoint Presentation</vt:lpstr>
      <vt:lpstr>PowerPoint Presentation</vt:lpstr>
      <vt:lpstr>i. Inductive learning, also known as discovery learning, is a process where the learner discovers rules by observing examples.   ii. This is different from deductive learning, where students are given rules that they then need to apply  iii. It is a supervised learning method</vt:lpstr>
      <vt:lpstr>PowerPoint Presentation</vt:lpstr>
      <vt:lpstr>Learning by Examples: Induction</vt:lpstr>
      <vt:lpstr>Decision Tree</vt:lpstr>
      <vt:lpstr>PowerPoint Presentation</vt:lpstr>
      <vt:lpstr>Iterative Dichotomizer 3</vt:lpstr>
      <vt:lpstr>PowerPoint Presentation</vt:lpstr>
      <vt:lpstr>ID3</vt:lpstr>
      <vt:lpstr>PowerPoint Presentation</vt:lpstr>
      <vt:lpstr>PowerPoint Presentation</vt:lpstr>
      <vt:lpstr>PowerPoint Presentation</vt:lpstr>
      <vt:lpstr>PowerPoint Presentation</vt:lpstr>
      <vt:lpstr>PowerPoint Presentation</vt:lpstr>
      <vt:lpstr>PowerPoint Presentation</vt:lpstr>
      <vt:lpstr>ID3: Algorithm</vt:lpstr>
      <vt:lpstr>ID3</vt:lpstr>
      <vt:lpstr>Neural networks are computing systems with interconnected nodes that work much like neurons in the human brain.   Using algorithms, they can recognize hidden patterns and correlations in raw data, cluster and classify it, and – over time – continuously learn and improve.</vt:lpstr>
      <vt:lpstr>1. Artificial Neural Networks (ANN) Artificial neural networks (ANNs), usually simply called neural networks (NNs), are computing systems inspired by the biological neural networks that constitute animal brains.   An ANN is based on a collection of connected units or nodes called artificial neurons, which loosely model the neurons in a biological brain.  </vt:lpstr>
      <vt:lpstr>2. Convolution Neural Network  A convolutional neural network (CNN) is a type of artificial neural network used in image recognition and processing that is specifically designed to process pixel data  CNNs are powerful image processing, artificial intelligence (AI) that use deep learning to perform both generative and descriptive tasks, often using machine vison that includes image and video recognition, along with recommender systems and natural language processing (NLP).</vt:lpstr>
      <vt:lpstr>3. Recurrent Neural Network</vt:lpstr>
      <vt:lpstr>Boltzmann Machine</vt:lpstr>
      <vt:lpstr>Boltzmann machines are typically used to solve different computational problems such as, for a search problem, the weights present on the connections can be fixed and are used to represent the cost function of the optimization problem    </vt:lpstr>
      <vt:lpstr>PowerPoint Presentation</vt:lpstr>
      <vt:lpstr>Fuzzy Logic</vt:lpstr>
      <vt:lpstr>Fuzzy Logic</vt:lpstr>
      <vt:lpstr>PowerPoint Presentation</vt:lpstr>
      <vt:lpstr>Fuzzy Logic</vt:lpstr>
      <vt:lpstr>Genetic Algorithm</vt:lpstr>
      <vt:lpstr>PowerPoint Presentation</vt:lpstr>
      <vt:lpstr>PowerPoint Presentation</vt:lpstr>
      <vt:lpstr>Genetic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Lecture I: Introduction</dc:title>
  <dc:creator>Bibek Ropakheti</dc:creator>
  <cp:lastModifiedBy>Manish Kumar</cp:lastModifiedBy>
  <cp:revision>44</cp:revision>
  <dcterms:created xsi:type="dcterms:W3CDTF">2021-12-08T02:38:14Z</dcterms:created>
  <dcterms:modified xsi:type="dcterms:W3CDTF">2025-11-24T03:29:43Z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2014-08-15T00:00:00Z</vt:filetime>
  </property>
  <property fmtid="{D5CDD505-2E9C-101B-9397-08002B2CF9AE}" pid="3" name="Creator">
    <vt:lpwstr>Microsoft® PowerPoint® 2013</vt:lpwstr>
  </property>
  <property fmtid="{D5CDD505-2E9C-101B-9397-08002B2CF9AE}" pid="4" name="LastSaved">
    <vt:filetime>2021-12-08T00:00:00Z</vt:filetime>
  </property>
</Properties>
</file>