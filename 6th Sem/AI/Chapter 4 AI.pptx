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0" r:id="rId3"/>
    <p:sldId id="329" r:id="rId4"/>
    <p:sldId id="262" r:id="rId5"/>
    <p:sldId id="266" r:id="rId6"/>
    <p:sldId id="267" r:id="rId7"/>
    <p:sldId id="268" r:id="rId8"/>
    <p:sldId id="270" r:id="rId9"/>
    <p:sldId id="271" r:id="rId10"/>
    <p:sldId id="272" r:id="rId11"/>
    <p:sldId id="269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8" r:id="rId27"/>
    <p:sldId id="326" r:id="rId28"/>
    <p:sldId id="327" r:id="rId29"/>
    <p:sldId id="328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9" r:id="rId46"/>
    <p:sldId id="306" r:id="rId47"/>
    <p:sldId id="310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588" autoAdjust="0"/>
    <p:restoredTop sz="94660"/>
  </p:normalViewPr>
  <p:slideViewPr>
    <p:cSldViewPr snapToGrid="0">
      <p:cViewPr varScale="1">
        <p:scale>
          <a:sx n="89" d="100"/>
          <a:sy n="89" d="100"/>
        </p:scale>
        <p:origin x="16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54A1F-9C4C-47C2-A89B-04FDA6ED8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7D93AC-9FDA-441A-A001-4741DAD79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BB90E-AABA-4129-BA0A-4FC3DCD9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51D55-B49E-44FC-9E83-4E713A77490C}" type="datetimeFigureOut">
              <a:rPr lang="en-US" smtClean="0"/>
              <a:t>12/19/24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137-DA23-4532-8C28-10BCFBC75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C4371-B3FC-4050-9287-8899F4420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7494-D17A-41FA-B06A-B6949A58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9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367A-C26C-49C8-8927-889FB8315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4EEA-22B3-4714-8B4C-0E7ECDEC2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A0605-F77A-418D-9BC9-319D0DF16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51D55-B49E-44FC-9E83-4E713A77490C}" type="datetimeFigureOut">
              <a:rPr lang="en-US" smtClean="0"/>
              <a:t>12/19/24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01C35-57C2-4E7C-A6D1-C1C0BD5D3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D0FF8-F8A6-42CB-85CC-7F42E00E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7494-D17A-41FA-B06A-B6949A58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16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A26F0-E6E8-4582-84A9-769FE543C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C12AB-2DD5-4417-AC33-753416020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CCF2D-87F9-4330-A2F7-754D30CDE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51D55-B49E-44FC-9E83-4E713A77490C}" type="datetimeFigureOut">
              <a:rPr lang="en-US" smtClean="0"/>
              <a:t>12/19/24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F378E-4FD3-4FC7-AD3C-44AE3166A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39C80-8766-4A7D-89C9-9E4E25CDD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7494-D17A-41FA-B06A-B6949A58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16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5B3B-EE1B-4F60-B491-3FDBE3C5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6276E-E5CE-4A90-AC24-6F940FC076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7A118-039A-4A0B-A2A5-2A71FA7FE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4473E9-4E28-46C1-867E-0A7886C96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51D55-B49E-44FC-9E83-4E713A77490C}" type="datetimeFigureOut">
              <a:rPr lang="en-US" smtClean="0"/>
              <a:t>12/19/24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D9F5E-B504-47E4-867B-D21F9D206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7AE58-2078-42AD-A522-80C866BE5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7494-D17A-41FA-B06A-B6949A58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66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CA680-0DB8-400A-AA8D-6BEA544AC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1E576-8681-4EB9-AC6B-49DE4D4F3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04CFE-38CD-460D-8846-699E051E6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B09D7D-D2C3-44F2-9F36-A991949989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F4742E-2CCD-4DDC-9306-9FF94E20FB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43653D-E32C-47E5-B149-52BF8EDEE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51D55-B49E-44FC-9E83-4E713A77490C}" type="datetimeFigureOut">
              <a:rPr lang="en-US" smtClean="0"/>
              <a:t>12/19/24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660B9E-A8FD-4F90-B7D2-95E1A6D49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99FCE7-3448-4553-97B8-184B5C9F4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7494-D17A-41FA-B06A-B6949A58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740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F82B9-C68B-4426-82F2-842C4A96B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C7BACF-50F3-4D7C-90D0-316A78679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51D55-B49E-44FC-9E83-4E713A77490C}" type="datetimeFigureOut">
              <a:rPr lang="en-US" smtClean="0"/>
              <a:t>12/19/24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92628-C7D6-4038-B3D3-0E9B66F33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2D895-FCAE-4BCA-A2C7-F241456B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7494-D17A-41FA-B06A-B6949A58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330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4F44F4-0CFA-4685-9C03-47D4A2BD8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51D55-B49E-44FC-9E83-4E713A77490C}" type="datetimeFigureOut">
              <a:rPr lang="en-US" smtClean="0"/>
              <a:t>12/19/24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FE81B7-2F59-4AC5-988B-C3FE6D16C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72428-E995-413C-8710-1441D4FA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7494-D17A-41FA-B06A-B6949A58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9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84EED-8F95-4D92-8E6F-7856A61BC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A6BA3-373C-4B77-871A-46F732DE7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0C4D7C-4177-4E68-8327-8548A08DB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D8DA0-2711-4D35-A635-11C2F9DEC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51D55-B49E-44FC-9E83-4E713A77490C}" type="datetimeFigureOut">
              <a:rPr lang="en-US" smtClean="0"/>
              <a:t>12/19/24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A545C-B6EF-463D-99A8-FDA2BDCAE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8BBCF-2C8B-4CB7-B1BD-8DA1CE6E3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7494-D17A-41FA-B06A-B6949A58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450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883A9-B190-4A47-9DCD-71FE6AD66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91F10-7780-45B5-A106-8DED3F2537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B1FACD-0F25-4C10-9289-C242E156F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7B703-850F-4FC4-885F-FCC94DEC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51D55-B49E-44FC-9E83-4E713A77490C}" type="datetimeFigureOut">
              <a:rPr lang="en-US" smtClean="0"/>
              <a:t>12/19/24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377B8-1A12-4830-8D09-69F27BF9B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C5DD5-6798-4558-84FD-B6278560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7494-D17A-41FA-B06A-B6949A58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229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49B68-A137-4D4A-A113-DB2A67BF3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EDC84-C196-4DCA-8BDC-ED85C1905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C29E6-BCF5-4977-8CBF-84D057B94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51D55-B49E-44FC-9E83-4E713A77490C}" type="datetimeFigureOut">
              <a:rPr lang="en-US" smtClean="0"/>
              <a:t>12/19/24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F78DD-8CE1-4F28-BDCF-F8DBBB22A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878DA-DB58-480E-BFE7-14831E723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7494-D17A-41FA-B06A-B6949A58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50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A89DBB-B1C1-4F65-A431-F262A2DCF9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BB09F-ABB1-47A3-842D-18670CD98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7B711-2B79-4071-8D63-848A4C169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51D55-B49E-44FC-9E83-4E713A77490C}" type="datetimeFigureOut">
              <a:rPr lang="en-US" smtClean="0"/>
              <a:t>12/19/24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1529-F7F0-4931-83C2-0FF56C475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B5BED-9960-4E56-B5FE-977594FA3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97494-D17A-41FA-B06A-B6949A58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24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718759"/>
            <a:ext cx="4790440" cy="4276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51828" y="1793189"/>
            <a:ext cx="4825365" cy="4164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9585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05B4A2-1B82-4FEB-BE72-DBC7F0630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30F59-26C4-493E-9E2E-E1DDC97FD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AA5B2-0407-42CF-8416-03D3232B7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51D55-B49E-44FC-9E83-4E713A77490C}" type="datetimeFigureOut">
              <a:rPr lang="en-US" smtClean="0"/>
              <a:t>12/19/24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70638-5FAB-4898-BD37-BCB6B32F6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A368C-8B75-4199-8809-AB5344089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97494-D17A-41FA-B06A-B6949A58A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41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01FB2-8663-45F3-8019-D36EFC8F5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- 4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261416-5F59-4800-8B93-9F65C57AE7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Knowledge representation, inference and reasoning</a:t>
            </a:r>
          </a:p>
        </p:txBody>
      </p:sp>
    </p:spTree>
    <p:extLst>
      <p:ext uri="{BB962C8B-B14F-4D97-AF65-F5344CB8AC3E}">
        <p14:creationId xmlns:p14="http://schemas.microsoft.com/office/powerpoint/2010/main" val="4252134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CEE01-1752-35D7-4A58-E950E73E4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5326"/>
            <a:ext cx="10515600" cy="5671637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Knowledge is the information about a domain that can be used to solve problems in that domain.</a:t>
            </a:r>
          </a:p>
          <a:p>
            <a:endParaRPr lang="en-NP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362A5B-7BF4-92E0-F57B-F2CA332A9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84" y="1491916"/>
            <a:ext cx="10254916" cy="536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63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028E45-9C3A-4C20-EA90-C734D36C3F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26" y="1323474"/>
            <a:ext cx="11318916" cy="5211064"/>
          </a:xfrm>
        </p:spPr>
      </p:pic>
    </p:spTree>
    <p:extLst>
      <p:ext uri="{BB962C8B-B14F-4D97-AF65-F5344CB8AC3E}">
        <p14:creationId xmlns:p14="http://schemas.microsoft.com/office/powerpoint/2010/main" val="818073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07BFA0-B4DC-45A4-AA74-DD5C25B87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644" y="1512711"/>
            <a:ext cx="6028267" cy="48316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F36B53-C722-4AD1-8F1A-4BA7ABD217C6}"/>
              </a:ext>
            </a:extLst>
          </p:cNvPr>
          <p:cNvSpPr txBox="1"/>
          <p:nvPr/>
        </p:nvSpPr>
        <p:spPr>
          <a:xfrm>
            <a:off x="383822" y="396711"/>
            <a:ext cx="47977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Types of Knowledge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3571986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08642-DEE7-47A1-9143-E81FBCEFE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8933"/>
            <a:ext cx="10515600" cy="5398030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Declarative Knowledge</a:t>
            </a:r>
            <a:r>
              <a:rPr lang="en-US" dirty="0">
                <a:effectLst/>
              </a:rPr>
              <a:t> – It includes concepts, facts, and objects and expressed in a declarative sentence.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Structural Knowledge</a:t>
            </a:r>
            <a:r>
              <a:rPr lang="en-US" dirty="0">
                <a:effectLst/>
              </a:rPr>
              <a:t> – It is a basic problem-solving knowledge that describes the relationship between concepts and objects.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Procedural Knowledge</a:t>
            </a:r>
            <a:r>
              <a:rPr lang="en-US" dirty="0">
                <a:effectLst/>
              </a:rPr>
              <a:t> – This is responsible for knowing how to do something and includes rules, strategies, procedures, etc.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Meta Knowledge</a:t>
            </a:r>
            <a:r>
              <a:rPr lang="en-US" dirty="0">
                <a:effectLst/>
              </a:rPr>
              <a:t> – Meta Knowledge defines knowledge about other types of Knowledge.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Heuristic Knowledge</a:t>
            </a:r>
            <a:r>
              <a:rPr lang="en-US" dirty="0">
                <a:effectLst/>
              </a:rPr>
              <a:t> – This represents some expert knowledge in the field or subject.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534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6657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Knowledge</a:t>
            </a:r>
            <a:r>
              <a:rPr spc="-20" dirty="0"/>
              <a:t> Representation:</a:t>
            </a:r>
            <a:r>
              <a:rPr spc="-40" dirty="0"/>
              <a:t> </a:t>
            </a:r>
            <a:r>
              <a:rPr spc="-5" dirty="0"/>
              <a:t>Issues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257155" cy="326644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any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attributes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objects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basic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have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occurred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almost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every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problem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domain?</a:t>
            </a:r>
            <a:endParaRPr sz="2800">
              <a:latin typeface="Calibri"/>
              <a:cs typeface="Calibri"/>
            </a:endParaRPr>
          </a:p>
          <a:p>
            <a:pPr marL="241300" marR="213995" indent="-228600">
              <a:lnSpc>
                <a:spcPts val="3020"/>
              </a:lnSpc>
              <a:spcBef>
                <a:spcPts val="100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there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any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relationships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exist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among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attributes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objects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40" dirty="0">
                <a:latin typeface="Calibri"/>
                <a:cs typeface="Calibri"/>
              </a:rPr>
              <a:t>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what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level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should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knowledge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represented?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How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should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sets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objects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represented?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How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relevant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parts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accessed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they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needed?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91050-E460-40EC-A59C-9EE5A6B29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738511" cy="752475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Knowledge Based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62EB7-FD2D-4642-A1CB-63B1EEBF8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556"/>
            <a:ext cx="10515600" cy="4709407"/>
          </a:xfrm>
        </p:spPr>
        <p:txBody>
          <a:bodyPr>
            <a:normAutofit/>
          </a:bodyPr>
          <a:lstStyle/>
          <a:p>
            <a:r>
              <a:rPr lang="en-US" sz="2400" dirty="0"/>
              <a:t>An agent is anything that acts in environment.</a:t>
            </a:r>
          </a:p>
          <a:p>
            <a:r>
              <a:rPr lang="en-US" sz="2400" dirty="0"/>
              <a:t>In environments where we perfectly understand action-reaction pairs, we may say that an agent is rational when it chooses the action that will yield its desired outcome. </a:t>
            </a:r>
          </a:p>
          <a:p>
            <a:r>
              <a:rPr lang="en-US" sz="2400" dirty="0"/>
              <a:t>In an environment with any degree of uncertainty, we may say that an agent is rational if it acts in such a way that brings it the highest degree of expected desired outcomes.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9465F1-B9C7-4C08-8B9A-B15ECF7C03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743" y="4289778"/>
            <a:ext cx="4849814" cy="223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478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pc="-15" dirty="0"/>
              <a:t>Knowledge</a:t>
            </a:r>
            <a:r>
              <a:rPr spc="10" dirty="0"/>
              <a:t> </a:t>
            </a:r>
            <a:r>
              <a:rPr spc="-5" dirty="0"/>
              <a:t>Based</a:t>
            </a:r>
            <a:r>
              <a:rPr spc="-20" dirty="0"/>
              <a:t> </a:t>
            </a:r>
            <a:r>
              <a:rPr spc="-15" dirty="0"/>
              <a:t>Agent:</a:t>
            </a:r>
            <a:r>
              <a:rPr spc="-20" dirty="0"/>
              <a:t> </a:t>
            </a:r>
            <a:r>
              <a:rPr spc="-15" dirty="0"/>
              <a:t>Levels</a:t>
            </a:r>
            <a:r>
              <a:rPr spc="-1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20" dirty="0"/>
              <a:t>Knowledge </a:t>
            </a:r>
            <a:r>
              <a:rPr spc="-980" dirty="0"/>
              <a:t> </a:t>
            </a:r>
            <a:r>
              <a:rPr spc="-5" dirty="0"/>
              <a:t>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565"/>
            <a:ext cx="4810125" cy="289115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Knowledge </a:t>
            </a:r>
            <a:r>
              <a:rPr sz="2800" spc="-10" dirty="0">
                <a:latin typeface="Calibri"/>
                <a:cs typeface="Calibri"/>
              </a:rPr>
              <a:t>Level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most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abstract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</a:t>
            </a:r>
            <a:endParaRPr sz="240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4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Describes </a:t>
            </a:r>
            <a:r>
              <a:rPr sz="2400" spc="-10" dirty="0">
                <a:latin typeface="Calibri"/>
                <a:cs typeface="Calibri"/>
              </a:rPr>
              <a:t>agent by saying what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knows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70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Example:</a:t>
            </a:r>
            <a:endParaRPr sz="2400">
              <a:latin typeface="Calibri"/>
              <a:cs typeface="Calibri"/>
            </a:endParaRPr>
          </a:p>
          <a:p>
            <a:pPr marL="1155700" marR="86995" lvl="2" indent="-228600">
              <a:lnSpc>
                <a:spcPts val="2160"/>
              </a:lnSpc>
              <a:spcBef>
                <a:spcPts val="565"/>
              </a:spcBef>
              <a:buFont typeface="Tahoma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An </a:t>
            </a:r>
            <a:r>
              <a:rPr sz="2000" spc="-10" dirty="0">
                <a:latin typeface="Calibri"/>
                <a:cs typeface="Calibri"/>
              </a:rPr>
              <a:t>intelligent </a:t>
            </a:r>
            <a:r>
              <a:rPr sz="2000" spc="-15" dirty="0">
                <a:latin typeface="Calibri"/>
                <a:cs typeface="Calibri"/>
              </a:rPr>
              <a:t>taxi </a:t>
            </a:r>
            <a:r>
              <a:rPr sz="2000" spc="-5" dirty="0">
                <a:latin typeface="Calibri"/>
                <a:cs typeface="Calibri"/>
              </a:rPr>
              <a:t>might know that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Bagmati Bridge connects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Kathmandu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with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Lalitpur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1756565"/>
            <a:ext cx="4838065" cy="46990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Logical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Level</a:t>
            </a:r>
            <a:endParaRPr sz="280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75"/>
              </a:spcBef>
              <a:buFont typeface="Tahoma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encoded</a:t>
            </a:r>
            <a:r>
              <a:rPr sz="2400" spc="-15" dirty="0">
                <a:latin typeface="Calibri"/>
                <a:cs typeface="Calibri"/>
              </a:rPr>
              <a:t> into formal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sentences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80"/>
              </a:spcBef>
              <a:buFont typeface="Tahoma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Example:</a:t>
            </a:r>
            <a:endParaRPr sz="2400">
              <a:latin typeface="Calibri"/>
              <a:cs typeface="Calibri"/>
            </a:endParaRPr>
          </a:p>
          <a:p>
            <a:pPr marL="1155700" marR="150495" lvl="2" indent="-228600">
              <a:lnSpc>
                <a:spcPts val="2160"/>
              </a:lnSpc>
              <a:spcBef>
                <a:spcPts val="555"/>
              </a:spcBef>
              <a:buFont typeface="Tahoma"/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Calibri"/>
                <a:cs typeface="Calibri"/>
              </a:rPr>
              <a:t>Joins(Bagmati bridge, Kathmandu,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Lalitpur)</a:t>
            </a:r>
            <a:endParaRPr sz="20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buFont typeface="Tahoma"/>
              <a:buChar char="•"/>
            </a:pPr>
            <a:endParaRPr sz="20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30"/>
              </a:spcBef>
              <a:buFont typeface="Tahoma"/>
              <a:buChar char="•"/>
            </a:pPr>
            <a:endParaRPr sz="17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Implementation</a:t>
            </a:r>
            <a:r>
              <a:rPr sz="2800" spc="-15" dirty="0">
                <a:latin typeface="Calibri"/>
                <a:cs typeface="Calibri"/>
              </a:rPr>
              <a:t> Level</a:t>
            </a:r>
            <a:endParaRPr sz="2800">
              <a:latin typeface="Calibri"/>
              <a:cs typeface="Calibri"/>
            </a:endParaRPr>
          </a:p>
          <a:p>
            <a:pPr marL="698500" marR="449580" lvl="1" indent="-228600">
              <a:lnSpc>
                <a:spcPts val="2590"/>
              </a:lnSpc>
              <a:spcBef>
                <a:spcPts val="570"/>
              </a:spcBef>
              <a:buFont typeface="Tahoma"/>
              <a:buChar char="•"/>
              <a:tabLst>
                <a:tab pos="698500" algn="l"/>
              </a:tabLst>
            </a:pPr>
            <a:r>
              <a:rPr sz="2400" spc="-15" dirty="0">
                <a:latin typeface="Calibri"/>
                <a:cs typeface="Calibri"/>
              </a:rPr>
              <a:t>Physical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sentences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logical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70"/>
              </a:spcBef>
              <a:buFont typeface="Tahoma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Example:</a:t>
            </a:r>
            <a:endParaRPr sz="240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295"/>
              </a:spcBef>
              <a:buFont typeface="Tahoma"/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Calibri"/>
                <a:cs typeface="Calibri"/>
              </a:rPr>
              <a:t>Objects,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string,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dams, </a:t>
            </a:r>
            <a:r>
              <a:rPr sz="2000" spc="-10" dirty="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1760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10070465" cy="465518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Logic</a:t>
            </a:r>
            <a:endParaRPr sz="2800">
              <a:latin typeface="Calibri"/>
              <a:cs typeface="Calibri"/>
            </a:endParaRPr>
          </a:p>
          <a:p>
            <a:pPr marL="241300" marR="86995" indent="-228600">
              <a:lnSpc>
                <a:spcPts val="3020"/>
              </a:lnSpc>
              <a:spcBef>
                <a:spcPts val="1060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Syntax: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standard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express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so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-5" dirty="0">
                <a:latin typeface="Calibri"/>
                <a:cs typeface="Calibri"/>
              </a:rPr>
              <a:t> 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well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formed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Semantics: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Has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meaning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sentences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Defines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truth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sentences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respect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respective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possible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world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Connectives: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Joins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different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components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Model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Real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World</a:t>
            </a:r>
            <a:endParaRPr sz="2800">
              <a:latin typeface="Calibri"/>
              <a:cs typeface="Calibri"/>
            </a:endParaRPr>
          </a:p>
          <a:p>
            <a:pPr marL="241300" marR="219075" indent="-228600">
              <a:lnSpc>
                <a:spcPts val="3020"/>
              </a:lnSpc>
              <a:spcBef>
                <a:spcPts val="1060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Entailment: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idea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follows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logically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another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E</a:t>
            </a:r>
            <a:r>
              <a:rPr sz="2400" spc="-40" dirty="0">
                <a:latin typeface="Calibri"/>
                <a:cs typeface="Calibri"/>
              </a:rPr>
              <a:t>x</a:t>
            </a:r>
            <a:r>
              <a:rPr sz="2400" dirty="0">
                <a:latin typeface="Calibri"/>
                <a:cs typeface="Calibri"/>
              </a:rPr>
              <a:t>ampl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α</a:t>
            </a:r>
            <a:r>
              <a:rPr sz="2400" dirty="0">
                <a:latin typeface="Tahoma"/>
                <a:cs typeface="Tahoma"/>
              </a:rPr>
              <a:t>╞</a:t>
            </a:r>
            <a:r>
              <a:rPr sz="2400" spc="-210" dirty="0">
                <a:latin typeface="Tahoma"/>
                <a:cs typeface="Tahoma"/>
              </a:rPr>
              <a:t> </a:t>
            </a:r>
            <a:r>
              <a:rPr sz="2400" spc="-5" dirty="0">
                <a:latin typeface="Calibri"/>
                <a:cs typeface="Calibri"/>
              </a:rPr>
              <a:t>β</a:t>
            </a:r>
            <a:r>
              <a:rPr sz="2400" dirty="0">
                <a:latin typeface="Calibri"/>
                <a:cs typeface="Calibri"/>
              </a:rPr>
              <a:t>,whe</a:t>
            </a:r>
            <a:r>
              <a:rPr sz="2400" spc="-3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 α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 β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</a:t>
            </a:r>
            <a:r>
              <a:rPr sz="2400" spc="-25" dirty="0">
                <a:latin typeface="Calibri"/>
                <a:cs typeface="Calibri"/>
              </a:rPr>
              <a:t>nt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5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es 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β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oll</a:t>
            </a:r>
            <a:r>
              <a:rPr sz="2400" spc="-25" dirty="0">
                <a:latin typeface="Calibri"/>
                <a:cs typeface="Calibri"/>
              </a:rPr>
              <a:t>ow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 f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m α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1760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302875" cy="335026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234315" indent="-228600">
              <a:lnSpc>
                <a:spcPts val="3030"/>
              </a:lnSpc>
              <a:spcBef>
                <a:spcPts val="47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inference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derives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only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entailed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called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sound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truth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preserving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Completeness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desirable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234"/>
              </a:spcBef>
              <a:buFont typeface="Tahoma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inference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algorithm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complete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derive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any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sentence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spc="-10" dirty="0">
                <a:latin typeface="Calibri"/>
                <a:cs typeface="Calibri"/>
              </a:rPr>
              <a:t>entailed</a:t>
            </a:r>
            <a:endParaRPr sz="240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980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If knowledge </a:t>
            </a:r>
            <a:r>
              <a:rPr sz="2800" spc="-10" dirty="0">
                <a:latin typeface="Calibri"/>
                <a:cs typeface="Calibri"/>
              </a:rPr>
              <a:t>base </a:t>
            </a:r>
            <a:r>
              <a:rPr sz="2800" spc="-5" dirty="0">
                <a:latin typeface="Calibri"/>
                <a:cs typeface="Calibri"/>
              </a:rPr>
              <a:t>is true in the </a:t>
            </a:r>
            <a:r>
              <a:rPr sz="2800" spc="-15" dirty="0">
                <a:latin typeface="Calibri"/>
                <a:cs typeface="Calibri"/>
              </a:rPr>
              <a:t>real </a:t>
            </a:r>
            <a:r>
              <a:rPr sz="2800" spc="-10" dirty="0">
                <a:latin typeface="Calibri"/>
                <a:cs typeface="Calibri"/>
              </a:rPr>
              <a:t>world, </a:t>
            </a:r>
            <a:r>
              <a:rPr sz="2800" spc="-5" dirty="0">
                <a:latin typeface="Calibri"/>
                <a:cs typeface="Calibri"/>
              </a:rPr>
              <a:t>then </a:t>
            </a:r>
            <a:r>
              <a:rPr sz="2800" spc="-20" dirty="0">
                <a:latin typeface="Calibri"/>
                <a:cs typeface="Calibri"/>
              </a:rPr>
              <a:t>any </a:t>
            </a:r>
            <a:r>
              <a:rPr sz="2800" spc="-10" dirty="0">
                <a:latin typeface="Calibri"/>
                <a:cs typeface="Calibri"/>
              </a:rPr>
              <a:t>sentence derived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5" dirty="0">
                <a:latin typeface="Calibri"/>
                <a:cs typeface="Calibri"/>
              </a:rPr>
              <a:t>the knowledge base </a:t>
            </a:r>
            <a:r>
              <a:rPr sz="2800" spc="-15" dirty="0">
                <a:latin typeface="Calibri"/>
                <a:cs typeface="Calibri"/>
              </a:rPr>
              <a:t>by </a:t>
            </a:r>
            <a:r>
              <a:rPr sz="2800" spc="-5" dirty="0">
                <a:latin typeface="Calibri"/>
                <a:cs typeface="Calibri"/>
              </a:rPr>
              <a:t>a sound </a:t>
            </a:r>
            <a:r>
              <a:rPr sz="2800" spc="-20" dirty="0">
                <a:latin typeface="Calibri"/>
                <a:cs typeface="Calibri"/>
              </a:rPr>
              <a:t>inference </a:t>
            </a:r>
            <a:r>
              <a:rPr sz="2800" spc="-15" dirty="0">
                <a:latin typeface="Calibri"/>
                <a:cs typeface="Calibri"/>
              </a:rPr>
              <a:t>procedure </a:t>
            </a:r>
            <a:r>
              <a:rPr sz="2800" spc="-5" dirty="0">
                <a:latin typeface="Calibri"/>
                <a:cs typeface="Calibri"/>
              </a:rPr>
              <a:t>is also true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real</a:t>
            </a:r>
            <a:r>
              <a:rPr sz="2800" spc="-10" dirty="0">
                <a:latin typeface="Calibri"/>
                <a:cs typeface="Calibri"/>
              </a:rPr>
              <a:t> world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1D1EA7-4DE5-432D-8D84-CEEDA90506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933" y="891822"/>
            <a:ext cx="9674577" cy="5285141"/>
          </a:xfrm>
        </p:spPr>
      </p:pic>
    </p:spTree>
    <p:extLst>
      <p:ext uri="{BB962C8B-B14F-4D97-AF65-F5344CB8AC3E}">
        <p14:creationId xmlns:p14="http://schemas.microsoft.com/office/powerpoint/2010/main" val="887147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1760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8485505" cy="37630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Example</a:t>
            </a:r>
            <a:endParaRPr sz="2800">
              <a:latin typeface="Calibri"/>
              <a:cs typeface="Calibri"/>
            </a:endParaRPr>
          </a:p>
          <a:p>
            <a:pPr marL="321945" indent="-309880">
              <a:lnSpc>
                <a:spcPct val="100000"/>
              </a:lnSpc>
              <a:spcBef>
                <a:spcPts val="675"/>
              </a:spcBef>
              <a:buFont typeface="Tahoma"/>
              <a:buChar char="•"/>
              <a:tabLst>
                <a:tab pos="321945" algn="l"/>
                <a:tab pos="322580" algn="l"/>
              </a:tabLst>
            </a:pPr>
            <a:r>
              <a:rPr sz="2800" spc="-15" dirty="0">
                <a:latin typeface="Calibri"/>
                <a:cs typeface="Calibri"/>
              </a:rPr>
              <a:t>Knowledge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Base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3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Socrates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Mortal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Tahoma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Äll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kind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Inference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applied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above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base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Inferring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“Socrates</a:t>
            </a:r>
            <a:r>
              <a:rPr sz="2800" spc="-5" dirty="0">
                <a:latin typeface="Calibri"/>
                <a:cs typeface="Calibri"/>
              </a:rPr>
              <a:t> 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Mortal”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Tahoma"/>
              <a:buChar char="•"/>
              <a:tabLst>
                <a:tab pos="241300" algn="l"/>
                <a:tab pos="4594860" algn="l"/>
              </a:tabLst>
            </a:pPr>
            <a:r>
              <a:rPr sz="2800" spc="-15" dirty="0">
                <a:latin typeface="Calibri"/>
                <a:cs typeface="Calibri"/>
              </a:rPr>
              <a:t>“Socrates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kind”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follows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	</a:t>
            </a:r>
            <a:r>
              <a:rPr sz="2800" spc="-10" dirty="0">
                <a:latin typeface="Calibri"/>
                <a:cs typeface="Calibri"/>
              </a:rPr>
              <a:t>sentence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65" dirty="0">
                <a:latin typeface="Calibri"/>
                <a:cs typeface="Calibri"/>
              </a:rPr>
              <a:t>“All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5" dirty="0">
                <a:latin typeface="Calibri"/>
                <a:cs typeface="Calibri"/>
              </a:rPr>
              <a:t>Kind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5222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Truth</a:t>
            </a:r>
            <a:r>
              <a:rPr spc="-70" dirty="0"/>
              <a:t> </a:t>
            </a:r>
            <a:r>
              <a:rPr spc="-75" dirty="0"/>
              <a:t>Table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1850" y="1819275"/>
          <a:ext cx="10515599" cy="32003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3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3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3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!P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3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3600" b="1" spc="-37" baseline="2546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</a:t>
                      </a:r>
                      <a:r>
                        <a:rPr sz="3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3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3600" b="1" baseline="2546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Λ</a:t>
                      </a:r>
                      <a:r>
                        <a:rPr sz="3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3600" spc="-20" dirty="0">
                          <a:latin typeface="Calibri"/>
                          <a:cs typeface="Calibri"/>
                        </a:rPr>
                        <a:t>False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3600" spc="-20" dirty="0">
                          <a:latin typeface="Calibri"/>
                          <a:cs typeface="Calibri"/>
                        </a:rPr>
                        <a:t>False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3600" spc="-60" dirty="0">
                          <a:latin typeface="Calibri"/>
                          <a:cs typeface="Calibri"/>
                        </a:rPr>
                        <a:t>True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3600" spc="-20" dirty="0">
                          <a:latin typeface="Calibri"/>
                          <a:cs typeface="Calibri"/>
                        </a:rPr>
                        <a:t>False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3600" spc="-20" dirty="0">
                          <a:latin typeface="Calibri"/>
                          <a:cs typeface="Calibri"/>
                        </a:rPr>
                        <a:t>False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3600" spc="-20" dirty="0">
                          <a:latin typeface="Calibri"/>
                          <a:cs typeface="Calibri"/>
                        </a:rPr>
                        <a:t>False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3600" spc="-60" dirty="0">
                          <a:latin typeface="Calibri"/>
                          <a:cs typeface="Calibri"/>
                        </a:rPr>
                        <a:t>True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3600" spc="-60" dirty="0">
                          <a:latin typeface="Calibri"/>
                          <a:cs typeface="Calibri"/>
                        </a:rPr>
                        <a:t>True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3600" spc="-60" dirty="0">
                          <a:latin typeface="Calibri"/>
                          <a:cs typeface="Calibri"/>
                        </a:rPr>
                        <a:t>True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3600" spc="-20" dirty="0">
                          <a:latin typeface="Calibri"/>
                          <a:cs typeface="Calibri"/>
                        </a:rPr>
                        <a:t>False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3600" spc="-60" dirty="0">
                          <a:latin typeface="Calibri"/>
                          <a:cs typeface="Calibri"/>
                        </a:rPr>
                        <a:t>True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3600" spc="-20" dirty="0">
                          <a:latin typeface="Calibri"/>
                          <a:cs typeface="Calibri"/>
                        </a:rPr>
                        <a:t>False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3600" spc="-20" dirty="0">
                          <a:latin typeface="Calibri"/>
                          <a:cs typeface="Calibri"/>
                        </a:rPr>
                        <a:t>False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3600" spc="-60" dirty="0">
                          <a:latin typeface="Calibri"/>
                          <a:cs typeface="Calibri"/>
                        </a:rPr>
                        <a:t>True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3600" spc="-20" dirty="0">
                          <a:latin typeface="Calibri"/>
                          <a:cs typeface="Calibri"/>
                        </a:rPr>
                        <a:t>False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3600" spc="-60" dirty="0">
                          <a:latin typeface="Calibri"/>
                          <a:cs typeface="Calibri"/>
                        </a:rPr>
                        <a:t>True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3600" spc="-60" dirty="0">
                          <a:latin typeface="Calibri"/>
                          <a:cs typeface="Calibri"/>
                        </a:rPr>
                        <a:t>True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3600" spc="-20" dirty="0">
                          <a:latin typeface="Calibri"/>
                          <a:cs typeface="Calibri"/>
                        </a:rPr>
                        <a:t>False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3600" spc="-60" dirty="0">
                          <a:latin typeface="Calibri"/>
                          <a:cs typeface="Calibri"/>
                        </a:rPr>
                        <a:t>True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3600" spc="-60" dirty="0">
                          <a:latin typeface="Calibri"/>
                          <a:cs typeface="Calibri"/>
                        </a:rPr>
                        <a:t>True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9333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Tautology</a:t>
            </a:r>
            <a:r>
              <a:rPr spc="-40" dirty="0"/>
              <a:t> </a:t>
            </a:r>
            <a:r>
              <a:rPr spc="5" dirty="0"/>
              <a:t>and</a:t>
            </a:r>
            <a:r>
              <a:rPr spc="-30" dirty="0"/>
              <a:t> Validity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91268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notation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used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formal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logic </a:t>
            </a:r>
            <a:r>
              <a:rPr sz="2800" spc="-5" dirty="0">
                <a:latin typeface="Calibri"/>
                <a:cs typeface="Calibri"/>
              </a:rPr>
              <a:t>which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always</a:t>
            </a:r>
            <a:r>
              <a:rPr sz="2800" spc="-5" dirty="0">
                <a:latin typeface="Calibri"/>
                <a:cs typeface="Calibri"/>
              </a:rPr>
              <a:t> true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valid.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305938"/>
            <a:ext cx="15697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x</a:t>
            </a:r>
            <a:r>
              <a:rPr sz="2800" spc="-5" dirty="0">
                <a:latin typeface="Calibri"/>
                <a:cs typeface="Calibri"/>
              </a:rPr>
              <a:t>ample: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5994" y="2305938"/>
            <a:ext cx="5883910" cy="835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90"/>
              </a:lnSpc>
              <a:spcBef>
                <a:spcPts val="95"/>
              </a:spcBef>
            </a:pPr>
            <a:r>
              <a:rPr sz="2800" spc="-5" dirty="0">
                <a:latin typeface="Calibri"/>
                <a:cs typeface="Calibri"/>
              </a:rPr>
              <a:t>A OR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(NOT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A)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ts val="3190"/>
              </a:lnSpc>
            </a:pPr>
            <a:r>
              <a:rPr sz="2800" spc="-5" dirty="0">
                <a:latin typeface="Calibri"/>
                <a:cs typeface="Calibri"/>
              </a:rPr>
              <a:t>I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am </a:t>
            </a:r>
            <a:r>
              <a:rPr sz="2800" spc="-10" dirty="0">
                <a:latin typeface="Calibri"/>
                <a:cs typeface="Calibri"/>
              </a:rPr>
              <a:t>eating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food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am</a:t>
            </a:r>
            <a:r>
              <a:rPr sz="2800" spc="-10" dirty="0">
                <a:latin typeface="Calibri"/>
                <a:cs typeface="Calibri"/>
              </a:rPr>
              <a:t> no</a:t>
            </a:r>
            <a:r>
              <a:rPr lang="en-US" sz="2800" spc="-10" dirty="0">
                <a:latin typeface="Calibri"/>
                <a:cs typeface="Calibri"/>
              </a:rPr>
              <a:t>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eating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food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3115526"/>
            <a:ext cx="8185150" cy="104775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6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conditions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statement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true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tautology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Tautologies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also called </a:t>
            </a:r>
            <a:r>
              <a:rPr sz="2800" spc="-10" dirty="0">
                <a:latin typeface="Calibri"/>
                <a:cs typeface="Calibri"/>
              </a:rPr>
              <a:t>valid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2945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Knowledge</a:t>
            </a:r>
            <a:r>
              <a:rPr spc="-50" dirty="0"/>
              <a:t> </a:t>
            </a:r>
            <a:r>
              <a:rPr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9601200" cy="421068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Tahoma"/>
              <a:buChar char="•"/>
              <a:tabLst>
                <a:tab pos="241300" algn="l"/>
                <a:tab pos="1911350" algn="l"/>
              </a:tabLst>
            </a:pP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model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	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world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which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true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under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particular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interpretation</a:t>
            </a:r>
            <a:endParaRPr sz="2800">
              <a:latin typeface="Calibri"/>
              <a:cs typeface="Calibri"/>
            </a:endParaRPr>
          </a:p>
          <a:p>
            <a:pPr marL="241300" marR="1243330" indent="-228600">
              <a:lnSpc>
                <a:spcPts val="3020"/>
              </a:lnSpc>
              <a:spcBef>
                <a:spcPts val="100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There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several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models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once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have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same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interpretations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Types: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First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order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logic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Procedural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20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Relational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Hierarchical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Semantic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Nets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8362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Knowledge</a:t>
            </a:r>
            <a:r>
              <a:rPr spc="-30" dirty="0"/>
              <a:t> </a:t>
            </a:r>
            <a:r>
              <a:rPr dirty="0"/>
              <a:t>Models:</a:t>
            </a:r>
            <a:r>
              <a:rPr spc="-30" dirty="0"/>
              <a:t> </a:t>
            </a:r>
            <a:r>
              <a:rPr spc="-5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565"/>
            <a:ext cx="4879340" cy="443293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First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Order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Logic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First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Order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Predicate</a:t>
            </a:r>
            <a:r>
              <a:rPr sz="2400" spc="-5" dirty="0">
                <a:latin typeface="Calibri"/>
                <a:cs typeface="Calibri"/>
              </a:rPr>
              <a:t> Calculus</a:t>
            </a:r>
            <a:endParaRPr sz="2400">
              <a:latin typeface="Calibri"/>
              <a:cs typeface="Calibri"/>
            </a:endParaRPr>
          </a:p>
          <a:p>
            <a:pPr marL="698500" marR="62230" lvl="1" indent="-228600">
              <a:lnSpc>
                <a:spcPts val="2590"/>
              </a:lnSpc>
              <a:spcBef>
                <a:spcPts val="54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Consists </a:t>
            </a:r>
            <a:r>
              <a:rPr sz="2400" spc="-5" dirty="0">
                <a:latin typeface="Calibri"/>
                <a:cs typeface="Calibri"/>
              </a:rPr>
              <a:t>of objects, </a:t>
            </a:r>
            <a:r>
              <a:rPr sz="2400" spc="-15" dirty="0">
                <a:latin typeface="Calibri"/>
                <a:cs typeface="Calibri"/>
              </a:rPr>
              <a:t>predicates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objects, </a:t>
            </a:r>
            <a:r>
              <a:rPr sz="2400" spc="-10" dirty="0">
                <a:latin typeface="Calibri"/>
                <a:cs typeface="Calibri"/>
              </a:rPr>
              <a:t>connectives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quantifiers</a:t>
            </a:r>
            <a:endParaRPr sz="2400">
              <a:latin typeface="Calibri"/>
              <a:cs typeface="Calibri"/>
            </a:endParaRPr>
          </a:p>
          <a:p>
            <a:pPr marL="698500" marR="110489" lvl="1" indent="-228600">
              <a:lnSpc>
                <a:spcPts val="2590"/>
              </a:lnSpc>
              <a:spcBef>
                <a:spcPts val="500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Predicates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dirty="0">
                <a:latin typeface="Calibri"/>
                <a:cs typeface="Calibri"/>
              </a:rPr>
              <a:t> the </a:t>
            </a:r>
            <a:r>
              <a:rPr sz="2400" spc="-10" dirty="0">
                <a:latin typeface="Calibri"/>
                <a:cs typeface="Calibri"/>
              </a:rPr>
              <a:t>relations </a:t>
            </a:r>
            <a:r>
              <a:rPr sz="2400" spc="-5" dirty="0">
                <a:latin typeface="Calibri"/>
                <a:cs typeface="Calibri"/>
              </a:rPr>
              <a:t> between objects or </a:t>
            </a:r>
            <a:r>
              <a:rPr sz="2400" spc="-10" dirty="0">
                <a:latin typeface="Calibri"/>
                <a:cs typeface="Calibri"/>
              </a:rPr>
              <a:t>properties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objects</a:t>
            </a:r>
            <a:endParaRPr sz="240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1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Connectives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quantifiers </a:t>
            </a:r>
            <a:r>
              <a:rPr sz="2400" spc="-5" dirty="0">
                <a:latin typeface="Calibri"/>
                <a:cs typeface="Calibri"/>
              </a:rPr>
              <a:t>allow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universal sentences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180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Relations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between </a:t>
            </a:r>
            <a:r>
              <a:rPr sz="2400" spc="-5" dirty="0">
                <a:latin typeface="Calibri"/>
                <a:cs typeface="Calibri"/>
              </a:rPr>
              <a:t>objects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true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false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1756565"/>
            <a:ext cx="5308600" cy="403987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Procedural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Representation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Model</a:t>
            </a:r>
            <a:endParaRPr sz="2800">
              <a:latin typeface="Calibri"/>
              <a:cs typeface="Calibri"/>
            </a:endParaRPr>
          </a:p>
          <a:p>
            <a:pPr marL="698500" marR="177800" lvl="1" indent="-228600">
              <a:lnSpc>
                <a:spcPct val="90000"/>
              </a:lnSpc>
              <a:spcBef>
                <a:spcPts val="535"/>
              </a:spcBef>
              <a:buFont typeface="Tahoma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This </a:t>
            </a:r>
            <a:r>
              <a:rPr sz="2400" dirty="0">
                <a:latin typeface="Calibri"/>
                <a:cs typeface="Calibri"/>
              </a:rPr>
              <a:t>model </a:t>
            </a:r>
            <a:r>
              <a:rPr sz="2400" spc="-5" dirty="0">
                <a:latin typeface="Calibri"/>
                <a:cs typeface="Calibri"/>
              </a:rPr>
              <a:t>of knowledge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representation </a:t>
            </a:r>
            <a:r>
              <a:rPr sz="2400" spc="-5" dirty="0">
                <a:latin typeface="Calibri"/>
                <a:cs typeface="Calibri"/>
              </a:rPr>
              <a:t>encodes </a:t>
            </a:r>
            <a:r>
              <a:rPr sz="2400" spc="-15" dirty="0">
                <a:latin typeface="Calibri"/>
                <a:cs typeface="Calibri"/>
              </a:rPr>
              <a:t>facts </a:t>
            </a:r>
            <a:r>
              <a:rPr sz="2400" dirty="0">
                <a:latin typeface="Calibri"/>
                <a:cs typeface="Calibri"/>
              </a:rPr>
              <a:t>along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 the </a:t>
            </a:r>
            <a:r>
              <a:rPr sz="2400" spc="-5" dirty="0">
                <a:latin typeface="Calibri"/>
                <a:cs typeface="Calibri"/>
              </a:rPr>
              <a:t>sequence of </a:t>
            </a:r>
            <a:r>
              <a:rPr sz="2400" spc="-10" dirty="0">
                <a:latin typeface="Calibri"/>
                <a:cs typeface="Calibri"/>
              </a:rPr>
              <a:t>operations </a:t>
            </a:r>
            <a:r>
              <a:rPr sz="2400" spc="-25" dirty="0">
                <a:latin typeface="Calibri"/>
                <a:cs typeface="Calibri"/>
              </a:rPr>
              <a:t>for </a:t>
            </a:r>
            <a:r>
              <a:rPr sz="2400" spc="-5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manipulation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processing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facts</a:t>
            </a:r>
            <a:endParaRPr sz="2400">
              <a:latin typeface="Calibri"/>
              <a:cs typeface="Calibri"/>
            </a:endParaRPr>
          </a:p>
          <a:p>
            <a:pPr marL="698500" marR="571500" lvl="1" indent="-228600">
              <a:lnSpc>
                <a:spcPts val="2590"/>
              </a:lnSpc>
              <a:spcBef>
                <a:spcPts val="545"/>
              </a:spcBef>
              <a:buFont typeface="Tahoma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Expert </a:t>
            </a:r>
            <a:r>
              <a:rPr sz="2400" spc="-20" dirty="0">
                <a:latin typeface="Calibri"/>
                <a:cs typeface="Calibri"/>
              </a:rPr>
              <a:t>systems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based on </a:t>
            </a:r>
            <a:r>
              <a:rPr sz="2400" dirty="0">
                <a:latin typeface="Calibri"/>
                <a:cs typeface="Calibri"/>
              </a:rPr>
              <a:t>this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00"/>
              </a:spcBef>
              <a:buFont typeface="Tahoma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It </a:t>
            </a:r>
            <a:r>
              <a:rPr sz="2400" spc="-15" dirty="0">
                <a:latin typeface="Calibri"/>
                <a:cs typeface="Calibri"/>
              </a:rPr>
              <a:t>works </a:t>
            </a:r>
            <a:r>
              <a:rPr sz="2400" spc="-10" dirty="0">
                <a:latin typeface="Calibri"/>
                <a:cs typeface="Calibri"/>
              </a:rPr>
              <a:t>best </a:t>
            </a:r>
            <a:r>
              <a:rPr sz="2400" dirty="0">
                <a:latin typeface="Calibri"/>
                <a:cs typeface="Calibri"/>
              </a:rPr>
              <a:t>when </a:t>
            </a:r>
            <a:r>
              <a:rPr sz="2400" spc="-10" dirty="0">
                <a:latin typeface="Calibri"/>
                <a:cs typeface="Calibri"/>
              </a:rPr>
              <a:t>experts </a:t>
            </a:r>
            <a:r>
              <a:rPr sz="2400" spc="-15" dirty="0">
                <a:latin typeface="Calibri"/>
                <a:cs typeface="Calibri"/>
              </a:rPr>
              <a:t>follow </a:t>
            </a:r>
            <a:r>
              <a:rPr sz="2400" spc="-10" dirty="0">
                <a:latin typeface="Calibri"/>
                <a:cs typeface="Calibri"/>
              </a:rPr>
              <a:t>set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problem </a:t>
            </a:r>
            <a:r>
              <a:rPr sz="2400" spc="-5" dirty="0">
                <a:latin typeface="Calibri"/>
                <a:cs typeface="Calibri"/>
              </a:rPr>
              <a:t>solving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80"/>
              </a:spcBef>
              <a:buFont typeface="Tahoma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Example: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doctor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diagnosis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8362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Knowledge</a:t>
            </a:r>
            <a:r>
              <a:rPr spc="-30" dirty="0"/>
              <a:t> </a:t>
            </a:r>
            <a:r>
              <a:rPr dirty="0"/>
              <a:t>Models:</a:t>
            </a:r>
            <a:r>
              <a:rPr spc="-30" dirty="0"/>
              <a:t> </a:t>
            </a:r>
            <a:r>
              <a:rPr spc="-5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565"/>
            <a:ext cx="5013325" cy="403987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Relational</a:t>
            </a:r>
            <a:r>
              <a:rPr sz="2800" spc="-15" dirty="0">
                <a:latin typeface="Calibri"/>
                <a:cs typeface="Calibri"/>
              </a:rPr>
              <a:t> Representation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Model</a:t>
            </a:r>
            <a:endParaRPr sz="280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7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Collection of knowledge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spc="-20" dirty="0">
                <a:latin typeface="Calibri"/>
                <a:cs typeface="Calibri"/>
              </a:rPr>
              <a:t>stored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tabular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form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180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Mostly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commercial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spc="-10" dirty="0">
                <a:latin typeface="Calibri"/>
                <a:cs typeface="Calibri"/>
              </a:rPr>
              <a:t>databases,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relational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databases</a:t>
            </a:r>
            <a:endParaRPr sz="2400">
              <a:latin typeface="Calibri"/>
              <a:cs typeface="Calibri"/>
            </a:endParaRPr>
          </a:p>
          <a:p>
            <a:pPr marL="698500" marR="424815" lvl="1" indent="-228600">
              <a:lnSpc>
                <a:spcPts val="2590"/>
              </a:lnSpc>
              <a:spcBef>
                <a:spcPts val="530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manipulated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 </a:t>
            </a:r>
            <a:r>
              <a:rPr sz="2400" spc="-10" dirty="0">
                <a:latin typeface="Calibri"/>
                <a:cs typeface="Calibri"/>
              </a:rPr>
              <a:t>relational </a:t>
            </a:r>
            <a:r>
              <a:rPr sz="2400" spc="-5" dirty="0">
                <a:latin typeface="Calibri"/>
                <a:cs typeface="Calibri"/>
              </a:rPr>
              <a:t>calculus use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language </a:t>
            </a:r>
            <a:r>
              <a:rPr sz="2400" spc="-20" dirty="0">
                <a:latin typeface="Calibri"/>
                <a:cs typeface="Calibri"/>
              </a:rPr>
              <a:t>like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SQL,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Oracle,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698500" marR="691515" lvl="1" indent="-228600">
              <a:lnSpc>
                <a:spcPts val="2590"/>
              </a:lnSpc>
              <a:spcBef>
                <a:spcPts val="51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Its </a:t>
            </a:r>
            <a:r>
              <a:rPr sz="2400" spc="-10" dirty="0">
                <a:latin typeface="Calibri"/>
                <a:cs typeface="Calibri"/>
              </a:rPr>
              <a:t>flexible </a:t>
            </a:r>
            <a:r>
              <a:rPr sz="2400" spc="-25" dirty="0">
                <a:latin typeface="Calibri"/>
                <a:cs typeface="Calibri"/>
              </a:rPr>
              <a:t>way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5" dirty="0">
                <a:latin typeface="Calibri"/>
                <a:cs typeface="Calibri"/>
              </a:rPr>
              <a:t>storing </a:t>
            </a:r>
            <a:r>
              <a:rPr sz="2400" spc="-10" dirty="0">
                <a:latin typeface="Calibri"/>
                <a:cs typeface="Calibri"/>
              </a:rPr>
              <a:t> information by </a:t>
            </a:r>
            <a:r>
              <a:rPr sz="2400" spc="-5" dirty="0">
                <a:latin typeface="Calibri"/>
                <a:cs typeface="Calibri"/>
              </a:rPr>
              <a:t>not </a:t>
            </a:r>
            <a:r>
              <a:rPr sz="2400" spc="-10" dirty="0">
                <a:latin typeface="Calibri"/>
                <a:cs typeface="Calibri"/>
              </a:rPr>
              <a:t>good </a:t>
            </a:r>
            <a:r>
              <a:rPr sz="2400" spc="-25" dirty="0">
                <a:latin typeface="Calibri"/>
                <a:cs typeface="Calibri"/>
              </a:rPr>
              <a:t>for 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storing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complex </a:t>
            </a:r>
            <a:r>
              <a:rPr sz="2400" spc="-10" dirty="0">
                <a:latin typeface="Calibri"/>
                <a:cs typeface="Calibri"/>
              </a:rPr>
              <a:t>relationships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1802333"/>
            <a:ext cx="5481320" cy="3728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 indent="-228600">
              <a:lnSpc>
                <a:spcPts val="2740"/>
              </a:lnSpc>
              <a:spcBef>
                <a:spcPts val="100"/>
              </a:spcBef>
              <a:buFont typeface="Tahoma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Problem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arises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10" dirty="0">
                <a:latin typeface="Calibri"/>
                <a:cs typeface="Calibri"/>
              </a:rPr>
              <a:t> one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40"/>
              </a:lnSpc>
            </a:pPr>
            <a:r>
              <a:rPr sz="2400" spc="-5" dirty="0">
                <a:latin typeface="Calibri"/>
                <a:cs typeface="Calibri"/>
              </a:rPr>
              <a:t>subject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area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attempted</a:t>
            </a:r>
            <a:endParaRPr sz="2400">
              <a:latin typeface="Calibri"/>
              <a:cs typeface="Calibri"/>
            </a:endParaRPr>
          </a:p>
          <a:p>
            <a:pPr marL="698500" marR="322580" indent="-228600">
              <a:lnSpc>
                <a:spcPts val="2590"/>
              </a:lnSpc>
              <a:spcBef>
                <a:spcPts val="545"/>
              </a:spcBef>
              <a:buFont typeface="Tahoma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new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base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scratch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has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be built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each </a:t>
            </a:r>
            <a:r>
              <a:rPr sz="2400" spc="-10" dirty="0">
                <a:latin typeface="Calibri"/>
                <a:cs typeface="Calibri"/>
              </a:rPr>
              <a:t>area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expertise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Tahoma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Hierarchical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Representation</a:t>
            </a:r>
            <a:r>
              <a:rPr sz="2800" spc="-5" dirty="0">
                <a:latin typeface="Calibri"/>
                <a:cs typeface="Calibri"/>
              </a:rPr>
              <a:t> Model</a:t>
            </a:r>
            <a:endParaRPr sz="2800">
              <a:latin typeface="Calibri"/>
              <a:cs typeface="Calibri"/>
            </a:endParaRPr>
          </a:p>
          <a:p>
            <a:pPr marL="698500" marR="5080" lvl="1" indent="-228600">
              <a:lnSpc>
                <a:spcPct val="90100"/>
              </a:lnSpc>
              <a:spcBef>
                <a:spcPts val="530"/>
              </a:spcBef>
              <a:buFont typeface="Tahoma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inherited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shared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 </a:t>
            </a:r>
            <a:r>
              <a:rPr sz="2400" spc="-5" dirty="0">
                <a:latin typeface="Calibri"/>
                <a:cs typeface="Calibri"/>
              </a:rPr>
              <a:t> between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objects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8381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Knowledge </a:t>
            </a:r>
            <a:r>
              <a:rPr dirty="0"/>
              <a:t>Models:</a:t>
            </a:r>
            <a:r>
              <a:rPr spc="-30" dirty="0"/>
              <a:t> </a:t>
            </a:r>
            <a:r>
              <a:rPr spc="-5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565"/>
            <a:ext cx="4984750" cy="35839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Semantic Nets</a:t>
            </a:r>
            <a:endParaRPr sz="2800">
              <a:latin typeface="Calibri"/>
              <a:cs typeface="Calibri"/>
            </a:endParaRPr>
          </a:p>
          <a:p>
            <a:pPr marL="698500" marR="38735" lvl="1" indent="-228600">
              <a:lnSpc>
                <a:spcPts val="2590"/>
              </a:lnSpc>
              <a:spcBef>
                <a:spcPts val="57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Semantic </a:t>
            </a:r>
            <a:r>
              <a:rPr sz="2400" spc="-10" dirty="0">
                <a:latin typeface="Calibri"/>
                <a:cs typeface="Calibri"/>
              </a:rPr>
              <a:t>networks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alternative </a:t>
            </a:r>
            <a:r>
              <a:rPr sz="2400" spc="-15" dirty="0">
                <a:latin typeface="Calibri"/>
                <a:cs typeface="Calibri"/>
              </a:rPr>
              <a:t>to predicate </a:t>
            </a:r>
            <a:r>
              <a:rPr sz="2400" spc="-5" dirty="0">
                <a:latin typeface="Calibri"/>
                <a:cs typeface="Calibri"/>
              </a:rPr>
              <a:t>logic </a:t>
            </a:r>
            <a:r>
              <a:rPr sz="2400" dirty="0">
                <a:latin typeface="Calibri"/>
                <a:cs typeface="Calibri"/>
              </a:rPr>
              <a:t>as a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representation</a:t>
            </a:r>
            <a:endParaRPr sz="2400">
              <a:latin typeface="Calibri"/>
              <a:cs typeface="Calibri"/>
            </a:endParaRPr>
          </a:p>
          <a:p>
            <a:pPr marL="698500" marR="5080" lvl="1" indent="-228600">
              <a:lnSpc>
                <a:spcPct val="90000"/>
              </a:lnSpc>
              <a:spcBef>
                <a:spcPts val="470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idea is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spc="-15" dirty="0">
                <a:latin typeface="Calibri"/>
                <a:cs typeface="Calibri"/>
              </a:rPr>
              <a:t>we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spc="-20" dirty="0">
                <a:latin typeface="Calibri"/>
                <a:cs typeface="Calibri"/>
              </a:rPr>
              <a:t>store </a:t>
            </a:r>
            <a:r>
              <a:rPr sz="2400" spc="-5" dirty="0">
                <a:latin typeface="Calibri"/>
                <a:cs typeface="Calibri"/>
              </a:rPr>
              <a:t>our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 </a:t>
            </a: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15" dirty="0">
                <a:latin typeface="Calibri"/>
                <a:cs typeface="Calibri"/>
              </a:rPr>
              <a:t>form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graph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 </a:t>
            </a:r>
            <a:r>
              <a:rPr sz="2400" spc="-5" dirty="0">
                <a:latin typeface="Calibri"/>
                <a:cs typeface="Calibri"/>
              </a:rPr>
              <a:t>nodes </a:t>
            </a:r>
            <a:r>
              <a:rPr sz="2400" spc="-10" dirty="0">
                <a:latin typeface="Calibri"/>
                <a:cs typeface="Calibri"/>
              </a:rPr>
              <a:t>representing </a:t>
            </a:r>
            <a:r>
              <a:rPr sz="2400" spc="-5" dirty="0">
                <a:latin typeface="Calibri"/>
                <a:cs typeface="Calibri"/>
              </a:rPr>
              <a:t>objects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world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10" dirty="0">
                <a:latin typeface="Calibri"/>
                <a:cs typeface="Calibri"/>
              </a:rPr>
              <a:t>representing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relationships between</a:t>
            </a:r>
            <a:r>
              <a:rPr sz="2400" spc="-5" dirty="0">
                <a:latin typeface="Calibri"/>
                <a:cs typeface="Calibri"/>
              </a:rPr>
              <a:t> those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objects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6956" y="396240"/>
            <a:ext cx="5237988" cy="599236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03769" y="1883105"/>
            <a:ext cx="405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</a:t>
            </a:r>
            <a:r>
              <a:rPr sz="1800" spc="-20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90993" y="3208985"/>
            <a:ext cx="6305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eam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50430" y="4465066"/>
            <a:ext cx="512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Black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8206" y="4465066"/>
            <a:ext cx="398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latin typeface="Calibri"/>
                <a:cs typeface="Calibri"/>
              </a:rPr>
              <a:t>B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60077" y="1883105"/>
            <a:ext cx="8591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Mammal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25253" y="595121"/>
            <a:ext cx="330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Fur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40977" y="3172205"/>
            <a:ext cx="332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55048" y="4460494"/>
            <a:ext cx="702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6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om</a:t>
            </a:r>
            <a:r>
              <a:rPr sz="1800" spc="-35" dirty="0">
                <a:latin typeface="Calibri"/>
                <a:cs typeface="Calibri"/>
              </a:rPr>
              <a:t>m</a:t>
            </a:r>
            <a:r>
              <a:rPr sz="180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75191" y="5860796"/>
            <a:ext cx="4603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John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169522" y="3208985"/>
            <a:ext cx="6762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Animal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546460" y="1256157"/>
            <a:ext cx="367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</a:t>
            </a:r>
            <a:r>
              <a:rPr sz="1800" dirty="0">
                <a:latin typeface="Calibri"/>
                <a:cs typeface="Calibri"/>
              </a:rPr>
              <a:t>as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221593" y="2564638"/>
            <a:ext cx="396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5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_a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770614" y="3971925"/>
            <a:ext cx="396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5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_a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934447" y="2621026"/>
            <a:ext cx="396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5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_a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64042" y="2198878"/>
            <a:ext cx="894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Sat_on_a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743693" y="3872941"/>
            <a:ext cx="3975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_</a:t>
            </a:r>
            <a:r>
              <a:rPr sz="180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64042" y="3645154"/>
            <a:ext cx="473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0" dirty="0">
                <a:latin typeface="Calibri"/>
                <a:cs typeface="Calibri"/>
              </a:rPr>
              <a:t>i</a:t>
            </a:r>
            <a:r>
              <a:rPr sz="1800" spc="-65" dirty="0">
                <a:latin typeface="Calibri"/>
                <a:cs typeface="Calibri"/>
              </a:rPr>
              <a:t>k</a:t>
            </a:r>
            <a:r>
              <a:rPr sz="1800" dirty="0">
                <a:latin typeface="Calibri"/>
                <a:cs typeface="Calibri"/>
              </a:rPr>
              <a:t>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59216" y="4759832"/>
            <a:ext cx="173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743693" y="5153914"/>
            <a:ext cx="541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20" dirty="0">
                <a:latin typeface="Calibri"/>
                <a:cs typeface="Calibri"/>
              </a:rPr>
              <a:t>w</a:t>
            </a:r>
            <a:r>
              <a:rPr sz="1800" dirty="0">
                <a:latin typeface="Calibri"/>
                <a:cs typeface="Calibri"/>
              </a:rPr>
              <a:t>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301985" y="4285869"/>
            <a:ext cx="563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5" dirty="0">
                <a:latin typeface="Calibri"/>
                <a:cs typeface="Calibri"/>
              </a:rPr>
              <a:t>_</a:t>
            </a:r>
            <a:r>
              <a:rPr sz="180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251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Propositional</a:t>
            </a:r>
            <a:r>
              <a:rPr spc="-25" dirty="0"/>
              <a:t> </a:t>
            </a:r>
            <a:r>
              <a:rPr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4902200" cy="46748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4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5" dirty="0">
                <a:latin typeface="Calibri"/>
                <a:cs typeface="Calibri"/>
              </a:rPr>
              <a:t>declarative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which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either be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true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false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but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both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neither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Very</a:t>
            </a:r>
            <a:r>
              <a:rPr sz="2800" spc="-5" dirty="0">
                <a:latin typeface="Calibri"/>
                <a:cs typeface="Calibri"/>
              </a:rPr>
              <a:t> simple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logic</a:t>
            </a:r>
            <a:endParaRPr sz="2800">
              <a:latin typeface="Calibri"/>
              <a:cs typeface="Calibri"/>
            </a:endParaRPr>
          </a:p>
          <a:p>
            <a:pPr marL="241300" marR="391795" indent="-228600">
              <a:lnSpc>
                <a:spcPct val="90000"/>
              </a:lnSpc>
              <a:spcBef>
                <a:spcPts val="1000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Mathematical</a:t>
            </a:r>
            <a:r>
              <a:rPr sz="2800" spc="-5" dirty="0">
                <a:latin typeface="Calibri"/>
                <a:cs typeface="Calibri"/>
              </a:rPr>
              <a:t> model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allows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reason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about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truth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falsehood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logical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expressions</a:t>
            </a:r>
            <a:endParaRPr sz="2800">
              <a:latin typeface="Calibri"/>
              <a:cs typeface="Calibri"/>
            </a:endParaRPr>
          </a:p>
          <a:p>
            <a:pPr marL="241300" marR="815340" indent="-228600">
              <a:lnSpc>
                <a:spcPct val="90000"/>
              </a:lnSpc>
              <a:spcBef>
                <a:spcPts val="994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There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-10" dirty="0">
                <a:latin typeface="Calibri"/>
                <a:cs typeface="Calibri"/>
              </a:rPr>
              <a:t> sentences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connectives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describe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expression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3728" y="1706841"/>
            <a:ext cx="5793105" cy="50285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79400" indent="-228600">
              <a:lnSpc>
                <a:spcPct val="100000"/>
              </a:lnSpc>
              <a:spcBef>
                <a:spcPts val="775"/>
              </a:spcBef>
              <a:buFont typeface="Tahoma"/>
              <a:buChar char="•"/>
              <a:tabLst>
                <a:tab pos="279400" algn="l"/>
              </a:tabLst>
            </a:pPr>
            <a:r>
              <a:rPr sz="2800" spc="-5" dirty="0">
                <a:latin typeface="Calibri"/>
                <a:cs typeface="Calibri"/>
              </a:rPr>
              <a:t>Its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syntax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defines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allowable sentences</a:t>
            </a:r>
            <a:endParaRPr sz="2800">
              <a:latin typeface="Calibri"/>
              <a:cs typeface="Calibri"/>
            </a:endParaRPr>
          </a:p>
          <a:p>
            <a:pPr marL="279400" indent="-228600">
              <a:lnSpc>
                <a:spcPct val="100000"/>
              </a:lnSpc>
              <a:spcBef>
                <a:spcPts val="675"/>
              </a:spcBef>
              <a:buFont typeface="Tahoma"/>
              <a:buChar char="•"/>
              <a:tabLst>
                <a:tab pos="279400" algn="l"/>
              </a:tabLst>
            </a:pPr>
            <a:r>
              <a:rPr sz="2800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736600" lvl="1" indent="-228600">
              <a:lnSpc>
                <a:spcPct val="100000"/>
              </a:lnSpc>
              <a:spcBef>
                <a:spcPts val="235"/>
              </a:spcBef>
              <a:buFont typeface="Tahoma"/>
              <a:buChar char="•"/>
              <a:tabLst>
                <a:tab pos="736600" algn="l"/>
              </a:tabLst>
            </a:pP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raining?</a:t>
            </a:r>
            <a:endParaRPr sz="2400">
              <a:latin typeface="Calibri"/>
              <a:cs typeface="Calibri"/>
            </a:endParaRPr>
          </a:p>
          <a:p>
            <a:pPr marL="736600" lvl="1" indent="-228600">
              <a:lnSpc>
                <a:spcPct val="100000"/>
              </a:lnSpc>
              <a:spcBef>
                <a:spcPts val="215"/>
              </a:spcBef>
              <a:buFont typeface="Tahoma"/>
              <a:buChar char="•"/>
              <a:tabLst>
                <a:tab pos="736600" algn="l"/>
              </a:tabLst>
            </a:pP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2+2=5?</a:t>
            </a:r>
            <a:endParaRPr sz="2400">
              <a:latin typeface="Calibri"/>
              <a:cs typeface="Calibri"/>
            </a:endParaRPr>
          </a:p>
          <a:p>
            <a:pPr marL="279400" marR="358775" indent="-228600">
              <a:lnSpc>
                <a:spcPts val="3020"/>
              </a:lnSpc>
              <a:spcBef>
                <a:spcPts val="1020"/>
              </a:spcBef>
              <a:buFont typeface="Tahoma"/>
              <a:buChar char="•"/>
              <a:tabLst>
                <a:tab pos="279400" algn="l"/>
              </a:tabLst>
            </a:pPr>
            <a:r>
              <a:rPr sz="2800" spc="-10" dirty="0">
                <a:latin typeface="Calibri"/>
                <a:cs typeface="Calibri"/>
              </a:rPr>
              <a:t>Logical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Connectives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spc="-15" dirty="0">
                <a:latin typeface="Calibri"/>
                <a:cs typeface="Calibri"/>
              </a:rPr>
              <a:t>Propositional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Logic</a:t>
            </a:r>
            <a:endParaRPr sz="2800">
              <a:latin typeface="Calibri"/>
              <a:cs typeface="Calibri"/>
            </a:endParaRPr>
          </a:p>
          <a:p>
            <a:pPr marL="736600" lvl="1" indent="-228600">
              <a:lnSpc>
                <a:spcPct val="100000"/>
              </a:lnSpc>
              <a:spcBef>
                <a:spcPts val="200"/>
              </a:spcBef>
              <a:buFont typeface="Tahoma"/>
              <a:buChar char="•"/>
              <a:tabLst>
                <a:tab pos="736600" algn="l"/>
              </a:tabLst>
            </a:pPr>
            <a:r>
              <a:rPr sz="2400" b="1" dirty="0">
                <a:latin typeface="Calibri"/>
                <a:cs typeface="Calibri"/>
              </a:rPr>
              <a:t>˄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Conjunction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(and)</a:t>
            </a:r>
            <a:endParaRPr sz="2400">
              <a:latin typeface="Calibri"/>
              <a:cs typeface="Calibri"/>
            </a:endParaRPr>
          </a:p>
          <a:p>
            <a:pPr marL="736600" lvl="1" indent="-228600">
              <a:lnSpc>
                <a:spcPct val="100000"/>
              </a:lnSpc>
              <a:spcBef>
                <a:spcPts val="220"/>
              </a:spcBef>
              <a:buFont typeface="Tahoma"/>
              <a:buChar char="•"/>
              <a:tabLst>
                <a:tab pos="736600" algn="l"/>
              </a:tabLst>
            </a:pPr>
            <a:r>
              <a:rPr sz="2400" b="1" dirty="0">
                <a:latin typeface="Calibri"/>
                <a:cs typeface="Calibri"/>
              </a:rPr>
              <a:t>˅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Disjunction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(or)</a:t>
            </a:r>
            <a:endParaRPr sz="2400">
              <a:latin typeface="Calibri"/>
              <a:cs typeface="Calibri"/>
            </a:endParaRPr>
          </a:p>
          <a:p>
            <a:pPr marL="736600" lvl="1" indent="-228600">
              <a:lnSpc>
                <a:spcPct val="100000"/>
              </a:lnSpc>
              <a:spcBef>
                <a:spcPts val="204"/>
              </a:spcBef>
              <a:buFont typeface="Tahoma"/>
              <a:buChar char="•"/>
              <a:tabLst>
                <a:tab pos="736600" algn="l"/>
              </a:tabLst>
            </a:pPr>
            <a:r>
              <a:rPr sz="2400" b="1" dirty="0">
                <a:latin typeface="Calibri"/>
                <a:cs typeface="Calibri"/>
              </a:rPr>
              <a:t>˥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Negation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(not)</a:t>
            </a:r>
            <a:endParaRPr sz="2400">
              <a:latin typeface="Calibri"/>
              <a:cs typeface="Calibri"/>
            </a:endParaRPr>
          </a:p>
          <a:p>
            <a:pPr marL="508000">
              <a:lnSpc>
                <a:spcPct val="100000"/>
              </a:lnSpc>
              <a:spcBef>
                <a:spcPts val="225"/>
              </a:spcBef>
              <a:tabLst>
                <a:tab pos="735965" algn="l"/>
              </a:tabLst>
            </a:pPr>
            <a:r>
              <a:rPr sz="2000" spc="-210" dirty="0">
                <a:latin typeface="Tahoma"/>
                <a:cs typeface="Tahoma"/>
              </a:rPr>
              <a:t>•	</a:t>
            </a:r>
            <a:r>
              <a:rPr sz="1950" b="1" spc="7" baseline="14957" dirty="0">
                <a:latin typeface="Calibri"/>
                <a:cs typeface="Calibri"/>
              </a:rPr>
              <a:t>=</a:t>
            </a:r>
            <a:r>
              <a:rPr sz="2400" b="1" spc="5" dirty="0">
                <a:latin typeface="Calibri"/>
                <a:cs typeface="Calibri"/>
              </a:rPr>
              <a:t>&gt;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Implication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(if…then…)</a:t>
            </a:r>
            <a:endParaRPr sz="2400">
              <a:latin typeface="Calibri"/>
              <a:cs typeface="Calibri"/>
            </a:endParaRPr>
          </a:p>
          <a:p>
            <a:pPr marL="965200" marR="1186815" lvl="1" indent="-457200">
              <a:lnSpc>
                <a:spcPts val="2580"/>
              </a:lnSpc>
              <a:spcBef>
                <a:spcPts val="555"/>
              </a:spcBef>
              <a:buFont typeface="Tahoma"/>
              <a:buChar char="•"/>
              <a:tabLst>
                <a:tab pos="736600" algn="l"/>
                <a:tab pos="1878964" algn="l"/>
              </a:tabLst>
            </a:pPr>
            <a:r>
              <a:rPr sz="2400" b="1" dirty="0">
                <a:latin typeface="Calibri"/>
                <a:cs typeface="Calibri"/>
              </a:rPr>
              <a:t>&lt;</a:t>
            </a:r>
            <a:r>
              <a:rPr sz="1950" b="1" baseline="14957" dirty="0">
                <a:latin typeface="Calibri"/>
                <a:cs typeface="Calibri"/>
              </a:rPr>
              <a:t>=</a:t>
            </a:r>
            <a:r>
              <a:rPr sz="2400" b="1" dirty="0">
                <a:latin typeface="Calibri"/>
                <a:cs typeface="Calibri"/>
              </a:rPr>
              <a:t>&gt;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dirty="0">
                <a:latin typeface="Wingdings"/>
                <a:cs typeface="Wingdings"/>
              </a:rPr>
              <a:t>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:	</a:t>
            </a:r>
            <a:r>
              <a:rPr sz="2400" spc="-10" dirty="0">
                <a:latin typeface="Calibri"/>
                <a:cs typeface="Calibri"/>
              </a:rPr>
              <a:t>Logical Equivalence </a:t>
            </a:r>
            <a:r>
              <a:rPr sz="2400" spc="-5" dirty="0">
                <a:latin typeface="Calibri"/>
                <a:cs typeface="Calibri"/>
              </a:rPr>
              <a:t>(If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only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If)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2409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Propositional</a:t>
            </a:r>
            <a:r>
              <a:rPr spc="5" dirty="0"/>
              <a:t> </a:t>
            </a:r>
            <a:r>
              <a:rPr dirty="0"/>
              <a:t>Logic:</a:t>
            </a:r>
            <a:r>
              <a:rPr spc="20" dirty="0"/>
              <a:t> </a:t>
            </a:r>
            <a:r>
              <a:rPr spc="-60" dirty="0"/>
              <a:t>Truth</a:t>
            </a:r>
            <a:r>
              <a:rPr spc="-20" dirty="0"/>
              <a:t> </a:t>
            </a:r>
            <a:r>
              <a:rPr spc="-60" dirty="0"/>
              <a:t>Tables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87412" y="1664589"/>
          <a:ext cx="139573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7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˥A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11250" y="3920744"/>
          <a:ext cx="2539365" cy="25159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6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1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A˄B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35242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1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4734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1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3524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1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4734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049014" y="1583182"/>
          <a:ext cx="2539365" cy="25158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6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173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A˅B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1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1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1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721856" y="3890264"/>
          <a:ext cx="2539365" cy="25159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6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17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R="4445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2400" b="1" spc="-7" baseline="156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&gt;B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1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19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186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436989" y="1554988"/>
          <a:ext cx="2680335" cy="25159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6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174">
                <a:tc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A&lt;</a:t>
                      </a:r>
                      <a:r>
                        <a:rPr sz="1800" b="1" spc="-7" baseline="13888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&gt;B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74">
                <a:tc>
                  <a:txBody>
                    <a:bodyPr/>
                    <a:lstStyle/>
                    <a:p>
                      <a:pPr marL="3530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3530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300">
                <a:tc>
                  <a:txBody>
                    <a:bodyPr/>
                    <a:lstStyle/>
                    <a:p>
                      <a:pPr marL="35306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174"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35306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174"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251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Propositional</a:t>
            </a:r>
            <a:r>
              <a:rPr spc="-25" dirty="0"/>
              <a:t> </a:t>
            </a:r>
            <a:r>
              <a:rPr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565"/>
            <a:ext cx="4954270" cy="272288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Sentence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Properties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itself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sentence</a:t>
            </a:r>
            <a:endParaRPr sz="240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4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Individual </a:t>
            </a:r>
            <a:r>
              <a:rPr sz="2400" spc="-10" dirty="0">
                <a:latin typeface="Calibri"/>
                <a:cs typeface="Calibri"/>
              </a:rPr>
              <a:t>Proposition symbols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</a:t>
            </a:r>
            <a:r>
              <a:rPr sz="2400" spc="-25" dirty="0">
                <a:latin typeface="Calibri"/>
                <a:cs typeface="Calibri"/>
              </a:rPr>
              <a:t>nt</a:t>
            </a:r>
            <a:r>
              <a:rPr sz="2400" dirty="0">
                <a:latin typeface="Calibri"/>
                <a:cs typeface="Calibri"/>
              </a:rPr>
              <a:t>enc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g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05" dirty="0">
                <a:latin typeface="Calibri"/>
                <a:cs typeface="Calibri"/>
              </a:rPr>
              <a:t>P</a:t>
            </a:r>
            <a:r>
              <a:rPr sz="2400" dirty="0">
                <a:latin typeface="Calibri"/>
                <a:cs typeface="Calibri"/>
              </a:rPr>
              <a:t>, </a:t>
            </a:r>
            <a:r>
              <a:rPr sz="2400" spc="114" dirty="0">
                <a:latin typeface="Calibri"/>
                <a:cs typeface="Calibri"/>
              </a:rPr>
              <a:t>Q</a:t>
            </a:r>
            <a:r>
              <a:rPr sz="2400" dirty="0">
                <a:latin typeface="Calibri"/>
                <a:cs typeface="Calibri"/>
              </a:rPr>
              <a:t>, …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70"/>
              </a:spcBef>
              <a:buFont typeface="Tahoma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sentence,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(s)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21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S1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S2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sentences,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are: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b="1" spc="-5" dirty="0">
                <a:latin typeface="Calibri"/>
                <a:cs typeface="Calibri"/>
              </a:rPr>
              <a:t>˥</a:t>
            </a:r>
            <a:r>
              <a:rPr sz="2400" spc="-5" dirty="0">
                <a:latin typeface="Calibri"/>
                <a:cs typeface="Calibri"/>
              </a:rPr>
              <a:t>S1,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˥</a:t>
            </a:r>
            <a:r>
              <a:rPr sz="2400" spc="-5" dirty="0">
                <a:latin typeface="Calibri"/>
                <a:cs typeface="Calibri"/>
              </a:rPr>
              <a:t>S2,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S1</a:t>
            </a:r>
            <a:r>
              <a:rPr sz="2400" b="1" spc="-5" dirty="0">
                <a:latin typeface="Calibri"/>
                <a:cs typeface="Calibri"/>
              </a:rPr>
              <a:t>˄</a:t>
            </a:r>
            <a:r>
              <a:rPr sz="2400" spc="-5" dirty="0">
                <a:latin typeface="Calibri"/>
                <a:cs typeface="Calibri"/>
              </a:rPr>
              <a:t>S2,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83629" y="3824096"/>
            <a:ext cx="1235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00"/>
              </a:spcBef>
              <a:buFont typeface="Tahoma"/>
              <a:buChar char="•"/>
              <a:tabLst>
                <a:tab pos="266700" algn="l"/>
              </a:tabLst>
            </a:pPr>
            <a:r>
              <a:rPr sz="2400" b="1" dirty="0">
                <a:latin typeface="Calibri"/>
                <a:cs typeface="Calibri"/>
              </a:rPr>
              <a:t>&lt;</a:t>
            </a:r>
            <a:r>
              <a:rPr sz="1950" b="1" baseline="14957" dirty="0">
                <a:latin typeface="Calibri"/>
                <a:cs typeface="Calibri"/>
              </a:rPr>
              <a:t>=</a:t>
            </a:r>
            <a:r>
              <a:rPr sz="2400" b="1" dirty="0">
                <a:latin typeface="Calibri"/>
                <a:cs typeface="Calibri"/>
              </a:rPr>
              <a:t>&gt;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dirty="0">
                <a:latin typeface="Wingdings"/>
                <a:cs typeface="Wingdings"/>
              </a:rPr>
              <a:t>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13728" y="1756565"/>
            <a:ext cx="4623435" cy="278638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79400" indent="-228600">
              <a:lnSpc>
                <a:spcPct val="100000"/>
              </a:lnSpc>
              <a:spcBef>
                <a:spcPts val="385"/>
              </a:spcBef>
              <a:buFont typeface="Tahoma"/>
              <a:buChar char="•"/>
              <a:tabLst>
                <a:tab pos="279400" algn="l"/>
              </a:tabLst>
            </a:pPr>
            <a:r>
              <a:rPr sz="2800" spc="-15" dirty="0">
                <a:latin typeface="Calibri"/>
                <a:cs typeface="Calibri"/>
              </a:rPr>
              <a:t>Order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Precedence</a:t>
            </a:r>
            <a:endParaRPr sz="2800">
              <a:latin typeface="Calibri"/>
              <a:cs typeface="Calibri"/>
            </a:endParaRPr>
          </a:p>
          <a:p>
            <a:pPr marL="736600" lvl="1" indent="-228600">
              <a:lnSpc>
                <a:spcPct val="100000"/>
              </a:lnSpc>
              <a:spcBef>
                <a:spcPts val="245"/>
              </a:spcBef>
              <a:buFont typeface="Tahoma"/>
              <a:buChar char="•"/>
              <a:tabLst>
                <a:tab pos="736600" algn="l"/>
              </a:tabLst>
            </a:pPr>
            <a:r>
              <a:rPr sz="2400" b="1" dirty="0">
                <a:latin typeface="Calibri"/>
                <a:cs typeface="Calibri"/>
              </a:rPr>
              <a:t>˥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Negation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(not)</a:t>
            </a:r>
            <a:endParaRPr sz="2400">
              <a:latin typeface="Calibri"/>
              <a:cs typeface="Calibri"/>
            </a:endParaRPr>
          </a:p>
          <a:p>
            <a:pPr marL="736600" lvl="1" indent="-228600">
              <a:lnSpc>
                <a:spcPct val="100000"/>
              </a:lnSpc>
              <a:spcBef>
                <a:spcPts val="219"/>
              </a:spcBef>
              <a:buFont typeface="Tahoma"/>
              <a:buChar char="•"/>
              <a:tabLst>
                <a:tab pos="736600" algn="l"/>
              </a:tabLst>
            </a:pPr>
            <a:r>
              <a:rPr sz="2400" b="1" dirty="0">
                <a:latin typeface="Calibri"/>
                <a:cs typeface="Calibri"/>
              </a:rPr>
              <a:t>˄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Conjunction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(and)</a:t>
            </a:r>
            <a:endParaRPr sz="2400">
              <a:latin typeface="Calibri"/>
              <a:cs typeface="Calibri"/>
            </a:endParaRPr>
          </a:p>
          <a:p>
            <a:pPr marL="736600" lvl="1" indent="-228600">
              <a:lnSpc>
                <a:spcPct val="100000"/>
              </a:lnSpc>
              <a:spcBef>
                <a:spcPts val="200"/>
              </a:spcBef>
              <a:buFont typeface="Tahoma"/>
              <a:buChar char="•"/>
              <a:tabLst>
                <a:tab pos="736600" algn="l"/>
              </a:tabLst>
            </a:pPr>
            <a:r>
              <a:rPr sz="2400" b="1" dirty="0">
                <a:latin typeface="Calibri"/>
                <a:cs typeface="Calibri"/>
              </a:rPr>
              <a:t>˅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Disjunction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(or)</a:t>
            </a:r>
            <a:endParaRPr sz="2400">
              <a:latin typeface="Calibri"/>
              <a:cs typeface="Calibri"/>
            </a:endParaRPr>
          </a:p>
          <a:p>
            <a:pPr marL="508000">
              <a:lnSpc>
                <a:spcPct val="100000"/>
              </a:lnSpc>
              <a:spcBef>
                <a:spcPts val="229"/>
              </a:spcBef>
              <a:tabLst>
                <a:tab pos="735965" algn="l"/>
              </a:tabLst>
            </a:pPr>
            <a:r>
              <a:rPr sz="2000" spc="-210" dirty="0">
                <a:latin typeface="Tahoma"/>
                <a:cs typeface="Tahoma"/>
              </a:rPr>
              <a:t>•	</a:t>
            </a:r>
            <a:r>
              <a:rPr sz="1950" b="1" spc="7" baseline="14957" dirty="0">
                <a:latin typeface="Calibri"/>
                <a:cs typeface="Calibri"/>
              </a:rPr>
              <a:t>=</a:t>
            </a:r>
            <a:r>
              <a:rPr sz="2400" b="1" spc="5" dirty="0">
                <a:latin typeface="Calibri"/>
                <a:cs typeface="Calibri"/>
              </a:rPr>
              <a:t>&gt;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Implication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(if…then…)</a:t>
            </a:r>
            <a:endParaRPr sz="2400">
              <a:latin typeface="Calibri"/>
              <a:cs typeface="Calibri"/>
            </a:endParaRPr>
          </a:p>
          <a:p>
            <a:pPr marL="1879600" marR="17780">
              <a:lnSpc>
                <a:spcPts val="2580"/>
              </a:lnSpc>
              <a:spcBef>
                <a:spcPts val="555"/>
              </a:spcBef>
            </a:pPr>
            <a:r>
              <a:rPr sz="2400" spc="-10" dirty="0">
                <a:latin typeface="Calibri"/>
                <a:cs typeface="Calibri"/>
              </a:rPr>
              <a:t>Logical Equivalence </a:t>
            </a:r>
            <a:r>
              <a:rPr sz="2400" spc="-5" dirty="0">
                <a:latin typeface="Calibri"/>
                <a:cs typeface="Calibri"/>
              </a:rPr>
              <a:t>(If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only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If)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251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Propositional</a:t>
            </a:r>
            <a:r>
              <a:rPr spc="-25" dirty="0"/>
              <a:t> </a:t>
            </a:r>
            <a:r>
              <a:rPr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565"/>
            <a:ext cx="4514215" cy="29876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Atomic </a:t>
            </a:r>
            <a:r>
              <a:rPr sz="2800" spc="-10" dirty="0">
                <a:latin typeface="Calibri"/>
                <a:cs typeface="Calibri"/>
              </a:rPr>
              <a:t>Sentences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Single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sentence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219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25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, </a:t>
            </a:r>
            <a:r>
              <a:rPr sz="2400" spc="-245" dirty="0">
                <a:latin typeface="Calibri"/>
                <a:cs typeface="Calibri"/>
              </a:rPr>
              <a:t>F</a:t>
            </a:r>
            <a:r>
              <a:rPr sz="2400" dirty="0">
                <a:latin typeface="Calibri"/>
                <a:cs typeface="Calibri"/>
              </a:rPr>
              <a:t>, </a:t>
            </a:r>
            <a:r>
              <a:rPr sz="2400" spc="-310" dirty="0">
                <a:latin typeface="Calibri"/>
                <a:cs typeface="Calibri"/>
              </a:rPr>
              <a:t>P</a:t>
            </a:r>
            <a:r>
              <a:rPr sz="2400" dirty="0">
                <a:latin typeface="Calibri"/>
                <a:cs typeface="Calibri"/>
              </a:rPr>
              <a:t>, </a:t>
            </a:r>
            <a:r>
              <a:rPr sz="2400" spc="120" dirty="0">
                <a:latin typeface="Calibri"/>
                <a:cs typeface="Calibri"/>
              </a:rPr>
              <a:t>Q</a:t>
            </a:r>
            <a:r>
              <a:rPr sz="2400" dirty="0">
                <a:latin typeface="Calibri"/>
                <a:cs typeface="Calibri"/>
              </a:rPr>
              <a:t>,…</a:t>
            </a:r>
            <a:endParaRPr sz="2400">
              <a:latin typeface="Calibri"/>
              <a:cs typeface="Calibri"/>
            </a:endParaRPr>
          </a:p>
          <a:p>
            <a:pPr marL="698500" marR="5080" algn="just">
              <a:lnSpc>
                <a:spcPct val="90000"/>
              </a:lnSpc>
              <a:spcBef>
                <a:spcPts val="140"/>
              </a:spcBef>
            </a:pPr>
            <a:r>
              <a:rPr sz="2400" spc="-5" dirty="0">
                <a:latin typeface="Calibri"/>
                <a:cs typeface="Calibri"/>
              </a:rPr>
              <a:t>where, </a:t>
            </a:r>
            <a:r>
              <a:rPr sz="2400" dirty="0">
                <a:latin typeface="Calibri"/>
                <a:cs typeface="Calibri"/>
              </a:rPr>
              <a:t>each </a:t>
            </a:r>
            <a:r>
              <a:rPr sz="2400" spc="-10" dirty="0">
                <a:latin typeface="Calibri"/>
                <a:cs typeface="Calibri"/>
              </a:rPr>
              <a:t>symbol stands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proposition that can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dirty="0">
                <a:latin typeface="Calibri"/>
                <a:cs typeface="Calibri"/>
              </a:rPr>
              <a:t>true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false.</a:t>
            </a:r>
            <a:endParaRPr sz="2400">
              <a:latin typeface="Calibri"/>
              <a:cs typeface="Calibri"/>
            </a:endParaRPr>
          </a:p>
          <a:p>
            <a:pPr marL="698500" marR="300355" lvl="1" indent="-699135" algn="r">
              <a:lnSpc>
                <a:spcPts val="2735"/>
              </a:lnSpc>
              <a:spcBef>
                <a:spcPts val="204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Example: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P=“Ram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likes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Rice”</a:t>
            </a:r>
            <a:endParaRPr sz="2400">
              <a:latin typeface="Calibri"/>
              <a:cs typeface="Calibri"/>
            </a:endParaRPr>
          </a:p>
          <a:p>
            <a:pPr marR="273050" algn="r">
              <a:lnSpc>
                <a:spcPts val="2735"/>
              </a:lnSpc>
            </a:pPr>
            <a:r>
              <a:rPr sz="2400" spc="-5" dirty="0">
                <a:latin typeface="Calibri"/>
                <a:cs typeface="Calibri"/>
              </a:rPr>
              <a:t>Q=“Sita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women”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1756565"/>
            <a:ext cx="4537710" cy="292544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Complex </a:t>
            </a:r>
            <a:r>
              <a:rPr sz="2800" spc="-10" dirty="0">
                <a:latin typeface="Calibri"/>
                <a:cs typeface="Calibri"/>
              </a:rPr>
              <a:t>Sentences</a:t>
            </a:r>
            <a:endParaRPr sz="2800">
              <a:latin typeface="Calibri"/>
              <a:cs typeface="Calibri"/>
            </a:endParaRPr>
          </a:p>
          <a:p>
            <a:pPr marL="698500" marR="133350" lvl="1" indent="-228600">
              <a:lnSpc>
                <a:spcPts val="2590"/>
              </a:lnSpc>
              <a:spcBef>
                <a:spcPts val="575"/>
              </a:spcBef>
              <a:buFont typeface="Tahoma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Sentences constructed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simple </a:t>
            </a:r>
            <a:r>
              <a:rPr sz="2400" spc="-10" dirty="0">
                <a:latin typeface="Calibri"/>
                <a:cs typeface="Calibri"/>
              </a:rPr>
              <a:t>sentences </a:t>
            </a:r>
            <a:r>
              <a:rPr sz="2400" spc="-5" dirty="0">
                <a:latin typeface="Calibri"/>
                <a:cs typeface="Calibri"/>
              </a:rPr>
              <a:t>using logical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connectives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ts val="2735"/>
              </a:lnSpc>
              <a:spcBef>
                <a:spcPts val="185"/>
              </a:spcBef>
              <a:buFont typeface="Tahoma"/>
              <a:buChar char="•"/>
              <a:tabLst>
                <a:tab pos="698500" algn="l"/>
              </a:tabLst>
            </a:pPr>
            <a:r>
              <a:rPr sz="2400" spc="5" dirty="0">
                <a:latin typeface="Calibri"/>
                <a:cs typeface="Calibri"/>
              </a:rPr>
              <a:t>Example:P=“It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hot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today”</a:t>
            </a:r>
            <a:endParaRPr sz="2400">
              <a:latin typeface="Calibri"/>
              <a:cs typeface="Calibri"/>
            </a:endParaRPr>
          </a:p>
          <a:p>
            <a:pPr marL="1841500">
              <a:lnSpc>
                <a:spcPts val="2590"/>
              </a:lnSpc>
            </a:pPr>
            <a:r>
              <a:rPr sz="2400" spc="-5" dirty="0">
                <a:latin typeface="Calibri"/>
                <a:cs typeface="Calibri"/>
              </a:rPr>
              <a:t>Q=“It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humid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today”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ts val="2590"/>
              </a:lnSpc>
            </a:pPr>
            <a:r>
              <a:rPr sz="2400" dirty="0">
                <a:latin typeface="Calibri"/>
                <a:cs typeface="Calibri"/>
              </a:rPr>
              <a:t>P^Q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ts val="2735"/>
              </a:lnSpc>
            </a:pPr>
            <a:r>
              <a:rPr sz="2400" spc="-5" dirty="0">
                <a:latin typeface="Calibri"/>
                <a:cs typeface="Calibri"/>
              </a:rPr>
              <a:t>“It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hot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humid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today”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251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Propositional</a:t>
            </a:r>
            <a:r>
              <a:rPr spc="-25" dirty="0"/>
              <a:t> </a:t>
            </a:r>
            <a:r>
              <a:rPr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565"/>
            <a:ext cx="4989195" cy="19380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Unsatisfiable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(Contradiction)</a:t>
            </a:r>
            <a:endParaRPr sz="2800">
              <a:latin typeface="Calibri"/>
              <a:cs typeface="Calibri"/>
            </a:endParaRPr>
          </a:p>
          <a:p>
            <a:pPr marL="698500" marR="180975" lvl="1" indent="-228600">
              <a:lnSpc>
                <a:spcPts val="2590"/>
              </a:lnSpc>
              <a:spcBef>
                <a:spcPts val="57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sentences</a:t>
            </a:r>
            <a:r>
              <a:rPr sz="2400" spc="-5" dirty="0">
                <a:latin typeface="Calibri"/>
                <a:cs typeface="Calibri"/>
              </a:rPr>
              <a:t> 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statements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always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false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180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Example: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“There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clear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sky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spc="-5" dirty="0">
                <a:latin typeface="Calibri"/>
                <a:cs typeface="Calibri"/>
              </a:rPr>
              <a:t>during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rainy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day”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1756565"/>
            <a:ext cx="4360545" cy="121539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Satisfiable</a:t>
            </a:r>
            <a:endParaRPr sz="280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75"/>
              </a:spcBef>
              <a:buFont typeface="Tahoma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least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sentence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base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true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opositional Logic - Tutorial And Example">
            <a:extLst>
              <a:ext uri="{FF2B5EF4-FFF2-40B4-BE49-F238E27FC236}">
                <a16:creationId xmlns:a16="http://schemas.microsoft.com/office/drawing/2014/main" id="{034AFA37-E77D-4F3C-96FC-45FBCC7D8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467" y="620889"/>
            <a:ext cx="8353778" cy="4730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5596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4277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Propositional</a:t>
            </a:r>
            <a:r>
              <a:rPr spc="10" dirty="0"/>
              <a:t> </a:t>
            </a:r>
            <a:r>
              <a:rPr dirty="0"/>
              <a:t>Logic:</a:t>
            </a:r>
            <a:r>
              <a:rPr spc="-5" dirty="0"/>
              <a:t> </a:t>
            </a:r>
            <a:r>
              <a:rPr spc="-10" dirty="0"/>
              <a:t>Equivalence</a:t>
            </a:r>
            <a:r>
              <a:rPr spc="-5" dirty="0"/>
              <a:t> </a:t>
            </a:r>
            <a:r>
              <a:rPr spc="-20" dirty="0"/>
              <a:t>Laws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706841"/>
            <a:ext cx="4963795" cy="3608704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75"/>
              </a:spcBef>
              <a:tabLst>
                <a:tab pos="565785" algn="l"/>
              </a:tabLst>
            </a:pPr>
            <a:r>
              <a:rPr sz="2800" spc="-10" dirty="0">
                <a:latin typeface="Calibri"/>
                <a:cs typeface="Calibri"/>
              </a:rPr>
              <a:t>1</a:t>
            </a:r>
            <a:r>
              <a:rPr sz="2800" spc="-5" dirty="0">
                <a:latin typeface="Calibri"/>
                <a:cs typeface="Calibri"/>
              </a:rPr>
              <a:t>.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P</a:t>
            </a:r>
            <a:r>
              <a:rPr sz="2800" spc="-210" dirty="0">
                <a:latin typeface="Calibri"/>
                <a:cs typeface="Calibri"/>
              </a:rPr>
              <a:t> </a:t>
            </a:r>
            <a:r>
              <a:rPr sz="2400" b="1" spc="-15" baseline="15625" dirty="0">
                <a:latin typeface="Calibri"/>
                <a:cs typeface="Calibri"/>
              </a:rPr>
              <a:t>=</a:t>
            </a:r>
            <a:r>
              <a:rPr sz="2800" b="1" spc="-10" dirty="0">
                <a:latin typeface="Calibri"/>
                <a:cs typeface="Calibri"/>
              </a:rPr>
              <a:t>&gt;</a:t>
            </a:r>
            <a:r>
              <a:rPr sz="2800" spc="-5" dirty="0">
                <a:latin typeface="Calibri"/>
                <a:cs typeface="Calibri"/>
              </a:rPr>
              <a:t>Q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Ξ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˥ </a:t>
            </a:r>
            <a:r>
              <a:rPr sz="2800" spc="-5" dirty="0">
                <a:latin typeface="Calibri"/>
                <a:cs typeface="Calibri"/>
              </a:rPr>
              <a:t>P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˅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Q</a:t>
            </a:r>
            <a:endParaRPr sz="28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675"/>
              </a:spcBef>
              <a:tabLst>
                <a:tab pos="565785" algn="l"/>
              </a:tabLst>
            </a:pPr>
            <a:r>
              <a:rPr sz="2800" spc="-10" dirty="0">
                <a:latin typeface="Calibri"/>
                <a:cs typeface="Calibri"/>
              </a:rPr>
              <a:t>2</a:t>
            </a:r>
            <a:r>
              <a:rPr sz="2800" spc="-5" dirty="0">
                <a:latin typeface="Calibri"/>
                <a:cs typeface="Calibri"/>
              </a:rPr>
              <a:t>.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P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&lt;</a:t>
            </a:r>
            <a:r>
              <a:rPr sz="1950" spc="15" baseline="14957" dirty="0">
                <a:latin typeface="Calibri"/>
                <a:cs typeface="Calibri"/>
              </a:rPr>
              <a:t>=</a:t>
            </a:r>
            <a:r>
              <a:rPr sz="2800" spc="-5" dirty="0">
                <a:latin typeface="Calibri"/>
                <a:cs typeface="Calibri"/>
              </a:rPr>
              <a:t>&gt;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Q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Ξ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(P</a:t>
            </a:r>
            <a:r>
              <a:rPr sz="2800" spc="-210" dirty="0">
                <a:latin typeface="Calibri"/>
                <a:cs typeface="Calibri"/>
              </a:rPr>
              <a:t> </a:t>
            </a:r>
            <a:r>
              <a:rPr sz="1950" spc="15" baseline="14957" dirty="0">
                <a:latin typeface="Calibri"/>
                <a:cs typeface="Calibri"/>
              </a:rPr>
              <a:t>=</a:t>
            </a:r>
            <a:r>
              <a:rPr sz="2800" spc="-5" dirty="0">
                <a:latin typeface="Calibri"/>
                <a:cs typeface="Calibri"/>
              </a:rPr>
              <a:t>&gt;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Q )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˄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spc="-5" dirty="0">
                <a:latin typeface="Calibri"/>
                <a:cs typeface="Calibri"/>
              </a:rPr>
              <a:t>Q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1950" spc="15" baseline="14957" dirty="0">
                <a:latin typeface="Calibri"/>
                <a:cs typeface="Calibri"/>
              </a:rPr>
              <a:t>=</a:t>
            </a:r>
            <a:r>
              <a:rPr sz="2800" spc="-5" dirty="0">
                <a:latin typeface="Calibri"/>
                <a:cs typeface="Calibri"/>
              </a:rPr>
              <a:t>&gt;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P)</a:t>
            </a:r>
            <a:endParaRPr sz="2800">
              <a:latin typeface="Calibri"/>
              <a:cs typeface="Calibri"/>
            </a:endParaRPr>
          </a:p>
          <a:p>
            <a:pPr marL="565785" indent="-515620">
              <a:lnSpc>
                <a:spcPts val="3190"/>
              </a:lnSpc>
              <a:spcBef>
                <a:spcPts val="660"/>
              </a:spcBef>
              <a:buAutoNum type="arabicPeriod" startAt="3"/>
              <a:tabLst>
                <a:tab pos="565785" algn="l"/>
                <a:tab pos="566420" algn="l"/>
              </a:tabLst>
            </a:pPr>
            <a:r>
              <a:rPr sz="2800" spc="-15" dirty="0">
                <a:latin typeface="Calibri"/>
                <a:cs typeface="Calibri"/>
              </a:rPr>
              <a:t>Distributive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Laws</a:t>
            </a:r>
            <a:endParaRPr sz="2800">
              <a:latin typeface="Calibri"/>
              <a:cs typeface="Calibri"/>
            </a:endParaRPr>
          </a:p>
          <a:p>
            <a:pPr marL="565785">
              <a:lnSpc>
                <a:spcPts val="3025"/>
              </a:lnSpc>
            </a:pP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˄ (B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˅ C)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Ξ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(A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˄ B)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˅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˄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C)</a:t>
            </a:r>
            <a:endParaRPr sz="2800">
              <a:latin typeface="Calibri"/>
              <a:cs typeface="Calibri"/>
            </a:endParaRPr>
          </a:p>
          <a:p>
            <a:pPr marL="565785">
              <a:lnSpc>
                <a:spcPts val="3195"/>
              </a:lnSpc>
            </a:pP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˅ (B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˄ C)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Ξ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˅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B)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˄ (A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˅ C)</a:t>
            </a:r>
            <a:endParaRPr sz="2800">
              <a:latin typeface="Calibri"/>
              <a:cs typeface="Calibri"/>
            </a:endParaRPr>
          </a:p>
          <a:p>
            <a:pPr marL="565785" indent="-515620">
              <a:lnSpc>
                <a:spcPts val="3195"/>
              </a:lnSpc>
              <a:spcBef>
                <a:spcPts val="660"/>
              </a:spcBef>
              <a:buAutoNum type="arabicPeriod" startAt="4"/>
              <a:tabLst>
                <a:tab pos="565785" algn="l"/>
                <a:tab pos="566420" algn="l"/>
              </a:tabLst>
            </a:pPr>
            <a:r>
              <a:rPr sz="2800" spc="-30" dirty="0">
                <a:latin typeface="Calibri"/>
                <a:cs typeface="Calibri"/>
              </a:rPr>
              <a:t>De-Morgan’s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Law</a:t>
            </a:r>
            <a:endParaRPr sz="2800">
              <a:latin typeface="Calibri"/>
              <a:cs typeface="Calibri"/>
            </a:endParaRPr>
          </a:p>
          <a:p>
            <a:pPr marL="565785">
              <a:lnSpc>
                <a:spcPts val="3025"/>
              </a:lnSpc>
            </a:pPr>
            <a:r>
              <a:rPr sz="2800" b="1" spc="-5" dirty="0">
                <a:latin typeface="Calibri"/>
                <a:cs typeface="Calibri"/>
              </a:rPr>
              <a:t>˥</a:t>
            </a:r>
            <a:r>
              <a:rPr sz="2800" spc="-5" dirty="0">
                <a:latin typeface="Calibri"/>
                <a:cs typeface="Calibri"/>
              </a:rPr>
              <a:t>(A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˄ B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˄ C)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Ξ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</a:t>
            </a:r>
            <a:r>
              <a:rPr sz="2800" b="1" spc="-5" dirty="0">
                <a:latin typeface="Calibri"/>
                <a:cs typeface="Calibri"/>
              </a:rPr>
              <a:t>˥</a:t>
            </a:r>
            <a:r>
              <a:rPr sz="2800" spc="-5" dirty="0">
                <a:latin typeface="Calibri"/>
                <a:cs typeface="Calibri"/>
              </a:rPr>
              <a:t>A)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˅ (</a:t>
            </a:r>
            <a:r>
              <a:rPr sz="2800" b="1" spc="-5" dirty="0">
                <a:latin typeface="Calibri"/>
                <a:cs typeface="Calibri"/>
              </a:rPr>
              <a:t>˥</a:t>
            </a:r>
            <a:r>
              <a:rPr sz="2800" spc="-5" dirty="0">
                <a:latin typeface="Calibri"/>
                <a:cs typeface="Calibri"/>
              </a:rPr>
              <a:t>B)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˅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b="1" spc="-10" dirty="0">
                <a:latin typeface="Calibri"/>
                <a:cs typeface="Calibri"/>
              </a:rPr>
              <a:t>˥</a:t>
            </a:r>
            <a:r>
              <a:rPr sz="2800" spc="-10" dirty="0">
                <a:latin typeface="Calibri"/>
                <a:cs typeface="Calibri"/>
              </a:rPr>
              <a:t>C)</a:t>
            </a:r>
            <a:endParaRPr sz="2800">
              <a:latin typeface="Calibri"/>
              <a:cs typeface="Calibri"/>
            </a:endParaRPr>
          </a:p>
          <a:p>
            <a:pPr marL="565785">
              <a:lnSpc>
                <a:spcPts val="3190"/>
              </a:lnSpc>
            </a:pPr>
            <a:r>
              <a:rPr sz="2800" b="1" spc="-5" dirty="0">
                <a:latin typeface="Calibri"/>
                <a:cs typeface="Calibri"/>
              </a:rPr>
              <a:t>˥</a:t>
            </a:r>
            <a:r>
              <a:rPr sz="2800" spc="-5" dirty="0">
                <a:latin typeface="Calibri"/>
                <a:cs typeface="Calibri"/>
              </a:rPr>
              <a:t>(A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˅ B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˅ C)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Ξ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</a:t>
            </a:r>
            <a:r>
              <a:rPr sz="2800" b="1" spc="-5" dirty="0">
                <a:latin typeface="Calibri"/>
                <a:cs typeface="Calibri"/>
              </a:rPr>
              <a:t>˥</a:t>
            </a:r>
            <a:r>
              <a:rPr sz="2800" spc="-5" dirty="0">
                <a:latin typeface="Calibri"/>
                <a:cs typeface="Calibri"/>
              </a:rPr>
              <a:t>A)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˄ (</a:t>
            </a:r>
            <a:r>
              <a:rPr sz="2800" b="1" spc="-5" dirty="0">
                <a:latin typeface="Calibri"/>
                <a:cs typeface="Calibri"/>
              </a:rPr>
              <a:t>˥</a:t>
            </a:r>
            <a:r>
              <a:rPr sz="2800" spc="-5" dirty="0">
                <a:latin typeface="Calibri"/>
                <a:cs typeface="Calibri"/>
              </a:rPr>
              <a:t>B)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˄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b="1" spc="-10" dirty="0">
                <a:latin typeface="Calibri"/>
                <a:cs typeface="Calibri"/>
              </a:rPr>
              <a:t>˥</a:t>
            </a:r>
            <a:r>
              <a:rPr sz="2800" spc="-10" dirty="0">
                <a:latin typeface="Calibri"/>
                <a:cs typeface="Calibri"/>
              </a:rPr>
              <a:t>C)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16939" y="4011764"/>
            <a:ext cx="4299585" cy="1056058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014094">
              <a:lnSpc>
                <a:spcPct val="100000"/>
              </a:lnSpc>
              <a:spcBef>
                <a:spcPts val="775"/>
              </a:spcBef>
            </a:pPr>
            <a:r>
              <a:rPr sz="2800" spc="-5" dirty="0">
                <a:latin typeface="Calibri"/>
                <a:cs typeface="Calibri"/>
              </a:rPr>
              <a:t>Q</a:t>
            </a:r>
            <a:endParaRPr sz="2800" dirty="0">
              <a:latin typeface="Calibri"/>
              <a:cs typeface="Calibri"/>
            </a:endParaRPr>
          </a:p>
          <a:p>
            <a:pPr marL="527685" marR="1474470" indent="-515620">
              <a:lnSpc>
                <a:spcPts val="3020"/>
              </a:lnSpc>
              <a:spcBef>
                <a:spcPts val="1060"/>
              </a:spcBef>
              <a:tabLst>
                <a:tab pos="527685" algn="l"/>
              </a:tabLst>
            </a:pPr>
            <a:endParaRPr sz="2800" dirty="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9743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Propositional</a:t>
            </a:r>
            <a:r>
              <a:rPr spc="10" dirty="0"/>
              <a:t> </a:t>
            </a:r>
            <a:r>
              <a:rPr dirty="0"/>
              <a:t>Logic:</a:t>
            </a:r>
            <a:r>
              <a:rPr spc="-5" dirty="0"/>
              <a:t> </a:t>
            </a:r>
            <a:r>
              <a:rPr spc="-25" dirty="0"/>
              <a:t>Inference</a:t>
            </a:r>
            <a:r>
              <a:rPr spc="-5" dirty="0"/>
              <a:t> Rules</a:t>
            </a:r>
          </a:p>
        </p:txBody>
      </p:sp>
      <p:sp>
        <p:nvSpPr>
          <p:cNvPr id="3" name="object 3"/>
          <p:cNvSpPr/>
          <p:nvPr/>
        </p:nvSpPr>
        <p:spPr>
          <a:xfrm>
            <a:off x="1444752" y="4120769"/>
            <a:ext cx="1127760" cy="22860"/>
          </a:xfrm>
          <a:custGeom>
            <a:avLst/>
            <a:gdLst/>
            <a:ahLst/>
            <a:cxnLst/>
            <a:rect l="l" t="t" r="r" b="b"/>
            <a:pathLst>
              <a:path w="1127760" h="22860">
                <a:moveTo>
                  <a:pt x="1127760" y="0"/>
                </a:moveTo>
                <a:lnTo>
                  <a:pt x="0" y="0"/>
                </a:lnTo>
                <a:lnTo>
                  <a:pt x="0" y="22859"/>
                </a:lnTo>
                <a:lnTo>
                  <a:pt x="1127760" y="22859"/>
                </a:lnTo>
                <a:lnTo>
                  <a:pt x="11277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91539" y="1793189"/>
            <a:ext cx="5019675" cy="315355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3195"/>
              </a:lnSpc>
              <a:spcBef>
                <a:spcPts val="95"/>
              </a:spcBef>
              <a:tabLst>
                <a:tab pos="553085" algn="l"/>
              </a:tabLst>
            </a:pPr>
            <a:r>
              <a:rPr sz="2800" spc="-5" dirty="0">
                <a:latin typeface="Calibri"/>
                <a:cs typeface="Calibri"/>
              </a:rPr>
              <a:t>1.	Modus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Ponen</a:t>
            </a:r>
            <a:r>
              <a:rPr sz="2800" spc="-5" dirty="0">
                <a:latin typeface="Calibri"/>
                <a:cs typeface="Calibri"/>
              </a:rPr>
              <a:t> Rule</a:t>
            </a:r>
            <a:endParaRPr sz="2800" dirty="0">
              <a:latin typeface="Calibri"/>
              <a:cs typeface="Calibri"/>
            </a:endParaRPr>
          </a:p>
          <a:p>
            <a:pPr marL="553085" marR="43180">
              <a:lnSpc>
                <a:spcPct val="90000"/>
              </a:lnSpc>
              <a:spcBef>
                <a:spcPts val="170"/>
              </a:spcBef>
              <a:tabLst>
                <a:tab pos="2249170" algn="l"/>
              </a:tabLst>
            </a:pPr>
            <a:r>
              <a:rPr sz="2800" spc="-15" dirty="0">
                <a:latin typeface="Calibri"/>
                <a:cs typeface="Calibri"/>
              </a:rPr>
              <a:t>Whenever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any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sentence</a:t>
            </a:r>
            <a:r>
              <a:rPr sz="2800" spc="-5" dirty="0">
                <a:latin typeface="Calibri"/>
                <a:cs typeface="Calibri"/>
              </a:rPr>
              <a:t> 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form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</a:t>
            </a:r>
            <a:r>
              <a:rPr sz="2800" spc="-200" dirty="0">
                <a:latin typeface="Calibri"/>
                <a:cs typeface="Calibri"/>
              </a:rPr>
              <a:t> </a:t>
            </a:r>
            <a:r>
              <a:rPr sz="2400" b="1" spc="-15" baseline="15625" dirty="0">
                <a:latin typeface="Calibri"/>
                <a:cs typeface="Calibri"/>
              </a:rPr>
              <a:t>=</a:t>
            </a:r>
            <a:r>
              <a:rPr sz="2800" b="1" spc="-10" dirty="0">
                <a:latin typeface="Calibri"/>
                <a:cs typeface="Calibri"/>
              </a:rPr>
              <a:t>&gt;</a:t>
            </a:r>
            <a:r>
              <a:rPr sz="2800" spc="-10" dirty="0">
                <a:latin typeface="Calibri"/>
                <a:cs typeface="Calibri"/>
              </a:rPr>
              <a:t>Q	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given, </a:t>
            </a:r>
            <a:r>
              <a:rPr sz="2800" spc="-5" dirty="0">
                <a:latin typeface="Calibri"/>
                <a:cs typeface="Calibri"/>
              </a:rPr>
              <a:t> then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sentence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Q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 be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inferred</a:t>
            </a:r>
            <a:endParaRPr sz="2800" dirty="0">
              <a:latin typeface="Calibri"/>
              <a:cs typeface="Calibri"/>
            </a:endParaRPr>
          </a:p>
          <a:p>
            <a:pPr marL="553085">
              <a:lnSpc>
                <a:spcPts val="3025"/>
              </a:lnSpc>
            </a:pPr>
            <a:r>
              <a:rPr sz="2800" spc="-5" dirty="0">
                <a:latin typeface="Calibri"/>
                <a:cs typeface="Calibri"/>
              </a:rPr>
              <a:t>P</a:t>
            </a:r>
            <a:r>
              <a:rPr sz="2800" spc="-210" dirty="0">
                <a:latin typeface="Calibri"/>
                <a:cs typeface="Calibri"/>
              </a:rPr>
              <a:t> </a:t>
            </a:r>
            <a:r>
              <a:rPr sz="2400" b="1" spc="-15" baseline="15625" dirty="0">
                <a:latin typeface="Calibri"/>
                <a:cs typeface="Calibri"/>
              </a:rPr>
              <a:t>=</a:t>
            </a:r>
            <a:r>
              <a:rPr sz="2800" b="1" spc="-10" dirty="0">
                <a:latin typeface="Calibri"/>
                <a:cs typeface="Calibri"/>
              </a:rPr>
              <a:t>&gt;</a:t>
            </a:r>
            <a:r>
              <a:rPr sz="2800" spc="135" dirty="0">
                <a:latin typeface="Calibri"/>
                <a:cs typeface="Calibri"/>
              </a:rPr>
              <a:t>Q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</a:t>
            </a:r>
            <a:endParaRPr lang="en-US" sz="2800" spc="-5" dirty="0">
              <a:latin typeface="Calibri"/>
              <a:cs typeface="Calibri"/>
            </a:endParaRPr>
          </a:p>
          <a:p>
            <a:pPr marL="553085">
              <a:lnSpc>
                <a:spcPts val="3025"/>
              </a:lnSpc>
            </a:pPr>
            <a:endParaRPr lang="en-US" sz="2800" spc="-5" dirty="0">
              <a:latin typeface="Calibri"/>
              <a:cs typeface="Calibri"/>
            </a:endParaRPr>
          </a:p>
          <a:p>
            <a:pPr marL="553085">
              <a:lnSpc>
                <a:spcPts val="3025"/>
              </a:lnSpc>
            </a:pPr>
            <a:endParaRPr lang="en-US" sz="2800" dirty="0">
              <a:latin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8835A-AFB4-4488-BAD5-699D54DC3587}"/>
              </a:ext>
            </a:extLst>
          </p:cNvPr>
          <p:cNvSpPr txBox="1"/>
          <p:nvPr/>
        </p:nvSpPr>
        <p:spPr>
          <a:xfrm>
            <a:off x="6096000" y="1956348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Example: </a:t>
            </a:r>
            <a:endParaRPr lang="en-US" sz="2000" dirty="0"/>
          </a:p>
          <a:p>
            <a:r>
              <a:rPr lang="en-US" sz="2000" dirty="0"/>
              <a:t>Statement-1: "If I am sleepy then I go to bed" ==&gt; P→ Q</a:t>
            </a:r>
            <a:br>
              <a:rPr lang="en-US" sz="2000" dirty="0"/>
            </a:br>
            <a:r>
              <a:rPr lang="en-US" sz="2000" dirty="0"/>
              <a:t>Statement-2: "I am sleepy" ==&gt; P</a:t>
            </a:r>
            <a:br>
              <a:rPr lang="en-US" sz="2000" dirty="0"/>
            </a:br>
            <a:r>
              <a:rPr lang="en-US" sz="2000" dirty="0"/>
              <a:t>Conclusion: "I go to bed." ==&gt; Q. </a:t>
            </a:r>
            <a:br>
              <a:rPr lang="en-US" sz="2000" dirty="0"/>
            </a:br>
            <a:r>
              <a:rPr lang="en-US" sz="2000" dirty="0"/>
              <a:t>Hence, we can say that, if P→ Q is true and P is true then Q will be true.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4CE8D7-BEEC-454C-A827-7CD63D7C8B03}"/>
              </a:ext>
            </a:extLst>
          </p:cNvPr>
          <p:cNvSpPr txBox="1"/>
          <p:nvPr/>
        </p:nvSpPr>
        <p:spPr>
          <a:xfrm>
            <a:off x="856331" y="4935049"/>
            <a:ext cx="612986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265" marR="859155">
              <a:lnSpc>
                <a:spcPts val="3030"/>
              </a:lnSpc>
              <a:spcBef>
                <a:spcPts val="1045"/>
              </a:spcBef>
              <a:tabLst>
                <a:tab pos="603885" algn="l"/>
                <a:tab pos="604520" algn="l"/>
              </a:tabLst>
            </a:pPr>
            <a:r>
              <a:rPr lang="en-US" sz="2400" spc="-5" dirty="0">
                <a:latin typeface="Calibri"/>
                <a:cs typeface="Calibri"/>
              </a:rPr>
              <a:t>2. </a:t>
            </a:r>
            <a:r>
              <a:rPr lang="en-US" sz="2800" spc="-5" dirty="0">
                <a:latin typeface="Calibri"/>
                <a:cs typeface="Calibri"/>
              </a:rPr>
              <a:t>Modus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spc="-40" dirty="0">
                <a:latin typeface="Calibri"/>
                <a:cs typeface="Calibri"/>
              </a:rPr>
              <a:t>Tollens</a:t>
            </a:r>
            <a:endParaRPr lang="en-US" sz="2800" dirty="0">
              <a:latin typeface="Calibri"/>
              <a:cs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41145A-FE18-4CDA-B987-84A6EF1CA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80" y="5550839"/>
            <a:ext cx="4243810" cy="4763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52136AD-348A-47E1-B3F0-C529605C4B12}"/>
              </a:ext>
            </a:extLst>
          </p:cNvPr>
          <p:cNvSpPr txBox="1"/>
          <p:nvPr/>
        </p:nvSpPr>
        <p:spPr>
          <a:xfrm>
            <a:off x="5417854" y="5134522"/>
            <a:ext cx="612986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Example:</a:t>
            </a:r>
          </a:p>
          <a:p>
            <a:r>
              <a:rPr lang="en-US" sz="2000" dirty="0"/>
              <a:t>Statement-1</a:t>
            </a:r>
            <a:r>
              <a:rPr lang="en-US" sz="2000" b="1" dirty="0"/>
              <a:t>:</a:t>
            </a:r>
            <a:r>
              <a:rPr lang="en-US" sz="2000" dirty="0"/>
              <a:t> "If I am sleepy then I go to bed" ==&gt; P→ Q </a:t>
            </a:r>
            <a:br>
              <a:rPr lang="en-US" sz="2000" dirty="0"/>
            </a:br>
            <a:r>
              <a:rPr lang="en-US" sz="2000" dirty="0"/>
              <a:t>Statement-2: "I do not go to the bed."==&gt; ~Q</a:t>
            </a:r>
            <a:br>
              <a:rPr lang="en-US" sz="2000" dirty="0"/>
            </a:br>
            <a:r>
              <a:rPr lang="en-US" sz="2000" dirty="0"/>
              <a:t>Statement-3: Which infers that "</a:t>
            </a:r>
            <a:r>
              <a:rPr lang="en-US" sz="2000" b="1" dirty="0"/>
              <a:t>I am not sleepy</a:t>
            </a:r>
            <a:r>
              <a:rPr lang="en-US" sz="2000" dirty="0"/>
              <a:t>" =&gt; ~P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240FA3-6A81-4447-9E32-938892B9DD73}"/>
              </a:ext>
            </a:extLst>
          </p:cNvPr>
          <p:cNvSpPr txBox="1"/>
          <p:nvPr/>
        </p:nvSpPr>
        <p:spPr>
          <a:xfrm>
            <a:off x="474133" y="289679"/>
            <a:ext cx="104309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3. Hypothetical Syllogism: </a:t>
            </a:r>
          </a:p>
          <a:p>
            <a:r>
              <a:rPr lang="en-US" sz="2400" dirty="0"/>
              <a:t>The Hypothetical Syllogism rule state that if P→R is true whenever P→Q is true, and Q→R is true. It can be represented as the following notation:</a:t>
            </a:r>
          </a:p>
          <a:p>
            <a:r>
              <a:rPr lang="en-US" sz="2400" b="1" dirty="0"/>
              <a:t>Example:</a:t>
            </a:r>
            <a:endParaRPr lang="en-US" sz="2400" dirty="0"/>
          </a:p>
          <a:p>
            <a:r>
              <a:rPr lang="en-US" sz="2400" b="1" dirty="0"/>
              <a:t>Statement-1:</a:t>
            </a:r>
            <a:r>
              <a:rPr lang="en-US" sz="2400" dirty="0"/>
              <a:t> If you have my home key then you can unlock my home. </a:t>
            </a:r>
            <a:r>
              <a:rPr lang="en-US" sz="2400" b="1" dirty="0"/>
              <a:t>P→Q</a:t>
            </a:r>
            <a:br>
              <a:rPr lang="en-US" sz="2400" dirty="0"/>
            </a:br>
            <a:r>
              <a:rPr lang="en-US" sz="2400" b="1" dirty="0"/>
              <a:t>Statement-2:</a:t>
            </a:r>
            <a:r>
              <a:rPr lang="en-US" sz="2400" dirty="0"/>
              <a:t> If you can unlock my home then you can take my money. </a:t>
            </a:r>
            <a:r>
              <a:rPr lang="en-US" sz="2400" b="1" dirty="0"/>
              <a:t>Q→R</a:t>
            </a:r>
            <a:br>
              <a:rPr lang="en-US" sz="2400" dirty="0"/>
            </a:br>
            <a:r>
              <a:rPr lang="en-US" sz="2400" b="1" dirty="0"/>
              <a:t>Conclusion:</a:t>
            </a:r>
            <a:r>
              <a:rPr lang="en-US" sz="2400" dirty="0"/>
              <a:t> If you have my home key then you can take my money. </a:t>
            </a:r>
            <a:r>
              <a:rPr lang="en-US" sz="2400" b="1" dirty="0"/>
              <a:t>P→R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102FE8-FBF9-4D84-8E2B-271B0C13911A}"/>
              </a:ext>
            </a:extLst>
          </p:cNvPr>
          <p:cNvSpPr txBox="1"/>
          <p:nvPr/>
        </p:nvSpPr>
        <p:spPr>
          <a:xfrm>
            <a:off x="474132" y="3681357"/>
            <a:ext cx="99680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4. Disjunctive Syllogism: </a:t>
            </a:r>
          </a:p>
          <a:p>
            <a:r>
              <a:rPr lang="en-US" sz="2400" dirty="0"/>
              <a:t>The Disjunctive syllogism rule state that if P∨Q is true, and ¬P is true, then Q will be true. It can be represented as: </a:t>
            </a:r>
          </a:p>
          <a:p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F0D8B3-2C9A-4FF4-82E1-5BA130C49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262" y="4767639"/>
            <a:ext cx="4603628" cy="5144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245D76-B302-4528-B0DA-D740B22FC33D}"/>
              </a:ext>
            </a:extLst>
          </p:cNvPr>
          <p:cNvSpPr txBox="1"/>
          <p:nvPr/>
        </p:nvSpPr>
        <p:spPr>
          <a:xfrm>
            <a:off x="620889" y="5367992"/>
            <a:ext cx="85908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Example:</a:t>
            </a:r>
            <a:endParaRPr lang="en-US" sz="2000" dirty="0"/>
          </a:p>
          <a:p>
            <a:r>
              <a:rPr lang="en-US" sz="2000" b="1" dirty="0"/>
              <a:t>Statement-1:</a:t>
            </a:r>
            <a:r>
              <a:rPr lang="en-US" sz="2000" dirty="0"/>
              <a:t> Today is Sunday or Monday. ==&gt;P∨Q</a:t>
            </a:r>
            <a:br>
              <a:rPr lang="en-US" sz="2000" dirty="0"/>
            </a:br>
            <a:r>
              <a:rPr lang="en-US" sz="2000" b="1" dirty="0"/>
              <a:t>Statement-2:</a:t>
            </a:r>
            <a:r>
              <a:rPr lang="en-US" sz="2000" dirty="0"/>
              <a:t> Today is not Sunday. ==&gt; ¬P</a:t>
            </a:r>
            <a:br>
              <a:rPr lang="en-US" sz="2000" dirty="0"/>
            </a:br>
            <a:r>
              <a:rPr lang="en-US" sz="2000" b="1" dirty="0"/>
              <a:t>Conclusion:</a:t>
            </a:r>
            <a:r>
              <a:rPr lang="en-US" sz="2000" dirty="0"/>
              <a:t> Today is Monday. ==&gt; Q</a:t>
            </a:r>
          </a:p>
        </p:txBody>
      </p:sp>
    </p:spTree>
    <p:extLst>
      <p:ext uri="{BB962C8B-B14F-4D97-AF65-F5344CB8AC3E}">
        <p14:creationId xmlns:p14="http://schemas.microsoft.com/office/powerpoint/2010/main" val="39768809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8EFBE6-E5C8-4984-A673-8B4E2A57FC53}"/>
              </a:ext>
            </a:extLst>
          </p:cNvPr>
          <p:cNvSpPr txBox="1"/>
          <p:nvPr/>
        </p:nvSpPr>
        <p:spPr>
          <a:xfrm>
            <a:off x="428978" y="249535"/>
            <a:ext cx="103406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5. Addition:</a:t>
            </a:r>
          </a:p>
          <a:p>
            <a:r>
              <a:rPr lang="en-US" sz="2400" dirty="0"/>
              <a:t>The Addition rule is one the common inference rule, and it states that If P is true, then P∨Q will be true.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A2D633-1D03-4588-A72D-EAA563B4E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1" y="1449864"/>
            <a:ext cx="4673600" cy="5525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2F48F2-93B4-4350-BE0B-D6976D188E74}"/>
              </a:ext>
            </a:extLst>
          </p:cNvPr>
          <p:cNvSpPr txBox="1"/>
          <p:nvPr/>
        </p:nvSpPr>
        <p:spPr>
          <a:xfrm>
            <a:off x="428978" y="1917258"/>
            <a:ext cx="9956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Example:</a:t>
            </a:r>
            <a:r>
              <a:rPr lang="en-US" sz="2000" dirty="0"/>
              <a:t> </a:t>
            </a:r>
          </a:p>
          <a:p>
            <a:r>
              <a:rPr lang="en-US" sz="2000" b="1" dirty="0"/>
              <a:t>Statement:</a:t>
            </a:r>
            <a:r>
              <a:rPr lang="en-US" sz="2000" dirty="0"/>
              <a:t> I have a vanilla ice-cream. ==&gt; P</a:t>
            </a:r>
            <a:br>
              <a:rPr lang="en-US" sz="2000" dirty="0"/>
            </a:br>
            <a:r>
              <a:rPr lang="en-US" sz="2000" b="1" dirty="0"/>
              <a:t>Statement-2:</a:t>
            </a:r>
            <a:r>
              <a:rPr lang="en-US" sz="2000" dirty="0"/>
              <a:t> I have Chocolate ice-cream. </a:t>
            </a:r>
            <a:br>
              <a:rPr lang="en-US" sz="2000" dirty="0"/>
            </a:br>
            <a:r>
              <a:rPr lang="en-US" sz="2000" b="1" dirty="0"/>
              <a:t>Conclusion:</a:t>
            </a:r>
            <a:r>
              <a:rPr lang="en-US" sz="2000" dirty="0"/>
              <a:t> I have vanilla or chocolate ice-cream. ==&gt; (P∨Q)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562A16-65D1-4E57-9D41-8A16DD91DA53}"/>
              </a:ext>
            </a:extLst>
          </p:cNvPr>
          <p:cNvSpPr txBox="1"/>
          <p:nvPr/>
        </p:nvSpPr>
        <p:spPr>
          <a:xfrm>
            <a:off x="428977" y="3429000"/>
            <a:ext cx="102503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6. Simplification:</a:t>
            </a:r>
          </a:p>
          <a:p>
            <a:r>
              <a:rPr lang="en-US" sz="2400" dirty="0"/>
              <a:t>The simplification rule state that if </a:t>
            </a:r>
            <a:r>
              <a:rPr lang="en-US" sz="2400" b="1" dirty="0"/>
              <a:t>P∧ Q</a:t>
            </a:r>
            <a:r>
              <a:rPr lang="en-US" sz="2400" dirty="0"/>
              <a:t> is true, then </a:t>
            </a:r>
            <a:r>
              <a:rPr lang="en-US" sz="2400" b="1" dirty="0"/>
              <a:t>Q or P</a:t>
            </a:r>
            <a:r>
              <a:rPr lang="en-US" sz="2400" dirty="0"/>
              <a:t> will also be true. It can be represented as:</a:t>
            </a:r>
          </a:p>
          <a:p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11E1A1-DA56-42C7-9A60-1C59D0CEB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1" y="4634436"/>
            <a:ext cx="4944532" cy="5525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F56C63A-3B5E-4485-BC34-8B646E2239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77" y="5408136"/>
            <a:ext cx="6468378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5506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FDDC22-3B48-4AF2-ACEF-78FC758BBE36}"/>
              </a:ext>
            </a:extLst>
          </p:cNvPr>
          <p:cNvSpPr txBox="1"/>
          <p:nvPr/>
        </p:nvSpPr>
        <p:spPr>
          <a:xfrm>
            <a:off x="338665" y="305980"/>
            <a:ext cx="111082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7. Resolution: </a:t>
            </a:r>
          </a:p>
          <a:p>
            <a:r>
              <a:rPr lang="en-US" sz="2400" dirty="0"/>
              <a:t>The Resolution rule state that if P∨Q and ¬ P∧R is true, then Q∨R will also be true. It can be represented as 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35545-D99B-44DE-B25D-4DC10C0A3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24" y="1623192"/>
            <a:ext cx="5346932" cy="504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F6C32A-C17C-4781-92E4-DA18955AE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17" y="2502192"/>
            <a:ext cx="7059010" cy="315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0597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251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Propositional</a:t>
            </a:r>
            <a:r>
              <a:rPr spc="-25" dirty="0"/>
              <a:t> </a:t>
            </a:r>
            <a:r>
              <a:rPr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9770110" cy="16046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4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semantics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defines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rules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determining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truth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respect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particular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model,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i.e.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semantic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must 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specify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how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compute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truth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any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given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model.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7031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Propositional</a:t>
            </a:r>
            <a:r>
              <a:rPr spc="10" dirty="0"/>
              <a:t> </a:t>
            </a:r>
            <a:r>
              <a:rPr dirty="0"/>
              <a:t>Logic:</a:t>
            </a:r>
            <a:r>
              <a:rPr spc="-5" dirty="0"/>
              <a:t> </a:t>
            </a:r>
            <a:r>
              <a:rPr dirty="0"/>
              <a:t>BNF</a:t>
            </a:r>
            <a:r>
              <a:rPr spc="-10" dirty="0"/>
              <a:t> </a:t>
            </a:r>
            <a:r>
              <a:rPr spc="-15" dirty="0"/>
              <a:t>Grammar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4721860" cy="25012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Backus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Normal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Form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10" dirty="0">
                <a:latin typeface="Calibri"/>
                <a:cs typeface="Calibri"/>
              </a:rPr>
              <a:t>Backus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Naur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Form</a:t>
            </a:r>
            <a:endParaRPr sz="2800">
              <a:latin typeface="Calibri"/>
              <a:cs typeface="Calibri"/>
            </a:endParaRPr>
          </a:p>
          <a:p>
            <a:pPr marL="241300" marR="156210" indent="-228600">
              <a:lnSpc>
                <a:spcPct val="90000"/>
              </a:lnSpc>
              <a:spcBef>
                <a:spcPts val="95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It’s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notation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technique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20" dirty="0">
                <a:latin typeface="Calibri"/>
                <a:cs typeface="Calibri"/>
              </a:rPr>
              <a:t> context</a:t>
            </a:r>
            <a:r>
              <a:rPr sz="2800" spc="-15" dirty="0">
                <a:latin typeface="Calibri"/>
                <a:cs typeface="Calibri"/>
              </a:rPr>
              <a:t> free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grammars</a:t>
            </a:r>
            <a:r>
              <a:rPr sz="2800" spc="-10" dirty="0">
                <a:latin typeface="Calibri"/>
                <a:cs typeface="Calibri"/>
              </a:rPr>
              <a:t> often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describe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syntax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languages</a:t>
            </a:r>
            <a:r>
              <a:rPr sz="2800" spc="-10" dirty="0">
                <a:latin typeface="Calibri"/>
                <a:cs typeface="Calibri"/>
              </a:rPr>
              <a:t> used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1756565"/>
            <a:ext cx="4740275" cy="19380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BNF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spc="-10" dirty="0">
                <a:latin typeface="Calibri"/>
                <a:cs typeface="Calibri"/>
              </a:rPr>
              <a:t>two </a:t>
            </a:r>
            <a:r>
              <a:rPr sz="2800" spc="-25" dirty="0">
                <a:latin typeface="Calibri"/>
                <a:cs typeface="Calibri"/>
              </a:rPr>
              <a:t>ways:</a:t>
            </a:r>
            <a:endParaRPr sz="2800">
              <a:latin typeface="Calibri"/>
              <a:cs typeface="Calibri"/>
            </a:endParaRPr>
          </a:p>
          <a:p>
            <a:pPr marL="698500" marR="86995" lvl="1" indent="-228600">
              <a:lnSpc>
                <a:spcPts val="2590"/>
              </a:lnSpc>
              <a:spcBef>
                <a:spcPts val="575"/>
              </a:spcBef>
              <a:buFont typeface="Tahoma"/>
              <a:buChar char="•"/>
              <a:tabLst>
                <a:tab pos="698500" algn="l"/>
              </a:tabLst>
            </a:pPr>
            <a:r>
              <a:rPr sz="2400" spc="-22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g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spc="-45" dirty="0">
                <a:latin typeface="Calibri"/>
                <a:cs typeface="Calibri"/>
              </a:rPr>
              <a:t>r</a:t>
            </a:r>
            <a:r>
              <a:rPr sz="2400" spc="-25" dirty="0">
                <a:latin typeface="Calibri"/>
                <a:cs typeface="Calibri"/>
              </a:rPr>
              <a:t>at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trings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belongin</a:t>
            </a:r>
            <a:r>
              <a:rPr sz="2400" dirty="0">
                <a:latin typeface="Calibri"/>
                <a:cs typeface="Calibri"/>
              </a:rPr>
              <a:t>g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  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grammar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ts val="2735"/>
              </a:lnSpc>
              <a:spcBef>
                <a:spcPts val="180"/>
              </a:spcBef>
              <a:buFont typeface="Tahoma"/>
              <a:buChar char="•"/>
              <a:tabLst>
                <a:tab pos="698500" algn="l"/>
              </a:tabLst>
            </a:pPr>
            <a:r>
              <a:rPr sz="2400" spc="-114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recognize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strings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belonging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grammar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pc="-5" dirty="0"/>
              <a:t>Normal</a:t>
            </a:r>
            <a:r>
              <a:rPr spc="-10" dirty="0"/>
              <a:t> </a:t>
            </a:r>
            <a:r>
              <a:rPr spc="-15" dirty="0"/>
              <a:t>Forms</a:t>
            </a:r>
            <a:r>
              <a:rPr spc="-2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5" dirty="0"/>
              <a:t>Propositional</a:t>
            </a:r>
            <a:r>
              <a:rPr spc="15" dirty="0"/>
              <a:t> </a:t>
            </a:r>
            <a:r>
              <a:rPr dirty="0"/>
              <a:t>Logic </a:t>
            </a:r>
            <a:r>
              <a:rPr spc="-980" dirty="0"/>
              <a:t> </a:t>
            </a:r>
            <a:r>
              <a:rPr spc="-15" dirty="0"/>
              <a:t>Sentences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539" y="1793189"/>
            <a:ext cx="4994910" cy="32639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53085" marR="43180" indent="-515620">
              <a:lnSpc>
                <a:spcPct val="90000"/>
              </a:lnSpc>
              <a:spcBef>
                <a:spcPts val="434"/>
              </a:spcBef>
              <a:buAutoNum type="arabicPeriod"/>
              <a:tabLst>
                <a:tab pos="553085" algn="l"/>
                <a:tab pos="553720" algn="l"/>
              </a:tabLst>
            </a:pPr>
            <a:r>
              <a:rPr sz="2800" spc="-10" dirty="0">
                <a:latin typeface="Calibri"/>
                <a:cs typeface="Calibri"/>
              </a:rPr>
              <a:t>Conjunctive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(disjunction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conjunction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literals) </a:t>
            </a:r>
            <a:r>
              <a:rPr sz="2800" spc="-5" dirty="0">
                <a:latin typeface="Calibri"/>
                <a:cs typeface="Calibri"/>
              </a:rPr>
              <a:t>Normal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Form</a:t>
            </a:r>
            <a:endParaRPr sz="2800" dirty="0">
              <a:latin typeface="Calibri"/>
              <a:cs typeface="Calibri"/>
            </a:endParaRPr>
          </a:p>
          <a:p>
            <a:pPr marL="723900" lvl="1" indent="-229235">
              <a:lnSpc>
                <a:spcPts val="2735"/>
              </a:lnSpc>
              <a:spcBef>
                <a:spcPts val="240"/>
              </a:spcBef>
              <a:buFont typeface="Tahoma"/>
              <a:buChar char="•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sentence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written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</a:p>
          <a:p>
            <a:pPr marL="952500" marR="1102360" indent="-228600">
              <a:lnSpc>
                <a:spcPts val="2590"/>
              </a:lnSpc>
              <a:spcBef>
                <a:spcPts val="185"/>
              </a:spcBef>
            </a:pP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conjunction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literals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˅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B)</a:t>
            </a:r>
            <a:r>
              <a:rPr sz="2400" spc="-195" dirty="0">
                <a:latin typeface="Calibri"/>
                <a:cs typeface="Calibri"/>
              </a:rPr>
              <a:t> </a:t>
            </a:r>
            <a:r>
              <a:rPr sz="2400" spc="-15" baseline="15625" dirty="0">
                <a:latin typeface="Calibri"/>
                <a:cs typeface="Calibri"/>
              </a:rPr>
              <a:t>=</a:t>
            </a:r>
            <a:r>
              <a:rPr sz="2400" dirty="0">
                <a:latin typeface="Calibri"/>
                <a:cs typeface="Calibri"/>
              </a:rPr>
              <a:t>&gt;Q</a:t>
            </a:r>
          </a:p>
          <a:p>
            <a:pPr marL="723900">
              <a:lnSpc>
                <a:spcPts val="2410"/>
              </a:lnSpc>
              <a:tabLst>
                <a:tab pos="1021080" algn="l"/>
              </a:tabLst>
            </a:pPr>
            <a:r>
              <a:rPr sz="2400" dirty="0">
                <a:latin typeface="Calibri"/>
                <a:cs typeface="Calibri"/>
              </a:rPr>
              <a:t>Ξ	˥ (A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˅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B)</a:t>
            </a:r>
            <a:r>
              <a:rPr sz="2400" spc="-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˅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</a:t>
            </a:r>
          </a:p>
          <a:p>
            <a:pPr marL="723900">
              <a:lnSpc>
                <a:spcPts val="2595"/>
              </a:lnSpc>
              <a:tabLst>
                <a:tab pos="1021080" algn="l"/>
              </a:tabLst>
            </a:pPr>
            <a:r>
              <a:rPr sz="2400" dirty="0">
                <a:latin typeface="Calibri"/>
                <a:cs typeface="Calibri"/>
              </a:rPr>
              <a:t>Ξ	(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˥ 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^ ˥ B)</a:t>
            </a:r>
            <a:r>
              <a:rPr sz="2400" spc="-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˅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</a:t>
            </a:r>
          </a:p>
          <a:p>
            <a:pPr marL="723900">
              <a:lnSpc>
                <a:spcPts val="2740"/>
              </a:lnSpc>
              <a:tabLst>
                <a:tab pos="1021080" algn="l"/>
              </a:tabLst>
            </a:pPr>
            <a:r>
              <a:rPr sz="2400" dirty="0">
                <a:latin typeface="Calibri"/>
                <a:cs typeface="Calibri"/>
              </a:rPr>
              <a:t>Ξ	(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˥ 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˅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 </a:t>
            </a:r>
            <a:r>
              <a:rPr sz="2400" spc="-5" dirty="0">
                <a:latin typeface="Calibri"/>
                <a:cs typeface="Calibri"/>
              </a:rPr>
              <a:t>)</a:t>
            </a:r>
            <a:r>
              <a:rPr sz="2400" dirty="0">
                <a:latin typeface="Calibri"/>
                <a:cs typeface="Calibri"/>
              </a:rPr>
              <a:t>^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(</a:t>
            </a:r>
            <a:r>
              <a:rPr sz="2400" dirty="0">
                <a:latin typeface="Calibri"/>
                <a:cs typeface="Calibri"/>
              </a:rPr>
              <a:t>˥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</a:t>
            </a:r>
            <a:r>
              <a:rPr sz="2400" spc="-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˅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51828" y="1793189"/>
            <a:ext cx="4818380" cy="22758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27685" marR="5080" indent="-515620">
              <a:lnSpc>
                <a:spcPct val="90000"/>
              </a:lnSpc>
              <a:spcBef>
                <a:spcPts val="434"/>
              </a:spcBef>
              <a:buAutoNum type="arabicPeriod" startAt="2"/>
              <a:tabLst>
                <a:tab pos="527685" algn="l"/>
                <a:tab pos="528320" algn="l"/>
              </a:tabLst>
            </a:pPr>
            <a:r>
              <a:rPr sz="2800" spc="-10" dirty="0">
                <a:latin typeface="Calibri"/>
                <a:cs typeface="Calibri"/>
              </a:rPr>
              <a:t>Disjunctive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(conjunction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disjunction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literals) </a:t>
            </a:r>
            <a:r>
              <a:rPr sz="2800" spc="-5" dirty="0">
                <a:latin typeface="Calibri"/>
                <a:cs typeface="Calibri"/>
              </a:rPr>
              <a:t>Normal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Form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ts val="2735"/>
              </a:lnSpc>
              <a:spcBef>
                <a:spcPts val="240"/>
              </a:spcBef>
              <a:buFont typeface="Tahoma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sentence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written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endParaRPr sz="2400">
              <a:latin typeface="Calibri"/>
              <a:cs typeface="Calibri"/>
            </a:endParaRPr>
          </a:p>
          <a:p>
            <a:pPr marL="698500" marR="1049655">
              <a:lnSpc>
                <a:spcPts val="2590"/>
              </a:lnSpc>
              <a:spcBef>
                <a:spcPts val="185"/>
              </a:spcBef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disjunction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literals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^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 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˅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</a:t>
            </a:r>
            <a:r>
              <a:rPr sz="2400" spc="-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^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 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A6E054-7838-47A1-929F-62A21F83D0FA}"/>
              </a:ext>
            </a:extLst>
          </p:cNvPr>
          <p:cNvSpPr txBox="1"/>
          <p:nvPr/>
        </p:nvSpPr>
        <p:spPr>
          <a:xfrm>
            <a:off x="155828" y="528437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Conjunctive normal form (CNF) is </a:t>
            </a:r>
            <a:r>
              <a:rPr lang="en-US" b="1" dirty="0"/>
              <a:t>an approach to Boolean logic that expresses formulas as conjunctions of clauses with an AND or </a:t>
            </a:r>
            <a:r>
              <a:rPr lang="en-US" b="1" dirty="0" err="1"/>
              <a:t>OR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B0C00D-D985-489D-BC49-89BA9F0039F3}"/>
              </a:ext>
            </a:extLst>
          </p:cNvPr>
          <p:cNvSpPr txBox="1"/>
          <p:nvPr/>
        </p:nvSpPr>
        <p:spPr>
          <a:xfrm>
            <a:off x="155828" y="63353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CNF is useful for automated theorem proving.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5203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First</a:t>
            </a:r>
            <a:r>
              <a:rPr spc="-35" dirty="0"/>
              <a:t> </a:t>
            </a:r>
            <a:r>
              <a:rPr spc="-10" dirty="0"/>
              <a:t>Order</a:t>
            </a:r>
            <a:r>
              <a:rPr spc="-25" dirty="0"/>
              <a:t> </a:t>
            </a:r>
            <a:r>
              <a:rPr spc="-30" dirty="0"/>
              <a:t>Predicate</a:t>
            </a:r>
            <a:r>
              <a:rPr spc="-15" dirty="0"/>
              <a:t> </a:t>
            </a:r>
            <a:r>
              <a:rPr dirty="0"/>
              <a:t>Logic</a:t>
            </a:r>
            <a:r>
              <a:rPr spc="5" dirty="0"/>
              <a:t> </a:t>
            </a:r>
            <a:r>
              <a:rPr spc="-10" dirty="0"/>
              <a:t>(FOPL)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4909820" cy="36537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4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Propositional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logic assumes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world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being </a:t>
            </a:r>
            <a:r>
              <a:rPr sz="2800" spc="-5" dirty="0">
                <a:latin typeface="Calibri"/>
                <a:cs typeface="Calibri"/>
              </a:rPr>
              <a:t> modelled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described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terms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fixed,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known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propositions</a:t>
            </a:r>
            <a:endParaRPr sz="2800">
              <a:latin typeface="Calibri"/>
              <a:cs typeface="Calibri"/>
            </a:endParaRPr>
          </a:p>
          <a:p>
            <a:pPr marL="241300" marR="163830" indent="-228600">
              <a:lnSpc>
                <a:spcPct val="90000"/>
              </a:lnSpc>
              <a:spcBef>
                <a:spcPts val="100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This assumption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make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awkward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even </a:t>
            </a:r>
            <a:r>
              <a:rPr sz="2800" spc="-5" dirty="0">
                <a:latin typeface="Calibri"/>
                <a:cs typeface="Calibri"/>
              </a:rPr>
              <a:t>impossible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specify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many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pieces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knowledge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1756565"/>
            <a:ext cx="5464175" cy="432308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698500" marR="401320" lvl="1" indent="-228600">
              <a:lnSpc>
                <a:spcPts val="2590"/>
              </a:lnSpc>
              <a:spcBef>
                <a:spcPts val="575"/>
              </a:spcBef>
              <a:buFont typeface="Tahoma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Consider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general sentence </a:t>
            </a:r>
            <a:r>
              <a:rPr sz="2400" spc="-5" dirty="0">
                <a:latin typeface="Calibri"/>
                <a:cs typeface="Calibri"/>
              </a:rPr>
              <a:t>“if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person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rich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nice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20" dirty="0">
                <a:latin typeface="Calibri"/>
                <a:cs typeface="Calibri"/>
              </a:rPr>
              <a:t>car”</a:t>
            </a:r>
            <a:endParaRPr sz="2400">
              <a:latin typeface="Calibri"/>
              <a:cs typeface="Calibri"/>
            </a:endParaRPr>
          </a:p>
          <a:p>
            <a:pPr marL="698500" marR="767080" lvl="1" indent="-228600">
              <a:lnSpc>
                <a:spcPts val="2590"/>
              </a:lnSpc>
              <a:spcBef>
                <a:spcPts val="509"/>
              </a:spcBef>
              <a:buFont typeface="Tahoma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In </a:t>
            </a:r>
            <a:r>
              <a:rPr sz="2400" spc="-10" dirty="0">
                <a:latin typeface="Calibri"/>
                <a:cs typeface="Calibri"/>
              </a:rPr>
              <a:t>propositional </a:t>
            </a:r>
            <a:r>
              <a:rPr sz="2400" dirty="0">
                <a:latin typeface="Calibri"/>
                <a:cs typeface="Calibri"/>
              </a:rPr>
              <a:t>logic, </a:t>
            </a:r>
            <a:r>
              <a:rPr sz="2400" spc="-15" dirty="0">
                <a:latin typeface="Calibri"/>
                <a:cs typeface="Calibri"/>
              </a:rPr>
              <a:t>we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generate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rule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person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endParaRPr sz="240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259"/>
              </a:spcBef>
              <a:buFont typeface="Tahoma"/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Calibri"/>
                <a:cs typeface="Calibri"/>
              </a:rPr>
              <a:t>Bob_is_rich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Bob_has_a_nice_car</a:t>
            </a:r>
            <a:endParaRPr sz="200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260"/>
              </a:spcBef>
              <a:buFont typeface="Tahoma"/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Calibri"/>
                <a:cs typeface="Calibri"/>
              </a:rPr>
              <a:t>John_is_rich</a:t>
            </a:r>
            <a:r>
              <a:rPr sz="2000" spc="-5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Calibri"/>
                <a:cs typeface="Calibri"/>
              </a:rPr>
              <a:t>John_has_a_nice_car</a:t>
            </a:r>
            <a:endParaRPr sz="200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09"/>
              </a:spcBef>
              <a:buFont typeface="Tahoma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This seems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0" dirty="0">
                <a:latin typeface="Calibri"/>
                <a:cs typeface="Calibri"/>
              </a:rPr>
              <a:t>impractical </a:t>
            </a:r>
            <a:r>
              <a:rPr sz="2400" spc="-25" dirty="0">
                <a:latin typeface="Calibri"/>
                <a:cs typeface="Calibri"/>
              </a:rPr>
              <a:t>way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</a:t>
            </a:r>
            <a:r>
              <a:rPr sz="2400" spc="-5" dirty="0">
                <a:latin typeface="Calibri"/>
                <a:cs typeface="Calibri"/>
              </a:rPr>
              <a:t> knowledge, hence,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generalization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</a:t>
            </a:r>
            <a:r>
              <a:rPr sz="2400" dirty="0">
                <a:latin typeface="Calibri"/>
                <a:cs typeface="Calibri"/>
              </a:rPr>
              <a:t> 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must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5203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First</a:t>
            </a:r>
            <a:r>
              <a:rPr spc="-35" dirty="0"/>
              <a:t> </a:t>
            </a:r>
            <a:r>
              <a:rPr spc="-10" dirty="0"/>
              <a:t>Order</a:t>
            </a:r>
            <a:r>
              <a:rPr spc="-25" dirty="0"/>
              <a:t> </a:t>
            </a:r>
            <a:r>
              <a:rPr spc="-30" dirty="0"/>
              <a:t>Predicate</a:t>
            </a:r>
            <a:r>
              <a:rPr spc="-15" dirty="0"/>
              <a:t> </a:t>
            </a:r>
            <a:r>
              <a:rPr dirty="0"/>
              <a:t>Logic</a:t>
            </a:r>
            <a:r>
              <a:rPr spc="5" dirty="0"/>
              <a:t> </a:t>
            </a:r>
            <a:r>
              <a:rPr spc="-10" dirty="0"/>
              <a:t>(FOPL)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4992370" cy="365379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257810" indent="-228600">
              <a:lnSpc>
                <a:spcPts val="3030"/>
              </a:lnSpc>
              <a:spcBef>
                <a:spcPts val="47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FOPL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logic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gives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ability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quantify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over</a:t>
            </a:r>
            <a:r>
              <a:rPr sz="2800" spc="-5" dirty="0">
                <a:latin typeface="Calibri"/>
                <a:cs typeface="Calibri"/>
              </a:rPr>
              <a:t> objects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5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FOPL,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statements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natural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language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like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English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translated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symbolic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structure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composed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predicates,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functions,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variables,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constants,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quantifiers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logical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connectives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1793189"/>
            <a:ext cx="4661535" cy="23729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4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First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Order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Predicate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Logic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facts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separating 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classes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individuals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consider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world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consists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different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objects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relations </a:t>
            </a:r>
            <a:r>
              <a:rPr sz="2800" spc="-10" dirty="0">
                <a:latin typeface="Calibri"/>
                <a:cs typeface="Calibri"/>
              </a:rPr>
              <a:t> between</a:t>
            </a:r>
            <a:r>
              <a:rPr sz="2800" spc="-5" dirty="0">
                <a:latin typeface="Calibri"/>
                <a:cs typeface="Calibri"/>
              </a:rPr>
              <a:t> those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objects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8803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FOPL:</a:t>
            </a:r>
            <a:r>
              <a:rPr spc="-110" dirty="0"/>
              <a:t> </a:t>
            </a:r>
            <a:r>
              <a:rPr spc="-30" dirty="0"/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661"/>
            <a:ext cx="2369820" cy="1731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41500" algn="l"/>
              </a:tabLst>
            </a:pPr>
            <a:r>
              <a:rPr sz="2800" spc="-15" dirty="0">
                <a:latin typeface="Calibri"/>
                <a:cs typeface="Calibri"/>
              </a:rPr>
              <a:t>Sentence	</a:t>
            </a:r>
            <a:r>
              <a:rPr sz="2800" spc="-5" dirty="0">
                <a:latin typeface="Wingdings"/>
                <a:cs typeface="Wingdings"/>
              </a:rPr>
              <a:t></a:t>
            </a:r>
            <a:endParaRPr sz="2800">
              <a:latin typeface="Wingdings"/>
              <a:cs typeface="Wingdings"/>
            </a:endParaRPr>
          </a:p>
          <a:p>
            <a:pPr marL="12700" marR="5080">
              <a:lnSpc>
                <a:spcPct val="110000"/>
              </a:lnSpc>
              <a:spcBef>
                <a:spcPts val="2680"/>
              </a:spcBef>
              <a:tabLst>
                <a:tab pos="1841500" algn="l"/>
              </a:tabLst>
            </a:pPr>
            <a:r>
              <a:rPr sz="2800" spc="-20" dirty="0">
                <a:latin typeface="Calibri"/>
                <a:cs typeface="Calibri"/>
              </a:rPr>
              <a:t>AtomicSentence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65" dirty="0">
                <a:latin typeface="Calibri"/>
                <a:cs typeface="Calibri"/>
              </a:rPr>
              <a:t>Term	</a:t>
            </a:r>
            <a:r>
              <a:rPr sz="2800" spc="-5" dirty="0">
                <a:latin typeface="Wingdings"/>
                <a:cs typeface="Wingdings"/>
              </a:rPr>
              <a:t></a:t>
            </a:r>
            <a:endParaRPr sz="28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60394" y="1759661"/>
            <a:ext cx="7346950" cy="21990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>
              <a:lnSpc>
                <a:spcPts val="2690"/>
              </a:lnSpc>
              <a:spcBef>
                <a:spcPts val="745"/>
              </a:spcBef>
            </a:pPr>
            <a:r>
              <a:rPr sz="2800" spc="-15" dirty="0">
                <a:latin typeface="Calibri"/>
                <a:cs typeface="Calibri"/>
              </a:rPr>
              <a:t>AtomicSentence|(Sentence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Connective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Sentence)|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Quantifier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Variable,…Sentence|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˥Sentence</a:t>
            </a:r>
            <a:endParaRPr sz="2800">
              <a:latin typeface="Calibri"/>
              <a:cs typeface="Calibri"/>
            </a:endParaRPr>
          </a:p>
          <a:p>
            <a:pPr marL="12700" marR="1587500">
              <a:lnSpc>
                <a:spcPct val="110000"/>
              </a:lnSpc>
              <a:spcBef>
                <a:spcPts val="10"/>
              </a:spcBef>
              <a:tabLst>
                <a:tab pos="927100" algn="l"/>
              </a:tabLst>
            </a:pPr>
            <a:r>
              <a:rPr sz="2800" spc="-5" dirty="0">
                <a:latin typeface="Wingdings"/>
                <a:cs typeface="Wingdings"/>
              </a:rPr>
              <a:t></a:t>
            </a:r>
            <a:r>
              <a:rPr sz="2800" spc="-5" dirty="0">
                <a:latin typeface="Times New Roman"/>
                <a:cs typeface="Times New Roman"/>
              </a:rPr>
              <a:t>	</a:t>
            </a:r>
            <a:r>
              <a:rPr sz="2800" spc="-30" dirty="0">
                <a:latin typeface="Calibri"/>
                <a:cs typeface="Calibri"/>
              </a:rPr>
              <a:t>Predicate(Term,….)|Term</a:t>
            </a:r>
            <a:r>
              <a:rPr sz="2800" spc="-5" dirty="0">
                <a:latin typeface="Calibri"/>
                <a:cs typeface="Calibri"/>
              </a:rPr>
              <a:t> =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65" dirty="0">
                <a:latin typeface="Calibri"/>
                <a:cs typeface="Calibri"/>
              </a:rPr>
              <a:t>Term 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Function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(Term,…)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|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Constant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| </a:t>
            </a:r>
            <a:r>
              <a:rPr sz="2800" spc="-20" dirty="0">
                <a:latin typeface="Calibri"/>
                <a:cs typeface="Calibri"/>
              </a:rPr>
              <a:t>Variable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800" spc="-5" dirty="0">
                <a:latin typeface="Calibri"/>
                <a:cs typeface="Calibri"/>
              </a:rPr>
              <a:t>˥|˅|˄|</a:t>
            </a:r>
            <a:r>
              <a:rPr sz="2400" spc="-5" dirty="0">
                <a:latin typeface="Calibri"/>
                <a:cs typeface="Calibri"/>
              </a:rPr>
              <a:t>=</a:t>
            </a:r>
            <a:r>
              <a:rPr sz="2800" spc="-5" dirty="0">
                <a:latin typeface="Calibri"/>
                <a:cs typeface="Calibri"/>
              </a:rPr>
              <a:t>&gt;|&lt;</a:t>
            </a:r>
            <a:r>
              <a:rPr sz="2400" spc="-5" dirty="0">
                <a:latin typeface="Calibri"/>
                <a:cs typeface="Calibri"/>
              </a:rPr>
              <a:t>=</a:t>
            </a:r>
            <a:r>
              <a:rPr sz="2800" spc="-5" dirty="0">
                <a:latin typeface="Calibri"/>
                <a:cs typeface="Calibri"/>
              </a:rPr>
              <a:t>&gt;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3507104"/>
            <a:ext cx="22028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41500" algn="l"/>
              </a:tabLst>
            </a:pPr>
            <a:r>
              <a:rPr sz="2800" spc="-10" dirty="0">
                <a:latin typeface="Calibri"/>
                <a:cs typeface="Calibri"/>
              </a:rPr>
              <a:t>Connect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Wingdings"/>
                <a:cs typeface="Wingdings"/>
              </a:rPr>
              <a:t></a:t>
            </a:r>
            <a:endParaRPr sz="28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3932032"/>
            <a:ext cx="2202815" cy="23698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  <a:tabLst>
                <a:tab pos="1841500" algn="l"/>
              </a:tabLst>
            </a:pPr>
            <a:r>
              <a:rPr sz="2800" spc="-5" dirty="0">
                <a:latin typeface="Calibri"/>
                <a:cs typeface="Calibri"/>
              </a:rPr>
              <a:t>Qua</a:t>
            </a:r>
            <a:r>
              <a:rPr sz="2800" spc="-30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ti</a:t>
            </a:r>
            <a:r>
              <a:rPr sz="2800" spc="-15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ier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Wingdings"/>
                <a:cs typeface="Wingdings"/>
              </a:rPr>
              <a:t></a:t>
            </a:r>
            <a:endParaRPr sz="28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  <a:tabLst>
                <a:tab pos="1841500" algn="l"/>
              </a:tabLst>
            </a:pPr>
            <a:r>
              <a:rPr sz="2800" spc="-10" dirty="0">
                <a:latin typeface="Calibri"/>
                <a:cs typeface="Calibri"/>
              </a:rPr>
              <a:t>Con</a:t>
            </a:r>
            <a:r>
              <a:rPr sz="2800" spc="-55" dirty="0">
                <a:latin typeface="Calibri"/>
                <a:cs typeface="Calibri"/>
              </a:rPr>
              <a:t>s</a:t>
            </a:r>
            <a:r>
              <a:rPr sz="2800" spc="-4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Wingdings"/>
                <a:cs typeface="Wingdings"/>
              </a:rPr>
              <a:t></a:t>
            </a:r>
            <a:endParaRPr sz="28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  <a:tabLst>
                <a:tab pos="1841500" algn="l"/>
              </a:tabLst>
            </a:pPr>
            <a:r>
              <a:rPr sz="2800" spc="-16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ariab</a:t>
            </a:r>
            <a:r>
              <a:rPr sz="2800" spc="-20" dirty="0">
                <a:latin typeface="Calibri"/>
                <a:cs typeface="Calibri"/>
              </a:rPr>
              <a:t>l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Wingdings"/>
                <a:cs typeface="Wingdings"/>
              </a:rPr>
              <a:t></a:t>
            </a:r>
            <a:endParaRPr sz="28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  <a:tabLst>
                <a:tab pos="1841500" algn="l"/>
              </a:tabLst>
            </a:pPr>
            <a:r>
              <a:rPr sz="2800" spc="-5" dirty="0">
                <a:latin typeface="Calibri"/>
                <a:cs typeface="Calibri"/>
              </a:rPr>
              <a:t>P</a:t>
            </a:r>
            <a:r>
              <a:rPr sz="2800" spc="-5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25" dirty="0">
                <a:latin typeface="Calibri"/>
                <a:cs typeface="Calibri"/>
              </a:rPr>
              <a:t>ca</a:t>
            </a:r>
            <a:r>
              <a:rPr sz="2800" spc="-3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Wingdings"/>
                <a:cs typeface="Wingdings"/>
              </a:rPr>
              <a:t></a:t>
            </a:r>
            <a:endParaRPr sz="28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1841500" algn="l"/>
              </a:tabLst>
            </a:pPr>
            <a:r>
              <a:rPr sz="2800" spc="-10" dirty="0">
                <a:latin typeface="Calibri"/>
                <a:cs typeface="Calibri"/>
              </a:rPr>
              <a:t>Funct</a:t>
            </a:r>
            <a:r>
              <a:rPr sz="2800" spc="-15" dirty="0">
                <a:latin typeface="Calibri"/>
                <a:cs typeface="Calibri"/>
              </a:rPr>
              <a:t>i</a:t>
            </a:r>
            <a:r>
              <a:rPr sz="2800" spc="-10" dirty="0">
                <a:latin typeface="Calibri"/>
                <a:cs typeface="Calibri"/>
              </a:rPr>
              <a:t>o</a:t>
            </a:r>
            <a:r>
              <a:rPr sz="2800" spc="-5" dirty="0">
                <a:latin typeface="Calibri"/>
                <a:cs typeface="Calibri"/>
              </a:rPr>
              <a:t>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Wingdings"/>
                <a:cs typeface="Wingdings"/>
              </a:rPr>
              <a:t></a:t>
            </a:r>
            <a:endParaRPr sz="28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0394" y="4401946"/>
            <a:ext cx="4563110" cy="18999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495550">
              <a:lnSpc>
                <a:spcPct val="109700"/>
              </a:lnSpc>
              <a:spcBef>
                <a:spcPts val="105"/>
              </a:spcBef>
            </a:pPr>
            <a:r>
              <a:rPr sz="2800" spc="-5" dirty="0">
                <a:latin typeface="Calibri"/>
                <a:cs typeface="Calibri"/>
              </a:rPr>
              <a:t>A| X| John| … </a:t>
            </a:r>
            <a:r>
              <a:rPr sz="2800" spc="-6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|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x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|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s|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…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700"/>
              </a:lnSpc>
              <a:spcBef>
                <a:spcPts val="80"/>
              </a:spcBef>
            </a:pPr>
            <a:r>
              <a:rPr sz="2800" spc="-25" dirty="0">
                <a:latin typeface="Calibri"/>
                <a:cs typeface="Calibri"/>
              </a:rPr>
              <a:t>Before</a:t>
            </a:r>
            <a:r>
              <a:rPr sz="2800" spc="-5" dirty="0">
                <a:latin typeface="Calibri"/>
                <a:cs typeface="Calibri"/>
              </a:rPr>
              <a:t> |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HasColor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|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Raining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|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…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Mother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|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Leftleg</a:t>
            </a:r>
            <a:r>
              <a:rPr sz="2800" spc="-5" dirty="0">
                <a:latin typeface="Calibri"/>
                <a:cs typeface="Calibri"/>
              </a:rPr>
              <a:t> |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…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 rot="10860000">
            <a:off x="3639856" y="4029252"/>
            <a:ext cx="722807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|A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8803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FOPL:</a:t>
            </a:r>
            <a:r>
              <a:rPr spc="-110" dirty="0"/>
              <a:t> </a:t>
            </a:r>
            <a:r>
              <a:rPr spc="-30" dirty="0"/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4992370" cy="378015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27305" indent="-228600">
              <a:lnSpc>
                <a:spcPct val="90000"/>
              </a:lnSpc>
              <a:spcBef>
                <a:spcPts val="434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Constant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Symbols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-5" dirty="0">
                <a:latin typeface="Calibri"/>
                <a:cs typeface="Calibri"/>
              </a:rPr>
              <a:t> 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strings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will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interpreted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objects</a:t>
            </a:r>
            <a:endParaRPr sz="2800">
              <a:latin typeface="Calibri"/>
              <a:cs typeface="Calibri"/>
            </a:endParaRPr>
          </a:p>
          <a:p>
            <a:pPr marL="241300" marR="578485" indent="-228600" algn="just">
              <a:lnSpc>
                <a:spcPct val="90000"/>
              </a:lnSpc>
              <a:spcBef>
                <a:spcPts val="100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Variable </a:t>
            </a:r>
            <a:r>
              <a:rPr sz="2800" spc="-10" dirty="0">
                <a:latin typeface="Calibri"/>
                <a:cs typeface="Calibri"/>
              </a:rPr>
              <a:t>Symbols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5" dirty="0">
                <a:latin typeface="Calibri"/>
                <a:cs typeface="Calibri"/>
              </a:rPr>
              <a:t>used as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place </a:t>
            </a:r>
            <a:r>
              <a:rPr sz="2800" spc="-15" dirty="0">
                <a:latin typeface="Calibri"/>
                <a:cs typeface="Calibri"/>
              </a:rPr>
              <a:t>holders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0" dirty="0">
                <a:latin typeface="Calibri"/>
                <a:cs typeface="Calibri"/>
              </a:rPr>
              <a:t>quantifying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over</a:t>
            </a:r>
            <a:r>
              <a:rPr sz="2800" spc="-5" dirty="0">
                <a:latin typeface="Calibri"/>
                <a:cs typeface="Calibri"/>
              </a:rPr>
              <a:t> objects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94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Predicate</a:t>
            </a:r>
            <a:r>
              <a:rPr sz="2800" spc="-10" dirty="0">
                <a:latin typeface="Calibri"/>
                <a:cs typeface="Calibri"/>
              </a:rPr>
              <a:t> symbols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-5" dirty="0">
                <a:latin typeface="Calibri"/>
                <a:cs typeface="Calibri"/>
              </a:rPr>
              <a:t> used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 denote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properties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objects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relationship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among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1793189"/>
            <a:ext cx="5000625" cy="356425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922655" indent="-228600" algn="just">
              <a:lnSpc>
                <a:spcPct val="90000"/>
              </a:lnSpc>
              <a:spcBef>
                <a:spcPts val="434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Function </a:t>
            </a:r>
            <a:r>
              <a:rPr sz="2800" spc="-15" dirty="0">
                <a:latin typeface="Calibri"/>
                <a:cs typeface="Calibri"/>
              </a:rPr>
              <a:t>Symbols </a:t>
            </a:r>
            <a:r>
              <a:rPr sz="2800" spc="-5" dirty="0">
                <a:latin typeface="Calibri"/>
                <a:cs typeface="Calibri"/>
              </a:rPr>
              <a:t>map the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specified number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input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objects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objects</a:t>
            </a:r>
            <a:endParaRPr sz="2800">
              <a:latin typeface="Calibri"/>
              <a:cs typeface="Calibri"/>
            </a:endParaRPr>
          </a:p>
          <a:p>
            <a:pPr marL="241300" marR="170180" indent="-228600" algn="just">
              <a:lnSpc>
                <a:spcPts val="3030"/>
              </a:lnSpc>
              <a:spcBef>
                <a:spcPts val="104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Quantifiers are </a:t>
            </a:r>
            <a:r>
              <a:rPr sz="2800" spc="-5" dirty="0">
                <a:latin typeface="Calibri"/>
                <a:cs typeface="Calibri"/>
              </a:rPr>
              <a:t>used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quantify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objects</a:t>
            </a:r>
            <a:endParaRPr sz="280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09"/>
              </a:spcBef>
              <a:buFont typeface="Tahoma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Universal </a:t>
            </a:r>
            <a:r>
              <a:rPr sz="2400" spc="-5" dirty="0">
                <a:latin typeface="Calibri"/>
                <a:cs typeface="Calibri"/>
              </a:rPr>
              <a:t>Quantifier </a:t>
            </a:r>
            <a:r>
              <a:rPr sz="2400" spc="-10" dirty="0">
                <a:latin typeface="Calibri"/>
                <a:cs typeface="Calibri"/>
              </a:rPr>
              <a:t>represents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endParaRPr sz="2400">
              <a:latin typeface="Calibri"/>
              <a:cs typeface="Calibri"/>
            </a:endParaRPr>
          </a:p>
          <a:p>
            <a:pPr marL="698500" marR="315595" lvl="1" indent="-228600">
              <a:lnSpc>
                <a:spcPts val="2590"/>
              </a:lnSpc>
              <a:spcBef>
                <a:spcPts val="509"/>
              </a:spcBef>
              <a:buFont typeface="Tahoma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Existential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Quantifier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existence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object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7174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FOPL:</a:t>
            </a:r>
            <a:r>
              <a:rPr spc="-70" dirty="0"/>
              <a:t> </a:t>
            </a:r>
            <a:r>
              <a:rPr spc="-30" dirty="0"/>
              <a:t>Variable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4625340" cy="326961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15875" indent="-228600">
              <a:lnSpc>
                <a:spcPct val="90000"/>
              </a:lnSpc>
              <a:spcBef>
                <a:spcPts val="434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scope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variable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which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quantifier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syntactically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applies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0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block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structured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programming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language, a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variable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logical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expression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refers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closest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quantifier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whose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scope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appears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1793189"/>
            <a:ext cx="4782185" cy="12204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4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 well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formed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formula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variables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should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properly 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introduced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5881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Relation</a:t>
            </a:r>
            <a:r>
              <a:rPr spc="-10" dirty="0"/>
              <a:t> </a:t>
            </a:r>
            <a:r>
              <a:rPr spc="-15" dirty="0"/>
              <a:t>Between </a:t>
            </a:r>
            <a:r>
              <a:rPr spc="-10" dirty="0"/>
              <a:t>Quantifiers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7889" y="1841078"/>
          <a:ext cx="2954653" cy="9115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9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942">
                <a:tc>
                  <a:txBody>
                    <a:bodyPr/>
                    <a:lstStyle/>
                    <a:p>
                      <a:pPr marL="260350" indent="-228600">
                        <a:lnSpc>
                          <a:spcPts val="3095"/>
                        </a:lnSpc>
                        <a:buFont typeface="Tahoma"/>
                        <a:buChar char="•"/>
                        <a:tabLst>
                          <a:tab pos="260350" algn="l"/>
                        </a:tabLst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∀𝑥</a:t>
                      </a:r>
                      <a:r>
                        <a:rPr sz="2800" spc="2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" dirty="0">
                          <a:latin typeface="Cambria Math"/>
                          <a:cs typeface="Cambria Math"/>
                        </a:rPr>
                        <a:t>¬𝑃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3095"/>
                        </a:lnSpc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≡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3095"/>
                        </a:lnSpc>
                      </a:pPr>
                      <a:r>
                        <a:rPr sz="2800" spc="-5" dirty="0">
                          <a:latin typeface="Cambria Math"/>
                          <a:cs typeface="Cambria Math"/>
                        </a:rPr>
                        <a:t>¬</a:t>
                      </a:r>
                      <a:r>
                        <a:rPr sz="2800" spc="-4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" dirty="0">
                          <a:latin typeface="Cambria Math"/>
                          <a:cs typeface="Cambria Math"/>
                        </a:rPr>
                        <a:t>∃𝑥</a:t>
                      </a:r>
                      <a:r>
                        <a:rPr sz="2800" spc="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" dirty="0">
                          <a:latin typeface="Cambria Math"/>
                          <a:cs typeface="Cambria Math"/>
                        </a:rPr>
                        <a:t>𝑃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599">
                <a:tc>
                  <a:txBody>
                    <a:bodyPr/>
                    <a:lstStyle/>
                    <a:p>
                      <a:pPr marL="260350" indent="-228600">
                        <a:lnSpc>
                          <a:spcPts val="3320"/>
                        </a:lnSpc>
                        <a:spcBef>
                          <a:spcPts val="165"/>
                        </a:spcBef>
                        <a:buFont typeface="Tahoma"/>
                        <a:buChar char="•"/>
                        <a:tabLst>
                          <a:tab pos="260350" algn="l"/>
                        </a:tabLst>
                      </a:pPr>
                      <a:r>
                        <a:rPr sz="2800" spc="-5" dirty="0">
                          <a:latin typeface="Cambria Math"/>
                          <a:cs typeface="Cambria Math"/>
                        </a:rPr>
                        <a:t>¬∀𝑥</a:t>
                      </a:r>
                      <a:r>
                        <a:rPr sz="2800" spc="3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" dirty="0">
                          <a:latin typeface="Cambria Math"/>
                          <a:cs typeface="Cambria Math"/>
                        </a:rPr>
                        <a:t>𝑃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3320"/>
                        </a:lnSpc>
                        <a:spcBef>
                          <a:spcPts val="165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≡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3320"/>
                        </a:lnSpc>
                        <a:spcBef>
                          <a:spcPts val="165"/>
                        </a:spcBef>
                      </a:pPr>
                      <a:r>
                        <a:rPr sz="2800" spc="-5" dirty="0">
                          <a:latin typeface="Cambria Math"/>
                          <a:cs typeface="Cambria Math"/>
                        </a:rPr>
                        <a:t>∃𝑥</a:t>
                      </a:r>
                      <a:r>
                        <a:rPr sz="2800" spc="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10" dirty="0">
                          <a:latin typeface="Cambria Math"/>
                          <a:cs typeface="Cambria Math"/>
                        </a:rPr>
                        <a:t>¬𝑃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2095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16939" y="2733319"/>
            <a:ext cx="2594610" cy="104711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Tahoma"/>
              <a:buChar char="•"/>
              <a:tabLst>
                <a:tab pos="241300" algn="l"/>
                <a:tab pos="1423670" algn="l"/>
              </a:tabLst>
            </a:pPr>
            <a:r>
              <a:rPr sz="2800" spc="-5" dirty="0">
                <a:latin typeface="Cambria Math"/>
                <a:cs typeface="Cambria Math"/>
              </a:rPr>
              <a:t>∀𝑥𝑃</a:t>
            </a:r>
            <a:r>
              <a:rPr sz="2800" spc="22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≡	</a:t>
            </a:r>
            <a:r>
              <a:rPr sz="2800" spc="5" dirty="0">
                <a:latin typeface="Cambria Math"/>
                <a:cs typeface="Cambria Math"/>
              </a:rPr>
              <a:t>¬∃𝑥¬𝑃</a:t>
            </a:r>
            <a:endParaRPr sz="2800">
              <a:latin typeface="Cambria Math"/>
              <a:cs typeface="Cambria Math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mbria Math"/>
                <a:cs typeface="Cambria Math"/>
              </a:rPr>
              <a:t>∃𝑥𝑃</a:t>
            </a:r>
            <a:r>
              <a:rPr sz="2800" spc="20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≡</a:t>
            </a:r>
            <a:r>
              <a:rPr sz="2800" spc="135" dirty="0">
                <a:latin typeface="Cambria Math"/>
                <a:cs typeface="Cambria Math"/>
              </a:rPr>
              <a:t> </a:t>
            </a:r>
            <a:r>
              <a:rPr sz="2800" spc="5" dirty="0">
                <a:latin typeface="Cambria Math"/>
                <a:cs typeface="Cambria Math"/>
              </a:rPr>
              <a:t>¬∀𝑥¬𝑃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19477" y="3952494"/>
            <a:ext cx="432434" cy="328930"/>
          </a:xfrm>
          <a:custGeom>
            <a:avLst/>
            <a:gdLst/>
            <a:ahLst/>
            <a:cxnLst/>
            <a:rect l="l" t="t" r="r" b="b"/>
            <a:pathLst>
              <a:path w="432435" h="328929">
                <a:moveTo>
                  <a:pt x="327533" y="0"/>
                </a:moveTo>
                <a:lnTo>
                  <a:pt x="322834" y="13334"/>
                </a:lnTo>
                <a:lnTo>
                  <a:pt x="341884" y="21597"/>
                </a:lnTo>
                <a:lnTo>
                  <a:pt x="358267" y="33051"/>
                </a:lnTo>
                <a:lnTo>
                  <a:pt x="383032" y="65531"/>
                </a:lnTo>
                <a:lnTo>
                  <a:pt x="397605" y="109219"/>
                </a:lnTo>
                <a:lnTo>
                  <a:pt x="402463" y="162813"/>
                </a:lnTo>
                <a:lnTo>
                  <a:pt x="401228" y="191845"/>
                </a:lnTo>
                <a:lnTo>
                  <a:pt x="391425" y="241859"/>
                </a:lnTo>
                <a:lnTo>
                  <a:pt x="371883" y="280965"/>
                </a:lnTo>
                <a:lnTo>
                  <a:pt x="342078" y="307306"/>
                </a:lnTo>
                <a:lnTo>
                  <a:pt x="323342" y="315594"/>
                </a:lnTo>
                <a:lnTo>
                  <a:pt x="327533" y="328929"/>
                </a:lnTo>
                <a:lnTo>
                  <a:pt x="372363" y="307895"/>
                </a:lnTo>
                <a:lnTo>
                  <a:pt x="405384" y="271525"/>
                </a:lnTo>
                <a:lnTo>
                  <a:pt x="425672" y="222678"/>
                </a:lnTo>
                <a:lnTo>
                  <a:pt x="432435" y="164591"/>
                </a:lnTo>
                <a:lnTo>
                  <a:pt x="430724" y="134417"/>
                </a:lnTo>
                <a:lnTo>
                  <a:pt x="417111" y="80974"/>
                </a:lnTo>
                <a:lnTo>
                  <a:pt x="390255" y="37468"/>
                </a:lnTo>
                <a:lnTo>
                  <a:pt x="351393" y="8616"/>
                </a:lnTo>
                <a:lnTo>
                  <a:pt x="327533" y="0"/>
                </a:lnTo>
                <a:close/>
              </a:path>
              <a:path w="432435" h="328929">
                <a:moveTo>
                  <a:pt x="104902" y="0"/>
                </a:moveTo>
                <a:lnTo>
                  <a:pt x="60118" y="21113"/>
                </a:lnTo>
                <a:lnTo>
                  <a:pt x="27051" y="57657"/>
                </a:lnTo>
                <a:lnTo>
                  <a:pt x="6762" y="106552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2" y="328929"/>
                </a:lnTo>
                <a:lnTo>
                  <a:pt x="108966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89"/>
                </a:lnTo>
                <a:lnTo>
                  <a:pt x="34845" y="218185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1" y="13334"/>
                </a:lnTo>
                <a:lnTo>
                  <a:pt x="1049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65526" y="3952494"/>
            <a:ext cx="432434" cy="328930"/>
          </a:xfrm>
          <a:custGeom>
            <a:avLst/>
            <a:gdLst/>
            <a:ahLst/>
            <a:cxnLst/>
            <a:rect l="l" t="t" r="r" b="b"/>
            <a:pathLst>
              <a:path w="432435" h="328929">
                <a:moveTo>
                  <a:pt x="327533" y="0"/>
                </a:moveTo>
                <a:lnTo>
                  <a:pt x="322834" y="13334"/>
                </a:lnTo>
                <a:lnTo>
                  <a:pt x="341884" y="21597"/>
                </a:lnTo>
                <a:lnTo>
                  <a:pt x="358267" y="33051"/>
                </a:lnTo>
                <a:lnTo>
                  <a:pt x="383032" y="65531"/>
                </a:lnTo>
                <a:lnTo>
                  <a:pt x="397605" y="109219"/>
                </a:lnTo>
                <a:lnTo>
                  <a:pt x="402463" y="162813"/>
                </a:lnTo>
                <a:lnTo>
                  <a:pt x="401228" y="191845"/>
                </a:lnTo>
                <a:lnTo>
                  <a:pt x="391425" y="241859"/>
                </a:lnTo>
                <a:lnTo>
                  <a:pt x="371883" y="280965"/>
                </a:lnTo>
                <a:lnTo>
                  <a:pt x="342078" y="307306"/>
                </a:lnTo>
                <a:lnTo>
                  <a:pt x="323341" y="315594"/>
                </a:lnTo>
                <a:lnTo>
                  <a:pt x="327533" y="328929"/>
                </a:lnTo>
                <a:lnTo>
                  <a:pt x="372363" y="307895"/>
                </a:lnTo>
                <a:lnTo>
                  <a:pt x="405384" y="271525"/>
                </a:lnTo>
                <a:lnTo>
                  <a:pt x="425672" y="222678"/>
                </a:lnTo>
                <a:lnTo>
                  <a:pt x="432435" y="164591"/>
                </a:lnTo>
                <a:lnTo>
                  <a:pt x="430724" y="134417"/>
                </a:lnTo>
                <a:lnTo>
                  <a:pt x="417111" y="80974"/>
                </a:lnTo>
                <a:lnTo>
                  <a:pt x="390255" y="37468"/>
                </a:lnTo>
                <a:lnTo>
                  <a:pt x="351393" y="8616"/>
                </a:lnTo>
                <a:lnTo>
                  <a:pt x="327533" y="0"/>
                </a:lnTo>
                <a:close/>
              </a:path>
              <a:path w="432435" h="328929">
                <a:moveTo>
                  <a:pt x="104901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2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29"/>
                </a:lnTo>
                <a:lnTo>
                  <a:pt x="108966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89"/>
                </a:lnTo>
                <a:lnTo>
                  <a:pt x="34845" y="218185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54117" y="3952494"/>
            <a:ext cx="432434" cy="328930"/>
          </a:xfrm>
          <a:custGeom>
            <a:avLst/>
            <a:gdLst/>
            <a:ahLst/>
            <a:cxnLst/>
            <a:rect l="l" t="t" r="r" b="b"/>
            <a:pathLst>
              <a:path w="432435" h="328929">
                <a:moveTo>
                  <a:pt x="327533" y="0"/>
                </a:moveTo>
                <a:lnTo>
                  <a:pt x="322834" y="13334"/>
                </a:lnTo>
                <a:lnTo>
                  <a:pt x="341884" y="21597"/>
                </a:lnTo>
                <a:lnTo>
                  <a:pt x="358267" y="33051"/>
                </a:lnTo>
                <a:lnTo>
                  <a:pt x="383032" y="65531"/>
                </a:lnTo>
                <a:lnTo>
                  <a:pt x="397605" y="109219"/>
                </a:lnTo>
                <a:lnTo>
                  <a:pt x="402463" y="162813"/>
                </a:lnTo>
                <a:lnTo>
                  <a:pt x="401228" y="191845"/>
                </a:lnTo>
                <a:lnTo>
                  <a:pt x="391425" y="241859"/>
                </a:lnTo>
                <a:lnTo>
                  <a:pt x="371883" y="280965"/>
                </a:lnTo>
                <a:lnTo>
                  <a:pt x="342078" y="307306"/>
                </a:lnTo>
                <a:lnTo>
                  <a:pt x="323342" y="315594"/>
                </a:lnTo>
                <a:lnTo>
                  <a:pt x="327533" y="328929"/>
                </a:lnTo>
                <a:lnTo>
                  <a:pt x="372363" y="307895"/>
                </a:lnTo>
                <a:lnTo>
                  <a:pt x="405384" y="271525"/>
                </a:lnTo>
                <a:lnTo>
                  <a:pt x="425672" y="222678"/>
                </a:lnTo>
                <a:lnTo>
                  <a:pt x="432435" y="164591"/>
                </a:lnTo>
                <a:lnTo>
                  <a:pt x="430724" y="134417"/>
                </a:lnTo>
                <a:lnTo>
                  <a:pt x="417111" y="80974"/>
                </a:lnTo>
                <a:lnTo>
                  <a:pt x="390255" y="37468"/>
                </a:lnTo>
                <a:lnTo>
                  <a:pt x="351393" y="8616"/>
                </a:lnTo>
                <a:lnTo>
                  <a:pt x="327533" y="0"/>
                </a:lnTo>
                <a:close/>
              </a:path>
              <a:path w="432435" h="328929">
                <a:moveTo>
                  <a:pt x="104902" y="0"/>
                </a:moveTo>
                <a:lnTo>
                  <a:pt x="60118" y="21113"/>
                </a:lnTo>
                <a:lnTo>
                  <a:pt x="27051" y="57657"/>
                </a:lnTo>
                <a:lnTo>
                  <a:pt x="6762" y="106552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2" y="328929"/>
                </a:lnTo>
                <a:lnTo>
                  <a:pt x="108966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89"/>
                </a:lnTo>
                <a:lnTo>
                  <a:pt x="34845" y="218185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1" y="13334"/>
                </a:lnTo>
                <a:lnTo>
                  <a:pt x="1049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01561" y="3952494"/>
            <a:ext cx="432434" cy="328930"/>
          </a:xfrm>
          <a:custGeom>
            <a:avLst/>
            <a:gdLst/>
            <a:ahLst/>
            <a:cxnLst/>
            <a:rect l="l" t="t" r="r" b="b"/>
            <a:pathLst>
              <a:path w="432434" h="328929">
                <a:moveTo>
                  <a:pt x="327533" y="0"/>
                </a:moveTo>
                <a:lnTo>
                  <a:pt x="322834" y="13334"/>
                </a:lnTo>
                <a:lnTo>
                  <a:pt x="341884" y="21597"/>
                </a:lnTo>
                <a:lnTo>
                  <a:pt x="358266" y="33051"/>
                </a:lnTo>
                <a:lnTo>
                  <a:pt x="383032" y="65531"/>
                </a:lnTo>
                <a:lnTo>
                  <a:pt x="397605" y="109219"/>
                </a:lnTo>
                <a:lnTo>
                  <a:pt x="402463" y="162813"/>
                </a:lnTo>
                <a:lnTo>
                  <a:pt x="401228" y="191845"/>
                </a:lnTo>
                <a:lnTo>
                  <a:pt x="391425" y="241859"/>
                </a:lnTo>
                <a:lnTo>
                  <a:pt x="371883" y="280965"/>
                </a:lnTo>
                <a:lnTo>
                  <a:pt x="342078" y="307306"/>
                </a:lnTo>
                <a:lnTo>
                  <a:pt x="323341" y="315594"/>
                </a:lnTo>
                <a:lnTo>
                  <a:pt x="327533" y="328929"/>
                </a:lnTo>
                <a:lnTo>
                  <a:pt x="372363" y="307895"/>
                </a:lnTo>
                <a:lnTo>
                  <a:pt x="405384" y="271525"/>
                </a:lnTo>
                <a:lnTo>
                  <a:pt x="425672" y="222678"/>
                </a:lnTo>
                <a:lnTo>
                  <a:pt x="432435" y="164591"/>
                </a:lnTo>
                <a:lnTo>
                  <a:pt x="430724" y="134417"/>
                </a:lnTo>
                <a:lnTo>
                  <a:pt x="417111" y="80974"/>
                </a:lnTo>
                <a:lnTo>
                  <a:pt x="390255" y="37468"/>
                </a:lnTo>
                <a:lnTo>
                  <a:pt x="351393" y="8616"/>
                </a:lnTo>
                <a:lnTo>
                  <a:pt x="327533" y="0"/>
                </a:lnTo>
                <a:close/>
              </a:path>
              <a:path w="432434" h="328929">
                <a:moveTo>
                  <a:pt x="104902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2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2" y="328929"/>
                </a:lnTo>
                <a:lnTo>
                  <a:pt x="108965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89"/>
                </a:lnTo>
                <a:lnTo>
                  <a:pt x="34845" y="218185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1" y="13334"/>
                </a:lnTo>
                <a:lnTo>
                  <a:pt x="1049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04238" y="4464558"/>
            <a:ext cx="432434" cy="328930"/>
          </a:xfrm>
          <a:custGeom>
            <a:avLst/>
            <a:gdLst/>
            <a:ahLst/>
            <a:cxnLst/>
            <a:rect l="l" t="t" r="r" b="b"/>
            <a:pathLst>
              <a:path w="432435" h="328929">
                <a:moveTo>
                  <a:pt x="327532" y="0"/>
                </a:moveTo>
                <a:lnTo>
                  <a:pt x="322834" y="13335"/>
                </a:lnTo>
                <a:lnTo>
                  <a:pt x="341884" y="21597"/>
                </a:lnTo>
                <a:lnTo>
                  <a:pt x="358267" y="33051"/>
                </a:lnTo>
                <a:lnTo>
                  <a:pt x="383031" y="65532"/>
                </a:lnTo>
                <a:lnTo>
                  <a:pt x="397605" y="109220"/>
                </a:lnTo>
                <a:lnTo>
                  <a:pt x="402463" y="162814"/>
                </a:lnTo>
                <a:lnTo>
                  <a:pt x="401228" y="191845"/>
                </a:lnTo>
                <a:lnTo>
                  <a:pt x="391425" y="241859"/>
                </a:lnTo>
                <a:lnTo>
                  <a:pt x="371883" y="280965"/>
                </a:lnTo>
                <a:lnTo>
                  <a:pt x="342078" y="307306"/>
                </a:lnTo>
                <a:lnTo>
                  <a:pt x="323342" y="315595"/>
                </a:lnTo>
                <a:lnTo>
                  <a:pt x="327532" y="328930"/>
                </a:lnTo>
                <a:lnTo>
                  <a:pt x="372363" y="307895"/>
                </a:lnTo>
                <a:lnTo>
                  <a:pt x="405384" y="271526"/>
                </a:lnTo>
                <a:lnTo>
                  <a:pt x="425672" y="222678"/>
                </a:lnTo>
                <a:lnTo>
                  <a:pt x="432435" y="164592"/>
                </a:lnTo>
                <a:lnTo>
                  <a:pt x="430724" y="134417"/>
                </a:lnTo>
                <a:lnTo>
                  <a:pt x="417111" y="80974"/>
                </a:lnTo>
                <a:lnTo>
                  <a:pt x="390255" y="37468"/>
                </a:lnTo>
                <a:lnTo>
                  <a:pt x="351393" y="8616"/>
                </a:lnTo>
                <a:lnTo>
                  <a:pt x="327532" y="0"/>
                </a:lnTo>
                <a:close/>
              </a:path>
              <a:path w="432435" h="328929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3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30"/>
                </a:lnTo>
                <a:lnTo>
                  <a:pt x="108966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90"/>
                </a:lnTo>
                <a:lnTo>
                  <a:pt x="34845" y="218186"/>
                </a:lnTo>
                <a:lnTo>
                  <a:pt x="29972" y="162814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6939" y="3765953"/>
            <a:ext cx="1321435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Tahoma"/>
              <a:buChar char="•"/>
              <a:tabLst>
                <a:tab pos="241300" algn="l"/>
                <a:tab pos="1118870" algn="l"/>
              </a:tabLst>
            </a:pPr>
            <a:r>
              <a:rPr sz="2800" dirty="0">
                <a:latin typeface="Cambria Math"/>
                <a:cs typeface="Cambria Math"/>
              </a:rPr>
              <a:t>∀</a:t>
            </a:r>
            <a:r>
              <a:rPr sz="2800" spc="-5" dirty="0">
                <a:latin typeface="Cambria Math"/>
                <a:cs typeface="Cambria Math"/>
              </a:rPr>
              <a:t>𝑥</a:t>
            </a:r>
            <a:r>
              <a:rPr sz="2800" spc="7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𝑃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" dirty="0">
                <a:latin typeface="Cambria Math"/>
                <a:cs typeface="Cambria Math"/>
              </a:rPr>
              <a:t>𝑥</a:t>
            </a:r>
            <a:endParaRPr sz="2800">
              <a:latin typeface="Cambria Math"/>
              <a:cs typeface="Cambria Math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Tahoma"/>
              <a:buChar char="•"/>
              <a:tabLst>
                <a:tab pos="241300" algn="l"/>
                <a:tab pos="1103630" algn="l"/>
              </a:tabLst>
            </a:pPr>
            <a:r>
              <a:rPr sz="2800" spc="-5" dirty="0">
                <a:latin typeface="Cambria Math"/>
                <a:cs typeface="Cambria Math"/>
              </a:rPr>
              <a:t>∃𝑥</a:t>
            </a:r>
            <a:r>
              <a:rPr sz="2800" spc="7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𝑃	𝑥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050285" y="4464558"/>
            <a:ext cx="432434" cy="328930"/>
          </a:xfrm>
          <a:custGeom>
            <a:avLst/>
            <a:gdLst/>
            <a:ahLst/>
            <a:cxnLst/>
            <a:rect l="l" t="t" r="r" b="b"/>
            <a:pathLst>
              <a:path w="432435" h="328929">
                <a:moveTo>
                  <a:pt x="327533" y="0"/>
                </a:moveTo>
                <a:lnTo>
                  <a:pt x="322834" y="13335"/>
                </a:lnTo>
                <a:lnTo>
                  <a:pt x="341884" y="21597"/>
                </a:lnTo>
                <a:lnTo>
                  <a:pt x="358266" y="33051"/>
                </a:lnTo>
                <a:lnTo>
                  <a:pt x="383031" y="65532"/>
                </a:lnTo>
                <a:lnTo>
                  <a:pt x="397605" y="109220"/>
                </a:lnTo>
                <a:lnTo>
                  <a:pt x="402463" y="162814"/>
                </a:lnTo>
                <a:lnTo>
                  <a:pt x="401228" y="191845"/>
                </a:lnTo>
                <a:lnTo>
                  <a:pt x="391425" y="241859"/>
                </a:lnTo>
                <a:lnTo>
                  <a:pt x="371883" y="280965"/>
                </a:lnTo>
                <a:lnTo>
                  <a:pt x="342078" y="307306"/>
                </a:lnTo>
                <a:lnTo>
                  <a:pt x="323341" y="315595"/>
                </a:lnTo>
                <a:lnTo>
                  <a:pt x="327533" y="328930"/>
                </a:lnTo>
                <a:lnTo>
                  <a:pt x="372363" y="307895"/>
                </a:lnTo>
                <a:lnTo>
                  <a:pt x="405384" y="271526"/>
                </a:lnTo>
                <a:lnTo>
                  <a:pt x="425672" y="222678"/>
                </a:lnTo>
                <a:lnTo>
                  <a:pt x="432435" y="164592"/>
                </a:lnTo>
                <a:lnTo>
                  <a:pt x="430724" y="134417"/>
                </a:lnTo>
                <a:lnTo>
                  <a:pt x="417111" y="80974"/>
                </a:lnTo>
                <a:lnTo>
                  <a:pt x="390255" y="37468"/>
                </a:lnTo>
                <a:lnTo>
                  <a:pt x="351393" y="8616"/>
                </a:lnTo>
                <a:lnTo>
                  <a:pt x="327533" y="0"/>
                </a:lnTo>
                <a:close/>
              </a:path>
              <a:path w="432435" h="328929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3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30"/>
                </a:lnTo>
                <a:lnTo>
                  <a:pt x="108965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90"/>
                </a:lnTo>
                <a:lnTo>
                  <a:pt x="34845" y="218186"/>
                </a:lnTo>
                <a:lnTo>
                  <a:pt x="29971" y="162814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799838" y="4464558"/>
            <a:ext cx="432434" cy="328930"/>
          </a:xfrm>
          <a:custGeom>
            <a:avLst/>
            <a:gdLst/>
            <a:ahLst/>
            <a:cxnLst/>
            <a:rect l="l" t="t" r="r" b="b"/>
            <a:pathLst>
              <a:path w="432435" h="328929">
                <a:moveTo>
                  <a:pt x="327533" y="0"/>
                </a:moveTo>
                <a:lnTo>
                  <a:pt x="322834" y="13335"/>
                </a:lnTo>
                <a:lnTo>
                  <a:pt x="341884" y="21597"/>
                </a:lnTo>
                <a:lnTo>
                  <a:pt x="358267" y="33051"/>
                </a:lnTo>
                <a:lnTo>
                  <a:pt x="383032" y="65532"/>
                </a:lnTo>
                <a:lnTo>
                  <a:pt x="397605" y="109220"/>
                </a:lnTo>
                <a:lnTo>
                  <a:pt x="402463" y="162814"/>
                </a:lnTo>
                <a:lnTo>
                  <a:pt x="401228" y="191845"/>
                </a:lnTo>
                <a:lnTo>
                  <a:pt x="391425" y="241859"/>
                </a:lnTo>
                <a:lnTo>
                  <a:pt x="371883" y="280965"/>
                </a:lnTo>
                <a:lnTo>
                  <a:pt x="342078" y="307306"/>
                </a:lnTo>
                <a:lnTo>
                  <a:pt x="323341" y="315595"/>
                </a:lnTo>
                <a:lnTo>
                  <a:pt x="327533" y="328930"/>
                </a:lnTo>
                <a:lnTo>
                  <a:pt x="372363" y="307895"/>
                </a:lnTo>
                <a:lnTo>
                  <a:pt x="405384" y="271526"/>
                </a:lnTo>
                <a:lnTo>
                  <a:pt x="425672" y="222678"/>
                </a:lnTo>
                <a:lnTo>
                  <a:pt x="432435" y="164592"/>
                </a:lnTo>
                <a:lnTo>
                  <a:pt x="430724" y="134417"/>
                </a:lnTo>
                <a:lnTo>
                  <a:pt x="417111" y="80974"/>
                </a:lnTo>
                <a:lnTo>
                  <a:pt x="390255" y="37468"/>
                </a:lnTo>
                <a:lnTo>
                  <a:pt x="351393" y="8616"/>
                </a:lnTo>
                <a:lnTo>
                  <a:pt x="327533" y="0"/>
                </a:lnTo>
                <a:close/>
              </a:path>
              <a:path w="432435" h="328929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3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30"/>
                </a:lnTo>
                <a:lnTo>
                  <a:pt x="108965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90"/>
                </a:lnTo>
                <a:lnTo>
                  <a:pt x="34845" y="218186"/>
                </a:lnTo>
                <a:lnTo>
                  <a:pt x="29972" y="162814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32041" y="4464558"/>
            <a:ext cx="432434" cy="328930"/>
          </a:xfrm>
          <a:custGeom>
            <a:avLst/>
            <a:gdLst/>
            <a:ahLst/>
            <a:cxnLst/>
            <a:rect l="l" t="t" r="r" b="b"/>
            <a:pathLst>
              <a:path w="432434" h="328929">
                <a:moveTo>
                  <a:pt x="327533" y="0"/>
                </a:moveTo>
                <a:lnTo>
                  <a:pt x="322834" y="13335"/>
                </a:lnTo>
                <a:lnTo>
                  <a:pt x="341884" y="21597"/>
                </a:lnTo>
                <a:lnTo>
                  <a:pt x="358266" y="33051"/>
                </a:lnTo>
                <a:lnTo>
                  <a:pt x="383032" y="65532"/>
                </a:lnTo>
                <a:lnTo>
                  <a:pt x="397605" y="109220"/>
                </a:lnTo>
                <a:lnTo>
                  <a:pt x="402463" y="162814"/>
                </a:lnTo>
                <a:lnTo>
                  <a:pt x="401228" y="191845"/>
                </a:lnTo>
                <a:lnTo>
                  <a:pt x="391425" y="241859"/>
                </a:lnTo>
                <a:lnTo>
                  <a:pt x="371883" y="280965"/>
                </a:lnTo>
                <a:lnTo>
                  <a:pt x="342078" y="307306"/>
                </a:lnTo>
                <a:lnTo>
                  <a:pt x="323341" y="315595"/>
                </a:lnTo>
                <a:lnTo>
                  <a:pt x="327533" y="328930"/>
                </a:lnTo>
                <a:lnTo>
                  <a:pt x="372364" y="307895"/>
                </a:lnTo>
                <a:lnTo>
                  <a:pt x="405384" y="271526"/>
                </a:lnTo>
                <a:lnTo>
                  <a:pt x="425672" y="222678"/>
                </a:lnTo>
                <a:lnTo>
                  <a:pt x="432435" y="164592"/>
                </a:lnTo>
                <a:lnTo>
                  <a:pt x="430724" y="134417"/>
                </a:lnTo>
                <a:lnTo>
                  <a:pt x="417111" y="80974"/>
                </a:lnTo>
                <a:lnTo>
                  <a:pt x="390255" y="37468"/>
                </a:lnTo>
                <a:lnTo>
                  <a:pt x="351393" y="8616"/>
                </a:lnTo>
                <a:lnTo>
                  <a:pt x="327533" y="0"/>
                </a:lnTo>
                <a:close/>
              </a:path>
              <a:path w="432434" h="328929">
                <a:moveTo>
                  <a:pt x="104902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3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2" y="328930"/>
                </a:lnTo>
                <a:lnTo>
                  <a:pt x="108965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90"/>
                </a:lnTo>
                <a:lnTo>
                  <a:pt x="34845" y="218186"/>
                </a:lnTo>
                <a:lnTo>
                  <a:pt x="29972" y="162814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1" y="13335"/>
                </a:lnTo>
                <a:lnTo>
                  <a:pt x="1049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435098" y="3765953"/>
            <a:ext cx="4316730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770"/>
              </a:spcBef>
              <a:tabLst>
                <a:tab pos="746760" algn="l"/>
                <a:tab pos="1193165" algn="l"/>
                <a:tab pos="2435860" algn="l"/>
                <a:tab pos="2862580" algn="l"/>
                <a:tab pos="4083685" algn="l"/>
              </a:tabLst>
            </a:pPr>
            <a:r>
              <a:rPr sz="2800" spc="-5" dirty="0">
                <a:latin typeface="Cambria Math"/>
                <a:cs typeface="Cambria Math"/>
              </a:rPr>
              <a:t>∩</a:t>
            </a:r>
            <a:r>
              <a:rPr sz="2800" spc="1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𝑄	𝑥	≡</a:t>
            </a:r>
            <a:r>
              <a:rPr sz="2800" spc="16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∀𝑥</a:t>
            </a:r>
            <a:r>
              <a:rPr sz="2800" spc="7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𝑃	𝑥	∩</a:t>
            </a:r>
            <a:r>
              <a:rPr sz="2800" spc="1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∀𝑥</a:t>
            </a:r>
            <a:r>
              <a:rPr sz="2800" spc="7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𝑄	𝑥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731520" algn="l"/>
                <a:tab pos="1176655" algn="l"/>
                <a:tab pos="1619250" algn="l"/>
                <a:tab pos="2481580" algn="l"/>
                <a:tab pos="2908300" algn="l"/>
                <a:tab pos="4114165" algn="l"/>
              </a:tabLst>
            </a:pPr>
            <a:r>
              <a:rPr sz="2800" spc="190" dirty="0">
                <a:latin typeface="Cambria Math"/>
                <a:cs typeface="Cambria Math"/>
              </a:rPr>
              <a:t>𝖴</a:t>
            </a:r>
            <a:r>
              <a:rPr sz="2800" spc="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𝑄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" dirty="0">
                <a:latin typeface="Cambria Math"/>
                <a:cs typeface="Cambria Math"/>
              </a:rPr>
              <a:t>𝑥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" dirty="0">
                <a:latin typeface="Cambria Math"/>
                <a:cs typeface="Cambria Math"/>
              </a:rPr>
              <a:t>≡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" dirty="0">
                <a:latin typeface="Cambria Math"/>
                <a:cs typeface="Cambria Math"/>
              </a:rPr>
              <a:t>∃𝑥</a:t>
            </a:r>
            <a:r>
              <a:rPr sz="2800" spc="7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𝑃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" dirty="0">
                <a:latin typeface="Cambria Math"/>
                <a:cs typeface="Cambria Math"/>
              </a:rPr>
              <a:t>𝑥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190" dirty="0">
                <a:latin typeface="Cambria Math"/>
                <a:cs typeface="Cambria Math"/>
              </a:rPr>
              <a:t>𝖴</a:t>
            </a:r>
            <a:r>
              <a:rPr sz="2800" spc="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∃𝑥</a:t>
            </a:r>
            <a:r>
              <a:rPr sz="2800" spc="7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𝑄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" dirty="0">
                <a:latin typeface="Cambria Math"/>
                <a:cs typeface="Cambria Math"/>
              </a:rPr>
              <a:t>𝑥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137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</a:t>
            </a:r>
            <a:r>
              <a:rPr spc="-85" dirty="0"/>
              <a:t>x</a:t>
            </a:r>
            <a:r>
              <a:rPr dirty="0"/>
              <a:t>amples</a:t>
            </a:r>
          </a:p>
        </p:txBody>
      </p:sp>
      <p:sp>
        <p:nvSpPr>
          <p:cNvPr id="3" name="object 3"/>
          <p:cNvSpPr/>
          <p:nvPr/>
        </p:nvSpPr>
        <p:spPr>
          <a:xfrm>
            <a:off x="2654045" y="2280666"/>
            <a:ext cx="432434" cy="328930"/>
          </a:xfrm>
          <a:custGeom>
            <a:avLst/>
            <a:gdLst/>
            <a:ahLst/>
            <a:cxnLst/>
            <a:rect l="l" t="t" r="r" b="b"/>
            <a:pathLst>
              <a:path w="432435" h="328930">
                <a:moveTo>
                  <a:pt x="327533" y="0"/>
                </a:moveTo>
                <a:lnTo>
                  <a:pt x="322834" y="13335"/>
                </a:lnTo>
                <a:lnTo>
                  <a:pt x="341884" y="21597"/>
                </a:lnTo>
                <a:lnTo>
                  <a:pt x="358267" y="33051"/>
                </a:lnTo>
                <a:lnTo>
                  <a:pt x="383031" y="65532"/>
                </a:lnTo>
                <a:lnTo>
                  <a:pt x="397605" y="109219"/>
                </a:lnTo>
                <a:lnTo>
                  <a:pt x="402463" y="162813"/>
                </a:lnTo>
                <a:lnTo>
                  <a:pt x="401228" y="191845"/>
                </a:lnTo>
                <a:lnTo>
                  <a:pt x="391425" y="241859"/>
                </a:lnTo>
                <a:lnTo>
                  <a:pt x="371883" y="280965"/>
                </a:lnTo>
                <a:lnTo>
                  <a:pt x="342078" y="307306"/>
                </a:lnTo>
                <a:lnTo>
                  <a:pt x="323342" y="315595"/>
                </a:lnTo>
                <a:lnTo>
                  <a:pt x="327533" y="328930"/>
                </a:lnTo>
                <a:lnTo>
                  <a:pt x="372363" y="307895"/>
                </a:lnTo>
                <a:lnTo>
                  <a:pt x="405384" y="271525"/>
                </a:lnTo>
                <a:lnTo>
                  <a:pt x="425672" y="222678"/>
                </a:lnTo>
                <a:lnTo>
                  <a:pt x="432435" y="164592"/>
                </a:lnTo>
                <a:lnTo>
                  <a:pt x="430724" y="134417"/>
                </a:lnTo>
                <a:lnTo>
                  <a:pt x="417111" y="80974"/>
                </a:lnTo>
                <a:lnTo>
                  <a:pt x="390255" y="37468"/>
                </a:lnTo>
                <a:lnTo>
                  <a:pt x="351393" y="8616"/>
                </a:lnTo>
                <a:lnTo>
                  <a:pt x="327533" y="0"/>
                </a:lnTo>
                <a:close/>
              </a:path>
              <a:path w="432435" h="328930">
                <a:moveTo>
                  <a:pt x="104902" y="0"/>
                </a:moveTo>
                <a:lnTo>
                  <a:pt x="60118" y="21113"/>
                </a:lnTo>
                <a:lnTo>
                  <a:pt x="27051" y="57658"/>
                </a:lnTo>
                <a:lnTo>
                  <a:pt x="6762" y="106552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2" y="328930"/>
                </a:lnTo>
                <a:lnTo>
                  <a:pt x="108966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89"/>
                </a:lnTo>
                <a:lnTo>
                  <a:pt x="34845" y="218186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1" y="13335"/>
                </a:lnTo>
                <a:lnTo>
                  <a:pt x="1049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44746" y="2280666"/>
            <a:ext cx="432434" cy="328930"/>
          </a:xfrm>
          <a:custGeom>
            <a:avLst/>
            <a:gdLst/>
            <a:ahLst/>
            <a:cxnLst/>
            <a:rect l="l" t="t" r="r" b="b"/>
            <a:pathLst>
              <a:path w="432435" h="328930">
                <a:moveTo>
                  <a:pt x="327532" y="0"/>
                </a:moveTo>
                <a:lnTo>
                  <a:pt x="322833" y="13335"/>
                </a:lnTo>
                <a:lnTo>
                  <a:pt x="341883" y="21597"/>
                </a:lnTo>
                <a:lnTo>
                  <a:pt x="358266" y="33051"/>
                </a:lnTo>
                <a:lnTo>
                  <a:pt x="383031" y="65532"/>
                </a:lnTo>
                <a:lnTo>
                  <a:pt x="397605" y="109219"/>
                </a:lnTo>
                <a:lnTo>
                  <a:pt x="402463" y="162813"/>
                </a:lnTo>
                <a:lnTo>
                  <a:pt x="401228" y="191845"/>
                </a:lnTo>
                <a:lnTo>
                  <a:pt x="391425" y="241859"/>
                </a:lnTo>
                <a:lnTo>
                  <a:pt x="371883" y="280965"/>
                </a:lnTo>
                <a:lnTo>
                  <a:pt x="342078" y="307306"/>
                </a:lnTo>
                <a:lnTo>
                  <a:pt x="323341" y="315595"/>
                </a:lnTo>
                <a:lnTo>
                  <a:pt x="327532" y="328930"/>
                </a:lnTo>
                <a:lnTo>
                  <a:pt x="372363" y="307895"/>
                </a:lnTo>
                <a:lnTo>
                  <a:pt x="405383" y="271525"/>
                </a:lnTo>
                <a:lnTo>
                  <a:pt x="425672" y="222678"/>
                </a:lnTo>
                <a:lnTo>
                  <a:pt x="432434" y="164592"/>
                </a:lnTo>
                <a:lnTo>
                  <a:pt x="430724" y="134417"/>
                </a:lnTo>
                <a:lnTo>
                  <a:pt x="417111" y="80974"/>
                </a:lnTo>
                <a:lnTo>
                  <a:pt x="390255" y="37468"/>
                </a:lnTo>
                <a:lnTo>
                  <a:pt x="351393" y="8616"/>
                </a:lnTo>
                <a:lnTo>
                  <a:pt x="327532" y="0"/>
                </a:lnTo>
                <a:close/>
              </a:path>
              <a:path w="432435" h="328930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2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30"/>
                </a:lnTo>
                <a:lnTo>
                  <a:pt x="108965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89"/>
                </a:lnTo>
                <a:lnTo>
                  <a:pt x="34845" y="218186"/>
                </a:lnTo>
                <a:lnTo>
                  <a:pt x="29971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98114" y="3048761"/>
            <a:ext cx="432434" cy="328930"/>
          </a:xfrm>
          <a:custGeom>
            <a:avLst/>
            <a:gdLst/>
            <a:ahLst/>
            <a:cxnLst/>
            <a:rect l="l" t="t" r="r" b="b"/>
            <a:pathLst>
              <a:path w="432435" h="328929">
                <a:moveTo>
                  <a:pt x="327533" y="0"/>
                </a:moveTo>
                <a:lnTo>
                  <a:pt x="322834" y="13335"/>
                </a:lnTo>
                <a:lnTo>
                  <a:pt x="341884" y="21597"/>
                </a:lnTo>
                <a:lnTo>
                  <a:pt x="358267" y="33051"/>
                </a:lnTo>
                <a:lnTo>
                  <a:pt x="383032" y="65532"/>
                </a:lnTo>
                <a:lnTo>
                  <a:pt x="397605" y="109219"/>
                </a:lnTo>
                <a:lnTo>
                  <a:pt x="402463" y="162813"/>
                </a:lnTo>
                <a:lnTo>
                  <a:pt x="401228" y="191845"/>
                </a:lnTo>
                <a:lnTo>
                  <a:pt x="391425" y="241859"/>
                </a:lnTo>
                <a:lnTo>
                  <a:pt x="371883" y="280965"/>
                </a:lnTo>
                <a:lnTo>
                  <a:pt x="342078" y="307306"/>
                </a:lnTo>
                <a:lnTo>
                  <a:pt x="323341" y="315595"/>
                </a:lnTo>
                <a:lnTo>
                  <a:pt x="327533" y="328929"/>
                </a:lnTo>
                <a:lnTo>
                  <a:pt x="372363" y="307895"/>
                </a:lnTo>
                <a:lnTo>
                  <a:pt x="405384" y="271525"/>
                </a:lnTo>
                <a:lnTo>
                  <a:pt x="425672" y="222678"/>
                </a:lnTo>
                <a:lnTo>
                  <a:pt x="432435" y="164591"/>
                </a:lnTo>
                <a:lnTo>
                  <a:pt x="430724" y="134417"/>
                </a:lnTo>
                <a:lnTo>
                  <a:pt x="417111" y="80974"/>
                </a:lnTo>
                <a:lnTo>
                  <a:pt x="390255" y="37468"/>
                </a:lnTo>
                <a:lnTo>
                  <a:pt x="351393" y="8616"/>
                </a:lnTo>
                <a:lnTo>
                  <a:pt x="327533" y="0"/>
                </a:lnTo>
                <a:close/>
              </a:path>
              <a:path w="432435" h="328929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3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29"/>
                </a:lnTo>
                <a:lnTo>
                  <a:pt x="108965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89"/>
                </a:lnTo>
                <a:lnTo>
                  <a:pt x="34845" y="218186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29150" y="3048761"/>
            <a:ext cx="432434" cy="328930"/>
          </a:xfrm>
          <a:custGeom>
            <a:avLst/>
            <a:gdLst/>
            <a:ahLst/>
            <a:cxnLst/>
            <a:rect l="l" t="t" r="r" b="b"/>
            <a:pathLst>
              <a:path w="432435" h="328929">
                <a:moveTo>
                  <a:pt x="327533" y="0"/>
                </a:moveTo>
                <a:lnTo>
                  <a:pt x="322834" y="13335"/>
                </a:lnTo>
                <a:lnTo>
                  <a:pt x="341884" y="21597"/>
                </a:lnTo>
                <a:lnTo>
                  <a:pt x="358267" y="33051"/>
                </a:lnTo>
                <a:lnTo>
                  <a:pt x="383032" y="65532"/>
                </a:lnTo>
                <a:lnTo>
                  <a:pt x="397605" y="109219"/>
                </a:lnTo>
                <a:lnTo>
                  <a:pt x="402463" y="162813"/>
                </a:lnTo>
                <a:lnTo>
                  <a:pt x="401228" y="191845"/>
                </a:lnTo>
                <a:lnTo>
                  <a:pt x="391425" y="241859"/>
                </a:lnTo>
                <a:lnTo>
                  <a:pt x="371883" y="280965"/>
                </a:lnTo>
                <a:lnTo>
                  <a:pt x="342078" y="307306"/>
                </a:lnTo>
                <a:lnTo>
                  <a:pt x="323341" y="315595"/>
                </a:lnTo>
                <a:lnTo>
                  <a:pt x="327533" y="328929"/>
                </a:lnTo>
                <a:lnTo>
                  <a:pt x="372363" y="307895"/>
                </a:lnTo>
                <a:lnTo>
                  <a:pt x="405384" y="271525"/>
                </a:lnTo>
                <a:lnTo>
                  <a:pt x="425672" y="222678"/>
                </a:lnTo>
                <a:lnTo>
                  <a:pt x="432435" y="164591"/>
                </a:lnTo>
                <a:lnTo>
                  <a:pt x="430724" y="134417"/>
                </a:lnTo>
                <a:lnTo>
                  <a:pt x="417111" y="80974"/>
                </a:lnTo>
                <a:lnTo>
                  <a:pt x="390255" y="37468"/>
                </a:lnTo>
                <a:lnTo>
                  <a:pt x="351393" y="8616"/>
                </a:lnTo>
                <a:lnTo>
                  <a:pt x="327533" y="0"/>
                </a:lnTo>
                <a:close/>
              </a:path>
              <a:path w="432435" h="328929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3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29"/>
                </a:lnTo>
                <a:lnTo>
                  <a:pt x="108965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89"/>
                </a:lnTo>
                <a:lnTo>
                  <a:pt x="34845" y="218186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99638" y="3943350"/>
            <a:ext cx="432434" cy="328930"/>
          </a:xfrm>
          <a:custGeom>
            <a:avLst/>
            <a:gdLst/>
            <a:ahLst/>
            <a:cxnLst/>
            <a:rect l="l" t="t" r="r" b="b"/>
            <a:pathLst>
              <a:path w="432435" h="328929">
                <a:moveTo>
                  <a:pt x="327533" y="0"/>
                </a:moveTo>
                <a:lnTo>
                  <a:pt x="322834" y="13335"/>
                </a:lnTo>
                <a:lnTo>
                  <a:pt x="341884" y="21597"/>
                </a:lnTo>
                <a:lnTo>
                  <a:pt x="358267" y="33051"/>
                </a:lnTo>
                <a:lnTo>
                  <a:pt x="383032" y="65531"/>
                </a:lnTo>
                <a:lnTo>
                  <a:pt x="397605" y="109219"/>
                </a:lnTo>
                <a:lnTo>
                  <a:pt x="402463" y="162813"/>
                </a:lnTo>
                <a:lnTo>
                  <a:pt x="401228" y="191845"/>
                </a:lnTo>
                <a:lnTo>
                  <a:pt x="391425" y="241859"/>
                </a:lnTo>
                <a:lnTo>
                  <a:pt x="371883" y="280965"/>
                </a:lnTo>
                <a:lnTo>
                  <a:pt x="342078" y="307306"/>
                </a:lnTo>
                <a:lnTo>
                  <a:pt x="323341" y="315594"/>
                </a:lnTo>
                <a:lnTo>
                  <a:pt x="327533" y="328930"/>
                </a:lnTo>
                <a:lnTo>
                  <a:pt x="372363" y="307895"/>
                </a:lnTo>
                <a:lnTo>
                  <a:pt x="405384" y="271525"/>
                </a:lnTo>
                <a:lnTo>
                  <a:pt x="425672" y="222678"/>
                </a:lnTo>
                <a:lnTo>
                  <a:pt x="432435" y="164592"/>
                </a:lnTo>
                <a:lnTo>
                  <a:pt x="430724" y="134417"/>
                </a:lnTo>
                <a:lnTo>
                  <a:pt x="417111" y="80974"/>
                </a:lnTo>
                <a:lnTo>
                  <a:pt x="390255" y="37468"/>
                </a:lnTo>
                <a:lnTo>
                  <a:pt x="351393" y="8616"/>
                </a:lnTo>
                <a:lnTo>
                  <a:pt x="327533" y="0"/>
                </a:lnTo>
                <a:close/>
              </a:path>
              <a:path w="432435" h="328929">
                <a:moveTo>
                  <a:pt x="104901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2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30"/>
                </a:lnTo>
                <a:lnTo>
                  <a:pt x="108965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89"/>
                </a:lnTo>
                <a:lnTo>
                  <a:pt x="34845" y="218185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6939" y="1793189"/>
            <a:ext cx="4433570" cy="24872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200"/>
              </a:lnSpc>
              <a:spcBef>
                <a:spcPts val="9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All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birds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can’t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fly</a:t>
            </a:r>
            <a:endParaRPr sz="2800" dirty="0">
              <a:latin typeface="Calibri"/>
              <a:cs typeface="Calibri"/>
            </a:endParaRPr>
          </a:p>
          <a:p>
            <a:pPr marL="471170">
              <a:lnSpc>
                <a:spcPts val="3030"/>
              </a:lnSpc>
              <a:tabLst>
                <a:tab pos="1853564" algn="l"/>
                <a:tab pos="2299970" algn="l"/>
                <a:tab pos="3644900" algn="l"/>
              </a:tabLst>
            </a:pPr>
            <a:r>
              <a:rPr sz="2800" dirty="0">
                <a:latin typeface="Cambria Math"/>
                <a:cs typeface="Cambria Math"/>
              </a:rPr>
              <a:t>∀𝑥</a:t>
            </a:r>
            <a:r>
              <a:rPr sz="2800" spc="7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𝐵𝑖𝑟𝑑	𝑥	→</a:t>
            </a:r>
            <a:r>
              <a:rPr sz="2800" spc="16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¬𝐹𝑙𝑦	𝑥</a:t>
            </a:r>
            <a:endParaRPr sz="2800" dirty="0">
              <a:latin typeface="Cambria Math"/>
              <a:cs typeface="Cambria Math"/>
            </a:endParaRPr>
          </a:p>
          <a:p>
            <a:pPr marL="471170">
              <a:lnSpc>
                <a:spcPts val="3025"/>
              </a:lnSpc>
            </a:pPr>
            <a:r>
              <a:rPr sz="2800" spc="-5" dirty="0">
                <a:latin typeface="Cambria Math"/>
                <a:cs typeface="Cambria Math"/>
              </a:rPr>
              <a:t>𝑂𝑅</a:t>
            </a:r>
            <a:endParaRPr sz="2800" dirty="0">
              <a:latin typeface="Cambria Math"/>
              <a:cs typeface="Cambria Math"/>
            </a:endParaRPr>
          </a:p>
          <a:p>
            <a:pPr marL="471170">
              <a:lnSpc>
                <a:spcPts val="3190"/>
              </a:lnSpc>
              <a:tabLst>
                <a:tab pos="2397760" algn="l"/>
                <a:tab pos="2824480" algn="l"/>
                <a:tab pos="3829050" algn="l"/>
                <a:tab pos="4176395" algn="l"/>
              </a:tabLst>
            </a:pPr>
            <a:r>
              <a:rPr sz="2800" spc="-5" dirty="0">
                <a:latin typeface="Cambria Math"/>
                <a:cs typeface="Cambria Math"/>
              </a:rPr>
              <a:t>¬(∃𝑥</a:t>
            </a:r>
            <a:r>
              <a:rPr sz="2800" spc="7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(𝐵𝑖𝑟𝑑	𝑥	∩</a:t>
            </a:r>
            <a:r>
              <a:rPr sz="2800" spc="1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𝐹𝑙𝑦	𝑥	)</a:t>
            </a:r>
            <a:endParaRPr sz="2800" dirty="0">
              <a:latin typeface="Cambria Math"/>
              <a:cs typeface="Cambria Math"/>
            </a:endParaRPr>
          </a:p>
          <a:p>
            <a:pPr marL="241300" indent="-228600">
              <a:lnSpc>
                <a:spcPts val="3190"/>
              </a:lnSpc>
              <a:spcBef>
                <a:spcPts val="66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Not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all</a:t>
            </a:r>
            <a:r>
              <a:rPr sz="2800" spc="-15" dirty="0">
                <a:latin typeface="Calibri"/>
                <a:cs typeface="Calibri"/>
              </a:rPr>
              <a:t> birds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fly</a:t>
            </a:r>
            <a:endParaRPr sz="2800" dirty="0">
              <a:latin typeface="Calibri"/>
              <a:cs typeface="Calibri"/>
            </a:endParaRPr>
          </a:p>
          <a:p>
            <a:pPr marL="603885">
              <a:lnSpc>
                <a:spcPts val="3025"/>
              </a:lnSpc>
              <a:tabLst>
                <a:tab pos="2399030" algn="l"/>
                <a:tab pos="2844800" algn="l"/>
              </a:tabLst>
            </a:pPr>
            <a:r>
              <a:rPr sz="2800" spc="-10" dirty="0">
                <a:latin typeface="Cambria Math"/>
                <a:cs typeface="Cambria Math"/>
              </a:rPr>
              <a:t>¬(∀𝑥</a:t>
            </a:r>
            <a:r>
              <a:rPr sz="2800" spc="8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𝐵𝑖𝑟𝑑	𝑥	→</a:t>
            </a:r>
            <a:r>
              <a:rPr sz="2800" spc="100" dirty="0">
                <a:latin typeface="Cambria Math"/>
                <a:cs typeface="Cambria Math"/>
              </a:rPr>
              <a:t> </a:t>
            </a:r>
            <a:r>
              <a:rPr sz="2800" spc="15" dirty="0">
                <a:latin typeface="Cambria Math"/>
                <a:cs typeface="Cambria Math"/>
              </a:rPr>
              <a:t>𝐹𝑙𝑦(</a:t>
            </a:r>
            <a:r>
              <a:rPr sz="2800" spc="15">
                <a:latin typeface="Cambria Math"/>
                <a:cs typeface="Cambria Math"/>
              </a:rPr>
              <a:t>𝑥))</a:t>
            </a:r>
            <a:endParaRPr lang="en-US" sz="2800" dirty="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23682" y="2669285"/>
            <a:ext cx="2474595" cy="699770"/>
          </a:xfrm>
          <a:custGeom>
            <a:avLst/>
            <a:gdLst/>
            <a:ahLst/>
            <a:cxnLst/>
            <a:rect l="l" t="t" r="r" b="b"/>
            <a:pathLst>
              <a:path w="2474595" h="699770">
                <a:moveTo>
                  <a:pt x="109601" y="13335"/>
                </a:moveTo>
                <a:lnTo>
                  <a:pt x="104902" y="0"/>
                </a:lnTo>
                <a:lnTo>
                  <a:pt x="81038" y="8623"/>
                </a:lnTo>
                <a:lnTo>
                  <a:pt x="60109" y="21120"/>
                </a:lnTo>
                <a:lnTo>
                  <a:pt x="27051" y="57658"/>
                </a:lnTo>
                <a:lnTo>
                  <a:pt x="6756" y="106565"/>
                </a:lnTo>
                <a:lnTo>
                  <a:pt x="0" y="164592"/>
                </a:lnTo>
                <a:lnTo>
                  <a:pt x="1689" y="194792"/>
                </a:lnTo>
                <a:lnTo>
                  <a:pt x="15214" y="248272"/>
                </a:lnTo>
                <a:lnTo>
                  <a:pt x="42049" y="291630"/>
                </a:lnTo>
                <a:lnTo>
                  <a:pt x="80962" y="320344"/>
                </a:lnTo>
                <a:lnTo>
                  <a:pt x="104902" y="328930"/>
                </a:lnTo>
                <a:lnTo>
                  <a:pt x="108966" y="315595"/>
                </a:lnTo>
                <a:lnTo>
                  <a:pt x="90246" y="307314"/>
                </a:lnTo>
                <a:lnTo>
                  <a:pt x="74104" y="295770"/>
                </a:lnTo>
                <a:lnTo>
                  <a:pt x="49530" y="262890"/>
                </a:lnTo>
                <a:lnTo>
                  <a:pt x="34836" y="218186"/>
                </a:lnTo>
                <a:lnTo>
                  <a:pt x="29972" y="162814"/>
                </a:lnTo>
                <a:lnTo>
                  <a:pt x="31178" y="134797"/>
                </a:lnTo>
                <a:lnTo>
                  <a:pt x="40944" y="86131"/>
                </a:lnTo>
                <a:lnTo>
                  <a:pt x="60566" y="47701"/>
                </a:lnTo>
                <a:lnTo>
                  <a:pt x="90614" y="21602"/>
                </a:lnTo>
                <a:lnTo>
                  <a:pt x="109601" y="13335"/>
                </a:lnTo>
                <a:close/>
              </a:path>
              <a:path w="2474595" h="699770">
                <a:moveTo>
                  <a:pt x="111125" y="383667"/>
                </a:moveTo>
                <a:lnTo>
                  <a:pt x="106426" y="370332"/>
                </a:lnTo>
                <a:lnTo>
                  <a:pt x="82562" y="378955"/>
                </a:lnTo>
                <a:lnTo>
                  <a:pt x="61633" y="391452"/>
                </a:lnTo>
                <a:lnTo>
                  <a:pt x="28575" y="427990"/>
                </a:lnTo>
                <a:lnTo>
                  <a:pt x="8280" y="476885"/>
                </a:lnTo>
                <a:lnTo>
                  <a:pt x="1524" y="534924"/>
                </a:lnTo>
                <a:lnTo>
                  <a:pt x="3213" y="565124"/>
                </a:lnTo>
                <a:lnTo>
                  <a:pt x="16738" y="618604"/>
                </a:lnTo>
                <a:lnTo>
                  <a:pt x="43573" y="661962"/>
                </a:lnTo>
                <a:lnTo>
                  <a:pt x="82486" y="690676"/>
                </a:lnTo>
                <a:lnTo>
                  <a:pt x="106426" y="699262"/>
                </a:lnTo>
                <a:lnTo>
                  <a:pt x="110490" y="685927"/>
                </a:lnTo>
                <a:lnTo>
                  <a:pt x="91770" y="677646"/>
                </a:lnTo>
                <a:lnTo>
                  <a:pt x="75628" y="666102"/>
                </a:lnTo>
                <a:lnTo>
                  <a:pt x="51054" y="633222"/>
                </a:lnTo>
                <a:lnTo>
                  <a:pt x="36360" y="588530"/>
                </a:lnTo>
                <a:lnTo>
                  <a:pt x="31496" y="533146"/>
                </a:lnTo>
                <a:lnTo>
                  <a:pt x="32702" y="505129"/>
                </a:lnTo>
                <a:lnTo>
                  <a:pt x="42468" y="456463"/>
                </a:lnTo>
                <a:lnTo>
                  <a:pt x="62090" y="418033"/>
                </a:lnTo>
                <a:lnTo>
                  <a:pt x="92138" y="391934"/>
                </a:lnTo>
                <a:lnTo>
                  <a:pt x="111125" y="383667"/>
                </a:lnTo>
                <a:close/>
              </a:path>
              <a:path w="2474595" h="699770">
                <a:moveTo>
                  <a:pt x="1906143" y="164592"/>
                </a:moveTo>
                <a:lnTo>
                  <a:pt x="1899310" y="106565"/>
                </a:lnTo>
                <a:lnTo>
                  <a:pt x="1878965" y="57658"/>
                </a:lnTo>
                <a:lnTo>
                  <a:pt x="1846008" y="21120"/>
                </a:lnTo>
                <a:lnTo>
                  <a:pt x="1801241" y="0"/>
                </a:lnTo>
                <a:lnTo>
                  <a:pt x="1796542" y="13335"/>
                </a:lnTo>
                <a:lnTo>
                  <a:pt x="1815592" y="21602"/>
                </a:lnTo>
                <a:lnTo>
                  <a:pt x="1831975" y="33058"/>
                </a:lnTo>
                <a:lnTo>
                  <a:pt x="1856740" y="65532"/>
                </a:lnTo>
                <a:lnTo>
                  <a:pt x="1871306" y="109220"/>
                </a:lnTo>
                <a:lnTo>
                  <a:pt x="1876171" y="162814"/>
                </a:lnTo>
                <a:lnTo>
                  <a:pt x="1874926" y="191846"/>
                </a:lnTo>
                <a:lnTo>
                  <a:pt x="1865122" y="241871"/>
                </a:lnTo>
                <a:lnTo>
                  <a:pt x="1845589" y="280974"/>
                </a:lnTo>
                <a:lnTo>
                  <a:pt x="1815782" y="307314"/>
                </a:lnTo>
                <a:lnTo>
                  <a:pt x="1797050" y="315595"/>
                </a:lnTo>
                <a:lnTo>
                  <a:pt x="1801241" y="328930"/>
                </a:lnTo>
                <a:lnTo>
                  <a:pt x="1846072" y="307898"/>
                </a:lnTo>
                <a:lnTo>
                  <a:pt x="1879092" y="271526"/>
                </a:lnTo>
                <a:lnTo>
                  <a:pt x="1899373" y="222681"/>
                </a:lnTo>
                <a:lnTo>
                  <a:pt x="1904441" y="194792"/>
                </a:lnTo>
                <a:lnTo>
                  <a:pt x="1906143" y="164592"/>
                </a:lnTo>
                <a:close/>
              </a:path>
              <a:path w="2474595" h="699770">
                <a:moveTo>
                  <a:pt x="2474595" y="534924"/>
                </a:moveTo>
                <a:lnTo>
                  <a:pt x="2467762" y="476885"/>
                </a:lnTo>
                <a:lnTo>
                  <a:pt x="2447417" y="427990"/>
                </a:lnTo>
                <a:lnTo>
                  <a:pt x="2414460" y="391452"/>
                </a:lnTo>
                <a:lnTo>
                  <a:pt x="2369693" y="370332"/>
                </a:lnTo>
                <a:lnTo>
                  <a:pt x="2364994" y="383667"/>
                </a:lnTo>
                <a:lnTo>
                  <a:pt x="2384044" y="391934"/>
                </a:lnTo>
                <a:lnTo>
                  <a:pt x="2400427" y="403390"/>
                </a:lnTo>
                <a:lnTo>
                  <a:pt x="2425192" y="435864"/>
                </a:lnTo>
                <a:lnTo>
                  <a:pt x="2439759" y="479552"/>
                </a:lnTo>
                <a:lnTo>
                  <a:pt x="2444623" y="533146"/>
                </a:lnTo>
                <a:lnTo>
                  <a:pt x="2443378" y="562178"/>
                </a:lnTo>
                <a:lnTo>
                  <a:pt x="2433574" y="612203"/>
                </a:lnTo>
                <a:lnTo>
                  <a:pt x="2414041" y="651306"/>
                </a:lnTo>
                <a:lnTo>
                  <a:pt x="2384234" y="677646"/>
                </a:lnTo>
                <a:lnTo>
                  <a:pt x="2365502" y="685927"/>
                </a:lnTo>
                <a:lnTo>
                  <a:pt x="2369693" y="699262"/>
                </a:lnTo>
                <a:lnTo>
                  <a:pt x="2414524" y="678230"/>
                </a:lnTo>
                <a:lnTo>
                  <a:pt x="2447544" y="641858"/>
                </a:lnTo>
                <a:lnTo>
                  <a:pt x="2467826" y="593013"/>
                </a:lnTo>
                <a:lnTo>
                  <a:pt x="2472893" y="565124"/>
                </a:lnTo>
                <a:lnTo>
                  <a:pt x="2474595" y="5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51828" y="1793189"/>
            <a:ext cx="4859020" cy="1586973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anyone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solve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problem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Raju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endParaRPr sz="2800" dirty="0">
              <a:latin typeface="Calibri"/>
              <a:cs typeface="Calibri"/>
            </a:endParaRPr>
          </a:p>
          <a:p>
            <a:pPr marL="413384">
              <a:lnSpc>
                <a:spcPts val="2800"/>
              </a:lnSpc>
              <a:tabLst>
                <a:tab pos="1988820" algn="l"/>
              </a:tabLst>
            </a:pPr>
            <a:r>
              <a:rPr sz="2800" spc="-5" dirty="0">
                <a:latin typeface="Cambria Math"/>
                <a:cs typeface="Cambria Math"/>
              </a:rPr>
              <a:t>∃</a:t>
            </a:r>
            <a:r>
              <a:rPr sz="2800" spc="-10" dirty="0">
                <a:latin typeface="Cambria Math"/>
                <a:cs typeface="Cambria Math"/>
              </a:rPr>
              <a:t>𝑥𝑆𝑜𝑙𝑣𝑒</a:t>
            </a:r>
            <a:r>
              <a:rPr sz="2800" spc="-5" dirty="0">
                <a:latin typeface="Cambria Math"/>
                <a:cs typeface="Cambria Math"/>
              </a:rPr>
              <a:t>𝑠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75" dirty="0">
                <a:latin typeface="Cambria Math"/>
                <a:cs typeface="Cambria Math"/>
              </a:rPr>
              <a:t>𝑥</a:t>
            </a:r>
            <a:r>
              <a:rPr sz="2800" spc="-5" dirty="0">
                <a:latin typeface="Cambria Math"/>
                <a:cs typeface="Cambria Math"/>
              </a:rPr>
              <a:t>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𝑝𝑟𝑜</a:t>
            </a:r>
            <a:r>
              <a:rPr sz="2800" spc="5" dirty="0">
                <a:latin typeface="Cambria Math"/>
                <a:cs typeface="Cambria Math"/>
              </a:rPr>
              <a:t>𝑏</a:t>
            </a:r>
            <a:r>
              <a:rPr sz="2800" spc="-5" dirty="0">
                <a:latin typeface="Cambria Math"/>
                <a:cs typeface="Cambria Math"/>
              </a:rPr>
              <a:t>𝑙</a:t>
            </a:r>
            <a:r>
              <a:rPr sz="2800" spc="5" dirty="0">
                <a:latin typeface="Cambria Math"/>
                <a:cs typeface="Cambria Math"/>
              </a:rPr>
              <a:t>𝑒</a:t>
            </a:r>
            <a:r>
              <a:rPr sz="2800" spc="-5" dirty="0">
                <a:latin typeface="Cambria Math"/>
                <a:cs typeface="Cambria Math"/>
              </a:rPr>
              <a:t>𝑚</a:t>
            </a:r>
            <a:endParaRPr sz="2800" dirty="0">
              <a:latin typeface="Cambria Math"/>
              <a:cs typeface="Cambria Math"/>
            </a:endParaRPr>
          </a:p>
          <a:p>
            <a:pPr marL="413384">
              <a:lnSpc>
                <a:spcPts val="3140"/>
              </a:lnSpc>
              <a:tabLst>
                <a:tab pos="1990725" algn="l"/>
              </a:tabLst>
            </a:pPr>
            <a:r>
              <a:rPr sz="2800" spc="-5" dirty="0">
                <a:latin typeface="Cambria Math"/>
                <a:cs typeface="Cambria Math"/>
              </a:rPr>
              <a:t>→</a:t>
            </a:r>
            <a:r>
              <a:rPr sz="2800" spc="17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𝑆𝑜𝑙𝑣𝑒</a:t>
            </a:r>
            <a:r>
              <a:rPr sz="2800" spc="-5" dirty="0">
                <a:latin typeface="Cambria Math"/>
                <a:cs typeface="Cambria Math"/>
              </a:rPr>
              <a:t>𝑠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10" dirty="0">
                <a:latin typeface="Cambria Math"/>
                <a:cs typeface="Cambria Math"/>
              </a:rPr>
              <a:t>𝑅𝑎𝑗</a:t>
            </a:r>
            <a:r>
              <a:rPr sz="2800" spc="80" dirty="0">
                <a:latin typeface="Cambria Math"/>
                <a:cs typeface="Cambria Math"/>
              </a:rPr>
              <a:t>𝑢</a:t>
            </a:r>
            <a:r>
              <a:rPr sz="2800" spc="-5" dirty="0">
                <a:latin typeface="Cambria Math"/>
                <a:cs typeface="Cambria Math"/>
              </a:rPr>
              <a:t>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𝑝𝑟𝑜𝑏𝑙𝑒𝑚</a:t>
            </a:r>
            <a:endParaRPr sz="28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81546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Equality</a:t>
            </a:r>
          </a:p>
        </p:txBody>
      </p:sp>
      <p:sp>
        <p:nvSpPr>
          <p:cNvPr id="3" name="object 3"/>
          <p:cNvSpPr/>
          <p:nvPr/>
        </p:nvSpPr>
        <p:spPr>
          <a:xfrm>
            <a:off x="2421001" y="5106670"/>
            <a:ext cx="1941830" cy="921385"/>
          </a:xfrm>
          <a:custGeom>
            <a:avLst/>
            <a:gdLst/>
            <a:ahLst/>
            <a:cxnLst/>
            <a:rect l="l" t="t" r="r" b="b"/>
            <a:pathLst>
              <a:path w="1941829" h="921385">
                <a:moveTo>
                  <a:pt x="94107" y="649973"/>
                </a:moveTo>
                <a:lnTo>
                  <a:pt x="90043" y="638505"/>
                </a:lnTo>
                <a:lnTo>
                  <a:pt x="69583" y="645909"/>
                </a:lnTo>
                <a:lnTo>
                  <a:pt x="51638" y="656615"/>
                </a:lnTo>
                <a:lnTo>
                  <a:pt x="23241" y="687997"/>
                </a:lnTo>
                <a:lnTo>
                  <a:pt x="5803" y="729945"/>
                </a:lnTo>
                <a:lnTo>
                  <a:pt x="0" y="779741"/>
                </a:lnTo>
                <a:lnTo>
                  <a:pt x="1447" y="805688"/>
                </a:lnTo>
                <a:lnTo>
                  <a:pt x="13068" y="851573"/>
                </a:lnTo>
                <a:lnTo>
                  <a:pt x="36118" y="888796"/>
                </a:lnTo>
                <a:lnTo>
                  <a:pt x="69507" y="913460"/>
                </a:lnTo>
                <a:lnTo>
                  <a:pt x="90043" y="920838"/>
                </a:lnTo>
                <a:lnTo>
                  <a:pt x="93599" y="909383"/>
                </a:lnTo>
                <a:lnTo>
                  <a:pt x="77520" y="902258"/>
                </a:lnTo>
                <a:lnTo>
                  <a:pt x="63639" y="892340"/>
                </a:lnTo>
                <a:lnTo>
                  <a:pt x="35204" y="846112"/>
                </a:lnTo>
                <a:lnTo>
                  <a:pt x="26822" y="803173"/>
                </a:lnTo>
                <a:lnTo>
                  <a:pt x="25781" y="778256"/>
                </a:lnTo>
                <a:lnTo>
                  <a:pt x="26822" y="754176"/>
                </a:lnTo>
                <a:lnTo>
                  <a:pt x="35204" y="712393"/>
                </a:lnTo>
                <a:lnTo>
                  <a:pt x="63741" y="666889"/>
                </a:lnTo>
                <a:lnTo>
                  <a:pt x="77787" y="657072"/>
                </a:lnTo>
                <a:lnTo>
                  <a:pt x="94107" y="649973"/>
                </a:lnTo>
                <a:close/>
              </a:path>
              <a:path w="1941829" h="921385">
                <a:moveTo>
                  <a:pt x="374650" y="779741"/>
                </a:moveTo>
                <a:lnTo>
                  <a:pt x="368833" y="729957"/>
                </a:lnTo>
                <a:lnTo>
                  <a:pt x="351409" y="687997"/>
                </a:lnTo>
                <a:lnTo>
                  <a:pt x="322999" y="656615"/>
                </a:lnTo>
                <a:lnTo>
                  <a:pt x="284607" y="638505"/>
                </a:lnTo>
                <a:lnTo>
                  <a:pt x="280670" y="649973"/>
                </a:lnTo>
                <a:lnTo>
                  <a:pt x="296976" y="657072"/>
                </a:lnTo>
                <a:lnTo>
                  <a:pt x="311010" y="666889"/>
                </a:lnTo>
                <a:lnTo>
                  <a:pt x="339534" y="712393"/>
                </a:lnTo>
                <a:lnTo>
                  <a:pt x="347840" y="754176"/>
                </a:lnTo>
                <a:lnTo>
                  <a:pt x="348869" y="778256"/>
                </a:lnTo>
                <a:lnTo>
                  <a:pt x="347814" y="803173"/>
                </a:lnTo>
                <a:lnTo>
                  <a:pt x="339483" y="846112"/>
                </a:lnTo>
                <a:lnTo>
                  <a:pt x="311061" y="892340"/>
                </a:lnTo>
                <a:lnTo>
                  <a:pt x="281051" y="909383"/>
                </a:lnTo>
                <a:lnTo>
                  <a:pt x="284607" y="920838"/>
                </a:lnTo>
                <a:lnTo>
                  <a:pt x="323100" y="902779"/>
                </a:lnTo>
                <a:lnTo>
                  <a:pt x="351409" y="871499"/>
                </a:lnTo>
                <a:lnTo>
                  <a:pt x="368833" y="829627"/>
                </a:lnTo>
                <a:lnTo>
                  <a:pt x="373189" y="805688"/>
                </a:lnTo>
                <a:lnTo>
                  <a:pt x="374650" y="779741"/>
                </a:lnTo>
                <a:close/>
              </a:path>
              <a:path w="1941829" h="921385">
                <a:moveTo>
                  <a:pt x="412623" y="332994"/>
                </a:moveTo>
                <a:lnTo>
                  <a:pt x="408559" y="321564"/>
                </a:lnTo>
                <a:lnTo>
                  <a:pt x="388099" y="328955"/>
                </a:lnTo>
                <a:lnTo>
                  <a:pt x="370154" y="339648"/>
                </a:lnTo>
                <a:lnTo>
                  <a:pt x="341757" y="370967"/>
                </a:lnTo>
                <a:lnTo>
                  <a:pt x="324319" y="412978"/>
                </a:lnTo>
                <a:lnTo>
                  <a:pt x="318516" y="462788"/>
                </a:lnTo>
                <a:lnTo>
                  <a:pt x="319963" y="488721"/>
                </a:lnTo>
                <a:lnTo>
                  <a:pt x="331584" y="534581"/>
                </a:lnTo>
                <a:lnTo>
                  <a:pt x="354634" y="571804"/>
                </a:lnTo>
                <a:lnTo>
                  <a:pt x="388023" y="596468"/>
                </a:lnTo>
                <a:lnTo>
                  <a:pt x="408559" y="603846"/>
                </a:lnTo>
                <a:lnTo>
                  <a:pt x="412115" y="592391"/>
                </a:lnTo>
                <a:lnTo>
                  <a:pt x="396036" y="585266"/>
                </a:lnTo>
                <a:lnTo>
                  <a:pt x="382155" y="575348"/>
                </a:lnTo>
                <a:lnTo>
                  <a:pt x="353720" y="529120"/>
                </a:lnTo>
                <a:lnTo>
                  <a:pt x="345338" y="486181"/>
                </a:lnTo>
                <a:lnTo>
                  <a:pt x="344297" y="461264"/>
                </a:lnTo>
                <a:lnTo>
                  <a:pt x="345338" y="437197"/>
                </a:lnTo>
                <a:lnTo>
                  <a:pt x="353720" y="395427"/>
                </a:lnTo>
                <a:lnTo>
                  <a:pt x="382270" y="349872"/>
                </a:lnTo>
                <a:lnTo>
                  <a:pt x="396303" y="340080"/>
                </a:lnTo>
                <a:lnTo>
                  <a:pt x="412623" y="332994"/>
                </a:lnTo>
                <a:close/>
              </a:path>
              <a:path w="1941829" h="921385">
                <a:moveTo>
                  <a:pt x="968883" y="11430"/>
                </a:moveTo>
                <a:lnTo>
                  <a:pt x="964819" y="0"/>
                </a:lnTo>
                <a:lnTo>
                  <a:pt x="944359" y="7391"/>
                </a:lnTo>
                <a:lnTo>
                  <a:pt x="926414" y="18084"/>
                </a:lnTo>
                <a:lnTo>
                  <a:pt x="898004" y="49403"/>
                </a:lnTo>
                <a:lnTo>
                  <a:pt x="880579" y="91414"/>
                </a:lnTo>
                <a:lnTo>
                  <a:pt x="874776" y="141224"/>
                </a:lnTo>
                <a:lnTo>
                  <a:pt x="876223" y="167170"/>
                </a:lnTo>
                <a:lnTo>
                  <a:pt x="887844" y="212991"/>
                </a:lnTo>
                <a:lnTo>
                  <a:pt x="910894" y="250228"/>
                </a:lnTo>
                <a:lnTo>
                  <a:pt x="944283" y="274942"/>
                </a:lnTo>
                <a:lnTo>
                  <a:pt x="964819" y="282321"/>
                </a:lnTo>
                <a:lnTo>
                  <a:pt x="968375" y="270764"/>
                </a:lnTo>
                <a:lnTo>
                  <a:pt x="952296" y="263664"/>
                </a:lnTo>
                <a:lnTo>
                  <a:pt x="938415" y="253784"/>
                </a:lnTo>
                <a:lnTo>
                  <a:pt x="909980" y="207530"/>
                </a:lnTo>
                <a:lnTo>
                  <a:pt x="901598" y="164592"/>
                </a:lnTo>
                <a:lnTo>
                  <a:pt x="900557" y="139700"/>
                </a:lnTo>
                <a:lnTo>
                  <a:pt x="901598" y="115633"/>
                </a:lnTo>
                <a:lnTo>
                  <a:pt x="909980" y="73863"/>
                </a:lnTo>
                <a:lnTo>
                  <a:pt x="938530" y="28308"/>
                </a:lnTo>
                <a:lnTo>
                  <a:pt x="952563" y="18516"/>
                </a:lnTo>
                <a:lnTo>
                  <a:pt x="968883" y="11430"/>
                </a:lnTo>
                <a:close/>
              </a:path>
              <a:path w="1941829" h="921385">
                <a:moveTo>
                  <a:pt x="1093851" y="649973"/>
                </a:moveTo>
                <a:lnTo>
                  <a:pt x="1089787" y="638505"/>
                </a:lnTo>
                <a:lnTo>
                  <a:pt x="1069327" y="645909"/>
                </a:lnTo>
                <a:lnTo>
                  <a:pt x="1051382" y="656615"/>
                </a:lnTo>
                <a:lnTo>
                  <a:pt x="1022985" y="687997"/>
                </a:lnTo>
                <a:lnTo>
                  <a:pt x="1005547" y="729945"/>
                </a:lnTo>
                <a:lnTo>
                  <a:pt x="999744" y="779741"/>
                </a:lnTo>
                <a:lnTo>
                  <a:pt x="1001191" y="805688"/>
                </a:lnTo>
                <a:lnTo>
                  <a:pt x="1012812" y="851573"/>
                </a:lnTo>
                <a:lnTo>
                  <a:pt x="1035862" y="888796"/>
                </a:lnTo>
                <a:lnTo>
                  <a:pt x="1069251" y="913460"/>
                </a:lnTo>
                <a:lnTo>
                  <a:pt x="1089787" y="920838"/>
                </a:lnTo>
                <a:lnTo>
                  <a:pt x="1093343" y="909383"/>
                </a:lnTo>
                <a:lnTo>
                  <a:pt x="1077264" y="902258"/>
                </a:lnTo>
                <a:lnTo>
                  <a:pt x="1063383" y="892340"/>
                </a:lnTo>
                <a:lnTo>
                  <a:pt x="1034948" y="846112"/>
                </a:lnTo>
                <a:lnTo>
                  <a:pt x="1026566" y="803173"/>
                </a:lnTo>
                <a:lnTo>
                  <a:pt x="1025525" y="778256"/>
                </a:lnTo>
                <a:lnTo>
                  <a:pt x="1026566" y="754176"/>
                </a:lnTo>
                <a:lnTo>
                  <a:pt x="1034948" y="712393"/>
                </a:lnTo>
                <a:lnTo>
                  <a:pt x="1063498" y="666889"/>
                </a:lnTo>
                <a:lnTo>
                  <a:pt x="1077531" y="657072"/>
                </a:lnTo>
                <a:lnTo>
                  <a:pt x="1093851" y="649973"/>
                </a:lnTo>
                <a:close/>
              </a:path>
              <a:path w="1941829" h="921385">
                <a:moveTo>
                  <a:pt x="1362202" y="462788"/>
                </a:moveTo>
                <a:lnTo>
                  <a:pt x="1356385" y="412978"/>
                </a:lnTo>
                <a:lnTo>
                  <a:pt x="1338961" y="370967"/>
                </a:lnTo>
                <a:lnTo>
                  <a:pt x="1310551" y="339648"/>
                </a:lnTo>
                <a:lnTo>
                  <a:pt x="1272159" y="321564"/>
                </a:lnTo>
                <a:lnTo>
                  <a:pt x="1268222" y="332994"/>
                </a:lnTo>
                <a:lnTo>
                  <a:pt x="1284528" y="340080"/>
                </a:lnTo>
                <a:lnTo>
                  <a:pt x="1298575" y="349872"/>
                </a:lnTo>
                <a:lnTo>
                  <a:pt x="1327086" y="395427"/>
                </a:lnTo>
                <a:lnTo>
                  <a:pt x="1335392" y="437197"/>
                </a:lnTo>
                <a:lnTo>
                  <a:pt x="1336421" y="461264"/>
                </a:lnTo>
                <a:lnTo>
                  <a:pt x="1335366" y="486181"/>
                </a:lnTo>
                <a:lnTo>
                  <a:pt x="1327035" y="529120"/>
                </a:lnTo>
                <a:lnTo>
                  <a:pt x="1298613" y="575348"/>
                </a:lnTo>
                <a:lnTo>
                  <a:pt x="1268603" y="592391"/>
                </a:lnTo>
                <a:lnTo>
                  <a:pt x="1272159" y="603846"/>
                </a:lnTo>
                <a:lnTo>
                  <a:pt x="1310652" y="585787"/>
                </a:lnTo>
                <a:lnTo>
                  <a:pt x="1338961" y="554507"/>
                </a:lnTo>
                <a:lnTo>
                  <a:pt x="1356385" y="512648"/>
                </a:lnTo>
                <a:lnTo>
                  <a:pt x="1360741" y="488721"/>
                </a:lnTo>
                <a:lnTo>
                  <a:pt x="1362202" y="462788"/>
                </a:lnTo>
                <a:close/>
              </a:path>
              <a:path w="1941829" h="921385">
                <a:moveTo>
                  <a:pt x="1913890" y="141224"/>
                </a:moveTo>
                <a:lnTo>
                  <a:pt x="1908073" y="91414"/>
                </a:lnTo>
                <a:lnTo>
                  <a:pt x="1890649" y="49403"/>
                </a:lnTo>
                <a:lnTo>
                  <a:pt x="1862239" y="18084"/>
                </a:lnTo>
                <a:lnTo>
                  <a:pt x="1823847" y="0"/>
                </a:lnTo>
                <a:lnTo>
                  <a:pt x="1819910" y="11430"/>
                </a:lnTo>
                <a:lnTo>
                  <a:pt x="1836216" y="18516"/>
                </a:lnTo>
                <a:lnTo>
                  <a:pt x="1850263" y="28308"/>
                </a:lnTo>
                <a:lnTo>
                  <a:pt x="1878774" y="73863"/>
                </a:lnTo>
                <a:lnTo>
                  <a:pt x="1887080" y="115633"/>
                </a:lnTo>
                <a:lnTo>
                  <a:pt x="1888109" y="139700"/>
                </a:lnTo>
                <a:lnTo>
                  <a:pt x="1887054" y="164592"/>
                </a:lnTo>
                <a:lnTo>
                  <a:pt x="1878723" y="207530"/>
                </a:lnTo>
                <a:lnTo>
                  <a:pt x="1850301" y="253784"/>
                </a:lnTo>
                <a:lnTo>
                  <a:pt x="1820291" y="270764"/>
                </a:lnTo>
                <a:lnTo>
                  <a:pt x="1823847" y="282321"/>
                </a:lnTo>
                <a:lnTo>
                  <a:pt x="1862340" y="264248"/>
                </a:lnTo>
                <a:lnTo>
                  <a:pt x="1890649" y="232918"/>
                </a:lnTo>
                <a:lnTo>
                  <a:pt x="1908073" y="191071"/>
                </a:lnTo>
                <a:lnTo>
                  <a:pt x="1912429" y="167170"/>
                </a:lnTo>
                <a:lnTo>
                  <a:pt x="1913890" y="141224"/>
                </a:lnTo>
                <a:close/>
              </a:path>
              <a:path w="1941829" h="921385">
                <a:moveTo>
                  <a:pt x="1941322" y="779741"/>
                </a:moveTo>
                <a:lnTo>
                  <a:pt x="1935505" y="729957"/>
                </a:lnTo>
                <a:lnTo>
                  <a:pt x="1918081" y="687997"/>
                </a:lnTo>
                <a:lnTo>
                  <a:pt x="1889671" y="656615"/>
                </a:lnTo>
                <a:lnTo>
                  <a:pt x="1851279" y="638505"/>
                </a:lnTo>
                <a:lnTo>
                  <a:pt x="1847342" y="649973"/>
                </a:lnTo>
                <a:lnTo>
                  <a:pt x="1863648" y="657072"/>
                </a:lnTo>
                <a:lnTo>
                  <a:pt x="1877695" y="666889"/>
                </a:lnTo>
                <a:lnTo>
                  <a:pt x="1906206" y="712393"/>
                </a:lnTo>
                <a:lnTo>
                  <a:pt x="1914512" y="754176"/>
                </a:lnTo>
                <a:lnTo>
                  <a:pt x="1915541" y="778256"/>
                </a:lnTo>
                <a:lnTo>
                  <a:pt x="1914486" y="803173"/>
                </a:lnTo>
                <a:lnTo>
                  <a:pt x="1906155" y="846112"/>
                </a:lnTo>
                <a:lnTo>
                  <a:pt x="1877733" y="892340"/>
                </a:lnTo>
                <a:lnTo>
                  <a:pt x="1847723" y="909383"/>
                </a:lnTo>
                <a:lnTo>
                  <a:pt x="1851279" y="920838"/>
                </a:lnTo>
                <a:lnTo>
                  <a:pt x="1889772" y="902779"/>
                </a:lnTo>
                <a:lnTo>
                  <a:pt x="1918081" y="871499"/>
                </a:lnTo>
                <a:lnTo>
                  <a:pt x="1935505" y="829627"/>
                </a:lnTo>
                <a:lnTo>
                  <a:pt x="1939861" y="805688"/>
                </a:lnTo>
                <a:lnTo>
                  <a:pt x="1941322" y="7797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82616" y="5428234"/>
            <a:ext cx="370205" cy="282575"/>
          </a:xfrm>
          <a:custGeom>
            <a:avLst/>
            <a:gdLst/>
            <a:ahLst/>
            <a:cxnLst/>
            <a:rect l="l" t="t" r="r" b="b"/>
            <a:pathLst>
              <a:path w="370204" h="282575">
                <a:moveTo>
                  <a:pt x="280035" y="0"/>
                </a:moveTo>
                <a:lnTo>
                  <a:pt x="276098" y="11429"/>
                </a:lnTo>
                <a:lnTo>
                  <a:pt x="292405" y="18504"/>
                </a:lnTo>
                <a:lnTo>
                  <a:pt x="306450" y="28305"/>
                </a:lnTo>
                <a:lnTo>
                  <a:pt x="334974" y="73852"/>
                </a:lnTo>
                <a:lnTo>
                  <a:pt x="343269" y="115623"/>
                </a:lnTo>
                <a:lnTo>
                  <a:pt x="344297" y="139699"/>
                </a:lnTo>
                <a:lnTo>
                  <a:pt x="343251" y="164605"/>
                </a:lnTo>
                <a:lnTo>
                  <a:pt x="334920" y="207544"/>
                </a:lnTo>
                <a:lnTo>
                  <a:pt x="306498" y="253779"/>
                </a:lnTo>
                <a:lnTo>
                  <a:pt x="276479" y="270827"/>
                </a:lnTo>
                <a:lnTo>
                  <a:pt x="280035" y="282282"/>
                </a:lnTo>
                <a:lnTo>
                  <a:pt x="318531" y="264213"/>
                </a:lnTo>
                <a:lnTo>
                  <a:pt x="346837" y="232943"/>
                </a:lnTo>
                <a:lnTo>
                  <a:pt x="364267" y="191074"/>
                </a:lnTo>
                <a:lnTo>
                  <a:pt x="370078" y="141223"/>
                </a:lnTo>
                <a:lnTo>
                  <a:pt x="368625" y="115339"/>
                </a:lnTo>
                <a:lnTo>
                  <a:pt x="357004" y="69429"/>
                </a:lnTo>
                <a:lnTo>
                  <a:pt x="333881" y="32093"/>
                </a:lnTo>
                <a:lnTo>
                  <a:pt x="300491" y="7379"/>
                </a:lnTo>
                <a:lnTo>
                  <a:pt x="280035" y="0"/>
                </a:lnTo>
                <a:close/>
              </a:path>
              <a:path w="370204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3"/>
                </a:lnTo>
                <a:lnTo>
                  <a:pt x="1452" y="167145"/>
                </a:lnTo>
                <a:lnTo>
                  <a:pt x="13073" y="213007"/>
                </a:lnTo>
                <a:lnTo>
                  <a:pt x="36125" y="250228"/>
                </a:lnTo>
                <a:lnTo>
                  <a:pt x="69514" y="274898"/>
                </a:lnTo>
                <a:lnTo>
                  <a:pt x="90043" y="282282"/>
                </a:lnTo>
                <a:lnTo>
                  <a:pt x="93599" y="270827"/>
                </a:lnTo>
                <a:lnTo>
                  <a:pt x="77531" y="263698"/>
                </a:lnTo>
                <a:lnTo>
                  <a:pt x="63642" y="253779"/>
                </a:lnTo>
                <a:lnTo>
                  <a:pt x="35210" y="207544"/>
                </a:lnTo>
                <a:lnTo>
                  <a:pt x="26828" y="164605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939" y="1793189"/>
            <a:ext cx="4679315" cy="42545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4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Can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include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equality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primitive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predicate</a:t>
            </a:r>
            <a:r>
              <a:rPr sz="2800" spc="-5" dirty="0">
                <a:latin typeface="Calibri"/>
                <a:cs typeface="Calibri"/>
              </a:rPr>
              <a:t> in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logic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introduces 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axiomitized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identity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relation</a:t>
            </a:r>
            <a:endParaRPr sz="2800">
              <a:latin typeface="Calibri"/>
              <a:cs typeface="Calibri"/>
            </a:endParaRPr>
          </a:p>
          <a:p>
            <a:pPr marL="241300" marR="156845" indent="-228600">
              <a:lnSpc>
                <a:spcPts val="3020"/>
              </a:lnSpc>
              <a:spcBef>
                <a:spcPts val="105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Useful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representing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certain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types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knowledge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ts val="2760"/>
              </a:lnSpc>
              <a:spcBef>
                <a:spcPts val="19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Example: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owns</a:t>
            </a:r>
            <a:r>
              <a:rPr sz="2400" spc="-10" dirty="0">
                <a:latin typeface="Calibri"/>
                <a:cs typeface="Calibri"/>
              </a:rPr>
              <a:t> two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cars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585"/>
              </a:lnSpc>
              <a:tabLst>
                <a:tab pos="2478405" algn="l"/>
              </a:tabLst>
            </a:pPr>
            <a:r>
              <a:rPr sz="2400" spc="5" dirty="0">
                <a:latin typeface="Cambria Math"/>
                <a:cs typeface="Cambria Math"/>
              </a:rPr>
              <a:t>∃</a:t>
            </a:r>
            <a:r>
              <a:rPr sz="2400" spc="65" dirty="0">
                <a:latin typeface="Cambria Math"/>
                <a:cs typeface="Cambria Math"/>
              </a:rPr>
              <a:t>𝑥</a:t>
            </a:r>
            <a:r>
              <a:rPr sz="2400" spc="5" dirty="0">
                <a:latin typeface="Cambria Math"/>
                <a:cs typeface="Cambria Math"/>
              </a:rPr>
              <a:t>∃</a:t>
            </a:r>
            <a:r>
              <a:rPr sz="2400" spc="35" dirty="0">
                <a:latin typeface="Cambria Math"/>
                <a:cs typeface="Cambria Math"/>
              </a:rPr>
              <a:t>𝑦</a:t>
            </a:r>
            <a:r>
              <a:rPr sz="2400" spc="-5" dirty="0">
                <a:latin typeface="Cambria Math"/>
                <a:cs typeface="Cambria Math"/>
              </a:rPr>
              <a:t>(𝑂𝑤𝑛</a:t>
            </a:r>
            <a:r>
              <a:rPr sz="2400" dirty="0">
                <a:latin typeface="Cambria Math"/>
                <a:cs typeface="Cambria Math"/>
              </a:rPr>
              <a:t>𝑠	</a:t>
            </a:r>
            <a:r>
              <a:rPr sz="2400" spc="-5" dirty="0">
                <a:latin typeface="Cambria Math"/>
                <a:cs typeface="Cambria Math"/>
              </a:rPr>
              <a:t>𝑆𝑖𝑡</a:t>
            </a:r>
            <a:r>
              <a:rPr sz="2400" spc="70" dirty="0">
                <a:latin typeface="Cambria Math"/>
                <a:cs typeface="Cambria Math"/>
              </a:rPr>
              <a:t>𝑎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endParaRPr sz="2400">
              <a:latin typeface="Cambria Math"/>
              <a:cs typeface="Cambria Math"/>
            </a:endParaRPr>
          </a:p>
          <a:p>
            <a:pPr marL="698500">
              <a:lnSpc>
                <a:spcPts val="2515"/>
              </a:lnSpc>
              <a:tabLst>
                <a:tab pos="1922145" algn="l"/>
                <a:tab pos="2960370" algn="l"/>
                <a:tab pos="3865879" algn="l"/>
              </a:tabLst>
            </a:pPr>
            <a:r>
              <a:rPr sz="2400" dirty="0">
                <a:latin typeface="Cambria Math"/>
                <a:cs typeface="Cambria Math"/>
              </a:rPr>
              <a:t>∩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𝑂𝑤𝑛𝑠	</a:t>
            </a:r>
            <a:r>
              <a:rPr sz="2400" spc="10" dirty="0">
                <a:latin typeface="Cambria Math"/>
                <a:cs typeface="Cambria Math"/>
              </a:rPr>
              <a:t>𝑆𝑖𝑡𝑎,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𝑦	∩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𝐶𝑎𝑟	</a:t>
            </a:r>
            <a:r>
              <a:rPr sz="2400" dirty="0">
                <a:latin typeface="Cambria Math"/>
                <a:cs typeface="Cambria Math"/>
              </a:rPr>
              <a:t>𝑥</a:t>
            </a:r>
            <a:endParaRPr sz="2400">
              <a:latin typeface="Cambria Math"/>
              <a:cs typeface="Cambria Math"/>
            </a:endParaRPr>
          </a:p>
          <a:p>
            <a:pPr marL="698500">
              <a:lnSpc>
                <a:spcPts val="2690"/>
              </a:lnSpc>
              <a:tabLst>
                <a:tab pos="1603375" algn="l"/>
                <a:tab pos="1974214" algn="l"/>
                <a:tab pos="3472179" algn="l"/>
              </a:tabLst>
            </a:pPr>
            <a:r>
              <a:rPr sz="2400" dirty="0">
                <a:latin typeface="Cambria Math"/>
                <a:cs typeface="Cambria Math"/>
              </a:rPr>
              <a:t>∩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𝐶𝑎𝑟	</a:t>
            </a:r>
            <a:r>
              <a:rPr sz="2400" dirty="0">
                <a:latin typeface="Cambria Math"/>
                <a:cs typeface="Cambria Math"/>
              </a:rPr>
              <a:t>𝑦	∩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¬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400" spc="1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𝑦	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1828" y="1756565"/>
            <a:ext cx="4960620" cy="19380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60" dirty="0">
                <a:latin typeface="Calibri"/>
                <a:cs typeface="Calibri"/>
              </a:rPr>
              <a:t>Try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these:</a:t>
            </a:r>
            <a:endParaRPr sz="2800">
              <a:latin typeface="Calibri"/>
              <a:cs typeface="Calibri"/>
            </a:endParaRPr>
          </a:p>
          <a:p>
            <a:pPr marL="698500" marR="721995" lvl="1" indent="-228600">
              <a:lnSpc>
                <a:spcPts val="2590"/>
              </a:lnSpc>
              <a:spcBef>
                <a:spcPts val="575"/>
              </a:spcBef>
              <a:buFont typeface="Tahoma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There </a:t>
            </a:r>
            <a:r>
              <a:rPr sz="2400" spc="-15" dirty="0">
                <a:latin typeface="Calibri"/>
                <a:cs typeface="Calibri"/>
              </a:rPr>
              <a:t>are exactly </a:t>
            </a:r>
            <a:r>
              <a:rPr sz="2400" spc="-10" dirty="0">
                <a:latin typeface="Calibri"/>
                <a:cs typeface="Calibri"/>
              </a:rPr>
              <a:t>two </a:t>
            </a:r>
            <a:r>
              <a:rPr sz="2400" spc="-5" dirty="0">
                <a:latin typeface="Calibri"/>
                <a:cs typeface="Calibri"/>
              </a:rPr>
              <a:t>purple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flowers</a:t>
            </a:r>
            <a:r>
              <a:rPr sz="2400" spc="-10" dirty="0">
                <a:latin typeface="Calibri"/>
                <a:cs typeface="Calibri"/>
              </a:rPr>
              <a:t> out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three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ts val="2735"/>
              </a:lnSpc>
              <a:spcBef>
                <a:spcPts val="180"/>
              </a:spcBef>
              <a:buFont typeface="Tahoma"/>
              <a:buChar char="•"/>
              <a:tabLst>
                <a:tab pos="698500" algn="l"/>
              </a:tabLst>
            </a:pPr>
            <a:r>
              <a:rPr sz="2400" spc="-15" dirty="0">
                <a:latin typeface="Calibri"/>
                <a:cs typeface="Calibri"/>
              </a:rPr>
              <a:t>Everyone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married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exactly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spc="-10" dirty="0">
                <a:latin typeface="Calibri"/>
                <a:cs typeface="Calibri"/>
              </a:rPr>
              <a:t>person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29990" y="2669285"/>
            <a:ext cx="432434" cy="328930"/>
          </a:xfrm>
          <a:custGeom>
            <a:avLst/>
            <a:gdLst/>
            <a:ahLst/>
            <a:cxnLst/>
            <a:rect l="l" t="t" r="r" b="b"/>
            <a:pathLst>
              <a:path w="432435" h="328930">
                <a:moveTo>
                  <a:pt x="327533" y="0"/>
                </a:moveTo>
                <a:lnTo>
                  <a:pt x="322834" y="13335"/>
                </a:lnTo>
                <a:lnTo>
                  <a:pt x="341884" y="21597"/>
                </a:lnTo>
                <a:lnTo>
                  <a:pt x="358267" y="33051"/>
                </a:lnTo>
                <a:lnTo>
                  <a:pt x="383032" y="65531"/>
                </a:lnTo>
                <a:lnTo>
                  <a:pt x="397605" y="109219"/>
                </a:lnTo>
                <a:lnTo>
                  <a:pt x="402463" y="162813"/>
                </a:lnTo>
                <a:lnTo>
                  <a:pt x="401228" y="191845"/>
                </a:lnTo>
                <a:lnTo>
                  <a:pt x="391425" y="241859"/>
                </a:lnTo>
                <a:lnTo>
                  <a:pt x="371883" y="280965"/>
                </a:lnTo>
                <a:lnTo>
                  <a:pt x="342078" y="307306"/>
                </a:lnTo>
                <a:lnTo>
                  <a:pt x="323342" y="315594"/>
                </a:lnTo>
                <a:lnTo>
                  <a:pt x="327533" y="328929"/>
                </a:lnTo>
                <a:lnTo>
                  <a:pt x="372363" y="307895"/>
                </a:lnTo>
                <a:lnTo>
                  <a:pt x="405384" y="271525"/>
                </a:lnTo>
                <a:lnTo>
                  <a:pt x="425672" y="222678"/>
                </a:lnTo>
                <a:lnTo>
                  <a:pt x="432435" y="164591"/>
                </a:lnTo>
                <a:lnTo>
                  <a:pt x="430724" y="134417"/>
                </a:lnTo>
                <a:lnTo>
                  <a:pt x="417111" y="80974"/>
                </a:lnTo>
                <a:lnTo>
                  <a:pt x="390255" y="37468"/>
                </a:lnTo>
                <a:lnTo>
                  <a:pt x="351393" y="8616"/>
                </a:lnTo>
                <a:lnTo>
                  <a:pt x="327533" y="0"/>
                </a:lnTo>
                <a:close/>
              </a:path>
              <a:path w="432435" h="328930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3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29"/>
                </a:lnTo>
                <a:lnTo>
                  <a:pt x="108965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89"/>
                </a:lnTo>
                <a:lnTo>
                  <a:pt x="34845" y="218186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237738" y="3045714"/>
            <a:ext cx="437515" cy="328930"/>
          </a:xfrm>
          <a:custGeom>
            <a:avLst/>
            <a:gdLst/>
            <a:ahLst/>
            <a:cxnLst/>
            <a:rect l="l" t="t" r="r" b="b"/>
            <a:pathLst>
              <a:path w="437514" h="328929">
                <a:moveTo>
                  <a:pt x="332104" y="0"/>
                </a:moveTo>
                <a:lnTo>
                  <a:pt x="327406" y="13335"/>
                </a:lnTo>
                <a:lnTo>
                  <a:pt x="346456" y="21597"/>
                </a:lnTo>
                <a:lnTo>
                  <a:pt x="362838" y="33051"/>
                </a:lnTo>
                <a:lnTo>
                  <a:pt x="387603" y="65532"/>
                </a:lnTo>
                <a:lnTo>
                  <a:pt x="402177" y="109219"/>
                </a:lnTo>
                <a:lnTo>
                  <a:pt x="407035" y="162813"/>
                </a:lnTo>
                <a:lnTo>
                  <a:pt x="405800" y="191845"/>
                </a:lnTo>
                <a:lnTo>
                  <a:pt x="395997" y="241859"/>
                </a:lnTo>
                <a:lnTo>
                  <a:pt x="376455" y="280965"/>
                </a:lnTo>
                <a:lnTo>
                  <a:pt x="346650" y="307306"/>
                </a:lnTo>
                <a:lnTo>
                  <a:pt x="327913" y="315595"/>
                </a:lnTo>
                <a:lnTo>
                  <a:pt x="332104" y="328930"/>
                </a:lnTo>
                <a:lnTo>
                  <a:pt x="376936" y="307895"/>
                </a:lnTo>
                <a:lnTo>
                  <a:pt x="409956" y="271525"/>
                </a:lnTo>
                <a:lnTo>
                  <a:pt x="430244" y="222678"/>
                </a:lnTo>
                <a:lnTo>
                  <a:pt x="437007" y="164591"/>
                </a:lnTo>
                <a:lnTo>
                  <a:pt x="435296" y="134417"/>
                </a:lnTo>
                <a:lnTo>
                  <a:pt x="421683" y="80974"/>
                </a:lnTo>
                <a:lnTo>
                  <a:pt x="394827" y="37468"/>
                </a:lnTo>
                <a:lnTo>
                  <a:pt x="355965" y="8616"/>
                </a:lnTo>
                <a:lnTo>
                  <a:pt x="332104" y="0"/>
                </a:lnTo>
                <a:close/>
              </a:path>
              <a:path w="437514" h="328929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3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30"/>
                </a:lnTo>
                <a:lnTo>
                  <a:pt x="108965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89"/>
                </a:lnTo>
                <a:lnTo>
                  <a:pt x="34845" y="218186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29605" y="3045714"/>
            <a:ext cx="432434" cy="328930"/>
          </a:xfrm>
          <a:custGeom>
            <a:avLst/>
            <a:gdLst/>
            <a:ahLst/>
            <a:cxnLst/>
            <a:rect l="l" t="t" r="r" b="b"/>
            <a:pathLst>
              <a:path w="432435" h="328929">
                <a:moveTo>
                  <a:pt x="327533" y="0"/>
                </a:moveTo>
                <a:lnTo>
                  <a:pt x="322834" y="13335"/>
                </a:lnTo>
                <a:lnTo>
                  <a:pt x="341884" y="21597"/>
                </a:lnTo>
                <a:lnTo>
                  <a:pt x="358267" y="33051"/>
                </a:lnTo>
                <a:lnTo>
                  <a:pt x="383032" y="65532"/>
                </a:lnTo>
                <a:lnTo>
                  <a:pt x="397605" y="109219"/>
                </a:lnTo>
                <a:lnTo>
                  <a:pt x="402463" y="162813"/>
                </a:lnTo>
                <a:lnTo>
                  <a:pt x="401228" y="191845"/>
                </a:lnTo>
                <a:lnTo>
                  <a:pt x="391425" y="241859"/>
                </a:lnTo>
                <a:lnTo>
                  <a:pt x="371883" y="280965"/>
                </a:lnTo>
                <a:lnTo>
                  <a:pt x="342078" y="307306"/>
                </a:lnTo>
                <a:lnTo>
                  <a:pt x="323342" y="315595"/>
                </a:lnTo>
                <a:lnTo>
                  <a:pt x="327533" y="328930"/>
                </a:lnTo>
                <a:lnTo>
                  <a:pt x="372363" y="307895"/>
                </a:lnTo>
                <a:lnTo>
                  <a:pt x="405384" y="271525"/>
                </a:lnTo>
                <a:lnTo>
                  <a:pt x="425672" y="222678"/>
                </a:lnTo>
                <a:lnTo>
                  <a:pt x="432435" y="164591"/>
                </a:lnTo>
                <a:lnTo>
                  <a:pt x="430724" y="134417"/>
                </a:lnTo>
                <a:lnTo>
                  <a:pt x="417111" y="80974"/>
                </a:lnTo>
                <a:lnTo>
                  <a:pt x="390255" y="37468"/>
                </a:lnTo>
                <a:lnTo>
                  <a:pt x="351393" y="8616"/>
                </a:lnTo>
                <a:lnTo>
                  <a:pt x="327533" y="0"/>
                </a:lnTo>
                <a:close/>
              </a:path>
              <a:path w="432435" h="328929">
                <a:moveTo>
                  <a:pt x="104902" y="0"/>
                </a:moveTo>
                <a:lnTo>
                  <a:pt x="60118" y="21113"/>
                </a:lnTo>
                <a:lnTo>
                  <a:pt x="27051" y="57658"/>
                </a:lnTo>
                <a:lnTo>
                  <a:pt x="6762" y="106553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2" y="328930"/>
                </a:lnTo>
                <a:lnTo>
                  <a:pt x="108966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89"/>
                </a:lnTo>
                <a:lnTo>
                  <a:pt x="34845" y="218186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1" y="13335"/>
                </a:lnTo>
                <a:lnTo>
                  <a:pt x="1049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08326" y="3420617"/>
            <a:ext cx="437515" cy="328930"/>
          </a:xfrm>
          <a:custGeom>
            <a:avLst/>
            <a:gdLst/>
            <a:ahLst/>
            <a:cxnLst/>
            <a:rect l="l" t="t" r="r" b="b"/>
            <a:pathLst>
              <a:path w="437514" h="328929">
                <a:moveTo>
                  <a:pt x="332105" y="0"/>
                </a:moveTo>
                <a:lnTo>
                  <a:pt x="327406" y="13335"/>
                </a:lnTo>
                <a:lnTo>
                  <a:pt x="346456" y="21597"/>
                </a:lnTo>
                <a:lnTo>
                  <a:pt x="362838" y="33051"/>
                </a:lnTo>
                <a:lnTo>
                  <a:pt x="387604" y="65532"/>
                </a:lnTo>
                <a:lnTo>
                  <a:pt x="402177" y="109220"/>
                </a:lnTo>
                <a:lnTo>
                  <a:pt x="407035" y="162814"/>
                </a:lnTo>
                <a:lnTo>
                  <a:pt x="405800" y="191845"/>
                </a:lnTo>
                <a:lnTo>
                  <a:pt x="395997" y="241859"/>
                </a:lnTo>
                <a:lnTo>
                  <a:pt x="376455" y="280965"/>
                </a:lnTo>
                <a:lnTo>
                  <a:pt x="346650" y="307306"/>
                </a:lnTo>
                <a:lnTo>
                  <a:pt x="327913" y="315595"/>
                </a:lnTo>
                <a:lnTo>
                  <a:pt x="332105" y="328930"/>
                </a:lnTo>
                <a:lnTo>
                  <a:pt x="376936" y="307895"/>
                </a:lnTo>
                <a:lnTo>
                  <a:pt x="409956" y="271526"/>
                </a:lnTo>
                <a:lnTo>
                  <a:pt x="430244" y="222678"/>
                </a:lnTo>
                <a:lnTo>
                  <a:pt x="437006" y="164592"/>
                </a:lnTo>
                <a:lnTo>
                  <a:pt x="435296" y="134417"/>
                </a:lnTo>
                <a:lnTo>
                  <a:pt x="421683" y="80974"/>
                </a:lnTo>
                <a:lnTo>
                  <a:pt x="394827" y="37468"/>
                </a:lnTo>
                <a:lnTo>
                  <a:pt x="355965" y="8616"/>
                </a:lnTo>
                <a:lnTo>
                  <a:pt x="332105" y="0"/>
                </a:lnTo>
                <a:close/>
              </a:path>
              <a:path w="437514" h="328929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2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30"/>
                </a:lnTo>
                <a:lnTo>
                  <a:pt x="108966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90"/>
                </a:lnTo>
                <a:lnTo>
                  <a:pt x="34845" y="218186"/>
                </a:lnTo>
                <a:lnTo>
                  <a:pt x="29972" y="162814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74185" y="3420617"/>
            <a:ext cx="1098550" cy="328930"/>
          </a:xfrm>
          <a:custGeom>
            <a:avLst/>
            <a:gdLst/>
            <a:ahLst/>
            <a:cxnLst/>
            <a:rect l="l" t="t" r="r" b="b"/>
            <a:pathLst>
              <a:path w="1098550" h="328929">
                <a:moveTo>
                  <a:pt x="993521" y="0"/>
                </a:moveTo>
                <a:lnTo>
                  <a:pt x="988822" y="13335"/>
                </a:lnTo>
                <a:lnTo>
                  <a:pt x="1007872" y="21597"/>
                </a:lnTo>
                <a:lnTo>
                  <a:pt x="1024254" y="33051"/>
                </a:lnTo>
                <a:lnTo>
                  <a:pt x="1049019" y="65532"/>
                </a:lnTo>
                <a:lnTo>
                  <a:pt x="1063593" y="109220"/>
                </a:lnTo>
                <a:lnTo>
                  <a:pt x="1068451" y="162814"/>
                </a:lnTo>
                <a:lnTo>
                  <a:pt x="1067216" y="191845"/>
                </a:lnTo>
                <a:lnTo>
                  <a:pt x="1057413" y="241859"/>
                </a:lnTo>
                <a:lnTo>
                  <a:pt x="1037871" y="280965"/>
                </a:lnTo>
                <a:lnTo>
                  <a:pt x="1008066" y="307306"/>
                </a:lnTo>
                <a:lnTo>
                  <a:pt x="989329" y="315595"/>
                </a:lnTo>
                <a:lnTo>
                  <a:pt x="993521" y="328930"/>
                </a:lnTo>
                <a:lnTo>
                  <a:pt x="1038351" y="307895"/>
                </a:lnTo>
                <a:lnTo>
                  <a:pt x="1071372" y="271526"/>
                </a:lnTo>
                <a:lnTo>
                  <a:pt x="1091660" y="222678"/>
                </a:lnTo>
                <a:lnTo>
                  <a:pt x="1098423" y="164592"/>
                </a:lnTo>
                <a:lnTo>
                  <a:pt x="1096712" y="134417"/>
                </a:lnTo>
                <a:lnTo>
                  <a:pt x="1083099" y="80974"/>
                </a:lnTo>
                <a:lnTo>
                  <a:pt x="1056243" y="37468"/>
                </a:lnTo>
                <a:lnTo>
                  <a:pt x="1017381" y="8616"/>
                </a:lnTo>
                <a:lnTo>
                  <a:pt x="993521" y="0"/>
                </a:lnTo>
                <a:close/>
              </a:path>
              <a:path w="1098550" h="328929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2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30"/>
                </a:lnTo>
                <a:lnTo>
                  <a:pt x="108965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90"/>
                </a:lnTo>
                <a:lnTo>
                  <a:pt x="34845" y="218186"/>
                </a:lnTo>
                <a:lnTo>
                  <a:pt x="29972" y="162814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86378" y="3795521"/>
            <a:ext cx="411480" cy="328930"/>
          </a:xfrm>
          <a:custGeom>
            <a:avLst/>
            <a:gdLst/>
            <a:ahLst/>
            <a:cxnLst/>
            <a:rect l="l" t="t" r="r" b="b"/>
            <a:pathLst>
              <a:path w="411479" h="328929">
                <a:moveTo>
                  <a:pt x="306197" y="0"/>
                </a:moveTo>
                <a:lnTo>
                  <a:pt x="301498" y="13334"/>
                </a:lnTo>
                <a:lnTo>
                  <a:pt x="320548" y="21597"/>
                </a:lnTo>
                <a:lnTo>
                  <a:pt x="336931" y="33051"/>
                </a:lnTo>
                <a:lnTo>
                  <a:pt x="361696" y="65531"/>
                </a:lnTo>
                <a:lnTo>
                  <a:pt x="376269" y="109219"/>
                </a:lnTo>
                <a:lnTo>
                  <a:pt x="381126" y="162813"/>
                </a:lnTo>
                <a:lnTo>
                  <a:pt x="379892" y="191845"/>
                </a:lnTo>
                <a:lnTo>
                  <a:pt x="370089" y="241859"/>
                </a:lnTo>
                <a:lnTo>
                  <a:pt x="350547" y="280965"/>
                </a:lnTo>
                <a:lnTo>
                  <a:pt x="320742" y="307306"/>
                </a:lnTo>
                <a:lnTo>
                  <a:pt x="302006" y="315594"/>
                </a:lnTo>
                <a:lnTo>
                  <a:pt x="306197" y="328929"/>
                </a:lnTo>
                <a:lnTo>
                  <a:pt x="351027" y="307895"/>
                </a:lnTo>
                <a:lnTo>
                  <a:pt x="384048" y="271525"/>
                </a:lnTo>
                <a:lnTo>
                  <a:pt x="404336" y="222678"/>
                </a:lnTo>
                <a:lnTo>
                  <a:pt x="411099" y="164591"/>
                </a:lnTo>
                <a:lnTo>
                  <a:pt x="409388" y="134417"/>
                </a:lnTo>
                <a:lnTo>
                  <a:pt x="395775" y="80974"/>
                </a:lnTo>
                <a:lnTo>
                  <a:pt x="368919" y="37468"/>
                </a:lnTo>
                <a:lnTo>
                  <a:pt x="330057" y="8616"/>
                </a:lnTo>
                <a:lnTo>
                  <a:pt x="306197" y="0"/>
                </a:lnTo>
                <a:close/>
              </a:path>
              <a:path w="411479" h="328929">
                <a:moveTo>
                  <a:pt x="104901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2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29"/>
                </a:lnTo>
                <a:lnTo>
                  <a:pt x="108966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89"/>
                </a:lnTo>
                <a:lnTo>
                  <a:pt x="34845" y="218185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2486" y="4170426"/>
            <a:ext cx="2933700" cy="782955"/>
          </a:xfrm>
          <a:custGeom>
            <a:avLst/>
            <a:gdLst/>
            <a:ahLst/>
            <a:cxnLst/>
            <a:rect l="l" t="t" r="r" b="b"/>
            <a:pathLst>
              <a:path w="2933700" h="782954">
                <a:moveTo>
                  <a:pt x="116967" y="367919"/>
                </a:moveTo>
                <a:lnTo>
                  <a:pt x="112649" y="353822"/>
                </a:lnTo>
                <a:lnTo>
                  <a:pt x="87134" y="363728"/>
                </a:lnTo>
                <a:lnTo>
                  <a:pt x="64731" y="379323"/>
                </a:lnTo>
                <a:lnTo>
                  <a:pt x="29197" y="427482"/>
                </a:lnTo>
                <a:lnTo>
                  <a:pt x="7315" y="492366"/>
                </a:lnTo>
                <a:lnTo>
                  <a:pt x="0" y="568198"/>
                </a:lnTo>
                <a:lnTo>
                  <a:pt x="1828" y="607517"/>
                </a:lnTo>
                <a:lnTo>
                  <a:pt x="16446" y="677951"/>
                </a:lnTo>
                <a:lnTo>
                  <a:pt x="45415" y="735939"/>
                </a:lnTo>
                <a:lnTo>
                  <a:pt x="87134" y="772756"/>
                </a:lnTo>
                <a:lnTo>
                  <a:pt x="112649" y="782701"/>
                </a:lnTo>
                <a:lnTo>
                  <a:pt x="116967" y="768477"/>
                </a:lnTo>
                <a:lnTo>
                  <a:pt x="97269" y="758266"/>
                </a:lnTo>
                <a:lnTo>
                  <a:pt x="80111" y="743419"/>
                </a:lnTo>
                <a:lnTo>
                  <a:pt x="53454" y="699770"/>
                </a:lnTo>
                <a:lnTo>
                  <a:pt x="37287" y="640448"/>
                </a:lnTo>
                <a:lnTo>
                  <a:pt x="31877" y="568452"/>
                </a:lnTo>
                <a:lnTo>
                  <a:pt x="33223" y="530733"/>
                </a:lnTo>
                <a:lnTo>
                  <a:pt x="44030" y="464908"/>
                </a:lnTo>
                <a:lnTo>
                  <a:pt x="65506" y="412597"/>
                </a:lnTo>
                <a:lnTo>
                  <a:pt x="97269" y="378167"/>
                </a:lnTo>
                <a:lnTo>
                  <a:pt x="116967" y="367919"/>
                </a:lnTo>
                <a:close/>
              </a:path>
              <a:path w="2933700" h="782954">
                <a:moveTo>
                  <a:pt x="269621" y="417195"/>
                </a:moveTo>
                <a:lnTo>
                  <a:pt x="264922" y="403860"/>
                </a:lnTo>
                <a:lnTo>
                  <a:pt x="241058" y="412483"/>
                </a:lnTo>
                <a:lnTo>
                  <a:pt x="220129" y="424980"/>
                </a:lnTo>
                <a:lnTo>
                  <a:pt x="187071" y="461518"/>
                </a:lnTo>
                <a:lnTo>
                  <a:pt x="166776" y="510413"/>
                </a:lnTo>
                <a:lnTo>
                  <a:pt x="160020" y="568452"/>
                </a:lnTo>
                <a:lnTo>
                  <a:pt x="161709" y="598652"/>
                </a:lnTo>
                <a:lnTo>
                  <a:pt x="175234" y="652132"/>
                </a:lnTo>
                <a:lnTo>
                  <a:pt x="202069" y="695490"/>
                </a:lnTo>
                <a:lnTo>
                  <a:pt x="240982" y="724204"/>
                </a:lnTo>
                <a:lnTo>
                  <a:pt x="264922" y="732790"/>
                </a:lnTo>
                <a:lnTo>
                  <a:pt x="268986" y="719455"/>
                </a:lnTo>
                <a:lnTo>
                  <a:pt x="250266" y="711174"/>
                </a:lnTo>
                <a:lnTo>
                  <a:pt x="234111" y="699630"/>
                </a:lnTo>
                <a:lnTo>
                  <a:pt x="209550" y="666750"/>
                </a:lnTo>
                <a:lnTo>
                  <a:pt x="194856" y="622046"/>
                </a:lnTo>
                <a:lnTo>
                  <a:pt x="189992" y="566674"/>
                </a:lnTo>
                <a:lnTo>
                  <a:pt x="191198" y="538657"/>
                </a:lnTo>
                <a:lnTo>
                  <a:pt x="200964" y="489991"/>
                </a:lnTo>
                <a:lnTo>
                  <a:pt x="220586" y="451561"/>
                </a:lnTo>
                <a:lnTo>
                  <a:pt x="250634" y="425462"/>
                </a:lnTo>
                <a:lnTo>
                  <a:pt x="269621" y="417195"/>
                </a:lnTo>
                <a:close/>
              </a:path>
              <a:path w="2933700" h="782954">
                <a:moveTo>
                  <a:pt x="1115441" y="13335"/>
                </a:moveTo>
                <a:lnTo>
                  <a:pt x="1110742" y="0"/>
                </a:lnTo>
                <a:lnTo>
                  <a:pt x="1086878" y="8623"/>
                </a:lnTo>
                <a:lnTo>
                  <a:pt x="1065949" y="21120"/>
                </a:lnTo>
                <a:lnTo>
                  <a:pt x="1032891" y="57658"/>
                </a:lnTo>
                <a:lnTo>
                  <a:pt x="1012596" y="106553"/>
                </a:lnTo>
                <a:lnTo>
                  <a:pt x="1005840" y="164592"/>
                </a:lnTo>
                <a:lnTo>
                  <a:pt x="1007529" y="194792"/>
                </a:lnTo>
                <a:lnTo>
                  <a:pt x="1021054" y="248272"/>
                </a:lnTo>
                <a:lnTo>
                  <a:pt x="1047889" y="291630"/>
                </a:lnTo>
                <a:lnTo>
                  <a:pt x="1086802" y="320344"/>
                </a:lnTo>
                <a:lnTo>
                  <a:pt x="1110742" y="328930"/>
                </a:lnTo>
                <a:lnTo>
                  <a:pt x="1114806" y="315595"/>
                </a:lnTo>
                <a:lnTo>
                  <a:pt x="1096086" y="307314"/>
                </a:lnTo>
                <a:lnTo>
                  <a:pt x="1079944" y="295770"/>
                </a:lnTo>
                <a:lnTo>
                  <a:pt x="1055370" y="262890"/>
                </a:lnTo>
                <a:lnTo>
                  <a:pt x="1040676" y="218186"/>
                </a:lnTo>
                <a:lnTo>
                  <a:pt x="1035812" y="162814"/>
                </a:lnTo>
                <a:lnTo>
                  <a:pt x="1037018" y="134797"/>
                </a:lnTo>
                <a:lnTo>
                  <a:pt x="1046784" y="86131"/>
                </a:lnTo>
                <a:lnTo>
                  <a:pt x="1066406" y="47701"/>
                </a:lnTo>
                <a:lnTo>
                  <a:pt x="1096454" y="21602"/>
                </a:lnTo>
                <a:lnTo>
                  <a:pt x="1115441" y="13335"/>
                </a:lnTo>
                <a:close/>
              </a:path>
              <a:path w="2933700" h="782954">
                <a:moveTo>
                  <a:pt x="1232535" y="568452"/>
                </a:moveTo>
                <a:lnTo>
                  <a:pt x="1225702" y="510413"/>
                </a:lnTo>
                <a:lnTo>
                  <a:pt x="1205357" y="461518"/>
                </a:lnTo>
                <a:lnTo>
                  <a:pt x="1172400" y="424980"/>
                </a:lnTo>
                <a:lnTo>
                  <a:pt x="1127633" y="403860"/>
                </a:lnTo>
                <a:lnTo>
                  <a:pt x="1122934" y="417195"/>
                </a:lnTo>
                <a:lnTo>
                  <a:pt x="1141984" y="425462"/>
                </a:lnTo>
                <a:lnTo>
                  <a:pt x="1158367" y="436918"/>
                </a:lnTo>
                <a:lnTo>
                  <a:pt x="1183132" y="469392"/>
                </a:lnTo>
                <a:lnTo>
                  <a:pt x="1197698" y="513080"/>
                </a:lnTo>
                <a:lnTo>
                  <a:pt x="1202563" y="566674"/>
                </a:lnTo>
                <a:lnTo>
                  <a:pt x="1201318" y="595706"/>
                </a:lnTo>
                <a:lnTo>
                  <a:pt x="1191514" y="645731"/>
                </a:lnTo>
                <a:lnTo>
                  <a:pt x="1171981" y="684834"/>
                </a:lnTo>
                <a:lnTo>
                  <a:pt x="1142174" y="711174"/>
                </a:lnTo>
                <a:lnTo>
                  <a:pt x="1123442" y="719455"/>
                </a:lnTo>
                <a:lnTo>
                  <a:pt x="1127633" y="732790"/>
                </a:lnTo>
                <a:lnTo>
                  <a:pt x="1172464" y="711758"/>
                </a:lnTo>
                <a:lnTo>
                  <a:pt x="1205484" y="675386"/>
                </a:lnTo>
                <a:lnTo>
                  <a:pt x="1225765" y="626541"/>
                </a:lnTo>
                <a:lnTo>
                  <a:pt x="1230833" y="598652"/>
                </a:lnTo>
                <a:lnTo>
                  <a:pt x="1232535" y="568452"/>
                </a:lnTo>
                <a:close/>
              </a:path>
              <a:path w="2933700" h="782954">
                <a:moveTo>
                  <a:pt x="1416939" y="164592"/>
                </a:moveTo>
                <a:lnTo>
                  <a:pt x="1410106" y="106553"/>
                </a:lnTo>
                <a:lnTo>
                  <a:pt x="1389761" y="57658"/>
                </a:lnTo>
                <a:lnTo>
                  <a:pt x="1356804" y="21120"/>
                </a:lnTo>
                <a:lnTo>
                  <a:pt x="1312037" y="0"/>
                </a:lnTo>
                <a:lnTo>
                  <a:pt x="1307338" y="13335"/>
                </a:lnTo>
                <a:lnTo>
                  <a:pt x="1326388" y="21602"/>
                </a:lnTo>
                <a:lnTo>
                  <a:pt x="1342771" y="33058"/>
                </a:lnTo>
                <a:lnTo>
                  <a:pt x="1367536" y="65532"/>
                </a:lnTo>
                <a:lnTo>
                  <a:pt x="1382102" y="109220"/>
                </a:lnTo>
                <a:lnTo>
                  <a:pt x="1386967" y="162814"/>
                </a:lnTo>
                <a:lnTo>
                  <a:pt x="1385722" y="191846"/>
                </a:lnTo>
                <a:lnTo>
                  <a:pt x="1375918" y="241871"/>
                </a:lnTo>
                <a:lnTo>
                  <a:pt x="1356385" y="280974"/>
                </a:lnTo>
                <a:lnTo>
                  <a:pt x="1326578" y="307314"/>
                </a:lnTo>
                <a:lnTo>
                  <a:pt x="1307846" y="315595"/>
                </a:lnTo>
                <a:lnTo>
                  <a:pt x="1312037" y="328930"/>
                </a:lnTo>
                <a:lnTo>
                  <a:pt x="1356855" y="307898"/>
                </a:lnTo>
                <a:lnTo>
                  <a:pt x="1389888" y="271526"/>
                </a:lnTo>
                <a:lnTo>
                  <a:pt x="1410169" y="222681"/>
                </a:lnTo>
                <a:lnTo>
                  <a:pt x="1415237" y="194792"/>
                </a:lnTo>
                <a:lnTo>
                  <a:pt x="1416939" y="164592"/>
                </a:lnTo>
                <a:close/>
              </a:path>
              <a:path w="2933700" h="782954">
                <a:moveTo>
                  <a:pt x="2933192" y="568198"/>
                </a:moveTo>
                <a:lnTo>
                  <a:pt x="2931350" y="528916"/>
                </a:lnTo>
                <a:lnTo>
                  <a:pt x="2916732" y="458571"/>
                </a:lnTo>
                <a:lnTo>
                  <a:pt x="2887764" y="400583"/>
                </a:lnTo>
                <a:lnTo>
                  <a:pt x="2846044" y="363728"/>
                </a:lnTo>
                <a:lnTo>
                  <a:pt x="2820543" y="353822"/>
                </a:lnTo>
                <a:lnTo>
                  <a:pt x="2816225" y="367919"/>
                </a:lnTo>
                <a:lnTo>
                  <a:pt x="2835910" y="378167"/>
                </a:lnTo>
                <a:lnTo>
                  <a:pt x="2853067" y="393052"/>
                </a:lnTo>
                <a:lnTo>
                  <a:pt x="2879725" y="436753"/>
                </a:lnTo>
                <a:lnTo>
                  <a:pt x="2895892" y="496227"/>
                </a:lnTo>
                <a:lnTo>
                  <a:pt x="2901315" y="568452"/>
                </a:lnTo>
                <a:lnTo>
                  <a:pt x="2899956" y="606031"/>
                </a:lnTo>
                <a:lnTo>
                  <a:pt x="2889148" y="671703"/>
                </a:lnTo>
                <a:lnTo>
                  <a:pt x="2867672" y="723925"/>
                </a:lnTo>
                <a:lnTo>
                  <a:pt x="2835910" y="758266"/>
                </a:lnTo>
                <a:lnTo>
                  <a:pt x="2816225" y="768477"/>
                </a:lnTo>
                <a:lnTo>
                  <a:pt x="2820543" y="782701"/>
                </a:lnTo>
                <a:lnTo>
                  <a:pt x="2868447" y="757161"/>
                </a:lnTo>
                <a:lnTo>
                  <a:pt x="2903982" y="709041"/>
                </a:lnTo>
                <a:lnTo>
                  <a:pt x="2925864" y="644105"/>
                </a:lnTo>
                <a:lnTo>
                  <a:pt x="2931350" y="607517"/>
                </a:lnTo>
                <a:lnTo>
                  <a:pt x="2933192" y="5681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1636" y="4473702"/>
            <a:ext cx="15735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7075" algn="l"/>
              </a:tabLst>
            </a:pPr>
            <a:r>
              <a:rPr sz="2800" spc="-5" dirty="0">
                <a:latin typeface="Cambria Math"/>
                <a:cs typeface="Cambria Math"/>
              </a:rPr>
              <a:t>⇒	𝑥</a:t>
            </a:r>
            <a:r>
              <a:rPr sz="2800" spc="18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=</a:t>
            </a:r>
            <a:r>
              <a:rPr sz="2800" spc="12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𝑧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98697" y="4574285"/>
            <a:ext cx="1077595" cy="328930"/>
          </a:xfrm>
          <a:custGeom>
            <a:avLst/>
            <a:gdLst/>
            <a:ahLst/>
            <a:cxnLst/>
            <a:rect l="l" t="t" r="r" b="b"/>
            <a:pathLst>
              <a:path w="1077595" h="328929">
                <a:moveTo>
                  <a:pt x="972185" y="0"/>
                </a:moveTo>
                <a:lnTo>
                  <a:pt x="967486" y="13334"/>
                </a:lnTo>
                <a:lnTo>
                  <a:pt x="986536" y="21597"/>
                </a:lnTo>
                <a:lnTo>
                  <a:pt x="1002919" y="33051"/>
                </a:lnTo>
                <a:lnTo>
                  <a:pt x="1027684" y="65531"/>
                </a:lnTo>
                <a:lnTo>
                  <a:pt x="1042257" y="109219"/>
                </a:lnTo>
                <a:lnTo>
                  <a:pt x="1047114" y="162813"/>
                </a:lnTo>
                <a:lnTo>
                  <a:pt x="1045880" y="191845"/>
                </a:lnTo>
                <a:lnTo>
                  <a:pt x="1036077" y="241859"/>
                </a:lnTo>
                <a:lnTo>
                  <a:pt x="1016535" y="280965"/>
                </a:lnTo>
                <a:lnTo>
                  <a:pt x="986730" y="307306"/>
                </a:lnTo>
                <a:lnTo>
                  <a:pt x="967993" y="315594"/>
                </a:lnTo>
                <a:lnTo>
                  <a:pt x="972185" y="328930"/>
                </a:lnTo>
                <a:lnTo>
                  <a:pt x="1017015" y="307895"/>
                </a:lnTo>
                <a:lnTo>
                  <a:pt x="1050036" y="271525"/>
                </a:lnTo>
                <a:lnTo>
                  <a:pt x="1070324" y="222678"/>
                </a:lnTo>
                <a:lnTo>
                  <a:pt x="1077087" y="164591"/>
                </a:lnTo>
                <a:lnTo>
                  <a:pt x="1075376" y="134417"/>
                </a:lnTo>
                <a:lnTo>
                  <a:pt x="1061763" y="80974"/>
                </a:lnTo>
                <a:lnTo>
                  <a:pt x="1034907" y="37468"/>
                </a:lnTo>
                <a:lnTo>
                  <a:pt x="996045" y="8616"/>
                </a:lnTo>
                <a:lnTo>
                  <a:pt x="972185" y="0"/>
                </a:lnTo>
                <a:close/>
              </a:path>
              <a:path w="1077595" h="328929">
                <a:moveTo>
                  <a:pt x="104901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2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30"/>
                </a:lnTo>
                <a:lnTo>
                  <a:pt x="108965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89"/>
                </a:lnTo>
                <a:lnTo>
                  <a:pt x="34845" y="218185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31922" y="4473702"/>
            <a:ext cx="179641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3234" algn="l"/>
                <a:tab pos="1635760" algn="l"/>
              </a:tabLst>
            </a:pPr>
            <a:r>
              <a:rPr sz="2800" spc="185" dirty="0">
                <a:latin typeface="Cambria Math"/>
                <a:cs typeface="Cambria Math"/>
              </a:rPr>
              <a:t>𝖴	</a:t>
            </a:r>
            <a:r>
              <a:rPr sz="2800" spc="-5" dirty="0">
                <a:latin typeface="Cambria Math"/>
                <a:cs typeface="Cambria Math"/>
              </a:rPr>
              <a:t>𝑦</a:t>
            </a:r>
            <a:r>
              <a:rPr sz="2800" spc="19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=</a:t>
            </a:r>
            <a:r>
              <a:rPr sz="2800" spc="16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𝑧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" dirty="0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897889" y="762279"/>
          <a:ext cx="10306684" cy="3753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1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4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8444">
                <a:tc>
                  <a:txBody>
                    <a:bodyPr/>
                    <a:lstStyle/>
                    <a:p>
                      <a:pPr marL="31750">
                        <a:lnSpc>
                          <a:spcPts val="4185"/>
                        </a:lnSpc>
                      </a:pPr>
                      <a:r>
                        <a:rPr sz="4400" dirty="0">
                          <a:latin typeface="Calibri Light"/>
                          <a:cs typeface="Calibri Light"/>
                        </a:rPr>
                        <a:t>Solution</a:t>
                      </a:r>
                      <a:endParaRPr sz="4400">
                        <a:latin typeface="Calibri Light"/>
                        <a:cs typeface="Calibri Light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042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1770"/>
                        </a:spcBef>
                        <a:buFont typeface="Tahoma"/>
                        <a:buChar char="•"/>
                        <a:tabLst>
                          <a:tab pos="260350" algn="l"/>
                        </a:tabLst>
                      </a:pPr>
                      <a:r>
                        <a:rPr sz="2800" spc="-15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exactly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two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purple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47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2455" indent="-229235">
                        <a:lnSpc>
                          <a:spcPct val="100000"/>
                        </a:lnSpc>
                        <a:spcBef>
                          <a:spcPts val="1770"/>
                        </a:spcBef>
                        <a:buFont typeface="Tahoma"/>
                        <a:buChar char="•"/>
                        <a:tabLst>
                          <a:tab pos="593090" algn="l"/>
                        </a:tabLst>
                      </a:pPr>
                      <a:r>
                        <a:rPr sz="2800" spc="-20" dirty="0">
                          <a:latin typeface="Calibri"/>
                          <a:cs typeface="Calibri"/>
                        </a:rPr>
                        <a:t>Everyone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married 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exactly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47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133">
                <a:tc>
                  <a:txBody>
                    <a:bodyPr/>
                    <a:lstStyle/>
                    <a:p>
                      <a:pPr marL="260350">
                        <a:lnSpc>
                          <a:spcPts val="2770"/>
                        </a:lnSpc>
                      </a:pPr>
                      <a:r>
                        <a:rPr sz="2800" spc="-20" dirty="0">
                          <a:latin typeface="Calibri"/>
                          <a:cs typeface="Calibri"/>
                        </a:rPr>
                        <a:t>flowers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out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 three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2455">
                        <a:lnSpc>
                          <a:spcPts val="2770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one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person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171">
                <a:tc>
                  <a:txBody>
                    <a:bodyPr/>
                    <a:lstStyle/>
                    <a:p>
                      <a:pPr marL="266065">
                        <a:lnSpc>
                          <a:spcPts val="2635"/>
                        </a:lnSpc>
                        <a:tabLst>
                          <a:tab pos="2948940" algn="l"/>
                        </a:tabLst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∃𝑥∃𝑦𝑀𝑢𝑠ℎ𝑟𝑜𝑜𝑚	</a:t>
                      </a:r>
                      <a:r>
                        <a:rPr sz="2800" spc="-5" dirty="0">
                          <a:latin typeface="Cambria Math"/>
                          <a:cs typeface="Cambria Math"/>
                        </a:rPr>
                        <a:t>𝑥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  <a:p>
                      <a:pPr marL="266065">
                        <a:lnSpc>
                          <a:spcPts val="3160"/>
                        </a:lnSpc>
                        <a:tabLst>
                          <a:tab pos="2456180" algn="l"/>
                          <a:tab pos="2887980" algn="l"/>
                        </a:tabLst>
                      </a:pPr>
                      <a:r>
                        <a:rPr sz="2800" spc="-5" dirty="0">
                          <a:latin typeface="Cambria Math"/>
                          <a:cs typeface="Cambria Math"/>
                        </a:rPr>
                        <a:t>∩</a:t>
                      </a:r>
                      <a:r>
                        <a:rPr sz="2800" spc="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10" dirty="0">
                          <a:latin typeface="Cambria Math"/>
                          <a:cs typeface="Cambria Math"/>
                        </a:rPr>
                        <a:t>𝑀𝑢𝑠ℎ𝑟𝑜𝑜𝑚	</a:t>
                      </a:r>
                      <a:r>
                        <a:rPr sz="2800" spc="-5" dirty="0">
                          <a:latin typeface="Cambria Math"/>
                          <a:cs typeface="Cambria Math"/>
                        </a:rPr>
                        <a:t>𝑦	∩</a:t>
                      </a:r>
                      <a:r>
                        <a:rPr sz="2800" spc="-3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" dirty="0">
                          <a:latin typeface="Cambria Math"/>
                          <a:cs typeface="Cambria Math"/>
                        </a:rPr>
                        <a:t>𝑃𝑢𝑟𝑝𝑙𝑒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440"/>
                        </a:spcBef>
                      </a:pPr>
                      <a:r>
                        <a:rPr sz="2800" spc="-5" dirty="0">
                          <a:latin typeface="Cambria Math"/>
                          <a:cs typeface="Cambria Math"/>
                        </a:rPr>
                        <a:t>𝑥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09880" marB="0"/>
                </a:tc>
                <a:tc>
                  <a:txBody>
                    <a:bodyPr/>
                    <a:lstStyle/>
                    <a:p>
                      <a:pPr marL="454025">
                        <a:lnSpc>
                          <a:spcPts val="2615"/>
                        </a:lnSpc>
                        <a:tabLst>
                          <a:tab pos="2779395" algn="l"/>
                        </a:tabLst>
                      </a:pPr>
                      <a:r>
                        <a:rPr sz="2800" spc="5" dirty="0">
                          <a:latin typeface="Cambria Math"/>
                          <a:cs typeface="Cambria Math"/>
                        </a:rPr>
                        <a:t>∀</a:t>
                      </a:r>
                      <a:r>
                        <a:rPr sz="2800" spc="80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2800" dirty="0">
                          <a:latin typeface="Cambria Math"/>
                          <a:cs typeface="Cambria Math"/>
                        </a:rPr>
                        <a:t>∃𝑦</a:t>
                      </a:r>
                      <a:r>
                        <a:rPr sz="2800" spc="-10" dirty="0"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sz="2800" spc="-5" dirty="0">
                          <a:latin typeface="Cambria Math"/>
                          <a:cs typeface="Cambria Math"/>
                        </a:rPr>
                        <a:t>𝑎</a:t>
                      </a:r>
                      <a:r>
                        <a:rPr sz="2800" spc="10" dirty="0">
                          <a:latin typeface="Cambria Math"/>
                          <a:cs typeface="Cambria Math"/>
                        </a:rPr>
                        <a:t>𝑟</a:t>
                      </a:r>
                      <a:r>
                        <a:rPr sz="2800" dirty="0">
                          <a:latin typeface="Cambria Math"/>
                          <a:cs typeface="Cambria Math"/>
                        </a:rPr>
                        <a:t>𝑟𝑖𝑒𝑑	</a:t>
                      </a:r>
                      <a:r>
                        <a:rPr sz="2800" spc="85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2800" dirty="0">
                          <a:latin typeface="Cambria Math"/>
                          <a:cs typeface="Cambria Math"/>
                        </a:rPr>
                        <a:t>,</a:t>
                      </a:r>
                      <a:r>
                        <a:rPr sz="2800" spc="-15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dirty="0">
                          <a:latin typeface="Cambria Math"/>
                          <a:cs typeface="Cambria Math"/>
                        </a:rPr>
                        <a:t>𝑦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  <a:p>
                      <a:pPr marL="454025">
                        <a:lnSpc>
                          <a:spcPts val="3140"/>
                        </a:lnSpc>
                        <a:tabLst>
                          <a:tab pos="2820670" algn="l"/>
                          <a:tab pos="3576954" algn="l"/>
                          <a:tab pos="4131310" algn="l"/>
                          <a:tab pos="5125085" algn="l"/>
                        </a:tabLst>
                      </a:pPr>
                      <a:r>
                        <a:rPr sz="2800" spc="-5" dirty="0">
                          <a:latin typeface="Cambria Math"/>
                          <a:cs typeface="Cambria Math"/>
                        </a:rPr>
                        <a:t>∩</a:t>
                      </a:r>
                      <a:r>
                        <a:rPr sz="2800" spc="2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dirty="0">
                          <a:latin typeface="Cambria Math"/>
                          <a:cs typeface="Cambria Math"/>
                        </a:rPr>
                        <a:t>∀𝑧(𝑀𝑎𝑟𝑟𝑖𝑒𝑑	</a:t>
                      </a:r>
                      <a:r>
                        <a:rPr sz="2800" spc="35" dirty="0">
                          <a:latin typeface="Cambria Math"/>
                          <a:cs typeface="Cambria Math"/>
                        </a:rPr>
                        <a:t>𝑥,</a:t>
                      </a:r>
                      <a:r>
                        <a:rPr sz="2800" spc="-15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" dirty="0">
                          <a:latin typeface="Cambria Math"/>
                          <a:cs typeface="Cambria Math"/>
                        </a:rPr>
                        <a:t>𝑧	⇒	𝑦</a:t>
                      </a:r>
                      <a:r>
                        <a:rPr sz="2800" spc="21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2800" spc="16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" dirty="0">
                          <a:latin typeface="Cambria Math"/>
                          <a:cs typeface="Cambria Math"/>
                        </a:rPr>
                        <a:t>𝑧	)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97">
                <a:tc>
                  <a:txBody>
                    <a:bodyPr/>
                    <a:lstStyle/>
                    <a:p>
                      <a:pPr marL="266065">
                        <a:lnSpc>
                          <a:spcPts val="2815"/>
                        </a:lnSpc>
                        <a:tabLst>
                          <a:tab pos="1826895" algn="l"/>
                          <a:tab pos="2256790" algn="l"/>
                          <a:tab pos="2993390" algn="l"/>
                        </a:tabLst>
                      </a:pPr>
                      <a:r>
                        <a:rPr sz="2800" spc="-5" dirty="0">
                          <a:latin typeface="Cambria Math"/>
                          <a:cs typeface="Cambria Math"/>
                        </a:rPr>
                        <a:t>∩</a:t>
                      </a:r>
                      <a:r>
                        <a:rPr sz="2800" spc="1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" dirty="0">
                          <a:latin typeface="Cambria Math"/>
                          <a:cs typeface="Cambria Math"/>
                        </a:rPr>
                        <a:t>𝑃𝑢𝑟𝑝𝑙𝑒	𝑦	∩</a:t>
                      </a:r>
                      <a:r>
                        <a:rPr sz="2800" spc="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" dirty="0">
                          <a:latin typeface="Cambria Math"/>
                          <a:cs typeface="Cambria Math"/>
                        </a:rPr>
                        <a:t>¬	𝑥</a:t>
                      </a:r>
                      <a:r>
                        <a:rPr sz="2800" spc="204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2800" spc="13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" dirty="0">
                          <a:latin typeface="Cambria Math"/>
                          <a:cs typeface="Cambria Math"/>
                        </a:rPr>
                        <a:t>𝑦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rowSpan="3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785">
                <a:tc>
                  <a:txBody>
                    <a:bodyPr/>
                    <a:lstStyle/>
                    <a:p>
                      <a:pPr marL="266065">
                        <a:lnSpc>
                          <a:spcPts val="2815"/>
                        </a:lnSpc>
                        <a:tabLst>
                          <a:tab pos="3005455" algn="l"/>
                        </a:tabLst>
                      </a:pPr>
                      <a:r>
                        <a:rPr sz="2800" spc="-5" dirty="0">
                          <a:latin typeface="Cambria Math"/>
                          <a:cs typeface="Cambria Math"/>
                        </a:rPr>
                        <a:t>∩</a:t>
                      </a:r>
                      <a:r>
                        <a:rPr sz="2800" spc="1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dirty="0">
                          <a:latin typeface="Cambria Math"/>
                          <a:cs typeface="Cambria Math"/>
                        </a:rPr>
                        <a:t>∀𝑧(𝑀𝑢𝑠ℎ𝑟𝑜𝑜𝑚	</a:t>
                      </a:r>
                      <a:r>
                        <a:rPr sz="2800" spc="-5" dirty="0">
                          <a:latin typeface="Cambria Math"/>
                          <a:cs typeface="Cambria Math"/>
                        </a:rPr>
                        <a:t>𝑧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357">
                <a:tc>
                  <a:txBody>
                    <a:bodyPr/>
                    <a:lstStyle/>
                    <a:p>
                      <a:pPr marL="266065">
                        <a:lnSpc>
                          <a:spcPts val="2775"/>
                        </a:lnSpc>
                        <a:tabLst>
                          <a:tab pos="1826895" algn="l"/>
                        </a:tabLst>
                      </a:pPr>
                      <a:r>
                        <a:rPr sz="2800" spc="-5" dirty="0">
                          <a:latin typeface="Cambria Math"/>
                          <a:cs typeface="Cambria Math"/>
                        </a:rPr>
                        <a:t>∩</a:t>
                      </a:r>
                      <a:r>
                        <a:rPr sz="2800" spc="1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" dirty="0">
                          <a:latin typeface="Cambria Math"/>
                          <a:cs typeface="Cambria Math"/>
                        </a:rPr>
                        <a:t>𝑃𝑢𝑟𝑝𝑙𝑒	𝑧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8562594" y="2669285"/>
            <a:ext cx="784860" cy="699770"/>
          </a:xfrm>
          <a:custGeom>
            <a:avLst/>
            <a:gdLst/>
            <a:ahLst/>
            <a:cxnLst/>
            <a:rect l="l" t="t" r="r" b="b"/>
            <a:pathLst>
              <a:path w="784859" h="699770">
                <a:moveTo>
                  <a:pt x="109601" y="13335"/>
                </a:moveTo>
                <a:lnTo>
                  <a:pt x="104902" y="0"/>
                </a:lnTo>
                <a:lnTo>
                  <a:pt x="81038" y="8623"/>
                </a:lnTo>
                <a:lnTo>
                  <a:pt x="60109" y="21120"/>
                </a:lnTo>
                <a:lnTo>
                  <a:pt x="27051" y="57658"/>
                </a:lnTo>
                <a:lnTo>
                  <a:pt x="6756" y="106565"/>
                </a:lnTo>
                <a:lnTo>
                  <a:pt x="0" y="164592"/>
                </a:lnTo>
                <a:lnTo>
                  <a:pt x="1689" y="194792"/>
                </a:lnTo>
                <a:lnTo>
                  <a:pt x="15214" y="248272"/>
                </a:lnTo>
                <a:lnTo>
                  <a:pt x="42049" y="291630"/>
                </a:lnTo>
                <a:lnTo>
                  <a:pt x="80962" y="320344"/>
                </a:lnTo>
                <a:lnTo>
                  <a:pt x="104902" y="328930"/>
                </a:lnTo>
                <a:lnTo>
                  <a:pt x="108966" y="315595"/>
                </a:lnTo>
                <a:lnTo>
                  <a:pt x="90246" y="307314"/>
                </a:lnTo>
                <a:lnTo>
                  <a:pt x="74104" y="295770"/>
                </a:lnTo>
                <a:lnTo>
                  <a:pt x="49530" y="262890"/>
                </a:lnTo>
                <a:lnTo>
                  <a:pt x="34836" y="218186"/>
                </a:lnTo>
                <a:lnTo>
                  <a:pt x="29972" y="162814"/>
                </a:lnTo>
                <a:lnTo>
                  <a:pt x="31178" y="134797"/>
                </a:lnTo>
                <a:lnTo>
                  <a:pt x="40944" y="86131"/>
                </a:lnTo>
                <a:lnTo>
                  <a:pt x="60566" y="47701"/>
                </a:lnTo>
                <a:lnTo>
                  <a:pt x="90614" y="21602"/>
                </a:lnTo>
                <a:lnTo>
                  <a:pt x="109601" y="13335"/>
                </a:lnTo>
                <a:close/>
              </a:path>
              <a:path w="784859" h="699770">
                <a:moveTo>
                  <a:pt x="150749" y="383667"/>
                </a:moveTo>
                <a:lnTo>
                  <a:pt x="146050" y="370332"/>
                </a:lnTo>
                <a:lnTo>
                  <a:pt x="122186" y="378955"/>
                </a:lnTo>
                <a:lnTo>
                  <a:pt x="101257" y="391452"/>
                </a:lnTo>
                <a:lnTo>
                  <a:pt x="68199" y="427990"/>
                </a:lnTo>
                <a:lnTo>
                  <a:pt x="47904" y="476885"/>
                </a:lnTo>
                <a:lnTo>
                  <a:pt x="41148" y="534924"/>
                </a:lnTo>
                <a:lnTo>
                  <a:pt x="42837" y="565124"/>
                </a:lnTo>
                <a:lnTo>
                  <a:pt x="56362" y="618604"/>
                </a:lnTo>
                <a:lnTo>
                  <a:pt x="83197" y="661962"/>
                </a:lnTo>
                <a:lnTo>
                  <a:pt x="122110" y="690676"/>
                </a:lnTo>
                <a:lnTo>
                  <a:pt x="146050" y="699262"/>
                </a:lnTo>
                <a:lnTo>
                  <a:pt x="150114" y="685927"/>
                </a:lnTo>
                <a:lnTo>
                  <a:pt x="131394" y="677646"/>
                </a:lnTo>
                <a:lnTo>
                  <a:pt x="115252" y="666102"/>
                </a:lnTo>
                <a:lnTo>
                  <a:pt x="90678" y="633222"/>
                </a:lnTo>
                <a:lnTo>
                  <a:pt x="75984" y="588530"/>
                </a:lnTo>
                <a:lnTo>
                  <a:pt x="71120" y="533146"/>
                </a:lnTo>
                <a:lnTo>
                  <a:pt x="72326" y="505129"/>
                </a:lnTo>
                <a:lnTo>
                  <a:pt x="82092" y="456463"/>
                </a:lnTo>
                <a:lnTo>
                  <a:pt x="101714" y="418033"/>
                </a:lnTo>
                <a:lnTo>
                  <a:pt x="131762" y="391934"/>
                </a:lnTo>
                <a:lnTo>
                  <a:pt x="150749" y="383667"/>
                </a:lnTo>
                <a:close/>
              </a:path>
              <a:path w="784859" h="699770">
                <a:moveTo>
                  <a:pt x="769239" y="164592"/>
                </a:moveTo>
                <a:lnTo>
                  <a:pt x="762406" y="106565"/>
                </a:lnTo>
                <a:lnTo>
                  <a:pt x="742061" y="57658"/>
                </a:lnTo>
                <a:lnTo>
                  <a:pt x="709104" y="21120"/>
                </a:lnTo>
                <a:lnTo>
                  <a:pt x="664337" y="0"/>
                </a:lnTo>
                <a:lnTo>
                  <a:pt x="659638" y="13335"/>
                </a:lnTo>
                <a:lnTo>
                  <a:pt x="678688" y="21602"/>
                </a:lnTo>
                <a:lnTo>
                  <a:pt x="695058" y="33058"/>
                </a:lnTo>
                <a:lnTo>
                  <a:pt x="719836" y="65532"/>
                </a:lnTo>
                <a:lnTo>
                  <a:pt x="734402" y="109220"/>
                </a:lnTo>
                <a:lnTo>
                  <a:pt x="739267" y="162814"/>
                </a:lnTo>
                <a:lnTo>
                  <a:pt x="738022" y="191846"/>
                </a:lnTo>
                <a:lnTo>
                  <a:pt x="728218" y="241871"/>
                </a:lnTo>
                <a:lnTo>
                  <a:pt x="708685" y="280974"/>
                </a:lnTo>
                <a:lnTo>
                  <a:pt x="678878" y="307314"/>
                </a:lnTo>
                <a:lnTo>
                  <a:pt x="660146" y="315595"/>
                </a:lnTo>
                <a:lnTo>
                  <a:pt x="664337" y="328930"/>
                </a:lnTo>
                <a:lnTo>
                  <a:pt x="709168" y="307898"/>
                </a:lnTo>
                <a:lnTo>
                  <a:pt x="742188" y="271526"/>
                </a:lnTo>
                <a:lnTo>
                  <a:pt x="762469" y="222681"/>
                </a:lnTo>
                <a:lnTo>
                  <a:pt x="767537" y="194792"/>
                </a:lnTo>
                <a:lnTo>
                  <a:pt x="769239" y="164592"/>
                </a:lnTo>
                <a:close/>
              </a:path>
              <a:path w="784859" h="699770">
                <a:moveTo>
                  <a:pt x="784479" y="534924"/>
                </a:moveTo>
                <a:lnTo>
                  <a:pt x="777646" y="476885"/>
                </a:lnTo>
                <a:lnTo>
                  <a:pt x="757301" y="427990"/>
                </a:lnTo>
                <a:lnTo>
                  <a:pt x="724344" y="391452"/>
                </a:lnTo>
                <a:lnTo>
                  <a:pt x="679577" y="370332"/>
                </a:lnTo>
                <a:lnTo>
                  <a:pt x="674878" y="383667"/>
                </a:lnTo>
                <a:lnTo>
                  <a:pt x="693928" y="391934"/>
                </a:lnTo>
                <a:lnTo>
                  <a:pt x="710311" y="403390"/>
                </a:lnTo>
                <a:lnTo>
                  <a:pt x="735076" y="435864"/>
                </a:lnTo>
                <a:lnTo>
                  <a:pt x="749642" y="479552"/>
                </a:lnTo>
                <a:lnTo>
                  <a:pt x="754507" y="533146"/>
                </a:lnTo>
                <a:lnTo>
                  <a:pt x="753262" y="562178"/>
                </a:lnTo>
                <a:lnTo>
                  <a:pt x="743458" y="612203"/>
                </a:lnTo>
                <a:lnTo>
                  <a:pt x="723925" y="651306"/>
                </a:lnTo>
                <a:lnTo>
                  <a:pt x="694118" y="677646"/>
                </a:lnTo>
                <a:lnTo>
                  <a:pt x="675386" y="685927"/>
                </a:lnTo>
                <a:lnTo>
                  <a:pt x="679577" y="699262"/>
                </a:lnTo>
                <a:lnTo>
                  <a:pt x="724408" y="678230"/>
                </a:lnTo>
                <a:lnTo>
                  <a:pt x="757428" y="641858"/>
                </a:lnTo>
                <a:lnTo>
                  <a:pt x="777709" y="593013"/>
                </a:lnTo>
                <a:lnTo>
                  <a:pt x="782777" y="565124"/>
                </a:lnTo>
                <a:lnTo>
                  <a:pt x="784479" y="5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914381" y="3039617"/>
            <a:ext cx="1078865" cy="328930"/>
          </a:xfrm>
          <a:custGeom>
            <a:avLst/>
            <a:gdLst/>
            <a:ahLst/>
            <a:cxnLst/>
            <a:rect l="l" t="t" r="r" b="b"/>
            <a:pathLst>
              <a:path w="1078865" h="328929">
                <a:moveTo>
                  <a:pt x="973709" y="0"/>
                </a:moveTo>
                <a:lnTo>
                  <a:pt x="969010" y="13335"/>
                </a:lnTo>
                <a:lnTo>
                  <a:pt x="988060" y="21597"/>
                </a:lnTo>
                <a:lnTo>
                  <a:pt x="1004443" y="33051"/>
                </a:lnTo>
                <a:lnTo>
                  <a:pt x="1029208" y="65532"/>
                </a:lnTo>
                <a:lnTo>
                  <a:pt x="1043781" y="109220"/>
                </a:lnTo>
                <a:lnTo>
                  <a:pt x="1048639" y="162814"/>
                </a:lnTo>
                <a:lnTo>
                  <a:pt x="1047404" y="191845"/>
                </a:lnTo>
                <a:lnTo>
                  <a:pt x="1037601" y="241859"/>
                </a:lnTo>
                <a:lnTo>
                  <a:pt x="1018059" y="280965"/>
                </a:lnTo>
                <a:lnTo>
                  <a:pt x="988254" y="307306"/>
                </a:lnTo>
                <a:lnTo>
                  <a:pt x="969518" y="315595"/>
                </a:lnTo>
                <a:lnTo>
                  <a:pt x="973709" y="328930"/>
                </a:lnTo>
                <a:lnTo>
                  <a:pt x="1018540" y="307895"/>
                </a:lnTo>
                <a:lnTo>
                  <a:pt x="1051560" y="271526"/>
                </a:lnTo>
                <a:lnTo>
                  <a:pt x="1071848" y="222678"/>
                </a:lnTo>
                <a:lnTo>
                  <a:pt x="1078611" y="164592"/>
                </a:lnTo>
                <a:lnTo>
                  <a:pt x="1076900" y="134417"/>
                </a:lnTo>
                <a:lnTo>
                  <a:pt x="1063287" y="80974"/>
                </a:lnTo>
                <a:lnTo>
                  <a:pt x="1036431" y="37468"/>
                </a:lnTo>
                <a:lnTo>
                  <a:pt x="997569" y="8616"/>
                </a:lnTo>
                <a:lnTo>
                  <a:pt x="973709" y="0"/>
                </a:lnTo>
                <a:close/>
              </a:path>
              <a:path w="1078865" h="328929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2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30"/>
                </a:lnTo>
                <a:lnTo>
                  <a:pt x="108966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90"/>
                </a:lnTo>
                <a:lnTo>
                  <a:pt x="34845" y="218186"/>
                </a:lnTo>
                <a:lnTo>
                  <a:pt x="29972" y="162814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9629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Try</a:t>
            </a:r>
            <a:r>
              <a:rPr spc="-40" dirty="0"/>
              <a:t> </a:t>
            </a:r>
            <a:r>
              <a:rPr spc="-55" dirty="0"/>
              <a:t>few</a:t>
            </a:r>
            <a:r>
              <a:rPr spc="-35" dirty="0"/>
              <a:t> </a:t>
            </a:r>
            <a:r>
              <a:rPr spc="-20" dirty="0"/>
              <a:t>more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75"/>
              </a:spcBef>
              <a:buFont typeface="Tahoma"/>
              <a:buChar char="•"/>
              <a:tabLst>
                <a:tab pos="241300" algn="l"/>
              </a:tabLst>
            </a:pPr>
            <a:r>
              <a:rPr dirty="0"/>
              <a:t>Ram</a:t>
            </a:r>
            <a:r>
              <a:rPr spc="-10" dirty="0"/>
              <a:t> </a:t>
            </a:r>
            <a:r>
              <a:rPr spc="-15" dirty="0"/>
              <a:t>likes</a:t>
            </a:r>
            <a:r>
              <a:rPr spc="-30" dirty="0"/>
              <a:t> </a:t>
            </a:r>
            <a:r>
              <a:rPr dirty="0"/>
              <a:t>all</a:t>
            </a:r>
            <a:r>
              <a:rPr spc="-5" dirty="0"/>
              <a:t> </a:t>
            </a:r>
            <a:r>
              <a:rPr dirty="0"/>
              <a:t>kinds</a:t>
            </a:r>
            <a:r>
              <a:rPr spc="-15" dirty="0"/>
              <a:t> </a:t>
            </a:r>
            <a:r>
              <a:rPr spc="-5" dirty="0"/>
              <a:t>of </a:t>
            </a:r>
            <a:r>
              <a:rPr spc="-20" dirty="0"/>
              <a:t>food</a:t>
            </a:r>
          </a:p>
          <a:p>
            <a:pPr marL="241300" marR="254635" indent="-228600">
              <a:lnSpc>
                <a:spcPts val="2500"/>
              </a:lnSpc>
              <a:spcBef>
                <a:spcPts val="975"/>
              </a:spcBef>
              <a:buFont typeface="Tahoma"/>
              <a:buChar char="•"/>
              <a:tabLst>
                <a:tab pos="241300" algn="l"/>
              </a:tabLst>
            </a:pPr>
            <a:r>
              <a:rPr spc="-5" dirty="0"/>
              <a:t>Anything</a:t>
            </a:r>
            <a:r>
              <a:rPr spc="-30" dirty="0"/>
              <a:t> </a:t>
            </a:r>
            <a:r>
              <a:rPr spc="-15" dirty="0"/>
              <a:t>anyone</a:t>
            </a:r>
            <a:r>
              <a:rPr spc="-25" dirty="0"/>
              <a:t> </a:t>
            </a:r>
            <a:r>
              <a:rPr spc="-5" dirty="0"/>
              <a:t>eats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spc="-5" dirty="0"/>
              <a:t>not </a:t>
            </a:r>
            <a:r>
              <a:rPr spc="-570" dirty="0"/>
              <a:t> </a:t>
            </a:r>
            <a:r>
              <a:rPr dirty="0"/>
              <a:t>killed</a:t>
            </a:r>
            <a:r>
              <a:rPr spc="-5" dirty="0"/>
              <a:t> </a:t>
            </a:r>
            <a:r>
              <a:rPr spc="-10" dirty="0"/>
              <a:t>by</a:t>
            </a:r>
            <a:r>
              <a:rPr spc="-15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spc="-20" dirty="0"/>
              <a:t>food</a:t>
            </a:r>
          </a:p>
          <a:p>
            <a:pPr marL="241300" indent="-228600">
              <a:lnSpc>
                <a:spcPct val="100000"/>
              </a:lnSpc>
              <a:spcBef>
                <a:spcPts val="400"/>
              </a:spcBef>
              <a:buFont typeface="Tahoma"/>
              <a:buChar char="•"/>
              <a:tabLst>
                <a:tab pos="241300" algn="l"/>
              </a:tabLst>
            </a:pPr>
            <a:r>
              <a:rPr spc="-5" dirty="0"/>
              <a:t>Rita eats</a:t>
            </a:r>
            <a:r>
              <a:rPr spc="-15" dirty="0"/>
              <a:t> </a:t>
            </a:r>
            <a:r>
              <a:rPr spc="-5" dirty="0"/>
              <a:t>samosa</a:t>
            </a:r>
            <a:r>
              <a:rPr spc="-1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spc="-5" dirty="0"/>
              <a:t>still alive</a:t>
            </a: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Tahoma"/>
              <a:buChar char="•"/>
              <a:tabLst>
                <a:tab pos="241300" algn="l"/>
              </a:tabLst>
            </a:pPr>
            <a:r>
              <a:rPr spc="-10" dirty="0"/>
              <a:t>Gita </a:t>
            </a:r>
            <a:r>
              <a:rPr spc="-5" dirty="0"/>
              <a:t>eats</a:t>
            </a:r>
            <a:r>
              <a:rPr spc="-15" dirty="0"/>
              <a:t> </a:t>
            </a:r>
            <a:r>
              <a:rPr dirty="0"/>
              <a:t>everything</a:t>
            </a:r>
            <a:r>
              <a:rPr spc="-40" dirty="0"/>
              <a:t> </a:t>
            </a:r>
            <a:r>
              <a:rPr spc="-5" dirty="0"/>
              <a:t>Rita</a:t>
            </a:r>
            <a:r>
              <a:rPr spc="-10" dirty="0"/>
              <a:t> </a:t>
            </a:r>
            <a:r>
              <a:rPr spc="-5" dirty="0"/>
              <a:t>eats</a:t>
            </a:r>
          </a:p>
          <a:p>
            <a:pPr marL="241300" marR="5080" indent="-228600">
              <a:lnSpc>
                <a:spcPct val="80000"/>
              </a:lnSpc>
              <a:spcBef>
                <a:spcPts val="994"/>
              </a:spcBef>
              <a:buFont typeface="Tahoma"/>
              <a:buChar char="•"/>
              <a:tabLst>
                <a:tab pos="241300" algn="l"/>
              </a:tabLst>
            </a:pPr>
            <a:r>
              <a:rPr spc="-5" dirty="0"/>
              <a:t>Someone </a:t>
            </a:r>
            <a:r>
              <a:rPr dirty="0"/>
              <a:t>who </a:t>
            </a:r>
            <a:r>
              <a:rPr spc="-10" dirty="0"/>
              <a:t>hates </a:t>
            </a:r>
            <a:r>
              <a:rPr spc="-5" dirty="0"/>
              <a:t>something </a:t>
            </a:r>
            <a:r>
              <a:rPr dirty="0"/>
              <a:t> </a:t>
            </a:r>
            <a:r>
              <a:rPr spc="-5" dirty="0"/>
              <a:t>owned by </a:t>
            </a:r>
            <a:r>
              <a:rPr dirty="0"/>
              <a:t>another </a:t>
            </a:r>
            <a:r>
              <a:rPr spc="-10" dirty="0"/>
              <a:t>person </a:t>
            </a:r>
            <a:r>
              <a:rPr dirty="0"/>
              <a:t>will </a:t>
            </a:r>
            <a:r>
              <a:rPr spc="-5" dirty="0"/>
              <a:t>not </a:t>
            </a:r>
            <a:r>
              <a:rPr spc="-575" dirty="0"/>
              <a:t> </a:t>
            </a:r>
            <a:r>
              <a:rPr spc="-10" dirty="0"/>
              <a:t>love</a:t>
            </a:r>
            <a:r>
              <a:rPr spc="-5" dirty="0"/>
              <a:t> that</a:t>
            </a:r>
            <a:r>
              <a:rPr dirty="0"/>
              <a:t> </a:t>
            </a:r>
            <a:r>
              <a:rPr spc="-15" dirty="0"/>
              <a:t>person</a:t>
            </a: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Tahoma"/>
              <a:buChar char="•"/>
              <a:tabLst>
                <a:tab pos="241300" algn="l"/>
              </a:tabLst>
            </a:pPr>
            <a:r>
              <a:rPr spc="-5" dirty="0"/>
              <a:t>There</a:t>
            </a:r>
            <a:r>
              <a:rPr spc="-4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a </a:t>
            </a:r>
            <a:r>
              <a:rPr spc="-5" dirty="0"/>
              <a:t>barber</a:t>
            </a:r>
            <a:r>
              <a:rPr spc="-15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town</a:t>
            </a:r>
            <a:r>
              <a:rPr spc="-5" dirty="0"/>
              <a:t> </a:t>
            </a:r>
            <a:r>
              <a:rPr dirty="0"/>
              <a:t>who </a:t>
            </a:r>
            <a:r>
              <a:rPr spc="-570" dirty="0"/>
              <a:t> </a:t>
            </a:r>
            <a:r>
              <a:rPr spc="-15" dirty="0"/>
              <a:t>shaves </a:t>
            </a:r>
            <a:r>
              <a:rPr dirty="0"/>
              <a:t>all men in the </a:t>
            </a:r>
            <a:r>
              <a:rPr spc="-10" dirty="0"/>
              <a:t>town </a:t>
            </a:r>
            <a:r>
              <a:rPr dirty="0"/>
              <a:t>who </a:t>
            </a:r>
            <a:r>
              <a:rPr spc="5" dirty="0"/>
              <a:t> </a:t>
            </a:r>
            <a:r>
              <a:rPr spc="-5" dirty="0"/>
              <a:t>don’t</a:t>
            </a:r>
            <a:r>
              <a:rPr spc="-10" dirty="0"/>
              <a:t> shaves</a:t>
            </a:r>
            <a:r>
              <a:rPr spc="-25" dirty="0"/>
              <a:t> </a:t>
            </a:r>
            <a:r>
              <a:rPr dirty="0"/>
              <a:t>themselves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51828" y="1718759"/>
            <a:ext cx="4808855" cy="440309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75"/>
              </a:spcBef>
              <a:buFont typeface="Tahoma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Everyone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loves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somebody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Tahoma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one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likes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everyone</a:t>
            </a:r>
            <a:endParaRPr sz="2600" dirty="0">
              <a:latin typeface="Calibri"/>
              <a:cs typeface="Calibri"/>
            </a:endParaRPr>
          </a:p>
          <a:p>
            <a:pPr marL="241300" marR="152400" indent="-228600">
              <a:lnSpc>
                <a:spcPct val="80000"/>
              </a:lnSpc>
              <a:spcBef>
                <a:spcPts val="1010"/>
              </a:spcBef>
              <a:buFont typeface="Tahoma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There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someone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5" dirty="0">
                <a:latin typeface="Calibri"/>
                <a:cs typeface="Calibri"/>
              </a:rPr>
              <a:t> liked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by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everyone</a:t>
            </a:r>
            <a:endParaRPr sz="2600" dirty="0">
              <a:latin typeface="Calibri"/>
              <a:cs typeface="Calibri"/>
            </a:endParaRPr>
          </a:p>
          <a:p>
            <a:pPr marL="241300" marR="263525" indent="-228600">
              <a:lnSpc>
                <a:spcPct val="80000"/>
              </a:lnSpc>
              <a:spcBef>
                <a:spcPts val="994"/>
              </a:spcBef>
              <a:buFont typeface="Tahoma"/>
              <a:buChar char="•"/>
              <a:tabLst>
                <a:tab pos="241300" algn="l"/>
              </a:tabLst>
            </a:pPr>
            <a:r>
              <a:rPr sz="2600" spc="-65" dirty="0">
                <a:latin typeface="Calibri"/>
                <a:cs typeface="Calibri"/>
              </a:rPr>
              <a:t>You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can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fool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some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people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every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time</a:t>
            </a:r>
          </a:p>
          <a:p>
            <a:pPr marL="241300" marR="5080" indent="-228600">
              <a:lnSpc>
                <a:spcPts val="2500"/>
              </a:lnSpc>
              <a:spcBef>
                <a:spcPts val="975"/>
              </a:spcBef>
              <a:buFont typeface="Tahoma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All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employee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earning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Rs.200000|-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or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more </a:t>
            </a:r>
            <a:r>
              <a:rPr sz="2600" spc="-5" dirty="0">
                <a:latin typeface="Calibri"/>
                <a:cs typeface="Calibri"/>
              </a:rPr>
              <a:t>per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year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pay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taxes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00"/>
              </a:spcBef>
              <a:buFont typeface="Tahoma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Some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employee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are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sick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today</a:t>
            </a:r>
            <a:endParaRPr sz="2600" dirty="0">
              <a:latin typeface="Calibri"/>
              <a:cs typeface="Calibri"/>
            </a:endParaRPr>
          </a:p>
          <a:p>
            <a:pPr marL="241300" marR="682625" indent="-228600">
              <a:lnSpc>
                <a:spcPct val="80000"/>
              </a:lnSpc>
              <a:spcBef>
                <a:spcPts val="994"/>
              </a:spcBef>
              <a:buFont typeface="Tahoma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Nobody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earns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more </a:t>
            </a:r>
            <a:r>
              <a:rPr sz="2600" dirty="0">
                <a:latin typeface="Calibri"/>
                <a:cs typeface="Calibri"/>
              </a:rPr>
              <a:t>than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chairman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0857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Try</a:t>
            </a:r>
            <a:r>
              <a:rPr spc="-30" dirty="0"/>
              <a:t> </a:t>
            </a:r>
            <a:r>
              <a:rPr spc="-55" dirty="0"/>
              <a:t>few</a:t>
            </a:r>
            <a:r>
              <a:rPr spc="-25" dirty="0"/>
              <a:t> </a:t>
            </a:r>
            <a:r>
              <a:rPr spc="-15" dirty="0"/>
              <a:t>more:</a:t>
            </a:r>
            <a:r>
              <a:rPr spc="-30" dirty="0"/>
              <a:t> </a:t>
            </a:r>
            <a:r>
              <a:rPr dirty="0"/>
              <a:t>Solution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75"/>
              </a:spcBef>
              <a:buFont typeface="Tahoma"/>
              <a:buChar char="•"/>
              <a:tabLst>
                <a:tab pos="241300" algn="l"/>
              </a:tabLst>
            </a:pPr>
            <a:r>
              <a:rPr dirty="0"/>
              <a:t>Ram</a:t>
            </a:r>
            <a:r>
              <a:rPr spc="-10" dirty="0"/>
              <a:t> </a:t>
            </a:r>
            <a:r>
              <a:rPr spc="-15" dirty="0"/>
              <a:t>likes</a:t>
            </a:r>
            <a:r>
              <a:rPr spc="-30" dirty="0"/>
              <a:t> </a:t>
            </a:r>
            <a:r>
              <a:rPr dirty="0"/>
              <a:t>all</a:t>
            </a:r>
            <a:r>
              <a:rPr spc="-5" dirty="0"/>
              <a:t> </a:t>
            </a:r>
            <a:r>
              <a:rPr dirty="0"/>
              <a:t>kinds</a:t>
            </a:r>
            <a:r>
              <a:rPr spc="-15" dirty="0"/>
              <a:t> </a:t>
            </a:r>
            <a:r>
              <a:rPr spc="-5" dirty="0"/>
              <a:t>of </a:t>
            </a:r>
            <a:r>
              <a:rPr spc="-20" dirty="0"/>
              <a:t>food</a:t>
            </a:r>
          </a:p>
          <a:p>
            <a:pPr marL="241300" marR="254635" indent="-228600">
              <a:lnSpc>
                <a:spcPts val="2500"/>
              </a:lnSpc>
              <a:spcBef>
                <a:spcPts val="975"/>
              </a:spcBef>
              <a:buFont typeface="Tahoma"/>
              <a:buChar char="•"/>
              <a:tabLst>
                <a:tab pos="241300" algn="l"/>
              </a:tabLst>
            </a:pPr>
            <a:r>
              <a:rPr spc="-5" dirty="0"/>
              <a:t>Anything</a:t>
            </a:r>
            <a:r>
              <a:rPr spc="-30" dirty="0"/>
              <a:t> </a:t>
            </a:r>
            <a:r>
              <a:rPr spc="-15" dirty="0"/>
              <a:t>anyone</a:t>
            </a:r>
            <a:r>
              <a:rPr spc="-25" dirty="0"/>
              <a:t> </a:t>
            </a:r>
            <a:r>
              <a:rPr spc="-5" dirty="0"/>
              <a:t>eats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spc="-5" dirty="0"/>
              <a:t>not </a:t>
            </a:r>
            <a:r>
              <a:rPr spc="-570" dirty="0"/>
              <a:t> </a:t>
            </a:r>
            <a:r>
              <a:rPr dirty="0"/>
              <a:t>killed</a:t>
            </a:r>
            <a:r>
              <a:rPr spc="-5" dirty="0"/>
              <a:t> </a:t>
            </a:r>
            <a:r>
              <a:rPr spc="-10" dirty="0"/>
              <a:t>by</a:t>
            </a:r>
            <a:r>
              <a:rPr spc="-15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spc="-20" dirty="0"/>
              <a:t>food</a:t>
            </a:r>
          </a:p>
          <a:p>
            <a:pPr marL="241300" indent="-228600">
              <a:lnSpc>
                <a:spcPct val="100000"/>
              </a:lnSpc>
              <a:spcBef>
                <a:spcPts val="400"/>
              </a:spcBef>
              <a:buFont typeface="Tahoma"/>
              <a:buChar char="•"/>
              <a:tabLst>
                <a:tab pos="241300" algn="l"/>
              </a:tabLst>
            </a:pPr>
            <a:r>
              <a:rPr spc="-5" dirty="0"/>
              <a:t>Rita eats</a:t>
            </a:r>
            <a:r>
              <a:rPr spc="-15" dirty="0"/>
              <a:t> </a:t>
            </a:r>
            <a:r>
              <a:rPr spc="-5" dirty="0"/>
              <a:t>samosa</a:t>
            </a:r>
            <a:r>
              <a:rPr spc="-1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spc="-5" dirty="0"/>
              <a:t>still alive</a:t>
            </a: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Tahoma"/>
              <a:buChar char="•"/>
              <a:tabLst>
                <a:tab pos="241300" algn="l"/>
              </a:tabLst>
            </a:pPr>
            <a:r>
              <a:rPr spc="-10" dirty="0"/>
              <a:t>Gita </a:t>
            </a:r>
            <a:r>
              <a:rPr spc="-5" dirty="0"/>
              <a:t>eats</a:t>
            </a:r>
            <a:r>
              <a:rPr spc="-15" dirty="0"/>
              <a:t> </a:t>
            </a:r>
            <a:r>
              <a:rPr dirty="0"/>
              <a:t>everything</a:t>
            </a:r>
            <a:r>
              <a:rPr spc="-40" dirty="0"/>
              <a:t> </a:t>
            </a:r>
            <a:r>
              <a:rPr spc="-5" dirty="0"/>
              <a:t>Rita</a:t>
            </a:r>
            <a:r>
              <a:rPr spc="-10" dirty="0"/>
              <a:t> </a:t>
            </a:r>
            <a:r>
              <a:rPr spc="-5" dirty="0"/>
              <a:t>eats</a:t>
            </a:r>
          </a:p>
          <a:p>
            <a:pPr marL="241300" marR="5080" indent="-228600">
              <a:lnSpc>
                <a:spcPct val="80000"/>
              </a:lnSpc>
              <a:spcBef>
                <a:spcPts val="994"/>
              </a:spcBef>
              <a:buFont typeface="Tahoma"/>
              <a:buChar char="•"/>
              <a:tabLst>
                <a:tab pos="241300" algn="l"/>
              </a:tabLst>
            </a:pPr>
            <a:r>
              <a:rPr spc="-5" dirty="0"/>
              <a:t>Someone </a:t>
            </a:r>
            <a:r>
              <a:rPr dirty="0"/>
              <a:t>who </a:t>
            </a:r>
            <a:r>
              <a:rPr spc="-10" dirty="0"/>
              <a:t>hates </a:t>
            </a:r>
            <a:r>
              <a:rPr spc="-5" dirty="0"/>
              <a:t>something </a:t>
            </a:r>
            <a:r>
              <a:rPr dirty="0"/>
              <a:t> </a:t>
            </a:r>
            <a:r>
              <a:rPr spc="-5" dirty="0"/>
              <a:t>owned by </a:t>
            </a:r>
            <a:r>
              <a:rPr dirty="0"/>
              <a:t>another </a:t>
            </a:r>
            <a:r>
              <a:rPr spc="-10" dirty="0"/>
              <a:t>person </a:t>
            </a:r>
            <a:r>
              <a:rPr dirty="0"/>
              <a:t>will </a:t>
            </a:r>
            <a:r>
              <a:rPr spc="-5" dirty="0"/>
              <a:t>not </a:t>
            </a:r>
            <a:r>
              <a:rPr spc="-575" dirty="0"/>
              <a:t> </a:t>
            </a:r>
            <a:r>
              <a:rPr spc="-10" dirty="0"/>
              <a:t>love</a:t>
            </a:r>
            <a:r>
              <a:rPr spc="-5" dirty="0"/>
              <a:t> that</a:t>
            </a:r>
            <a:r>
              <a:rPr dirty="0"/>
              <a:t> </a:t>
            </a:r>
            <a:r>
              <a:rPr spc="-15" dirty="0"/>
              <a:t>person</a:t>
            </a: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Tahoma"/>
              <a:buChar char="•"/>
              <a:tabLst>
                <a:tab pos="241300" algn="l"/>
              </a:tabLst>
            </a:pPr>
            <a:r>
              <a:rPr spc="-5" dirty="0"/>
              <a:t>There</a:t>
            </a:r>
            <a:r>
              <a:rPr spc="-4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a </a:t>
            </a:r>
            <a:r>
              <a:rPr spc="-5" dirty="0"/>
              <a:t>barber</a:t>
            </a:r>
            <a:r>
              <a:rPr spc="-15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town</a:t>
            </a:r>
            <a:r>
              <a:rPr spc="-5" dirty="0"/>
              <a:t> </a:t>
            </a:r>
            <a:r>
              <a:rPr dirty="0"/>
              <a:t>who </a:t>
            </a:r>
            <a:r>
              <a:rPr spc="-570" dirty="0"/>
              <a:t> </a:t>
            </a:r>
            <a:r>
              <a:rPr spc="-15" dirty="0"/>
              <a:t>shaves </a:t>
            </a:r>
            <a:r>
              <a:rPr dirty="0"/>
              <a:t>all men in the </a:t>
            </a:r>
            <a:r>
              <a:rPr spc="-10" dirty="0"/>
              <a:t>town </a:t>
            </a:r>
            <a:r>
              <a:rPr dirty="0"/>
              <a:t>who </a:t>
            </a:r>
            <a:r>
              <a:rPr spc="5" dirty="0"/>
              <a:t> </a:t>
            </a:r>
            <a:r>
              <a:rPr spc="-5" dirty="0"/>
              <a:t>don’t</a:t>
            </a:r>
            <a:r>
              <a:rPr spc="-10" dirty="0"/>
              <a:t> shaves</a:t>
            </a:r>
            <a:r>
              <a:rPr spc="-25" dirty="0"/>
              <a:t> </a:t>
            </a:r>
            <a:r>
              <a:rPr dirty="0"/>
              <a:t>themselves</a:t>
            </a:r>
          </a:p>
        </p:txBody>
      </p:sp>
      <p:sp>
        <p:nvSpPr>
          <p:cNvPr id="4" name="object 4"/>
          <p:cNvSpPr/>
          <p:nvPr/>
        </p:nvSpPr>
        <p:spPr>
          <a:xfrm>
            <a:off x="7873110" y="1895601"/>
            <a:ext cx="403860" cy="306705"/>
          </a:xfrm>
          <a:custGeom>
            <a:avLst/>
            <a:gdLst/>
            <a:ahLst/>
            <a:cxnLst/>
            <a:rect l="l" t="t" r="r" b="b"/>
            <a:pathLst>
              <a:path w="403859" h="306705">
                <a:moveTo>
                  <a:pt x="306070" y="0"/>
                </a:moveTo>
                <a:lnTo>
                  <a:pt x="301625" y="12446"/>
                </a:lnTo>
                <a:lnTo>
                  <a:pt x="319414" y="20115"/>
                </a:lnTo>
                <a:lnTo>
                  <a:pt x="334692" y="30749"/>
                </a:lnTo>
                <a:lnTo>
                  <a:pt x="365613" y="80129"/>
                </a:lnTo>
                <a:lnTo>
                  <a:pt x="374653" y="125468"/>
                </a:lnTo>
                <a:lnTo>
                  <a:pt x="375793" y="151637"/>
                </a:lnTo>
                <a:lnTo>
                  <a:pt x="374651" y="178613"/>
                </a:lnTo>
                <a:lnTo>
                  <a:pt x="365559" y="225182"/>
                </a:lnTo>
                <a:lnTo>
                  <a:pt x="347370" y="261588"/>
                </a:lnTo>
                <a:lnTo>
                  <a:pt x="302133" y="293877"/>
                </a:lnTo>
                <a:lnTo>
                  <a:pt x="306070" y="306324"/>
                </a:lnTo>
                <a:lnTo>
                  <a:pt x="347805" y="286670"/>
                </a:lnTo>
                <a:lnTo>
                  <a:pt x="378587" y="252730"/>
                </a:lnTo>
                <a:lnTo>
                  <a:pt x="397446" y="207279"/>
                </a:lnTo>
                <a:lnTo>
                  <a:pt x="403733" y="153162"/>
                </a:lnTo>
                <a:lnTo>
                  <a:pt x="402159" y="125085"/>
                </a:lnTo>
                <a:lnTo>
                  <a:pt x="389534" y="75312"/>
                </a:lnTo>
                <a:lnTo>
                  <a:pt x="364434" y="34807"/>
                </a:lnTo>
                <a:lnTo>
                  <a:pt x="328239" y="7999"/>
                </a:lnTo>
                <a:lnTo>
                  <a:pt x="306070" y="0"/>
                </a:lnTo>
                <a:close/>
              </a:path>
              <a:path w="403859" h="306705">
                <a:moveTo>
                  <a:pt x="97663" y="0"/>
                </a:moveTo>
                <a:lnTo>
                  <a:pt x="56038" y="19605"/>
                </a:lnTo>
                <a:lnTo>
                  <a:pt x="25273" y="53594"/>
                </a:lnTo>
                <a:lnTo>
                  <a:pt x="6302" y="99139"/>
                </a:lnTo>
                <a:lnTo>
                  <a:pt x="0" y="153162"/>
                </a:lnTo>
                <a:lnTo>
                  <a:pt x="1571" y="181310"/>
                </a:lnTo>
                <a:lnTo>
                  <a:pt x="14144" y="231082"/>
                </a:lnTo>
                <a:lnTo>
                  <a:pt x="39119" y="271498"/>
                </a:lnTo>
                <a:lnTo>
                  <a:pt x="75402" y="298271"/>
                </a:lnTo>
                <a:lnTo>
                  <a:pt x="97663" y="306324"/>
                </a:lnTo>
                <a:lnTo>
                  <a:pt x="101600" y="293877"/>
                </a:lnTo>
                <a:lnTo>
                  <a:pt x="84123" y="286162"/>
                </a:lnTo>
                <a:lnTo>
                  <a:pt x="69040" y="275399"/>
                </a:lnTo>
                <a:lnTo>
                  <a:pt x="46100" y="244728"/>
                </a:lnTo>
                <a:lnTo>
                  <a:pt x="32496" y="203136"/>
                </a:lnTo>
                <a:lnTo>
                  <a:pt x="27940" y="151637"/>
                </a:lnTo>
                <a:lnTo>
                  <a:pt x="29081" y="125468"/>
                </a:lnTo>
                <a:lnTo>
                  <a:pt x="38173" y="80129"/>
                </a:lnTo>
                <a:lnTo>
                  <a:pt x="56386" y="44360"/>
                </a:lnTo>
                <a:lnTo>
                  <a:pt x="101981" y="12446"/>
                </a:lnTo>
                <a:lnTo>
                  <a:pt x="976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89134" y="1895601"/>
            <a:ext cx="1205865" cy="306705"/>
          </a:xfrm>
          <a:custGeom>
            <a:avLst/>
            <a:gdLst/>
            <a:ahLst/>
            <a:cxnLst/>
            <a:rect l="l" t="t" r="r" b="b"/>
            <a:pathLst>
              <a:path w="1205865" h="306705">
                <a:moveTo>
                  <a:pt x="1107694" y="0"/>
                </a:moveTo>
                <a:lnTo>
                  <a:pt x="1103249" y="12446"/>
                </a:lnTo>
                <a:lnTo>
                  <a:pt x="1121038" y="20115"/>
                </a:lnTo>
                <a:lnTo>
                  <a:pt x="1136316" y="30749"/>
                </a:lnTo>
                <a:lnTo>
                  <a:pt x="1167237" y="80129"/>
                </a:lnTo>
                <a:lnTo>
                  <a:pt x="1176277" y="125468"/>
                </a:lnTo>
                <a:lnTo>
                  <a:pt x="1177417" y="151637"/>
                </a:lnTo>
                <a:lnTo>
                  <a:pt x="1176275" y="178613"/>
                </a:lnTo>
                <a:lnTo>
                  <a:pt x="1167183" y="225182"/>
                </a:lnTo>
                <a:lnTo>
                  <a:pt x="1148994" y="261588"/>
                </a:lnTo>
                <a:lnTo>
                  <a:pt x="1103757" y="293877"/>
                </a:lnTo>
                <a:lnTo>
                  <a:pt x="1107694" y="306324"/>
                </a:lnTo>
                <a:lnTo>
                  <a:pt x="1149429" y="286670"/>
                </a:lnTo>
                <a:lnTo>
                  <a:pt x="1180211" y="252730"/>
                </a:lnTo>
                <a:lnTo>
                  <a:pt x="1199070" y="207279"/>
                </a:lnTo>
                <a:lnTo>
                  <a:pt x="1205357" y="153162"/>
                </a:lnTo>
                <a:lnTo>
                  <a:pt x="1203783" y="125085"/>
                </a:lnTo>
                <a:lnTo>
                  <a:pt x="1191158" y="75312"/>
                </a:lnTo>
                <a:lnTo>
                  <a:pt x="1166058" y="34807"/>
                </a:lnTo>
                <a:lnTo>
                  <a:pt x="1129863" y="7999"/>
                </a:lnTo>
                <a:lnTo>
                  <a:pt x="1107694" y="0"/>
                </a:lnTo>
                <a:close/>
              </a:path>
              <a:path w="1205865" h="306705">
                <a:moveTo>
                  <a:pt x="97663" y="0"/>
                </a:moveTo>
                <a:lnTo>
                  <a:pt x="56038" y="19605"/>
                </a:lnTo>
                <a:lnTo>
                  <a:pt x="25273" y="53594"/>
                </a:lnTo>
                <a:lnTo>
                  <a:pt x="6302" y="99139"/>
                </a:lnTo>
                <a:lnTo>
                  <a:pt x="0" y="153162"/>
                </a:lnTo>
                <a:lnTo>
                  <a:pt x="1571" y="181310"/>
                </a:lnTo>
                <a:lnTo>
                  <a:pt x="14144" y="231082"/>
                </a:lnTo>
                <a:lnTo>
                  <a:pt x="39119" y="271498"/>
                </a:lnTo>
                <a:lnTo>
                  <a:pt x="75402" y="298271"/>
                </a:lnTo>
                <a:lnTo>
                  <a:pt x="97663" y="306324"/>
                </a:lnTo>
                <a:lnTo>
                  <a:pt x="101600" y="293877"/>
                </a:lnTo>
                <a:lnTo>
                  <a:pt x="84123" y="286162"/>
                </a:lnTo>
                <a:lnTo>
                  <a:pt x="69040" y="275399"/>
                </a:lnTo>
                <a:lnTo>
                  <a:pt x="46100" y="244728"/>
                </a:lnTo>
                <a:lnTo>
                  <a:pt x="32496" y="203136"/>
                </a:lnTo>
                <a:lnTo>
                  <a:pt x="27940" y="151637"/>
                </a:lnTo>
                <a:lnTo>
                  <a:pt x="29081" y="125468"/>
                </a:lnTo>
                <a:lnTo>
                  <a:pt x="38173" y="80129"/>
                </a:lnTo>
                <a:lnTo>
                  <a:pt x="56386" y="44360"/>
                </a:lnTo>
                <a:lnTo>
                  <a:pt x="101981" y="12446"/>
                </a:lnTo>
                <a:lnTo>
                  <a:pt x="976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07579" y="2255266"/>
            <a:ext cx="716280" cy="306705"/>
          </a:xfrm>
          <a:custGeom>
            <a:avLst/>
            <a:gdLst/>
            <a:ahLst/>
            <a:cxnLst/>
            <a:rect l="l" t="t" r="r" b="b"/>
            <a:pathLst>
              <a:path w="716279" h="306705">
                <a:moveTo>
                  <a:pt x="618490" y="0"/>
                </a:moveTo>
                <a:lnTo>
                  <a:pt x="614045" y="12446"/>
                </a:lnTo>
                <a:lnTo>
                  <a:pt x="631834" y="20115"/>
                </a:lnTo>
                <a:lnTo>
                  <a:pt x="647112" y="30749"/>
                </a:lnTo>
                <a:lnTo>
                  <a:pt x="678033" y="80129"/>
                </a:lnTo>
                <a:lnTo>
                  <a:pt x="687073" y="125468"/>
                </a:lnTo>
                <a:lnTo>
                  <a:pt x="688213" y="151637"/>
                </a:lnTo>
                <a:lnTo>
                  <a:pt x="687071" y="178613"/>
                </a:lnTo>
                <a:lnTo>
                  <a:pt x="677979" y="225182"/>
                </a:lnTo>
                <a:lnTo>
                  <a:pt x="659790" y="261588"/>
                </a:lnTo>
                <a:lnTo>
                  <a:pt x="614552" y="293878"/>
                </a:lnTo>
                <a:lnTo>
                  <a:pt x="618490" y="306324"/>
                </a:lnTo>
                <a:lnTo>
                  <a:pt x="660225" y="286670"/>
                </a:lnTo>
                <a:lnTo>
                  <a:pt x="691006" y="252730"/>
                </a:lnTo>
                <a:lnTo>
                  <a:pt x="709866" y="207279"/>
                </a:lnTo>
                <a:lnTo>
                  <a:pt x="716152" y="153162"/>
                </a:lnTo>
                <a:lnTo>
                  <a:pt x="714579" y="125085"/>
                </a:lnTo>
                <a:lnTo>
                  <a:pt x="701954" y="75312"/>
                </a:lnTo>
                <a:lnTo>
                  <a:pt x="676854" y="34807"/>
                </a:lnTo>
                <a:lnTo>
                  <a:pt x="640659" y="7999"/>
                </a:lnTo>
                <a:lnTo>
                  <a:pt x="618490" y="0"/>
                </a:lnTo>
                <a:close/>
              </a:path>
              <a:path w="716279" h="306705">
                <a:moveTo>
                  <a:pt x="97663" y="0"/>
                </a:moveTo>
                <a:lnTo>
                  <a:pt x="56038" y="19605"/>
                </a:lnTo>
                <a:lnTo>
                  <a:pt x="25273" y="53594"/>
                </a:lnTo>
                <a:lnTo>
                  <a:pt x="6302" y="99139"/>
                </a:lnTo>
                <a:lnTo>
                  <a:pt x="0" y="153162"/>
                </a:lnTo>
                <a:lnTo>
                  <a:pt x="1571" y="181310"/>
                </a:lnTo>
                <a:lnTo>
                  <a:pt x="14144" y="231082"/>
                </a:lnTo>
                <a:lnTo>
                  <a:pt x="39119" y="271498"/>
                </a:lnTo>
                <a:lnTo>
                  <a:pt x="75402" y="298271"/>
                </a:lnTo>
                <a:lnTo>
                  <a:pt x="97663" y="306324"/>
                </a:lnTo>
                <a:lnTo>
                  <a:pt x="101600" y="293878"/>
                </a:lnTo>
                <a:lnTo>
                  <a:pt x="84123" y="286162"/>
                </a:lnTo>
                <a:lnTo>
                  <a:pt x="69040" y="275399"/>
                </a:lnTo>
                <a:lnTo>
                  <a:pt x="46100" y="244729"/>
                </a:lnTo>
                <a:lnTo>
                  <a:pt x="32496" y="203136"/>
                </a:lnTo>
                <a:lnTo>
                  <a:pt x="27940" y="151637"/>
                </a:lnTo>
                <a:lnTo>
                  <a:pt x="29081" y="125468"/>
                </a:lnTo>
                <a:lnTo>
                  <a:pt x="38173" y="80129"/>
                </a:lnTo>
                <a:lnTo>
                  <a:pt x="56386" y="44360"/>
                </a:lnTo>
                <a:lnTo>
                  <a:pt x="101980" y="12446"/>
                </a:lnTo>
                <a:lnTo>
                  <a:pt x="976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466958" y="2255266"/>
            <a:ext cx="718185" cy="306705"/>
          </a:xfrm>
          <a:custGeom>
            <a:avLst/>
            <a:gdLst/>
            <a:ahLst/>
            <a:cxnLst/>
            <a:rect l="l" t="t" r="r" b="b"/>
            <a:pathLst>
              <a:path w="718184" h="306705">
                <a:moveTo>
                  <a:pt x="620014" y="0"/>
                </a:moveTo>
                <a:lnTo>
                  <a:pt x="615569" y="12446"/>
                </a:lnTo>
                <a:lnTo>
                  <a:pt x="633358" y="20115"/>
                </a:lnTo>
                <a:lnTo>
                  <a:pt x="648636" y="30749"/>
                </a:lnTo>
                <a:lnTo>
                  <a:pt x="679557" y="80129"/>
                </a:lnTo>
                <a:lnTo>
                  <a:pt x="688597" y="125468"/>
                </a:lnTo>
                <a:lnTo>
                  <a:pt x="689737" y="151637"/>
                </a:lnTo>
                <a:lnTo>
                  <a:pt x="688595" y="178613"/>
                </a:lnTo>
                <a:lnTo>
                  <a:pt x="679503" y="225182"/>
                </a:lnTo>
                <a:lnTo>
                  <a:pt x="661314" y="261588"/>
                </a:lnTo>
                <a:lnTo>
                  <a:pt x="616076" y="293878"/>
                </a:lnTo>
                <a:lnTo>
                  <a:pt x="620014" y="306324"/>
                </a:lnTo>
                <a:lnTo>
                  <a:pt x="661749" y="286670"/>
                </a:lnTo>
                <a:lnTo>
                  <a:pt x="692531" y="252730"/>
                </a:lnTo>
                <a:lnTo>
                  <a:pt x="711390" y="207279"/>
                </a:lnTo>
                <a:lnTo>
                  <a:pt x="717676" y="153162"/>
                </a:lnTo>
                <a:lnTo>
                  <a:pt x="716103" y="125085"/>
                </a:lnTo>
                <a:lnTo>
                  <a:pt x="703478" y="75312"/>
                </a:lnTo>
                <a:lnTo>
                  <a:pt x="678378" y="34807"/>
                </a:lnTo>
                <a:lnTo>
                  <a:pt x="642183" y="7999"/>
                </a:lnTo>
                <a:lnTo>
                  <a:pt x="620014" y="0"/>
                </a:lnTo>
                <a:close/>
              </a:path>
              <a:path w="718184" h="306705">
                <a:moveTo>
                  <a:pt x="97663" y="0"/>
                </a:moveTo>
                <a:lnTo>
                  <a:pt x="56038" y="19605"/>
                </a:lnTo>
                <a:lnTo>
                  <a:pt x="25273" y="53594"/>
                </a:lnTo>
                <a:lnTo>
                  <a:pt x="6302" y="99139"/>
                </a:lnTo>
                <a:lnTo>
                  <a:pt x="0" y="153162"/>
                </a:lnTo>
                <a:lnTo>
                  <a:pt x="1571" y="181310"/>
                </a:lnTo>
                <a:lnTo>
                  <a:pt x="14144" y="231082"/>
                </a:lnTo>
                <a:lnTo>
                  <a:pt x="39119" y="271498"/>
                </a:lnTo>
                <a:lnTo>
                  <a:pt x="75402" y="298271"/>
                </a:lnTo>
                <a:lnTo>
                  <a:pt x="97663" y="306324"/>
                </a:lnTo>
                <a:lnTo>
                  <a:pt x="101600" y="293878"/>
                </a:lnTo>
                <a:lnTo>
                  <a:pt x="84123" y="286162"/>
                </a:lnTo>
                <a:lnTo>
                  <a:pt x="69040" y="275399"/>
                </a:lnTo>
                <a:lnTo>
                  <a:pt x="46100" y="244729"/>
                </a:lnTo>
                <a:lnTo>
                  <a:pt x="32496" y="203136"/>
                </a:lnTo>
                <a:lnTo>
                  <a:pt x="27940" y="151637"/>
                </a:lnTo>
                <a:lnTo>
                  <a:pt x="29081" y="125468"/>
                </a:lnTo>
                <a:lnTo>
                  <a:pt x="38173" y="80129"/>
                </a:lnTo>
                <a:lnTo>
                  <a:pt x="56386" y="44360"/>
                </a:lnTo>
                <a:lnTo>
                  <a:pt x="101981" y="12446"/>
                </a:lnTo>
                <a:lnTo>
                  <a:pt x="976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18218" y="2610357"/>
            <a:ext cx="403860" cy="306705"/>
          </a:xfrm>
          <a:custGeom>
            <a:avLst/>
            <a:gdLst/>
            <a:ahLst/>
            <a:cxnLst/>
            <a:rect l="l" t="t" r="r" b="b"/>
            <a:pathLst>
              <a:path w="403859" h="306705">
                <a:moveTo>
                  <a:pt x="306070" y="0"/>
                </a:moveTo>
                <a:lnTo>
                  <a:pt x="301625" y="12445"/>
                </a:lnTo>
                <a:lnTo>
                  <a:pt x="319414" y="20115"/>
                </a:lnTo>
                <a:lnTo>
                  <a:pt x="334692" y="30749"/>
                </a:lnTo>
                <a:lnTo>
                  <a:pt x="365613" y="80129"/>
                </a:lnTo>
                <a:lnTo>
                  <a:pt x="374653" y="125468"/>
                </a:lnTo>
                <a:lnTo>
                  <a:pt x="375792" y="151637"/>
                </a:lnTo>
                <a:lnTo>
                  <a:pt x="374651" y="178613"/>
                </a:lnTo>
                <a:lnTo>
                  <a:pt x="365559" y="225182"/>
                </a:lnTo>
                <a:lnTo>
                  <a:pt x="347370" y="261588"/>
                </a:lnTo>
                <a:lnTo>
                  <a:pt x="302132" y="293877"/>
                </a:lnTo>
                <a:lnTo>
                  <a:pt x="306070" y="306324"/>
                </a:lnTo>
                <a:lnTo>
                  <a:pt x="347805" y="286670"/>
                </a:lnTo>
                <a:lnTo>
                  <a:pt x="378586" y="252729"/>
                </a:lnTo>
                <a:lnTo>
                  <a:pt x="397446" y="207279"/>
                </a:lnTo>
                <a:lnTo>
                  <a:pt x="403732" y="153162"/>
                </a:lnTo>
                <a:lnTo>
                  <a:pt x="402159" y="125085"/>
                </a:lnTo>
                <a:lnTo>
                  <a:pt x="389534" y="75312"/>
                </a:lnTo>
                <a:lnTo>
                  <a:pt x="364434" y="34807"/>
                </a:lnTo>
                <a:lnTo>
                  <a:pt x="328239" y="7999"/>
                </a:lnTo>
                <a:lnTo>
                  <a:pt x="306070" y="0"/>
                </a:lnTo>
                <a:close/>
              </a:path>
              <a:path w="403859" h="306705">
                <a:moveTo>
                  <a:pt x="97662" y="0"/>
                </a:moveTo>
                <a:lnTo>
                  <a:pt x="56038" y="19605"/>
                </a:lnTo>
                <a:lnTo>
                  <a:pt x="25273" y="53593"/>
                </a:lnTo>
                <a:lnTo>
                  <a:pt x="6302" y="99139"/>
                </a:lnTo>
                <a:lnTo>
                  <a:pt x="0" y="153162"/>
                </a:lnTo>
                <a:lnTo>
                  <a:pt x="1571" y="181310"/>
                </a:lnTo>
                <a:lnTo>
                  <a:pt x="14144" y="231082"/>
                </a:lnTo>
                <a:lnTo>
                  <a:pt x="39119" y="271498"/>
                </a:lnTo>
                <a:lnTo>
                  <a:pt x="75402" y="298271"/>
                </a:lnTo>
                <a:lnTo>
                  <a:pt x="97662" y="306324"/>
                </a:lnTo>
                <a:lnTo>
                  <a:pt x="101600" y="293877"/>
                </a:lnTo>
                <a:lnTo>
                  <a:pt x="84123" y="286162"/>
                </a:lnTo>
                <a:lnTo>
                  <a:pt x="69040" y="275399"/>
                </a:lnTo>
                <a:lnTo>
                  <a:pt x="46100" y="244728"/>
                </a:lnTo>
                <a:lnTo>
                  <a:pt x="32496" y="203136"/>
                </a:lnTo>
                <a:lnTo>
                  <a:pt x="27939" y="151637"/>
                </a:lnTo>
                <a:lnTo>
                  <a:pt x="29081" y="125468"/>
                </a:lnTo>
                <a:lnTo>
                  <a:pt x="38173" y="80129"/>
                </a:lnTo>
                <a:lnTo>
                  <a:pt x="56386" y="44360"/>
                </a:lnTo>
                <a:lnTo>
                  <a:pt x="101980" y="12445"/>
                </a:lnTo>
                <a:lnTo>
                  <a:pt x="97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009003" y="2966973"/>
            <a:ext cx="2135505" cy="306705"/>
          </a:xfrm>
          <a:custGeom>
            <a:avLst/>
            <a:gdLst/>
            <a:ahLst/>
            <a:cxnLst/>
            <a:rect l="l" t="t" r="r" b="b"/>
            <a:pathLst>
              <a:path w="2135504" h="306704">
                <a:moveTo>
                  <a:pt x="2037333" y="0"/>
                </a:moveTo>
                <a:lnTo>
                  <a:pt x="2032889" y="12446"/>
                </a:lnTo>
                <a:lnTo>
                  <a:pt x="2050678" y="20115"/>
                </a:lnTo>
                <a:lnTo>
                  <a:pt x="2065956" y="30749"/>
                </a:lnTo>
                <a:lnTo>
                  <a:pt x="2096877" y="80129"/>
                </a:lnTo>
                <a:lnTo>
                  <a:pt x="2105917" y="125468"/>
                </a:lnTo>
                <a:lnTo>
                  <a:pt x="2107056" y="151637"/>
                </a:lnTo>
                <a:lnTo>
                  <a:pt x="2105915" y="178613"/>
                </a:lnTo>
                <a:lnTo>
                  <a:pt x="2096823" y="225182"/>
                </a:lnTo>
                <a:lnTo>
                  <a:pt x="2078634" y="261588"/>
                </a:lnTo>
                <a:lnTo>
                  <a:pt x="2033397" y="293877"/>
                </a:lnTo>
                <a:lnTo>
                  <a:pt x="2037333" y="306324"/>
                </a:lnTo>
                <a:lnTo>
                  <a:pt x="2079069" y="286670"/>
                </a:lnTo>
                <a:lnTo>
                  <a:pt x="2109851" y="252729"/>
                </a:lnTo>
                <a:lnTo>
                  <a:pt x="2128710" y="207279"/>
                </a:lnTo>
                <a:lnTo>
                  <a:pt x="2134997" y="153162"/>
                </a:lnTo>
                <a:lnTo>
                  <a:pt x="2133423" y="125085"/>
                </a:lnTo>
                <a:lnTo>
                  <a:pt x="2120798" y="75312"/>
                </a:lnTo>
                <a:lnTo>
                  <a:pt x="2095698" y="34807"/>
                </a:lnTo>
                <a:lnTo>
                  <a:pt x="2059503" y="7999"/>
                </a:lnTo>
                <a:lnTo>
                  <a:pt x="2037333" y="0"/>
                </a:lnTo>
                <a:close/>
              </a:path>
              <a:path w="2135504" h="306704">
                <a:moveTo>
                  <a:pt x="97663" y="0"/>
                </a:moveTo>
                <a:lnTo>
                  <a:pt x="56038" y="19605"/>
                </a:lnTo>
                <a:lnTo>
                  <a:pt x="25273" y="53593"/>
                </a:lnTo>
                <a:lnTo>
                  <a:pt x="6302" y="99139"/>
                </a:lnTo>
                <a:lnTo>
                  <a:pt x="0" y="153162"/>
                </a:lnTo>
                <a:lnTo>
                  <a:pt x="1571" y="181310"/>
                </a:lnTo>
                <a:lnTo>
                  <a:pt x="14144" y="231082"/>
                </a:lnTo>
                <a:lnTo>
                  <a:pt x="39119" y="271498"/>
                </a:lnTo>
                <a:lnTo>
                  <a:pt x="75402" y="298271"/>
                </a:lnTo>
                <a:lnTo>
                  <a:pt x="97663" y="306324"/>
                </a:lnTo>
                <a:lnTo>
                  <a:pt x="101600" y="293877"/>
                </a:lnTo>
                <a:lnTo>
                  <a:pt x="84123" y="286162"/>
                </a:lnTo>
                <a:lnTo>
                  <a:pt x="69040" y="275399"/>
                </a:lnTo>
                <a:lnTo>
                  <a:pt x="46100" y="244728"/>
                </a:lnTo>
                <a:lnTo>
                  <a:pt x="32496" y="203136"/>
                </a:lnTo>
                <a:lnTo>
                  <a:pt x="27940" y="151637"/>
                </a:lnTo>
                <a:lnTo>
                  <a:pt x="29081" y="125468"/>
                </a:lnTo>
                <a:lnTo>
                  <a:pt x="38173" y="80129"/>
                </a:lnTo>
                <a:lnTo>
                  <a:pt x="56386" y="44360"/>
                </a:lnTo>
                <a:lnTo>
                  <a:pt x="101980" y="12446"/>
                </a:lnTo>
                <a:lnTo>
                  <a:pt x="976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341991" y="2966973"/>
            <a:ext cx="855344" cy="306705"/>
          </a:xfrm>
          <a:custGeom>
            <a:avLst/>
            <a:gdLst/>
            <a:ahLst/>
            <a:cxnLst/>
            <a:rect l="l" t="t" r="r" b="b"/>
            <a:pathLst>
              <a:path w="855345" h="306704">
                <a:moveTo>
                  <a:pt x="757174" y="0"/>
                </a:moveTo>
                <a:lnTo>
                  <a:pt x="752728" y="12446"/>
                </a:lnTo>
                <a:lnTo>
                  <a:pt x="770518" y="20115"/>
                </a:lnTo>
                <a:lnTo>
                  <a:pt x="785796" y="30749"/>
                </a:lnTo>
                <a:lnTo>
                  <a:pt x="816717" y="80129"/>
                </a:lnTo>
                <a:lnTo>
                  <a:pt x="825757" y="125468"/>
                </a:lnTo>
                <a:lnTo>
                  <a:pt x="826897" y="151637"/>
                </a:lnTo>
                <a:lnTo>
                  <a:pt x="825755" y="178613"/>
                </a:lnTo>
                <a:lnTo>
                  <a:pt x="816663" y="225182"/>
                </a:lnTo>
                <a:lnTo>
                  <a:pt x="798474" y="261588"/>
                </a:lnTo>
                <a:lnTo>
                  <a:pt x="753236" y="293877"/>
                </a:lnTo>
                <a:lnTo>
                  <a:pt x="757174" y="306324"/>
                </a:lnTo>
                <a:lnTo>
                  <a:pt x="798909" y="286670"/>
                </a:lnTo>
                <a:lnTo>
                  <a:pt x="829690" y="252729"/>
                </a:lnTo>
                <a:lnTo>
                  <a:pt x="848550" y="207279"/>
                </a:lnTo>
                <a:lnTo>
                  <a:pt x="854836" y="153162"/>
                </a:lnTo>
                <a:lnTo>
                  <a:pt x="853263" y="125085"/>
                </a:lnTo>
                <a:lnTo>
                  <a:pt x="840638" y="75312"/>
                </a:lnTo>
                <a:lnTo>
                  <a:pt x="815538" y="34807"/>
                </a:lnTo>
                <a:lnTo>
                  <a:pt x="779343" y="7999"/>
                </a:lnTo>
                <a:lnTo>
                  <a:pt x="757174" y="0"/>
                </a:lnTo>
                <a:close/>
              </a:path>
              <a:path w="855345" h="306704">
                <a:moveTo>
                  <a:pt x="97662" y="0"/>
                </a:moveTo>
                <a:lnTo>
                  <a:pt x="56038" y="19605"/>
                </a:lnTo>
                <a:lnTo>
                  <a:pt x="25273" y="53593"/>
                </a:lnTo>
                <a:lnTo>
                  <a:pt x="6302" y="99139"/>
                </a:lnTo>
                <a:lnTo>
                  <a:pt x="0" y="153162"/>
                </a:lnTo>
                <a:lnTo>
                  <a:pt x="1571" y="181310"/>
                </a:lnTo>
                <a:lnTo>
                  <a:pt x="14144" y="231082"/>
                </a:lnTo>
                <a:lnTo>
                  <a:pt x="39119" y="271498"/>
                </a:lnTo>
                <a:lnTo>
                  <a:pt x="75402" y="298271"/>
                </a:lnTo>
                <a:lnTo>
                  <a:pt x="97662" y="306324"/>
                </a:lnTo>
                <a:lnTo>
                  <a:pt x="101600" y="293877"/>
                </a:lnTo>
                <a:lnTo>
                  <a:pt x="84123" y="286162"/>
                </a:lnTo>
                <a:lnTo>
                  <a:pt x="69040" y="275399"/>
                </a:lnTo>
                <a:lnTo>
                  <a:pt x="46100" y="244728"/>
                </a:lnTo>
                <a:lnTo>
                  <a:pt x="32496" y="203136"/>
                </a:lnTo>
                <a:lnTo>
                  <a:pt x="27939" y="151637"/>
                </a:lnTo>
                <a:lnTo>
                  <a:pt x="29081" y="125468"/>
                </a:lnTo>
                <a:lnTo>
                  <a:pt x="38173" y="80129"/>
                </a:lnTo>
                <a:lnTo>
                  <a:pt x="56386" y="44360"/>
                </a:lnTo>
                <a:lnTo>
                  <a:pt x="101980" y="12446"/>
                </a:lnTo>
                <a:lnTo>
                  <a:pt x="97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28687" y="3323589"/>
            <a:ext cx="1545590" cy="657225"/>
          </a:xfrm>
          <a:custGeom>
            <a:avLst/>
            <a:gdLst/>
            <a:ahLst/>
            <a:cxnLst/>
            <a:rect l="l" t="t" r="r" b="b"/>
            <a:pathLst>
              <a:path w="1545590" h="657225">
                <a:moveTo>
                  <a:pt x="101981" y="12446"/>
                </a:moveTo>
                <a:lnTo>
                  <a:pt x="97663" y="0"/>
                </a:lnTo>
                <a:lnTo>
                  <a:pt x="75488" y="8001"/>
                </a:lnTo>
                <a:lnTo>
                  <a:pt x="56032" y="19608"/>
                </a:lnTo>
                <a:lnTo>
                  <a:pt x="25273" y="53594"/>
                </a:lnTo>
                <a:lnTo>
                  <a:pt x="6299" y="99148"/>
                </a:lnTo>
                <a:lnTo>
                  <a:pt x="0" y="153162"/>
                </a:lnTo>
                <a:lnTo>
                  <a:pt x="1562" y="181317"/>
                </a:lnTo>
                <a:lnTo>
                  <a:pt x="14135" y="231089"/>
                </a:lnTo>
                <a:lnTo>
                  <a:pt x="39116" y="271500"/>
                </a:lnTo>
                <a:lnTo>
                  <a:pt x="75399" y="298272"/>
                </a:lnTo>
                <a:lnTo>
                  <a:pt x="97663" y="306324"/>
                </a:lnTo>
                <a:lnTo>
                  <a:pt x="101600" y="293878"/>
                </a:lnTo>
                <a:lnTo>
                  <a:pt x="84112" y="286169"/>
                </a:lnTo>
                <a:lnTo>
                  <a:pt x="69037" y="275399"/>
                </a:lnTo>
                <a:lnTo>
                  <a:pt x="46101" y="244741"/>
                </a:lnTo>
                <a:lnTo>
                  <a:pt x="32486" y="203149"/>
                </a:lnTo>
                <a:lnTo>
                  <a:pt x="27940" y="151638"/>
                </a:lnTo>
                <a:lnTo>
                  <a:pt x="29070" y="125476"/>
                </a:lnTo>
                <a:lnTo>
                  <a:pt x="38163" y="80137"/>
                </a:lnTo>
                <a:lnTo>
                  <a:pt x="56375" y="44361"/>
                </a:lnTo>
                <a:lnTo>
                  <a:pt x="84328" y="20116"/>
                </a:lnTo>
                <a:lnTo>
                  <a:pt x="101981" y="12446"/>
                </a:lnTo>
                <a:close/>
              </a:path>
              <a:path w="1545590" h="657225">
                <a:moveTo>
                  <a:pt x="955421" y="362966"/>
                </a:moveTo>
                <a:lnTo>
                  <a:pt x="951103" y="350520"/>
                </a:lnTo>
                <a:lnTo>
                  <a:pt x="928928" y="358521"/>
                </a:lnTo>
                <a:lnTo>
                  <a:pt x="909472" y="370128"/>
                </a:lnTo>
                <a:lnTo>
                  <a:pt x="878713" y="404114"/>
                </a:lnTo>
                <a:lnTo>
                  <a:pt x="859739" y="449668"/>
                </a:lnTo>
                <a:lnTo>
                  <a:pt x="853440" y="503682"/>
                </a:lnTo>
                <a:lnTo>
                  <a:pt x="855002" y="531837"/>
                </a:lnTo>
                <a:lnTo>
                  <a:pt x="867575" y="581609"/>
                </a:lnTo>
                <a:lnTo>
                  <a:pt x="892556" y="622020"/>
                </a:lnTo>
                <a:lnTo>
                  <a:pt x="928839" y="648792"/>
                </a:lnTo>
                <a:lnTo>
                  <a:pt x="951103" y="656844"/>
                </a:lnTo>
                <a:lnTo>
                  <a:pt x="955040" y="644398"/>
                </a:lnTo>
                <a:lnTo>
                  <a:pt x="937552" y="636689"/>
                </a:lnTo>
                <a:lnTo>
                  <a:pt x="922477" y="625919"/>
                </a:lnTo>
                <a:lnTo>
                  <a:pt x="899541" y="595249"/>
                </a:lnTo>
                <a:lnTo>
                  <a:pt x="885926" y="553656"/>
                </a:lnTo>
                <a:lnTo>
                  <a:pt x="881380" y="502158"/>
                </a:lnTo>
                <a:lnTo>
                  <a:pt x="882510" y="475996"/>
                </a:lnTo>
                <a:lnTo>
                  <a:pt x="891603" y="430657"/>
                </a:lnTo>
                <a:lnTo>
                  <a:pt x="909815" y="394881"/>
                </a:lnTo>
                <a:lnTo>
                  <a:pt x="937768" y="370636"/>
                </a:lnTo>
                <a:lnTo>
                  <a:pt x="955421" y="362966"/>
                </a:lnTo>
                <a:close/>
              </a:path>
              <a:path w="1545590" h="657225">
                <a:moveTo>
                  <a:pt x="1165733" y="153162"/>
                </a:moveTo>
                <a:lnTo>
                  <a:pt x="1159421" y="99148"/>
                </a:lnTo>
                <a:lnTo>
                  <a:pt x="1140460" y="53594"/>
                </a:lnTo>
                <a:lnTo>
                  <a:pt x="1109687" y="19608"/>
                </a:lnTo>
                <a:lnTo>
                  <a:pt x="1068070" y="0"/>
                </a:lnTo>
                <a:lnTo>
                  <a:pt x="1063625" y="12446"/>
                </a:lnTo>
                <a:lnTo>
                  <a:pt x="1081405" y="20116"/>
                </a:lnTo>
                <a:lnTo>
                  <a:pt x="1096683" y="30759"/>
                </a:lnTo>
                <a:lnTo>
                  <a:pt x="1127607" y="80137"/>
                </a:lnTo>
                <a:lnTo>
                  <a:pt x="1136650" y="125476"/>
                </a:lnTo>
                <a:lnTo>
                  <a:pt x="1137793" y="151638"/>
                </a:lnTo>
                <a:lnTo>
                  <a:pt x="1136650" y="178625"/>
                </a:lnTo>
                <a:lnTo>
                  <a:pt x="1127556" y="225183"/>
                </a:lnTo>
                <a:lnTo>
                  <a:pt x="1109370" y="261594"/>
                </a:lnTo>
                <a:lnTo>
                  <a:pt x="1064133" y="293878"/>
                </a:lnTo>
                <a:lnTo>
                  <a:pt x="1068070" y="306324"/>
                </a:lnTo>
                <a:lnTo>
                  <a:pt x="1109802" y="286677"/>
                </a:lnTo>
                <a:lnTo>
                  <a:pt x="1140587" y="252742"/>
                </a:lnTo>
                <a:lnTo>
                  <a:pt x="1159446" y="207289"/>
                </a:lnTo>
                <a:lnTo>
                  <a:pt x="1164158" y="181317"/>
                </a:lnTo>
                <a:lnTo>
                  <a:pt x="1165733" y="153162"/>
                </a:lnTo>
                <a:close/>
              </a:path>
              <a:path w="1545590" h="657225">
                <a:moveTo>
                  <a:pt x="1545209" y="503682"/>
                </a:moveTo>
                <a:lnTo>
                  <a:pt x="1538897" y="449668"/>
                </a:lnTo>
                <a:lnTo>
                  <a:pt x="1519936" y="404114"/>
                </a:lnTo>
                <a:lnTo>
                  <a:pt x="1489163" y="370128"/>
                </a:lnTo>
                <a:lnTo>
                  <a:pt x="1447546" y="350520"/>
                </a:lnTo>
                <a:lnTo>
                  <a:pt x="1443101" y="362966"/>
                </a:lnTo>
                <a:lnTo>
                  <a:pt x="1460881" y="370636"/>
                </a:lnTo>
                <a:lnTo>
                  <a:pt x="1476159" y="381279"/>
                </a:lnTo>
                <a:lnTo>
                  <a:pt x="1507083" y="430657"/>
                </a:lnTo>
                <a:lnTo>
                  <a:pt x="1516126" y="475996"/>
                </a:lnTo>
                <a:lnTo>
                  <a:pt x="1517269" y="502158"/>
                </a:lnTo>
                <a:lnTo>
                  <a:pt x="1516126" y="529145"/>
                </a:lnTo>
                <a:lnTo>
                  <a:pt x="1507032" y="575703"/>
                </a:lnTo>
                <a:lnTo>
                  <a:pt x="1488846" y="612114"/>
                </a:lnTo>
                <a:lnTo>
                  <a:pt x="1443609" y="644398"/>
                </a:lnTo>
                <a:lnTo>
                  <a:pt x="1447546" y="656844"/>
                </a:lnTo>
                <a:lnTo>
                  <a:pt x="1489278" y="637197"/>
                </a:lnTo>
                <a:lnTo>
                  <a:pt x="1520063" y="603250"/>
                </a:lnTo>
                <a:lnTo>
                  <a:pt x="1538922" y="557809"/>
                </a:lnTo>
                <a:lnTo>
                  <a:pt x="1543634" y="531837"/>
                </a:lnTo>
                <a:lnTo>
                  <a:pt x="1545209" y="5036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900031" y="3323589"/>
            <a:ext cx="1176655" cy="657225"/>
          </a:xfrm>
          <a:custGeom>
            <a:avLst/>
            <a:gdLst/>
            <a:ahLst/>
            <a:cxnLst/>
            <a:rect l="l" t="t" r="r" b="b"/>
            <a:pathLst>
              <a:path w="1176654" h="657225">
                <a:moveTo>
                  <a:pt x="101981" y="12446"/>
                </a:moveTo>
                <a:lnTo>
                  <a:pt x="97663" y="0"/>
                </a:lnTo>
                <a:lnTo>
                  <a:pt x="75488" y="8001"/>
                </a:lnTo>
                <a:lnTo>
                  <a:pt x="56032" y="19608"/>
                </a:lnTo>
                <a:lnTo>
                  <a:pt x="25273" y="53594"/>
                </a:lnTo>
                <a:lnTo>
                  <a:pt x="6299" y="99148"/>
                </a:lnTo>
                <a:lnTo>
                  <a:pt x="0" y="153162"/>
                </a:lnTo>
                <a:lnTo>
                  <a:pt x="1562" y="181317"/>
                </a:lnTo>
                <a:lnTo>
                  <a:pt x="14135" y="231089"/>
                </a:lnTo>
                <a:lnTo>
                  <a:pt x="39116" y="271500"/>
                </a:lnTo>
                <a:lnTo>
                  <a:pt x="75399" y="298272"/>
                </a:lnTo>
                <a:lnTo>
                  <a:pt x="97663" y="306324"/>
                </a:lnTo>
                <a:lnTo>
                  <a:pt x="101600" y="293878"/>
                </a:lnTo>
                <a:lnTo>
                  <a:pt x="84112" y="286169"/>
                </a:lnTo>
                <a:lnTo>
                  <a:pt x="69037" y="275399"/>
                </a:lnTo>
                <a:lnTo>
                  <a:pt x="46101" y="244741"/>
                </a:lnTo>
                <a:lnTo>
                  <a:pt x="32486" y="203149"/>
                </a:lnTo>
                <a:lnTo>
                  <a:pt x="27940" y="151638"/>
                </a:lnTo>
                <a:lnTo>
                  <a:pt x="29070" y="125476"/>
                </a:lnTo>
                <a:lnTo>
                  <a:pt x="38163" y="80137"/>
                </a:lnTo>
                <a:lnTo>
                  <a:pt x="56375" y="44361"/>
                </a:lnTo>
                <a:lnTo>
                  <a:pt x="84328" y="20116"/>
                </a:lnTo>
                <a:lnTo>
                  <a:pt x="101981" y="12446"/>
                </a:lnTo>
                <a:close/>
              </a:path>
              <a:path w="1176654" h="657225">
                <a:moveTo>
                  <a:pt x="583565" y="362966"/>
                </a:moveTo>
                <a:lnTo>
                  <a:pt x="579247" y="350520"/>
                </a:lnTo>
                <a:lnTo>
                  <a:pt x="557072" y="358521"/>
                </a:lnTo>
                <a:lnTo>
                  <a:pt x="537616" y="370128"/>
                </a:lnTo>
                <a:lnTo>
                  <a:pt x="506857" y="404114"/>
                </a:lnTo>
                <a:lnTo>
                  <a:pt x="487883" y="449668"/>
                </a:lnTo>
                <a:lnTo>
                  <a:pt x="481584" y="503682"/>
                </a:lnTo>
                <a:lnTo>
                  <a:pt x="483146" y="531837"/>
                </a:lnTo>
                <a:lnTo>
                  <a:pt x="495719" y="581609"/>
                </a:lnTo>
                <a:lnTo>
                  <a:pt x="520700" y="622020"/>
                </a:lnTo>
                <a:lnTo>
                  <a:pt x="556983" y="648792"/>
                </a:lnTo>
                <a:lnTo>
                  <a:pt x="579247" y="656844"/>
                </a:lnTo>
                <a:lnTo>
                  <a:pt x="583184" y="644398"/>
                </a:lnTo>
                <a:lnTo>
                  <a:pt x="565696" y="636689"/>
                </a:lnTo>
                <a:lnTo>
                  <a:pt x="550621" y="625919"/>
                </a:lnTo>
                <a:lnTo>
                  <a:pt x="527685" y="595249"/>
                </a:lnTo>
                <a:lnTo>
                  <a:pt x="514070" y="553656"/>
                </a:lnTo>
                <a:lnTo>
                  <a:pt x="509524" y="502158"/>
                </a:lnTo>
                <a:lnTo>
                  <a:pt x="510654" y="475996"/>
                </a:lnTo>
                <a:lnTo>
                  <a:pt x="519747" y="430657"/>
                </a:lnTo>
                <a:lnTo>
                  <a:pt x="537959" y="394881"/>
                </a:lnTo>
                <a:lnTo>
                  <a:pt x="565912" y="370636"/>
                </a:lnTo>
                <a:lnTo>
                  <a:pt x="583565" y="362966"/>
                </a:lnTo>
                <a:close/>
              </a:path>
              <a:path w="1176654" h="657225">
                <a:moveTo>
                  <a:pt x="1161161" y="153162"/>
                </a:moveTo>
                <a:lnTo>
                  <a:pt x="1154849" y="99148"/>
                </a:lnTo>
                <a:lnTo>
                  <a:pt x="1135888" y="53594"/>
                </a:lnTo>
                <a:lnTo>
                  <a:pt x="1105115" y="19608"/>
                </a:lnTo>
                <a:lnTo>
                  <a:pt x="1063498" y="0"/>
                </a:lnTo>
                <a:lnTo>
                  <a:pt x="1059053" y="12446"/>
                </a:lnTo>
                <a:lnTo>
                  <a:pt x="1076833" y="20116"/>
                </a:lnTo>
                <a:lnTo>
                  <a:pt x="1092111" y="30759"/>
                </a:lnTo>
                <a:lnTo>
                  <a:pt x="1123035" y="80137"/>
                </a:lnTo>
                <a:lnTo>
                  <a:pt x="1132078" y="125476"/>
                </a:lnTo>
                <a:lnTo>
                  <a:pt x="1133221" y="151638"/>
                </a:lnTo>
                <a:lnTo>
                  <a:pt x="1132078" y="178625"/>
                </a:lnTo>
                <a:lnTo>
                  <a:pt x="1122984" y="225183"/>
                </a:lnTo>
                <a:lnTo>
                  <a:pt x="1104798" y="261594"/>
                </a:lnTo>
                <a:lnTo>
                  <a:pt x="1059561" y="293878"/>
                </a:lnTo>
                <a:lnTo>
                  <a:pt x="1063498" y="306324"/>
                </a:lnTo>
                <a:lnTo>
                  <a:pt x="1105230" y="286677"/>
                </a:lnTo>
                <a:lnTo>
                  <a:pt x="1136015" y="252742"/>
                </a:lnTo>
                <a:lnTo>
                  <a:pt x="1154874" y="207289"/>
                </a:lnTo>
                <a:lnTo>
                  <a:pt x="1159586" y="181317"/>
                </a:lnTo>
                <a:lnTo>
                  <a:pt x="1161161" y="153162"/>
                </a:lnTo>
                <a:close/>
              </a:path>
              <a:path w="1176654" h="657225">
                <a:moveTo>
                  <a:pt x="1176401" y="503682"/>
                </a:moveTo>
                <a:lnTo>
                  <a:pt x="1170089" y="449668"/>
                </a:lnTo>
                <a:lnTo>
                  <a:pt x="1151128" y="404114"/>
                </a:lnTo>
                <a:lnTo>
                  <a:pt x="1120355" y="370128"/>
                </a:lnTo>
                <a:lnTo>
                  <a:pt x="1078738" y="350520"/>
                </a:lnTo>
                <a:lnTo>
                  <a:pt x="1074293" y="362966"/>
                </a:lnTo>
                <a:lnTo>
                  <a:pt x="1092073" y="370636"/>
                </a:lnTo>
                <a:lnTo>
                  <a:pt x="1107351" y="381279"/>
                </a:lnTo>
                <a:lnTo>
                  <a:pt x="1138275" y="430657"/>
                </a:lnTo>
                <a:lnTo>
                  <a:pt x="1147318" y="475996"/>
                </a:lnTo>
                <a:lnTo>
                  <a:pt x="1148461" y="502158"/>
                </a:lnTo>
                <a:lnTo>
                  <a:pt x="1147318" y="529145"/>
                </a:lnTo>
                <a:lnTo>
                  <a:pt x="1138224" y="575703"/>
                </a:lnTo>
                <a:lnTo>
                  <a:pt x="1120038" y="612114"/>
                </a:lnTo>
                <a:lnTo>
                  <a:pt x="1074801" y="644398"/>
                </a:lnTo>
                <a:lnTo>
                  <a:pt x="1078738" y="656844"/>
                </a:lnTo>
                <a:lnTo>
                  <a:pt x="1120470" y="637197"/>
                </a:lnTo>
                <a:lnTo>
                  <a:pt x="1151255" y="603250"/>
                </a:lnTo>
                <a:lnTo>
                  <a:pt x="1170114" y="557809"/>
                </a:lnTo>
                <a:lnTo>
                  <a:pt x="1174826" y="531837"/>
                </a:lnTo>
                <a:lnTo>
                  <a:pt x="1176401" y="5036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031351" y="4029202"/>
            <a:ext cx="718185" cy="306705"/>
          </a:xfrm>
          <a:custGeom>
            <a:avLst/>
            <a:gdLst/>
            <a:ahLst/>
            <a:cxnLst/>
            <a:rect l="l" t="t" r="r" b="b"/>
            <a:pathLst>
              <a:path w="718184" h="306704">
                <a:moveTo>
                  <a:pt x="620014" y="0"/>
                </a:moveTo>
                <a:lnTo>
                  <a:pt x="615569" y="12446"/>
                </a:lnTo>
                <a:lnTo>
                  <a:pt x="633358" y="20115"/>
                </a:lnTo>
                <a:lnTo>
                  <a:pt x="648636" y="30749"/>
                </a:lnTo>
                <a:lnTo>
                  <a:pt x="679557" y="80129"/>
                </a:lnTo>
                <a:lnTo>
                  <a:pt x="688597" y="125468"/>
                </a:lnTo>
                <a:lnTo>
                  <a:pt x="689737" y="151637"/>
                </a:lnTo>
                <a:lnTo>
                  <a:pt x="688595" y="178613"/>
                </a:lnTo>
                <a:lnTo>
                  <a:pt x="679503" y="225182"/>
                </a:lnTo>
                <a:lnTo>
                  <a:pt x="661314" y="261588"/>
                </a:lnTo>
                <a:lnTo>
                  <a:pt x="616076" y="293878"/>
                </a:lnTo>
                <a:lnTo>
                  <a:pt x="620014" y="306324"/>
                </a:lnTo>
                <a:lnTo>
                  <a:pt x="661749" y="286670"/>
                </a:lnTo>
                <a:lnTo>
                  <a:pt x="692530" y="252730"/>
                </a:lnTo>
                <a:lnTo>
                  <a:pt x="711390" y="207279"/>
                </a:lnTo>
                <a:lnTo>
                  <a:pt x="717676" y="153162"/>
                </a:lnTo>
                <a:lnTo>
                  <a:pt x="716103" y="125085"/>
                </a:lnTo>
                <a:lnTo>
                  <a:pt x="703478" y="75312"/>
                </a:lnTo>
                <a:lnTo>
                  <a:pt x="678378" y="34807"/>
                </a:lnTo>
                <a:lnTo>
                  <a:pt x="642183" y="7999"/>
                </a:lnTo>
                <a:lnTo>
                  <a:pt x="620014" y="0"/>
                </a:lnTo>
                <a:close/>
              </a:path>
              <a:path w="718184" h="306704">
                <a:moveTo>
                  <a:pt x="97663" y="0"/>
                </a:moveTo>
                <a:lnTo>
                  <a:pt x="56038" y="19605"/>
                </a:lnTo>
                <a:lnTo>
                  <a:pt x="25273" y="53593"/>
                </a:lnTo>
                <a:lnTo>
                  <a:pt x="6302" y="99139"/>
                </a:lnTo>
                <a:lnTo>
                  <a:pt x="0" y="153162"/>
                </a:lnTo>
                <a:lnTo>
                  <a:pt x="1571" y="181310"/>
                </a:lnTo>
                <a:lnTo>
                  <a:pt x="14144" y="231082"/>
                </a:lnTo>
                <a:lnTo>
                  <a:pt x="39119" y="271498"/>
                </a:lnTo>
                <a:lnTo>
                  <a:pt x="75402" y="298271"/>
                </a:lnTo>
                <a:lnTo>
                  <a:pt x="97663" y="306324"/>
                </a:lnTo>
                <a:lnTo>
                  <a:pt x="101600" y="293878"/>
                </a:lnTo>
                <a:lnTo>
                  <a:pt x="84123" y="286162"/>
                </a:lnTo>
                <a:lnTo>
                  <a:pt x="69040" y="275399"/>
                </a:lnTo>
                <a:lnTo>
                  <a:pt x="46100" y="244729"/>
                </a:lnTo>
                <a:lnTo>
                  <a:pt x="32496" y="203136"/>
                </a:lnTo>
                <a:lnTo>
                  <a:pt x="27940" y="151637"/>
                </a:lnTo>
                <a:lnTo>
                  <a:pt x="29081" y="125468"/>
                </a:lnTo>
                <a:lnTo>
                  <a:pt x="38173" y="80129"/>
                </a:lnTo>
                <a:lnTo>
                  <a:pt x="56386" y="44360"/>
                </a:lnTo>
                <a:lnTo>
                  <a:pt x="101980" y="12446"/>
                </a:lnTo>
                <a:lnTo>
                  <a:pt x="976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288404" y="1799285"/>
            <a:ext cx="4805680" cy="2557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980"/>
              </a:lnSpc>
              <a:spcBef>
                <a:spcPts val="105"/>
              </a:spcBef>
              <a:tabLst>
                <a:tab pos="1278255" algn="l"/>
                <a:tab pos="1692910" algn="l"/>
                <a:tab pos="2994660" algn="l"/>
              </a:tabLst>
            </a:pPr>
            <a:r>
              <a:rPr sz="2600" spc="5" dirty="0">
                <a:latin typeface="Cambria Math"/>
                <a:cs typeface="Cambria Math"/>
              </a:rPr>
              <a:t>∀</a:t>
            </a:r>
            <a:r>
              <a:rPr sz="2600" dirty="0">
                <a:latin typeface="Cambria Math"/>
                <a:cs typeface="Cambria Math"/>
              </a:rPr>
              <a:t>𝑥</a:t>
            </a:r>
            <a:r>
              <a:rPr sz="2600" spc="5" dirty="0">
                <a:latin typeface="Cambria Math"/>
                <a:cs typeface="Cambria Math"/>
              </a:rPr>
              <a:t>𝐹</a:t>
            </a:r>
            <a:r>
              <a:rPr sz="2600" spc="-5" dirty="0">
                <a:latin typeface="Cambria Math"/>
                <a:cs typeface="Cambria Math"/>
              </a:rPr>
              <a:t>𝑜</a:t>
            </a:r>
            <a:r>
              <a:rPr sz="2600" spc="5" dirty="0">
                <a:latin typeface="Cambria Math"/>
                <a:cs typeface="Cambria Math"/>
              </a:rPr>
              <a:t>𝑜𝑑</a:t>
            </a:r>
            <a:r>
              <a:rPr sz="2600" dirty="0">
                <a:latin typeface="Cambria Math"/>
                <a:cs typeface="Cambria Math"/>
              </a:rPr>
              <a:t>	</a:t>
            </a:r>
            <a:r>
              <a:rPr sz="2600" spc="5" dirty="0">
                <a:latin typeface="Cambria Math"/>
                <a:cs typeface="Cambria Math"/>
              </a:rPr>
              <a:t>𝑥</a:t>
            </a:r>
            <a:r>
              <a:rPr sz="2600" dirty="0">
                <a:latin typeface="Cambria Math"/>
                <a:cs typeface="Cambria Math"/>
              </a:rPr>
              <a:t>	</a:t>
            </a:r>
            <a:r>
              <a:rPr sz="2600" spc="5" dirty="0">
                <a:latin typeface="Cambria Math"/>
                <a:cs typeface="Cambria Math"/>
              </a:rPr>
              <a:t>⇒</a:t>
            </a:r>
            <a:r>
              <a:rPr sz="2600" spc="150" dirty="0">
                <a:latin typeface="Cambria Math"/>
                <a:cs typeface="Cambria Math"/>
              </a:rPr>
              <a:t> </a:t>
            </a:r>
            <a:r>
              <a:rPr sz="2600" spc="5" dirty="0">
                <a:latin typeface="Cambria Math"/>
                <a:cs typeface="Cambria Math"/>
              </a:rPr>
              <a:t>𝐿𝑖𝑘𝑒𝑠</a:t>
            </a:r>
            <a:r>
              <a:rPr sz="2600" dirty="0">
                <a:latin typeface="Cambria Math"/>
                <a:cs typeface="Cambria Math"/>
              </a:rPr>
              <a:t>	</a:t>
            </a:r>
            <a:r>
              <a:rPr lang="en-US" sz="2600" dirty="0">
                <a:latin typeface="Cambria Math"/>
                <a:cs typeface="Cambria Math"/>
              </a:rPr>
              <a:t>Ram</a:t>
            </a:r>
            <a:r>
              <a:rPr sz="2600" dirty="0">
                <a:latin typeface="Cambria Math"/>
                <a:cs typeface="Cambria Math"/>
              </a:rPr>
              <a:t>,</a:t>
            </a:r>
            <a:r>
              <a:rPr sz="2600" spc="-140" dirty="0">
                <a:latin typeface="Cambria Math"/>
                <a:cs typeface="Cambria Math"/>
              </a:rPr>
              <a:t> </a:t>
            </a:r>
            <a:r>
              <a:rPr sz="2600" spc="5" dirty="0">
                <a:latin typeface="Cambria Math"/>
                <a:cs typeface="Cambria Math"/>
              </a:rPr>
              <a:t>𝑥</a:t>
            </a:r>
            <a:endParaRPr sz="2600" dirty="0">
              <a:latin typeface="Cambria Math"/>
              <a:cs typeface="Cambria Math"/>
            </a:endParaRPr>
          </a:p>
          <a:p>
            <a:pPr algn="ctr">
              <a:lnSpc>
                <a:spcPts val="2815"/>
              </a:lnSpc>
              <a:tabLst>
                <a:tab pos="1602740" algn="l"/>
                <a:tab pos="2313305" algn="l"/>
                <a:tab pos="4262755" algn="l"/>
              </a:tabLst>
            </a:pPr>
            <a:r>
              <a:rPr sz="2600" spc="5" dirty="0">
                <a:latin typeface="Cambria Math"/>
                <a:cs typeface="Cambria Math"/>
              </a:rPr>
              <a:t>∀</a:t>
            </a:r>
            <a:r>
              <a:rPr sz="2600" spc="75" dirty="0">
                <a:latin typeface="Cambria Math"/>
                <a:cs typeface="Cambria Math"/>
              </a:rPr>
              <a:t>𝑥</a:t>
            </a:r>
            <a:r>
              <a:rPr sz="2600" spc="-5" dirty="0">
                <a:latin typeface="Cambria Math"/>
                <a:cs typeface="Cambria Math"/>
              </a:rPr>
              <a:t>∀</a:t>
            </a:r>
            <a:r>
              <a:rPr sz="2600" dirty="0">
                <a:latin typeface="Cambria Math"/>
                <a:cs typeface="Cambria Math"/>
              </a:rPr>
              <a:t>𝑦𝐸𝑎𝑡𝑠	</a:t>
            </a:r>
            <a:r>
              <a:rPr sz="2600" spc="75" dirty="0">
                <a:latin typeface="Cambria Math"/>
                <a:cs typeface="Cambria Math"/>
              </a:rPr>
              <a:t>𝑥</a:t>
            </a:r>
            <a:r>
              <a:rPr sz="2600" dirty="0">
                <a:latin typeface="Cambria Math"/>
                <a:cs typeface="Cambria Math"/>
              </a:rPr>
              <a:t>,</a:t>
            </a:r>
            <a:r>
              <a:rPr sz="2600" spc="-13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𝑦	∩</a:t>
            </a:r>
            <a:r>
              <a:rPr sz="2600" spc="5" dirty="0">
                <a:latin typeface="Cambria Math"/>
                <a:cs typeface="Cambria Math"/>
              </a:rPr>
              <a:t> </a:t>
            </a:r>
            <a:r>
              <a:rPr sz="2600" spc="-5" dirty="0">
                <a:latin typeface="Cambria Math"/>
                <a:cs typeface="Cambria Math"/>
              </a:rPr>
              <a:t>¬𝐾𝑖𝑙𝑙𝑒𝑑𝑏</a:t>
            </a:r>
            <a:r>
              <a:rPr sz="2600" dirty="0">
                <a:latin typeface="Cambria Math"/>
                <a:cs typeface="Cambria Math"/>
              </a:rPr>
              <a:t>𝑦	</a:t>
            </a:r>
            <a:r>
              <a:rPr sz="2600" spc="40" dirty="0">
                <a:latin typeface="Cambria Math"/>
                <a:cs typeface="Cambria Math"/>
              </a:rPr>
              <a:t>𝑦</a:t>
            </a:r>
            <a:r>
              <a:rPr sz="2600" dirty="0">
                <a:latin typeface="Cambria Math"/>
                <a:cs typeface="Cambria Math"/>
              </a:rPr>
              <a:t>,</a:t>
            </a:r>
            <a:r>
              <a:rPr sz="2600" spc="-13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𝑥</a:t>
            </a:r>
          </a:p>
          <a:p>
            <a:pPr algn="ctr">
              <a:lnSpc>
                <a:spcPts val="2800"/>
              </a:lnSpc>
              <a:tabLst>
                <a:tab pos="1250950" algn="l"/>
              </a:tabLst>
            </a:pPr>
            <a:r>
              <a:rPr sz="2600" dirty="0">
                <a:latin typeface="Cambria Math"/>
                <a:cs typeface="Cambria Math"/>
              </a:rPr>
              <a:t>⇒</a:t>
            </a:r>
            <a:r>
              <a:rPr sz="2600" spc="14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𝑓𝑜𝑜𝑑	𝑥</a:t>
            </a:r>
          </a:p>
          <a:p>
            <a:pPr algn="ctr">
              <a:lnSpc>
                <a:spcPts val="2810"/>
              </a:lnSpc>
              <a:tabLst>
                <a:tab pos="816610" algn="l"/>
                <a:tab pos="2944495" algn="l"/>
                <a:tab pos="4149725" algn="l"/>
              </a:tabLst>
            </a:pPr>
            <a:r>
              <a:rPr sz="2600" dirty="0">
                <a:latin typeface="Cambria Math"/>
                <a:cs typeface="Cambria Math"/>
              </a:rPr>
              <a:t>𝐸𝑎𝑡𝑠	</a:t>
            </a:r>
            <a:r>
              <a:rPr sz="2600" spc="10" dirty="0">
                <a:latin typeface="Cambria Math"/>
                <a:cs typeface="Cambria Math"/>
              </a:rPr>
              <a:t>𝑅𝑖𝑡𝑎,</a:t>
            </a:r>
            <a:r>
              <a:rPr sz="2600" spc="-15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𝑆𝑎𝑚𝑜𝑠𝑎	∩</a:t>
            </a:r>
            <a:r>
              <a:rPr sz="2600" spc="10" dirty="0">
                <a:latin typeface="Cambria Math"/>
                <a:cs typeface="Cambria Math"/>
              </a:rPr>
              <a:t> </a:t>
            </a:r>
            <a:r>
              <a:rPr sz="2600" spc="-5" dirty="0">
                <a:latin typeface="Cambria Math"/>
                <a:cs typeface="Cambria Math"/>
              </a:rPr>
              <a:t>𝐴𝑙𝑖𝑣𝑒	𝑅𝑖𝑡𝑎</a:t>
            </a:r>
            <a:endParaRPr sz="2600" dirty="0">
              <a:latin typeface="Cambria Math"/>
              <a:cs typeface="Cambria Math"/>
            </a:endParaRPr>
          </a:p>
          <a:p>
            <a:pPr algn="ctr">
              <a:lnSpc>
                <a:spcPts val="2785"/>
              </a:lnSpc>
              <a:tabLst>
                <a:tab pos="1200785" algn="l"/>
                <a:tab pos="2377440" algn="l"/>
                <a:tab pos="3572510" algn="l"/>
              </a:tabLst>
            </a:pPr>
            <a:r>
              <a:rPr sz="2600" spc="-10" dirty="0">
                <a:latin typeface="Cambria Math"/>
                <a:cs typeface="Cambria Math"/>
              </a:rPr>
              <a:t>∀</a:t>
            </a:r>
            <a:r>
              <a:rPr sz="2600" dirty="0">
                <a:latin typeface="Cambria Math"/>
                <a:cs typeface="Cambria Math"/>
              </a:rPr>
              <a:t>𝑥</a:t>
            </a:r>
            <a:r>
              <a:rPr sz="2600" spc="5" dirty="0">
                <a:latin typeface="Cambria Math"/>
                <a:cs typeface="Cambria Math"/>
              </a:rPr>
              <a:t>𝐸</a:t>
            </a:r>
            <a:r>
              <a:rPr sz="2600" dirty="0">
                <a:latin typeface="Cambria Math"/>
                <a:cs typeface="Cambria Math"/>
              </a:rPr>
              <a:t>𝑎𝑡</a:t>
            </a:r>
            <a:r>
              <a:rPr sz="2600" spc="5" dirty="0">
                <a:latin typeface="Cambria Math"/>
                <a:cs typeface="Cambria Math"/>
              </a:rPr>
              <a:t>𝑠</a:t>
            </a:r>
            <a:r>
              <a:rPr sz="2600" dirty="0">
                <a:latin typeface="Cambria Math"/>
                <a:cs typeface="Cambria Math"/>
              </a:rPr>
              <a:t>	𝑅𝑖𝑡</a:t>
            </a:r>
            <a:r>
              <a:rPr sz="2600" spc="65" dirty="0">
                <a:latin typeface="Cambria Math"/>
                <a:cs typeface="Cambria Math"/>
              </a:rPr>
              <a:t>𝑎</a:t>
            </a:r>
            <a:r>
              <a:rPr sz="2600" dirty="0">
                <a:latin typeface="Cambria Math"/>
                <a:cs typeface="Cambria Math"/>
              </a:rPr>
              <a:t>,</a:t>
            </a:r>
            <a:r>
              <a:rPr sz="2600" spc="-140" dirty="0">
                <a:latin typeface="Cambria Math"/>
                <a:cs typeface="Cambria Math"/>
              </a:rPr>
              <a:t> </a:t>
            </a:r>
            <a:r>
              <a:rPr sz="2600" spc="5" dirty="0">
                <a:latin typeface="Cambria Math"/>
                <a:cs typeface="Cambria Math"/>
              </a:rPr>
              <a:t>𝑥</a:t>
            </a:r>
            <a:r>
              <a:rPr sz="2600" dirty="0">
                <a:latin typeface="Cambria Math"/>
                <a:cs typeface="Cambria Math"/>
              </a:rPr>
              <a:t>	</a:t>
            </a:r>
            <a:r>
              <a:rPr sz="2600" spc="5" dirty="0">
                <a:latin typeface="Cambria Math"/>
                <a:cs typeface="Cambria Math"/>
              </a:rPr>
              <a:t>⇒</a:t>
            </a:r>
            <a:r>
              <a:rPr sz="2600" spc="145" dirty="0">
                <a:latin typeface="Cambria Math"/>
                <a:cs typeface="Cambria Math"/>
              </a:rPr>
              <a:t> </a:t>
            </a:r>
            <a:r>
              <a:rPr sz="2600" spc="5" dirty="0">
                <a:latin typeface="Cambria Math"/>
                <a:cs typeface="Cambria Math"/>
              </a:rPr>
              <a:t>𝐸𝑎𝑡𝑠</a:t>
            </a:r>
            <a:r>
              <a:rPr sz="2600" dirty="0">
                <a:latin typeface="Cambria Math"/>
                <a:cs typeface="Cambria Math"/>
              </a:rPr>
              <a:t>	</a:t>
            </a:r>
            <a:r>
              <a:rPr sz="2600" spc="5" dirty="0">
                <a:latin typeface="Cambria Math"/>
                <a:cs typeface="Cambria Math"/>
              </a:rPr>
              <a:t>𝐺𝑖𝑡</a:t>
            </a:r>
            <a:r>
              <a:rPr sz="2600" spc="45" dirty="0">
                <a:latin typeface="Cambria Math"/>
                <a:cs typeface="Cambria Math"/>
              </a:rPr>
              <a:t>𝑎</a:t>
            </a:r>
            <a:r>
              <a:rPr sz="2600" dirty="0">
                <a:latin typeface="Cambria Math"/>
                <a:cs typeface="Cambria Math"/>
              </a:rPr>
              <a:t>,</a:t>
            </a:r>
            <a:r>
              <a:rPr sz="2600" spc="-140" dirty="0">
                <a:latin typeface="Cambria Math"/>
                <a:cs typeface="Cambria Math"/>
              </a:rPr>
              <a:t> </a:t>
            </a:r>
            <a:r>
              <a:rPr sz="2600" spc="5" dirty="0">
                <a:latin typeface="Cambria Math"/>
                <a:cs typeface="Cambria Math"/>
              </a:rPr>
              <a:t>𝑥</a:t>
            </a:r>
            <a:endParaRPr sz="2600" dirty="0">
              <a:latin typeface="Cambria Math"/>
              <a:cs typeface="Cambria Math"/>
            </a:endParaRPr>
          </a:p>
          <a:p>
            <a:pPr marL="635" algn="ctr">
              <a:lnSpc>
                <a:spcPts val="2780"/>
              </a:lnSpc>
              <a:tabLst>
                <a:tab pos="2071370" algn="l"/>
                <a:tab pos="2757805" algn="l"/>
                <a:tab pos="4071620" algn="l"/>
              </a:tabLst>
            </a:pPr>
            <a:r>
              <a:rPr sz="2600" spc="-5" dirty="0">
                <a:latin typeface="Cambria Math"/>
                <a:cs typeface="Cambria Math"/>
              </a:rPr>
              <a:t>∃</a:t>
            </a:r>
            <a:r>
              <a:rPr sz="2600" spc="90" dirty="0">
                <a:latin typeface="Cambria Math"/>
                <a:cs typeface="Cambria Math"/>
              </a:rPr>
              <a:t>𝑥</a:t>
            </a:r>
            <a:r>
              <a:rPr sz="2600" spc="-5" dirty="0">
                <a:latin typeface="Cambria Math"/>
                <a:cs typeface="Cambria Math"/>
              </a:rPr>
              <a:t>∃</a:t>
            </a:r>
            <a:r>
              <a:rPr sz="2600" spc="30" dirty="0">
                <a:latin typeface="Cambria Math"/>
                <a:cs typeface="Cambria Math"/>
              </a:rPr>
              <a:t>𝑦</a:t>
            </a:r>
            <a:r>
              <a:rPr sz="2600" spc="-5" dirty="0">
                <a:latin typeface="Cambria Math"/>
                <a:cs typeface="Cambria Math"/>
              </a:rPr>
              <a:t>∃𝑧𝑂𝑤𝑛</a:t>
            </a:r>
            <a:r>
              <a:rPr sz="2600" dirty="0">
                <a:latin typeface="Cambria Math"/>
                <a:cs typeface="Cambria Math"/>
              </a:rPr>
              <a:t>𝑠	</a:t>
            </a:r>
            <a:r>
              <a:rPr sz="2600" spc="75" dirty="0">
                <a:latin typeface="Cambria Math"/>
                <a:cs typeface="Cambria Math"/>
              </a:rPr>
              <a:t>𝑥</a:t>
            </a:r>
            <a:r>
              <a:rPr sz="2600" dirty="0">
                <a:latin typeface="Cambria Math"/>
                <a:cs typeface="Cambria Math"/>
              </a:rPr>
              <a:t>,</a:t>
            </a:r>
            <a:r>
              <a:rPr sz="2600" spc="-13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𝑧	∩</a:t>
            </a:r>
            <a:r>
              <a:rPr sz="2600" spc="5" dirty="0">
                <a:latin typeface="Cambria Math"/>
                <a:cs typeface="Cambria Math"/>
              </a:rPr>
              <a:t> </a:t>
            </a:r>
            <a:r>
              <a:rPr sz="2600" spc="-5" dirty="0">
                <a:latin typeface="Cambria Math"/>
                <a:cs typeface="Cambria Math"/>
              </a:rPr>
              <a:t>𝐻𝑎𝑡𝑒</a:t>
            </a:r>
            <a:r>
              <a:rPr sz="2600" dirty="0">
                <a:latin typeface="Cambria Math"/>
                <a:cs typeface="Cambria Math"/>
              </a:rPr>
              <a:t>𝑠	</a:t>
            </a:r>
            <a:r>
              <a:rPr sz="2600" spc="30" dirty="0">
                <a:latin typeface="Cambria Math"/>
                <a:cs typeface="Cambria Math"/>
              </a:rPr>
              <a:t>𝑦</a:t>
            </a:r>
            <a:r>
              <a:rPr sz="2600" dirty="0">
                <a:latin typeface="Cambria Math"/>
                <a:cs typeface="Cambria Math"/>
              </a:rPr>
              <a:t>,</a:t>
            </a:r>
            <a:r>
              <a:rPr sz="2600" spc="-13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𝑧</a:t>
            </a:r>
          </a:p>
          <a:p>
            <a:pPr algn="ctr">
              <a:lnSpc>
                <a:spcPts val="2960"/>
              </a:lnSpc>
              <a:tabLst>
                <a:tab pos="1391285" algn="l"/>
              </a:tabLst>
            </a:pPr>
            <a:r>
              <a:rPr sz="2600" dirty="0">
                <a:latin typeface="Cambria Math"/>
                <a:cs typeface="Cambria Math"/>
              </a:rPr>
              <a:t>⇒</a:t>
            </a:r>
            <a:r>
              <a:rPr sz="2600" spc="145" dirty="0">
                <a:latin typeface="Cambria Math"/>
                <a:cs typeface="Cambria Math"/>
              </a:rPr>
              <a:t> </a:t>
            </a:r>
            <a:r>
              <a:rPr sz="2600" spc="-5" dirty="0">
                <a:latin typeface="Cambria Math"/>
                <a:cs typeface="Cambria Math"/>
              </a:rPr>
              <a:t>𝐻𝑎𝑡𝑒</a:t>
            </a:r>
            <a:r>
              <a:rPr sz="2600" dirty="0">
                <a:latin typeface="Cambria Math"/>
                <a:cs typeface="Cambria Math"/>
              </a:rPr>
              <a:t>𝑠	</a:t>
            </a:r>
            <a:r>
              <a:rPr sz="2600" spc="40" dirty="0">
                <a:latin typeface="Cambria Math"/>
                <a:cs typeface="Cambria Math"/>
              </a:rPr>
              <a:t>𝑦</a:t>
            </a:r>
            <a:r>
              <a:rPr sz="2600" dirty="0">
                <a:latin typeface="Cambria Math"/>
                <a:cs typeface="Cambria Math"/>
              </a:rPr>
              <a:t>,</a:t>
            </a:r>
            <a:r>
              <a:rPr sz="2600" spc="-13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𝑥</a:t>
            </a:r>
          </a:p>
        </p:txBody>
      </p:sp>
      <p:sp>
        <p:nvSpPr>
          <p:cNvPr id="15" name="object 15"/>
          <p:cNvSpPr/>
          <p:nvPr/>
        </p:nvSpPr>
        <p:spPr>
          <a:xfrm>
            <a:off x="10183495" y="4379721"/>
            <a:ext cx="518159" cy="654050"/>
          </a:xfrm>
          <a:custGeom>
            <a:avLst/>
            <a:gdLst/>
            <a:ahLst/>
            <a:cxnLst/>
            <a:rect l="l" t="t" r="r" b="b"/>
            <a:pathLst>
              <a:path w="518159" h="654050">
                <a:moveTo>
                  <a:pt x="101981" y="359918"/>
                </a:moveTo>
                <a:lnTo>
                  <a:pt x="97663" y="347472"/>
                </a:lnTo>
                <a:lnTo>
                  <a:pt x="75488" y="355473"/>
                </a:lnTo>
                <a:lnTo>
                  <a:pt x="56032" y="367080"/>
                </a:lnTo>
                <a:lnTo>
                  <a:pt x="25273" y="401066"/>
                </a:lnTo>
                <a:lnTo>
                  <a:pt x="6299" y="446620"/>
                </a:lnTo>
                <a:lnTo>
                  <a:pt x="0" y="500634"/>
                </a:lnTo>
                <a:lnTo>
                  <a:pt x="1562" y="528789"/>
                </a:lnTo>
                <a:lnTo>
                  <a:pt x="14135" y="578561"/>
                </a:lnTo>
                <a:lnTo>
                  <a:pt x="39116" y="618972"/>
                </a:lnTo>
                <a:lnTo>
                  <a:pt x="75399" y="645744"/>
                </a:lnTo>
                <a:lnTo>
                  <a:pt x="97663" y="653796"/>
                </a:lnTo>
                <a:lnTo>
                  <a:pt x="101600" y="641350"/>
                </a:lnTo>
                <a:lnTo>
                  <a:pt x="84112" y="633641"/>
                </a:lnTo>
                <a:lnTo>
                  <a:pt x="69037" y="622871"/>
                </a:lnTo>
                <a:lnTo>
                  <a:pt x="46101" y="592201"/>
                </a:lnTo>
                <a:lnTo>
                  <a:pt x="32486" y="550608"/>
                </a:lnTo>
                <a:lnTo>
                  <a:pt x="27940" y="499110"/>
                </a:lnTo>
                <a:lnTo>
                  <a:pt x="29070" y="472948"/>
                </a:lnTo>
                <a:lnTo>
                  <a:pt x="38163" y="427609"/>
                </a:lnTo>
                <a:lnTo>
                  <a:pt x="56375" y="391833"/>
                </a:lnTo>
                <a:lnTo>
                  <a:pt x="84328" y="367588"/>
                </a:lnTo>
                <a:lnTo>
                  <a:pt x="101981" y="359918"/>
                </a:lnTo>
                <a:close/>
              </a:path>
              <a:path w="518159" h="654050">
                <a:moveTo>
                  <a:pt x="216281" y="12446"/>
                </a:moveTo>
                <a:lnTo>
                  <a:pt x="211963" y="0"/>
                </a:lnTo>
                <a:lnTo>
                  <a:pt x="189788" y="8001"/>
                </a:lnTo>
                <a:lnTo>
                  <a:pt x="170332" y="19608"/>
                </a:lnTo>
                <a:lnTo>
                  <a:pt x="139573" y="53594"/>
                </a:lnTo>
                <a:lnTo>
                  <a:pt x="120599" y="99148"/>
                </a:lnTo>
                <a:lnTo>
                  <a:pt x="114300" y="153162"/>
                </a:lnTo>
                <a:lnTo>
                  <a:pt x="115862" y="181317"/>
                </a:lnTo>
                <a:lnTo>
                  <a:pt x="128435" y="231089"/>
                </a:lnTo>
                <a:lnTo>
                  <a:pt x="153416" y="271500"/>
                </a:lnTo>
                <a:lnTo>
                  <a:pt x="189699" y="298272"/>
                </a:lnTo>
                <a:lnTo>
                  <a:pt x="211963" y="306324"/>
                </a:lnTo>
                <a:lnTo>
                  <a:pt x="215900" y="293878"/>
                </a:lnTo>
                <a:lnTo>
                  <a:pt x="198412" y="286169"/>
                </a:lnTo>
                <a:lnTo>
                  <a:pt x="183337" y="275412"/>
                </a:lnTo>
                <a:lnTo>
                  <a:pt x="160401" y="244729"/>
                </a:lnTo>
                <a:lnTo>
                  <a:pt x="146786" y="203136"/>
                </a:lnTo>
                <a:lnTo>
                  <a:pt x="142240" y="151638"/>
                </a:lnTo>
                <a:lnTo>
                  <a:pt x="143370" y="125476"/>
                </a:lnTo>
                <a:lnTo>
                  <a:pt x="152463" y="80137"/>
                </a:lnTo>
                <a:lnTo>
                  <a:pt x="170675" y="44361"/>
                </a:lnTo>
                <a:lnTo>
                  <a:pt x="198628" y="20116"/>
                </a:lnTo>
                <a:lnTo>
                  <a:pt x="216281" y="12446"/>
                </a:lnTo>
                <a:close/>
              </a:path>
              <a:path w="518159" h="654050">
                <a:moveTo>
                  <a:pt x="406781" y="500634"/>
                </a:moveTo>
                <a:lnTo>
                  <a:pt x="400469" y="446620"/>
                </a:lnTo>
                <a:lnTo>
                  <a:pt x="381508" y="401066"/>
                </a:lnTo>
                <a:lnTo>
                  <a:pt x="350735" y="367080"/>
                </a:lnTo>
                <a:lnTo>
                  <a:pt x="309118" y="347472"/>
                </a:lnTo>
                <a:lnTo>
                  <a:pt x="304673" y="359918"/>
                </a:lnTo>
                <a:lnTo>
                  <a:pt x="322453" y="367588"/>
                </a:lnTo>
                <a:lnTo>
                  <a:pt x="337731" y="378231"/>
                </a:lnTo>
                <a:lnTo>
                  <a:pt x="368655" y="427609"/>
                </a:lnTo>
                <a:lnTo>
                  <a:pt x="377698" y="472948"/>
                </a:lnTo>
                <a:lnTo>
                  <a:pt x="378841" y="499110"/>
                </a:lnTo>
                <a:lnTo>
                  <a:pt x="377698" y="526097"/>
                </a:lnTo>
                <a:lnTo>
                  <a:pt x="368604" y="572655"/>
                </a:lnTo>
                <a:lnTo>
                  <a:pt x="350418" y="609066"/>
                </a:lnTo>
                <a:lnTo>
                  <a:pt x="305181" y="641350"/>
                </a:lnTo>
                <a:lnTo>
                  <a:pt x="309118" y="653796"/>
                </a:lnTo>
                <a:lnTo>
                  <a:pt x="350850" y="634149"/>
                </a:lnTo>
                <a:lnTo>
                  <a:pt x="381635" y="600202"/>
                </a:lnTo>
                <a:lnTo>
                  <a:pt x="400494" y="554761"/>
                </a:lnTo>
                <a:lnTo>
                  <a:pt x="405206" y="528789"/>
                </a:lnTo>
                <a:lnTo>
                  <a:pt x="406781" y="500634"/>
                </a:lnTo>
                <a:close/>
              </a:path>
              <a:path w="518159" h="654050">
                <a:moveTo>
                  <a:pt x="518033" y="153162"/>
                </a:moveTo>
                <a:lnTo>
                  <a:pt x="511721" y="99148"/>
                </a:lnTo>
                <a:lnTo>
                  <a:pt x="492760" y="53594"/>
                </a:lnTo>
                <a:lnTo>
                  <a:pt x="461987" y="19608"/>
                </a:lnTo>
                <a:lnTo>
                  <a:pt x="420370" y="0"/>
                </a:lnTo>
                <a:lnTo>
                  <a:pt x="415925" y="12446"/>
                </a:lnTo>
                <a:lnTo>
                  <a:pt x="433705" y="20116"/>
                </a:lnTo>
                <a:lnTo>
                  <a:pt x="448983" y="30759"/>
                </a:lnTo>
                <a:lnTo>
                  <a:pt x="479907" y="80137"/>
                </a:lnTo>
                <a:lnTo>
                  <a:pt x="488950" y="125476"/>
                </a:lnTo>
                <a:lnTo>
                  <a:pt x="490093" y="151638"/>
                </a:lnTo>
                <a:lnTo>
                  <a:pt x="488950" y="178625"/>
                </a:lnTo>
                <a:lnTo>
                  <a:pt x="479856" y="225183"/>
                </a:lnTo>
                <a:lnTo>
                  <a:pt x="461670" y="261594"/>
                </a:lnTo>
                <a:lnTo>
                  <a:pt x="416433" y="293878"/>
                </a:lnTo>
                <a:lnTo>
                  <a:pt x="420370" y="306324"/>
                </a:lnTo>
                <a:lnTo>
                  <a:pt x="462102" y="286677"/>
                </a:lnTo>
                <a:lnTo>
                  <a:pt x="492887" y="252730"/>
                </a:lnTo>
                <a:lnTo>
                  <a:pt x="511746" y="207289"/>
                </a:lnTo>
                <a:lnTo>
                  <a:pt x="516458" y="181317"/>
                </a:lnTo>
                <a:lnTo>
                  <a:pt x="518033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054467" y="4379721"/>
            <a:ext cx="754380" cy="998219"/>
          </a:xfrm>
          <a:custGeom>
            <a:avLst/>
            <a:gdLst/>
            <a:ahLst/>
            <a:cxnLst/>
            <a:rect l="l" t="t" r="r" b="b"/>
            <a:pathLst>
              <a:path w="754379" h="998220">
                <a:moveTo>
                  <a:pt x="101981" y="704342"/>
                </a:moveTo>
                <a:lnTo>
                  <a:pt x="97663" y="691896"/>
                </a:lnTo>
                <a:lnTo>
                  <a:pt x="75488" y="699897"/>
                </a:lnTo>
                <a:lnTo>
                  <a:pt x="56032" y="711504"/>
                </a:lnTo>
                <a:lnTo>
                  <a:pt x="25273" y="745490"/>
                </a:lnTo>
                <a:lnTo>
                  <a:pt x="6299" y="791044"/>
                </a:lnTo>
                <a:lnTo>
                  <a:pt x="0" y="845058"/>
                </a:lnTo>
                <a:lnTo>
                  <a:pt x="1562" y="873213"/>
                </a:lnTo>
                <a:lnTo>
                  <a:pt x="14135" y="922985"/>
                </a:lnTo>
                <a:lnTo>
                  <a:pt x="39116" y="963396"/>
                </a:lnTo>
                <a:lnTo>
                  <a:pt x="75399" y="990168"/>
                </a:lnTo>
                <a:lnTo>
                  <a:pt x="97663" y="998220"/>
                </a:lnTo>
                <a:lnTo>
                  <a:pt x="101600" y="985774"/>
                </a:lnTo>
                <a:lnTo>
                  <a:pt x="84112" y="978065"/>
                </a:lnTo>
                <a:lnTo>
                  <a:pt x="69037" y="967295"/>
                </a:lnTo>
                <a:lnTo>
                  <a:pt x="46101" y="936625"/>
                </a:lnTo>
                <a:lnTo>
                  <a:pt x="32486" y="895032"/>
                </a:lnTo>
                <a:lnTo>
                  <a:pt x="27940" y="843534"/>
                </a:lnTo>
                <a:lnTo>
                  <a:pt x="29070" y="817372"/>
                </a:lnTo>
                <a:lnTo>
                  <a:pt x="38163" y="772033"/>
                </a:lnTo>
                <a:lnTo>
                  <a:pt x="56375" y="736257"/>
                </a:lnTo>
                <a:lnTo>
                  <a:pt x="84328" y="712012"/>
                </a:lnTo>
                <a:lnTo>
                  <a:pt x="101981" y="704342"/>
                </a:lnTo>
                <a:close/>
              </a:path>
              <a:path w="754379" h="998220">
                <a:moveTo>
                  <a:pt x="335153" y="359918"/>
                </a:moveTo>
                <a:lnTo>
                  <a:pt x="330835" y="347472"/>
                </a:lnTo>
                <a:lnTo>
                  <a:pt x="308660" y="355473"/>
                </a:lnTo>
                <a:lnTo>
                  <a:pt x="289204" y="367080"/>
                </a:lnTo>
                <a:lnTo>
                  <a:pt x="258445" y="401066"/>
                </a:lnTo>
                <a:lnTo>
                  <a:pt x="239471" y="446620"/>
                </a:lnTo>
                <a:lnTo>
                  <a:pt x="233172" y="500634"/>
                </a:lnTo>
                <a:lnTo>
                  <a:pt x="234734" y="528789"/>
                </a:lnTo>
                <a:lnTo>
                  <a:pt x="247307" y="578561"/>
                </a:lnTo>
                <a:lnTo>
                  <a:pt x="272288" y="618972"/>
                </a:lnTo>
                <a:lnTo>
                  <a:pt x="308571" y="645744"/>
                </a:lnTo>
                <a:lnTo>
                  <a:pt x="330835" y="653796"/>
                </a:lnTo>
                <a:lnTo>
                  <a:pt x="334772" y="641350"/>
                </a:lnTo>
                <a:lnTo>
                  <a:pt x="317284" y="633641"/>
                </a:lnTo>
                <a:lnTo>
                  <a:pt x="302209" y="622871"/>
                </a:lnTo>
                <a:lnTo>
                  <a:pt x="279273" y="592201"/>
                </a:lnTo>
                <a:lnTo>
                  <a:pt x="265658" y="550608"/>
                </a:lnTo>
                <a:lnTo>
                  <a:pt x="261112" y="499110"/>
                </a:lnTo>
                <a:lnTo>
                  <a:pt x="262242" y="472948"/>
                </a:lnTo>
                <a:lnTo>
                  <a:pt x="271335" y="427609"/>
                </a:lnTo>
                <a:lnTo>
                  <a:pt x="289547" y="391833"/>
                </a:lnTo>
                <a:lnTo>
                  <a:pt x="317500" y="367588"/>
                </a:lnTo>
                <a:lnTo>
                  <a:pt x="335153" y="359918"/>
                </a:lnTo>
                <a:close/>
              </a:path>
              <a:path w="754379" h="998220">
                <a:moveTo>
                  <a:pt x="452501" y="12446"/>
                </a:moveTo>
                <a:lnTo>
                  <a:pt x="448183" y="0"/>
                </a:lnTo>
                <a:lnTo>
                  <a:pt x="426008" y="8001"/>
                </a:lnTo>
                <a:lnTo>
                  <a:pt x="406552" y="19608"/>
                </a:lnTo>
                <a:lnTo>
                  <a:pt x="375793" y="53594"/>
                </a:lnTo>
                <a:lnTo>
                  <a:pt x="356819" y="99148"/>
                </a:lnTo>
                <a:lnTo>
                  <a:pt x="350520" y="153162"/>
                </a:lnTo>
                <a:lnTo>
                  <a:pt x="352082" y="181317"/>
                </a:lnTo>
                <a:lnTo>
                  <a:pt x="364655" y="231089"/>
                </a:lnTo>
                <a:lnTo>
                  <a:pt x="389636" y="271500"/>
                </a:lnTo>
                <a:lnTo>
                  <a:pt x="425919" y="298272"/>
                </a:lnTo>
                <a:lnTo>
                  <a:pt x="448183" y="306324"/>
                </a:lnTo>
                <a:lnTo>
                  <a:pt x="452120" y="293878"/>
                </a:lnTo>
                <a:lnTo>
                  <a:pt x="434632" y="286169"/>
                </a:lnTo>
                <a:lnTo>
                  <a:pt x="419557" y="275412"/>
                </a:lnTo>
                <a:lnTo>
                  <a:pt x="396621" y="244729"/>
                </a:lnTo>
                <a:lnTo>
                  <a:pt x="383006" y="203136"/>
                </a:lnTo>
                <a:lnTo>
                  <a:pt x="378460" y="151638"/>
                </a:lnTo>
                <a:lnTo>
                  <a:pt x="379590" y="125476"/>
                </a:lnTo>
                <a:lnTo>
                  <a:pt x="388683" y="80137"/>
                </a:lnTo>
                <a:lnTo>
                  <a:pt x="406895" y="44361"/>
                </a:lnTo>
                <a:lnTo>
                  <a:pt x="434848" y="20116"/>
                </a:lnTo>
                <a:lnTo>
                  <a:pt x="452501" y="12446"/>
                </a:lnTo>
                <a:close/>
              </a:path>
              <a:path w="754379" h="998220">
                <a:moveTo>
                  <a:pt x="639953" y="500634"/>
                </a:moveTo>
                <a:lnTo>
                  <a:pt x="633641" y="446620"/>
                </a:lnTo>
                <a:lnTo>
                  <a:pt x="614680" y="401066"/>
                </a:lnTo>
                <a:lnTo>
                  <a:pt x="583907" y="367080"/>
                </a:lnTo>
                <a:lnTo>
                  <a:pt x="542290" y="347472"/>
                </a:lnTo>
                <a:lnTo>
                  <a:pt x="537845" y="359918"/>
                </a:lnTo>
                <a:lnTo>
                  <a:pt x="555625" y="367588"/>
                </a:lnTo>
                <a:lnTo>
                  <a:pt x="570903" y="378231"/>
                </a:lnTo>
                <a:lnTo>
                  <a:pt x="601827" y="427609"/>
                </a:lnTo>
                <a:lnTo>
                  <a:pt x="610870" y="472948"/>
                </a:lnTo>
                <a:lnTo>
                  <a:pt x="612013" y="499110"/>
                </a:lnTo>
                <a:lnTo>
                  <a:pt x="610870" y="526097"/>
                </a:lnTo>
                <a:lnTo>
                  <a:pt x="601776" y="572655"/>
                </a:lnTo>
                <a:lnTo>
                  <a:pt x="583590" y="609066"/>
                </a:lnTo>
                <a:lnTo>
                  <a:pt x="538353" y="641350"/>
                </a:lnTo>
                <a:lnTo>
                  <a:pt x="542290" y="653796"/>
                </a:lnTo>
                <a:lnTo>
                  <a:pt x="584022" y="634149"/>
                </a:lnTo>
                <a:lnTo>
                  <a:pt x="614807" y="600202"/>
                </a:lnTo>
                <a:lnTo>
                  <a:pt x="633666" y="554761"/>
                </a:lnTo>
                <a:lnTo>
                  <a:pt x="638378" y="528789"/>
                </a:lnTo>
                <a:lnTo>
                  <a:pt x="639953" y="500634"/>
                </a:lnTo>
                <a:close/>
              </a:path>
              <a:path w="754379" h="998220">
                <a:moveTo>
                  <a:pt x="720725" y="845058"/>
                </a:moveTo>
                <a:lnTo>
                  <a:pt x="714413" y="791044"/>
                </a:lnTo>
                <a:lnTo>
                  <a:pt x="695452" y="745490"/>
                </a:lnTo>
                <a:lnTo>
                  <a:pt x="664679" y="711504"/>
                </a:lnTo>
                <a:lnTo>
                  <a:pt x="623062" y="691896"/>
                </a:lnTo>
                <a:lnTo>
                  <a:pt x="618617" y="704342"/>
                </a:lnTo>
                <a:lnTo>
                  <a:pt x="636397" y="712012"/>
                </a:lnTo>
                <a:lnTo>
                  <a:pt x="651675" y="722655"/>
                </a:lnTo>
                <a:lnTo>
                  <a:pt x="682599" y="772033"/>
                </a:lnTo>
                <a:lnTo>
                  <a:pt x="691642" y="817372"/>
                </a:lnTo>
                <a:lnTo>
                  <a:pt x="692785" y="843534"/>
                </a:lnTo>
                <a:lnTo>
                  <a:pt x="691642" y="870521"/>
                </a:lnTo>
                <a:lnTo>
                  <a:pt x="682548" y="917079"/>
                </a:lnTo>
                <a:lnTo>
                  <a:pt x="664362" y="953490"/>
                </a:lnTo>
                <a:lnTo>
                  <a:pt x="619125" y="985774"/>
                </a:lnTo>
                <a:lnTo>
                  <a:pt x="623062" y="998220"/>
                </a:lnTo>
                <a:lnTo>
                  <a:pt x="664794" y="978573"/>
                </a:lnTo>
                <a:lnTo>
                  <a:pt x="695579" y="944626"/>
                </a:lnTo>
                <a:lnTo>
                  <a:pt x="714438" y="899185"/>
                </a:lnTo>
                <a:lnTo>
                  <a:pt x="719150" y="873213"/>
                </a:lnTo>
                <a:lnTo>
                  <a:pt x="720725" y="845058"/>
                </a:lnTo>
                <a:close/>
              </a:path>
              <a:path w="754379" h="998220">
                <a:moveTo>
                  <a:pt x="754253" y="153162"/>
                </a:moveTo>
                <a:lnTo>
                  <a:pt x="747941" y="99148"/>
                </a:lnTo>
                <a:lnTo>
                  <a:pt x="728980" y="53594"/>
                </a:lnTo>
                <a:lnTo>
                  <a:pt x="698207" y="19608"/>
                </a:lnTo>
                <a:lnTo>
                  <a:pt x="656590" y="0"/>
                </a:lnTo>
                <a:lnTo>
                  <a:pt x="652145" y="12446"/>
                </a:lnTo>
                <a:lnTo>
                  <a:pt x="669925" y="20116"/>
                </a:lnTo>
                <a:lnTo>
                  <a:pt x="685203" y="30759"/>
                </a:lnTo>
                <a:lnTo>
                  <a:pt x="716127" y="80137"/>
                </a:lnTo>
                <a:lnTo>
                  <a:pt x="725170" y="125476"/>
                </a:lnTo>
                <a:lnTo>
                  <a:pt x="726313" y="151638"/>
                </a:lnTo>
                <a:lnTo>
                  <a:pt x="725170" y="178625"/>
                </a:lnTo>
                <a:lnTo>
                  <a:pt x="716076" y="225183"/>
                </a:lnTo>
                <a:lnTo>
                  <a:pt x="697890" y="261594"/>
                </a:lnTo>
                <a:lnTo>
                  <a:pt x="652653" y="293878"/>
                </a:lnTo>
                <a:lnTo>
                  <a:pt x="656590" y="306324"/>
                </a:lnTo>
                <a:lnTo>
                  <a:pt x="698322" y="286677"/>
                </a:lnTo>
                <a:lnTo>
                  <a:pt x="729107" y="252730"/>
                </a:lnTo>
                <a:lnTo>
                  <a:pt x="747966" y="207289"/>
                </a:lnTo>
                <a:lnTo>
                  <a:pt x="752678" y="181317"/>
                </a:lnTo>
                <a:lnTo>
                  <a:pt x="754253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425565" y="4284040"/>
            <a:ext cx="2277745" cy="1115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0205">
              <a:lnSpc>
                <a:spcPts val="2930"/>
              </a:lnSpc>
              <a:spcBef>
                <a:spcPts val="105"/>
              </a:spcBef>
              <a:tabLst>
                <a:tab pos="2087880" algn="l"/>
              </a:tabLst>
            </a:pPr>
            <a:r>
              <a:rPr sz="2600" spc="-10" dirty="0">
                <a:latin typeface="Cambria Math"/>
                <a:cs typeface="Cambria Math"/>
              </a:rPr>
              <a:t>∃</a:t>
            </a:r>
            <a:r>
              <a:rPr sz="2600" spc="80" dirty="0">
                <a:latin typeface="Cambria Math"/>
                <a:cs typeface="Cambria Math"/>
              </a:rPr>
              <a:t>𝑥</a:t>
            </a:r>
            <a:r>
              <a:rPr sz="2600" dirty="0">
                <a:latin typeface="Cambria Math"/>
                <a:cs typeface="Cambria Math"/>
              </a:rPr>
              <a:t>(𝐵𝑎</a:t>
            </a:r>
            <a:r>
              <a:rPr sz="2600" spc="-10" dirty="0">
                <a:latin typeface="Cambria Math"/>
                <a:cs typeface="Cambria Math"/>
              </a:rPr>
              <a:t>𝑟</a:t>
            </a:r>
            <a:r>
              <a:rPr sz="2600" dirty="0">
                <a:latin typeface="Cambria Math"/>
                <a:cs typeface="Cambria Math"/>
              </a:rPr>
              <a:t>𝑏𝑒</a:t>
            </a:r>
            <a:r>
              <a:rPr sz="2600" spc="5" dirty="0">
                <a:latin typeface="Cambria Math"/>
                <a:cs typeface="Cambria Math"/>
              </a:rPr>
              <a:t>𝑟</a:t>
            </a:r>
            <a:r>
              <a:rPr sz="2600" dirty="0">
                <a:latin typeface="Cambria Math"/>
                <a:cs typeface="Cambria Math"/>
              </a:rPr>
              <a:t>	</a:t>
            </a:r>
            <a:r>
              <a:rPr sz="2600" spc="5" dirty="0">
                <a:latin typeface="Cambria Math"/>
                <a:cs typeface="Cambria Math"/>
              </a:rPr>
              <a:t>𝑥</a:t>
            </a:r>
            <a:endParaRPr sz="2600">
              <a:latin typeface="Cambria Math"/>
              <a:cs typeface="Cambria Math"/>
            </a:endParaRPr>
          </a:p>
          <a:p>
            <a:pPr marL="481965">
              <a:lnSpc>
                <a:spcPts val="2725"/>
              </a:lnSpc>
              <a:tabLst>
                <a:tab pos="1970405" algn="l"/>
              </a:tabLst>
            </a:pPr>
            <a:r>
              <a:rPr sz="2600" dirty="0">
                <a:latin typeface="Cambria Math"/>
                <a:cs typeface="Cambria Math"/>
              </a:rPr>
              <a:t>∩</a:t>
            </a:r>
            <a:r>
              <a:rPr sz="2600" spc="1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∀𝑦𝑀𝑎𝑛	𝑦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2915"/>
              </a:lnSpc>
              <a:tabLst>
                <a:tab pos="1737360" algn="l"/>
              </a:tabLst>
            </a:pPr>
            <a:r>
              <a:rPr sz="2600" dirty="0">
                <a:latin typeface="Cambria Math"/>
                <a:cs typeface="Cambria Math"/>
              </a:rPr>
              <a:t>∩</a:t>
            </a:r>
            <a:r>
              <a:rPr sz="2600" spc="5" dirty="0">
                <a:latin typeface="Cambria Math"/>
                <a:cs typeface="Cambria Math"/>
              </a:rPr>
              <a:t> </a:t>
            </a:r>
            <a:r>
              <a:rPr sz="2600" spc="-5" dirty="0">
                <a:latin typeface="Cambria Math"/>
                <a:cs typeface="Cambria Math"/>
              </a:rPr>
              <a:t>¬𝑆ℎ𝑎</a:t>
            </a:r>
            <a:r>
              <a:rPr sz="2600" spc="-15" dirty="0">
                <a:latin typeface="Cambria Math"/>
                <a:cs typeface="Cambria Math"/>
              </a:rPr>
              <a:t>𝑣</a:t>
            </a:r>
            <a:r>
              <a:rPr sz="2600" spc="-5" dirty="0">
                <a:latin typeface="Cambria Math"/>
                <a:cs typeface="Cambria Math"/>
              </a:rPr>
              <a:t>𝑒</a:t>
            </a:r>
            <a:r>
              <a:rPr sz="2600" dirty="0">
                <a:latin typeface="Cambria Math"/>
                <a:cs typeface="Cambria Math"/>
              </a:rPr>
              <a:t>𝑠	</a:t>
            </a:r>
            <a:r>
              <a:rPr sz="2600" spc="40" dirty="0">
                <a:latin typeface="Cambria Math"/>
                <a:cs typeface="Cambria Math"/>
              </a:rPr>
              <a:t>𝑦</a:t>
            </a:r>
            <a:r>
              <a:rPr sz="2600" dirty="0">
                <a:latin typeface="Cambria Math"/>
                <a:cs typeface="Cambria Math"/>
              </a:rPr>
              <a:t>,</a:t>
            </a:r>
            <a:r>
              <a:rPr sz="2600" spc="-13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𝑦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83573" y="4284040"/>
            <a:ext cx="2319655" cy="1115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8270">
              <a:lnSpc>
                <a:spcPts val="2930"/>
              </a:lnSpc>
              <a:spcBef>
                <a:spcPts val="105"/>
              </a:spcBef>
              <a:tabLst>
                <a:tab pos="1623060" algn="l"/>
              </a:tabLst>
            </a:pPr>
            <a:r>
              <a:rPr sz="2600" dirty="0">
                <a:latin typeface="Cambria Math"/>
                <a:cs typeface="Cambria Math"/>
              </a:rPr>
              <a:t>∩ 𝐼𝑛𝑡𝑜𝑤𝑛	𝑥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2725"/>
              </a:lnSpc>
              <a:tabLst>
                <a:tab pos="1508760" algn="l"/>
              </a:tabLst>
            </a:pPr>
            <a:r>
              <a:rPr sz="2600" dirty="0">
                <a:latin typeface="Cambria Math"/>
                <a:cs typeface="Cambria Math"/>
              </a:rPr>
              <a:t>∩</a:t>
            </a:r>
            <a:r>
              <a:rPr sz="2600" spc="1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𝐼𝑛𝑡𝑜𝑤𝑛	𝑦</a:t>
            </a:r>
            <a:endParaRPr sz="2600">
              <a:latin typeface="Cambria Math"/>
              <a:cs typeface="Cambria Math"/>
            </a:endParaRPr>
          </a:p>
          <a:p>
            <a:pPr marL="111125">
              <a:lnSpc>
                <a:spcPts val="2915"/>
              </a:lnSpc>
            </a:pPr>
            <a:r>
              <a:rPr sz="2600" dirty="0">
                <a:latin typeface="Cambria Math"/>
                <a:cs typeface="Cambria Math"/>
              </a:rPr>
              <a:t>⇒</a:t>
            </a:r>
            <a:r>
              <a:rPr sz="2600" spc="145" dirty="0">
                <a:latin typeface="Cambria Math"/>
                <a:cs typeface="Cambria Math"/>
              </a:rPr>
              <a:t> </a:t>
            </a:r>
            <a:r>
              <a:rPr sz="2600" spc="-5" dirty="0">
                <a:latin typeface="Cambria Math"/>
                <a:cs typeface="Cambria Math"/>
              </a:rPr>
              <a:t>𝑆ℎ𝑎𝑣</a:t>
            </a:r>
            <a:r>
              <a:rPr sz="2600" spc="-15" dirty="0">
                <a:latin typeface="Cambria Math"/>
                <a:cs typeface="Cambria Math"/>
              </a:rPr>
              <a:t>𝑒</a:t>
            </a:r>
            <a:r>
              <a:rPr sz="2600" spc="35" dirty="0">
                <a:latin typeface="Cambria Math"/>
                <a:cs typeface="Cambria Math"/>
              </a:rPr>
              <a:t>𝑠</a:t>
            </a:r>
            <a:r>
              <a:rPr sz="2600" spc="-5" dirty="0">
                <a:latin typeface="Cambria Math"/>
                <a:cs typeface="Cambria Math"/>
              </a:rPr>
              <a:t>(</a:t>
            </a:r>
            <a:r>
              <a:rPr sz="2600" spc="75" dirty="0">
                <a:latin typeface="Cambria Math"/>
                <a:cs typeface="Cambria Math"/>
              </a:rPr>
              <a:t>𝑥</a:t>
            </a:r>
            <a:r>
              <a:rPr sz="2600" dirty="0">
                <a:latin typeface="Cambria Math"/>
                <a:cs typeface="Cambria Math"/>
              </a:rPr>
              <a:t>,</a:t>
            </a:r>
            <a:r>
              <a:rPr sz="2600" spc="-135" dirty="0">
                <a:latin typeface="Cambria Math"/>
                <a:cs typeface="Cambria Math"/>
              </a:rPr>
              <a:t> </a:t>
            </a:r>
            <a:r>
              <a:rPr sz="2600" spc="40" dirty="0">
                <a:latin typeface="Cambria Math"/>
                <a:cs typeface="Cambria Math"/>
              </a:rPr>
              <a:t>𝑦</a:t>
            </a:r>
            <a:r>
              <a:rPr sz="2600" dirty="0">
                <a:latin typeface="Cambria Math"/>
                <a:cs typeface="Cambria Math"/>
              </a:rPr>
              <a:t>)</a:t>
            </a:r>
            <a:endParaRPr sz="2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0857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Try</a:t>
            </a:r>
            <a:r>
              <a:rPr spc="-30" dirty="0"/>
              <a:t> </a:t>
            </a:r>
            <a:r>
              <a:rPr spc="-55" dirty="0"/>
              <a:t>few</a:t>
            </a:r>
            <a:r>
              <a:rPr spc="-25" dirty="0"/>
              <a:t> </a:t>
            </a:r>
            <a:r>
              <a:rPr spc="-15" dirty="0"/>
              <a:t>more:</a:t>
            </a:r>
            <a:r>
              <a:rPr spc="-30" dirty="0"/>
              <a:t> </a:t>
            </a:r>
            <a:r>
              <a:rPr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9663"/>
            <a:ext cx="4976495" cy="413448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25"/>
              </a:spcBef>
              <a:buFont typeface="Tahoma"/>
              <a:buChar char="•"/>
              <a:tabLst>
                <a:tab pos="241300" algn="l"/>
              </a:tabLst>
            </a:pPr>
            <a:r>
              <a:rPr sz="2400" spc="-15" dirty="0">
                <a:latin typeface="Calibri"/>
                <a:cs typeface="Calibri"/>
              </a:rPr>
              <a:t>Everyone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loves</a:t>
            </a:r>
            <a:r>
              <a:rPr sz="2400" spc="-5" dirty="0">
                <a:latin typeface="Calibri"/>
                <a:cs typeface="Calibri"/>
              </a:rPr>
              <a:t> somebody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Tahoma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No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likes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everyone</a:t>
            </a:r>
            <a:endParaRPr sz="2400">
              <a:latin typeface="Calibri"/>
              <a:cs typeface="Calibri"/>
            </a:endParaRPr>
          </a:p>
          <a:p>
            <a:pPr marL="241300" marR="653415" indent="-228600">
              <a:lnSpc>
                <a:spcPts val="2300"/>
              </a:lnSpc>
              <a:spcBef>
                <a:spcPts val="994"/>
              </a:spcBef>
              <a:buFont typeface="Tahoma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There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someone </a:t>
            </a:r>
            <a:r>
              <a:rPr sz="2400" dirty="0">
                <a:latin typeface="Calibri"/>
                <a:cs typeface="Calibri"/>
              </a:rPr>
              <a:t>who is </a:t>
            </a:r>
            <a:r>
              <a:rPr sz="2400" spc="-15" dirty="0">
                <a:latin typeface="Calibri"/>
                <a:cs typeface="Calibri"/>
              </a:rPr>
              <a:t>liked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everyone</a:t>
            </a:r>
            <a:endParaRPr sz="2400">
              <a:latin typeface="Calibri"/>
              <a:cs typeface="Calibri"/>
            </a:endParaRPr>
          </a:p>
          <a:p>
            <a:pPr marL="241300" marR="5080" indent="-228600">
              <a:lnSpc>
                <a:spcPts val="2300"/>
              </a:lnSpc>
              <a:spcBef>
                <a:spcPts val="1005"/>
              </a:spcBef>
              <a:buFont typeface="Tahoma"/>
              <a:buChar char="•"/>
              <a:tabLst>
                <a:tab pos="241300" algn="l"/>
              </a:tabLst>
            </a:pPr>
            <a:r>
              <a:rPr sz="2400" spc="-65" dirty="0">
                <a:latin typeface="Calibri"/>
                <a:cs typeface="Calibri"/>
              </a:rPr>
              <a:t>You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fool </a:t>
            </a:r>
            <a:r>
              <a:rPr sz="2400" spc="-5" dirty="0">
                <a:latin typeface="Calibri"/>
                <a:cs typeface="Calibri"/>
              </a:rPr>
              <a:t>some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people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every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  <a:p>
            <a:pPr marL="241300" marR="190500" indent="-228600">
              <a:lnSpc>
                <a:spcPct val="80000"/>
              </a:lnSpc>
              <a:spcBef>
                <a:spcPts val="1019"/>
              </a:spcBef>
              <a:buFont typeface="Tahoma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All </a:t>
            </a:r>
            <a:r>
              <a:rPr sz="2400" spc="-5" dirty="0">
                <a:latin typeface="Calibri"/>
                <a:cs typeface="Calibri"/>
              </a:rPr>
              <a:t>employee </a:t>
            </a:r>
            <a:r>
              <a:rPr sz="2400" dirty="0">
                <a:latin typeface="Calibri"/>
                <a:cs typeface="Calibri"/>
              </a:rPr>
              <a:t>earning </a:t>
            </a:r>
            <a:r>
              <a:rPr sz="2400" spc="-10" dirty="0">
                <a:latin typeface="Calibri"/>
                <a:cs typeface="Calibri"/>
              </a:rPr>
              <a:t>Rs.200000|-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year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pay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taxes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Tahoma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Some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employee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sick</a:t>
            </a:r>
            <a:r>
              <a:rPr sz="2400" spc="-20" dirty="0">
                <a:latin typeface="Calibri"/>
                <a:cs typeface="Calibri"/>
              </a:rPr>
              <a:t> today</a:t>
            </a:r>
            <a:endParaRPr sz="2400">
              <a:latin typeface="Calibri"/>
              <a:cs typeface="Calibri"/>
            </a:endParaRPr>
          </a:p>
          <a:p>
            <a:pPr marL="241300" marR="1147445" indent="-228600">
              <a:lnSpc>
                <a:spcPct val="80000"/>
              </a:lnSpc>
              <a:spcBef>
                <a:spcPts val="994"/>
              </a:spcBef>
              <a:buFont typeface="Tahoma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Nobody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earns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chairman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35032" y="1904745"/>
            <a:ext cx="658495" cy="282575"/>
          </a:xfrm>
          <a:custGeom>
            <a:avLst/>
            <a:gdLst/>
            <a:ahLst/>
            <a:cxnLst/>
            <a:rect l="l" t="t" r="r" b="b"/>
            <a:pathLst>
              <a:path w="658495" h="282575">
                <a:moveTo>
                  <a:pt x="568071" y="0"/>
                </a:moveTo>
                <a:lnTo>
                  <a:pt x="564134" y="11429"/>
                </a:lnTo>
                <a:lnTo>
                  <a:pt x="580441" y="18504"/>
                </a:lnTo>
                <a:lnTo>
                  <a:pt x="594486" y="28305"/>
                </a:lnTo>
                <a:lnTo>
                  <a:pt x="623010" y="73852"/>
                </a:lnTo>
                <a:lnTo>
                  <a:pt x="631305" y="115623"/>
                </a:lnTo>
                <a:lnTo>
                  <a:pt x="632333" y="139700"/>
                </a:lnTo>
                <a:lnTo>
                  <a:pt x="631287" y="164580"/>
                </a:lnTo>
                <a:lnTo>
                  <a:pt x="622956" y="207529"/>
                </a:lnTo>
                <a:lnTo>
                  <a:pt x="594534" y="253777"/>
                </a:lnTo>
                <a:lnTo>
                  <a:pt x="564515" y="270763"/>
                </a:lnTo>
                <a:lnTo>
                  <a:pt x="568071" y="282320"/>
                </a:lnTo>
                <a:lnTo>
                  <a:pt x="606567" y="264239"/>
                </a:lnTo>
                <a:lnTo>
                  <a:pt x="634873" y="232917"/>
                </a:lnTo>
                <a:lnTo>
                  <a:pt x="652303" y="191071"/>
                </a:lnTo>
                <a:lnTo>
                  <a:pt x="658114" y="141224"/>
                </a:lnTo>
                <a:lnTo>
                  <a:pt x="656661" y="115339"/>
                </a:lnTo>
                <a:lnTo>
                  <a:pt x="645040" y="69429"/>
                </a:lnTo>
                <a:lnTo>
                  <a:pt x="621917" y="32093"/>
                </a:lnTo>
                <a:lnTo>
                  <a:pt x="588527" y="7379"/>
                </a:lnTo>
                <a:lnTo>
                  <a:pt x="568071" y="0"/>
                </a:lnTo>
                <a:close/>
              </a:path>
              <a:path w="65849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227441" y="2223261"/>
            <a:ext cx="659765" cy="282575"/>
          </a:xfrm>
          <a:custGeom>
            <a:avLst/>
            <a:gdLst/>
            <a:ahLst/>
            <a:cxnLst/>
            <a:rect l="l" t="t" r="r" b="b"/>
            <a:pathLst>
              <a:path w="659765" h="282575">
                <a:moveTo>
                  <a:pt x="569594" y="0"/>
                </a:moveTo>
                <a:lnTo>
                  <a:pt x="565657" y="11429"/>
                </a:lnTo>
                <a:lnTo>
                  <a:pt x="581965" y="18504"/>
                </a:lnTo>
                <a:lnTo>
                  <a:pt x="596010" y="28305"/>
                </a:lnTo>
                <a:lnTo>
                  <a:pt x="624534" y="73852"/>
                </a:lnTo>
                <a:lnTo>
                  <a:pt x="632829" y="115623"/>
                </a:lnTo>
                <a:lnTo>
                  <a:pt x="633856" y="139700"/>
                </a:lnTo>
                <a:lnTo>
                  <a:pt x="632811" y="164580"/>
                </a:lnTo>
                <a:lnTo>
                  <a:pt x="624480" y="207529"/>
                </a:lnTo>
                <a:lnTo>
                  <a:pt x="596058" y="253777"/>
                </a:lnTo>
                <a:lnTo>
                  <a:pt x="566038" y="270763"/>
                </a:lnTo>
                <a:lnTo>
                  <a:pt x="569594" y="282321"/>
                </a:lnTo>
                <a:lnTo>
                  <a:pt x="608091" y="264239"/>
                </a:lnTo>
                <a:lnTo>
                  <a:pt x="636397" y="232917"/>
                </a:lnTo>
                <a:lnTo>
                  <a:pt x="653827" y="191071"/>
                </a:lnTo>
                <a:lnTo>
                  <a:pt x="659637" y="141224"/>
                </a:lnTo>
                <a:lnTo>
                  <a:pt x="658185" y="115339"/>
                </a:lnTo>
                <a:lnTo>
                  <a:pt x="646564" y="69429"/>
                </a:lnTo>
                <a:lnTo>
                  <a:pt x="623441" y="32093"/>
                </a:lnTo>
                <a:lnTo>
                  <a:pt x="590051" y="7379"/>
                </a:lnTo>
                <a:lnTo>
                  <a:pt x="569594" y="0"/>
                </a:lnTo>
                <a:close/>
              </a:path>
              <a:path w="659765" h="282575">
                <a:moveTo>
                  <a:pt x="90042" y="0"/>
                </a:moveTo>
                <a:lnTo>
                  <a:pt x="51641" y="18081"/>
                </a:lnTo>
                <a:lnTo>
                  <a:pt x="23240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29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005693" y="2223261"/>
            <a:ext cx="659765" cy="282575"/>
          </a:xfrm>
          <a:custGeom>
            <a:avLst/>
            <a:gdLst/>
            <a:ahLst/>
            <a:cxnLst/>
            <a:rect l="l" t="t" r="r" b="b"/>
            <a:pathLst>
              <a:path w="659765" h="282575">
                <a:moveTo>
                  <a:pt x="569595" y="0"/>
                </a:moveTo>
                <a:lnTo>
                  <a:pt x="565657" y="11429"/>
                </a:lnTo>
                <a:lnTo>
                  <a:pt x="581965" y="18504"/>
                </a:lnTo>
                <a:lnTo>
                  <a:pt x="596010" y="28305"/>
                </a:lnTo>
                <a:lnTo>
                  <a:pt x="624534" y="73852"/>
                </a:lnTo>
                <a:lnTo>
                  <a:pt x="632829" y="115623"/>
                </a:lnTo>
                <a:lnTo>
                  <a:pt x="633856" y="139700"/>
                </a:lnTo>
                <a:lnTo>
                  <a:pt x="632811" y="164580"/>
                </a:lnTo>
                <a:lnTo>
                  <a:pt x="624480" y="207529"/>
                </a:lnTo>
                <a:lnTo>
                  <a:pt x="596058" y="253777"/>
                </a:lnTo>
                <a:lnTo>
                  <a:pt x="566038" y="270763"/>
                </a:lnTo>
                <a:lnTo>
                  <a:pt x="569595" y="282321"/>
                </a:lnTo>
                <a:lnTo>
                  <a:pt x="608091" y="264239"/>
                </a:lnTo>
                <a:lnTo>
                  <a:pt x="636397" y="232917"/>
                </a:lnTo>
                <a:lnTo>
                  <a:pt x="653827" y="191071"/>
                </a:lnTo>
                <a:lnTo>
                  <a:pt x="659637" y="141224"/>
                </a:lnTo>
                <a:lnTo>
                  <a:pt x="658185" y="115339"/>
                </a:lnTo>
                <a:lnTo>
                  <a:pt x="646564" y="69429"/>
                </a:lnTo>
                <a:lnTo>
                  <a:pt x="623441" y="32093"/>
                </a:lnTo>
                <a:lnTo>
                  <a:pt x="590051" y="7379"/>
                </a:lnTo>
                <a:lnTo>
                  <a:pt x="569595" y="0"/>
                </a:lnTo>
                <a:close/>
              </a:path>
              <a:path w="659765" h="282575">
                <a:moveTo>
                  <a:pt x="90042" y="0"/>
                </a:moveTo>
                <a:lnTo>
                  <a:pt x="51641" y="18081"/>
                </a:lnTo>
                <a:lnTo>
                  <a:pt x="23240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29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01505" y="2971545"/>
            <a:ext cx="658495" cy="282575"/>
          </a:xfrm>
          <a:custGeom>
            <a:avLst/>
            <a:gdLst/>
            <a:ahLst/>
            <a:cxnLst/>
            <a:rect l="l" t="t" r="r" b="b"/>
            <a:pathLst>
              <a:path w="658495" h="282575">
                <a:moveTo>
                  <a:pt x="568071" y="0"/>
                </a:moveTo>
                <a:lnTo>
                  <a:pt x="564134" y="11429"/>
                </a:lnTo>
                <a:lnTo>
                  <a:pt x="580441" y="18504"/>
                </a:lnTo>
                <a:lnTo>
                  <a:pt x="594486" y="28305"/>
                </a:lnTo>
                <a:lnTo>
                  <a:pt x="623010" y="73852"/>
                </a:lnTo>
                <a:lnTo>
                  <a:pt x="631305" y="115623"/>
                </a:lnTo>
                <a:lnTo>
                  <a:pt x="632333" y="139700"/>
                </a:lnTo>
                <a:lnTo>
                  <a:pt x="631287" y="164580"/>
                </a:lnTo>
                <a:lnTo>
                  <a:pt x="622956" y="207529"/>
                </a:lnTo>
                <a:lnTo>
                  <a:pt x="594534" y="253777"/>
                </a:lnTo>
                <a:lnTo>
                  <a:pt x="564515" y="270763"/>
                </a:lnTo>
                <a:lnTo>
                  <a:pt x="568071" y="282320"/>
                </a:lnTo>
                <a:lnTo>
                  <a:pt x="606567" y="264239"/>
                </a:lnTo>
                <a:lnTo>
                  <a:pt x="634873" y="232917"/>
                </a:lnTo>
                <a:lnTo>
                  <a:pt x="652303" y="191071"/>
                </a:lnTo>
                <a:lnTo>
                  <a:pt x="658114" y="141224"/>
                </a:lnTo>
                <a:lnTo>
                  <a:pt x="656661" y="115339"/>
                </a:lnTo>
                <a:lnTo>
                  <a:pt x="645040" y="69429"/>
                </a:lnTo>
                <a:lnTo>
                  <a:pt x="621917" y="32093"/>
                </a:lnTo>
                <a:lnTo>
                  <a:pt x="588527" y="7379"/>
                </a:lnTo>
                <a:lnTo>
                  <a:pt x="568071" y="0"/>
                </a:lnTo>
                <a:close/>
              </a:path>
              <a:path w="65849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036684" y="3305302"/>
            <a:ext cx="370205" cy="282575"/>
          </a:xfrm>
          <a:custGeom>
            <a:avLst/>
            <a:gdLst/>
            <a:ahLst/>
            <a:cxnLst/>
            <a:rect l="l" t="t" r="r" b="b"/>
            <a:pathLst>
              <a:path w="370204" h="282575">
                <a:moveTo>
                  <a:pt x="280035" y="0"/>
                </a:moveTo>
                <a:lnTo>
                  <a:pt x="276098" y="11430"/>
                </a:lnTo>
                <a:lnTo>
                  <a:pt x="292405" y="18504"/>
                </a:lnTo>
                <a:lnTo>
                  <a:pt x="306450" y="28305"/>
                </a:lnTo>
                <a:lnTo>
                  <a:pt x="334974" y="73852"/>
                </a:lnTo>
                <a:lnTo>
                  <a:pt x="343269" y="115623"/>
                </a:lnTo>
                <a:lnTo>
                  <a:pt x="344297" y="139700"/>
                </a:lnTo>
                <a:lnTo>
                  <a:pt x="343251" y="164580"/>
                </a:lnTo>
                <a:lnTo>
                  <a:pt x="334920" y="207529"/>
                </a:lnTo>
                <a:lnTo>
                  <a:pt x="306498" y="253777"/>
                </a:lnTo>
                <a:lnTo>
                  <a:pt x="276479" y="270763"/>
                </a:lnTo>
                <a:lnTo>
                  <a:pt x="280035" y="282321"/>
                </a:lnTo>
                <a:lnTo>
                  <a:pt x="318531" y="264239"/>
                </a:lnTo>
                <a:lnTo>
                  <a:pt x="346837" y="232918"/>
                </a:lnTo>
                <a:lnTo>
                  <a:pt x="364267" y="191071"/>
                </a:lnTo>
                <a:lnTo>
                  <a:pt x="370078" y="141224"/>
                </a:lnTo>
                <a:lnTo>
                  <a:pt x="368625" y="115339"/>
                </a:lnTo>
                <a:lnTo>
                  <a:pt x="357004" y="69429"/>
                </a:lnTo>
                <a:lnTo>
                  <a:pt x="333881" y="32093"/>
                </a:lnTo>
                <a:lnTo>
                  <a:pt x="300491" y="7379"/>
                </a:lnTo>
                <a:lnTo>
                  <a:pt x="280035" y="0"/>
                </a:lnTo>
                <a:close/>
              </a:path>
              <a:path w="370204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95153" y="3305302"/>
            <a:ext cx="374650" cy="282575"/>
          </a:xfrm>
          <a:custGeom>
            <a:avLst/>
            <a:gdLst/>
            <a:ahLst/>
            <a:cxnLst/>
            <a:rect l="l" t="t" r="r" b="b"/>
            <a:pathLst>
              <a:path w="374650" h="282575">
                <a:moveTo>
                  <a:pt x="284606" y="0"/>
                </a:moveTo>
                <a:lnTo>
                  <a:pt x="280670" y="11430"/>
                </a:lnTo>
                <a:lnTo>
                  <a:pt x="296977" y="18504"/>
                </a:lnTo>
                <a:lnTo>
                  <a:pt x="311023" y="28305"/>
                </a:lnTo>
                <a:lnTo>
                  <a:pt x="339546" y="73852"/>
                </a:lnTo>
                <a:lnTo>
                  <a:pt x="347841" y="115623"/>
                </a:lnTo>
                <a:lnTo>
                  <a:pt x="348869" y="139700"/>
                </a:lnTo>
                <a:lnTo>
                  <a:pt x="347823" y="164580"/>
                </a:lnTo>
                <a:lnTo>
                  <a:pt x="339492" y="207529"/>
                </a:lnTo>
                <a:lnTo>
                  <a:pt x="311070" y="253777"/>
                </a:lnTo>
                <a:lnTo>
                  <a:pt x="281050" y="270763"/>
                </a:lnTo>
                <a:lnTo>
                  <a:pt x="284606" y="282321"/>
                </a:lnTo>
                <a:lnTo>
                  <a:pt x="323103" y="264239"/>
                </a:lnTo>
                <a:lnTo>
                  <a:pt x="351408" y="232918"/>
                </a:lnTo>
                <a:lnTo>
                  <a:pt x="368839" y="191071"/>
                </a:lnTo>
                <a:lnTo>
                  <a:pt x="374650" y="141224"/>
                </a:lnTo>
                <a:lnTo>
                  <a:pt x="373197" y="115339"/>
                </a:lnTo>
                <a:lnTo>
                  <a:pt x="361576" y="69429"/>
                </a:lnTo>
                <a:lnTo>
                  <a:pt x="338453" y="32093"/>
                </a:lnTo>
                <a:lnTo>
                  <a:pt x="305063" y="7379"/>
                </a:lnTo>
                <a:lnTo>
                  <a:pt x="284606" y="0"/>
                </a:lnTo>
                <a:close/>
              </a:path>
              <a:path w="374650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521317" y="3632961"/>
            <a:ext cx="1494790" cy="927100"/>
          </a:xfrm>
          <a:custGeom>
            <a:avLst/>
            <a:gdLst/>
            <a:ahLst/>
            <a:cxnLst/>
            <a:rect l="l" t="t" r="r" b="b"/>
            <a:pathLst>
              <a:path w="1494790" h="927100">
                <a:moveTo>
                  <a:pt x="94107" y="656082"/>
                </a:moveTo>
                <a:lnTo>
                  <a:pt x="90043" y="644652"/>
                </a:lnTo>
                <a:lnTo>
                  <a:pt x="69583" y="652043"/>
                </a:lnTo>
                <a:lnTo>
                  <a:pt x="51638" y="662736"/>
                </a:lnTo>
                <a:lnTo>
                  <a:pt x="23241" y="694055"/>
                </a:lnTo>
                <a:lnTo>
                  <a:pt x="5803" y="736066"/>
                </a:lnTo>
                <a:lnTo>
                  <a:pt x="0" y="785876"/>
                </a:lnTo>
                <a:lnTo>
                  <a:pt x="1447" y="811822"/>
                </a:lnTo>
                <a:lnTo>
                  <a:pt x="13068" y="857643"/>
                </a:lnTo>
                <a:lnTo>
                  <a:pt x="36118" y="894880"/>
                </a:lnTo>
                <a:lnTo>
                  <a:pt x="69507" y="919594"/>
                </a:lnTo>
                <a:lnTo>
                  <a:pt x="90043" y="926973"/>
                </a:lnTo>
                <a:lnTo>
                  <a:pt x="93599" y="915416"/>
                </a:lnTo>
                <a:lnTo>
                  <a:pt x="77520" y="908316"/>
                </a:lnTo>
                <a:lnTo>
                  <a:pt x="63639" y="898436"/>
                </a:lnTo>
                <a:lnTo>
                  <a:pt x="35204" y="852182"/>
                </a:lnTo>
                <a:lnTo>
                  <a:pt x="26822" y="809244"/>
                </a:lnTo>
                <a:lnTo>
                  <a:pt x="25781" y="784352"/>
                </a:lnTo>
                <a:lnTo>
                  <a:pt x="26822" y="760285"/>
                </a:lnTo>
                <a:lnTo>
                  <a:pt x="35204" y="718515"/>
                </a:lnTo>
                <a:lnTo>
                  <a:pt x="63754" y="672960"/>
                </a:lnTo>
                <a:lnTo>
                  <a:pt x="77787" y="663168"/>
                </a:lnTo>
                <a:lnTo>
                  <a:pt x="94107" y="656082"/>
                </a:lnTo>
                <a:close/>
              </a:path>
              <a:path w="1494790" h="927100">
                <a:moveTo>
                  <a:pt x="354711" y="334518"/>
                </a:moveTo>
                <a:lnTo>
                  <a:pt x="350647" y="323088"/>
                </a:lnTo>
                <a:lnTo>
                  <a:pt x="330187" y="330479"/>
                </a:lnTo>
                <a:lnTo>
                  <a:pt x="312242" y="341172"/>
                </a:lnTo>
                <a:lnTo>
                  <a:pt x="283845" y="372491"/>
                </a:lnTo>
                <a:lnTo>
                  <a:pt x="266407" y="414502"/>
                </a:lnTo>
                <a:lnTo>
                  <a:pt x="260604" y="464312"/>
                </a:lnTo>
                <a:lnTo>
                  <a:pt x="262051" y="490258"/>
                </a:lnTo>
                <a:lnTo>
                  <a:pt x="273672" y="536079"/>
                </a:lnTo>
                <a:lnTo>
                  <a:pt x="296722" y="573316"/>
                </a:lnTo>
                <a:lnTo>
                  <a:pt x="330111" y="598030"/>
                </a:lnTo>
                <a:lnTo>
                  <a:pt x="350647" y="605409"/>
                </a:lnTo>
                <a:lnTo>
                  <a:pt x="354203" y="593852"/>
                </a:lnTo>
                <a:lnTo>
                  <a:pt x="338124" y="586752"/>
                </a:lnTo>
                <a:lnTo>
                  <a:pt x="324243" y="576872"/>
                </a:lnTo>
                <a:lnTo>
                  <a:pt x="295808" y="530618"/>
                </a:lnTo>
                <a:lnTo>
                  <a:pt x="287426" y="487680"/>
                </a:lnTo>
                <a:lnTo>
                  <a:pt x="286385" y="462788"/>
                </a:lnTo>
                <a:lnTo>
                  <a:pt x="287426" y="438721"/>
                </a:lnTo>
                <a:lnTo>
                  <a:pt x="295808" y="396951"/>
                </a:lnTo>
                <a:lnTo>
                  <a:pt x="324358" y="351396"/>
                </a:lnTo>
                <a:lnTo>
                  <a:pt x="338391" y="341604"/>
                </a:lnTo>
                <a:lnTo>
                  <a:pt x="354711" y="334518"/>
                </a:lnTo>
                <a:close/>
              </a:path>
              <a:path w="1494790" h="927100">
                <a:moveTo>
                  <a:pt x="440055" y="11430"/>
                </a:moveTo>
                <a:lnTo>
                  <a:pt x="435991" y="0"/>
                </a:lnTo>
                <a:lnTo>
                  <a:pt x="415531" y="7391"/>
                </a:lnTo>
                <a:lnTo>
                  <a:pt x="397586" y="18084"/>
                </a:lnTo>
                <a:lnTo>
                  <a:pt x="369189" y="49403"/>
                </a:lnTo>
                <a:lnTo>
                  <a:pt x="351751" y="91414"/>
                </a:lnTo>
                <a:lnTo>
                  <a:pt x="345948" y="141224"/>
                </a:lnTo>
                <a:lnTo>
                  <a:pt x="347395" y="167170"/>
                </a:lnTo>
                <a:lnTo>
                  <a:pt x="359016" y="212991"/>
                </a:lnTo>
                <a:lnTo>
                  <a:pt x="382066" y="250228"/>
                </a:lnTo>
                <a:lnTo>
                  <a:pt x="415455" y="274942"/>
                </a:lnTo>
                <a:lnTo>
                  <a:pt x="435991" y="282321"/>
                </a:lnTo>
                <a:lnTo>
                  <a:pt x="439547" y="270764"/>
                </a:lnTo>
                <a:lnTo>
                  <a:pt x="423468" y="263664"/>
                </a:lnTo>
                <a:lnTo>
                  <a:pt x="409587" y="253784"/>
                </a:lnTo>
                <a:lnTo>
                  <a:pt x="381152" y="207530"/>
                </a:lnTo>
                <a:lnTo>
                  <a:pt x="372770" y="164592"/>
                </a:lnTo>
                <a:lnTo>
                  <a:pt x="371729" y="139700"/>
                </a:lnTo>
                <a:lnTo>
                  <a:pt x="372770" y="115633"/>
                </a:lnTo>
                <a:lnTo>
                  <a:pt x="381152" y="73863"/>
                </a:lnTo>
                <a:lnTo>
                  <a:pt x="409702" y="28308"/>
                </a:lnTo>
                <a:lnTo>
                  <a:pt x="423735" y="18516"/>
                </a:lnTo>
                <a:lnTo>
                  <a:pt x="440055" y="11430"/>
                </a:lnTo>
                <a:close/>
              </a:path>
              <a:path w="1494790" h="927100">
                <a:moveTo>
                  <a:pt x="630682" y="464312"/>
                </a:moveTo>
                <a:lnTo>
                  <a:pt x="624865" y="414502"/>
                </a:lnTo>
                <a:lnTo>
                  <a:pt x="607441" y="372491"/>
                </a:lnTo>
                <a:lnTo>
                  <a:pt x="579031" y="341172"/>
                </a:lnTo>
                <a:lnTo>
                  <a:pt x="540639" y="323088"/>
                </a:lnTo>
                <a:lnTo>
                  <a:pt x="536702" y="334518"/>
                </a:lnTo>
                <a:lnTo>
                  <a:pt x="553008" y="341604"/>
                </a:lnTo>
                <a:lnTo>
                  <a:pt x="567042" y="351396"/>
                </a:lnTo>
                <a:lnTo>
                  <a:pt x="595566" y="396951"/>
                </a:lnTo>
                <a:lnTo>
                  <a:pt x="603872" y="438721"/>
                </a:lnTo>
                <a:lnTo>
                  <a:pt x="604901" y="462788"/>
                </a:lnTo>
                <a:lnTo>
                  <a:pt x="603846" y="487680"/>
                </a:lnTo>
                <a:lnTo>
                  <a:pt x="595515" y="530618"/>
                </a:lnTo>
                <a:lnTo>
                  <a:pt x="567093" y="576872"/>
                </a:lnTo>
                <a:lnTo>
                  <a:pt x="537083" y="593852"/>
                </a:lnTo>
                <a:lnTo>
                  <a:pt x="540639" y="605409"/>
                </a:lnTo>
                <a:lnTo>
                  <a:pt x="579132" y="587336"/>
                </a:lnTo>
                <a:lnTo>
                  <a:pt x="607441" y="556006"/>
                </a:lnTo>
                <a:lnTo>
                  <a:pt x="624865" y="514159"/>
                </a:lnTo>
                <a:lnTo>
                  <a:pt x="629221" y="490258"/>
                </a:lnTo>
                <a:lnTo>
                  <a:pt x="630682" y="464312"/>
                </a:lnTo>
                <a:close/>
              </a:path>
              <a:path w="1494790" h="927100">
                <a:moveTo>
                  <a:pt x="956818" y="141224"/>
                </a:moveTo>
                <a:lnTo>
                  <a:pt x="951001" y="91414"/>
                </a:lnTo>
                <a:lnTo>
                  <a:pt x="933577" y="49403"/>
                </a:lnTo>
                <a:lnTo>
                  <a:pt x="905167" y="18084"/>
                </a:lnTo>
                <a:lnTo>
                  <a:pt x="866775" y="0"/>
                </a:lnTo>
                <a:lnTo>
                  <a:pt x="862838" y="11430"/>
                </a:lnTo>
                <a:lnTo>
                  <a:pt x="879144" y="18516"/>
                </a:lnTo>
                <a:lnTo>
                  <a:pt x="893191" y="28308"/>
                </a:lnTo>
                <a:lnTo>
                  <a:pt x="921702" y="73863"/>
                </a:lnTo>
                <a:lnTo>
                  <a:pt x="930008" y="115633"/>
                </a:lnTo>
                <a:lnTo>
                  <a:pt x="931037" y="139700"/>
                </a:lnTo>
                <a:lnTo>
                  <a:pt x="929982" y="164592"/>
                </a:lnTo>
                <a:lnTo>
                  <a:pt x="921651" y="207530"/>
                </a:lnTo>
                <a:lnTo>
                  <a:pt x="893229" y="253784"/>
                </a:lnTo>
                <a:lnTo>
                  <a:pt x="863219" y="270764"/>
                </a:lnTo>
                <a:lnTo>
                  <a:pt x="866775" y="282321"/>
                </a:lnTo>
                <a:lnTo>
                  <a:pt x="905268" y="264248"/>
                </a:lnTo>
                <a:lnTo>
                  <a:pt x="933577" y="232918"/>
                </a:lnTo>
                <a:lnTo>
                  <a:pt x="951001" y="191071"/>
                </a:lnTo>
                <a:lnTo>
                  <a:pt x="955357" y="167170"/>
                </a:lnTo>
                <a:lnTo>
                  <a:pt x="956818" y="141224"/>
                </a:lnTo>
                <a:close/>
              </a:path>
              <a:path w="1494790" h="927100">
                <a:moveTo>
                  <a:pt x="1494790" y="785876"/>
                </a:moveTo>
                <a:lnTo>
                  <a:pt x="1488973" y="736066"/>
                </a:lnTo>
                <a:lnTo>
                  <a:pt x="1471549" y="694055"/>
                </a:lnTo>
                <a:lnTo>
                  <a:pt x="1443139" y="662736"/>
                </a:lnTo>
                <a:lnTo>
                  <a:pt x="1404747" y="644652"/>
                </a:lnTo>
                <a:lnTo>
                  <a:pt x="1400810" y="656082"/>
                </a:lnTo>
                <a:lnTo>
                  <a:pt x="1417116" y="663168"/>
                </a:lnTo>
                <a:lnTo>
                  <a:pt x="1431163" y="672960"/>
                </a:lnTo>
                <a:lnTo>
                  <a:pt x="1459674" y="718515"/>
                </a:lnTo>
                <a:lnTo>
                  <a:pt x="1467980" y="760285"/>
                </a:lnTo>
                <a:lnTo>
                  <a:pt x="1469009" y="784352"/>
                </a:lnTo>
                <a:lnTo>
                  <a:pt x="1467954" y="809244"/>
                </a:lnTo>
                <a:lnTo>
                  <a:pt x="1459623" y="852182"/>
                </a:lnTo>
                <a:lnTo>
                  <a:pt x="1431201" y="898436"/>
                </a:lnTo>
                <a:lnTo>
                  <a:pt x="1401191" y="915416"/>
                </a:lnTo>
                <a:lnTo>
                  <a:pt x="1404747" y="926973"/>
                </a:lnTo>
                <a:lnTo>
                  <a:pt x="1443240" y="908900"/>
                </a:lnTo>
                <a:lnTo>
                  <a:pt x="1471549" y="877570"/>
                </a:lnTo>
                <a:lnTo>
                  <a:pt x="1488973" y="835723"/>
                </a:lnTo>
                <a:lnTo>
                  <a:pt x="1493329" y="811822"/>
                </a:lnTo>
                <a:lnTo>
                  <a:pt x="1494790" y="7858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97517" y="4605273"/>
            <a:ext cx="370205" cy="282575"/>
          </a:xfrm>
          <a:custGeom>
            <a:avLst/>
            <a:gdLst/>
            <a:ahLst/>
            <a:cxnLst/>
            <a:rect l="l" t="t" r="r" b="b"/>
            <a:pathLst>
              <a:path w="370204" h="282575">
                <a:moveTo>
                  <a:pt x="280034" y="0"/>
                </a:moveTo>
                <a:lnTo>
                  <a:pt x="276098" y="11430"/>
                </a:lnTo>
                <a:lnTo>
                  <a:pt x="292405" y="18504"/>
                </a:lnTo>
                <a:lnTo>
                  <a:pt x="306450" y="28305"/>
                </a:lnTo>
                <a:lnTo>
                  <a:pt x="334974" y="73852"/>
                </a:lnTo>
                <a:lnTo>
                  <a:pt x="343269" y="115623"/>
                </a:lnTo>
                <a:lnTo>
                  <a:pt x="344297" y="139700"/>
                </a:lnTo>
                <a:lnTo>
                  <a:pt x="343251" y="164580"/>
                </a:lnTo>
                <a:lnTo>
                  <a:pt x="334920" y="207529"/>
                </a:lnTo>
                <a:lnTo>
                  <a:pt x="306498" y="253777"/>
                </a:lnTo>
                <a:lnTo>
                  <a:pt x="276478" y="270763"/>
                </a:lnTo>
                <a:lnTo>
                  <a:pt x="280034" y="282320"/>
                </a:lnTo>
                <a:lnTo>
                  <a:pt x="318531" y="264239"/>
                </a:lnTo>
                <a:lnTo>
                  <a:pt x="346836" y="232918"/>
                </a:lnTo>
                <a:lnTo>
                  <a:pt x="364267" y="191071"/>
                </a:lnTo>
                <a:lnTo>
                  <a:pt x="370077" y="141224"/>
                </a:lnTo>
                <a:lnTo>
                  <a:pt x="368625" y="115339"/>
                </a:lnTo>
                <a:lnTo>
                  <a:pt x="357004" y="69429"/>
                </a:lnTo>
                <a:lnTo>
                  <a:pt x="333881" y="32093"/>
                </a:lnTo>
                <a:lnTo>
                  <a:pt x="300491" y="7379"/>
                </a:lnTo>
                <a:lnTo>
                  <a:pt x="280034" y="0"/>
                </a:lnTo>
                <a:close/>
              </a:path>
              <a:path w="370204" h="282575">
                <a:moveTo>
                  <a:pt x="90042" y="0"/>
                </a:moveTo>
                <a:lnTo>
                  <a:pt x="51641" y="18081"/>
                </a:lnTo>
                <a:lnTo>
                  <a:pt x="23240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059544" y="4934458"/>
            <a:ext cx="370205" cy="282575"/>
          </a:xfrm>
          <a:custGeom>
            <a:avLst/>
            <a:gdLst/>
            <a:ahLst/>
            <a:cxnLst/>
            <a:rect l="l" t="t" r="r" b="b"/>
            <a:pathLst>
              <a:path w="370204" h="282575">
                <a:moveTo>
                  <a:pt x="280034" y="0"/>
                </a:moveTo>
                <a:lnTo>
                  <a:pt x="276098" y="11430"/>
                </a:lnTo>
                <a:lnTo>
                  <a:pt x="292405" y="18504"/>
                </a:lnTo>
                <a:lnTo>
                  <a:pt x="306450" y="28305"/>
                </a:lnTo>
                <a:lnTo>
                  <a:pt x="334974" y="73852"/>
                </a:lnTo>
                <a:lnTo>
                  <a:pt x="343269" y="115623"/>
                </a:lnTo>
                <a:lnTo>
                  <a:pt x="344297" y="139700"/>
                </a:lnTo>
                <a:lnTo>
                  <a:pt x="343251" y="164580"/>
                </a:lnTo>
                <a:lnTo>
                  <a:pt x="334920" y="207529"/>
                </a:lnTo>
                <a:lnTo>
                  <a:pt x="306498" y="253777"/>
                </a:lnTo>
                <a:lnTo>
                  <a:pt x="276478" y="270764"/>
                </a:lnTo>
                <a:lnTo>
                  <a:pt x="280034" y="282321"/>
                </a:lnTo>
                <a:lnTo>
                  <a:pt x="318531" y="264239"/>
                </a:lnTo>
                <a:lnTo>
                  <a:pt x="346836" y="232918"/>
                </a:lnTo>
                <a:lnTo>
                  <a:pt x="364267" y="191071"/>
                </a:lnTo>
                <a:lnTo>
                  <a:pt x="370077" y="141224"/>
                </a:lnTo>
                <a:lnTo>
                  <a:pt x="368625" y="115339"/>
                </a:lnTo>
                <a:lnTo>
                  <a:pt x="357004" y="69429"/>
                </a:lnTo>
                <a:lnTo>
                  <a:pt x="333881" y="32093"/>
                </a:lnTo>
                <a:lnTo>
                  <a:pt x="300491" y="7379"/>
                </a:lnTo>
                <a:lnTo>
                  <a:pt x="280034" y="0"/>
                </a:lnTo>
                <a:close/>
              </a:path>
              <a:path w="370204" h="282575">
                <a:moveTo>
                  <a:pt x="90043" y="0"/>
                </a:moveTo>
                <a:lnTo>
                  <a:pt x="51641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764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492105" y="4934458"/>
            <a:ext cx="370205" cy="282575"/>
          </a:xfrm>
          <a:custGeom>
            <a:avLst/>
            <a:gdLst/>
            <a:ahLst/>
            <a:cxnLst/>
            <a:rect l="l" t="t" r="r" b="b"/>
            <a:pathLst>
              <a:path w="370204" h="282575">
                <a:moveTo>
                  <a:pt x="280035" y="0"/>
                </a:moveTo>
                <a:lnTo>
                  <a:pt x="276098" y="11430"/>
                </a:lnTo>
                <a:lnTo>
                  <a:pt x="292405" y="18504"/>
                </a:lnTo>
                <a:lnTo>
                  <a:pt x="306450" y="28305"/>
                </a:lnTo>
                <a:lnTo>
                  <a:pt x="334974" y="73852"/>
                </a:lnTo>
                <a:lnTo>
                  <a:pt x="343269" y="115623"/>
                </a:lnTo>
                <a:lnTo>
                  <a:pt x="344297" y="139700"/>
                </a:lnTo>
                <a:lnTo>
                  <a:pt x="343251" y="164580"/>
                </a:lnTo>
                <a:lnTo>
                  <a:pt x="334920" y="207529"/>
                </a:lnTo>
                <a:lnTo>
                  <a:pt x="306498" y="253777"/>
                </a:lnTo>
                <a:lnTo>
                  <a:pt x="276478" y="270764"/>
                </a:lnTo>
                <a:lnTo>
                  <a:pt x="280035" y="282321"/>
                </a:lnTo>
                <a:lnTo>
                  <a:pt x="318531" y="264239"/>
                </a:lnTo>
                <a:lnTo>
                  <a:pt x="346837" y="232918"/>
                </a:lnTo>
                <a:lnTo>
                  <a:pt x="364267" y="191071"/>
                </a:lnTo>
                <a:lnTo>
                  <a:pt x="370077" y="141224"/>
                </a:lnTo>
                <a:lnTo>
                  <a:pt x="368625" y="115339"/>
                </a:lnTo>
                <a:lnTo>
                  <a:pt x="357004" y="69429"/>
                </a:lnTo>
                <a:lnTo>
                  <a:pt x="333881" y="32093"/>
                </a:lnTo>
                <a:lnTo>
                  <a:pt x="300491" y="7379"/>
                </a:lnTo>
                <a:lnTo>
                  <a:pt x="280035" y="0"/>
                </a:lnTo>
                <a:close/>
              </a:path>
              <a:path w="370204" h="282575">
                <a:moveTo>
                  <a:pt x="90043" y="0"/>
                </a:moveTo>
                <a:lnTo>
                  <a:pt x="51641" y="18081"/>
                </a:lnTo>
                <a:lnTo>
                  <a:pt x="23241" y="49403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764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781920" y="5257546"/>
            <a:ext cx="370205" cy="282575"/>
          </a:xfrm>
          <a:custGeom>
            <a:avLst/>
            <a:gdLst/>
            <a:ahLst/>
            <a:cxnLst/>
            <a:rect l="l" t="t" r="r" b="b"/>
            <a:pathLst>
              <a:path w="370204" h="282575">
                <a:moveTo>
                  <a:pt x="280034" y="0"/>
                </a:moveTo>
                <a:lnTo>
                  <a:pt x="276098" y="11429"/>
                </a:lnTo>
                <a:lnTo>
                  <a:pt x="292405" y="18504"/>
                </a:lnTo>
                <a:lnTo>
                  <a:pt x="306450" y="28305"/>
                </a:lnTo>
                <a:lnTo>
                  <a:pt x="334974" y="73852"/>
                </a:lnTo>
                <a:lnTo>
                  <a:pt x="343269" y="115623"/>
                </a:lnTo>
                <a:lnTo>
                  <a:pt x="344297" y="139699"/>
                </a:lnTo>
                <a:lnTo>
                  <a:pt x="343251" y="164580"/>
                </a:lnTo>
                <a:lnTo>
                  <a:pt x="334920" y="207529"/>
                </a:lnTo>
                <a:lnTo>
                  <a:pt x="306498" y="253777"/>
                </a:lnTo>
                <a:lnTo>
                  <a:pt x="276478" y="270763"/>
                </a:lnTo>
                <a:lnTo>
                  <a:pt x="280034" y="282320"/>
                </a:lnTo>
                <a:lnTo>
                  <a:pt x="318531" y="264239"/>
                </a:lnTo>
                <a:lnTo>
                  <a:pt x="346836" y="232917"/>
                </a:lnTo>
                <a:lnTo>
                  <a:pt x="364267" y="191071"/>
                </a:lnTo>
                <a:lnTo>
                  <a:pt x="370077" y="141223"/>
                </a:lnTo>
                <a:lnTo>
                  <a:pt x="368625" y="115339"/>
                </a:lnTo>
                <a:lnTo>
                  <a:pt x="357004" y="69429"/>
                </a:lnTo>
                <a:lnTo>
                  <a:pt x="333881" y="32093"/>
                </a:lnTo>
                <a:lnTo>
                  <a:pt x="300491" y="7379"/>
                </a:lnTo>
                <a:lnTo>
                  <a:pt x="280034" y="0"/>
                </a:lnTo>
                <a:close/>
              </a:path>
              <a:path w="370204" h="282575">
                <a:moveTo>
                  <a:pt x="90043" y="0"/>
                </a:moveTo>
                <a:lnTo>
                  <a:pt x="51641" y="18081"/>
                </a:lnTo>
                <a:lnTo>
                  <a:pt x="23240" y="49402"/>
                </a:lnTo>
                <a:lnTo>
                  <a:pt x="5810" y="91408"/>
                </a:lnTo>
                <a:lnTo>
                  <a:pt x="0" y="141223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234548" y="5574538"/>
            <a:ext cx="1566545" cy="282575"/>
          </a:xfrm>
          <a:custGeom>
            <a:avLst/>
            <a:gdLst/>
            <a:ahLst/>
            <a:cxnLst/>
            <a:rect l="l" t="t" r="r" b="b"/>
            <a:pathLst>
              <a:path w="1566545" h="282575">
                <a:moveTo>
                  <a:pt x="1476375" y="0"/>
                </a:moveTo>
                <a:lnTo>
                  <a:pt x="1472437" y="11430"/>
                </a:lnTo>
                <a:lnTo>
                  <a:pt x="1488745" y="18511"/>
                </a:lnTo>
                <a:lnTo>
                  <a:pt x="1502790" y="28324"/>
                </a:lnTo>
                <a:lnTo>
                  <a:pt x="1531314" y="73831"/>
                </a:lnTo>
                <a:lnTo>
                  <a:pt x="1539609" y="115616"/>
                </a:lnTo>
                <a:lnTo>
                  <a:pt x="1540636" y="139700"/>
                </a:lnTo>
                <a:lnTo>
                  <a:pt x="1539591" y="164605"/>
                </a:lnTo>
                <a:lnTo>
                  <a:pt x="1531260" y="207544"/>
                </a:lnTo>
                <a:lnTo>
                  <a:pt x="1502838" y="253779"/>
                </a:lnTo>
                <a:lnTo>
                  <a:pt x="1472819" y="270827"/>
                </a:lnTo>
                <a:lnTo>
                  <a:pt x="1476375" y="282282"/>
                </a:lnTo>
                <a:lnTo>
                  <a:pt x="1514871" y="264213"/>
                </a:lnTo>
                <a:lnTo>
                  <a:pt x="1543177" y="232943"/>
                </a:lnTo>
                <a:lnTo>
                  <a:pt x="1560607" y="191069"/>
                </a:lnTo>
                <a:lnTo>
                  <a:pt x="1566418" y="141185"/>
                </a:lnTo>
                <a:lnTo>
                  <a:pt x="1564965" y="115306"/>
                </a:lnTo>
                <a:lnTo>
                  <a:pt x="1553344" y="69434"/>
                </a:lnTo>
                <a:lnTo>
                  <a:pt x="1530221" y="32093"/>
                </a:lnTo>
                <a:lnTo>
                  <a:pt x="1496831" y="7375"/>
                </a:lnTo>
                <a:lnTo>
                  <a:pt x="1476375" y="0"/>
                </a:lnTo>
                <a:close/>
              </a:path>
              <a:path w="1566545" h="282575">
                <a:moveTo>
                  <a:pt x="90043" y="0"/>
                </a:moveTo>
                <a:lnTo>
                  <a:pt x="51641" y="18072"/>
                </a:lnTo>
                <a:lnTo>
                  <a:pt x="23241" y="49441"/>
                </a:lnTo>
                <a:lnTo>
                  <a:pt x="5810" y="91389"/>
                </a:lnTo>
                <a:lnTo>
                  <a:pt x="0" y="141185"/>
                </a:lnTo>
                <a:lnTo>
                  <a:pt x="1452" y="167129"/>
                </a:lnTo>
                <a:lnTo>
                  <a:pt x="13073" y="213007"/>
                </a:lnTo>
                <a:lnTo>
                  <a:pt x="36125" y="250228"/>
                </a:lnTo>
                <a:lnTo>
                  <a:pt x="69514" y="274898"/>
                </a:lnTo>
                <a:lnTo>
                  <a:pt x="90043" y="282282"/>
                </a:lnTo>
                <a:lnTo>
                  <a:pt x="93599" y="270827"/>
                </a:lnTo>
                <a:lnTo>
                  <a:pt x="77531" y="263698"/>
                </a:lnTo>
                <a:lnTo>
                  <a:pt x="63642" y="253779"/>
                </a:lnTo>
                <a:lnTo>
                  <a:pt x="35210" y="207544"/>
                </a:lnTo>
                <a:lnTo>
                  <a:pt x="26828" y="164605"/>
                </a:lnTo>
                <a:lnTo>
                  <a:pt x="25780" y="139700"/>
                </a:lnTo>
                <a:lnTo>
                  <a:pt x="26828" y="115616"/>
                </a:lnTo>
                <a:lnTo>
                  <a:pt x="35210" y="73831"/>
                </a:lnTo>
                <a:lnTo>
                  <a:pt x="63753" y="28324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230872" y="1814525"/>
            <a:ext cx="5711190" cy="40627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1920" algn="ctr">
              <a:lnSpc>
                <a:spcPts val="2695"/>
              </a:lnSpc>
              <a:spcBef>
                <a:spcPts val="100"/>
              </a:spcBef>
              <a:tabLst>
                <a:tab pos="1626235" algn="l"/>
              </a:tabLst>
            </a:pP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spc="65" dirty="0">
                <a:latin typeface="Cambria Math"/>
                <a:cs typeface="Cambria Math"/>
              </a:rPr>
              <a:t>𝑥</a:t>
            </a:r>
            <a:r>
              <a:rPr sz="2400" spc="5" dirty="0">
                <a:latin typeface="Cambria Math"/>
                <a:cs typeface="Cambria Math"/>
              </a:rPr>
              <a:t>∃</a:t>
            </a: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spc="-10" dirty="0">
                <a:latin typeface="Cambria Math"/>
                <a:cs typeface="Cambria Math"/>
              </a:rPr>
              <a:t>𝐿</a:t>
            </a:r>
            <a:r>
              <a:rPr sz="2400" dirty="0">
                <a:latin typeface="Cambria Math"/>
                <a:cs typeface="Cambria Math"/>
              </a:rPr>
              <a:t>𝑜</a:t>
            </a:r>
            <a:r>
              <a:rPr sz="2400" spc="-10" dirty="0">
                <a:latin typeface="Cambria Math"/>
                <a:cs typeface="Cambria Math"/>
              </a:rPr>
              <a:t>𝑣</a:t>
            </a:r>
            <a:r>
              <a:rPr sz="2400" spc="-5" dirty="0">
                <a:latin typeface="Cambria Math"/>
                <a:cs typeface="Cambria Math"/>
              </a:rPr>
              <a:t>𝑒</a:t>
            </a:r>
            <a:r>
              <a:rPr sz="2400" dirty="0">
                <a:latin typeface="Cambria Math"/>
                <a:cs typeface="Cambria Math"/>
              </a:rPr>
              <a:t>𝑠	</a:t>
            </a:r>
            <a:r>
              <a:rPr sz="2400" spc="65" dirty="0">
                <a:latin typeface="Cambria Math"/>
                <a:cs typeface="Cambria Math"/>
              </a:rPr>
              <a:t>𝑥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𝑦</a:t>
            </a:r>
          </a:p>
          <a:p>
            <a:pPr marR="121920" algn="ctr">
              <a:lnSpc>
                <a:spcPts val="2695"/>
              </a:lnSpc>
              <a:tabLst>
                <a:tab pos="1790064" algn="l"/>
                <a:tab pos="2461260" algn="l"/>
                <a:tab pos="4568825" algn="l"/>
              </a:tabLst>
            </a:pPr>
            <a:r>
              <a:rPr sz="2400" spc="-5" dirty="0">
                <a:latin typeface="Cambria Math"/>
                <a:cs typeface="Cambria Math"/>
              </a:rPr>
              <a:t>¬</a:t>
            </a:r>
            <a:r>
              <a:rPr sz="2400" spc="5" dirty="0">
                <a:latin typeface="Cambria Math"/>
                <a:cs typeface="Cambria Math"/>
              </a:rPr>
              <a:t>∃</a:t>
            </a:r>
            <a:r>
              <a:rPr sz="2400" spc="65" dirty="0">
                <a:latin typeface="Cambria Math"/>
                <a:cs typeface="Cambria Math"/>
              </a:rPr>
              <a:t>𝑥</a:t>
            </a:r>
            <a:r>
              <a:rPr sz="2400" dirty="0">
                <a:latin typeface="Cambria Math"/>
                <a:cs typeface="Cambria Math"/>
              </a:rPr>
              <a:t>∀𝑦𝐿</a:t>
            </a:r>
            <a:r>
              <a:rPr sz="2400" spc="-10" dirty="0">
                <a:latin typeface="Cambria Math"/>
                <a:cs typeface="Cambria Math"/>
              </a:rPr>
              <a:t>𝑖</a:t>
            </a:r>
            <a:r>
              <a:rPr sz="2400" dirty="0">
                <a:latin typeface="Cambria Math"/>
                <a:cs typeface="Cambria Math"/>
              </a:rPr>
              <a:t>𝑘𝑒𝑠	</a:t>
            </a:r>
            <a:r>
              <a:rPr sz="2400" spc="75" dirty="0">
                <a:latin typeface="Cambria Math"/>
                <a:cs typeface="Cambria Math"/>
              </a:rPr>
              <a:t>𝑥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𝑦	≡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spc="65" dirty="0">
                <a:latin typeface="Cambria Math"/>
                <a:cs typeface="Cambria Math"/>
              </a:rPr>
              <a:t>𝑥</a:t>
            </a:r>
            <a:r>
              <a:rPr sz="2400" spc="5" dirty="0">
                <a:latin typeface="Cambria Math"/>
                <a:cs typeface="Cambria Math"/>
              </a:rPr>
              <a:t>∃</a:t>
            </a:r>
            <a:r>
              <a:rPr sz="2400" spc="35" dirty="0">
                <a:latin typeface="Cambria Math"/>
                <a:cs typeface="Cambria Math"/>
              </a:rPr>
              <a:t>𝑦</a:t>
            </a:r>
            <a:r>
              <a:rPr sz="2400" spc="-5" dirty="0">
                <a:latin typeface="Cambria Math"/>
                <a:cs typeface="Cambria Math"/>
              </a:rPr>
              <a:t>¬</a:t>
            </a:r>
            <a:r>
              <a:rPr sz="2400" dirty="0">
                <a:latin typeface="Cambria Math"/>
                <a:cs typeface="Cambria Math"/>
              </a:rPr>
              <a:t>𝐿</a:t>
            </a:r>
            <a:r>
              <a:rPr sz="2400" spc="-10" dirty="0">
                <a:latin typeface="Cambria Math"/>
                <a:cs typeface="Cambria Math"/>
              </a:rPr>
              <a:t>𝑖</a:t>
            </a:r>
            <a:r>
              <a:rPr sz="2400" dirty="0">
                <a:latin typeface="Cambria Math"/>
                <a:cs typeface="Cambria Math"/>
              </a:rPr>
              <a:t>𝑘𝑒𝑠	</a:t>
            </a:r>
            <a:r>
              <a:rPr sz="2400" spc="80" dirty="0">
                <a:latin typeface="Cambria Math"/>
                <a:cs typeface="Cambria Math"/>
              </a:rPr>
              <a:t>𝑥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𝑦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 dirty="0">
              <a:latin typeface="Cambria Math"/>
              <a:cs typeface="Cambria Math"/>
            </a:endParaRPr>
          </a:p>
          <a:p>
            <a:pPr marR="123825" algn="ctr">
              <a:lnSpc>
                <a:spcPts val="2755"/>
              </a:lnSpc>
              <a:spcBef>
                <a:spcPts val="5"/>
              </a:spcBef>
              <a:tabLst>
                <a:tab pos="1560830" algn="l"/>
              </a:tabLst>
            </a:pPr>
            <a:r>
              <a:rPr sz="2400" spc="5" dirty="0">
                <a:latin typeface="Cambria Math"/>
                <a:cs typeface="Cambria Math"/>
              </a:rPr>
              <a:t>∃</a:t>
            </a:r>
            <a:r>
              <a:rPr sz="2400" spc="35" dirty="0">
                <a:latin typeface="Cambria Math"/>
                <a:cs typeface="Cambria Math"/>
              </a:rPr>
              <a:t>𝑦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spc="-5" dirty="0">
                <a:latin typeface="Cambria Math"/>
                <a:cs typeface="Cambria Math"/>
              </a:rPr>
              <a:t>𝑥𝐿</a:t>
            </a:r>
            <a:r>
              <a:rPr sz="2400" spc="-10" dirty="0">
                <a:latin typeface="Cambria Math"/>
                <a:cs typeface="Cambria Math"/>
              </a:rPr>
              <a:t>𝑖</a:t>
            </a:r>
            <a:r>
              <a:rPr sz="2400" dirty="0">
                <a:latin typeface="Cambria Math"/>
                <a:cs typeface="Cambria Math"/>
              </a:rPr>
              <a:t>𝑘𝑒𝑠	</a:t>
            </a:r>
            <a:r>
              <a:rPr sz="2400" spc="65" dirty="0">
                <a:latin typeface="Cambria Math"/>
                <a:cs typeface="Cambria Math"/>
              </a:rPr>
              <a:t>𝑥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𝑦</a:t>
            </a:r>
          </a:p>
          <a:p>
            <a:pPr marR="123189" algn="ctr">
              <a:lnSpc>
                <a:spcPts val="2605"/>
              </a:lnSpc>
              <a:tabLst>
                <a:tab pos="1805939" algn="l"/>
                <a:tab pos="2171700" algn="l"/>
                <a:tab pos="3264535" algn="l"/>
              </a:tabLst>
            </a:pPr>
            <a:r>
              <a:rPr sz="2400" spc="5" dirty="0">
                <a:latin typeface="Cambria Math"/>
                <a:cs typeface="Cambria Math"/>
              </a:rPr>
              <a:t>∃𝑥∀𝑦𝑃𝑒𝑟𝑠𝑜𝑛	</a:t>
            </a:r>
            <a:r>
              <a:rPr sz="2400" dirty="0">
                <a:latin typeface="Cambria Math"/>
                <a:cs typeface="Cambria Math"/>
              </a:rPr>
              <a:t>𝑥	∩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𝑇𝑖𝑚𝑒	</a:t>
            </a:r>
            <a:r>
              <a:rPr sz="2400" dirty="0">
                <a:latin typeface="Cambria Math"/>
                <a:cs typeface="Cambria Math"/>
              </a:rPr>
              <a:t>𝑦</a:t>
            </a:r>
          </a:p>
          <a:p>
            <a:pPr marR="125095" algn="ctr">
              <a:lnSpc>
                <a:spcPts val="2565"/>
              </a:lnSpc>
              <a:tabLst>
                <a:tab pos="2243455" algn="l"/>
              </a:tabLst>
            </a:pPr>
            <a:r>
              <a:rPr sz="2400" dirty="0">
                <a:latin typeface="Cambria Math"/>
                <a:cs typeface="Cambria Math"/>
              </a:rPr>
              <a:t>⇒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𝐶</a:t>
            </a:r>
            <a:r>
              <a:rPr sz="2400" spc="-10" dirty="0">
                <a:latin typeface="Cambria Math"/>
                <a:cs typeface="Cambria Math"/>
              </a:rPr>
              <a:t>𝑎</a:t>
            </a:r>
            <a:r>
              <a:rPr sz="2400" dirty="0">
                <a:latin typeface="Cambria Math"/>
                <a:cs typeface="Cambria Math"/>
              </a:rPr>
              <a:t>𝑛𝑏𝑒</a:t>
            </a:r>
            <a:r>
              <a:rPr sz="2400" spc="10" dirty="0">
                <a:latin typeface="Cambria Math"/>
                <a:cs typeface="Cambria Math"/>
              </a:rPr>
              <a:t>𝑓</a:t>
            </a:r>
            <a:r>
              <a:rPr sz="2400" dirty="0">
                <a:latin typeface="Cambria Math"/>
                <a:cs typeface="Cambria Math"/>
              </a:rPr>
              <a:t>𝑜</a:t>
            </a:r>
            <a:r>
              <a:rPr sz="2400" spc="5" dirty="0">
                <a:latin typeface="Cambria Math"/>
                <a:cs typeface="Cambria Math"/>
              </a:rPr>
              <a:t>𝑜</a:t>
            </a:r>
            <a:r>
              <a:rPr sz="2400" dirty="0">
                <a:latin typeface="Cambria Math"/>
                <a:cs typeface="Cambria Math"/>
              </a:rPr>
              <a:t>𝑙𝑒𝑑	</a:t>
            </a:r>
            <a:r>
              <a:rPr sz="2400" spc="65" dirty="0">
                <a:latin typeface="Cambria Math"/>
                <a:cs typeface="Cambria Math"/>
              </a:rPr>
              <a:t>𝑥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𝑡</a:t>
            </a:r>
          </a:p>
          <a:p>
            <a:pPr marR="127635" algn="ctr">
              <a:lnSpc>
                <a:spcPts val="2540"/>
              </a:lnSpc>
              <a:tabLst>
                <a:tab pos="1833245" algn="l"/>
              </a:tabLst>
            </a:pPr>
            <a:r>
              <a:rPr sz="2400" spc="-5" dirty="0">
                <a:latin typeface="Cambria Math"/>
                <a:cs typeface="Cambria Math"/>
              </a:rPr>
              <a:t>∀𝑥𝐸𝑚𝑝𝑙𝑜𝑦𝑒𝑒	</a:t>
            </a:r>
            <a:r>
              <a:rPr sz="2400" dirty="0">
                <a:latin typeface="Cambria Math"/>
                <a:cs typeface="Cambria Math"/>
              </a:rPr>
              <a:t>𝑥</a:t>
            </a:r>
          </a:p>
          <a:p>
            <a:pPr marR="114935" algn="ctr">
              <a:lnSpc>
                <a:spcPts val="2555"/>
              </a:lnSpc>
              <a:tabLst>
                <a:tab pos="2433955" algn="l"/>
              </a:tabLst>
            </a:pPr>
            <a:r>
              <a:rPr sz="2400" dirty="0">
                <a:latin typeface="Cambria Math"/>
                <a:cs typeface="Cambria Math"/>
              </a:rPr>
              <a:t>∩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𝐸𝑎𝑟𝑛𝑚</a:t>
            </a:r>
            <a:r>
              <a:rPr sz="2400" spc="-10" dirty="0">
                <a:latin typeface="Cambria Math"/>
                <a:cs typeface="Cambria Math"/>
              </a:rPr>
              <a:t>𝑜</a:t>
            </a:r>
            <a:r>
              <a:rPr sz="2400" dirty="0">
                <a:latin typeface="Cambria Math"/>
                <a:cs typeface="Cambria Math"/>
              </a:rPr>
              <a:t>𝑟𝑒𝑡ℎ</a:t>
            </a:r>
            <a:r>
              <a:rPr sz="2400" spc="-10" dirty="0">
                <a:latin typeface="Cambria Math"/>
                <a:cs typeface="Cambria Math"/>
              </a:rPr>
              <a:t>𝑎</a:t>
            </a:r>
            <a:r>
              <a:rPr sz="2400" dirty="0">
                <a:latin typeface="Cambria Math"/>
                <a:cs typeface="Cambria Math"/>
              </a:rPr>
              <a:t>𝑛	</a:t>
            </a:r>
            <a:r>
              <a:rPr sz="2400" spc="75" dirty="0">
                <a:latin typeface="Cambria Math"/>
                <a:cs typeface="Cambria Math"/>
              </a:rPr>
              <a:t>𝑥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200000</a:t>
            </a:r>
          </a:p>
          <a:p>
            <a:pPr marR="127635" algn="ctr">
              <a:lnSpc>
                <a:spcPts val="2590"/>
              </a:lnSpc>
              <a:tabLst>
                <a:tab pos="1464310" algn="l"/>
              </a:tabLst>
            </a:pPr>
            <a:r>
              <a:rPr sz="2400" dirty="0">
                <a:latin typeface="Cambria Math"/>
                <a:cs typeface="Cambria Math"/>
              </a:rPr>
              <a:t>⇒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𝑃𝑎𝑦𝑡𝑎𝑥	</a:t>
            </a:r>
            <a:r>
              <a:rPr sz="2400" dirty="0">
                <a:latin typeface="Cambria Math"/>
                <a:cs typeface="Cambria Math"/>
              </a:rPr>
              <a:t>𝑥</a:t>
            </a:r>
          </a:p>
          <a:p>
            <a:pPr marR="127635" algn="ctr">
              <a:lnSpc>
                <a:spcPts val="2570"/>
              </a:lnSpc>
              <a:tabLst>
                <a:tab pos="1821180" algn="l"/>
                <a:tab pos="2203450" algn="l"/>
                <a:tab pos="3253740" algn="l"/>
              </a:tabLst>
            </a:pPr>
            <a:r>
              <a:rPr sz="2400" spc="-5" dirty="0">
                <a:latin typeface="Cambria Math"/>
                <a:cs typeface="Cambria Math"/>
              </a:rPr>
              <a:t>∃𝑥𝐸𝑚𝑝𝑙𝑜𝑦𝑒𝑒	</a:t>
            </a:r>
            <a:r>
              <a:rPr sz="2400" dirty="0">
                <a:latin typeface="Cambria Math"/>
                <a:cs typeface="Cambria Math"/>
              </a:rPr>
              <a:t>𝑥	⇒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𝑆𝑖𝑐𝑘	</a:t>
            </a:r>
            <a:r>
              <a:rPr sz="2400" dirty="0">
                <a:latin typeface="Cambria Math"/>
                <a:cs typeface="Cambria Math"/>
              </a:rPr>
              <a:t>𝑥</a:t>
            </a:r>
          </a:p>
          <a:p>
            <a:pPr marR="127635" algn="ctr">
              <a:lnSpc>
                <a:spcPts val="2520"/>
              </a:lnSpc>
              <a:tabLst>
                <a:tab pos="1833245" algn="l"/>
              </a:tabLst>
            </a:pPr>
            <a:r>
              <a:rPr sz="2400" spc="-5" dirty="0">
                <a:latin typeface="Cambria Math"/>
                <a:cs typeface="Cambria Math"/>
              </a:rPr>
              <a:t>∀𝑥𝐸𝑚𝑝𝑙𝑜𝑦𝑒𝑒	</a:t>
            </a:r>
            <a:r>
              <a:rPr sz="2400" dirty="0">
                <a:latin typeface="Cambria Math"/>
                <a:cs typeface="Cambria Math"/>
              </a:rPr>
              <a:t>𝑥</a:t>
            </a:r>
          </a:p>
          <a:p>
            <a:pPr algn="ctr">
              <a:lnSpc>
                <a:spcPts val="2690"/>
              </a:lnSpc>
              <a:tabLst>
                <a:tab pos="4062729" algn="l"/>
                <a:tab pos="5558155" algn="l"/>
              </a:tabLst>
            </a:pPr>
            <a:r>
              <a:rPr sz="2400" dirty="0">
                <a:latin typeface="Cambria Math"/>
                <a:cs typeface="Cambria Math"/>
              </a:rPr>
              <a:t>⇒</a:t>
            </a:r>
            <a:r>
              <a:rPr sz="2400" spc="15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¬𝐸𝑎𝑟𝑛𝑚𝑜𝑟𝑒𝑡ℎ𝑎𝑛(𝑥,</a:t>
            </a:r>
            <a:r>
              <a:rPr sz="2400" spc="-12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𝑆𝑎𝑙𝑎𝑟𝑦	𝐶ℎ𝑎𝑖𝑟𝑚𝑎𝑛	</a:t>
            </a:r>
            <a:r>
              <a:rPr sz="2400" dirty="0">
                <a:latin typeface="Cambria Math"/>
                <a:cs typeface="Cambria Math"/>
              </a:rPr>
              <a:t>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6639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Inference</a:t>
            </a:r>
            <a:r>
              <a:rPr spc="-40" dirty="0"/>
              <a:t> </a:t>
            </a:r>
            <a:r>
              <a:rPr spc="-10" dirty="0"/>
              <a:t>in</a:t>
            </a:r>
            <a:r>
              <a:rPr spc="-30" dirty="0"/>
              <a:t> </a:t>
            </a:r>
            <a:r>
              <a:rPr spc="-15" dirty="0"/>
              <a:t>FOL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2305938"/>
            <a:ext cx="4876165" cy="31375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49275" indent="-228600">
              <a:lnSpc>
                <a:spcPts val="3020"/>
              </a:lnSpc>
              <a:spcBef>
                <a:spcPts val="480"/>
              </a:spcBef>
              <a:buFont typeface="Tahoma"/>
              <a:buChar char="•"/>
              <a:tabLst>
                <a:tab pos="241300" algn="l"/>
                <a:tab pos="4097020" algn="l"/>
              </a:tabLst>
            </a:pPr>
            <a:r>
              <a:rPr sz="2800" spc="-5" dirty="0">
                <a:latin typeface="Calibri"/>
                <a:cs typeface="Calibri"/>
              </a:rPr>
              <a:t>If x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</a:t>
            </a:r>
            <a:r>
              <a:rPr sz="2800" spc="-4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0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</a:t>
            </a:r>
            <a:r>
              <a:rPr sz="2800" spc="-5" dirty="0">
                <a:latin typeface="Calibri"/>
                <a:cs typeface="Calibri"/>
              </a:rPr>
              <a:t>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15" dirty="0">
                <a:latin typeface="Calibri"/>
                <a:cs typeface="Calibri"/>
              </a:rPr>
              <a:t>y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x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is  </a:t>
            </a:r>
            <a:r>
              <a:rPr sz="2800" spc="-10" dirty="0">
                <a:latin typeface="Calibri"/>
                <a:cs typeface="Calibri"/>
              </a:rPr>
              <a:t>older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than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y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994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If x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mother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x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parent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y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Devaki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mother of </a:t>
            </a:r>
            <a:r>
              <a:rPr sz="2800" spc="-15" dirty="0">
                <a:latin typeface="Calibri"/>
                <a:cs typeface="Calibri"/>
              </a:rPr>
              <a:t>Krishna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ts val="3190"/>
              </a:lnSpc>
              <a:spcBef>
                <a:spcPts val="67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Conclusion: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spc="-15" dirty="0">
                <a:latin typeface="Calibri"/>
                <a:cs typeface="Calibri"/>
              </a:rPr>
              <a:t>Devaki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older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than </a:t>
            </a:r>
            <a:r>
              <a:rPr sz="2800" spc="-15" dirty="0">
                <a:latin typeface="Calibri"/>
                <a:cs typeface="Calibri"/>
              </a:rPr>
              <a:t>Krishna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48878" y="2413254"/>
            <a:ext cx="769620" cy="328930"/>
          </a:xfrm>
          <a:custGeom>
            <a:avLst/>
            <a:gdLst/>
            <a:ahLst/>
            <a:cxnLst/>
            <a:rect l="l" t="t" r="r" b="b"/>
            <a:pathLst>
              <a:path w="769620" h="328930">
                <a:moveTo>
                  <a:pt x="664337" y="0"/>
                </a:moveTo>
                <a:lnTo>
                  <a:pt x="659638" y="13335"/>
                </a:lnTo>
                <a:lnTo>
                  <a:pt x="678688" y="21597"/>
                </a:lnTo>
                <a:lnTo>
                  <a:pt x="695071" y="33051"/>
                </a:lnTo>
                <a:lnTo>
                  <a:pt x="719836" y="65532"/>
                </a:lnTo>
                <a:lnTo>
                  <a:pt x="734409" y="109219"/>
                </a:lnTo>
                <a:lnTo>
                  <a:pt x="739267" y="162813"/>
                </a:lnTo>
                <a:lnTo>
                  <a:pt x="738032" y="191845"/>
                </a:lnTo>
                <a:lnTo>
                  <a:pt x="728229" y="241859"/>
                </a:lnTo>
                <a:lnTo>
                  <a:pt x="708687" y="280965"/>
                </a:lnTo>
                <a:lnTo>
                  <a:pt x="678882" y="307306"/>
                </a:lnTo>
                <a:lnTo>
                  <a:pt x="660146" y="315595"/>
                </a:lnTo>
                <a:lnTo>
                  <a:pt x="664337" y="328930"/>
                </a:lnTo>
                <a:lnTo>
                  <a:pt x="709168" y="307895"/>
                </a:lnTo>
                <a:lnTo>
                  <a:pt x="742188" y="271525"/>
                </a:lnTo>
                <a:lnTo>
                  <a:pt x="762476" y="222678"/>
                </a:lnTo>
                <a:lnTo>
                  <a:pt x="769239" y="164592"/>
                </a:lnTo>
                <a:lnTo>
                  <a:pt x="767528" y="134417"/>
                </a:lnTo>
                <a:lnTo>
                  <a:pt x="753915" y="80974"/>
                </a:lnTo>
                <a:lnTo>
                  <a:pt x="727059" y="37468"/>
                </a:lnTo>
                <a:lnTo>
                  <a:pt x="688197" y="8616"/>
                </a:lnTo>
                <a:lnTo>
                  <a:pt x="664337" y="0"/>
                </a:lnTo>
                <a:close/>
              </a:path>
              <a:path w="769620" h="328930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2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30"/>
                </a:lnTo>
                <a:lnTo>
                  <a:pt x="108966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90"/>
                </a:lnTo>
                <a:lnTo>
                  <a:pt x="34845" y="218186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86066" y="2783585"/>
            <a:ext cx="767715" cy="328930"/>
          </a:xfrm>
          <a:custGeom>
            <a:avLst/>
            <a:gdLst/>
            <a:ahLst/>
            <a:cxnLst/>
            <a:rect l="l" t="t" r="r" b="b"/>
            <a:pathLst>
              <a:path w="767715" h="328930">
                <a:moveTo>
                  <a:pt x="662812" y="0"/>
                </a:moveTo>
                <a:lnTo>
                  <a:pt x="658113" y="13335"/>
                </a:lnTo>
                <a:lnTo>
                  <a:pt x="677163" y="21597"/>
                </a:lnTo>
                <a:lnTo>
                  <a:pt x="693546" y="33051"/>
                </a:lnTo>
                <a:lnTo>
                  <a:pt x="718311" y="65531"/>
                </a:lnTo>
                <a:lnTo>
                  <a:pt x="732885" y="109219"/>
                </a:lnTo>
                <a:lnTo>
                  <a:pt x="737742" y="162813"/>
                </a:lnTo>
                <a:lnTo>
                  <a:pt x="736508" y="191845"/>
                </a:lnTo>
                <a:lnTo>
                  <a:pt x="726705" y="241859"/>
                </a:lnTo>
                <a:lnTo>
                  <a:pt x="707163" y="280965"/>
                </a:lnTo>
                <a:lnTo>
                  <a:pt x="677358" y="307306"/>
                </a:lnTo>
                <a:lnTo>
                  <a:pt x="658622" y="315594"/>
                </a:lnTo>
                <a:lnTo>
                  <a:pt x="662812" y="328929"/>
                </a:lnTo>
                <a:lnTo>
                  <a:pt x="707644" y="307895"/>
                </a:lnTo>
                <a:lnTo>
                  <a:pt x="740663" y="271525"/>
                </a:lnTo>
                <a:lnTo>
                  <a:pt x="760952" y="222678"/>
                </a:lnTo>
                <a:lnTo>
                  <a:pt x="767714" y="164591"/>
                </a:lnTo>
                <a:lnTo>
                  <a:pt x="766004" y="134417"/>
                </a:lnTo>
                <a:lnTo>
                  <a:pt x="752391" y="80974"/>
                </a:lnTo>
                <a:lnTo>
                  <a:pt x="725535" y="37468"/>
                </a:lnTo>
                <a:lnTo>
                  <a:pt x="686673" y="8616"/>
                </a:lnTo>
                <a:lnTo>
                  <a:pt x="662812" y="0"/>
                </a:lnTo>
                <a:close/>
              </a:path>
              <a:path w="767715" h="328930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3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29"/>
                </a:lnTo>
                <a:lnTo>
                  <a:pt x="108965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89"/>
                </a:lnTo>
                <a:lnTo>
                  <a:pt x="34845" y="218186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631173" y="3298697"/>
            <a:ext cx="769620" cy="328930"/>
          </a:xfrm>
          <a:custGeom>
            <a:avLst/>
            <a:gdLst/>
            <a:ahLst/>
            <a:cxnLst/>
            <a:rect l="l" t="t" r="r" b="b"/>
            <a:pathLst>
              <a:path w="769620" h="328929">
                <a:moveTo>
                  <a:pt x="664336" y="0"/>
                </a:moveTo>
                <a:lnTo>
                  <a:pt x="659637" y="13335"/>
                </a:lnTo>
                <a:lnTo>
                  <a:pt x="678688" y="21597"/>
                </a:lnTo>
                <a:lnTo>
                  <a:pt x="695071" y="33051"/>
                </a:lnTo>
                <a:lnTo>
                  <a:pt x="719835" y="65531"/>
                </a:lnTo>
                <a:lnTo>
                  <a:pt x="734409" y="109219"/>
                </a:lnTo>
                <a:lnTo>
                  <a:pt x="739267" y="162813"/>
                </a:lnTo>
                <a:lnTo>
                  <a:pt x="738032" y="191845"/>
                </a:lnTo>
                <a:lnTo>
                  <a:pt x="728229" y="241859"/>
                </a:lnTo>
                <a:lnTo>
                  <a:pt x="708687" y="280965"/>
                </a:lnTo>
                <a:lnTo>
                  <a:pt x="678882" y="307306"/>
                </a:lnTo>
                <a:lnTo>
                  <a:pt x="660146" y="315594"/>
                </a:lnTo>
                <a:lnTo>
                  <a:pt x="664336" y="328929"/>
                </a:lnTo>
                <a:lnTo>
                  <a:pt x="709168" y="307895"/>
                </a:lnTo>
                <a:lnTo>
                  <a:pt x="742187" y="271525"/>
                </a:lnTo>
                <a:lnTo>
                  <a:pt x="762476" y="222678"/>
                </a:lnTo>
                <a:lnTo>
                  <a:pt x="769239" y="164591"/>
                </a:lnTo>
                <a:lnTo>
                  <a:pt x="767528" y="134417"/>
                </a:lnTo>
                <a:lnTo>
                  <a:pt x="753915" y="80974"/>
                </a:lnTo>
                <a:lnTo>
                  <a:pt x="727059" y="37468"/>
                </a:lnTo>
                <a:lnTo>
                  <a:pt x="688197" y="8616"/>
                </a:lnTo>
                <a:lnTo>
                  <a:pt x="664336" y="0"/>
                </a:lnTo>
                <a:close/>
              </a:path>
              <a:path w="769620" h="328929">
                <a:moveTo>
                  <a:pt x="104901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3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29"/>
                </a:lnTo>
                <a:lnTo>
                  <a:pt x="108966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89"/>
                </a:lnTo>
                <a:lnTo>
                  <a:pt x="34845" y="218186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19238" y="3669029"/>
            <a:ext cx="769620" cy="328930"/>
          </a:xfrm>
          <a:custGeom>
            <a:avLst/>
            <a:gdLst/>
            <a:ahLst/>
            <a:cxnLst/>
            <a:rect l="l" t="t" r="r" b="b"/>
            <a:pathLst>
              <a:path w="769620" h="328929">
                <a:moveTo>
                  <a:pt x="664336" y="0"/>
                </a:moveTo>
                <a:lnTo>
                  <a:pt x="659637" y="13335"/>
                </a:lnTo>
                <a:lnTo>
                  <a:pt x="678687" y="21597"/>
                </a:lnTo>
                <a:lnTo>
                  <a:pt x="695070" y="33051"/>
                </a:lnTo>
                <a:lnTo>
                  <a:pt x="719835" y="65532"/>
                </a:lnTo>
                <a:lnTo>
                  <a:pt x="734409" y="109220"/>
                </a:lnTo>
                <a:lnTo>
                  <a:pt x="739266" y="162814"/>
                </a:lnTo>
                <a:lnTo>
                  <a:pt x="738032" y="191845"/>
                </a:lnTo>
                <a:lnTo>
                  <a:pt x="728229" y="241859"/>
                </a:lnTo>
                <a:lnTo>
                  <a:pt x="708687" y="280965"/>
                </a:lnTo>
                <a:lnTo>
                  <a:pt x="678882" y="307306"/>
                </a:lnTo>
                <a:lnTo>
                  <a:pt x="660145" y="315595"/>
                </a:lnTo>
                <a:lnTo>
                  <a:pt x="664336" y="328930"/>
                </a:lnTo>
                <a:lnTo>
                  <a:pt x="709168" y="307895"/>
                </a:lnTo>
                <a:lnTo>
                  <a:pt x="742187" y="271526"/>
                </a:lnTo>
                <a:lnTo>
                  <a:pt x="762476" y="222678"/>
                </a:lnTo>
                <a:lnTo>
                  <a:pt x="769238" y="164592"/>
                </a:lnTo>
                <a:lnTo>
                  <a:pt x="767528" y="134417"/>
                </a:lnTo>
                <a:lnTo>
                  <a:pt x="753915" y="80974"/>
                </a:lnTo>
                <a:lnTo>
                  <a:pt x="727059" y="37468"/>
                </a:lnTo>
                <a:lnTo>
                  <a:pt x="688197" y="8616"/>
                </a:lnTo>
                <a:lnTo>
                  <a:pt x="664336" y="0"/>
                </a:lnTo>
                <a:close/>
              </a:path>
              <a:path w="769620" h="328929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3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30"/>
                </a:lnTo>
                <a:lnTo>
                  <a:pt x="108965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90"/>
                </a:lnTo>
                <a:lnTo>
                  <a:pt x="34845" y="218186"/>
                </a:lnTo>
                <a:lnTo>
                  <a:pt x="29971" y="162814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01533" y="4181094"/>
            <a:ext cx="2802255" cy="328930"/>
          </a:xfrm>
          <a:custGeom>
            <a:avLst/>
            <a:gdLst/>
            <a:ahLst/>
            <a:cxnLst/>
            <a:rect l="l" t="t" r="r" b="b"/>
            <a:pathLst>
              <a:path w="2802254" h="328929">
                <a:moveTo>
                  <a:pt x="2697353" y="0"/>
                </a:moveTo>
                <a:lnTo>
                  <a:pt x="2692654" y="13334"/>
                </a:lnTo>
                <a:lnTo>
                  <a:pt x="2711704" y="21597"/>
                </a:lnTo>
                <a:lnTo>
                  <a:pt x="2728087" y="33051"/>
                </a:lnTo>
                <a:lnTo>
                  <a:pt x="2752852" y="65531"/>
                </a:lnTo>
                <a:lnTo>
                  <a:pt x="2767425" y="109219"/>
                </a:lnTo>
                <a:lnTo>
                  <a:pt x="2772283" y="162813"/>
                </a:lnTo>
                <a:lnTo>
                  <a:pt x="2771048" y="191845"/>
                </a:lnTo>
                <a:lnTo>
                  <a:pt x="2761245" y="241859"/>
                </a:lnTo>
                <a:lnTo>
                  <a:pt x="2741703" y="280965"/>
                </a:lnTo>
                <a:lnTo>
                  <a:pt x="2711898" y="307306"/>
                </a:lnTo>
                <a:lnTo>
                  <a:pt x="2693162" y="315594"/>
                </a:lnTo>
                <a:lnTo>
                  <a:pt x="2697353" y="328929"/>
                </a:lnTo>
                <a:lnTo>
                  <a:pt x="2742183" y="307895"/>
                </a:lnTo>
                <a:lnTo>
                  <a:pt x="2775204" y="271525"/>
                </a:lnTo>
                <a:lnTo>
                  <a:pt x="2795492" y="222678"/>
                </a:lnTo>
                <a:lnTo>
                  <a:pt x="2802255" y="164591"/>
                </a:lnTo>
                <a:lnTo>
                  <a:pt x="2800544" y="134417"/>
                </a:lnTo>
                <a:lnTo>
                  <a:pt x="2786931" y="80974"/>
                </a:lnTo>
                <a:lnTo>
                  <a:pt x="2760075" y="37468"/>
                </a:lnTo>
                <a:lnTo>
                  <a:pt x="2721213" y="8616"/>
                </a:lnTo>
                <a:lnTo>
                  <a:pt x="2697353" y="0"/>
                </a:lnTo>
                <a:close/>
              </a:path>
              <a:path w="2802254" h="328929">
                <a:moveTo>
                  <a:pt x="104901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2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29"/>
                </a:lnTo>
                <a:lnTo>
                  <a:pt x="108966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89"/>
                </a:lnTo>
                <a:lnTo>
                  <a:pt x="34845" y="218185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51828" y="1700739"/>
            <a:ext cx="4139565" cy="373507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Mapping</a:t>
            </a:r>
            <a:r>
              <a:rPr sz="2800" u="heavy" spc="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2800"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FOL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ts val="3140"/>
              </a:lnSpc>
              <a:spcBef>
                <a:spcPts val="725"/>
              </a:spcBef>
              <a:buFont typeface="Tahoma"/>
              <a:buChar char="•"/>
              <a:tabLst>
                <a:tab pos="241300" algn="l"/>
                <a:tab pos="2414270" algn="l"/>
                <a:tab pos="3197860" algn="l"/>
              </a:tabLst>
            </a:pPr>
            <a:r>
              <a:rPr sz="2800" spc="20" dirty="0">
                <a:latin typeface="Cambria Math"/>
                <a:cs typeface="Cambria Math"/>
              </a:rPr>
              <a:t>∀𝑥∀𝑦</a:t>
            </a:r>
            <a:r>
              <a:rPr sz="2800" spc="4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𝑝𝑎𝑟𝑒𝑛𝑡	</a:t>
            </a:r>
            <a:r>
              <a:rPr sz="2800" spc="40" dirty="0">
                <a:latin typeface="Cambria Math"/>
                <a:cs typeface="Cambria Math"/>
              </a:rPr>
              <a:t>𝑥,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𝑦	⇒</a:t>
            </a:r>
            <a:endParaRPr sz="2800">
              <a:latin typeface="Cambria Math"/>
              <a:cs typeface="Cambria Math"/>
            </a:endParaRPr>
          </a:p>
          <a:p>
            <a:pPr marL="241300">
              <a:lnSpc>
                <a:spcPts val="3140"/>
              </a:lnSpc>
              <a:tabLst>
                <a:tab pos="1251585" algn="l"/>
              </a:tabLst>
            </a:pPr>
            <a:r>
              <a:rPr sz="2800" spc="-5" dirty="0">
                <a:latin typeface="Cambria Math"/>
                <a:cs typeface="Cambria Math"/>
              </a:rPr>
              <a:t>𝑜𝑙𝑑𝑒𝑟	</a:t>
            </a:r>
            <a:r>
              <a:rPr sz="2800" spc="65" dirty="0">
                <a:latin typeface="Cambria Math"/>
                <a:cs typeface="Cambria Math"/>
              </a:rPr>
              <a:t>𝑥</a:t>
            </a:r>
            <a:r>
              <a:rPr sz="2800" spc="-5" dirty="0">
                <a:latin typeface="Cambria Math"/>
                <a:cs typeface="Cambria Math"/>
              </a:rPr>
              <a:t>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𝑦</a:t>
            </a:r>
            <a:endParaRPr sz="2800">
              <a:latin typeface="Cambria Math"/>
              <a:cs typeface="Cambria Math"/>
            </a:endParaRPr>
          </a:p>
          <a:p>
            <a:pPr marL="241300" indent="-228600">
              <a:lnSpc>
                <a:spcPts val="3140"/>
              </a:lnSpc>
              <a:spcBef>
                <a:spcPts val="695"/>
              </a:spcBef>
              <a:buFont typeface="Tahoma"/>
              <a:buChar char="•"/>
              <a:tabLst>
                <a:tab pos="241300" algn="l"/>
                <a:tab pos="2496820" algn="l"/>
                <a:tab pos="3278504" algn="l"/>
              </a:tabLst>
            </a:pPr>
            <a:r>
              <a:rPr sz="2800" spc="20" dirty="0">
                <a:latin typeface="Cambria Math"/>
                <a:cs typeface="Cambria Math"/>
              </a:rPr>
              <a:t>∀𝑥∀𝑦</a:t>
            </a:r>
            <a:r>
              <a:rPr sz="2800" spc="4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𝑚𝑜𝑡ℎ𝑒𝑟	</a:t>
            </a:r>
            <a:r>
              <a:rPr sz="2800" spc="35" dirty="0">
                <a:latin typeface="Cambria Math"/>
                <a:cs typeface="Cambria Math"/>
              </a:rPr>
              <a:t>𝑥,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𝑦	⇒</a:t>
            </a:r>
            <a:endParaRPr sz="2800">
              <a:latin typeface="Cambria Math"/>
              <a:cs typeface="Cambria Math"/>
            </a:endParaRPr>
          </a:p>
          <a:p>
            <a:pPr marL="241300">
              <a:lnSpc>
                <a:spcPts val="3140"/>
              </a:lnSpc>
              <a:tabLst>
                <a:tab pos="1484630" algn="l"/>
              </a:tabLst>
            </a:pPr>
            <a:r>
              <a:rPr sz="2800" spc="-5" dirty="0">
                <a:latin typeface="Cambria Math"/>
                <a:cs typeface="Cambria Math"/>
              </a:rPr>
              <a:t>𝑝𝑎𝑟</a:t>
            </a:r>
            <a:r>
              <a:rPr sz="2800" dirty="0">
                <a:latin typeface="Cambria Math"/>
                <a:cs typeface="Cambria Math"/>
              </a:rPr>
              <a:t>𝑒</a:t>
            </a:r>
            <a:r>
              <a:rPr sz="2800" spc="-5" dirty="0">
                <a:latin typeface="Cambria Math"/>
                <a:cs typeface="Cambria Math"/>
              </a:rPr>
              <a:t>𝑛𝑡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75" dirty="0">
                <a:latin typeface="Cambria Math"/>
                <a:cs typeface="Cambria Math"/>
              </a:rPr>
              <a:t>𝑥</a:t>
            </a:r>
            <a:r>
              <a:rPr sz="2800" spc="-5" dirty="0">
                <a:latin typeface="Cambria Math"/>
                <a:cs typeface="Cambria Math"/>
              </a:rPr>
              <a:t>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𝑦</a:t>
            </a:r>
            <a:endParaRPr sz="2800">
              <a:latin typeface="Cambria Math"/>
              <a:cs typeface="Cambria Math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Tahoma"/>
              <a:buChar char="•"/>
              <a:tabLst>
                <a:tab pos="241300" algn="l"/>
                <a:tab pos="1566545" algn="l"/>
              </a:tabLst>
            </a:pPr>
            <a:r>
              <a:rPr sz="2800" spc="-10" dirty="0">
                <a:latin typeface="Cambria Math"/>
                <a:cs typeface="Cambria Math"/>
              </a:rPr>
              <a:t>𝑚</a:t>
            </a:r>
            <a:r>
              <a:rPr sz="2800" spc="-15" dirty="0">
                <a:latin typeface="Cambria Math"/>
                <a:cs typeface="Cambria Math"/>
              </a:rPr>
              <a:t>𝑜</a:t>
            </a:r>
            <a:r>
              <a:rPr sz="2800" spc="-5" dirty="0">
                <a:latin typeface="Cambria Math"/>
                <a:cs typeface="Cambria Math"/>
              </a:rPr>
              <a:t>𝑡ℎ𝑒𝑟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10" dirty="0">
                <a:latin typeface="Cambria Math"/>
                <a:cs typeface="Cambria Math"/>
              </a:rPr>
              <a:t>𝐷𝑒𝑣𝑎𝑘</a:t>
            </a:r>
            <a:r>
              <a:rPr sz="2800" spc="105" dirty="0">
                <a:latin typeface="Cambria Math"/>
                <a:cs typeface="Cambria Math"/>
              </a:rPr>
              <a:t>𝑖</a:t>
            </a:r>
            <a:r>
              <a:rPr sz="2800" spc="-5" dirty="0">
                <a:latin typeface="Cambria Math"/>
                <a:cs typeface="Cambria Math"/>
              </a:rPr>
              <a:t>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𝐾𝑟𝑖𝑠ℎ𝑛𝑎</a:t>
            </a:r>
            <a:endParaRPr sz="2800">
              <a:latin typeface="Cambria Math"/>
              <a:cs typeface="Cambria Math"/>
            </a:endParaRPr>
          </a:p>
          <a:p>
            <a:pPr marL="241300" indent="-228600">
              <a:lnSpc>
                <a:spcPts val="3235"/>
              </a:lnSpc>
              <a:spcBef>
                <a:spcPts val="650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Conclusion: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235"/>
              </a:lnSpc>
            </a:pPr>
            <a:r>
              <a:rPr sz="2800" i="1" spc="-5" dirty="0">
                <a:latin typeface="Times New Roman"/>
                <a:cs typeface="Times New Roman"/>
              </a:rPr>
              <a:t>older(Devaki,Krishna)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9968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Inference</a:t>
            </a:r>
            <a:r>
              <a:rPr spc="-20" dirty="0"/>
              <a:t> </a:t>
            </a:r>
            <a:r>
              <a:rPr spc="-5" dirty="0"/>
              <a:t>Rules</a:t>
            </a:r>
            <a:r>
              <a:rPr spc="-1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20" dirty="0"/>
              <a:t>FOL</a:t>
            </a:r>
          </a:p>
        </p:txBody>
      </p:sp>
      <p:sp>
        <p:nvSpPr>
          <p:cNvPr id="3" name="object 3"/>
          <p:cNvSpPr/>
          <p:nvPr/>
        </p:nvSpPr>
        <p:spPr>
          <a:xfrm>
            <a:off x="2649601" y="3396741"/>
            <a:ext cx="1353185" cy="925830"/>
          </a:xfrm>
          <a:custGeom>
            <a:avLst/>
            <a:gdLst/>
            <a:ahLst/>
            <a:cxnLst/>
            <a:rect l="l" t="t" r="r" b="b"/>
            <a:pathLst>
              <a:path w="1353185" h="925829">
                <a:moveTo>
                  <a:pt x="94107" y="654558"/>
                </a:moveTo>
                <a:lnTo>
                  <a:pt x="90043" y="643128"/>
                </a:lnTo>
                <a:lnTo>
                  <a:pt x="69583" y="650519"/>
                </a:lnTo>
                <a:lnTo>
                  <a:pt x="51638" y="661212"/>
                </a:lnTo>
                <a:lnTo>
                  <a:pt x="23241" y="692531"/>
                </a:lnTo>
                <a:lnTo>
                  <a:pt x="5803" y="734542"/>
                </a:lnTo>
                <a:lnTo>
                  <a:pt x="0" y="784352"/>
                </a:lnTo>
                <a:lnTo>
                  <a:pt x="1447" y="810298"/>
                </a:lnTo>
                <a:lnTo>
                  <a:pt x="13068" y="856119"/>
                </a:lnTo>
                <a:lnTo>
                  <a:pt x="36118" y="893356"/>
                </a:lnTo>
                <a:lnTo>
                  <a:pt x="69507" y="918070"/>
                </a:lnTo>
                <a:lnTo>
                  <a:pt x="90043" y="925449"/>
                </a:lnTo>
                <a:lnTo>
                  <a:pt x="93599" y="913892"/>
                </a:lnTo>
                <a:lnTo>
                  <a:pt x="77520" y="906792"/>
                </a:lnTo>
                <a:lnTo>
                  <a:pt x="63639" y="896912"/>
                </a:lnTo>
                <a:lnTo>
                  <a:pt x="35204" y="850658"/>
                </a:lnTo>
                <a:lnTo>
                  <a:pt x="26822" y="807720"/>
                </a:lnTo>
                <a:lnTo>
                  <a:pt x="25781" y="782828"/>
                </a:lnTo>
                <a:lnTo>
                  <a:pt x="26822" y="758761"/>
                </a:lnTo>
                <a:lnTo>
                  <a:pt x="35204" y="716991"/>
                </a:lnTo>
                <a:lnTo>
                  <a:pt x="63741" y="671436"/>
                </a:lnTo>
                <a:lnTo>
                  <a:pt x="77787" y="661644"/>
                </a:lnTo>
                <a:lnTo>
                  <a:pt x="94107" y="654558"/>
                </a:lnTo>
                <a:close/>
              </a:path>
              <a:path w="1353185" h="925829">
                <a:moveTo>
                  <a:pt x="365379" y="332994"/>
                </a:moveTo>
                <a:lnTo>
                  <a:pt x="361315" y="321564"/>
                </a:lnTo>
                <a:lnTo>
                  <a:pt x="340855" y="328955"/>
                </a:lnTo>
                <a:lnTo>
                  <a:pt x="322910" y="339648"/>
                </a:lnTo>
                <a:lnTo>
                  <a:pt x="294513" y="370967"/>
                </a:lnTo>
                <a:lnTo>
                  <a:pt x="277075" y="412978"/>
                </a:lnTo>
                <a:lnTo>
                  <a:pt x="271272" y="462788"/>
                </a:lnTo>
                <a:lnTo>
                  <a:pt x="272719" y="488734"/>
                </a:lnTo>
                <a:lnTo>
                  <a:pt x="284340" y="534555"/>
                </a:lnTo>
                <a:lnTo>
                  <a:pt x="307390" y="571792"/>
                </a:lnTo>
                <a:lnTo>
                  <a:pt x="340779" y="596506"/>
                </a:lnTo>
                <a:lnTo>
                  <a:pt x="361315" y="603885"/>
                </a:lnTo>
                <a:lnTo>
                  <a:pt x="364871" y="592328"/>
                </a:lnTo>
                <a:lnTo>
                  <a:pt x="348792" y="585228"/>
                </a:lnTo>
                <a:lnTo>
                  <a:pt x="334911" y="575348"/>
                </a:lnTo>
                <a:lnTo>
                  <a:pt x="306476" y="529094"/>
                </a:lnTo>
                <a:lnTo>
                  <a:pt x="298094" y="486156"/>
                </a:lnTo>
                <a:lnTo>
                  <a:pt x="297053" y="461264"/>
                </a:lnTo>
                <a:lnTo>
                  <a:pt x="298094" y="437197"/>
                </a:lnTo>
                <a:lnTo>
                  <a:pt x="306476" y="395427"/>
                </a:lnTo>
                <a:lnTo>
                  <a:pt x="335026" y="349872"/>
                </a:lnTo>
                <a:lnTo>
                  <a:pt x="349059" y="340080"/>
                </a:lnTo>
                <a:lnTo>
                  <a:pt x="365379" y="332994"/>
                </a:lnTo>
                <a:close/>
              </a:path>
              <a:path w="1353185" h="925829">
                <a:moveTo>
                  <a:pt x="507111" y="11430"/>
                </a:moveTo>
                <a:lnTo>
                  <a:pt x="503047" y="0"/>
                </a:lnTo>
                <a:lnTo>
                  <a:pt x="482587" y="7391"/>
                </a:lnTo>
                <a:lnTo>
                  <a:pt x="464642" y="18084"/>
                </a:lnTo>
                <a:lnTo>
                  <a:pt x="436245" y="49403"/>
                </a:lnTo>
                <a:lnTo>
                  <a:pt x="418807" y="91414"/>
                </a:lnTo>
                <a:lnTo>
                  <a:pt x="413004" y="141224"/>
                </a:lnTo>
                <a:lnTo>
                  <a:pt x="414451" y="167170"/>
                </a:lnTo>
                <a:lnTo>
                  <a:pt x="426072" y="212991"/>
                </a:lnTo>
                <a:lnTo>
                  <a:pt x="449122" y="250228"/>
                </a:lnTo>
                <a:lnTo>
                  <a:pt x="482511" y="274942"/>
                </a:lnTo>
                <a:lnTo>
                  <a:pt x="503047" y="282321"/>
                </a:lnTo>
                <a:lnTo>
                  <a:pt x="506603" y="270764"/>
                </a:lnTo>
                <a:lnTo>
                  <a:pt x="490524" y="263664"/>
                </a:lnTo>
                <a:lnTo>
                  <a:pt x="476643" y="253784"/>
                </a:lnTo>
                <a:lnTo>
                  <a:pt x="448208" y="207530"/>
                </a:lnTo>
                <a:lnTo>
                  <a:pt x="439826" y="164592"/>
                </a:lnTo>
                <a:lnTo>
                  <a:pt x="438785" y="139700"/>
                </a:lnTo>
                <a:lnTo>
                  <a:pt x="439826" y="115633"/>
                </a:lnTo>
                <a:lnTo>
                  <a:pt x="448208" y="73863"/>
                </a:lnTo>
                <a:lnTo>
                  <a:pt x="476758" y="28308"/>
                </a:lnTo>
                <a:lnTo>
                  <a:pt x="490791" y="18516"/>
                </a:lnTo>
                <a:lnTo>
                  <a:pt x="507111" y="11430"/>
                </a:lnTo>
                <a:close/>
              </a:path>
              <a:path w="1353185" h="925829">
                <a:moveTo>
                  <a:pt x="783082" y="141224"/>
                </a:moveTo>
                <a:lnTo>
                  <a:pt x="777265" y="91414"/>
                </a:lnTo>
                <a:lnTo>
                  <a:pt x="759841" y="49403"/>
                </a:lnTo>
                <a:lnTo>
                  <a:pt x="731431" y="18084"/>
                </a:lnTo>
                <a:lnTo>
                  <a:pt x="693039" y="0"/>
                </a:lnTo>
                <a:lnTo>
                  <a:pt x="689102" y="11430"/>
                </a:lnTo>
                <a:lnTo>
                  <a:pt x="705408" y="18516"/>
                </a:lnTo>
                <a:lnTo>
                  <a:pt x="719455" y="28308"/>
                </a:lnTo>
                <a:lnTo>
                  <a:pt x="747966" y="73863"/>
                </a:lnTo>
                <a:lnTo>
                  <a:pt x="756272" y="115633"/>
                </a:lnTo>
                <a:lnTo>
                  <a:pt x="757301" y="139700"/>
                </a:lnTo>
                <a:lnTo>
                  <a:pt x="756246" y="164592"/>
                </a:lnTo>
                <a:lnTo>
                  <a:pt x="747915" y="207530"/>
                </a:lnTo>
                <a:lnTo>
                  <a:pt x="719493" y="253784"/>
                </a:lnTo>
                <a:lnTo>
                  <a:pt x="689483" y="270764"/>
                </a:lnTo>
                <a:lnTo>
                  <a:pt x="693039" y="282321"/>
                </a:lnTo>
                <a:lnTo>
                  <a:pt x="731532" y="264248"/>
                </a:lnTo>
                <a:lnTo>
                  <a:pt x="759841" y="232918"/>
                </a:lnTo>
                <a:lnTo>
                  <a:pt x="777265" y="191071"/>
                </a:lnTo>
                <a:lnTo>
                  <a:pt x="781621" y="167170"/>
                </a:lnTo>
                <a:lnTo>
                  <a:pt x="783082" y="141224"/>
                </a:lnTo>
                <a:close/>
              </a:path>
              <a:path w="1353185" h="925829">
                <a:moveTo>
                  <a:pt x="802894" y="784352"/>
                </a:moveTo>
                <a:lnTo>
                  <a:pt x="797077" y="734542"/>
                </a:lnTo>
                <a:lnTo>
                  <a:pt x="779653" y="692531"/>
                </a:lnTo>
                <a:lnTo>
                  <a:pt x="751243" y="661212"/>
                </a:lnTo>
                <a:lnTo>
                  <a:pt x="712851" y="643128"/>
                </a:lnTo>
                <a:lnTo>
                  <a:pt x="708914" y="654558"/>
                </a:lnTo>
                <a:lnTo>
                  <a:pt x="725220" y="661644"/>
                </a:lnTo>
                <a:lnTo>
                  <a:pt x="739267" y="671436"/>
                </a:lnTo>
                <a:lnTo>
                  <a:pt x="767778" y="716991"/>
                </a:lnTo>
                <a:lnTo>
                  <a:pt x="776084" y="758761"/>
                </a:lnTo>
                <a:lnTo>
                  <a:pt x="777113" y="782828"/>
                </a:lnTo>
                <a:lnTo>
                  <a:pt x="776058" y="807720"/>
                </a:lnTo>
                <a:lnTo>
                  <a:pt x="767727" y="850658"/>
                </a:lnTo>
                <a:lnTo>
                  <a:pt x="739305" y="896912"/>
                </a:lnTo>
                <a:lnTo>
                  <a:pt x="709295" y="913892"/>
                </a:lnTo>
                <a:lnTo>
                  <a:pt x="712851" y="925449"/>
                </a:lnTo>
                <a:lnTo>
                  <a:pt x="751344" y="907376"/>
                </a:lnTo>
                <a:lnTo>
                  <a:pt x="779653" y="876046"/>
                </a:lnTo>
                <a:lnTo>
                  <a:pt x="797077" y="834199"/>
                </a:lnTo>
                <a:lnTo>
                  <a:pt x="801433" y="810298"/>
                </a:lnTo>
                <a:lnTo>
                  <a:pt x="802894" y="784352"/>
                </a:lnTo>
                <a:close/>
              </a:path>
              <a:path w="1353185" h="925829">
                <a:moveTo>
                  <a:pt x="1353058" y="462788"/>
                </a:moveTo>
                <a:lnTo>
                  <a:pt x="1347241" y="412978"/>
                </a:lnTo>
                <a:lnTo>
                  <a:pt x="1329817" y="370967"/>
                </a:lnTo>
                <a:lnTo>
                  <a:pt x="1301407" y="339648"/>
                </a:lnTo>
                <a:lnTo>
                  <a:pt x="1263015" y="321564"/>
                </a:lnTo>
                <a:lnTo>
                  <a:pt x="1259078" y="332994"/>
                </a:lnTo>
                <a:lnTo>
                  <a:pt x="1275384" y="340080"/>
                </a:lnTo>
                <a:lnTo>
                  <a:pt x="1289431" y="349872"/>
                </a:lnTo>
                <a:lnTo>
                  <a:pt x="1317942" y="395427"/>
                </a:lnTo>
                <a:lnTo>
                  <a:pt x="1326248" y="437197"/>
                </a:lnTo>
                <a:lnTo>
                  <a:pt x="1327277" y="461264"/>
                </a:lnTo>
                <a:lnTo>
                  <a:pt x="1326222" y="486156"/>
                </a:lnTo>
                <a:lnTo>
                  <a:pt x="1317891" y="529094"/>
                </a:lnTo>
                <a:lnTo>
                  <a:pt x="1289469" y="575348"/>
                </a:lnTo>
                <a:lnTo>
                  <a:pt x="1259459" y="592328"/>
                </a:lnTo>
                <a:lnTo>
                  <a:pt x="1263015" y="603885"/>
                </a:lnTo>
                <a:lnTo>
                  <a:pt x="1301508" y="585812"/>
                </a:lnTo>
                <a:lnTo>
                  <a:pt x="1329817" y="554482"/>
                </a:lnTo>
                <a:lnTo>
                  <a:pt x="1347241" y="512635"/>
                </a:lnTo>
                <a:lnTo>
                  <a:pt x="1351597" y="488734"/>
                </a:lnTo>
                <a:lnTo>
                  <a:pt x="1353058" y="4627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6939" y="1756565"/>
            <a:ext cx="4882515" cy="4994316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Universal</a:t>
            </a:r>
            <a:r>
              <a:rPr sz="2800" spc="-10" dirty="0">
                <a:latin typeface="Calibri"/>
                <a:cs typeface="Calibri"/>
              </a:rPr>
              <a:t> Instantiation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8600" algn="just">
              <a:lnSpc>
                <a:spcPts val="2590"/>
              </a:lnSpc>
              <a:spcBef>
                <a:spcPts val="575"/>
              </a:spcBef>
              <a:buFont typeface="Tahoma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If a </a:t>
            </a:r>
            <a:r>
              <a:rPr sz="2400" spc="-10" dirty="0">
                <a:latin typeface="Calibri"/>
                <a:cs typeface="Calibri"/>
              </a:rPr>
              <a:t>person </a:t>
            </a:r>
            <a:r>
              <a:rPr sz="2400" dirty="0">
                <a:latin typeface="Calibri"/>
                <a:cs typeface="Calibri"/>
              </a:rPr>
              <a:t>is a </a:t>
            </a:r>
            <a:r>
              <a:rPr sz="2400" spc="-10" dirty="0">
                <a:latin typeface="Calibri"/>
                <a:cs typeface="Calibri"/>
              </a:rPr>
              <a:t>student, </a:t>
            </a:r>
            <a:r>
              <a:rPr sz="2400" spc="-5" dirty="0">
                <a:latin typeface="Calibri"/>
                <a:cs typeface="Calibri"/>
              </a:rPr>
              <a:t>studies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ACEM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studies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AI,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he/she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third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year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705"/>
              </a:lnSpc>
              <a:spcBef>
                <a:spcPts val="220"/>
              </a:spcBef>
              <a:buFont typeface="Tahoma"/>
              <a:buChar char="•"/>
              <a:tabLst>
                <a:tab pos="699135" algn="l"/>
                <a:tab pos="2245360" algn="l"/>
                <a:tab pos="2611120" algn="l"/>
              </a:tabLst>
            </a:pPr>
            <a:r>
              <a:rPr sz="2400" spc="-5" dirty="0">
                <a:latin typeface="Cambria Math"/>
                <a:cs typeface="Cambria Math"/>
              </a:rPr>
              <a:t>∀𝑥𝑠𝑡𝑢𝑑𝑒𝑛𝑡	</a:t>
            </a:r>
            <a:r>
              <a:rPr sz="2400" dirty="0">
                <a:latin typeface="Cambria Math"/>
                <a:cs typeface="Cambria Math"/>
              </a:rPr>
              <a:t>𝑥	∩</a:t>
            </a:r>
          </a:p>
          <a:p>
            <a:pPr marL="698500">
              <a:lnSpc>
                <a:spcPts val="2530"/>
              </a:lnSpc>
              <a:tabLst>
                <a:tab pos="2103755" algn="l"/>
                <a:tab pos="3181350" algn="l"/>
              </a:tabLst>
            </a:pPr>
            <a:r>
              <a:rPr sz="2400" spc="-5" dirty="0">
                <a:latin typeface="Cambria Math"/>
                <a:cs typeface="Cambria Math"/>
              </a:rPr>
              <a:t>𝑠𝑡𝑢𝑑𝑖𝑒𝑠𝑖𝑛	</a:t>
            </a:r>
            <a:r>
              <a:rPr sz="2400" spc="30" dirty="0">
                <a:latin typeface="Cambria Math"/>
                <a:cs typeface="Cambria Math"/>
              </a:rPr>
              <a:t>𝑥,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lang="en-US" sz="2400" spc="-135" dirty="0">
                <a:latin typeface="Cambria Math"/>
                <a:cs typeface="Cambria Math"/>
              </a:rPr>
              <a:t>ACEM</a:t>
            </a:r>
            <a:r>
              <a:rPr sz="2400" spc="-5" dirty="0"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∩</a:t>
            </a:r>
          </a:p>
          <a:p>
            <a:pPr marL="698500">
              <a:lnSpc>
                <a:spcPts val="2515"/>
              </a:lnSpc>
              <a:tabLst>
                <a:tab pos="1831975" algn="l"/>
                <a:tab pos="2647315" algn="l"/>
              </a:tabLst>
            </a:pPr>
            <a:r>
              <a:rPr sz="2400" spc="-5" dirty="0">
                <a:latin typeface="Cambria Math"/>
                <a:cs typeface="Cambria Math"/>
              </a:rPr>
              <a:t>𝑠𝑡𝑢𝑑𝑖𝑒𝑠	</a:t>
            </a:r>
            <a:r>
              <a:rPr sz="2400" spc="35" dirty="0">
                <a:latin typeface="Cambria Math"/>
                <a:cs typeface="Cambria Math"/>
              </a:rPr>
              <a:t>𝑥,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𝐴𝐼	⇒</a:t>
            </a:r>
          </a:p>
          <a:p>
            <a:pPr marL="698500">
              <a:lnSpc>
                <a:spcPts val="2690"/>
              </a:lnSpc>
            </a:pPr>
            <a:r>
              <a:rPr sz="2400" spc="5" dirty="0">
                <a:latin typeface="Cambria Math"/>
                <a:cs typeface="Cambria Math"/>
              </a:rPr>
              <a:t>𝑡ℎ𝑖𝑟𝑑𝑦𝑒𝑎𝑟𝑠𝑡𝑢𝑑𝑒𝑛𝑡(𝑥)</a:t>
            </a:r>
            <a:endParaRPr lang="en-US" sz="2400" spc="5" dirty="0">
              <a:latin typeface="Cambria Math"/>
              <a:cs typeface="Cambria Math"/>
            </a:endParaRPr>
          </a:p>
          <a:p>
            <a:pPr marL="698500">
              <a:lnSpc>
                <a:spcPts val="2690"/>
              </a:lnSpc>
            </a:pPr>
            <a:endParaRPr lang="en-US" sz="2400" spc="5" dirty="0">
              <a:latin typeface="Cambria Math"/>
              <a:cs typeface="Cambria Math"/>
            </a:endParaRPr>
          </a:p>
          <a:p>
            <a:pPr marL="698500">
              <a:lnSpc>
                <a:spcPts val="2690"/>
              </a:lnSpc>
            </a:pPr>
            <a:r>
              <a:rPr lang="en-US" sz="2400" spc="5" dirty="0">
                <a:latin typeface="Cambria Math"/>
                <a:cs typeface="Cambria Math"/>
              </a:rPr>
              <a:t>If a person is a teacher, who teach in ACEM and teach AI, then he/she is teacher who teach in third year</a:t>
            </a:r>
          </a:p>
          <a:p>
            <a:pPr marL="698500">
              <a:lnSpc>
                <a:spcPts val="2690"/>
              </a:lnSpc>
            </a:pPr>
            <a:endParaRPr sz="2400" dirty="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54873" y="2738373"/>
            <a:ext cx="1082040" cy="599440"/>
          </a:xfrm>
          <a:custGeom>
            <a:avLst/>
            <a:gdLst/>
            <a:ahLst/>
            <a:cxnLst/>
            <a:rect l="l" t="t" r="r" b="b"/>
            <a:pathLst>
              <a:path w="1082040" h="599439">
                <a:moveTo>
                  <a:pt x="94107" y="328422"/>
                </a:moveTo>
                <a:lnTo>
                  <a:pt x="90043" y="316992"/>
                </a:lnTo>
                <a:lnTo>
                  <a:pt x="69583" y="324383"/>
                </a:lnTo>
                <a:lnTo>
                  <a:pt x="51638" y="335076"/>
                </a:lnTo>
                <a:lnTo>
                  <a:pt x="23241" y="366395"/>
                </a:lnTo>
                <a:lnTo>
                  <a:pt x="5803" y="408406"/>
                </a:lnTo>
                <a:lnTo>
                  <a:pt x="0" y="458216"/>
                </a:lnTo>
                <a:lnTo>
                  <a:pt x="1447" y="484162"/>
                </a:lnTo>
                <a:lnTo>
                  <a:pt x="13068" y="529983"/>
                </a:lnTo>
                <a:lnTo>
                  <a:pt x="36118" y="567220"/>
                </a:lnTo>
                <a:lnTo>
                  <a:pt x="69507" y="591934"/>
                </a:lnTo>
                <a:lnTo>
                  <a:pt x="90043" y="599313"/>
                </a:lnTo>
                <a:lnTo>
                  <a:pt x="93599" y="587756"/>
                </a:lnTo>
                <a:lnTo>
                  <a:pt x="77520" y="580656"/>
                </a:lnTo>
                <a:lnTo>
                  <a:pt x="63639" y="570776"/>
                </a:lnTo>
                <a:lnTo>
                  <a:pt x="35204" y="524522"/>
                </a:lnTo>
                <a:lnTo>
                  <a:pt x="26822" y="481584"/>
                </a:lnTo>
                <a:lnTo>
                  <a:pt x="25781" y="456692"/>
                </a:lnTo>
                <a:lnTo>
                  <a:pt x="26822" y="432625"/>
                </a:lnTo>
                <a:lnTo>
                  <a:pt x="35204" y="390855"/>
                </a:lnTo>
                <a:lnTo>
                  <a:pt x="63754" y="345300"/>
                </a:lnTo>
                <a:lnTo>
                  <a:pt x="77787" y="335508"/>
                </a:lnTo>
                <a:lnTo>
                  <a:pt x="94107" y="328422"/>
                </a:lnTo>
                <a:close/>
              </a:path>
              <a:path w="1082040" h="599439">
                <a:moveTo>
                  <a:pt x="223647" y="11430"/>
                </a:moveTo>
                <a:lnTo>
                  <a:pt x="219583" y="0"/>
                </a:lnTo>
                <a:lnTo>
                  <a:pt x="199123" y="7391"/>
                </a:lnTo>
                <a:lnTo>
                  <a:pt x="181178" y="18084"/>
                </a:lnTo>
                <a:lnTo>
                  <a:pt x="152781" y="49403"/>
                </a:lnTo>
                <a:lnTo>
                  <a:pt x="135343" y="91414"/>
                </a:lnTo>
                <a:lnTo>
                  <a:pt x="129540" y="141224"/>
                </a:lnTo>
                <a:lnTo>
                  <a:pt x="130987" y="167170"/>
                </a:lnTo>
                <a:lnTo>
                  <a:pt x="142608" y="212991"/>
                </a:lnTo>
                <a:lnTo>
                  <a:pt x="165658" y="250228"/>
                </a:lnTo>
                <a:lnTo>
                  <a:pt x="199047" y="274942"/>
                </a:lnTo>
                <a:lnTo>
                  <a:pt x="219583" y="282321"/>
                </a:lnTo>
                <a:lnTo>
                  <a:pt x="223139" y="270764"/>
                </a:lnTo>
                <a:lnTo>
                  <a:pt x="207060" y="263664"/>
                </a:lnTo>
                <a:lnTo>
                  <a:pt x="193179" y="253784"/>
                </a:lnTo>
                <a:lnTo>
                  <a:pt x="164744" y="207530"/>
                </a:lnTo>
                <a:lnTo>
                  <a:pt x="156362" y="164592"/>
                </a:lnTo>
                <a:lnTo>
                  <a:pt x="155321" y="139700"/>
                </a:lnTo>
                <a:lnTo>
                  <a:pt x="156362" y="115633"/>
                </a:lnTo>
                <a:lnTo>
                  <a:pt x="164744" y="73863"/>
                </a:lnTo>
                <a:lnTo>
                  <a:pt x="193294" y="28308"/>
                </a:lnTo>
                <a:lnTo>
                  <a:pt x="207327" y="18516"/>
                </a:lnTo>
                <a:lnTo>
                  <a:pt x="223647" y="11430"/>
                </a:lnTo>
                <a:close/>
              </a:path>
              <a:path w="1082040" h="599439">
                <a:moveTo>
                  <a:pt x="499618" y="141224"/>
                </a:moveTo>
                <a:lnTo>
                  <a:pt x="493801" y="91414"/>
                </a:lnTo>
                <a:lnTo>
                  <a:pt x="476377" y="49403"/>
                </a:lnTo>
                <a:lnTo>
                  <a:pt x="447967" y="18084"/>
                </a:lnTo>
                <a:lnTo>
                  <a:pt x="409575" y="0"/>
                </a:lnTo>
                <a:lnTo>
                  <a:pt x="405638" y="11430"/>
                </a:lnTo>
                <a:lnTo>
                  <a:pt x="421944" y="18516"/>
                </a:lnTo>
                <a:lnTo>
                  <a:pt x="435978" y="28308"/>
                </a:lnTo>
                <a:lnTo>
                  <a:pt x="464502" y="73863"/>
                </a:lnTo>
                <a:lnTo>
                  <a:pt x="472808" y="115633"/>
                </a:lnTo>
                <a:lnTo>
                  <a:pt x="473837" y="139700"/>
                </a:lnTo>
                <a:lnTo>
                  <a:pt x="472782" y="164592"/>
                </a:lnTo>
                <a:lnTo>
                  <a:pt x="464451" y="207530"/>
                </a:lnTo>
                <a:lnTo>
                  <a:pt x="436029" y="253784"/>
                </a:lnTo>
                <a:lnTo>
                  <a:pt x="406019" y="270764"/>
                </a:lnTo>
                <a:lnTo>
                  <a:pt x="409575" y="282321"/>
                </a:lnTo>
                <a:lnTo>
                  <a:pt x="448068" y="264248"/>
                </a:lnTo>
                <a:lnTo>
                  <a:pt x="476377" y="232918"/>
                </a:lnTo>
                <a:lnTo>
                  <a:pt x="493801" y="191071"/>
                </a:lnTo>
                <a:lnTo>
                  <a:pt x="498157" y="167170"/>
                </a:lnTo>
                <a:lnTo>
                  <a:pt x="499618" y="141224"/>
                </a:lnTo>
                <a:close/>
              </a:path>
              <a:path w="1082040" h="599439">
                <a:moveTo>
                  <a:pt x="1081786" y="458216"/>
                </a:moveTo>
                <a:lnTo>
                  <a:pt x="1075969" y="408406"/>
                </a:lnTo>
                <a:lnTo>
                  <a:pt x="1058545" y="366395"/>
                </a:lnTo>
                <a:lnTo>
                  <a:pt x="1030135" y="335076"/>
                </a:lnTo>
                <a:lnTo>
                  <a:pt x="991743" y="316992"/>
                </a:lnTo>
                <a:lnTo>
                  <a:pt x="987806" y="328422"/>
                </a:lnTo>
                <a:lnTo>
                  <a:pt x="1004112" y="335508"/>
                </a:lnTo>
                <a:lnTo>
                  <a:pt x="1018159" y="345300"/>
                </a:lnTo>
                <a:lnTo>
                  <a:pt x="1046670" y="390855"/>
                </a:lnTo>
                <a:lnTo>
                  <a:pt x="1054976" y="432625"/>
                </a:lnTo>
                <a:lnTo>
                  <a:pt x="1056005" y="456692"/>
                </a:lnTo>
                <a:lnTo>
                  <a:pt x="1054950" y="481584"/>
                </a:lnTo>
                <a:lnTo>
                  <a:pt x="1046619" y="524522"/>
                </a:lnTo>
                <a:lnTo>
                  <a:pt x="1018197" y="570776"/>
                </a:lnTo>
                <a:lnTo>
                  <a:pt x="988187" y="587756"/>
                </a:lnTo>
                <a:lnTo>
                  <a:pt x="991743" y="599313"/>
                </a:lnTo>
                <a:lnTo>
                  <a:pt x="1030236" y="581240"/>
                </a:lnTo>
                <a:lnTo>
                  <a:pt x="1058545" y="549910"/>
                </a:lnTo>
                <a:lnTo>
                  <a:pt x="1075969" y="508063"/>
                </a:lnTo>
                <a:lnTo>
                  <a:pt x="1080325" y="484162"/>
                </a:lnTo>
                <a:lnTo>
                  <a:pt x="1081786" y="4582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658220" y="3055366"/>
            <a:ext cx="370205" cy="282575"/>
          </a:xfrm>
          <a:custGeom>
            <a:avLst/>
            <a:gdLst/>
            <a:ahLst/>
            <a:cxnLst/>
            <a:rect l="l" t="t" r="r" b="b"/>
            <a:pathLst>
              <a:path w="370204" h="282575">
                <a:moveTo>
                  <a:pt x="280034" y="0"/>
                </a:moveTo>
                <a:lnTo>
                  <a:pt x="276098" y="11430"/>
                </a:lnTo>
                <a:lnTo>
                  <a:pt x="292405" y="18504"/>
                </a:lnTo>
                <a:lnTo>
                  <a:pt x="306450" y="28305"/>
                </a:lnTo>
                <a:lnTo>
                  <a:pt x="334974" y="73852"/>
                </a:lnTo>
                <a:lnTo>
                  <a:pt x="343269" y="115623"/>
                </a:lnTo>
                <a:lnTo>
                  <a:pt x="344297" y="139700"/>
                </a:lnTo>
                <a:lnTo>
                  <a:pt x="343251" y="164580"/>
                </a:lnTo>
                <a:lnTo>
                  <a:pt x="334920" y="207529"/>
                </a:lnTo>
                <a:lnTo>
                  <a:pt x="306498" y="253777"/>
                </a:lnTo>
                <a:lnTo>
                  <a:pt x="276478" y="270763"/>
                </a:lnTo>
                <a:lnTo>
                  <a:pt x="280034" y="282321"/>
                </a:lnTo>
                <a:lnTo>
                  <a:pt x="318531" y="264239"/>
                </a:lnTo>
                <a:lnTo>
                  <a:pt x="346836" y="232918"/>
                </a:lnTo>
                <a:lnTo>
                  <a:pt x="364267" y="191071"/>
                </a:lnTo>
                <a:lnTo>
                  <a:pt x="370077" y="141224"/>
                </a:lnTo>
                <a:lnTo>
                  <a:pt x="368625" y="115339"/>
                </a:lnTo>
                <a:lnTo>
                  <a:pt x="357004" y="69429"/>
                </a:lnTo>
                <a:lnTo>
                  <a:pt x="333881" y="32093"/>
                </a:lnTo>
                <a:lnTo>
                  <a:pt x="300491" y="7379"/>
                </a:lnTo>
                <a:lnTo>
                  <a:pt x="280034" y="0"/>
                </a:lnTo>
                <a:close/>
              </a:path>
              <a:path w="370204" h="282575">
                <a:moveTo>
                  <a:pt x="90043" y="0"/>
                </a:moveTo>
                <a:lnTo>
                  <a:pt x="51641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277732" y="4288282"/>
            <a:ext cx="370205" cy="282575"/>
          </a:xfrm>
          <a:custGeom>
            <a:avLst/>
            <a:gdLst/>
            <a:ahLst/>
            <a:cxnLst/>
            <a:rect l="l" t="t" r="r" b="b"/>
            <a:pathLst>
              <a:path w="370204" h="282575">
                <a:moveTo>
                  <a:pt x="280035" y="0"/>
                </a:moveTo>
                <a:lnTo>
                  <a:pt x="276098" y="11430"/>
                </a:lnTo>
                <a:lnTo>
                  <a:pt x="292405" y="18504"/>
                </a:lnTo>
                <a:lnTo>
                  <a:pt x="306450" y="28305"/>
                </a:lnTo>
                <a:lnTo>
                  <a:pt x="334974" y="73852"/>
                </a:lnTo>
                <a:lnTo>
                  <a:pt x="343269" y="115623"/>
                </a:lnTo>
                <a:lnTo>
                  <a:pt x="344297" y="139700"/>
                </a:lnTo>
                <a:lnTo>
                  <a:pt x="343251" y="164580"/>
                </a:lnTo>
                <a:lnTo>
                  <a:pt x="334920" y="207529"/>
                </a:lnTo>
                <a:lnTo>
                  <a:pt x="306498" y="253777"/>
                </a:lnTo>
                <a:lnTo>
                  <a:pt x="276478" y="270764"/>
                </a:lnTo>
                <a:lnTo>
                  <a:pt x="280035" y="282321"/>
                </a:lnTo>
                <a:lnTo>
                  <a:pt x="318531" y="264239"/>
                </a:lnTo>
                <a:lnTo>
                  <a:pt x="346837" y="232918"/>
                </a:lnTo>
                <a:lnTo>
                  <a:pt x="364267" y="191071"/>
                </a:lnTo>
                <a:lnTo>
                  <a:pt x="370077" y="141224"/>
                </a:lnTo>
                <a:lnTo>
                  <a:pt x="368625" y="115339"/>
                </a:lnTo>
                <a:lnTo>
                  <a:pt x="357004" y="69429"/>
                </a:lnTo>
                <a:lnTo>
                  <a:pt x="333881" y="32093"/>
                </a:lnTo>
                <a:lnTo>
                  <a:pt x="300491" y="7379"/>
                </a:lnTo>
                <a:lnTo>
                  <a:pt x="280035" y="0"/>
                </a:lnTo>
                <a:close/>
              </a:path>
              <a:path w="370204" h="282575">
                <a:moveTo>
                  <a:pt x="90043" y="0"/>
                </a:moveTo>
                <a:lnTo>
                  <a:pt x="51641" y="18081"/>
                </a:lnTo>
                <a:lnTo>
                  <a:pt x="23241" y="49403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764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60584" y="4288282"/>
            <a:ext cx="370205" cy="282575"/>
          </a:xfrm>
          <a:custGeom>
            <a:avLst/>
            <a:gdLst/>
            <a:ahLst/>
            <a:cxnLst/>
            <a:rect l="l" t="t" r="r" b="b"/>
            <a:pathLst>
              <a:path w="370204" h="282575">
                <a:moveTo>
                  <a:pt x="280035" y="0"/>
                </a:moveTo>
                <a:lnTo>
                  <a:pt x="276098" y="11430"/>
                </a:lnTo>
                <a:lnTo>
                  <a:pt x="292405" y="18504"/>
                </a:lnTo>
                <a:lnTo>
                  <a:pt x="306450" y="28305"/>
                </a:lnTo>
                <a:lnTo>
                  <a:pt x="334974" y="73852"/>
                </a:lnTo>
                <a:lnTo>
                  <a:pt x="343269" y="115623"/>
                </a:lnTo>
                <a:lnTo>
                  <a:pt x="344297" y="139700"/>
                </a:lnTo>
                <a:lnTo>
                  <a:pt x="343251" y="164580"/>
                </a:lnTo>
                <a:lnTo>
                  <a:pt x="334920" y="207529"/>
                </a:lnTo>
                <a:lnTo>
                  <a:pt x="306498" y="253777"/>
                </a:lnTo>
                <a:lnTo>
                  <a:pt x="276479" y="270764"/>
                </a:lnTo>
                <a:lnTo>
                  <a:pt x="280035" y="282321"/>
                </a:lnTo>
                <a:lnTo>
                  <a:pt x="318531" y="264239"/>
                </a:lnTo>
                <a:lnTo>
                  <a:pt x="346837" y="232918"/>
                </a:lnTo>
                <a:lnTo>
                  <a:pt x="364267" y="191071"/>
                </a:lnTo>
                <a:lnTo>
                  <a:pt x="370078" y="141224"/>
                </a:lnTo>
                <a:lnTo>
                  <a:pt x="368625" y="115339"/>
                </a:lnTo>
                <a:lnTo>
                  <a:pt x="357004" y="69429"/>
                </a:lnTo>
                <a:lnTo>
                  <a:pt x="333881" y="32093"/>
                </a:lnTo>
                <a:lnTo>
                  <a:pt x="300491" y="7379"/>
                </a:lnTo>
                <a:lnTo>
                  <a:pt x="280035" y="0"/>
                </a:lnTo>
                <a:close/>
              </a:path>
              <a:path w="370204" h="282575">
                <a:moveTo>
                  <a:pt x="90043" y="0"/>
                </a:moveTo>
                <a:lnTo>
                  <a:pt x="51641" y="18081"/>
                </a:lnTo>
                <a:lnTo>
                  <a:pt x="23241" y="49403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764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95565" y="4946650"/>
            <a:ext cx="822960" cy="282575"/>
          </a:xfrm>
          <a:custGeom>
            <a:avLst/>
            <a:gdLst/>
            <a:ahLst/>
            <a:cxnLst/>
            <a:rect l="l" t="t" r="r" b="b"/>
            <a:pathLst>
              <a:path w="822959" h="282575">
                <a:moveTo>
                  <a:pt x="732662" y="0"/>
                </a:moveTo>
                <a:lnTo>
                  <a:pt x="728726" y="11430"/>
                </a:lnTo>
                <a:lnTo>
                  <a:pt x="745033" y="18504"/>
                </a:lnTo>
                <a:lnTo>
                  <a:pt x="759078" y="28305"/>
                </a:lnTo>
                <a:lnTo>
                  <a:pt x="787602" y="73852"/>
                </a:lnTo>
                <a:lnTo>
                  <a:pt x="795897" y="115623"/>
                </a:lnTo>
                <a:lnTo>
                  <a:pt x="796925" y="139700"/>
                </a:lnTo>
                <a:lnTo>
                  <a:pt x="795879" y="164580"/>
                </a:lnTo>
                <a:lnTo>
                  <a:pt x="787548" y="207529"/>
                </a:lnTo>
                <a:lnTo>
                  <a:pt x="759126" y="253777"/>
                </a:lnTo>
                <a:lnTo>
                  <a:pt x="729106" y="270763"/>
                </a:lnTo>
                <a:lnTo>
                  <a:pt x="732662" y="282320"/>
                </a:lnTo>
                <a:lnTo>
                  <a:pt x="771159" y="264239"/>
                </a:lnTo>
                <a:lnTo>
                  <a:pt x="799464" y="232918"/>
                </a:lnTo>
                <a:lnTo>
                  <a:pt x="816895" y="191071"/>
                </a:lnTo>
                <a:lnTo>
                  <a:pt x="822705" y="141224"/>
                </a:lnTo>
                <a:lnTo>
                  <a:pt x="821253" y="115339"/>
                </a:lnTo>
                <a:lnTo>
                  <a:pt x="809632" y="69429"/>
                </a:lnTo>
                <a:lnTo>
                  <a:pt x="786509" y="32093"/>
                </a:lnTo>
                <a:lnTo>
                  <a:pt x="753119" y="7379"/>
                </a:lnTo>
                <a:lnTo>
                  <a:pt x="732662" y="0"/>
                </a:lnTo>
                <a:close/>
              </a:path>
              <a:path w="822959" h="282575">
                <a:moveTo>
                  <a:pt x="90042" y="0"/>
                </a:moveTo>
                <a:lnTo>
                  <a:pt x="51641" y="18081"/>
                </a:lnTo>
                <a:lnTo>
                  <a:pt x="23240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51828" y="1756565"/>
            <a:ext cx="4682490" cy="3868367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Existential Instantiation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45"/>
              </a:spcBef>
              <a:buFont typeface="Tahoma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There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topper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ACEM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lnSpc>
                <a:spcPts val="2690"/>
              </a:lnSpc>
              <a:spcBef>
                <a:spcPts val="254"/>
              </a:spcBef>
              <a:buFont typeface="Tahoma"/>
              <a:buChar char="•"/>
              <a:tabLst>
                <a:tab pos="698500" algn="l"/>
                <a:tab pos="2232660" algn="l"/>
                <a:tab pos="2597150" algn="l"/>
              </a:tabLst>
            </a:pPr>
            <a:r>
              <a:rPr sz="2400" spc="-5" dirty="0">
                <a:latin typeface="Cambria Math"/>
                <a:cs typeface="Cambria Math"/>
              </a:rPr>
              <a:t>∃𝑥𝑠𝑡𝑢𝑑𝑒𝑛𝑡	</a:t>
            </a:r>
            <a:r>
              <a:rPr sz="2400" dirty="0">
                <a:latin typeface="Cambria Math"/>
                <a:cs typeface="Cambria Math"/>
              </a:rPr>
              <a:t>𝑥	∩</a:t>
            </a:r>
          </a:p>
          <a:p>
            <a:pPr marL="698500">
              <a:lnSpc>
                <a:spcPts val="2690"/>
              </a:lnSpc>
              <a:tabLst>
                <a:tab pos="2103120" algn="l"/>
                <a:tab pos="3181350" algn="l"/>
                <a:tab pos="4507230" algn="l"/>
              </a:tabLst>
            </a:pPr>
            <a:r>
              <a:rPr sz="2400" dirty="0">
                <a:latin typeface="Cambria Math"/>
                <a:cs typeface="Cambria Math"/>
              </a:rPr>
              <a:t>𝑠𝑡𝑢</a:t>
            </a:r>
            <a:r>
              <a:rPr sz="2400" spc="-10" dirty="0">
                <a:latin typeface="Cambria Math"/>
                <a:cs typeface="Cambria Math"/>
              </a:rPr>
              <a:t>𝑑</a:t>
            </a:r>
            <a:r>
              <a:rPr sz="2400" dirty="0">
                <a:latin typeface="Cambria Math"/>
                <a:cs typeface="Cambria Math"/>
              </a:rPr>
              <a:t>𝑖</a:t>
            </a:r>
            <a:r>
              <a:rPr sz="2400" spc="-10" dirty="0">
                <a:latin typeface="Cambria Math"/>
                <a:cs typeface="Cambria Math"/>
              </a:rPr>
              <a:t>𝑒</a:t>
            </a:r>
            <a:r>
              <a:rPr sz="2400" dirty="0">
                <a:latin typeface="Cambria Math"/>
                <a:cs typeface="Cambria Math"/>
              </a:rPr>
              <a:t>𝑠𝑖𝑛	</a:t>
            </a:r>
            <a:r>
              <a:rPr sz="2400" spc="65" dirty="0">
                <a:latin typeface="Cambria Math"/>
                <a:cs typeface="Cambria Math"/>
              </a:rPr>
              <a:t>𝑥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lang="en-US" sz="2400" spc="-135" dirty="0">
                <a:latin typeface="Cambria Math"/>
                <a:cs typeface="Cambria Math"/>
              </a:rPr>
              <a:t>ACEM</a:t>
            </a:r>
            <a:r>
              <a:rPr sz="2400" dirty="0">
                <a:latin typeface="Cambria Math"/>
                <a:cs typeface="Cambria Math"/>
              </a:rPr>
              <a:t>	∩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𝑡𝑜𝑝𝑝𝑒𝑟	𝑥</a:t>
            </a: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Propositionization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ts val="2735"/>
              </a:lnSpc>
              <a:spcBef>
                <a:spcPts val="240"/>
              </a:spcBef>
              <a:buFont typeface="Tahoma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All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people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kind</a:t>
            </a:r>
          </a:p>
          <a:p>
            <a:pPr marL="698500">
              <a:lnSpc>
                <a:spcPts val="2595"/>
              </a:lnSpc>
              <a:tabLst>
                <a:tab pos="2125980" algn="l"/>
                <a:tab pos="2508885" algn="l"/>
                <a:tab pos="3609340" algn="l"/>
              </a:tabLst>
            </a:pPr>
            <a:r>
              <a:rPr sz="2400" spc="-5" dirty="0">
                <a:latin typeface="Cambria Math"/>
                <a:cs typeface="Cambria Math"/>
              </a:rPr>
              <a:t>∀𝑥𝑝𝑒𝑟𝑠𝑜𝑛	</a:t>
            </a:r>
            <a:r>
              <a:rPr sz="2400" dirty="0">
                <a:latin typeface="Cambria Math"/>
                <a:cs typeface="Cambria Math"/>
              </a:rPr>
              <a:t>𝑥	⇒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𝑘𝑖𝑛𝑑	</a:t>
            </a:r>
            <a:r>
              <a:rPr sz="2400" dirty="0">
                <a:latin typeface="Cambria Math"/>
                <a:cs typeface="Cambria Math"/>
              </a:rPr>
              <a:t>𝑥</a:t>
            </a:r>
          </a:p>
          <a:p>
            <a:pPr marL="698500">
              <a:lnSpc>
                <a:spcPts val="2595"/>
              </a:lnSpc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15" dirty="0">
                <a:latin typeface="Calibri"/>
                <a:cs typeface="Calibri"/>
              </a:rPr>
              <a:t> inferred </a:t>
            </a:r>
            <a:r>
              <a:rPr sz="2400" dirty="0">
                <a:latin typeface="Calibri"/>
                <a:cs typeface="Calibri"/>
              </a:rPr>
              <a:t>as</a:t>
            </a:r>
          </a:p>
          <a:p>
            <a:pPr marL="469900">
              <a:lnSpc>
                <a:spcPts val="2735"/>
              </a:lnSpc>
              <a:tabLst>
                <a:tab pos="1543685" algn="l"/>
                <a:tab pos="2379345" algn="l"/>
              </a:tabLst>
            </a:pPr>
            <a:r>
              <a:rPr sz="2400" dirty="0">
                <a:latin typeface="Cambria Math"/>
                <a:cs typeface="Cambria Math"/>
              </a:rPr>
              <a:t>𝑝𝑒𝑟𝑠𝑜𝑛	</a:t>
            </a:r>
            <a:r>
              <a:rPr sz="2400" spc="-5" dirty="0">
                <a:latin typeface="Cambria Math"/>
                <a:cs typeface="Cambria Math"/>
              </a:rPr>
              <a:t>𝑅𝑎𝑚	</a:t>
            </a:r>
            <a:r>
              <a:rPr sz="2400" dirty="0">
                <a:latin typeface="Cambria Math"/>
                <a:cs typeface="Cambria Math"/>
              </a:rPr>
              <a:t>⇒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spc="10" dirty="0">
                <a:latin typeface="Cambria Math"/>
                <a:cs typeface="Cambria Math"/>
              </a:rPr>
              <a:t>𝑘𝑖𝑛𝑑(𝑅𝑎𝑚)</a:t>
            </a:r>
            <a:endParaRPr sz="24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9968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Inference</a:t>
            </a:r>
            <a:r>
              <a:rPr spc="-20" dirty="0"/>
              <a:t> </a:t>
            </a:r>
            <a:r>
              <a:rPr spc="-5" dirty="0"/>
              <a:t>Rules</a:t>
            </a:r>
            <a:r>
              <a:rPr spc="-1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20" dirty="0"/>
              <a:t>FOL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41871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Generalized </a:t>
            </a:r>
            <a:r>
              <a:rPr sz="2800" spc="-5" dirty="0">
                <a:latin typeface="Calibri"/>
                <a:cs typeface="Calibri"/>
              </a:rPr>
              <a:t>Modus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Ponens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62604" y="2345182"/>
            <a:ext cx="370205" cy="282575"/>
          </a:xfrm>
          <a:custGeom>
            <a:avLst/>
            <a:gdLst/>
            <a:ahLst/>
            <a:cxnLst/>
            <a:rect l="l" t="t" r="r" b="b"/>
            <a:pathLst>
              <a:path w="370204" h="282575">
                <a:moveTo>
                  <a:pt x="280034" y="0"/>
                </a:moveTo>
                <a:lnTo>
                  <a:pt x="276097" y="11429"/>
                </a:lnTo>
                <a:lnTo>
                  <a:pt x="292405" y="18504"/>
                </a:lnTo>
                <a:lnTo>
                  <a:pt x="306451" y="28305"/>
                </a:lnTo>
                <a:lnTo>
                  <a:pt x="334974" y="73852"/>
                </a:lnTo>
                <a:lnTo>
                  <a:pt x="343269" y="115623"/>
                </a:lnTo>
                <a:lnTo>
                  <a:pt x="344296" y="139700"/>
                </a:lnTo>
                <a:lnTo>
                  <a:pt x="343251" y="164580"/>
                </a:lnTo>
                <a:lnTo>
                  <a:pt x="334920" y="207529"/>
                </a:lnTo>
                <a:lnTo>
                  <a:pt x="306498" y="253777"/>
                </a:lnTo>
                <a:lnTo>
                  <a:pt x="276479" y="270763"/>
                </a:lnTo>
                <a:lnTo>
                  <a:pt x="280034" y="282320"/>
                </a:lnTo>
                <a:lnTo>
                  <a:pt x="318531" y="264239"/>
                </a:lnTo>
                <a:lnTo>
                  <a:pt x="346836" y="232917"/>
                </a:lnTo>
                <a:lnTo>
                  <a:pt x="364267" y="191071"/>
                </a:lnTo>
                <a:lnTo>
                  <a:pt x="370078" y="141223"/>
                </a:lnTo>
                <a:lnTo>
                  <a:pt x="368625" y="115339"/>
                </a:lnTo>
                <a:lnTo>
                  <a:pt x="357004" y="69429"/>
                </a:lnTo>
                <a:lnTo>
                  <a:pt x="333881" y="32093"/>
                </a:lnTo>
                <a:lnTo>
                  <a:pt x="300491" y="7379"/>
                </a:lnTo>
                <a:lnTo>
                  <a:pt x="280034" y="0"/>
                </a:lnTo>
                <a:close/>
              </a:path>
              <a:path w="370204" h="282575">
                <a:moveTo>
                  <a:pt x="90043" y="0"/>
                </a:moveTo>
                <a:lnTo>
                  <a:pt x="51641" y="18081"/>
                </a:lnTo>
                <a:lnTo>
                  <a:pt x="23240" y="49402"/>
                </a:lnTo>
                <a:lnTo>
                  <a:pt x="5810" y="91408"/>
                </a:lnTo>
                <a:lnTo>
                  <a:pt x="0" y="141223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74394" y="2255646"/>
            <a:ext cx="2374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Tahoma"/>
              <a:buChar char="•"/>
              <a:tabLst>
                <a:tab pos="241300" algn="l"/>
                <a:tab pos="1787525" algn="l"/>
                <a:tab pos="2153285" algn="l"/>
              </a:tabLst>
            </a:pP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spc="-5" dirty="0">
                <a:latin typeface="Cambria Math"/>
                <a:cs typeface="Cambria Math"/>
              </a:rPr>
              <a:t>𝑥</a:t>
            </a:r>
            <a:r>
              <a:rPr sz="2400" spc="-15" dirty="0">
                <a:latin typeface="Cambria Math"/>
                <a:cs typeface="Cambria Math"/>
              </a:rPr>
              <a:t>𝑠</a:t>
            </a:r>
            <a:r>
              <a:rPr sz="2400" dirty="0">
                <a:latin typeface="Cambria Math"/>
                <a:cs typeface="Cambria Math"/>
              </a:rPr>
              <a:t>𝑡𝑢𝑑𝑒𝑛𝑡	𝑥	∩</a:t>
            </a:r>
          </a:p>
        </p:txBody>
      </p:sp>
      <p:sp>
        <p:nvSpPr>
          <p:cNvPr id="6" name="object 6"/>
          <p:cNvSpPr/>
          <p:nvPr/>
        </p:nvSpPr>
        <p:spPr>
          <a:xfrm>
            <a:off x="3314065" y="2666745"/>
            <a:ext cx="594360" cy="601345"/>
          </a:xfrm>
          <a:custGeom>
            <a:avLst/>
            <a:gdLst/>
            <a:ahLst/>
            <a:cxnLst/>
            <a:rect l="l" t="t" r="r" b="b"/>
            <a:pathLst>
              <a:path w="594360" h="601345">
                <a:moveTo>
                  <a:pt x="94107" y="11430"/>
                </a:moveTo>
                <a:lnTo>
                  <a:pt x="90043" y="0"/>
                </a:lnTo>
                <a:lnTo>
                  <a:pt x="69583" y="7391"/>
                </a:lnTo>
                <a:lnTo>
                  <a:pt x="51638" y="18084"/>
                </a:lnTo>
                <a:lnTo>
                  <a:pt x="23241" y="49403"/>
                </a:lnTo>
                <a:lnTo>
                  <a:pt x="5803" y="91414"/>
                </a:lnTo>
                <a:lnTo>
                  <a:pt x="0" y="141224"/>
                </a:lnTo>
                <a:lnTo>
                  <a:pt x="1447" y="167170"/>
                </a:lnTo>
                <a:lnTo>
                  <a:pt x="13068" y="212991"/>
                </a:lnTo>
                <a:lnTo>
                  <a:pt x="36118" y="250228"/>
                </a:lnTo>
                <a:lnTo>
                  <a:pt x="69507" y="274942"/>
                </a:lnTo>
                <a:lnTo>
                  <a:pt x="90043" y="282321"/>
                </a:lnTo>
                <a:lnTo>
                  <a:pt x="93599" y="270764"/>
                </a:lnTo>
                <a:lnTo>
                  <a:pt x="77520" y="263664"/>
                </a:lnTo>
                <a:lnTo>
                  <a:pt x="63639" y="253784"/>
                </a:lnTo>
                <a:lnTo>
                  <a:pt x="35204" y="207530"/>
                </a:lnTo>
                <a:lnTo>
                  <a:pt x="26822" y="164592"/>
                </a:lnTo>
                <a:lnTo>
                  <a:pt x="25781" y="139700"/>
                </a:lnTo>
                <a:lnTo>
                  <a:pt x="26822" y="115633"/>
                </a:lnTo>
                <a:lnTo>
                  <a:pt x="35204" y="73863"/>
                </a:lnTo>
                <a:lnTo>
                  <a:pt x="63754" y="28308"/>
                </a:lnTo>
                <a:lnTo>
                  <a:pt x="77787" y="18516"/>
                </a:lnTo>
                <a:lnTo>
                  <a:pt x="94107" y="11430"/>
                </a:lnTo>
                <a:close/>
              </a:path>
              <a:path w="594360" h="601345">
                <a:moveTo>
                  <a:pt x="318135" y="329946"/>
                </a:moveTo>
                <a:lnTo>
                  <a:pt x="314071" y="318516"/>
                </a:lnTo>
                <a:lnTo>
                  <a:pt x="293611" y="325907"/>
                </a:lnTo>
                <a:lnTo>
                  <a:pt x="275666" y="336600"/>
                </a:lnTo>
                <a:lnTo>
                  <a:pt x="247269" y="367919"/>
                </a:lnTo>
                <a:lnTo>
                  <a:pt x="229831" y="409930"/>
                </a:lnTo>
                <a:lnTo>
                  <a:pt x="224028" y="459740"/>
                </a:lnTo>
                <a:lnTo>
                  <a:pt x="225475" y="485686"/>
                </a:lnTo>
                <a:lnTo>
                  <a:pt x="237096" y="531507"/>
                </a:lnTo>
                <a:lnTo>
                  <a:pt x="260146" y="568744"/>
                </a:lnTo>
                <a:lnTo>
                  <a:pt x="293535" y="593458"/>
                </a:lnTo>
                <a:lnTo>
                  <a:pt x="314071" y="600837"/>
                </a:lnTo>
                <a:lnTo>
                  <a:pt x="317627" y="589280"/>
                </a:lnTo>
                <a:lnTo>
                  <a:pt x="301548" y="582180"/>
                </a:lnTo>
                <a:lnTo>
                  <a:pt x="287667" y="572300"/>
                </a:lnTo>
                <a:lnTo>
                  <a:pt x="259232" y="526046"/>
                </a:lnTo>
                <a:lnTo>
                  <a:pt x="250850" y="483108"/>
                </a:lnTo>
                <a:lnTo>
                  <a:pt x="249809" y="458216"/>
                </a:lnTo>
                <a:lnTo>
                  <a:pt x="250850" y="434149"/>
                </a:lnTo>
                <a:lnTo>
                  <a:pt x="259232" y="392379"/>
                </a:lnTo>
                <a:lnTo>
                  <a:pt x="287782" y="346824"/>
                </a:lnTo>
                <a:lnTo>
                  <a:pt x="301815" y="337032"/>
                </a:lnTo>
                <a:lnTo>
                  <a:pt x="318135" y="329946"/>
                </a:lnTo>
                <a:close/>
              </a:path>
              <a:path w="594360" h="601345">
                <a:moveTo>
                  <a:pt x="370078" y="141224"/>
                </a:moveTo>
                <a:lnTo>
                  <a:pt x="364261" y="91414"/>
                </a:lnTo>
                <a:lnTo>
                  <a:pt x="346837" y="49403"/>
                </a:lnTo>
                <a:lnTo>
                  <a:pt x="318427" y="18084"/>
                </a:lnTo>
                <a:lnTo>
                  <a:pt x="280035" y="0"/>
                </a:lnTo>
                <a:lnTo>
                  <a:pt x="276098" y="11430"/>
                </a:lnTo>
                <a:lnTo>
                  <a:pt x="292404" y="18516"/>
                </a:lnTo>
                <a:lnTo>
                  <a:pt x="306451" y="28308"/>
                </a:lnTo>
                <a:lnTo>
                  <a:pt x="334962" y="73863"/>
                </a:lnTo>
                <a:lnTo>
                  <a:pt x="343268" y="115633"/>
                </a:lnTo>
                <a:lnTo>
                  <a:pt x="344297" y="139700"/>
                </a:lnTo>
                <a:lnTo>
                  <a:pt x="343242" y="164592"/>
                </a:lnTo>
                <a:lnTo>
                  <a:pt x="334911" y="207530"/>
                </a:lnTo>
                <a:lnTo>
                  <a:pt x="306489" y="253784"/>
                </a:lnTo>
                <a:lnTo>
                  <a:pt x="276479" y="270764"/>
                </a:lnTo>
                <a:lnTo>
                  <a:pt x="280035" y="282321"/>
                </a:lnTo>
                <a:lnTo>
                  <a:pt x="318528" y="264248"/>
                </a:lnTo>
                <a:lnTo>
                  <a:pt x="346837" y="232918"/>
                </a:lnTo>
                <a:lnTo>
                  <a:pt x="364261" y="191084"/>
                </a:lnTo>
                <a:lnTo>
                  <a:pt x="368617" y="167170"/>
                </a:lnTo>
                <a:lnTo>
                  <a:pt x="370078" y="141224"/>
                </a:lnTo>
                <a:close/>
              </a:path>
              <a:path w="594360" h="601345">
                <a:moveTo>
                  <a:pt x="594106" y="459740"/>
                </a:moveTo>
                <a:lnTo>
                  <a:pt x="588289" y="409930"/>
                </a:lnTo>
                <a:lnTo>
                  <a:pt x="570865" y="367919"/>
                </a:lnTo>
                <a:lnTo>
                  <a:pt x="542455" y="336600"/>
                </a:lnTo>
                <a:lnTo>
                  <a:pt x="504063" y="318516"/>
                </a:lnTo>
                <a:lnTo>
                  <a:pt x="500126" y="329946"/>
                </a:lnTo>
                <a:lnTo>
                  <a:pt x="516432" y="337032"/>
                </a:lnTo>
                <a:lnTo>
                  <a:pt x="530479" y="346824"/>
                </a:lnTo>
                <a:lnTo>
                  <a:pt x="558990" y="392379"/>
                </a:lnTo>
                <a:lnTo>
                  <a:pt x="567296" y="434149"/>
                </a:lnTo>
                <a:lnTo>
                  <a:pt x="568325" y="458216"/>
                </a:lnTo>
                <a:lnTo>
                  <a:pt x="567270" y="483108"/>
                </a:lnTo>
                <a:lnTo>
                  <a:pt x="558939" y="526046"/>
                </a:lnTo>
                <a:lnTo>
                  <a:pt x="530517" y="572300"/>
                </a:lnTo>
                <a:lnTo>
                  <a:pt x="500507" y="589280"/>
                </a:lnTo>
                <a:lnTo>
                  <a:pt x="504063" y="600837"/>
                </a:lnTo>
                <a:lnTo>
                  <a:pt x="542556" y="582764"/>
                </a:lnTo>
                <a:lnTo>
                  <a:pt x="570865" y="551434"/>
                </a:lnTo>
                <a:lnTo>
                  <a:pt x="588289" y="509587"/>
                </a:lnTo>
                <a:lnTo>
                  <a:pt x="592645" y="485686"/>
                </a:lnTo>
                <a:lnTo>
                  <a:pt x="594106" y="4597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09036" y="3376929"/>
            <a:ext cx="1002665" cy="282575"/>
          </a:xfrm>
          <a:custGeom>
            <a:avLst/>
            <a:gdLst/>
            <a:ahLst/>
            <a:cxnLst/>
            <a:rect l="l" t="t" r="r" b="b"/>
            <a:pathLst>
              <a:path w="1002664" h="282575">
                <a:moveTo>
                  <a:pt x="912495" y="0"/>
                </a:moveTo>
                <a:lnTo>
                  <a:pt x="908558" y="11430"/>
                </a:lnTo>
                <a:lnTo>
                  <a:pt x="924865" y="18504"/>
                </a:lnTo>
                <a:lnTo>
                  <a:pt x="938911" y="28305"/>
                </a:lnTo>
                <a:lnTo>
                  <a:pt x="967434" y="73852"/>
                </a:lnTo>
                <a:lnTo>
                  <a:pt x="975729" y="115623"/>
                </a:lnTo>
                <a:lnTo>
                  <a:pt x="976757" y="139700"/>
                </a:lnTo>
                <a:lnTo>
                  <a:pt x="975711" y="164580"/>
                </a:lnTo>
                <a:lnTo>
                  <a:pt x="967380" y="207529"/>
                </a:lnTo>
                <a:lnTo>
                  <a:pt x="938958" y="253777"/>
                </a:lnTo>
                <a:lnTo>
                  <a:pt x="908938" y="270764"/>
                </a:lnTo>
                <a:lnTo>
                  <a:pt x="912495" y="282321"/>
                </a:lnTo>
                <a:lnTo>
                  <a:pt x="950991" y="264239"/>
                </a:lnTo>
                <a:lnTo>
                  <a:pt x="979297" y="232918"/>
                </a:lnTo>
                <a:lnTo>
                  <a:pt x="996727" y="191071"/>
                </a:lnTo>
                <a:lnTo>
                  <a:pt x="1002538" y="141224"/>
                </a:lnTo>
                <a:lnTo>
                  <a:pt x="1001085" y="115339"/>
                </a:lnTo>
                <a:lnTo>
                  <a:pt x="989464" y="69429"/>
                </a:lnTo>
                <a:lnTo>
                  <a:pt x="966341" y="32093"/>
                </a:lnTo>
                <a:lnTo>
                  <a:pt x="932951" y="7379"/>
                </a:lnTo>
                <a:lnTo>
                  <a:pt x="912495" y="0"/>
                </a:lnTo>
                <a:close/>
              </a:path>
              <a:path w="1002664" h="282575">
                <a:moveTo>
                  <a:pt x="90043" y="0"/>
                </a:moveTo>
                <a:lnTo>
                  <a:pt x="51641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764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14065" y="3770121"/>
            <a:ext cx="1002665" cy="282575"/>
          </a:xfrm>
          <a:custGeom>
            <a:avLst/>
            <a:gdLst/>
            <a:ahLst/>
            <a:cxnLst/>
            <a:rect l="l" t="t" r="r" b="b"/>
            <a:pathLst>
              <a:path w="1002664" h="282575">
                <a:moveTo>
                  <a:pt x="912495" y="0"/>
                </a:moveTo>
                <a:lnTo>
                  <a:pt x="908558" y="11429"/>
                </a:lnTo>
                <a:lnTo>
                  <a:pt x="924865" y="18504"/>
                </a:lnTo>
                <a:lnTo>
                  <a:pt x="938911" y="28305"/>
                </a:lnTo>
                <a:lnTo>
                  <a:pt x="967434" y="73852"/>
                </a:lnTo>
                <a:lnTo>
                  <a:pt x="975729" y="115623"/>
                </a:lnTo>
                <a:lnTo>
                  <a:pt x="976757" y="139700"/>
                </a:lnTo>
                <a:lnTo>
                  <a:pt x="975711" y="164580"/>
                </a:lnTo>
                <a:lnTo>
                  <a:pt x="967380" y="207529"/>
                </a:lnTo>
                <a:lnTo>
                  <a:pt x="938958" y="253777"/>
                </a:lnTo>
                <a:lnTo>
                  <a:pt x="908938" y="270763"/>
                </a:lnTo>
                <a:lnTo>
                  <a:pt x="912495" y="282320"/>
                </a:lnTo>
                <a:lnTo>
                  <a:pt x="950991" y="264239"/>
                </a:lnTo>
                <a:lnTo>
                  <a:pt x="979297" y="232917"/>
                </a:lnTo>
                <a:lnTo>
                  <a:pt x="996727" y="191071"/>
                </a:lnTo>
                <a:lnTo>
                  <a:pt x="1002538" y="141223"/>
                </a:lnTo>
                <a:lnTo>
                  <a:pt x="1001085" y="115339"/>
                </a:lnTo>
                <a:lnTo>
                  <a:pt x="989464" y="69429"/>
                </a:lnTo>
                <a:lnTo>
                  <a:pt x="966341" y="32093"/>
                </a:lnTo>
                <a:lnTo>
                  <a:pt x="932951" y="7379"/>
                </a:lnTo>
                <a:lnTo>
                  <a:pt x="912495" y="0"/>
                </a:lnTo>
                <a:close/>
              </a:path>
              <a:path w="1002664" h="282575">
                <a:moveTo>
                  <a:pt x="90043" y="0"/>
                </a:moveTo>
                <a:lnTo>
                  <a:pt x="51641" y="18081"/>
                </a:lnTo>
                <a:lnTo>
                  <a:pt x="23240" y="49402"/>
                </a:lnTo>
                <a:lnTo>
                  <a:pt x="5810" y="91408"/>
                </a:lnTo>
                <a:lnTo>
                  <a:pt x="0" y="141223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74394" y="2577210"/>
            <a:ext cx="3243580" cy="2217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ts val="2695"/>
              </a:lnSpc>
              <a:spcBef>
                <a:spcPts val="100"/>
              </a:spcBef>
              <a:tabLst>
                <a:tab pos="2038985" algn="l"/>
                <a:tab pos="2421890" algn="l"/>
              </a:tabLst>
            </a:pPr>
            <a:r>
              <a:rPr sz="2400" spc="-5" dirty="0">
                <a:latin typeface="Cambria Math"/>
                <a:cs typeface="Cambria Math"/>
              </a:rPr>
              <a:t>𝑠𝑡𝑢𝑑𝑖𝑒𝑠ℎ𝑎𝑟𝑑	</a:t>
            </a:r>
            <a:r>
              <a:rPr sz="2400" dirty="0">
                <a:latin typeface="Cambria Math"/>
                <a:cs typeface="Cambria Math"/>
              </a:rPr>
              <a:t>𝑥	⇒</a:t>
            </a:r>
            <a:endParaRPr sz="2400">
              <a:latin typeface="Cambria Math"/>
              <a:cs typeface="Cambria Math"/>
            </a:endParaRPr>
          </a:p>
          <a:p>
            <a:pPr marL="241300">
              <a:lnSpc>
                <a:spcPts val="2695"/>
              </a:lnSpc>
              <a:tabLst>
                <a:tab pos="2263140" algn="l"/>
              </a:tabLst>
            </a:pPr>
            <a:r>
              <a:rPr sz="2400" spc="-5" dirty="0">
                <a:latin typeface="Cambria Math"/>
                <a:cs typeface="Cambria Math"/>
              </a:rPr>
              <a:t>𝑔𝑜𝑜𝑑</a:t>
            </a:r>
            <a:r>
              <a:rPr sz="2400" spc="6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𝑠𝑡𝑢𝑑𝑒𝑛𝑡	𝑥</a:t>
            </a:r>
            <a:endParaRPr sz="2400">
              <a:latin typeface="Cambria Math"/>
              <a:cs typeface="Cambria Math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Tahoma"/>
              <a:buChar char="•"/>
              <a:tabLst>
                <a:tab pos="241300" algn="l"/>
                <a:tab pos="1434465" algn="l"/>
              </a:tabLst>
            </a:pPr>
            <a:r>
              <a:rPr sz="2400" dirty="0">
                <a:latin typeface="Cambria Math"/>
                <a:cs typeface="Cambria Math"/>
              </a:rPr>
              <a:t>𝑠𝑡𝑢𝑑𝑒𝑛𝑡	</a:t>
            </a:r>
            <a:r>
              <a:rPr sz="2400" spc="-5" dirty="0">
                <a:latin typeface="Cambria Math"/>
                <a:cs typeface="Cambria Math"/>
              </a:rPr>
              <a:t>𝐴𝑟𝑗𝑢𝑛</a:t>
            </a:r>
            <a:endParaRPr sz="2400">
              <a:latin typeface="Cambria Math"/>
              <a:cs typeface="Cambria Math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Font typeface="Tahoma"/>
              <a:buChar char="•"/>
              <a:tabLst>
                <a:tab pos="241300" algn="l"/>
                <a:tab pos="2038985" algn="l"/>
              </a:tabLst>
            </a:pPr>
            <a:r>
              <a:rPr sz="2400" spc="-5" dirty="0">
                <a:latin typeface="Cambria Math"/>
                <a:cs typeface="Cambria Math"/>
              </a:rPr>
              <a:t>𝑠𝑡𝑢𝑑𝑖𝑒𝑠ℎ𝑎𝑟𝑑	𝐴𝑟𝑗𝑢𝑛</a:t>
            </a:r>
            <a:endParaRPr sz="2400">
              <a:latin typeface="Cambria Math"/>
              <a:cs typeface="Cambria Math"/>
            </a:endParaRPr>
          </a:p>
          <a:p>
            <a:pPr marL="241300" indent="-228600">
              <a:lnSpc>
                <a:spcPts val="2740"/>
              </a:lnSpc>
              <a:spcBef>
                <a:spcPts val="204"/>
              </a:spcBef>
              <a:buFont typeface="Tahoma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Conclusion:</a:t>
            </a:r>
            <a:endParaRPr sz="2400">
              <a:latin typeface="Calibri"/>
              <a:cs typeface="Calibri"/>
            </a:endParaRPr>
          </a:p>
          <a:p>
            <a:pPr marL="421005">
              <a:lnSpc>
                <a:spcPts val="2740"/>
              </a:lnSpc>
            </a:pPr>
            <a:r>
              <a:rPr sz="2400" dirty="0">
                <a:latin typeface="Cambria Math"/>
                <a:cs typeface="Cambria Math"/>
              </a:rPr>
              <a:t>𝑔𝑜𝑜𝑑𝑠𝑡𝑢𝑑𝑒𝑛𝑡(𝐴𝑟𝑗𝑢𝑛)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960741" y="2345182"/>
            <a:ext cx="1039494" cy="282575"/>
          </a:xfrm>
          <a:custGeom>
            <a:avLst/>
            <a:gdLst/>
            <a:ahLst/>
            <a:cxnLst/>
            <a:rect l="l" t="t" r="r" b="b"/>
            <a:pathLst>
              <a:path w="1039495" h="282575">
                <a:moveTo>
                  <a:pt x="949070" y="0"/>
                </a:moveTo>
                <a:lnTo>
                  <a:pt x="945133" y="11429"/>
                </a:lnTo>
                <a:lnTo>
                  <a:pt x="961441" y="18504"/>
                </a:lnTo>
                <a:lnTo>
                  <a:pt x="975486" y="28305"/>
                </a:lnTo>
                <a:lnTo>
                  <a:pt x="1004010" y="73852"/>
                </a:lnTo>
                <a:lnTo>
                  <a:pt x="1012305" y="115623"/>
                </a:lnTo>
                <a:lnTo>
                  <a:pt x="1013332" y="139700"/>
                </a:lnTo>
                <a:lnTo>
                  <a:pt x="1012287" y="164580"/>
                </a:lnTo>
                <a:lnTo>
                  <a:pt x="1003956" y="207529"/>
                </a:lnTo>
                <a:lnTo>
                  <a:pt x="975534" y="253777"/>
                </a:lnTo>
                <a:lnTo>
                  <a:pt x="945514" y="270763"/>
                </a:lnTo>
                <a:lnTo>
                  <a:pt x="949070" y="282320"/>
                </a:lnTo>
                <a:lnTo>
                  <a:pt x="987567" y="264239"/>
                </a:lnTo>
                <a:lnTo>
                  <a:pt x="1015873" y="232917"/>
                </a:lnTo>
                <a:lnTo>
                  <a:pt x="1033303" y="191071"/>
                </a:lnTo>
                <a:lnTo>
                  <a:pt x="1039113" y="141223"/>
                </a:lnTo>
                <a:lnTo>
                  <a:pt x="1037661" y="115339"/>
                </a:lnTo>
                <a:lnTo>
                  <a:pt x="1026040" y="69429"/>
                </a:lnTo>
                <a:lnTo>
                  <a:pt x="1002917" y="32093"/>
                </a:lnTo>
                <a:lnTo>
                  <a:pt x="969527" y="7379"/>
                </a:lnTo>
                <a:lnTo>
                  <a:pt x="949070" y="0"/>
                </a:lnTo>
                <a:close/>
              </a:path>
              <a:path w="1039495" h="282575">
                <a:moveTo>
                  <a:pt x="90042" y="0"/>
                </a:moveTo>
                <a:lnTo>
                  <a:pt x="51641" y="18081"/>
                </a:lnTo>
                <a:lnTo>
                  <a:pt x="23240" y="49402"/>
                </a:lnTo>
                <a:lnTo>
                  <a:pt x="5810" y="91408"/>
                </a:lnTo>
                <a:lnTo>
                  <a:pt x="0" y="141223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29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251828" y="1751234"/>
            <a:ext cx="2853055" cy="8959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25"/>
              </a:spcBef>
              <a:buFont typeface="Tahoma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Unification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85"/>
              </a:spcBef>
              <a:buFont typeface="Tahoma"/>
              <a:buChar char="•"/>
              <a:tabLst>
                <a:tab pos="698500" algn="l"/>
                <a:tab pos="1809114" algn="l"/>
                <a:tab pos="2777490" algn="l"/>
              </a:tabLst>
            </a:pPr>
            <a:r>
              <a:rPr sz="3600" spc="-7" baseline="2314" dirty="0">
                <a:latin typeface="Cambria Math"/>
                <a:cs typeface="Cambria Math"/>
              </a:rPr>
              <a:t>[</a:t>
            </a:r>
            <a:r>
              <a:rPr sz="2400" dirty="0">
                <a:latin typeface="Cambria Math"/>
                <a:cs typeface="Cambria Math"/>
              </a:rPr>
              <a:t>𝑘𝑛𝑜𝑤𝑠	</a:t>
            </a:r>
            <a:r>
              <a:rPr sz="2400" spc="-5" dirty="0">
                <a:latin typeface="Cambria Math"/>
                <a:cs typeface="Cambria Math"/>
              </a:rPr>
              <a:t>𝑆𝑖𝑡</a:t>
            </a:r>
            <a:r>
              <a:rPr sz="2400" spc="65" dirty="0">
                <a:latin typeface="Cambria Math"/>
                <a:cs typeface="Cambria Math"/>
              </a:rPr>
              <a:t>𝑎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𝑥	,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1931</TotalTime>
  <Words>3600</Words>
  <Application>Microsoft Macintosh PowerPoint</Application>
  <PresentationFormat>Widescreen</PresentationFormat>
  <Paragraphs>509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Arial</vt:lpstr>
      <vt:lpstr>Calibri</vt:lpstr>
      <vt:lpstr>Calibri Light</vt:lpstr>
      <vt:lpstr>Cambria Math</vt:lpstr>
      <vt:lpstr>Tahoma</vt:lpstr>
      <vt:lpstr>Times New Roman</vt:lpstr>
      <vt:lpstr>Wingdings</vt:lpstr>
      <vt:lpstr>Office Theme</vt:lpstr>
      <vt:lpstr>Chapter - 4</vt:lpstr>
      <vt:lpstr>PowerPoint Presentation</vt:lpstr>
      <vt:lpstr>PowerPoint Presentation</vt:lpstr>
      <vt:lpstr>PowerPoint Presentation</vt:lpstr>
      <vt:lpstr>PowerPoint Presentation</vt:lpstr>
      <vt:lpstr>Knowledge Representation: Issues</vt:lpstr>
      <vt:lpstr>Knowledge Based Agent</vt:lpstr>
      <vt:lpstr>Knowledge Based Agent: Levels of Knowledge  Base</vt:lpstr>
      <vt:lpstr>Logic</vt:lpstr>
      <vt:lpstr>Logic</vt:lpstr>
      <vt:lpstr>PowerPoint Presentation</vt:lpstr>
      <vt:lpstr>Logic</vt:lpstr>
      <vt:lpstr>Truth Table</vt:lpstr>
      <vt:lpstr>Tautology and Validity</vt:lpstr>
      <vt:lpstr>Knowledge Models</vt:lpstr>
      <vt:lpstr>Knowledge Models: Types</vt:lpstr>
      <vt:lpstr>Knowledge Models: Types</vt:lpstr>
      <vt:lpstr>Knowledge Models: Types</vt:lpstr>
      <vt:lpstr>Propositional Logic</vt:lpstr>
      <vt:lpstr>Propositional Logic: Truth Tables</vt:lpstr>
      <vt:lpstr>Propositional Logic</vt:lpstr>
      <vt:lpstr>Propositional Logic</vt:lpstr>
      <vt:lpstr>Propositional Logic</vt:lpstr>
      <vt:lpstr>PowerPoint Presentation</vt:lpstr>
      <vt:lpstr>Propositional Logic: Equivalence Laws</vt:lpstr>
      <vt:lpstr>Propositional Logic: Inference Rules</vt:lpstr>
      <vt:lpstr>PowerPoint Presentation</vt:lpstr>
      <vt:lpstr>PowerPoint Presentation</vt:lpstr>
      <vt:lpstr>PowerPoint Presentation</vt:lpstr>
      <vt:lpstr>Propositional Logic</vt:lpstr>
      <vt:lpstr>Propositional Logic: BNF Grammar</vt:lpstr>
      <vt:lpstr>Normal Forms of Propositional Logic  Sentences</vt:lpstr>
      <vt:lpstr>First Order Predicate Logic (FOPL)</vt:lpstr>
      <vt:lpstr>First Order Predicate Logic (FOPL)</vt:lpstr>
      <vt:lpstr>FOPL: Syntax</vt:lpstr>
      <vt:lpstr>FOPL: Syntax</vt:lpstr>
      <vt:lpstr>FOPL: Variable Scope</vt:lpstr>
      <vt:lpstr>Relation Between Quantifiers</vt:lpstr>
      <vt:lpstr>Examples</vt:lpstr>
      <vt:lpstr>Equality</vt:lpstr>
      <vt:lpstr>PowerPoint Presentation</vt:lpstr>
      <vt:lpstr>Try few more</vt:lpstr>
      <vt:lpstr>Try few more: Solution</vt:lpstr>
      <vt:lpstr>Try few more: Solution</vt:lpstr>
      <vt:lpstr>Inference in FOL</vt:lpstr>
      <vt:lpstr>Inference Rules in FOL</vt:lpstr>
      <vt:lpstr>Inference Rules in FOL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Sarju Sriju</dc:creator>
  <cp:lastModifiedBy>Mukund Raj Joshi</cp:lastModifiedBy>
  <cp:revision>59</cp:revision>
  <dcterms:created xsi:type="dcterms:W3CDTF">2021-12-26T03:03:51Z</dcterms:created>
  <dcterms:modified xsi:type="dcterms:W3CDTF">2024-12-19T10:21:53Z</dcterms:modified>
</cp:coreProperties>
</file>