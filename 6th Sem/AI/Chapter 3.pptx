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 id="262" r:id="rId8"/>
    <p:sldId id="264" r:id="rId9"/>
    <p:sldId id="265" r:id="rId10"/>
    <p:sldId id="266" r:id="rId11"/>
    <p:sldId id="267" r:id="rId12"/>
    <p:sldId id="268" r:id="rId13"/>
    <p:sldId id="269" r:id="rId14"/>
    <p:sldId id="263" r:id="rId15"/>
    <p:sldId id="283" r:id="rId16"/>
    <p:sldId id="271" r:id="rId17"/>
    <p:sldId id="273" r:id="rId18"/>
    <p:sldId id="274" r:id="rId19"/>
    <p:sldId id="275" r:id="rId20"/>
    <p:sldId id="313" r:id="rId21"/>
    <p:sldId id="276" r:id="rId22"/>
    <p:sldId id="277" r:id="rId23"/>
    <p:sldId id="278" r:id="rId24"/>
    <p:sldId id="280" r:id="rId25"/>
    <p:sldId id="281" r:id="rId26"/>
    <p:sldId id="282" r:id="rId27"/>
    <p:sldId id="279" r:id="rId28"/>
    <p:sldId id="285" r:id="rId29"/>
    <p:sldId id="286" r:id="rId30"/>
    <p:sldId id="314" r:id="rId31"/>
    <p:sldId id="287" r:id="rId32"/>
    <p:sldId id="284" r:id="rId33"/>
    <p:sldId id="289" r:id="rId34"/>
    <p:sldId id="315" r:id="rId35"/>
    <p:sldId id="290" r:id="rId36"/>
    <p:sldId id="316" r:id="rId37"/>
    <p:sldId id="288" r:id="rId38"/>
    <p:sldId id="291" r:id="rId39"/>
    <p:sldId id="318" r:id="rId40"/>
    <p:sldId id="292" r:id="rId41"/>
    <p:sldId id="293" r:id="rId42"/>
    <p:sldId id="319" r:id="rId43"/>
    <p:sldId id="295" r:id="rId44"/>
    <p:sldId id="296" r:id="rId45"/>
    <p:sldId id="302" r:id="rId46"/>
    <p:sldId id="297" r:id="rId47"/>
    <p:sldId id="331" r:id="rId48"/>
    <p:sldId id="330" r:id="rId49"/>
    <p:sldId id="298" r:id="rId50"/>
    <p:sldId id="299" r:id="rId51"/>
    <p:sldId id="300" r:id="rId52"/>
    <p:sldId id="301" r:id="rId53"/>
    <p:sldId id="294" r:id="rId54"/>
    <p:sldId id="303" r:id="rId55"/>
    <p:sldId id="304" r:id="rId56"/>
    <p:sldId id="305" r:id="rId57"/>
    <p:sldId id="306" r:id="rId58"/>
    <p:sldId id="307" r:id="rId59"/>
    <p:sldId id="335" r:id="rId60"/>
    <p:sldId id="309" r:id="rId61"/>
    <p:sldId id="310" r:id="rId62"/>
    <p:sldId id="311" r:id="rId63"/>
    <p:sldId id="312" r:id="rId64"/>
    <p:sldId id="308" r:id="rId65"/>
    <p:sldId id="320" r:id="rId66"/>
    <p:sldId id="321" r:id="rId67"/>
    <p:sldId id="322" r:id="rId68"/>
    <p:sldId id="323" r:id="rId69"/>
    <p:sldId id="325" r:id="rId70"/>
    <p:sldId id="326" r:id="rId71"/>
    <p:sldId id="327" r:id="rId72"/>
    <p:sldId id="328" r:id="rId73"/>
    <p:sldId id="332" r:id="rId74"/>
    <p:sldId id="329" r:id="rId75"/>
    <p:sldId id="333" r:id="rId76"/>
    <p:sldId id="334"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5" d="100"/>
          <a:sy n="85"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6A05-6F1E-4FBD-A8B4-A26B90BB22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A4810E-48AE-4214-AC56-62129AC262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F7E08F-3634-4D24-A792-863D2005F63E}"/>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5" name="Footer Placeholder 4">
            <a:extLst>
              <a:ext uri="{FF2B5EF4-FFF2-40B4-BE49-F238E27FC236}">
                <a16:creationId xmlns:a16="http://schemas.microsoft.com/office/drawing/2014/main" id="{17C3968D-9ACF-472D-9FEC-E1FE29A6E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C3CC6-4853-4964-BCE5-D9AFF7D89D82}"/>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1109966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12930-B47C-4CF7-93A3-0C9DAE2710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CE0EF1-6EE9-4881-977A-00F90B41E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7FDBB-F392-499E-A719-946BCB24463C}"/>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5" name="Footer Placeholder 4">
            <a:extLst>
              <a:ext uri="{FF2B5EF4-FFF2-40B4-BE49-F238E27FC236}">
                <a16:creationId xmlns:a16="http://schemas.microsoft.com/office/drawing/2014/main" id="{64322477-71A6-4657-B9F6-0B6A1EFD4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59030-95F1-4E5F-AB5C-F2E60892AA2C}"/>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3905345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8E2B1-C5DB-4950-AA4E-F8677CCF59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8ACCDC-EAD5-43C7-AED4-8DEA89ACAE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47F875-49F9-4C0C-A0B7-11A0F9C01514}"/>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5" name="Footer Placeholder 4">
            <a:extLst>
              <a:ext uri="{FF2B5EF4-FFF2-40B4-BE49-F238E27FC236}">
                <a16:creationId xmlns:a16="http://schemas.microsoft.com/office/drawing/2014/main" id="{4CBD2888-AA87-4503-A55A-7F026E902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515E25-2000-4FA9-9C38-605A804FE4FE}"/>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2092691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0B4B-FA83-4BBF-9C35-711D674C9B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E7A974-A82F-402D-A486-9AF263A658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E8E7DE-38A8-4D88-88FF-231E2E0736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ADE238-0D95-4B8C-860C-0DC98B2E48A0}"/>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6" name="Footer Placeholder 5">
            <a:extLst>
              <a:ext uri="{FF2B5EF4-FFF2-40B4-BE49-F238E27FC236}">
                <a16:creationId xmlns:a16="http://schemas.microsoft.com/office/drawing/2014/main" id="{9D041714-BC7A-4FA4-A076-2E8C5BA841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4C71F8-F493-4E3D-BC18-FB553339BEE7}"/>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1464313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0168-2DA9-4339-B1E4-8B9432F756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5F6BD7-B0E8-4DA5-9E04-8188F2590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47A5AA-9E9D-488D-AF92-65AD51412F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CBF199-69F5-4903-943C-9D355E0841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3D7415-9E9B-4A3B-A83C-DC656C9FFF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988DE5-A33A-4D8F-92CA-3B1344E777E5}"/>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8" name="Footer Placeholder 7">
            <a:extLst>
              <a:ext uri="{FF2B5EF4-FFF2-40B4-BE49-F238E27FC236}">
                <a16:creationId xmlns:a16="http://schemas.microsoft.com/office/drawing/2014/main" id="{6575E9B4-DC88-4C73-AAFD-74CEF1A928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69A542-05B4-4A21-9C2E-3AC5BC793FC8}"/>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146424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10764-14E7-4703-A713-C8C10DF548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ECE635-5BF9-49D8-B79E-7994FB43696A}"/>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4" name="Footer Placeholder 3">
            <a:extLst>
              <a:ext uri="{FF2B5EF4-FFF2-40B4-BE49-F238E27FC236}">
                <a16:creationId xmlns:a16="http://schemas.microsoft.com/office/drawing/2014/main" id="{31F6D35A-EA72-4236-B3AB-551AA88ECC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4626F2-A091-4F53-8FA0-D32AF18FAB68}"/>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168417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D08AC4-6518-4E01-88CE-F95C7DB4F9ED}"/>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3" name="Footer Placeholder 2">
            <a:extLst>
              <a:ext uri="{FF2B5EF4-FFF2-40B4-BE49-F238E27FC236}">
                <a16:creationId xmlns:a16="http://schemas.microsoft.com/office/drawing/2014/main" id="{7BC6F3C4-F2C8-4B70-8191-F314D639C5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A684AE-4B81-4AC4-8DED-5442B9FFCE50}"/>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2831655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02917-F8B3-4BD3-BD22-42DF62BD6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4B2079-491D-4D44-93D9-7F35604D6B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5F2444-2B1C-4A96-9CF7-E066613CD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908CE8-A6C3-4510-BA81-26A3EFC5D0B0}"/>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6" name="Footer Placeholder 5">
            <a:extLst>
              <a:ext uri="{FF2B5EF4-FFF2-40B4-BE49-F238E27FC236}">
                <a16:creationId xmlns:a16="http://schemas.microsoft.com/office/drawing/2014/main" id="{8A7B2493-14E1-4DBB-93AC-C3CAC7DF73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42B0F-7257-48FC-81A5-4F94C9F6E9CB}"/>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1190138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C890D-D954-4FC5-8270-79E4ED4161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EBFC7A-1E09-4B08-9063-065B301B27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E06F99-2611-4B74-939E-E58CC9B43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46D50D-3132-4ED5-BA81-F3DE6E2A9288}"/>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6" name="Footer Placeholder 5">
            <a:extLst>
              <a:ext uri="{FF2B5EF4-FFF2-40B4-BE49-F238E27FC236}">
                <a16:creationId xmlns:a16="http://schemas.microsoft.com/office/drawing/2014/main" id="{56107B7D-4243-4E71-B793-76F05EDF88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2EC1D2-D60C-4ABA-BF70-849C90EA0514}"/>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4173891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8E7EE-916A-435D-95F7-086BC4E642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61A035-737E-42E4-A090-B19A5F960D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CB3F2C-1FD8-4D78-8029-4D7B3B591B9B}"/>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5" name="Footer Placeholder 4">
            <a:extLst>
              <a:ext uri="{FF2B5EF4-FFF2-40B4-BE49-F238E27FC236}">
                <a16:creationId xmlns:a16="http://schemas.microsoft.com/office/drawing/2014/main" id="{C7A24D8D-B339-4DC0-9063-8C70ECEC4A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D28D3-580F-4FD4-981C-2D8918E9FBB9}"/>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110812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89C6A1-1143-4110-86C2-A1942D7DB8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8C672C-B91F-4EE9-86C2-42CC0A3406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8CCE1-7327-4EA5-959B-652A11AEC787}"/>
              </a:ext>
            </a:extLst>
          </p:cNvPr>
          <p:cNvSpPr>
            <a:spLocks noGrp="1"/>
          </p:cNvSpPr>
          <p:nvPr>
            <p:ph type="dt" sz="half" idx="10"/>
          </p:nvPr>
        </p:nvSpPr>
        <p:spPr/>
        <p:txBody>
          <a:bodyPr/>
          <a:lstStyle/>
          <a:p>
            <a:fld id="{8A5A9667-3CA5-450C-8E27-2D2223EC10CC}" type="datetimeFigureOut">
              <a:rPr lang="en-US" smtClean="0"/>
              <a:t>1/3/2022</a:t>
            </a:fld>
            <a:endParaRPr lang="en-US"/>
          </a:p>
        </p:txBody>
      </p:sp>
      <p:sp>
        <p:nvSpPr>
          <p:cNvPr id="5" name="Footer Placeholder 4">
            <a:extLst>
              <a:ext uri="{FF2B5EF4-FFF2-40B4-BE49-F238E27FC236}">
                <a16:creationId xmlns:a16="http://schemas.microsoft.com/office/drawing/2014/main" id="{CD528D33-2421-4637-A9F1-B0F8FBC41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90FFC-345C-45E9-8A38-A1EB86A1CBF6}"/>
              </a:ext>
            </a:extLst>
          </p:cNvPr>
          <p:cNvSpPr>
            <a:spLocks noGrp="1"/>
          </p:cNvSpPr>
          <p:nvPr>
            <p:ph type="sldNum" sz="quarter" idx="12"/>
          </p:nvPr>
        </p:nvSpPr>
        <p:spPr/>
        <p:txBody>
          <a:bodyPr/>
          <a:lstStyle/>
          <a:p>
            <a:fld id="{DC35027D-555F-49DB-A4D1-FAF37497986A}" type="slidenum">
              <a:rPr lang="en-US" smtClean="0"/>
              <a:t>‹#›</a:t>
            </a:fld>
            <a:endParaRPr lang="en-US"/>
          </a:p>
        </p:txBody>
      </p:sp>
    </p:spTree>
    <p:extLst>
      <p:ext uri="{BB962C8B-B14F-4D97-AF65-F5344CB8AC3E}">
        <p14:creationId xmlns:p14="http://schemas.microsoft.com/office/powerpoint/2010/main" val="2519808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916939" y="1756565"/>
            <a:ext cx="4979670" cy="434022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sz="half" idx="3"/>
          </p:nvPr>
        </p:nvSpPr>
        <p:spPr>
          <a:xfrm>
            <a:off x="6251828" y="1802333"/>
            <a:ext cx="4942840" cy="432308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30201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C87304-2DF7-4F5B-8EEF-6AB1CAE635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887A9-60FD-47F6-A15E-3867862ADD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33072-7FF6-4092-ACE2-A0719BC263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5A9667-3CA5-450C-8E27-2D2223EC10CC}" type="datetimeFigureOut">
              <a:rPr lang="en-US" smtClean="0"/>
              <a:t>1/3/2022</a:t>
            </a:fld>
            <a:endParaRPr lang="en-US"/>
          </a:p>
        </p:txBody>
      </p:sp>
      <p:sp>
        <p:nvSpPr>
          <p:cNvPr id="5" name="Footer Placeholder 4">
            <a:extLst>
              <a:ext uri="{FF2B5EF4-FFF2-40B4-BE49-F238E27FC236}">
                <a16:creationId xmlns:a16="http://schemas.microsoft.com/office/drawing/2014/main" id="{EB4A5757-6CFE-4E35-9EC1-7A33DD0C81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4B20C7-EE3A-4CD5-B9E7-8D6954EDBE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35027D-555F-49DB-A4D1-FAF37497986A}" type="slidenum">
              <a:rPr lang="en-US" smtClean="0"/>
              <a:t>‹#›</a:t>
            </a:fld>
            <a:endParaRPr lang="en-US"/>
          </a:p>
        </p:txBody>
      </p:sp>
    </p:spTree>
    <p:extLst>
      <p:ext uri="{BB962C8B-B14F-4D97-AF65-F5344CB8AC3E}">
        <p14:creationId xmlns:p14="http://schemas.microsoft.com/office/powerpoint/2010/main" val="1865622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web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webp"/><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webp"/><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8EC0-23EE-49D3-8E9C-FDEAA57916A3}"/>
              </a:ext>
            </a:extLst>
          </p:cNvPr>
          <p:cNvSpPr>
            <a:spLocks noGrp="1"/>
          </p:cNvSpPr>
          <p:nvPr>
            <p:ph type="ctrTitle"/>
          </p:nvPr>
        </p:nvSpPr>
        <p:spPr/>
        <p:txBody>
          <a:bodyPr/>
          <a:lstStyle/>
          <a:p>
            <a:r>
              <a:rPr lang="en-US" dirty="0"/>
              <a:t>Chapter 3 </a:t>
            </a:r>
          </a:p>
        </p:txBody>
      </p:sp>
      <p:sp>
        <p:nvSpPr>
          <p:cNvPr id="3" name="Subtitle 2">
            <a:extLst>
              <a:ext uri="{FF2B5EF4-FFF2-40B4-BE49-F238E27FC236}">
                <a16:creationId xmlns:a16="http://schemas.microsoft.com/office/drawing/2014/main" id="{49D694A4-1590-446A-9871-A42603108C96}"/>
              </a:ext>
            </a:extLst>
          </p:cNvPr>
          <p:cNvSpPr>
            <a:spLocks noGrp="1"/>
          </p:cNvSpPr>
          <p:nvPr>
            <p:ph type="subTitle" idx="1"/>
          </p:nvPr>
        </p:nvSpPr>
        <p:spPr/>
        <p:txBody>
          <a:bodyPr/>
          <a:lstStyle/>
          <a:p>
            <a:r>
              <a:rPr lang="en-US" dirty="0"/>
              <a:t>Search Techniques</a:t>
            </a:r>
          </a:p>
        </p:txBody>
      </p:sp>
    </p:spTree>
    <p:extLst>
      <p:ext uri="{BB962C8B-B14F-4D97-AF65-F5344CB8AC3E}">
        <p14:creationId xmlns:p14="http://schemas.microsoft.com/office/powerpoint/2010/main" val="67428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8F8D-F1C7-4C95-B9D4-26B2AA7D7D4E}"/>
              </a:ext>
            </a:extLst>
          </p:cNvPr>
          <p:cNvSpPr>
            <a:spLocks noGrp="1"/>
          </p:cNvSpPr>
          <p:nvPr>
            <p:ph type="title"/>
          </p:nvPr>
        </p:nvSpPr>
        <p:spPr>
          <a:xfrm>
            <a:off x="838200" y="365126"/>
            <a:ext cx="2785533" cy="639586"/>
          </a:xfrm>
        </p:spPr>
        <p:txBody>
          <a:bodyPr>
            <a:normAutofit fontScale="90000"/>
          </a:bodyPr>
          <a:lstStyle/>
          <a:p>
            <a:r>
              <a:rPr lang="en-US" dirty="0"/>
              <a:t>Outline</a:t>
            </a:r>
          </a:p>
        </p:txBody>
      </p:sp>
      <p:sp>
        <p:nvSpPr>
          <p:cNvPr id="4" name="object 3">
            <a:extLst>
              <a:ext uri="{FF2B5EF4-FFF2-40B4-BE49-F238E27FC236}">
                <a16:creationId xmlns:a16="http://schemas.microsoft.com/office/drawing/2014/main" id="{726CD624-841E-430F-87EA-02F03CF962EE}"/>
              </a:ext>
            </a:extLst>
          </p:cNvPr>
          <p:cNvSpPr txBox="1">
            <a:spLocks noGrp="1"/>
          </p:cNvSpPr>
          <p:nvPr>
            <p:ph idx="1"/>
          </p:nvPr>
        </p:nvSpPr>
        <p:spPr>
          <a:xfrm>
            <a:off x="838200" y="1004888"/>
            <a:ext cx="4862689" cy="4546758"/>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Searching</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15" dirty="0">
                <a:latin typeface="Calibri"/>
                <a:cs typeface="Calibri"/>
              </a:rPr>
              <a:t>Uninformed</a:t>
            </a:r>
            <a:r>
              <a:rPr sz="2800" spc="10" dirty="0">
                <a:latin typeface="Calibri"/>
                <a:cs typeface="Calibri"/>
              </a:rPr>
              <a:t> </a:t>
            </a:r>
            <a:r>
              <a:rPr sz="2800" spc="-10" dirty="0">
                <a:latin typeface="Calibri"/>
                <a:cs typeface="Calibri"/>
              </a:rPr>
              <a:t>Search</a:t>
            </a:r>
            <a:r>
              <a:rPr sz="2800" spc="-15" dirty="0">
                <a:latin typeface="Calibri"/>
                <a:cs typeface="Calibri"/>
              </a:rPr>
              <a:t> </a:t>
            </a:r>
            <a:r>
              <a:rPr sz="2800" spc="-30" dirty="0">
                <a:latin typeface="Calibri"/>
                <a:cs typeface="Calibri"/>
              </a:rPr>
              <a:t>Techniques</a:t>
            </a:r>
            <a:endParaRPr sz="2800" dirty="0">
              <a:latin typeface="Calibri"/>
              <a:cs typeface="Calibri"/>
            </a:endParaRPr>
          </a:p>
          <a:p>
            <a:pPr marL="698500" lvl="1" indent="-229235">
              <a:lnSpc>
                <a:spcPct val="100000"/>
              </a:lnSpc>
              <a:spcBef>
                <a:spcPts val="235"/>
              </a:spcBef>
              <a:buFont typeface="Arial MT"/>
              <a:buChar char="•"/>
              <a:tabLst>
                <a:tab pos="699135" algn="l"/>
              </a:tabLst>
            </a:pPr>
            <a:r>
              <a:rPr sz="2400" spc="-10" dirty="0">
                <a:latin typeface="Calibri"/>
                <a:cs typeface="Calibri"/>
              </a:rPr>
              <a:t>Breadth</a:t>
            </a:r>
            <a:r>
              <a:rPr sz="2400" spc="-35" dirty="0">
                <a:latin typeface="Calibri"/>
                <a:cs typeface="Calibri"/>
              </a:rPr>
              <a:t> </a:t>
            </a:r>
            <a:r>
              <a:rPr sz="2400" spc="-15" dirty="0">
                <a:latin typeface="Calibri"/>
                <a:cs typeface="Calibri"/>
              </a:rPr>
              <a:t>First</a:t>
            </a:r>
            <a:r>
              <a:rPr sz="2400" spc="-35" dirty="0">
                <a:latin typeface="Calibri"/>
                <a:cs typeface="Calibri"/>
              </a:rPr>
              <a:t> </a:t>
            </a:r>
            <a:r>
              <a:rPr sz="2400" spc="-10" dirty="0">
                <a:latin typeface="Calibri"/>
                <a:cs typeface="Calibri"/>
              </a:rPr>
              <a:t>Search</a:t>
            </a:r>
            <a:endParaRPr sz="2400" dirty="0">
              <a:latin typeface="Calibri"/>
              <a:cs typeface="Calibri"/>
            </a:endParaRPr>
          </a:p>
          <a:p>
            <a:pPr marL="698500" lvl="1" indent="-229235">
              <a:lnSpc>
                <a:spcPct val="100000"/>
              </a:lnSpc>
              <a:spcBef>
                <a:spcPts val="215"/>
              </a:spcBef>
              <a:buFont typeface="Arial MT"/>
              <a:buChar char="•"/>
              <a:tabLst>
                <a:tab pos="699135" algn="l"/>
              </a:tabLst>
            </a:pPr>
            <a:r>
              <a:rPr sz="2400" spc="-10" dirty="0">
                <a:latin typeface="Calibri"/>
                <a:cs typeface="Calibri"/>
              </a:rPr>
              <a:t>Uniform</a:t>
            </a:r>
            <a:r>
              <a:rPr sz="2400" spc="-25" dirty="0">
                <a:latin typeface="Calibri"/>
                <a:cs typeface="Calibri"/>
              </a:rPr>
              <a:t> </a:t>
            </a:r>
            <a:r>
              <a:rPr sz="2400" spc="-15" dirty="0">
                <a:latin typeface="Calibri"/>
                <a:cs typeface="Calibri"/>
              </a:rPr>
              <a:t>Cost</a:t>
            </a:r>
            <a:r>
              <a:rPr sz="2400" spc="-45" dirty="0">
                <a:latin typeface="Calibri"/>
                <a:cs typeface="Calibri"/>
              </a:rPr>
              <a:t> </a:t>
            </a:r>
            <a:r>
              <a:rPr sz="2400" spc="-10" dirty="0">
                <a:latin typeface="Calibri"/>
                <a:cs typeface="Calibri"/>
              </a:rPr>
              <a:t>Search</a:t>
            </a:r>
            <a:endParaRPr sz="2400" dirty="0">
              <a:latin typeface="Calibri"/>
              <a:cs typeface="Calibri"/>
            </a:endParaRPr>
          </a:p>
          <a:p>
            <a:pPr marL="698500" lvl="1" indent="-229235">
              <a:lnSpc>
                <a:spcPct val="100000"/>
              </a:lnSpc>
              <a:spcBef>
                <a:spcPts val="219"/>
              </a:spcBef>
              <a:buFont typeface="Arial MT"/>
              <a:buChar char="•"/>
              <a:tabLst>
                <a:tab pos="699135" algn="l"/>
              </a:tabLst>
            </a:pPr>
            <a:r>
              <a:rPr sz="2400" spc="-5" dirty="0">
                <a:latin typeface="Calibri"/>
                <a:cs typeface="Calibri"/>
              </a:rPr>
              <a:t>Depth</a:t>
            </a:r>
            <a:r>
              <a:rPr sz="2400" spc="-25" dirty="0">
                <a:latin typeface="Calibri"/>
                <a:cs typeface="Calibri"/>
              </a:rPr>
              <a:t> </a:t>
            </a:r>
            <a:r>
              <a:rPr sz="2400" spc="-15" dirty="0">
                <a:latin typeface="Calibri"/>
                <a:cs typeface="Calibri"/>
              </a:rPr>
              <a:t>First</a:t>
            </a:r>
            <a:r>
              <a:rPr sz="2400" spc="-50" dirty="0">
                <a:latin typeface="Calibri"/>
                <a:cs typeface="Calibri"/>
              </a:rPr>
              <a:t> </a:t>
            </a:r>
            <a:r>
              <a:rPr sz="2400" spc="-10" dirty="0">
                <a:latin typeface="Calibri"/>
                <a:cs typeface="Calibri"/>
              </a:rPr>
              <a:t>Search</a:t>
            </a:r>
            <a:endParaRPr sz="2400" dirty="0">
              <a:latin typeface="Calibri"/>
              <a:cs typeface="Calibri"/>
            </a:endParaRPr>
          </a:p>
          <a:p>
            <a:pPr marL="698500" lvl="1" indent="-229235">
              <a:lnSpc>
                <a:spcPct val="100000"/>
              </a:lnSpc>
              <a:spcBef>
                <a:spcPts val="200"/>
              </a:spcBef>
              <a:buFont typeface="Arial MT"/>
              <a:buChar char="•"/>
              <a:tabLst>
                <a:tab pos="699135" algn="l"/>
              </a:tabLst>
            </a:pPr>
            <a:r>
              <a:rPr sz="2400" spc="-5" dirty="0">
                <a:latin typeface="Calibri"/>
                <a:cs typeface="Calibri"/>
              </a:rPr>
              <a:t>Backtracking</a:t>
            </a:r>
            <a:r>
              <a:rPr sz="2400" spc="-85" dirty="0">
                <a:latin typeface="Calibri"/>
                <a:cs typeface="Calibri"/>
              </a:rPr>
              <a:t> </a:t>
            </a:r>
            <a:r>
              <a:rPr sz="2400" spc="-10" dirty="0">
                <a:latin typeface="Calibri"/>
                <a:cs typeface="Calibri"/>
              </a:rPr>
              <a:t>Search</a:t>
            </a:r>
            <a:endParaRPr sz="2400" dirty="0">
              <a:latin typeface="Calibri"/>
              <a:cs typeface="Calibri"/>
            </a:endParaRPr>
          </a:p>
          <a:p>
            <a:pPr marL="698500" lvl="1" indent="-229235">
              <a:lnSpc>
                <a:spcPct val="100000"/>
              </a:lnSpc>
              <a:spcBef>
                <a:spcPts val="219"/>
              </a:spcBef>
              <a:buFont typeface="Arial MT"/>
              <a:buChar char="•"/>
              <a:tabLst>
                <a:tab pos="699135" algn="l"/>
              </a:tabLst>
            </a:pPr>
            <a:r>
              <a:rPr sz="2400" spc="-5" dirty="0">
                <a:latin typeface="Calibri"/>
                <a:cs typeface="Calibri"/>
              </a:rPr>
              <a:t>Depth</a:t>
            </a:r>
            <a:r>
              <a:rPr sz="2400" spc="-15" dirty="0">
                <a:latin typeface="Calibri"/>
                <a:cs typeface="Calibri"/>
              </a:rPr>
              <a:t> </a:t>
            </a:r>
            <a:r>
              <a:rPr sz="2400" spc="-10" dirty="0">
                <a:latin typeface="Calibri"/>
                <a:cs typeface="Calibri"/>
              </a:rPr>
              <a:t>Limited</a:t>
            </a:r>
            <a:r>
              <a:rPr sz="2400" spc="-25" dirty="0">
                <a:latin typeface="Calibri"/>
                <a:cs typeface="Calibri"/>
              </a:rPr>
              <a:t> </a:t>
            </a:r>
            <a:r>
              <a:rPr sz="2400" spc="-10" dirty="0">
                <a:latin typeface="Calibri"/>
                <a:cs typeface="Calibri"/>
              </a:rPr>
              <a:t>Search</a:t>
            </a:r>
            <a:endParaRPr sz="2400" dirty="0">
              <a:latin typeface="Calibri"/>
              <a:cs typeface="Calibri"/>
            </a:endParaRPr>
          </a:p>
          <a:p>
            <a:pPr marL="698500" marR="171450" lvl="1" indent="-228600">
              <a:lnSpc>
                <a:spcPts val="2590"/>
              </a:lnSpc>
              <a:spcBef>
                <a:spcPts val="545"/>
              </a:spcBef>
              <a:buFont typeface="Arial MT"/>
              <a:buChar char="•"/>
              <a:tabLst>
                <a:tab pos="699135" algn="l"/>
              </a:tabLst>
            </a:pPr>
            <a:r>
              <a:rPr sz="2400" spc="-15" dirty="0">
                <a:latin typeface="Calibri"/>
                <a:cs typeface="Calibri"/>
              </a:rPr>
              <a:t>Iterative </a:t>
            </a:r>
            <a:r>
              <a:rPr sz="2400" spc="-5" dirty="0">
                <a:latin typeface="Calibri"/>
                <a:cs typeface="Calibri"/>
              </a:rPr>
              <a:t>Deepening Depth </a:t>
            </a:r>
            <a:r>
              <a:rPr sz="2400" spc="-15" dirty="0">
                <a:latin typeface="Calibri"/>
                <a:cs typeface="Calibri"/>
              </a:rPr>
              <a:t>First </a:t>
            </a:r>
            <a:r>
              <a:rPr sz="2400" spc="-530" dirty="0">
                <a:latin typeface="Calibri"/>
                <a:cs typeface="Calibri"/>
              </a:rPr>
              <a:t> </a:t>
            </a:r>
            <a:r>
              <a:rPr sz="2400" spc="-10" dirty="0">
                <a:latin typeface="Calibri"/>
                <a:cs typeface="Calibri"/>
              </a:rPr>
              <a:t>Search</a:t>
            </a:r>
            <a:endParaRPr sz="2400" dirty="0">
              <a:latin typeface="Calibri"/>
              <a:cs typeface="Calibri"/>
            </a:endParaRPr>
          </a:p>
          <a:p>
            <a:pPr marL="698500" lvl="1" indent="-229235">
              <a:lnSpc>
                <a:spcPct val="100000"/>
              </a:lnSpc>
              <a:spcBef>
                <a:spcPts val="165"/>
              </a:spcBef>
              <a:buFont typeface="Arial MT"/>
              <a:buChar char="•"/>
              <a:tabLst>
                <a:tab pos="699135" algn="l"/>
              </a:tabLst>
            </a:pPr>
            <a:r>
              <a:rPr sz="2400" spc="-5" dirty="0">
                <a:latin typeface="Calibri"/>
                <a:cs typeface="Calibri"/>
              </a:rPr>
              <a:t>Bidirectional</a:t>
            </a:r>
            <a:r>
              <a:rPr sz="2400" spc="-55" dirty="0">
                <a:latin typeface="Calibri"/>
                <a:cs typeface="Calibri"/>
              </a:rPr>
              <a:t> </a:t>
            </a:r>
            <a:r>
              <a:rPr sz="2400" spc="-10" dirty="0">
                <a:latin typeface="Calibri"/>
                <a:cs typeface="Calibri"/>
              </a:rPr>
              <a:t>Search</a:t>
            </a:r>
            <a:endParaRPr sz="2400" dirty="0">
              <a:latin typeface="Calibri"/>
              <a:cs typeface="Calibri"/>
            </a:endParaRPr>
          </a:p>
          <a:p>
            <a:pPr marL="698500" lvl="1" indent="-229235">
              <a:lnSpc>
                <a:spcPct val="100000"/>
              </a:lnSpc>
              <a:spcBef>
                <a:spcPts val="220"/>
              </a:spcBef>
              <a:buFont typeface="Arial MT"/>
              <a:buChar char="•"/>
              <a:tabLst>
                <a:tab pos="699135" algn="l"/>
              </a:tabLst>
            </a:pPr>
            <a:r>
              <a:rPr sz="2400" spc="-10" dirty="0">
                <a:latin typeface="Calibri"/>
                <a:cs typeface="Calibri"/>
              </a:rPr>
              <a:t>Search</a:t>
            </a:r>
            <a:r>
              <a:rPr sz="2400" spc="-30" dirty="0">
                <a:latin typeface="Calibri"/>
                <a:cs typeface="Calibri"/>
              </a:rPr>
              <a:t> </a:t>
            </a:r>
            <a:r>
              <a:rPr sz="2400" spc="-15" dirty="0">
                <a:latin typeface="Calibri"/>
                <a:cs typeface="Calibri"/>
              </a:rPr>
              <a:t>Strategy</a:t>
            </a:r>
            <a:r>
              <a:rPr sz="2400" spc="-55" dirty="0">
                <a:latin typeface="Calibri"/>
                <a:cs typeface="Calibri"/>
              </a:rPr>
              <a:t> </a:t>
            </a:r>
            <a:r>
              <a:rPr sz="2400" spc="-5" dirty="0">
                <a:latin typeface="Calibri"/>
                <a:cs typeface="Calibri"/>
              </a:rPr>
              <a:t>Comparison</a:t>
            </a:r>
            <a:endParaRPr sz="2400" dirty="0">
              <a:latin typeface="Calibri"/>
              <a:cs typeface="Calibri"/>
            </a:endParaRPr>
          </a:p>
        </p:txBody>
      </p:sp>
      <p:sp>
        <p:nvSpPr>
          <p:cNvPr id="5" name="object 4">
            <a:extLst>
              <a:ext uri="{FF2B5EF4-FFF2-40B4-BE49-F238E27FC236}">
                <a16:creationId xmlns:a16="http://schemas.microsoft.com/office/drawing/2014/main" id="{FE980C76-8085-4D54-96BB-21FCAE4A0821}"/>
              </a:ext>
            </a:extLst>
          </p:cNvPr>
          <p:cNvSpPr txBox="1"/>
          <p:nvPr/>
        </p:nvSpPr>
        <p:spPr>
          <a:xfrm>
            <a:off x="6096000" y="1043622"/>
            <a:ext cx="5474970" cy="4137671"/>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5" dirty="0">
                <a:latin typeface="Calibri"/>
                <a:cs typeface="Calibri"/>
              </a:rPr>
              <a:t>Informed Search </a:t>
            </a:r>
            <a:r>
              <a:rPr sz="2800" spc="-30" dirty="0">
                <a:latin typeface="Calibri"/>
                <a:cs typeface="Calibri"/>
              </a:rPr>
              <a:t>Techniques</a:t>
            </a:r>
            <a:endParaRPr sz="2800" dirty="0">
              <a:latin typeface="Calibri"/>
              <a:cs typeface="Calibri"/>
            </a:endParaRPr>
          </a:p>
          <a:p>
            <a:pPr marL="698500" lvl="1" indent="-228600">
              <a:lnSpc>
                <a:spcPct val="100000"/>
              </a:lnSpc>
              <a:spcBef>
                <a:spcPts val="245"/>
              </a:spcBef>
              <a:buFont typeface="Arial MT"/>
              <a:buChar char="•"/>
              <a:tabLst>
                <a:tab pos="698500" algn="l"/>
              </a:tabLst>
            </a:pPr>
            <a:r>
              <a:rPr sz="2400" spc="-10" dirty="0">
                <a:latin typeface="Calibri"/>
                <a:cs typeface="Calibri"/>
              </a:rPr>
              <a:t>Best</a:t>
            </a:r>
            <a:r>
              <a:rPr sz="2400" spc="-60" dirty="0">
                <a:latin typeface="Calibri"/>
                <a:cs typeface="Calibri"/>
              </a:rPr>
              <a:t> </a:t>
            </a:r>
            <a:r>
              <a:rPr sz="2400" spc="-15" dirty="0">
                <a:latin typeface="Calibri"/>
                <a:cs typeface="Calibri"/>
              </a:rPr>
              <a:t>First</a:t>
            </a:r>
            <a:r>
              <a:rPr sz="2400" spc="-70" dirty="0">
                <a:latin typeface="Calibri"/>
                <a:cs typeface="Calibri"/>
              </a:rPr>
              <a:t> </a:t>
            </a:r>
            <a:r>
              <a:rPr sz="2400" spc="-5" dirty="0">
                <a:latin typeface="Calibri"/>
                <a:cs typeface="Calibri"/>
              </a:rPr>
              <a:t>Searching</a:t>
            </a:r>
            <a:endParaRPr sz="2400" dirty="0">
              <a:latin typeface="Calibri"/>
              <a:cs typeface="Calibri"/>
            </a:endParaRPr>
          </a:p>
          <a:p>
            <a:pPr marL="1155700" lvl="2" indent="-228600">
              <a:lnSpc>
                <a:spcPct val="100000"/>
              </a:lnSpc>
              <a:spcBef>
                <a:spcPts val="280"/>
              </a:spcBef>
              <a:buFont typeface="Arial MT"/>
              <a:buChar char="•"/>
              <a:tabLst>
                <a:tab pos="1155065" algn="l"/>
                <a:tab pos="1155700" algn="l"/>
              </a:tabLst>
            </a:pPr>
            <a:r>
              <a:rPr sz="2000" spc="-5" dirty="0">
                <a:latin typeface="Calibri"/>
                <a:cs typeface="Calibri"/>
              </a:rPr>
              <a:t>Greedy</a:t>
            </a:r>
            <a:r>
              <a:rPr sz="2000" spc="-75" dirty="0">
                <a:latin typeface="Calibri"/>
                <a:cs typeface="Calibri"/>
              </a:rPr>
              <a:t> </a:t>
            </a:r>
            <a:r>
              <a:rPr sz="2000" spc="-10" dirty="0">
                <a:latin typeface="Calibri"/>
                <a:cs typeface="Calibri"/>
              </a:rPr>
              <a:t>Search</a:t>
            </a:r>
            <a:endParaRPr sz="2000" dirty="0">
              <a:latin typeface="Calibri"/>
              <a:cs typeface="Calibri"/>
            </a:endParaRPr>
          </a:p>
          <a:p>
            <a:pPr marL="1155700" lvl="2" indent="-228600">
              <a:lnSpc>
                <a:spcPct val="100000"/>
              </a:lnSpc>
              <a:spcBef>
                <a:spcPts val="265"/>
              </a:spcBef>
              <a:buFont typeface="Arial MT"/>
              <a:buChar char="•"/>
              <a:tabLst>
                <a:tab pos="1155065" algn="l"/>
                <a:tab pos="1155700" algn="l"/>
              </a:tabLst>
            </a:pPr>
            <a:r>
              <a:rPr sz="2000" dirty="0">
                <a:latin typeface="Calibri"/>
                <a:cs typeface="Calibri"/>
              </a:rPr>
              <a:t>A*</a:t>
            </a:r>
            <a:r>
              <a:rPr sz="2000" spc="-35" dirty="0">
                <a:latin typeface="Calibri"/>
                <a:cs typeface="Calibri"/>
              </a:rPr>
              <a:t> </a:t>
            </a:r>
            <a:r>
              <a:rPr sz="2000" spc="-5" dirty="0">
                <a:latin typeface="Calibri"/>
                <a:cs typeface="Calibri"/>
              </a:rPr>
              <a:t>Search</a:t>
            </a:r>
            <a:endParaRPr sz="2000" dirty="0">
              <a:latin typeface="Calibri"/>
              <a:cs typeface="Calibri"/>
            </a:endParaRPr>
          </a:p>
          <a:p>
            <a:pPr marL="698500" lvl="1" indent="-228600">
              <a:lnSpc>
                <a:spcPct val="100000"/>
              </a:lnSpc>
              <a:spcBef>
                <a:spcPts val="190"/>
              </a:spcBef>
              <a:buFont typeface="Arial MT"/>
              <a:buChar char="•"/>
              <a:tabLst>
                <a:tab pos="698500" algn="l"/>
              </a:tabLst>
            </a:pPr>
            <a:r>
              <a:rPr sz="2400" spc="-10" dirty="0">
                <a:latin typeface="Calibri"/>
                <a:cs typeface="Calibri"/>
              </a:rPr>
              <a:t>Local</a:t>
            </a:r>
            <a:r>
              <a:rPr sz="2400" spc="-15" dirty="0">
                <a:latin typeface="Calibri"/>
                <a:cs typeface="Calibri"/>
              </a:rPr>
              <a:t> </a:t>
            </a:r>
            <a:r>
              <a:rPr sz="2400" spc="-10" dirty="0">
                <a:latin typeface="Calibri"/>
                <a:cs typeface="Calibri"/>
              </a:rPr>
              <a:t>Search</a:t>
            </a:r>
            <a:r>
              <a:rPr sz="2400" spc="-15" dirty="0">
                <a:latin typeface="Calibri"/>
                <a:cs typeface="Calibri"/>
              </a:rPr>
              <a:t> </a:t>
            </a:r>
            <a:r>
              <a:rPr sz="2400" spc="-5" dirty="0">
                <a:latin typeface="Calibri"/>
                <a:cs typeface="Calibri"/>
              </a:rPr>
              <a:t>Algorithm</a:t>
            </a:r>
            <a:r>
              <a:rPr sz="2400" spc="-55" dirty="0">
                <a:latin typeface="Calibri"/>
                <a:cs typeface="Calibri"/>
              </a:rPr>
              <a:t> </a:t>
            </a:r>
            <a:r>
              <a:rPr sz="2400" dirty="0">
                <a:latin typeface="Calibri"/>
                <a:cs typeface="Calibri"/>
              </a:rPr>
              <a:t>&amp;</a:t>
            </a:r>
            <a:r>
              <a:rPr sz="2400" spc="-10" dirty="0">
                <a:latin typeface="Calibri"/>
                <a:cs typeface="Calibri"/>
              </a:rPr>
              <a:t> Optimization</a:t>
            </a:r>
            <a:endParaRPr sz="2400" dirty="0">
              <a:latin typeface="Calibri"/>
              <a:cs typeface="Calibri"/>
            </a:endParaRPr>
          </a:p>
          <a:p>
            <a:pPr marL="698500" lvl="1" indent="-228600">
              <a:lnSpc>
                <a:spcPct val="100000"/>
              </a:lnSpc>
              <a:spcBef>
                <a:spcPts val="215"/>
              </a:spcBef>
              <a:buFont typeface="Arial MT"/>
              <a:buChar char="•"/>
              <a:tabLst>
                <a:tab pos="698500" algn="l"/>
              </a:tabLst>
            </a:pPr>
            <a:r>
              <a:rPr sz="2400" spc="-15" dirty="0">
                <a:latin typeface="Calibri"/>
                <a:cs typeface="Calibri"/>
              </a:rPr>
              <a:t>Iterative</a:t>
            </a:r>
            <a:r>
              <a:rPr sz="2400" spc="-35" dirty="0">
                <a:latin typeface="Calibri"/>
                <a:cs typeface="Calibri"/>
              </a:rPr>
              <a:t> </a:t>
            </a:r>
            <a:r>
              <a:rPr sz="2400" spc="-10" dirty="0">
                <a:latin typeface="Calibri"/>
                <a:cs typeface="Calibri"/>
              </a:rPr>
              <a:t>Improvement</a:t>
            </a:r>
            <a:r>
              <a:rPr sz="2400" spc="-40" dirty="0">
                <a:latin typeface="Calibri"/>
                <a:cs typeface="Calibri"/>
              </a:rPr>
              <a:t> </a:t>
            </a:r>
            <a:r>
              <a:rPr sz="2400" spc="-5" dirty="0">
                <a:latin typeface="Calibri"/>
                <a:cs typeface="Calibri"/>
              </a:rPr>
              <a:t>Algorithm</a:t>
            </a:r>
            <a:endParaRPr sz="2400" dirty="0">
              <a:latin typeface="Calibri"/>
              <a:cs typeface="Calibri"/>
            </a:endParaRPr>
          </a:p>
          <a:p>
            <a:pPr marL="1155700" lvl="2" indent="-228600">
              <a:lnSpc>
                <a:spcPct val="100000"/>
              </a:lnSpc>
              <a:spcBef>
                <a:spcPts val="280"/>
              </a:spcBef>
              <a:buFont typeface="Arial MT"/>
              <a:buChar char="•"/>
              <a:tabLst>
                <a:tab pos="1155065" algn="l"/>
                <a:tab pos="1155700" algn="l"/>
              </a:tabLst>
            </a:pPr>
            <a:r>
              <a:rPr sz="2000" spc="-5" dirty="0">
                <a:latin typeface="Calibri"/>
                <a:cs typeface="Calibri"/>
              </a:rPr>
              <a:t>Hill</a:t>
            </a:r>
            <a:r>
              <a:rPr sz="2000" spc="-10" dirty="0">
                <a:latin typeface="Calibri"/>
                <a:cs typeface="Calibri"/>
              </a:rPr>
              <a:t> </a:t>
            </a:r>
            <a:r>
              <a:rPr sz="2000" spc="-5" dirty="0">
                <a:latin typeface="Calibri"/>
                <a:cs typeface="Calibri"/>
              </a:rPr>
              <a:t>Climbing</a:t>
            </a:r>
            <a:r>
              <a:rPr sz="2000" spc="-20" dirty="0">
                <a:latin typeface="Calibri"/>
                <a:cs typeface="Calibri"/>
              </a:rPr>
              <a:t> </a:t>
            </a:r>
            <a:r>
              <a:rPr sz="2000" spc="-10" dirty="0">
                <a:latin typeface="Calibri"/>
                <a:cs typeface="Calibri"/>
              </a:rPr>
              <a:t>Search</a:t>
            </a:r>
            <a:endParaRPr sz="2000" dirty="0">
              <a:latin typeface="Calibri"/>
              <a:cs typeface="Calibri"/>
            </a:endParaRPr>
          </a:p>
          <a:p>
            <a:pPr marL="1155700" lvl="2" indent="-228600">
              <a:lnSpc>
                <a:spcPct val="100000"/>
              </a:lnSpc>
              <a:spcBef>
                <a:spcPts val="265"/>
              </a:spcBef>
              <a:buFont typeface="Arial MT"/>
              <a:buChar char="•"/>
              <a:tabLst>
                <a:tab pos="1155065" algn="l"/>
                <a:tab pos="1155700" algn="l"/>
              </a:tabLst>
            </a:pPr>
            <a:r>
              <a:rPr sz="2000" spc="-10" dirty="0">
                <a:latin typeface="Calibri"/>
                <a:cs typeface="Calibri"/>
              </a:rPr>
              <a:t>Simulated</a:t>
            </a:r>
            <a:r>
              <a:rPr sz="2000" spc="5" dirty="0">
                <a:latin typeface="Calibri"/>
                <a:cs typeface="Calibri"/>
              </a:rPr>
              <a:t> </a:t>
            </a:r>
            <a:r>
              <a:rPr sz="2000" dirty="0">
                <a:latin typeface="Calibri"/>
                <a:cs typeface="Calibri"/>
              </a:rPr>
              <a:t>Annealing</a:t>
            </a:r>
            <a:r>
              <a:rPr sz="2000" spc="-15" dirty="0">
                <a:latin typeface="Calibri"/>
                <a:cs typeface="Calibri"/>
              </a:rPr>
              <a:t> </a:t>
            </a:r>
            <a:r>
              <a:rPr sz="2000" spc="-10" dirty="0">
                <a:latin typeface="Calibri"/>
                <a:cs typeface="Calibri"/>
              </a:rPr>
              <a:t>Search</a:t>
            </a:r>
            <a:endParaRPr sz="2000" dirty="0">
              <a:latin typeface="Calibri"/>
              <a:cs typeface="Calibri"/>
            </a:endParaRPr>
          </a:p>
          <a:p>
            <a:pPr marL="698500" lvl="1" indent="-228600">
              <a:lnSpc>
                <a:spcPct val="100000"/>
              </a:lnSpc>
              <a:spcBef>
                <a:spcPts val="190"/>
              </a:spcBef>
              <a:buFont typeface="Arial MT"/>
              <a:buChar char="•"/>
              <a:tabLst>
                <a:tab pos="698500" algn="l"/>
              </a:tabLst>
            </a:pPr>
            <a:r>
              <a:rPr sz="2400" spc="-10" dirty="0">
                <a:latin typeface="Calibri"/>
                <a:cs typeface="Calibri"/>
              </a:rPr>
              <a:t>Adversarial</a:t>
            </a:r>
            <a:r>
              <a:rPr sz="2400" spc="-30" dirty="0">
                <a:latin typeface="Calibri"/>
                <a:cs typeface="Calibri"/>
              </a:rPr>
              <a:t> </a:t>
            </a:r>
            <a:r>
              <a:rPr sz="2400" spc="-10" dirty="0">
                <a:latin typeface="Calibri"/>
                <a:cs typeface="Calibri"/>
              </a:rPr>
              <a:t>Search</a:t>
            </a:r>
            <a:r>
              <a:rPr sz="2400" spc="-30" dirty="0">
                <a:latin typeface="Calibri"/>
                <a:cs typeface="Calibri"/>
              </a:rPr>
              <a:t> </a:t>
            </a:r>
            <a:r>
              <a:rPr sz="2400" spc="-25" dirty="0">
                <a:latin typeface="Calibri"/>
                <a:cs typeface="Calibri"/>
              </a:rPr>
              <a:t>Techniques</a:t>
            </a:r>
            <a:endParaRPr sz="2400" dirty="0">
              <a:latin typeface="Calibri"/>
              <a:cs typeface="Calibri"/>
            </a:endParaRPr>
          </a:p>
          <a:p>
            <a:pPr marL="1155700" lvl="2" indent="-228600">
              <a:lnSpc>
                <a:spcPct val="100000"/>
              </a:lnSpc>
              <a:spcBef>
                <a:spcPts val="280"/>
              </a:spcBef>
              <a:buFont typeface="Arial MT"/>
              <a:buChar char="•"/>
              <a:tabLst>
                <a:tab pos="1155065" algn="l"/>
                <a:tab pos="1155700" algn="l"/>
              </a:tabLst>
            </a:pPr>
            <a:r>
              <a:rPr sz="2000" spc="-5" dirty="0">
                <a:latin typeface="Calibri"/>
                <a:cs typeface="Calibri"/>
              </a:rPr>
              <a:t>Mini-max</a:t>
            </a:r>
            <a:r>
              <a:rPr sz="2000" spc="-20" dirty="0">
                <a:latin typeface="Calibri"/>
                <a:cs typeface="Calibri"/>
              </a:rPr>
              <a:t> </a:t>
            </a:r>
            <a:r>
              <a:rPr sz="2000" spc="-10" dirty="0">
                <a:latin typeface="Calibri"/>
                <a:cs typeface="Calibri"/>
              </a:rPr>
              <a:t>Procedure</a:t>
            </a:r>
            <a:endParaRPr sz="2000" dirty="0">
              <a:latin typeface="Calibri"/>
              <a:cs typeface="Calibri"/>
            </a:endParaRPr>
          </a:p>
          <a:p>
            <a:pPr marL="1155700" lvl="2" indent="-228600">
              <a:lnSpc>
                <a:spcPct val="100000"/>
              </a:lnSpc>
              <a:spcBef>
                <a:spcPts val="265"/>
              </a:spcBef>
              <a:buFont typeface="Arial MT"/>
              <a:buChar char="•"/>
              <a:tabLst>
                <a:tab pos="1155065" algn="l"/>
                <a:tab pos="1155700" algn="l"/>
              </a:tabLst>
            </a:pPr>
            <a:r>
              <a:rPr sz="2000" dirty="0">
                <a:latin typeface="Calibri"/>
                <a:cs typeface="Calibri"/>
              </a:rPr>
              <a:t>Alpha</a:t>
            </a:r>
            <a:r>
              <a:rPr sz="2000" spc="-30" dirty="0">
                <a:latin typeface="Calibri"/>
                <a:cs typeface="Calibri"/>
              </a:rPr>
              <a:t> </a:t>
            </a:r>
            <a:r>
              <a:rPr sz="2000" spc="-10" dirty="0">
                <a:latin typeface="Calibri"/>
                <a:cs typeface="Calibri"/>
              </a:rPr>
              <a:t>Beta</a:t>
            </a:r>
            <a:r>
              <a:rPr sz="2000" spc="-20" dirty="0">
                <a:latin typeface="Calibri"/>
                <a:cs typeface="Calibri"/>
              </a:rPr>
              <a:t> </a:t>
            </a:r>
            <a:r>
              <a:rPr sz="2000" spc="-10" dirty="0">
                <a:latin typeface="Calibri"/>
                <a:cs typeface="Calibri"/>
              </a:rPr>
              <a:t>Procedure</a:t>
            </a:r>
            <a:endParaRPr sz="2000" dirty="0">
              <a:latin typeface="Calibri"/>
              <a:cs typeface="Calibri"/>
            </a:endParaRPr>
          </a:p>
        </p:txBody>
      </p:sp>
    </p:spTree>
    <p:extLst>
      <p:ext uri="{BB962C8B-B14F-4D97-AF65-F5344CB8AC3E}">
        <p14:creationId xmlns:p14="http://schemas.microsoft.com/office/powerpoint/2010/main" val="3906970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E2C1-F522-4DBC-8070-1086233A1D45}"/>
              </a:ext>
            </a:extLst>
          </p:cNvPr>
          <p:cNvSpPr>
            <a:spLocks noGrp="1"/>
          </p:cNvSpPr>
          <p:nvPr>
            <p:ph type="title"/>
          </p:nvPr>
        </p:nvSpPr>
        <p:spPr/>
        <p:txBody>
          <a:bodyPr/>
          <a:lstStyle/>
          <a:p>
            <a:r>
              <a:rPr lang="en-US" dirty="0"/>
              <a:t>Searching</a:t>
            </a:r>
          </a:p>
        </p:txBody>
      </p:sp>
      <p:sp>
        <p:nvSpPr>
          <p:cNvPr id="3" name="Content Placeholder 2">
            <a:extLst>
              <a:ext uri="{FF2B5EF4-FFF2-40B4-BE49-F238E27FC236}">
                <a16:creationId xmlns:a16="http://schemas.microsoft.com/office/drawing/2014/main" id="{E7F783F9-6066-4B65-8E3A-7D5B1FFDAEF7}"/>
              </a:ext>
            </a:extLst>
          </p:cNvPr>
          <p:cNvSpPr>
            <a:spLocks noGrp="1"/>
          </p:cNvSpPr>
          <p:nvPr>
            <p:ph idx="1"/>
          </p:nvPr>
        </p:nvSpPr>
        <p:spPr/>
        <p:txBody>
          <a:bodyPr/>
          <a:lstStyle/>
          <a:p>
            <a:r>
              <a:rPr lang="en-US" dirty="0"/>
              <a:t>In Artificial Intelligence, Search techniques are </a:t>
            </a:r>
            <a:r>
              <a:rPr lang="en-US" b="1" dirty="0"/>
              <a:t>universal problem-solving methods</a:t>
            </a:r>
            <a:r>
              <a:rPr lang="en-US" dirty="0"/>
              <a:t>. </a:t>
            </a:r>
          </a:p>
          <a:p>
            <a:endParaRPr lang="en-US" dirty="0"/>
          </a:p>
          <a:p>
            <a:r>
              <a:rPr lang="en-US" dirty="0"/>
              <a:t>Rational agents or Problem-solving agents in AI mostly used these search strategies or algorithms to solve a specific problem and provide the best result. </a:t>
            </a:r>
          </a:p>
          <a:p>
            <a:endParaRPr lang="en-US" dirty="0"/>
          </a:p>
          <a:p>
            <a:r>
              <a:rPr lang="en-US" dirty="0"/>
              <a:t>Problem-solving agents are the goal-based agents and use atomic representation.</a:t>
            </a:r>
          </a:p>
        </p:txBody>
      </p:sp>
    </p:spTree>
    <p:extLst>
      <p:ext uri="{BB962C8B-B14F-4D97-AF65-F5344CB8AC3E}">
        <p14:creationId xmlns:p14="http://schemas.microsoft.com/office/powerpoint/2010/main" val="1364811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5A1FB3-A6BB-488F-83C8-3F8DE0643B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44" y="557571"/>
            <a:ext cx="10814755" cy="5978696"/>
          </a:xfrm>
          <a:prstGeom prst="rect">
            <a:avLst/>
          </a:prstGeom>
        </p:spPr>
      </p:pic>
    </p:spTree>
    <p:extLst>
      <p:ext uri="{BB962C8B-B14F-4D97-AF65-F5344CB8AC3E}">
        <p14:creationId xmlns:p14="http://schemas.microsoft.com/office/powerpoint/2010/main" val="2546798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742CC-3DDB-40BE-9D0E-81E037D49537}"/>
              </a:ext>
            </a:extLst>
          </p:cNvPr>
          <p:cNvSpPr>
            <a:spLocks noGrp="1"/>
          </p:cNvSpPr>
          <p:nvPr>
            <p:ph idx="1"/>
          </p:nvPr>
        </p:nvSpPr>
        <p:spPr>
          <a:xfrm>
            <a:off x="838200" y="372533"/>
            <a:ext cx="10515600" cy="5804430"/>
          </a:xfrm>
        </p:spPr>
        <p:txBody>
          <a:bodyPr>
            <a:normAutofit lnSpcReduction="10000"/>
          </a:bodyPr>
          <a:lstStyle/>
          <a:p>
            <a:r>
              <a:rPr lang="en-US" dirty="0">
                <a:effectLst/>
                <a:latin typeface="Times New Roman" panose="02020603050405020304" pitchFamily="18" charset="0"/>
              </a:rPr>
              <a:t>Many problems don’t have a simple algorithmic solution. </a:t>
            </a:r>
          </a:p>
          <a:p>
            <a:endParaRPr lang="en-US" dirty="0">
              <a:latin typeface="Times New Roman" panose="02020603050405020304" pitchFamily="18" charset="0"/>
            </a:endParaRPr>
          </a:p>
          <a:p>
            <a:r>
              <a:rPr lang="en-US" dirty="0">
                <a:effectLst/>
                <a:latin typeface="Times New Roman" panose="02020603050405020304" pitchFamily="18" charset="0"/>
              </a:rPr>
              <a:t>Casting these problems as search problems is often the easiest way of solving them.</a:t>
            </a:r>
          </a:p>
          <a:p>
            <a:pPr marL="0" indent="0">
              <a:buNone/>
            </a:pPr>
            <a:br>
              <a:rPr lang="en-US" dirty="0"/>
            </a:br>
            <a:r>
              <a:rPr lang="en-US" dirty="0">
                <a:effectLst/>
                <a:latin typeface="Times New Roman" panose="02020603050405020304" pitchFamily="18" charset="0"/>
              </a:rPr>
              <a:t>- Useful when the sequence of actions required to solve a problem is not known</a:t>
            </a:r>
          </a:p>
          <a:p>
            <a:pPr marL="0" indent="0">
              <a:buNone/>
            </a:pPr>
            <a:br>
              <a:rPr lang="en-US" dirty="0"/>
            </a:br>
            <a:r>
              <a:rPr lang="en-US" dirty="0">
                <a:effectLst/>
                <a:latin typeface="Courier New" panose="02070309020205020404" pitchFamily="49" charset="0"/>
              </a:rPr>
              <a:t>o </a:t>
            </a:r>
            <a:r>
              <a:rPr lang="en-US" dirty="0">
                <a:effectLst/>
                <a:latin typeface="Times New Roman" panose="02020603050405020304" pitchFamily="18" charset="0"/>
              </a:rPr>
              <a:t>Path finding problems, e.g., eight puzzle, travelling salesman problem</a:t>
            </a:r>
          </a:p>
          <a:p>
            <a:pPr marL="0" indent="0">
              <a:buNone/>
            </a:pPr>
            <a:br>
              <a:rPr lang="en-US" dirty="0"/>
            </a:br>
            <a:r>
              <a:rPr lang="en-US" dirty="0">
                <a:effectLst/>
                <a:latin typeface="Courier New" panose="02070309020205020404" pitchFamily="49" charset="0"/>
              </a:rPr>
              <a:t>o </a:t>
            </a:r>
            <a:r>
              <a:rPr lang="en-US" dirty="0">
                <a:effectLst/>
                <a:latin typeface="Times New Roman" panose="02020603050405020304" pitchFamily="18" charset="0"/>
              </a:rPr>
              <a:t>Two player games, e.g., chess and checkers</a:t>
            </a:r>
          </a:p>
          <a:p>
            <a:pPr marL="0" indent="0">
              <a:buNone/>
            </a:pPr>
            <a:br>
              <a:rPr lang="en-US" dirty="0"/>
            </a:br>
            <a:r>
              <a:rPr lang="en-US" dirty="0">
                <a:effectLst/>
                <a:latin typeface="Courier New" panose="02070309020205020404" pitchFamily="49" charset="0"/>
              </a:rPr>
              <a:t>o </a:t>
            </a:r>
            <a:r>
              <a:rPr lang="en-US" dirty="0">
                <a:effectLst/>
                <a:latin typeface="Times New Roman" panose="02020603050405020304" pitchFamily="18" charset="0"/>
              </a:rPr>
              <a:t>Constraint satisfaction problems, e.g., eight queens</a:t>
            </a:r>
            <a:endParaRPr lang="en-US" dirty="0"/>
          </a:p>
        </p:txBody>
      </p:sp>
    </p:spTree>
    <p:extLst>
      <p:ext uri="{BB962C8B-B14F-4D97-AF65-F5344CB8AC3E}">
        <p14:creationId xmlns:p14="http://schemas.microsoft.com/office/powerpoint/2010/main" val="2444825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6720-7745-49CD-A3EC-5D1E54AA1BA4}"/>
              </a:ext>
            </a:extLst>
          </p:cNvPr>
          <p:cNvSpPr>
            <a:spLocks noGrp="1"/>
          </p:cNvSpPr>
          <p:nvPr>
            <p:ph type="title"/>
          </p:nvPr>
        </p:nvSpPr>
        <p:spPr/>
        <p:txBody>
          <a:bodyPr/>
          <a:lstStyle/>
          <a:p>
            <a:r>
              <a:rPr lang="en-US" dirty="0"/>
              <a:t>Steps in Searching</a:t>
            </a:r>
          </a:p>
        </p:txBody>
      </p:sp>
      <p:sp>
        <p:nvSpPr>
          <p:cNvPr id="3" name="Content Placeholder 2">
            <a:extLst>
              <a:ext uri="{FF2B5EF4-FFF2-40B4-BE49-F238E27FC236}">
                <a16:creationId xmlns:a16="http://schemas.microsoft.com/office/drawing/2014/main" id="{7F8688D5-80F3-4574-819F-C5B1684E161B}"/>
              </a:ext>
            </a:extLst>
          </p:cNvPr>
          <p:cNvSpPr>
            <a:spLocks noGrp="1"/>
          </p:cNvSpPr>
          <p:nvPr>
            <p:ph idx="1"/>
          </p:nvPr>
        </p:nvSpPr>
        <p:spPr/>
        <p:txBody>
          <a:bodyPr/>
          <a:lstStyle/>
          <a:p>
            <a:pPr marL="514350" indent="-514350">
              <a:buAutoNum type="arabicPeriod"/>
            </a:pPr>
            <a:r>
              <a:rPr lang="en-US" dirty="0">
                <a:effectLst/>
                <a:latin typeface="Times New Roman" panose="02020603050405020304" pitchFamily="18" charset="0"/>
              </a:rPr>
              <a:t>Check whether the current state is the goal state or not?</a:t>
            </a:r>
          </a:p>
          <a:p>
            <a:pPr marL="0" indent="0">
              <a:buNone/>
            </a:pPr>
            <a:br>
              <a:rPr lang="en-US" dirty="0"/>
            </a:br>
            <a:r>
              <a:rPr lang="en-US" dirty="0">
                <a:effectLst/>
                <a:latin typeface="Times New Roman" panose="02020603050405020304" pitchFamily="18" charset="0"/>
              </a:rPr>
              <a:t>2. Expand the current state to generate the new sets of states.</a:t>
            </a:r>
          </a:p>
          <a:p>
            <a:pPr marL="0" indent="0">
              <a:buNone/>
            </a:pPr>
            <a:br>
              <a:rPr lang="en-US" dirty="0"/>
            </a:br>
            <a:r>
              <a:rPr lang="en-US" dirty="0">
                <a:effectLst/>
                <a:latin typeface="Times New Roman" panose="02020603050405020304" pitchFamily="18" charset="0"/>
              </a:rPr>
              <a:t>3. Choose one of the new states generated for search depending upon search strategy.</a:t>
            </a:r>
          </a:p>
          <a:p>
            <a:pPr marL="0" indent="0">
              <a:buNone/>
            </a:pPr>
            <a:br>
              <a:rPr lang="en-US" dirty="0"/>
            </a:br>
            <a:r>
              <a:rPr lang="en-US" dirty="0">
                <a:effectLst/>
                <a:latin typeface="Times New Roman" panose="02020603050405020304" pitchFamily="18" charset="0"/>
              </a:rPr>
              <a:t>4. Repeat step 1 to 3 until the goal state is reached or there are no more state to be expanded.</a:t>
            </a:r>
            <a:endParaRPr lang="en-US" dirty="0"/>
          </a:p>
        </p:txBody>
      </p:sp>
    </p:spTree>
    <p:extLst>
      <p:ext uri="{BB962C8B-B14F-4D97-AF65-F5344CB8AC3E}">
        <p14:creationId xmlns:p14="http://schemas.microsoft.com/office/powerpoint/2010/main" val="50226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A5F622-26B9-4653-8B54-D545DE2DCF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777" y="-1"/>
            <a:ext cx="10984089" cy="7349067"/>
          </a:xfrm>
          <a:prstGeom prst="rect">
            <a:avLst/>
          </a:prstGeom>
        </p:spPr>
      </p:pic>
    </p:spTree>
    <p:extLst>
      <p:ext uri="{BB962C8B-B14F-4D97-AF65-F5344CB8AC3E}">
        <p14:creationId xmlns:p14="http://schemas.microsoft.com/office/powerpoint/2010/main" val="796748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846945" cy="697230"/>
          </a:xfrm>
          <a:prstGeom prst="rect">
            <a:avLst/>
          </a:prstGeom>
        </p:spPr>
        <p:txBody>
          <a:bodyPr vert="horz" wrap="square" lIns="0" tIns="13335" rIns="0" bIns="0" rtlCol="0">
            <a:spAutoFit/>
          </a:bodyPr>
          <a:lstStyle/>
          <a:p>
            <a:pPr marL="12700">
              <a:lnSpc>
                <a:spcPct val="100000"/>
              </a:lnSpc>
              <a:spcBef>
                <a:spcPts val="105"/>
              </a:spcBef>
            </a:pPr>
            <a:r>
              <a:rPr spc="-10" dirty="0"/>
              <a:t>Searching:</a:t>
            </a:r>
            <a:r>
              <a:rPr spc="-30" dirty="0"/>
              <a:t> </a:t>
            </a:r>
            <a:r>
              <a:rPr spc="-10" dirty="0"/>
              <a:t>Criteria</a:t>
            </a:r>
            <a:r>
              <a:rPr dirty="0"/>
              <a:t> </a:t>
            </a:r>
            <a:r>
              <a:rPr spc="-25" dirty="0"/>
              <a:t>to</a:t>
            </a:r>
            <a:r>
              <a:rPr spc="10" dirty="0"/>
              <a:t> </a:t>
            </a:r>
            <a:r>
              <a:rPr spc="-5" dirty="0"/>
              <a:t>Measure</a:t>
            </a:r>
            <a:r>
              <a:rPr spc="-25" dirty="0"/>
              <a:t> Performance</a:t>
            </a:r>
          </a:p>
        </p:txBody>
      </p:sp>
      <p:sp>
        <p:nvSpPr>
          <p:cNvPr id="3" name="object 3"/>
          <p:cNvSpPr txBox="1"/>
          <p:nvPr/>
        </p:nvSpPr>
        <p:spPr>
          <a:xfrm>
            <a:off x="916939" y="1706841"/>
            <a:ext cx="10132060" cy="356298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b="1" spc="-10" dirty="0">
                <a:latin typeface="Calibri"/>
                <a:cs typeface="Calibri"/>
              </a:rPr>
              <a:t>Completeness</a:t>
            </a:r>
            <a:r>
              <a:rPr sz="2800" spc="-10" dirty="0">
                <a:latin typeface="Calibri"/>
                <a:cs typeface="Calibri"/>
              </a:rPr>
              <a:t>:</a:t>
            </a:r>
            <a:r>
              <a:rPr sz="2800" spc="40" dirty="0">
                <a:latin typeface="Calibri"/>
                <a:cs typeface="Calibri"/>
              </a:rPr>
              <a:t> </a:t>
            </a:r>
            <a:r>
              <a:rPr sz="2800" spc="-5" dirty="0">
                <a:latin typeface="Calibri"/>
                <a:cs typeface="Calibri"/>
              </a:rPr>
              <a:t>Ability</a:t>
            </a:r>
            <a:r>
              <a:rPr sz="2800" spc="30"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find</a:t>
            </a:r>
            <a:r>
              <a:rPr sz="2800" spc="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solution</a:t>
            </a:r>
            <a:r>
              <a:rPr sz="2800" spc="45" dirty="0">
                <a:latin typeface="Calibri"/>
                <a:cs typeface="Calibri"/>
              </a:rPr>
              <a:t> </a:t>
            </a:r>
            <a:r>
              <a:rPr sz="2800" spc="-5" dirty="0">
                <a:latin typeface="Calibri"/>
                <a:cs typeface="Calibri"/>
              </a:rPr>
              <a:t>if</a:t>
            </a:r>
            <a:r>
              <a:rPr sz="2800" spc="5" dirty="0">
                <a:latin typeface="Calibri"/>
                <a:cs typeface="Calibri"/>
              </a:rPr>
              <a:t> </a:t>
            </a:r>
            <a:r>
              <a:rPr sz="2800" spc="-5" dirty="0">
                <a:latin typeface="Calibri"/>
                <a:cs typeface="Calibri"/>
              </a:rPr>
              <a:t>the</a:t>
            </a:r>
            <a:r>
              <a:rPr sz="2800" spc="25" dirty="0">
                <a:latin typeface="Calibri"/>
                <a:cs typeface="Calibri"/>
              </a:rPr>
              <a:t> </a:t>
            </a:r>
            <a:r>
              <a:rPr sz="2800" spc="-10" dirty="0">
                <a:latin typeface="Calibri"/>
                <a:cs typeface="Calibri"/>
              </a:rPr>
              <a:t>solution</a:t>
            </a:r>
            <a:r>
              <a:rPr sz="2800" spc="45" dirty="0">
                <a:latin typeface="Calibri"/>
                <a:cs typeface="Calibri"/>
              </a:rPr>
              <a:t> </a:t>
            </a:r>
            <a:r>
              <a:rPr sz="2800" spc="-20" dirty="0">
                <a:latin typeface="Calibri"/>
                <a:cs typeface="Calibri"/>
              </a:rPr>
              <a:t>exists</a:t>
            </a:r>
            <a:endParaRPr sz="2800" dirty="0">
              <a:latin typeface="Calibri"/>
              <a:cs typeface="Calibri"/>
            </a:endParaRPr>
          </a:p>
          <a:p>
            <a:pPr marL="241300" marR="5080" indent="-228600">
              <a:lnSpc>
                <a:spcPts val="3020"/>
              </a:lnSpc>
              <a:spcBef>
                <a:spcPts val="1060"/>
              </a:spcBef>
              <a:buFont typeface="Arial MT"/>
              <a:buChar char="•"/>
              <a:tabLst>
                <a:tab pos="241300" algn="l"/>
              </a:tabLst>
            </a:pPr>
            <a:r>
              <a:rPr sz="2800" b="1" spc="-5" dirty="0">
                <a:latin typeface="Calibri"/>
                <a:cs typeface="Calibri"/>
              </a:rPr>
              <a:t>Optimality</a:t>
            </a:r>
            <a:r>
              <a:rPr sz="2800" spc="-5" dirty="0">
                <a:latin typeface="Calibri"/>
                <a:cs typeface="Calibri"/>
              </a:rPr>
              <a:t>:</a:t>
            </a:r>
            <a:r>
              <a:rPr sz="2800" spc="20" dirty="0">
                <a:latin typeface="Calibri"/>
                <a:cs typeface="Calibri"/>
              </a:rPr>
              <a:t> </a:t>
            </a:r>
            <a:r>
              <a:rPr sz="2800" spc="-5" dirty="0">
                <a:latin typeface="Calibri"/>
                <a:cs typeface="Calibri"/>
              </a:rPr>
              <a:t>Ability</a:t>
            </a:r>
            <a:r>
              <a:rPr sz="2800" spc="45"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find</a:t>
            </a:r>
            <a:r>
              <a:rPr sz="2800" spc="30" dirty="0">
                <a:latin typeface="Calibri"/>
                <a:cs typeface="Calibri"/>
              </a:rPr>
              <a:t> </a:t>
            </a:r>
            <a:r>
              <a:rPr sz="2800" spc="-10" dirty="0">
                <a:latin typeface="Calibri"/>
                <a:cs typeface="Calibri"/>
              </a:rPr>
              <a:t>out</a:t>
            </a:r>
            <a:r>
              <a:rPr sz="2800" spc="25"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highest</a:t>
            </a:r>
            <a:r>
              <a:rPr sz="2800" spc="50" dirty="0">
                <a:latin typeface="Calibri"/>
                <a:cs typeface="Calibri"/>
              </a:rPr>
              <a:t> </a:t>
            </a:r>
            <a:r>
              <a:rPr sz="2800" spc="-10" dirty="0">
                <a:latin typeface="Calibri"/>
                <a:cs typeface="Calibri"/>
              </a:rPr>
              <a:t>quality</a:t>
            </a:r>
            <a:r>
              <a:rPr sz="2800" spc="20" dirty="0">
                <a:latin typeface="Calibri"/>
                <a:cs typeface="Calibri"/>
              </a:rPr>
              <a:t> </a:t>
            </a:r>
            <a:r>
              <a:rPr sz="2800" spc="-10" dirty="0">
                <a:latin typeface="Calibri"/>
                <a:cs typeface="Calibri"/>
              </a:rPr>
              <a:t>solution</a:t>
            </a:r>
            <a:r>
              <a:rPr sz="2800" spc="35" dirty="0">
                <a:latin typeface="Calibri"/>
                <a:cs typeface="Calibri"/>
              </a:rPr>
              <a:t> </a:t>
            </a:r>
            <a:r>
              <a:rPr sz="2800" spc="-5" dirty="0">
                <a:latin typeface="Calibri"/>
                <a:cs typeface="Calibri"/>
              </a:rPr>
              <a:t>among</a:t>
            </a:r>
            <a:r>
              <a:rPr sz="2800" spc="25" dirty="0">
                <a:latin typeface="Calibri"/>
                <a:cs typeface="Calibri"/>
              </a:rPr>
              <a:t> </a:t>
            </a:r>
            <a:r>
              <a:rPr sz="2800" spc="-5" dirty="0">
                <a:latin typeface="Calibri"/>
                <a:cs typeface="Calibri"/>
              </a:rPr>
              <a:t>the </a:t>
            </a:r>
            <a:r>
              <a:rPr sz="2800" spc="-620" dirty="0">
                <a:latin typeface="Calibri"/>
                <a:cs typeface="Calibri"/>
              </a:rPr>
              <a:t> </a:t>
            </a:r>
            <a:r>
              <a:rPr sz="2800" spc="-20" dirty="0">
                <a:latin typeface="Calibri"/>
                <a:cs typeface="Calibri"/>
              </a:rPr>
              <a:t>several</a:t>
            </a:r>
            <a:r>
              <a:rPr sz="2800" spc="-5" dirty="0">
                <a:latin typeface="Calibri"/>
                <a:cs typeface="Calibri"/>
              </a:rPr>
              <a:t> </a:t>
            </a:r>
            <a:r>
              <a:rPr sz="2800" spc="-10" dirty="0">
                <a:latin typeface="Calibri"/>
                <a:cs typeface="Calibri"/>
              </a:rPr>
              <a:t>solutions</a:t>
            </a:r>
            <a:endParaRPr sz="2800" dirty="0">
              <a:latin typeface="Calibri"/>
              <a:cs typeface="Calibri"/>
            </a:endParaRPr>
          </a:p>
          <a:p>
            <a:pPr marL="698500" lvl="1" indent="-229235">
              <a:lnSpc>
                <a:spcPts val="2735"/>
              </a:lnSpc>
              <a:spcBef>
                <a:spcPts val="195"/>
              </a:spcBef>
              <a:buFont typeface="Arial MT"/>
              <a:buChar char="•"/>
              <a:tabLst>
                <a:tab pos="699135" algn="l"/>
              </a:tabLst>
            </a:pPr>
            <a:r>
              <a:rPr sz="2400" spc="-5" dirty="0">
                <a:latin typeface="Calibri"/>
                <a:cs typeface="Calibri"/>
              </a:rPr>
              <a:t>Should</a:t>
            </a:r>
            <a:r>
              <a:rPr sz="2400" spc="5" dirty="0">
                <a:latin typeface="Calibri"/>
                <a:cs typeface="Calibri"/>
              </a:rPr>
              <a:t> </a:t>
            </a:r>
            <a:r>
              <a:rPr sz="2400" spc="-10" dirty="0">
                <a:latin typeface="Calibri"/>
                <a:cs typeface="Calibri"/>
              </a:rPr>
              <a:t>maintain</a:t>
            </a:r>
            <a:r>
              <a:rPr sz="2400" spc="-30" dirty="0">
                <a:latin typeface="Calibri"/>
                <a:cs typeface="Calibri"/>
              </a:rPr>
              <a:t> </a:t>
            </a:r>
            <a:r>
              <a:rPr sz="2400" dirty="0">
                <a:latin typeface="Calibri"/>
                <a:cs typeface="Calibri"/>
              </a:rPr>
              <a:t>the</a:t>
            </a:r>
            <a:r>
              <a:rPr sz="2400" spc="10" dirty="0">
                <a:latin typeface="Calibri"/>
                <a:cs typeface="Calibri"/>
              </a:rPr>
              <a:t> </a:t>
            </a:r>
            <a:r>
              <a:rPr sz="2400" spc="-10" dirty="0">
                <a:latin typeface="Calibri"/>
                <a:cs typeface="Calibri"/>
              </a:rPr>
              <a:t>information</a:t>
            </a:r>
            <a:r>
              <a:rPr sz="2400" spc="-15" dirty="0">
                <a:latin typeface="Calibri"/>
                <a:cs typeface="Calibri"/>
              </a:rPr>
              <a:t> </a:t>
            </a:r>
            <a:r>
              <a:rPr sz="2400" spc="-5" dirty="0">
                <a:latin typeface="Calibri"/>
                <a:cs typeface="Calibri"/>
              </a:rPr>
              <a:t>about</a:t>
            </a:r>
            <a:r>
              <a:rPr sz="2400" spc="5" dirty="0">
                <a:latin typeface="Calibri"/>
                <a:cs typeface="Calibri"/>
              </a:rPr>
              <a:t> </a:t>
            </a:r>
            <a:r>
              <a:rPr sz="2400" dirty="0">
                <a:latin typeface="Calibri"/>
                <a:cs typeface="Calibri"/>
              </a:rPr>
              <a:t>the</a:t>
            </a:r>
            <a:r>
              <a:rPr sz="2400" spc="5" dirty="0">
                <a:latin typeface="Calibri"/>
                <a:cs typeface="Calibri"/>
              </a:rPr>
              <a:t> </a:t>
            </a:r>
            <a:r>
              <a:rPr sz="2400" spc="-5" dirty="0">
                <a:latin typeface="Calibri"/>
                <a:cs typeface="Calibri"/>
              </a:rPr>
              <a:t>number of</a:t>
            </a:r>
            <a:r>
              <a:rPr sz="2400" dirty="0">
                <a:latin typeface="Calibri"/>
                <a:cs typeface="Calibri"/>
              </a:rPr>
              <a:t> </a:t>
            </a:r>
            <a:r>
              <a:rPr sz="2400" spc="-15" dirty="0">
                <a:latin typeface="Calibri"/>
                <a:cs typeface="Calibri"/>
              </a:rPr>
              <a:t>steps </a:t>
            </a:r>
            <a:r>
              <a:rPr sz="2400" spc="-5" dirty="0">
                <a:latin typeface="Calibri"/>
                <a:cs typeface="Calibri"/>
              </a:rPr>
              <a:t>or </a:t>
            </a:r>
            <a:r>
              <a:rPr sz="2400" dirty="0">
                <a:latin typeface="Calibri"/>
                <a:cs typeface="Calibri"/>
              </a:rPr>
              <a:t>the</a:t>
            </a:r>
            <a:r>
              <a:rPr sz="2400" spc="5" dirty="0">
                <a:latin typeface="Calibri"/>
                <a:cs typeface="Calibri"/>
              </a:rPr>
              <a:t> </a:t>
            </a:r>
            <a:r>
              <a:rPr sz="2400" spc="-10" dirty="0">
                <a:latin typeface="Calibri"/>
                <a:cs typeface="Calibri"/>
              </a:rPr>
              <a:t>path</a:t>
            </a:r>
            <a:r>
              <a:rPr sz="2400" spc="5" dirty="0">
                <a:latin typeface="Calibri"/>
                <a:cs typeface="Calibri"/>
              </a:rPr>
              <a:t> </a:t>
            </a:r>
            <a:r>
              <a:rPr sz="2400" spc="-20" dirty="0">
                <a:latin typeface="Calibri"/>
                <a:cs typeface="Calibri"/>
              </a:rPr>
              <a:t>cost</a:t>
            </a:r>
            <a:endParaRPr sz="2400" dirty="0">
              <a:latin typeface="Calibri"/>
              <a:cs typeface="Calibri"/>
            </a:endParaRPr>
          </a:p>
          <a:p>
            <a:pPr marL="698500">
              <a:lnSpc>
                <a:spcPts val="2735"/>
              </a:lnSpc>
            </a:pPr>
            <a:r>
              <a:rPr sz="2400" spc="-15" dirty="0">
                <a:latin typeface="Calibri"/>
                <a:cs typeface="Calibri"/>
              </a:rPr>
              <a:t>from</a:t>
            </a:r>
            <a:r>
              <a:rPr sz="2400" spc="-25" dirty="0">
                <a:latin typeface="Calibri"/>
                <a:cs typeface="Calibri"/>
              </a:rPr>
              <a:t> </a:t>
            </a:r>
            <a:r>
              <a:rPr sz="2400" dirty="0">
                <a:latin typeface="Calibri"/>
                <a:cs typeface="Calibri"/>
              </a:rPr>
              <a:t>the </a:t>
            </a:r>
            <a:r>
              <a:rPr sz="2400" spc="-10" dirty="0">
                <a:latin typeface="Calibri"/>
                <a:cs typeface="Calibri"/>
              </a:rPr>
              <a:t>current</a:t>
            </a:r>
            <a:r>
              <a:rPr sz="2400" spc="-20" dirty="0">
                <a:latin typeface="Calibri"/>
                <a:cs typeface="Calibri"/>
              </a:rPr>
              <a:t> </a:t>
            </a:r>
            <a:r>
              <a:rPr sz="2400" spc="-25" dirty="0">
                <a:latin typeface="Calibri"/>
                <a:cs typeface="Calibri"/>
              </a:rPr>
              <a:t>state</a:t>
            </a:r>
            <a:r>
              <a:rPr sz="2400" spc="-10" dirty="0">
                <a:latin typeface="Calibri"/>
                <a:cs typeface="Calibri"/>
              </a:rPr>
              <a:t> </a:t>
            </a:r>
            <a:r>
              <a:rPr sz="2400" spc="-15" dirty="0">
                <a:latin typeface="Calibri"/>
                <a:cs typeface="Calibri"/>
              </a:rPr>
              <a:t>to</a:t>
            </a:r>
            <a:r>
              <a:rPr sz="2400" spc="-25"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goal</a:t>
            </a:r>
            <a:r>
              <a:rPr sz="2400" spc="-20" dirty="0">
                <a:latin typeface="Calibri"/>
                <a:cs typeface="Calibri"/>
              </a:rPr>
              <a:t> </a:t>
            </a:r>
            <a:r>
              <a:rPr sz="2400" spc="-25" dirty="0">
                <a:latin typeface="Calibri"/>
                <a:cs typeface="Calibri"/>
              </a:rPr>
              <a:t>state</a:t>
            </a:r>
            <a:endParaRPr sz="2400" dirty="0">
              <a:latin typeface="Calibri"/>
              <a:cs typeface="Calibri"/>
            </a:endParaRPr>
          </a:p>
          <a:p>
            <a:pPr marL="241300" indent="-228600">
              <a:lnSpc>
                <a:spcPct val="100000"/>
              </a:lnSpc>
              <a:spcBef>
                <a:spcPts val="640"/>
              </a:spcBef>
              <a:buFont typeface="Arial MT"/>
              <a:buChar char="•"/>
              <a:tabLst>
                <a:tab pos="241300" algn="l"/>
              </a:tabLst>
            </a:pPr>
            <a:r>
              <a:rPr sz="2800" b="1" spc="-5" dirty="0">
                <a:latin typeface="Calibri"/>
                <a:cs typeface="Calibri"/>
              </a:rPr>
              <a:t>Time</a:t>
            </a:r>
            <a:r>
              <a:rPr sz="2800" b="1" dirty="0">
                <a:latin typeface="Calibri"/>
                <a:cs typeface="Calibri"/>
              </a:rPr>
              <a:t> </a:t>
            </a:r>
            <a:r>
              <a:rPr sz="2800" b="1" spc="-10" dirty="0">
                <a:latin typeface="Calibri"/>
                <a:cs typeface="Calibri"/>
              </a:rPr>
              <a:t>Complexity</a:t>
            </a:r>
            <a:r>
              <a:rPr sz="2800" spc="-10" dirty="0">
                <a:latin typeface="Calibri"/>
                <a:cs typeface="Calibri"/>
              </a:rPr>
              <a:t>:</a:t>
            </a:r>
            <a:r>
              <a:rPr sz="2800" spc="20" dirty="0">
                <a:latin typeface="Calibri"/>
                <a:cs typeface="Calibri"/>
              </a:rPr>
              <a:t> </a:t>
            </a:r>
            <a:r>
              <a:rPr sz="2800" spc="-5" dirty="0">
                <a:latin typeface="Calibri"/>
                <a:cs typeface="Calibri"/>
              </a:rPr>
              <a:t>Time</a:t>
            </a:r>
            <a:r>
              <a:rPr sz="2800" dirty="0">
                <a:latin typeface="Calibri"/>
                <a:cs typeface="Calibri"/>
              </a:rPr>
              <a:t> </a:t>
            </a:r>
            <a:r>
              <a:rPr sz="2800" spc="-25" dirty="0">
                <a:latin typeface="Calibri"/>
                <a:cs typeface="Calibri"/>
              </a:rPr>
              <a:t>taken</a:t>
            </a:r>
            <a:r>
              <a:rPr sz="2800" spc="15"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find</a:t>
            </a:r>
            <a:r>
              <a:rPr sz="2800" spc="20" dirty="0">
                <a:latin typeface="Calibri"/>
                <a:cs typeface="Calibri"/>
              </a:rPr>
              <a:t> </a:t>
            </a:r>
            <a:r>
              <a:rPr sz="2800" spc="-10" dirty="0">
                <a:latin typeface="Calibri"/>
                <a:cs typeface="Calibri"/>
              </a:rPr>
              <a:t>out</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solution</a:t>
            </a:r>
            <a:endParaRPr sz="2800" dirty="0">
              <a:latin typeface="Calibri"/>
              <a:cs typeface="Calibri"/>
            </a:endParaRPr>
          </a:p>
          <a:p>
            <a:pPr marL="241300" marR="762000" indent="-228600">
              <a:lnSpc>
                <a:spcPts val="3030"/>
              </a:lnSpc>
              <a:spcBef>
                <a:spcPts val="1040"/>
              </a:spcBef>
              <a:buFont typeface="Arial MT"/>
              <a:buChar char="•"/>
              <a:tabLst>
                <a:tab pos="241300" algn="l"/>
              </a:tabLst>
            </a:pPr>
            <a:r>
              <a:rPr sz="2800" b="1" spc="-5" dirty="0">
                <a:latin typeface="Calibri"/>
                <a:cs typeface="Calibri"/>
              </a:rPr>
              <a:t>Space</a:t>
            </a:r>
            <a:r>
              <a:rPr sz="2800" b="1" dirty="0">
                <a:latin typeface="Calibri"/>
                <a:cs typeface="Calibri"/>
              </a:rPr>
              <a:t> </a:t>
            </a:r>
            <a:r>
              <a:rPr sz="2800" b="1" spc="-10" dirty="0">
                <a:latin typeface="Calibri"/>
                <a:cs typeface="Calibri"/>
              </a:rPr>
              <a:t>Complexity</a:t>
            </a:r>
            <a:r>
              <a:rPr sz="2800" spc="-10" dirty="0">
                <a:latin typeface="Calibri"/>
                <a:cs typeface="Calibri"/>
              </a:rPr>
              <a:t>:</a:t>
            </a:r>
            <a:r>
              <a:rPr sz="2800" spc="25" dirty="0">
                <a:latin typeface="Calibri"/>
                <a:cs typeface="Calibri"/>
              </a:rPr>
              <a:t> </a:t>
            </a:r>
            <a:r>
              <a:rPr sz="2800" spc="-5" dirty="0">
                <a:latin typeface="Calibri"/>
                <a:cs typeface="Calibri"/>
              </a:rPr>
              <a:t>Amount</a:t>
            </a:r>
            <a:r>
              <a:rPr sz="2800" spc="3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Memory</a:t>
            </a:r>
            <a:r>
              <a:rPr sz="2800" spc="10" dirty="0">
                <a:latin typeface="Calibri"/>
                <a:cs typeface="Calibri"/>
              </a:rPr>
              <a:t> </a:t>
            </a:r>
            <a:r>
              <a:rPr sz="2800" spc="-15" dirty="0">
                <a:latin typeface="Calibri"/>
                <a:cs typeface="Calibri"/>
              </a:rPr>
              <a:t>required</a:t>
            </a:r>
            <a:r>
              <a:rPr sz="2800" spc="35" dirty="0">
                <a:latin typeface="Calibri"/>
                <a:cs typeface="Calibri"/>
              </a:rPr>
              <a:t> </a:t>
            </a:r>
            <a:r>
              <a:rPr sz="2800" spc="-15" dirty="0">
                <a:latin typeface="Calibri"/>
                <a:cs typeface="Calibri"/>
              </a:rPr>
              <a:t>to</a:t>
            </a:r>
            <a:r>
              <a:rPr sz="2800" spc="5" dirty="0">
                <a:latin typeface="Calibri"/>
                <a:cs typeface="Calibri"/>
              </a:rPr>
              <a:t> </a:t>
            </a:r>
            <a:r>
              <a:rPr sz="2800" spc="-15" dirty="0">
                <a:latin typeface="Calibri"/>
                <a:cs typeface="Calibri"/>
              </a:rPr>
              <a:t>perform</a:t>
            </a:r>
            <a:r>
              <a:rPr sz="2800" spc="10" dirty="0">
                <a:latin typeface="Calibri"/>
                <a:cs typeface="Calibri"/>
              </a:rPr>
              <a:t> </a:t>
            </a:r>
            <a:r>
              <a:rPr sz="2800" spc="-5" dirty="0">
                <a:latin typeface="Calibri"/>
                <a:cs typeface="Calibri"/>
              </a:rPr>
              <a:t>the </a:t>
            </a:r>
            <a:r>
              <a:rPr sz="2800" spc="-620" dirty="0">
                <a:latin typeface="Calibri"/>
                <a:cs typeface="Calibri"/>
              </a:rPr>
              <a:t> </a:t>
            </a:r>
            <a:r>
              <a:rPr sz="2800" spc="-10" dirty="0">
                <a:latin typeface="Calibri"/>
                <a:cs typeface="Calibri"/>
              </a:rPr>
              <a:t>searching</a:t>
            </a:r>
            <a:endParaRPr sz="2800" dirty="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749040" cy="697230"/>
          </a:xfrm>
          <a:prstGeom prst="rect">
            <a:avLst/>
          </a:prstGeom>
        </p:spPr>
        <p:txBody>
          <a:bodyPr vert="horz" wrap="square" lIns="0" tIns="13335" rIns="0" bIns="0" rtlCol="0">
            <a:spAutoFit/>
          </a:bodyPr>
          <a:lstStyle/>
          <a:p>
            <a:pPr marL="12700">
              <a:lnSpc>
                <a:spcPct val="100000"/>
              </a:lnSpc>
              <a:spcBef>
                <a:spcPts val="105"/>
              </a:spcBef>
            </a:pPr>
            <a:r>
              <a:rPr spc="-10" dirty="0"/>
              <a:t>Searching:</a:t>
            </a:r>
            <a:r>
              <a:rPr spc="-65" dirty="0"/>
              <a:t> </a:t>
            </a:r>
            <a:r>
              <a:rPr spc="-50" dirty="0"/>
              <a:t>Types</a:t>
            </a:r>
          </a:p>
        </p:txBody>
      </p:sp>
      <p:sp>
        <p:nvSpPr>
          <p:cNvPr id="3" name="object 3"/>
          <p:cNvSpPr txBox="1"/>
          <p:nvPr/>
        </p:nvSpPr>
        <p:spPr>
          <a:xfrm>
            <a:off x="916939" y="1706841"/>
            <a:ext cx="5438140" cy="105092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Blind</a:t>
            </a:r>
            <a:r>
              <a:rPr sz="2800" spc="10" dirty="0">
                <a:latin typeface="Calibri"/>
                <a:cs typeface="Calibri"/>
              </a:rPr>
              <a:t> </a:t>
            </a:r>
            <a:r>
              <a:rPr sz="2800" spc="-10" dirty="0">
                <a:latin typeface="Calibri"/>
                <a:cs typeface="Calibri"/>
              </a:rPr>
              <a:t>Search</a:t>
            </a:r>
            <a:r>
              <a:rPr sz="2800" spc="5" dirty="0">
                <a:latin typeface="Calibri"/>
                <a:cs typeface="Calibri"/>
              </a:rPr>
              <a:t> </a:t>
            </a:r>
            <a:r>
              <a:rPr sz="2800" spc="-5" dirty="0">
                <a:latin typeface="Calibri"/>
                <a:cs typeface="Calibri"/>
              </a:rPr>
              <a:t>or</a:t>
            </a:r>
            <a:r>
              <a:rPr sz="2800" spc="-15" dirty="0">
                <a:latin typeface="Calibri"/>
                <a:cs typeface="Calibri"/>
              </a:rPr>
              <a:t> Uninformed</a:t>
            </a:r>
            <a:r>
              <a:rPr sz="2800" spc="20" dirty="0">
                <a:latin typeface="Calibri"/>
                <a:cs typeface="Calibri"/>
              </a:rPr>
              <a:t> </a:t>
            </a:r>
            <a:r>
              <a:rPr sz="2800" spc="-10" dirty="0">
                <a:latin typeface="Calibri"/>
                <a:cs typeface="Calibri"/>
              </a:rPr>
              <a:t>Search</a:t>
            </a:r>
            <a:endParaRPr sz="2800">
              <a:latin typeface="Calibri"/>
              <a:cs typeface="Calibri"/>
            </a:endParaRPr>
          </a:p>
          <a:p>
            <a:pPr marL="241300" indent="-228600">
              <a:lnSpc>
                <a:spcPct val="100000"/>
              </a:lnSpc>
              <a:spcBef>
                <a:spcPts val="675"/>
              </a:spcBef>
              <a:buFont typeface="Arial MT"/>
              <a:buChar char="•"/>
              <a:tabLst>
                <a:tab pos="241300" algn="l"/>
              </a:tabLst>
            </a:pPr>
            <a:r>
              <a:rPr sz="2800" spc="-15" dirty="0">
                <a:latin typeface="Calibri"/>
                <a:cs typeface="Calibri"/>
              </a:rPr>
              <a:t>Informed</a:t>
            </a:r>
            <a:r>
              <a:rPr sz="2800" spc="-5" dirty="0">
                <a:latin typeface="Calibri"/>
                <a:cs typeface="Calibri"/>
              </a:rPr>
              <a:t> </a:t>
            </a:r>
            <a:r>
              <a:rPr sz="2800" spc="-10" dirty="0">
                <a:latin typeface="Calibri"/>
                <a:cs typeface="Calibri"/>
              </a:rPr>
              <a:t>Search</a:t>
            </a:r>
            <a:r>
              <a:rPr sz="2800" spc="-5" dirty="0">
                <a:latin typeface="Calibri"/>
                <a:cs typeface="Calibri"/>
              </a:rPr>
              <a:t> or</a:t>
            </a:r>
            <a:r>
              <a:rPr sz="2800" dirty="0">
                <a:latin typeface="Calibri"/>
                <a:cs typeface="Calibri"/>
              </a:rPr>
              <a:t> </a:t>
            </a:r>
            <a:r>
              <a:rPr sz="2800" spc="-10" dirty="0">
                <a:latin typeface="Calibri"/>
                <a:cs typeface="Calibri"/>
              </a:rPr>
              <a:t>Heuristic</a:t>
            </a:r>
            <a:r>
              <a:rPr sz="2800" spc="25" dirty="0">
                <a:latin typeface="Calibri"/>
                <a:cs typeface="Calibri"/>
              </a:rPr>
              <a:t> </a:t>
            </a:r>
            <a:r>
              <a:rPr sz="2800" spc="-10" dirty="0">
                <a:latin typeface="Calibri"/>
                <a:cs typeface="Calibri"/>
              </a:rPr>
              <a:t>Search</a:t>
            </a:r>
            <a:endParaRPr sz="2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401559" cy="697230"/>
          </a:xfrm>
          <a:prstGeom prst="rect">
            <a:avLst/>
          </a:prstGeom>
        </p:spPr>
        <p:txBody>
          <a:bodyPr vert="horz" wrap="square" lIns="0" tIns="13335" rIns="0" bIns="0" rtlCol="0">
            <a:spAutoFit/>
          </a:bodyPr>
          <a:lstStyle/>
          <a:p>
            <a:pPr marL="12700">
              <a:lnSpc>
                <a:spcPct val="100000"/>
              </a:lnSpc>
              <a:spcBef>
                <a:spcPts val="105"/>
              </a:spcBef>
            </a:pPr>
            <a:r>
              <a:rPr b="1" spc="-10" dirty="0"/>
              <a:t>Searching:</a:t>
            </a:r>
            <a:r>
              <a:rPr b="1" spc="-40" dirty="0"/>
              <a:t> </a:t>
            </a:r>
            <a:r>
              <a:rPr b="1" spc="-20" dirty="0"/>
              <a:t>Problem</a:t>
            </a:r>
            <a:r>
              <a:rPr b="1" spc="-10" dirty="0"/>
              <a:t> Classification</a:t>
            </a:r>
          </a:p>
        </p:txBody>
      </p:sp>
      <p:sp>
        <p:nvSpPr>
          <p:cNvPr id="3" name="object 3"/>
          <p:cNvSpPr txBox="1"/>
          <p:nvPr/>
        </p:nvSpPr>
        <p:spPr>
          <a:xfrm>
            <a:off x="916939" y="1793189"/>
            <a:ext cx="10183495" cy="3522345"/>
          </a:xfrm>
          <a:prstGeom prst="rect">
            <a:avLst/>
          </a:prstGeom>
        </p:spPr>
        <p:txBody>
          <a:bodyPr vert="horz" wrap="square" lIns="0" tIns="60325" rIns="0" bIns="0" rtlCol="0">
            <a:spAutoFit/>
          </a:bodyPr>
          <a:lstStyle/>
          <a:p>
            <a:pPr marL="241300" marR="170815" indent="-228600">
              <a:lnSpc>
                <a:spcPts val="3030"/>
              </a:lnSpc>
              <a:spcBef>
                <a:spcPts val="475"/>
              </a:spcBef>
              <a:buFont typeface="Arial MT"/>
              <a:buChar char="•"/>
              <a:tabLst>
                <a:tab pos="241300" algn="l"/>
              </a:tabLst>
            </a:pPr>
            <a:r>
              <a:rPr sz="2800" b="1" spc="-10" dirty="0">
                <a:latin typeface="Calibri"/>
                <a:cs typeface="Calibri"/>
              </a:rPr>
              <a:t>Ignorable:</a:t>
            </a:r>
            <a:r>
              <a:rPr sz="2800" spc="15" dirty="0">
                <a:latin typeface="Calibri"/>
                <a:cs typeface="Calibri"/>
              </a:rPr>
              <a:t> </a:t>
            </a:r>
            <a:r>
              <a:rPr sz="2800" spc="-10" dirty="0">
                <a:latin typeface="Calibri"/>
                <a:cs typeface="Calibri"/>
              </a:rPr>
              <a:t>Intermediate</a:t>
            </a:r>
            <a:r>
              <a:rPr sz="2800" spc="5" dirty="0">
                <a:latin typeface="Calibri"/>
                <a:cs typeface="Calibri"/>
              </a:rPr>
              <a:t> </a:t>
            </a:r>
            <a:r>
              <a:rPr sz="2800" spc="-5" dirty="0">
                <a:latin typeface="Calibri"/>
                <a:cs typeface="Calibri"/>
              </a:rPr>
              <a:t>actions</a:t>
            </a:r>
            <a:r>
              <a:rPr sz="2800" spc="20" dirty="0">
                <a:latin typeface="Calibri"/>
                <a:cs typeface="Calibri"/>
              </a:rPr>
              <a:t> </a:t>
            </a:r>
            <a:r>
              <a:rPr sz="2800" spc="-10" dirty="0">
                <a:latin typeface="Calibri"/>
                <a:cs typeface="Calibri"/>
              </a:rPr>
              <a:t>can</a:t>
            </a:r>
            <a:r>
              <a:rPr sz="2800" spc="20" dirty="0">
                <a:latin typeface="Calibri"/>
                <a:cs typeface="Calibri"/>
              </a:rPr>
              <a:t> </a:t>
            </a:r>
            <a:r>
              <a:rPr sz="2800" spc="-5" dirty="0">
                <a:latin typeface="Calibri"/>
                <a:cs typeface="Calibri"/>
              </a:rPr>
              <a:t>be</a:t>
            </a:r>
            <a:r>
              <a:rPr sz="2800" spc="15" dirty="0">
                <a:latin typeface="Calibri"/>
                <a:cs typeface="Calibri"/>
              </a:rPr>
              <a:t> </a:t>
            </a:r>
            <a:r>
              <a:rPr sz="2800" spc="-10" dirty="0">
                <a:latin typeface="Calibri"/>
                <a:cs typeface="Calibri"/>
              </a:rPr>
              <a:t>ignored.</a:t>
            </a:r>
            <a:r>
              <a:rPr sz="2800" spc="25" dirty="0">
                <a:latin typeface="Calibri"/>
                <a:cs typeface="Calibri"/>
              </a:rPr>
              <a:t> </a:t>
            </a:r>
            <a:r>
              <a:rPr sz="2800" spc="-10" dirty="0">
                <a:latin typeface="Calibri"/>
                <a:cs typeface="Calibri"/>
              </a:rPr>
              <a:t>Example:</a:t>
            </a:r>
            <a:r>
              <a:rPr sz="2800" spc="10" dirty="0">
                <a:latin typeface="Calibri"/>
                <a:cs typeface="Calibri"/>
              </a:rPr>
              <a:t> </a:t>
            </a:r>
            <a:r>
              <a:rPr sz="2800" spc="-30" dirty="0">
                <a:latin typeface="Calibri"/>
                <a:cs typeface="Calibri"/>
              </a:rPr>
              <a:t>Water</a:t>
            </a:r>
            <a:r>
              <a:rPr sz="2800" spc="5" dirty="0">
                <a:latin typeface="Calibri"/>
                <a:cs typeface="Calibri"/>
              </a:rPr>
              <a:t> </a:t>
            </a:r>
            <a:r>
              <a:rPr sz="2800" spc="-10" dirty="0">
                <a:latin typeface="Calibri"/>
                <a:cs typeface="Calibri"/>
              </a:rPr>
              <a:t>Jug </a:t>
            </a:r>
            <a:r>
              <a:rPr sz="2800" spc="-615" dirty="0">
                <a:latin typeface="Calibri"/>
                <a:cs typeface="Calibri"/>
              </a:rPr>
              <a:t> </a:t>
            </a:r>
            <a:r>
              <a:rPr sz="2800" spc="-15" dirty="0">
                <a:latin typeface="Calibri"/>
                <a:cs typeface="Calibri"/>
              </a:rPr>
              <a:t>Problem</a:t>
            </a:r>
            <a:endParaRPr sz="2800" dirty="0">
              <a:latin typeface="Calibri"/>
              <a:cs typeface="Calibri"/>
            </a:endParaRPr>
          </a:p>
          <a:p>
            <a:pPr marL="241300" marR="5080" indent="-228600">
              <a:lnSpc>
                <a:spcPts val="3020"/>
              </a:lnSpc>
              <a:spcBef>
                <a:spcPts val="1005"/>
              </a:spcBef>
              <a:buFont typeface="Arial MT"/>
              <a:buChar char="•"/>
              <a:tabLst>
                <a:tab pos="241300" algn="l"/>
              </a:tabLst>
            </a:pPr>
            <a:r>
              <a:rPr sz="2800" b="1" spc="-15" dirty="0">
                <a:latin typeface="Calibri"/>
                <a:cs typeface="Calibri"/>
              </a:rPr>
              <a:t>Recoverable:</a:t>
            </a:r>
            <a:r>
              <a:rPr sz="2800" spc="-5" dirty="0">
                <a:latin typeface="Calibri"/>
                <a:cs typeface="Calibri"/>
              </a:rPr>
              <a:t> The</a:t>
            </a:r>
            <a:r>
              <a:rPr sz="2800" spc="15" dirty="0">
                <a:latin typeface="Calibri"/>
                <a:cs typeface="Calibri"/>
              </a:rPr>
              <a:t> </a:t>
            </a:r>
            <a:r>
              <a:rPr sz="2800" spc="-5" dirty="0">
                <a:latin typeface="Calibri"/>
                <a:cs typeface="Calibri"/>
              </a:rPr>
              <a:t>actions</a:t>
            </a:r>
            <a:r>
              <a:rPr sz="2800" spc="15" dirty="0">
                <a:latin typeface="Calibri"/>
                <a:cs typeface="Calibri"/>
              </a:rPr>
              <a:t> </a:t>
            </a:r>
            <a:r>
              <a:rPr sz="2800" spc="-10" dirty="0">
                <a:latin typeface="Calibri"/>
                <a:cs typeface="Calibri"/>
              </a:rPr>
              <a:t>can</a:t>
            </a:r>
            <a:r>
              <a:rPr sz="2800" spc="10" dirty="0">
                <a:latin typeface="Calibri"/>
                <a:cs typeface="Calibri"/>
              </a:rPr>
              <a:t> </a:t>
            </a:r>
            <a:r>
              <a:rPr sz="2800" spc="-5" dirty="0">
                <a:latin typeface="Calibri"/>
                <a:cs typeface="Calibri"/>
              </a:rPr>
              <a:t>be</a:t>
            </a:r>
            <a:r>
              <a:rPr sz="2800" spc="15" dirty="0">
                <a:latin typeface="Calibri"/>
                <a:cs typeface="Calibri"/>
              </a:rPr>
              <a:t> </a:t>
            </a:r>
            <a:r>
              <a:rPr sz="2800" spc="-10" dirty="0">
                <a:latin typeface="Calibri"/>
                <a:cs typeface="Calibri"/>
              </a:rPr>
              <a:t>implemented</a:t>
            </a:r>
            <a:r>
              <a:rPr sz="2800" spc="25" dirty="0">
                <a:latin typeface="Calibri"/>
                <a:cs typeface="Calibri"/>
              </a:rPr>
              <a:t> </a:t>
            </a:r>
            <a:r>
              <a:rPr sz="2800" spc="-15" dirty="0">
                <a:latin typeface="Calibri"/>
                <a:cs typeface="Calibri"/>
              </a:rPr>
              <a:t>to</a:t>
            </a:r>
            <a:r>
              <a:rPr sz="2800" spc="10" dirty="0">
                <a:latin typeface="Calibri"/>
                <a:cs typeface="Calibri"/>
              </a:rPr>
              <a:t> </a:t>
            </a:r>
            <a:r>
              <a:rPr sz="2800" spc="-15" dirty="0">
                <a:latin typeface="Calibri"/>
                <a:cs typeface="Calibri"/>
              </a:rPr>
              <a:t>go</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initial</a:t>
            </a:r>
            <a:r>
              <a:rPr sz="2800" spc="15" dirty="0">
                <a:latin typeface="Calibri"/>
                <a:cs typeface="Calibri"/>
              </a:rPr>
              <a:t> </a:t>
            </a:r>
            <a:r>
              <a:rPr sz="2800" spc="-20" dirty="0">
                <a:latin typeface="Calibri"/>
                <a:cs typeface="Calibri"/>
              </a:rPr>
              <a:t>states. </a:t>
            </a:r>
            <a:r>
              <a:rPr sz="2800" spc="-620" dirty="0">
                <a:latin typeface="Calibri"/>
                <a:cs typeface="Calibri"/>
              </a:rPr>
              <a:t> </a:t>
            </a:r>
            <a:r>
              <a:rPr sz="2800" spc="-10" dirty="0">
                <a:latin typeface="Calibri"/>
                <a:cs typeface="Calibri"/>
              </a:rPr>
              <a:t>Example:</a:t>
            </a:r>
            <a:r>
              <a:rPr sz="2800" dirty="0">
                <a:latin typeface="Calibri"/>
                <a:cs typeface="Calibri"/>
              </a:rPr>
              <a:t> </a:t>
            </a:r>
            <a:r>
              <a:rPr sz="2800" spc="-5" dirty="0">
                <a:latin typeface="Calibri"/>
                <a:cs typeface="Calibri"/>
              </a:rPr>
              <a:t>8</a:t>
            </a:r>
            <a:r>
              <a:rPr sz="2800" dirty="0">
                <a:latin typeface="Calibri"/>
                <a:cs typeface="Calibri"/>
              </a:rPr>
              <a:t> </a:t>
            </a:r>
            <a:r>
              <a:rPr sz="2800" spc="-5" dirty="0">
                <a:latin typeface="Calibri"/>
                <a:cs typeface="Calibri"/>
              </a:rPr>
              <a:t>Puzzle</a:t>
            </a:r>
            <a:r>
              <a:rPr sz="2800" spc="10" dirty="0">
                <a:latin typeface="Calibri"/>
                <a:cs typeface="Calibri"/>
              </a:rPr>
              <a:t> </a:t>
            </a:r>
            <a:r>
              <a:rPr sz="2800" spc="-5" dirty="0">
                <a:latin typeface="Calibri"/>
                <a:cs typeface="Calibri"/>
              </a:rPr>
              <a:t>Games</a:t>
            </a:r>
            <a:endParaRPr sz="2800" dirty="0">
              <a:latin typeface="Calibri"/>
              <a:cs typeface="Calibri"/>
            </a:endParaRPr>
          </a:p>
          <a:p>
            <a:pPr marL="241300" marR="1100455" indent="-228600">
              <a:lnSpc>
                <a:spcPts val="3020"/>
              </a:lnSpc>
              <a:spcBef>
                <a:spcPts val="1005"/>
              </a:spcBef>
              <a:buFont typeface="Arial MT"/>
              <a:buChar char="•"/>
              <a:tabLst>
                <a:tab pos="241300" algn="l"/>
              </a:tabLst>
            </a:pPr>
            <a:r>
              <a:rPr sz="2800" b="1" spc="-15" dirty="0">
                <a:latin typeface="Calibri"/>
                <a:cs typeface="Calibri"/>
              </a:rPr>
              <a:t>Irrecoverable:</a:t>
            </a:r>
            <a:r>
              <a:rPr sz="2800" spc="-5" dirty="0">
                <a:latin typeface="Calibri"/>
                <a:cs typeface="Calibri"/>
              </a:rPr>
              <a:t> The</a:t>
            </a:r>
            <a:r>
              <a:rPr sz="2800" dirty="0">
                <a:latin typeface="Calibri"/>
                <a:cs typeface="Calibri"/>
              </a:rPr>
              <a:t> actions</a:t>
            </a:r>
            <a:r>
              <a:rPr sz="2800" spc="30" dirty="0">
                <a:latin typeface="Calibri"/>
                <a:cs typeface="Calibri"/>
              </a:rPr>
              <a:t> </a:t>
            </a:r>
            <a:r>
              <a:rPr sz="2800" spc="-10" dirty="0">
                <a:latin typeface="Calibri"/>
                <a:cs typeface="Calibri"/>
              </a:rPr>
              <a:t>can’t</a:t>
            </a:r>
            <a:r>
              <a:rPr sz="2800" spc="25" dirty="0">
                <a:latin typeface="Calibri"/>
                <a:cs typeface="Calibri"/>
              </a:rPr>
              <a:t> </a:t>
            </a:r>
            <a:r>
              <a:rPr sz="2800" spc="-5" dirty="0">
                <a:latin typeface="Calibri"/>
                <a:cs typeface="Calibri"/>
              </a:rPr>
              <a:t>be </a:t>
            </a:r>
            <a:r>
              <a:rPr sz="2800" spc="-10" dirty="0">
                <a:latin typeface="Calibri"/>
                <a:cs typeface="Calibri"/>
              </a:rPr>
              <a:t>implemented</a:t>
            </a:r>
            <a:r>
              <a:rPr sz="2800" spc="45"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reach</a:t>
            </a:r>
            <a:r>
              <a:rPr sz="2800" spc="25" dirty="0">
                <a:latin typeface="Calibri"/>
                <a:cs typeface="Calibri"/>
              </a:rPr>
              <a:t> </a:t>
            </a:r>
            <a:r>
              <a:rPr sz="2800" spc="-5" dirty="0">
                <a:latin typeface="Calibri"/>
                <a:cs typeface="Calibri"/>
              </a:rPr>
              <a:t>the </a:t>
            </a:r>
            <a:r>
              <a:rPr sz="2800" spc="-620" dirty="0">
                <a:latin typeface="Calibri"/>
                <a:cs typeface="Calibri"/>
              </a:rPr>
              <a:t> </a:t>
            </a:r>
            <a:r>
              <a:rPr sz="2800" spc="-10" dirty="0">
                <a:latin typeface="Calibri"/>
                <a:cs typeface="Calibri"/>
              </a:rPr>
              <a:t>previous</a:t>
            </a:r>
            <a:r>
              <a:rPr sz="2800" spc="35" dirty="0">
                <a:latin typeface="Calibri"/>
                <a:cs typeface="Calibri"/>
              </a:rPr>
              <a:t> </a:t>
            </a:r>
            <a:r>
              <a:rPr sz="2800" spc="-25" dirty="0">
                <a:latin typeface="Calibri"/>
                <a:cs typeface="Calibri"/>
              </a:rPr>
              <a:t>state.</a:t>
            </a:r>
            <a:r>
              <a:rPr sz="2800" spc="10" dirty="0">
                <a:latin typeface="Calibri"/>
                <a:cs typeface="Calibri"/>
              </a:rPr>
              <a:t> </a:t>
            </a:r>
            <a:r>
              <a:rPr sz="2800" spc="-10" dirty="0">
                <a:latin typeface="Calibri"/>
                <a:cs typeface="Calibri"/>
              </a:rPr>
              <a:t>Example:</a:t>
            </a:r>
            <a:r>
              <a:rPr sz="2800" spc="15" dirty="0">
                <a:latin typeface="Calibri"/>
                <a:cs typeface="Calibri"/>
              </a:rPr>
              <a:t> </a:t>
            </a:r>
            <a:r>
              <a:rPr sz="2800" spc="-55" dirty="0">
                <a:latin typeface="Calibri"/>
                <a:cs typeface="Calibri"/>
              </a:rPr>
              <a:t>Tic-Tac-Toe</a:t>
            </a:r>
            <a:endParaRPr sz="2800" dirty="0">
              <a:latin typeface="Calibri"/>
              <a:cs typeface="Calibri"/>
            </a:endParaRPr>
          </a:p>
          <a:p>
            <a:pPr marL="241300" marR="1099185" indent="-228600">
              <a:lnSpc>
                <a:spcPts val="3020"/>
              </a:lnSpc>
              <a:spcBef>
                <a:spcPts val="1010"/>
              </a:spcBef>
              <a:buFont typeface="Arial MT"/>
              <a:buChar char="•"/>
              <a:tabLst>
                <a:tab pos="241300" algn="l"/>
              </a:tabLst>
            </a:pPr>
            <a:r>
              <a:rPr sz="2800" b="1" spc="-10" dirty="0">
                <a:latin typeface="Calibri"/>
                <a:cs typeface="Calibri"/>
              </a:rPr>
              <a:t>Decomposable:</a:t>
            </a:r>
            <a:r>
              <a:rPr sz="2800" spc="45" dirty="0">
                <a:latin typeface="Calibri"/>
                <a:cs typeface="Calibri"/>
              </a:rPr>
              <a:t> </a:t>
            </a:r>
            <a:r>
              <a:rPr sz="2800" spc="-5" dirty="0">
                <a:latin typeface="Calibri"/>
                <a:cs typeface="Calibri"/>
              </a:rPr>
              <a:t>The</a:t>
            </a:r>
            <a:r>
              <a:rPr sz="2800" dirty="0">
                <a:latin typeface="Calibri"/>
                <a:cs typeface="Calibri"/>
              </a:rPr>
              <a:t> </a:t>
            </a:r>
            <a:r>
              <a:rPr sz="2800" spc="-15" dirty="0">
                <a:latin typeface="Calibri"/>
                <a:cs typeface="Calibri"/>
              </a:rPr>
              <a:t>problem</a:t>
            </a:r>
            <a:r>
              <a:rPr sz="2800" spc="40" dirty="0">
                <a:latin typeface="Calibri"/>
                <a:cs typeface="Calibri"/>
              </a:rPr>
              <a:t> </a:t>
            </a:r>
            <a:r>
              <a:rPr sz="2800" spc="-10" dirty="0">
                <a:latin typeface="Calibri"/>
                <a:cs typeface="Calibri"/>
              </a:rPr>
              <a:t>can</a:t>
            </a:r>
            <a:r>
              <a:rPr sz="2800" spc="10" dirty="0">
                <a:latin typeface="Calibri"/>
                <a:cs typeface="Calibri"/>
              </a:rPr>
              <a:t> </a:t>
            </a:r>
            <a:r>
              <a:rPr sz="2800" spc="-5" dirty="0">
                <a:latin typeface="Calibri"/>
                <a:cs typeface="Calibri"/>
              </a:rPr>
              <a:t>be</a:t>
            </a:r>
            <a:r>
              <a:rPr sz="2800" spc="15" dirty="0">
                <a:latin typeface="Calibri"/>
                <a:cs typeface="Calibri"/>
              </a:rPr>
              <a:t> </a:t>
            </a:r>
            <a:r>
              <a:rPr sz="2800" spc="-30" dirty="0">
                <a:latin typeface="Calibri"/>
                <a:cs typeface="Calibri"/>
              </a:rPr>
              <a:t>broken</a:t>
            </a:r>
            <a:r>
              <a:rPr sz="2800" spc="30" dirty="0">
                <a:latin typeface="Calibri"/>
                <a:cs typeface="Calibri"/>
              </a:rPr>
              <a:t> </a:t>
            </a:r>
            <a:r>
              <a:rPr sz="2800" spc="-20" dirty="0">
                <a:latin typeface="Calibri"/>
                <a:cs typeface="Calibri"/>
              </a:rPr>
              <a:t>into</a:t>
            </a:r>
            <a:r>
              <a:rPr sz="2800" spc="20" dirty="0">
                <a:latin typeface="Calibri"/>
                <a:cs typeface="Calibri"/>
              </a:rPr>
              <a:t> </a:t>
            </a:r>
            <a:r>
              <a:rPr sz="2800" spc="-10" dirty="0">
                <a:latin typeface="Calibri"/>
                <a:cs typeface="Calibri"/>
              </a:rPr>
              <a:t>similar</a:t>
            </a:r>
            <a:r>
              <a:rPr sz="2800" spc="25" dirty="0">
                <a:latin typeface="Calibri"/>
                <a:cs typeface="Calibri"/>
              </a:rPr>
              <a:t> </a:t>
            </a:r>
            <a:r>
              <a:rPr sz="2800" spc="-10" dirty="0">
                <a:latin typeface="Calibri"/>
                <a:cs typeface="Calibri"/>
              </a:rPr>
              <a:t>ones. </a:t>
            </a:r>
            <a:r>
              <a:rPr sz="2800" spc="-620" dirty="0">
                <a:latin typeface="Calibri"/>
                <a:cs typeface="Calibri"/>
              </a:rPr>
              <a:t> </a:t>
            </a:r>
            <a:r>
              <a:rPr sz="2800" spc="-10" dirty="0">
                <a:latin typeface="Calibri"/>
                <a:cs typeface="Calibri"/>
              </a:rPr>
              <a:t>Example:</a:t>
            </a:r>
            <a:r>
              <a:rPr sz="2800" spc="10" dirty="0">
                <a:latin typeface="Calibri"/>
                <a:cs typeface="Calibri"/>
              </a:rPr>
              <a:t> </a:t>
            </a:r>
            <a:r>
              <a:rPr sz="2800" spc="-25" dirty="0">
                <a:latin typeface="Calibri"/>
                <a:cs typeface="Calibri"/>
              </a:rPr>
              <a:t>Bike</a:t>
            </a:r>
            <a:r>
              <a:rPr sz="2800" dirty="0">
                <a:latin typeface="Calibri"/>
                <a:cs typeface="Calibri"/>
              </a:rPr>
              <a:t> </a:t>
            </a:r>
            <a:r>
              <a:rPr sz="2800" spc="-5" dirty="0">
                <a:latin typeface="Calibri"/>
                <a:cs typeface="Calibri"/>
              </a:rPr>
              <a:t>Racing</a:t>
            </a:r>
            <a:endParaRPr sz="28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32FF-7A00-4315-B50F-39D53A29422A}"/>
              </a:ext>
            </a:extLst>
          </p:cNvPr>
          <p:cNvSpPr>
            <a:spLocks noGrp="1"/>
          </p:cNvSpPr>
          <p:nvPr>
            <p:ph type="title"/>
          </p:nvPr>
        </p:nvSpPr>
        <p:spPr>
          <a:xfrm>
            <a:off x="838200" y="365125"/>
            <a:ext cx="6736644" cy="797631"/>
          </a:xfrm>
        </p:spPr>
        <p:txBody>
          <a:bodyPr/>
          <a:lstStyle/>
          <a:p>
            <a:r>
              <a:rPr lang="en-US" b="1" dirty="0"/>
              <a:t>Uninformed Search Algorithm</a:t>
            </a:r>
          </a:p>
        </p:txBody>
      </p:sp>
      <p:sp>
        <p:nvSpPr>
          <p:cNvPr id="3" name="Content Placeholder 2">
            <a:extLst>
              <a:ext uri="{FF2B5EF4-FFF2-40B4-BE49-F238E27FC236}">
                <a16:creationId xmlns:a16="http://schemas.microsoft.com/office/drawing/2014/main" id="{0C1C239E-B2C8-4A59-AED6-06E87143104F}"/>
              </a:ext>
            </a:extLst>
          </p:cNvPr>
          <p:cNvSpPr>
            <a:spLocks noGrp="1"/>
          </p:cNvSpPr>
          <p:nvPr>
            <p:ph idx="1"/>
          </p:nvPr>
        </p:nvSpPr>
        <p:spPr>
          <a:xfrm>
            <a:off x="838200" y="1825625"/>
            <a:ext cx="10515600" cy="5320242"/>
          </a:xfrm>
        </p:spPr>
        <p:txBody>
          <a:bodyPr/>
          <a:lstStyle/>
          <a:p>
            <a:r>
              <a:rPr lang="en-US" dirty="0"/>
              <a:t>Whoever it may be (humans or AI) need to think of all possible ways to reach the goal state(if it exists) from the initial state, all the consequences, etc. </a:t>
            </a:r>
          </a:p>
          <a:p>
            <a:endParaRPr lang="en-US" dirty="0"/>
          </a:p>
          <a:p>
            <a:r>
              <a:rPr lang="en-US" dirty="0"/>
              <a:t>Similarly, AI systems use various search algorithms for a particular goal state(if it exists).</a:t>
            </a:r>
          </a:p>
          <a:p>
            <a:endParaRPr lang="en-US" dirty="0"/>
          </a:p>
          <a:p>
            <a:r>
              <a:rPr lang="en-US" dirty="0"/>
              <a:t>As the name ‘Uninformed Search’ means the machine blindly follows the algorithm regardless of whether right or wrong, efficient or in-efficient. </a:t>
            </a:r>
          </a:p>
        </p:txBody>
      </p:sp>
    </p:spTree>
    <p:extLst>
      <p:ext uri="{BB962C8B-B14F-4D97-AF65-F5344CB8AC3E}">
        <p14:creationId xmlns:p14="http://schemas.microsoft.com/office/powerpoint/2010/main" val="2666518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50315-9437-422A-A35F-A8B258CBBBEC}"/>
              </a:ext>
            </a:extLst>
          </p:cNvPr>
          <p:cNvSpPr>
            <a:spLocks noGrp="1"/>
          </p:cNvSpPr>
          <p:nvPr>
            <p:ph idx="1"/>
          </p:nvPr>
        </p:nvSpPr>
        <p:spPr>
          <a:xfrm>
            <a:off x="838200" y="801510"/>
            <a:ext cx="10515600" cy="5802489"/>
          </a:xfrm>
        </p:spPr>
        <p:txBody>
          <a:bodyPr>
            <a:normAutofit fontScale="92500"/>
          </a:bodyPr>
          <a:lstStyle/>
          <a:p>
            <a:r>
              <a:rPr lang="en-US" dirty="0"/>
              <a:t>These algorithms are brute force operations, and they don’t have extra information about the search space; the only information they have is on how to traverse or visit the nodes in the tree.</a:t>
            </a:r>
          </a:p>
          <a:p>
            <a:endParaRPr lang="en-US" dirty="0"/>
          </a:p>
          <a:p>
            <a:r>
              <a:rPr lang="en-US" dirty="0"/>
              <a:t>Thus uninformed search algorithms are also called </a:t>
            </a:r>
            <a:r>
              <a:rPr lang="en-US" b="1" dirty="0"/>
              <a:t>blind search algorithms</a:t>
            </a:r>
            <a:r>
              <a:rPr lang="en-US" dirty="0"/>
              <a:t>. </a:t>
            </a:r>
          </a:p>
          <a:p>
            <a:endParaRPr lang="en-US" dirty="0"/>
          </a:p>
          <a:p>
            <a:r>
              <a:rPr lang="en-US" dirty="0"/>
              <a:t>The search algorithm produces the search tree without using any domain knowledge, which is a brute force in nature. </a:t>
            </a:r>
          </a:p>
          <a:p>
            <a:pPr marL="0" indent="0">
              <a:buNone/>
            </a:pPr>
            <a:endParaRPr lang="en-US" dirty="0"/>
          </a:p>
          <a:p>
            <a:r>
              <a:rPr lang="en-US" dirty="0"/>
              <a:t>They don’t have any background information on how to approach the goal or whatsoever. </a:t>
            </a:r>
          </a:p>
          <a:p>
            <a:endParaRPr lang="en-US" dirty="0"/>
          </a:p>
          <a:p>
            <a:r>
              <a:rPr lang="en-US" dirty="0"/>
              <a:t>But these are the basics of search algorithms in AI.</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3299565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F68D-FB4E-41EB-ADCA-971AC303F371}"/>
              </a:ext>
            </a:extLst>
          </p:cNvPr>
          <p:cNvSpPr>
            <a:spLocks noGrp="1"/>
          </p:cNvSpPr>
          <p:nvPr>
            <p:ph type="title"/>
          </p:nvPr>
        </p:nvSpPr>
        <p:spPr>
          <a:xfrm>
            <a:off x="838200" y="365125"/>
            <a:ext cx="3970867" cy="696031"/>
          </a:xfrm>
        </p:spPr>
        <p:txBody>
          <a:bodyPr>
            <a:normAutofit/>
          </a:bodyPr>
          <a:lstStyle/>
          <a:p>
            <a:r>
              <a:rPr lang="en-US" sz="3600" b="1" dirty="0"/>
              <a:t>Breadth First Search</a:t>
            </a:r>
          </a:p>
        </p:txBody>
      </p:sp>
      <p:sp>
        <p:nvSpPr>
          <p:cNvPr id="3" name="Content Placeholder 2">
            <a:extLst>
              <a:ext uri="{FF2B5EF4-FFF2-40B4-BE49-F238E27FC236}">
                <a16:creationId xmlns:a16="http://schemas.microsoft.com/office/drawing/2014/main" id="{AA588F61-467F-496D-94CA-FA5C9B82E5A4}"/>
              </a:ext>
            </a:extLst>
          </p:cNvPr>
          <p:cNvSpPr>
            <a:spLocks noGrp="1"/>
          </p:cNvSpPr>
          <p:nvPr>
            <p:ph idx="1"/>
          </p:nvPr>
        </p:nvSpPr>
        <p:spPr>
          <a:xfrm>
            <a:off x="838200" y="1264356"/>
            <a:ext cx="10515600" cy="5350933"/>
          </a:xfrm>
        </p:spPr>
        <p:txBody>
          <a:bodyPr/>
          <a:lstStyle/>
          <a:p>
            <a:r>
              <a:rPr lang="en-US" dirty="0"/>
              <a:t>BFS is a traversing algorithm where you should start traversing from a selected node (source or starting node) and traverse the graph layer wise thus exploring the neighbor nodes (nodes which are directly connected to source node). </a:t>
            </a:r>
          </a:p>
          <a:p>
            <a:endParaRPr lang="en-US" dirty="0"/>
          </a:p>
          <a:p>
            <a:r>
              <a:rPr lang="en-US" dirty="0"/>
              <a:t>You must then move towards the next-level neighbor nodes.</a:t>
            </a:r>
          </a:p>
          <a:p>
            <a:endParaRPr lang="en-US" dirty="0"/>
          </a:p>
          <a:p>
            <a:r>
              <a:rPr lang="en-US" dirty="0"/>
              <a:t>As the name BFS suggests, you are required to traverse the graph breadthwise as follows:</a:t>
            </a:r>
          </a:p>
          <a:p>
            <a:pPr>
              <a:buFont typeface="+mj-lt"/>
              <a:buAutoNum type="arabicPeriod"/>
            </a:pPr>
            <a:r>
              <a:rPr lang="en-US" dirty="0"/>
              <a:t> First move horizontally and visit all the nodes of the current layer</a:t>
            </a:r>
          </a:p>
          <a:p>
            <a:pPr>
              <a:buFont typeface="+mj-lt"/>
              <a:buAutoNum type="arabicPeriod"/>
            </a:pPr>
            <a:r>
              <a:rPr lang="en-US" dirty="0"/>
              <a:t> Move to the next layer</a:t>
            </a:r>
          </a:p>
          <a:p>
            <a:endParaRPr lang="en-US" dirty="0"/>
          </a:p>
        </p:txBody>
      </p:sp>
    </p:spTree>
    <p:extLst>
      <p:ext uri="{BB962C8B-B14F-4D97-AF65-F5344CB8AC3E}">
        <p14:creationId xmlns:p14="http://schemas.microsoft.com/office/powerpoint/2010/main" val="510559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65B19B-DCCA-47E3-9FBA-AD5F0C5C4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4355" y="688622"/>
            <a:ext cx="9211733" cy="5791200"/>
          </a:xfrm>
          <a:prstGeom prst="rect">
            <a:avLst/>
          </a:prstGeom>
        </p:spPr>
      </p:pic>
    </p:spTree>
    <p:extLst>
      <p:ext uri="{BB962C8B-B14F-4D97-AF65-F5344CB8AC3E}">
        <p14:creationId xmlns:p14="http://schemas.microsoft.com/office/powerpoint/2010/main" val="4221921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B1F560-E4E8-4E32-BEF9-B83EE0B80D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2711" y="1783378"/>
            <a:ext cx="7969955" cy="5181866"/>
          </a:xfrm>
          <a:prstGeom prst="rect">
            <a:avLst/>
          </a:prstGeom>
        </p:spPr>
      </p:pic>
      <p:sp>
        <p:nvSpPr>
          <p:cNvPr id="5" name="TextBox 4">
            <a:extLst>
              <a:ext uri="{FF2B5EF4-FFF2-40B4-BE49-F238E27FC236}">
                <a16:creationId xmlns:a16="http://schemas.microsoft.com/office/drawing/2014/main" id="{5A43A48D-621E-4C09-BD30-86FA350DF823}"/>
              </a:ext>
            </a:extLst>
          </p:cNvPr>
          <p:cNvSpPr txBox="1"/>
          <p:nvPr/>
        </p:nvSpPr>
        <p:spPr>
          <a:xfrm>
            <a:off x="767643" y="554756"/>
            <a:ext cx="9098845" cy="369332"/>
          </a:xfrm>
          <a:prstGeom prst="rect">
            <a:avLst/>
          </a:prstGeom>
          <a:noFill/>
        </p:spPr>
        <p:txBody>
          <a:bodyPr wrap="square">
            <a:spAutoFit/>
          </a:bodyPr>
          <a:lstStyle/>
          <a:p>
            <a:r>
              <a:rPr lang="pt-BR" b="1" dirty="0"/>
              <a:t>S---&gt; A---&gt;B----&gt;C---&gt;D----&gt;G---&gt;H---&gt;E----&gt;F----&gt;I----&gt;K  </a:t>
            </a:r>
            <a:endParaRPr lang="en-US" b="1" dirty="0"/>
          </a:p>
        </p:txBody>
      </p:sp>
    </p:spTree>
    <p:extLst>
      <p:ext uri="{BB962C8B-B14F-4D97-AF65-F5344CB8AC3E}">
        <p14:creationId xmlns:p14="http://schemas.microsoft.com/office/powerpoint/2010/main" val="1694112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E6C5A4-9CB8-4B79-8AB7-99D7BC777E1E}"/>
              </a:ext>
            </a:extLst>
          </p:cNvPr>
          <p:cNvSpPr>
            <a:spLocks noGrp="1"/>
          </p:cNvSpPr>
          <p:nvPr>
            <p:ph idx="1"/>
          </p:nvPr>
        </p:nvSpPr>
        <p:spPr>
          <a:xfrm>
            <a:off x="838200" y="519289"/>
            <a:ext cx="10515600" cy="5657674"/>
          </a:xfrm>
        </p:spPr>
        <p:txBody>
          <a:bodyPr>
            <a:normAutofit lnSpcReduction="10000"/>
          </a:bodyPr>
          <a:lstStyle/>
          <a:p>
            <a:pPr marL="0" indent="0">
              <a:buNone/>
            </a:pPr>
            <a:r>
              <a:rPr lang="en-US" b="1" dirty="0"/>
              <a:t>Advantages:</a:t>
            </a:r>
            <a:endParaRPr lang="en-US" dirty="0"/>
          </a:p>
          <a:p>
            <a:pPr>
              <a:buFont typeface="Arial" panose="020B0604020202020204" pitchFamily="34" charset="0"/>
              <a:buChar char="•"/>
            </a:pPr>
            <a:r>
              <a:rPr lang="en-US" dirty="0"/>
              <a:t>BFS will provide a solution if any solution exists.</a:t>
            </a:r>
          </a:p>
          <a:p>
            <a:pPr>
              <a:buFont typeface="Arial" panose="020B0604020202020204" pitchFamily="34" charset="0"/>
              <a:buChar char="•"/>
            </a:pPr>
            <a:endParaRPr lang="en-US" dirty="0"/>
          </a:p>
          <a:p>
            <a:pPr>
              <a:buFont typeface="Arial" panose="020B0604020202020204" pitchFamily="34" charset="0"/>
              <a:buChar char="•"/>
            </a:pPr>
            <a:r>
              <a:rPr lang="en-US" dirty="0"/>
              <a:t>If there is more than one solution for a given problem, then BFS will provide the minimal solution which requires the least number of steps.</a:t>
            </a:r>
          </a:p>
          <a:p>
            <a:pPr>
              <a:buFont typeface="Arial" panose="020B0604020202020204" pitchFamily="34" charset="0"/>
              <a:buChar char="•"/>
            </a:pPr>
            <a:endParaRPr lang="en-US" dirty="0"/>
          </a:p>
          <a:p>
            <a:pPr marL="0" indent="0">
              <a:buNone/>
            </a:pPr>
            <a:r>
              <a:rPr lang="en-US" b="1" dirty="0"/>
              <a:t>Disadvantages:</a:t>
            </a:r>
            <a:endParaRPr lang="en-US" dirty="0"/>
          </a:p>
          <a:p>
            <a:pPr>
              <a:buFont typeface="Arial" panose="020B0604020202020204" pitchFamily="34" charset="0"/>
              <a:buChar char="•"/>
            </a:pPr>
            <a:r>
              <a:rPr lang="en-US" dirty="0"/>
              <a:t>It requires lots of memory since each level of the tree must be saved into memory to expand the next level.</a:t>
            </a:r>
          </a:p>
          <a:p>
            <a:pPr>
              <a:buFont typeface="Arial" panose="020B0604020202020204" pitchFamily="34" charset="0"/>
              <a:buChar char="•"/>
            </a:pPr>
            <a:endParaRPr lang="en-US" dirty="0"/>
          </a:p>
          <a:p>
            <a:pPr>
              <a:buFont typeface="Arial" panose="020B0604020202020204" pitchFamily="34" charset="0"/>
              <a:buChar char="•"/>
            </a:pPr>
            <a:r>
              <a:rPr lang="en-US" dirty="0"/>
              <a:t>BFS needs lots of time if the solution is far away from the root node.</a:t>
            </a:r>
          </a:p>
          <a:p>
            <a:endParaRPr lang="en-US" dirty="0"/>
          </a:p>
        </p:txBody>
      </p:sp>
    </p:spTree>
    <p:extLst>
      <p:ext uri="{BB962C8B-B14F-4D97-AF65-F5344CB8AC3E}">
        <p14:creationId xmlns:p14="http://schemas.microsoft.com/office/powerpoint/2010/main" val="267001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599045" cy="697230"/>
          </a:xfrm>
          <a:prstGeom prst="rect">
            <a:avLst/>
          </a:prstGeom>
        </p:spPr>
        <p:txBody>
          <a:bodyPr vert="horz" wrap="square" lIns="0" tIns="13335" rIns="0" bIns="0" rtlCol="0">
            <a:spAutoFit/>
          </a:bodyPr>
          <a:lstStyle/>
          <a:p>
            <a:pPr marL="12700">
              <a:lnSpc>
                <a:spcPct val="100000"/>
              </a:lnSpc>
              <a:spcBef>
                <a:spcPts val="105"/>
              </a:spcBef>
            </a:pPr>
            <a:r>
              <a:rPr b="1" spc="-10" dirty="0"/>
              <a:t>Breadth</a:t>
            </a:r>
            <a:r>
              <a:rPr b="1" spc="-30" dirty="0"/>
              <a:t> </a:t>
            </a:r>
            <a:r>
              <a:rPr b="1" spc="-25" dirty="0"/>
              <a:t>First</a:t>
            </a:r>
            <a:r>
              <a:rPr b="1" spc="-30" dirty="0"/>
              <a:t> </a:t>
            </a:r>
            <a:r>
              <a:rPr b="1" spc="-10" dirty="0"/>
              <a:t>Search:</a:t>
            </a:r>
            <a:r>
              <a:rPr b="1" spc="-35" dirty="0"/>
              <a:t> </a:t>
            </a:r>
            <a:r>
              <a:rPr b="1" spc="-15" dirty="0"/>
              <a:t>Four</a:t>
            </a:r>
            <a:r>
              <a:rPr b="1" spc="-20" dirty="0"/>
              <a:t> </a:t>
            </a:r>
            <a:r>
              <a:rPr b="1" spc="-10" dirty="0"/>
              <a:t>Criteria</a:t>
            </a:r>
          </a:p>
        </p:txBody>
      </p:sp>
      <p:sp>
        <p:nvSpPr>
          <p:cNvPr id="3" name="object 3"/>
          <p:cNvSpPr txBox="1"/>
          <p:nvPr/>
        </p:nvSpPr>
        <p:spPr>
          <a:xfrm>
            <a:off x="916939" y="1756565"/>
            <a:ext cx="4918075" cy="3065583"/>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Completeness</a:t>
            </a:r>
            <a:endParaRPr sz="2800" dirty="0">
              <a:latin typeface="Calibri"/>
              <a:cs typeface="Calibri"/>
            </a:endParaRPr>
          </a:p>
          <a:p>
            <a:pPr marL="698500" lvl="1" indent="-229235">
              <a:lnSpc>
                <a:spcPct val="100000"/>
              </a:lnSpc>
              <a:spcBef>
                <a:spcPts val="245"/>
              </a:spcBef>
              <a:buFont typeface="Arial MT"/>
              <a:buChar char="•"/>
              <a:tabLst>
                <a:tab pos="699135" algn="l"/>
              </a:tabLst>
            </a:pPr>
            <a:r>
              <a:rPr sz="2400" spc="-5" dirty="0">
                <a:latin typeface="Calibri"/>
                <a:cs typeface="Calibri"/>
              </a:rPr>
              <a:t>d:</a:t>
            </a:r>
            <a:r>
              <a:rPr sz="2400" spc="-30" dirty="0">
                <a:latin typeface="Calibri"/>
                <a:cs typeface="Calibri"/>
              </a:rPr>
              <a:t> </a:t>
            </a:r>
            <a:r>
              <a:rPr sz="2400" spc="-5" dirty="0">
                <a:latin typeface="Calibri"/>
                <a:cs typeface="Calibri"/>
              </a:rPr>
              <a:t>depth</a:t>
            </a:r>
            <a:r>
              <a:rPr sz="2400" spc="-10" dirty="0">
                <a:latin typeface="Calibri"/>
                <a:cs typeface="Calibri"/>
              </a:rPr>
              <a:t> </a:t>
            </a:r>
            <a:r>
              <a:rPr sz="2400" spc="-5" dirty="0">
                <a:latin typeface="Calibri"/>
                <a:cs typeface="Calibri"/>
              </a:rPr>
              <a:t>of</a:t>
            </a:r>
            <a:r>
              <a:rPr sz="2400" spc="-15" dirty="0">
                <a:latin typeface="Calibri"/>
                <a:cs typeface="Calibri"/>
              </a:rPr>
              <a:t> </a:t>
            </a:r>
            <a:r>
              <a:rPr sz="2400" dirty="0">
                <a:latin typeface="Calibri"/>
                <a:cs typeface="Calibri"/>
              </a:rPr>
              <a:t>the</a:t>
            </a:r>
            <a:r>
              <a:rPr sz="2400" spc="-25" dirty="0">
                <a:latin typeface="Calibri"/>
                <a:cs typeface="Calibri"/>
              </a:rPr>
              <a:t> </a:t>
            </a:r>
            <a:r>
              <a:rPr sz="2400" spc="-10" dirty="0">
                <a:latin typeface="Calibri"/>
                <a:cs typeface="Calibri"/>
              </a:rPr>
              <a:t>shallowest goal</a:t>
            </a:r>
            <a:endParaRPr sz="2400" dirty="0">
              <a:latin typeface="Calibri"/>
              <a:cs typeface="Calibri"/>
            </a:endParaRPr>
          </a:p>
          <a:p>
            <a:pPr marL="698500" lvl="1" indent="-229235">
              <a:lnSpc>
                <a:spcPct val="100000"/>
              </a:lnSpc>
              <a:spcBef>
                <a:spcPts val="219"/>
              </a:spcBef>
              <a:buFont typeface="Arial MT"/>
              <a:buChar char="•"/>
              <a:tabLst>
                <a:tab pos="699135" algn="l"/>
              </a:tabLst>
            </a:pPr>
            <a:r>
              <a:rPr sz="2400" spc="-5" dirty="0">
                <a:latin typeface="Calibri"/>
                <a:cs typeface="Calibri"/>
              </a:rPr>
              <a:t>b:</a:t>
            </a:r>
            <a:r>
              <a:rPr sz="2400" spc="-40" dirty="0">
                <a:latin typeface="Calibri"/>
                <a:cs typeface="Calibri"/>
              </a:rPr>
              <a:t> </a:t>
            </a:r>
            <a:r>
              <a:rPr sz="2400" spc="-10" dirty="0">
                <a:latin typeface="Calibri"/>
                <a:cs typeface="Calibri"/>
              </a:rPr>
              <a:t>branch</a:t>
            </a:r>
            <a:r>
              <a:rPr sz="2400" spc="-45" dirty="0">
                <a:latin typeface="Calibri"/>
                <a:cs typeface="Calibri"/>
              </a:rPr>
              <a:t> </a:t>
            </a:r>
            <a:r>
              <a:rPr sz="2400" spc="-15" dirty="0">
                <a:latin typeface="Calibri"/>
                <a:cs typeface="Calibri"/>
              </a:rPr>
              <a:t>factor</a:t>
            </a:r>
            <a:endParaRPr sz="2400" dirty="0">
              <a:latin typeface="Calibri"/>
              <a:cs typeface="Calibri"/>
            </a:endParaRPr>
          </a:p>
          <a:p>
            <a:pPr marL="698500" lvl="1" indent="-229235">
              <a:lnSpc>
                <a:spcPts val="2735"/>
              </a:lnSpc>
              <a:spcBef>
                <a:spcPts val="200"/>
              </a:spcBef>
              <a:buFont typeface="Arial MT"/>
              <a:buChar char="•"/>
              <a:tabLst>
                <a:tab pos="699135" algn="l"/>
              </a:tabLst>
            </a:pPr>
            <a:r>
              <a:rPr sz="2400" spc="-5" dirty="0">
                <a:latin typeface="Calibri"/>
                <a:cs typeface="Calibri"/>
              </a:rPr>
              <a:t>This </a:t>
            </a:r>
            <a:r>
              <a:rPr sz="2400" spc="-10" dirty="0">
                <a:latin typeface="Calibri"/>
                <a:cs typeface="Calibri"/>
              </a:rPr>
              <a:t>search</a:t>
            </a:r>
            <a:r>
              <a:rPr sz="2400" spc="-20" dirty="0">
                <a:latin typeface="Calibri"/>
                <a:cs typeface="Calibri"/>
              </a:rPr>
              <a:t> strategy</a:t>
            </a:r>
            <a:r>
              <a:rPr sz="2400" spc="-30" dirty="0">
                <a:latin typeface="Calibri"/>
                <a:cs typeface="Calibri"/>
              </a:rPr>
              <a:t> </a:t>
            </a:r>
            <a:r>
              <a:rPr sz="2400" spc="-5" dirty="0">
                <a:latin typeface="Calibri"/>
                <a:cs typeface="Calibri"/>
              </a:rPr>
              <a:t>finds </a:t>
            </a:r>
            <a:r>
              <a:rPr sz="2400" dirty="0">
                <a:latin typeface="Calibri"/>
                <a:cs typeface="Calibri"/>
              </a:rPr>
              <a:t>the</a:t>
            </a:r>
          </a:p>
          <a:p>
            <a:pPr marL="698500">
              <a:lnSpc>
                <a:spcPts val="2735"/>
              </a:lnSpc>
            </a:pPr>
            <a:r>
              <a:rPr lang="en-US" sz="2400" spc="-10" dirty="0">
                <a:latin typeface="Calibri"/>
                <a:cs typeface="Calibri"/>
              </a:rPr>
              <a:t>S</a:t>
            </a:r>
            <a:r>
              <a:rPr sz="2400" spc="-10" dirty="0">
                <a:latin typeface="Calibri"/>
                <a:cs typeface="Calibri"/>
              </a:rPr>
              <a:t>hallowest</a:t>
            </a:r>
            <a:r>
              <a:rPr lang="en-US" sz="2400" spc="-10" dirty="0">
                <a:latin typeface="Calibri"/>
                <a:cs typeface="Calibri"/>
              </a:rPr>
              <a:t>(of little depth)</a:t>
            </a:r>
            <a:r>
              <a:rPr sz="2400" spc="-25" dirty="0">
                <a:latin typeface="Calibri"/>
                <a:cs typeface="Calibri"/>
              </a:rPr>
              <a:t> </a:t>
            </a:r>
            <a:r>
              <a:rPr sz="2400" spc="-10" dirty="0">
                <a:latin typeface="Calibri"/>
                <a:cs typeface="Calibri"/>
              </a:rPr>
              <a:t>goal</a:t>
            </a:r>
            <a:r>
              <a:rPr sz="2400" spc="-45" dirty="0">
                <a:latin typeface="Calibri"/>
                <a:cs typeface="Calibri"/>
              </a:rPr>
              <a:t> </a:t>
            </a:r>
            <a:r>
              <a:rPr sz="2400" spc="-15" dirty="0">
                <a:latin typeface="Calibri"/>
                <a:cs typeface="Calibri"/>
              </a:rPr>
              <a:t>first</a:t>
            </a:r>
            <a:endParaRPr sz="2400" dirty="0">
              <a:latin typeface="Calibri"/>
              <a:cs typeface="Calibri"/>
            </a:endParaRPr>
          </a:p>
          <a:p>
            <a:pPr marL="698500" marR="5080" lvl="1" indent="-228600">
              <a:lnSpc>
                <a:spcPts val="2590"/>
              </a:lnSpc>
              <a:spcBef>
                <a:spcPts val="545"/>
              </a:spcBef>
              <a:buFont typeface="Arial MT"/>
              <a:buChar char="•"/>
              <a:tabLst>
                <a:tab pos="699135" algn="l"/>
              </a:tabLst>
            </a:pPr>
            <a:r>
              <a:rPr sz="2400" spc="-10" dirty="0">
                <a:latin typeface="Calibri"/>
                <a:cs typeface="Calibri"/>
              </a:rPr>
              <a:t>Complete, </a:t>
            </a:r>
            <a:r>
              <a:rPr sz="2400" dirty="0">
                <a:latin typeface="Calibri"/>
                <a:cs typeface="Calibri"/>
              </a:rPr>
              <a:t>if the </a:t>
            </a:r>
            <a:r>
              <a:rPr sz="2400" spc="-10" dirty="0">
                <a:latin typeface="Calibri"/>
                <a:cs typeface="Calibri"/>
              </a:rPr>
              <a:t>shallowest goal </a:t>
            </a:r>
            <a:r>
              <a:rPr sz="2400" dirty="0">
                <a:latin typeface="Calibri"/>
                <a:cs typeface="Calibri"/>
              </a:rPr>
              <a:t>is </a:t>
            </a:r>
            <a:r>
              <a:rPr sz="2400" spc="-530" dirty="0">
                <a:latin typeface="Calibri"/>
                <a:cs typeface="Calibri"/>
              </a:rPr>
              <a:t> </a:t>
            </a:r>
            <a:r>
              <a:rPr sz="2400" spc="-15" dirty="0">
                <a:latin typeface="Calibri"/>
                <a:cs typeface="Calibri"/>
              </a:rPr>
              <a:t>at</a:t>
            </a:r>
            <a:r>
              <a:rPr sz="2400" spc="-20" dirty="0">
                <a:latin typeface="Calibri"/>
                <a:cs typeface="Calibri"/>
              </a:rPr>
              <a:t> </a:t>
            </a:r>
            <a:r>
              <a:rPr sz="2400" spc="-5" dirty="0">
                <a:latin typeface="Calibri"/>
                <a:cs typeface="Calibri"/>
              </a:rPr>
              <a:t>some</a:t>
            </a:r>
            <a:r>
              <a:rPr sz="2400" dirty="0">
                <a:latin typeface="Calibri"/>
                <a:cs typeface="Calibri"/>
              </a:rPr>
              <a:t> </a:t>
            </a:r>
            <a:r>
              <a:rPr sz="2400" spc="-10" dirty="0">
                <a:latin typeface="Calibri"/>
                <a:cs typeface="Calibri"/>
              </a:rPr>
              <a:t>finite</a:t>
            </a:r>
            <a:r>
              <a:rPr sz="2400" spc="-5" dirty="0">
                <a:latin typeface="Calibri"/>
                <a:cs typeface="Calibri"/>
              </a:rPr>
              <a:t> depth</a:t>
            </a:r>
            <a:endParaRPr sz="2400" dirty="0">
              <a:latin typeface="Calibri"/>
              <a:cs typeface="Calibri"/>
            </a:endParaRPr>
          </a:p>
        </p:txBody>
      </p:sp>
      <p:sp>
        <p:nvSpPr>
          <p:cNvPr id="4" name="object 4"/>
          <p:cNvSpPr txBox="1"/>
          <p:nvPr/>
        </p:nvSpPr>
        <p:spPr>
          <a:xfrm>
            <a:off x="6251828" y="1756565"/>
            <a:ext cx="4907280" cy="259588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Optimality</a:t>
            </a:r>
            <a:endParaRPr sz="2800">
              <a:latin typeface="Calibri"/>
              <a:cs typeface="Calibri"/>
            </a:endParaRPr>
          </a:p>
          <a:p>
            <a:pPr marL="698500" marR="77470" lvl="1" indent="-228600">
              <a:lnSpc>
                <a:spcPts val="2590"/>
              </a:lnSpc>
              <a:spcBef>
                <a:spcPts val="575"/>
              </a:spcBef>
              <a:buFont typeface="Arial MT"/>
              <a:buChar char="•"/>
              <a:tabLst>
                <a:tab pos="698500" algn="l"/>
              </a:tabLst>
            </a:pPr>
            <a:r>
              <a:rPr sz="2400" dirty="0">
                <a:latin typeface="Calibri"/>
                <a:cs typeface="Calibri"/>
              </a:rPr>
              <a:t>If the </a:t>
            </a:r>
            <a:r>
              <a:rPr sz="2400" spc="-10" dirty="0">
                <a:latin typeface="Calibri"/>
                <a:cs typeface="Calibri"/>
              </a:rPr>
              <a:t>shallowest goal nodes </a:t>
            </a:r>
            <a:r>
              <a:rPr sz="2400" spc="-15" dirty="0">
                <a:latin typeface="Calibri"/>
                <a:cs typeface="Calibri"/>
              </a:rPr>
              <a:t>were </a:t>
            </a:r>
            <a:r>
              <a:rPr sz="2400" spc="-530" dirty="0">
                <a:latin typeface="Calibri"/>
                <a:cs typeface="Calibri"/>
              </a:rPr>
              <a:t> </a:t>
            </a:r>
            <a:r>
              <a:rPr sz="2400" spc="-10" dirty="0">
                <a:latin typeface="Calibri"/>
                <a:cs typeface="Calibri"/>
              </a:rPr>
              <a:t>available, </a:t>
            </a:r>
            <a:r>
              <a:rPr sz="2400" dirty="0">
                <a:latin typeface="Calibri"/>
                <a:cs typeface="Calibri"/>
              </a:rPr>
              <a:t>it </a:t>
            </a:r>
            <a:r>
              <a:rPr sz="2400" spc="-10" dirty="0">
                <a:latin typeface="Calibri"/>
                <a:cs typeface="Calibri"/>
              </a:rPr>
              <a:t>would </a:t>
            </a:r>
            <a:r>
              <a:rPr sz="2400" spc="-5" dirty="0">
                <a:latin typeface="Calibri"/>
                <a:cs typeface="Calibri"/>
              </a:rPr>
              <a:t>already </a:t>
            </a:r>
            <a:r>
              <a:rPr sz="2400" spc="-20" dirty="0">
                <a:latin typeface="Calibri"/>
                <a:cs typeface="Calibri"/>
              </a:rPr>
              <a:t>have </a:t>
            </a:r>
            <a:r>
              <a:rPr sz="2400" spc="-15" dirty="0">
                <a:latin typeface="Calibri"/>
                <a:cs typeface="Calibri"/>
              </a:rPr>
              <a:t> </a:t>
            </a:r>
            <a:r>
              <a:rPr sz="2400" spc="-5" dirty="0">
                <a:latin typeface="Calibri"/>
                <a:cs typeface="Calibri"/>
              </a:rPr>
              <a:t>been</a:t>
            </a:r>
            <a:r>
              <a:rPr sz="2400" spc="-10" dirty="0">
                <a:latin typeface="Calibri"/>
                <a:cs typeface="Calibri"/>
              </a:rPr>
              <a:t> </a:t>
            </a:r>
            <a:r>
              <a:rPr sz="2400" spc="-5" dirty="0">
                <a:latin typeface="Calibri"/>
                <a:cs typeface="Calibri"/>
              </a:rPr>
              <a:t>reached</a:t>
            </a:r>
            <a:endParaRPr sz="2400">
              <a:latin typeface="Calibri"/>
              <a:cs typeface="Calibri"/>
            </a:endParaRPr>
          </a:p>
          <a:p>
            <a:pPr marL="698500" marR="5080" lvl="1" indent="-228600">
              <a:lnSpc>
                <a:spcPts val="2590"/>
              </a:lnSpc>
              <a:spcBef>
                <a:spcPts val="509"/>
              </a:spcBef>
              <a:buFont typeface="Arial MT"/>
              <a:buChar char="•"/>
              <a:tabLst>
                <a:tab pos="698500" algn="l"/>
              </a:tabLst>
            </a:pPr>
            <a:r>
              <a:rPr sz="2400" spc="-5" dirty="0">
                <a:latin typeface="Calibri"/>
                <a:cs typeface="Calibri"/>
              </a:rPr>
              <a:t>Optimal, </a:t>
            </a:r>
            <a:r>
              <a:rPr sz="2400" dirty="0">
                <a:latin typeface="Calibri"/>
                <a:cs typeface="Calibri"/>
              </a:rPr>
              <a:t>if the </a:t>
            </a:r>
            <a:r>
              <a:rPr sz="2400" spc="-10" dirty="0">
                <a:latin typeface="Calibri"/>
                <a:cs typeface="Calibri"/>
              </a:rPr>
              <a:t>path </a:t>
            </a:r>
            <a:r>
              <a:rPr sz="2400" spc="-20" dirty="0">
                <a:latin typeface="Calibri"/>
                <a:cs typeface="Calibri"/>
              </a:rPr>
              <a:t>cost </a:t>
            </a:r>
            <a:r>
              <a:rPr sz="2400" dirty="0">
                <a:latin typeface="Calibri"/>
                <a:cs typeface="Calibri"/>
              </a:rPr>
              <a:t>is a </a:t>
            </a:r>
            <a:r>
              <a:rPr sz="2400" spc="-5" dirty="0">
                <a:latin typeface="Calibri"/>
                <a:cs typeface="Calibri"/>
              </a:rPr>
              <a:t>non- </a:t>
            </a:r>
            <a:r>
              <a:rPr sz="2400" dirty="0">
                <a:latin typeface="Calibri"/>
                <a:cs typeface="Calibri"/>
              </a:rPr>
              <a:t> </a:t>
            </a:r>
            <a:r>
              <a:rPr sz="2400" spc="-5" dirty="0">
                <a:latin typeface="Calibri"/>
                <a:cs typeface="Calibri"/>
              </a:rPr>
              <a:t>decreasing</a:t>
            </a:r>
            <a:r>
              <a:rPr sz="2400" spc="-40" dirty="0">
                <a:latin typeface="Calibri"/>
                <a:cs typeface="Calibri"/>
              </a:rPr>
              <a:t> </a:t>
            </a:r>
            <a:r>
              <a:rPr sz="2400" spc="-5" dirty="0">
                <a:latin typeface="Calibri"/>
                <a:cs typeface="Calibri"/>
              </a:rPr>
              <a:t>function</a:t>
            </a:r>
            <a:r>
              <a:rPr sz="2400" spc="-20" dirty="0">
                <a:latin typeface="Calibri"/>
                <a:cs typeface="Calibri"/>
              </a:rPr>
              <a:t> </a:t>
            </a:r>
            <a:r>
              <a:rPr sz="2400" spc="-5" dirty="0">
                <a:latin typeface="Calibri"/>
                <a:cs typeface="Calibri"/>
              </a:rPr>
              <a:t>of</a:t>
            </a:r>
            <a:r>
              <a:rPr sz="2400" spc="-1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path</a:t>
            </a:r>
            <a:r>
              <a:rPr sz="2400" spc="-15" dirty="0">
                <a:latin typeface="Calibri"/>
                <a:cs typeface="Calibri"/>
              </a:rPr>
              <a:t> </a:t>
            </a:r>
            <a:r>
              <a:rPr sz="2400" spc="-5" dirty="0">
                <a:latin typeface="Calibri"/>
                <a:cs typeface="Calibri"/>
              </a:rPr>
              <a:t>of </a:t>
            </a:r>
            <a:r>
              <a:rPr sz="2400" spc="-525" dirty="0">
                <a:latin typeface="Calibri"/>
                <a:cs typeface="Calibri"/>
              </a:rPr>
              <a:t> </a:t>
            </a:r>
            <a:r>
              <a:rPr sz="2400" dirty="0">
                <a:latin typeface="Calibri"/>
                <a:cs typeface="Calibri"/>
              </a:rPr>
              <a:t>the</a:t>
            </a:r>
            <a:r>
              <a:rPr sz="2400" spc="-5" dirty="0">
                <a:latin typeface="Calibri"/>
                <a:cs typeface="Calibri"/>
              </a:rPr>
              <a:t> node</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600950" cy="697230"/>
          </a:xfrm>
          <a:prstGeom prst="rect">
            <a:avLst/>
          </a:prstGeom>
        </p:spPr>
        <p:txBody>
          <a:bodyPr vert="horz" wrap="square" lIns="0" tIns="13335" rIns="0" bIns="0" rtlCol="0">
            <a:spAutoFit/>
          </a:bodyPr>
          <a:lstStyle/>
          <a:p>
            <a:pPr marL="12700">
              <a:lnSpc>
                <a:spcPct val="100000"/>
              </a:lnSpc>
              <a:spcBef>
                <a:spcPts val="105"/>
              </a:spcBef>
            </a:pPr>
            <a:r>
              <a:rPr b="1" spc="-10" dirty="0"/>
              <a:t>Breadth</a:t>
            </a:r>
            <a:r>
              <a:rPr b="1" spc="-30" dirty="0"/>
              <a:t> </a:t>
            </a:r>
            <a:r>
              <a:rPr b="1" spc="-25" dirty="0"/>
              <a:t>First</a:t>
            </a:r>
            <a:r>
              <a:rPr b="1" spc="-35" dirty="0"/>
              <a:t> </a:t>
            </a:r>
            <a:r>
              <a:rPr b="1" spc="-10" dirty="0"/>
              <a:t>Search:</a:t>
            </a:r>
            <a:r>
              <a:rPr b="1" spc="-30" dirty="0"/>
              <a:t> </a:t>
            </a:r>
            <a:r>
              <a:rPr b="1" spc="-15" dirty="0"/>
              <a:t>Four</a:t>
            </a:r>
            <a:r>
              <a:rPr b="1" spc="-20" dirty="0"/>
              <a:t> </a:t>
            </a:r>
            <a:r>
              <a:rPr b="1" spc="-10" dirty="0"/>
              <a:t>Criteria</a:t>
            </a:r>
          </a:p>
        </p:txBody>
      </p:sp>
      <p:sp>
        <p:nvSpPr>
          <p:cNvPr id="3" name="object 3"/>
          <p:cNvSpPr txBox="1"/>
          <p:nvPr/>
        </p:nvSpPr>
        <p:spPr>
          <a:xfrm>
            <a:off x="891539" y="1756565"/>
            <a:ext cx="5072380" cy="4698365"/>
          </a:xfrm>
          <a:prstGeom prst="rect">
            <a:avLst/>
          </a:prstGeom>
        </p:spPr>
        <p:txBody>
          <a:bodyPr vert="horz" wrap="square" lIns="0" tIns="48895" rIns="0" bIns="0" rtlCol="0">
            <a:spAutoFit/>
          </a:bodyPr>
          <a:lstStyle/>
          <a:p>
            <a:pPr marL="266700" indent="-228600">
              <a:lnSpc>
                <a:spcPct val="100000"/>
              </a:lnSpc>
              <a:spcBef>
                <a:spcPts val="385"/>
              </a:spcBef>
              <a:buFont typeface="Arial MT"/>
              <a:buChar char="•"/>
              <a:tabLst>
                <a:tab pos="266700" algn="l"/>
              </a:tabLst>
            </a:pPr>
            <a:r>
              <a:rPr sz="2800" spc="-5" dirty="0">
                <a:latin typeface="Calibri"/>
                <a:cs typeface="Calibri"/>
              </a:rPr>
              <a:t>Time</a:t>
            </a:r>
            <a:r>
              <a:rPr sz="2800" spc="-40" dirty="0">
                <a:latin typeface="Calibri"/>
                <a:cs typeface="Calibri"/>
              </a:rPr>
              <a:t> </a:t>
            </a:r>
            <a:r>
              <a:rPr sz="2800" spc="-10" dirty="0">
                <a:latin typeface="Calibri"/>
                <a:cs typeface="Calibri"/>
              </a:rPr>
              <a:t>Complexity</a:t>
            </a:r>
            <a:endParaRPr sz="2800">
              <a:latin typeface="Calibri"/>
              <a:cs typeface="Calibri"/>
            </a:endParaRPr>
          </a:p>
          <a:p>
            <a:pPr marL="723900" marR="30480" lvl="1" indent="-228600">
              <a:lnSpc>
                <a:spcPts val="2590"/>
              </a:lnSpc>
              <a:spcBef>
                <a:spcPts val="575"/>
              </a:spcBef>
              <a:buFont typeface="Arial MT"/>
              <a:buChar char="•"/>
              <a:tabLst>
                <a:tab pos="724535" algn="l"/>
              </a:tabLst>
            </a:pPr>
            <a:r>
              <a:rPr sz="2400" spc="-15" dirty="0">
                <a:latin typeface="Calibri"/>
                <a:cs typeface="Calibri"/>
              </a:rPr>
              <a:t>For</a:t>
            </a:r>
            <a:r>
              <a:rPr sz="2400" spc="20" dirty="0">
                <a:latin typeface="Calibri"/>
                <a:cs typeface="Calibri"/>
              </a:rPr>
              <a:t> </a:t>
            </a:r>
            <a:r>
              <a:rPr sz="2400" dirty="0">
                <a:latin typeface="Calibri"/>
                <a:cs typeface="Calibri"/>
              </a:rPr>
              <a:t>a</a:t>
            </a:r>
            <a:r>
              <a:rPr sz="2400" spc="10" dirty="0">
                <a:latin typeface="Calibri"/>
                <a:cs typeface="Calibri"/>
              </a:rPr>
              <a:t> </a:t>
            </a:r>
            <a:r>
              <a:rPr sz="2400" spc="-10" dirty="0">
                <a:latin typeface="Calibri"/>
                <a:cs typeface="Calibri"/>
              </a:rPr>
              <a:t>search</a:t>
            </a:r>
            <a:r>
              <a:rPr sz="2400" spc="30" dirty="0">
                <a:latin typeface="Calibri"/>
                <a:cs typeface="Calibri"/>
              </a:rPr>
              <a:t> </a:t>
            </a:r>
            <a:r>
              <a:rPr sz="2400" spc="-10" dirty="0">
                <a:latin typeface="Calibri"/>
                <a:cs typeface="Calibri"/>
              </a:rPr>
              <a:t>tree</a:t>
            </a:r>
            <a:r>
              <a:rPr sz="2400" spc="20" dirty="0">
                <a:latin typeface="Calibri"/>
                <a:cs typeface="Calibri"/>
              </a:rPr>
              <a:t> </a:t>
            </a:r>
            <a:r>
              <a:rPr sz="2400" dirty="0">
                <a:latin typeface="Calibri"/>
                <a:cs typeface="Calibri"/>
              </a:rPr>
              <a:t>a</a:t>
            </a:r>
            <a:r>
              <a:rPr sz="2400" spc="25" dirty="0">
                <a:latin typeface="Calibri"/>
                <a:cs typeface="Calibri"/>
              </a:rPr>
              <a:t> </a:t>
            </a:r>
            <a:r>
              <a:rPr sz="2400" spc="-10" dirty="0">
                <a:latin typeface="Calibri"/>
                <a:cs typeface="Calibri"/>
              </a:rPr>
              <a:t>branching </a:t>
            </a:r>
            <a:r>
              <a:rPr sz="2400" spc="-5" dirty="0">
                <a:latin typeface="Calibri"/>
                <a:cs typeface="Calibri"/>
              </a:rPr>
              <a:t> </a:t>
            </a:r>
            <a:r>
              <a:rPr sz="2400" spc="-15" dirty="0">
                <a:latin typeface="Calibri"/>
                <a:cs typeface="Calibri"/>
              </a:rPr>
              <a:t>factor </a:t>
            </a:r>
            <a:r>
              <a:rPr sz="2400" dirty="0">
                <a:latin typeface="Calibri"/>
                <a:cs typeface="Calibri"/>
              </a:rPr>
              <a:t>‘b’ </a:t>
            </a:r>
            <a:r>
              <a:rPr sz="2400" spc="-10" dirty="0">
                <a:latin typeface="Calibri"/>
                <a:cs typeface="Calibri"/>
              </a:rPr>
              <a:t>expanding </a:t>
            </a:r>
            <a:r>
              <a:rPr sz="2400" dirty="0">
                <a:latin typeface="Calibri"/>
                <a:cs typeface="Calibri"/>
              </a:rPr>
              <a:t>the </a:t>
            </a:r>
            <a:r>
              <a:rPr sz="2400" spc="-15" dirty="0">
                <a:latin typeface="Calibri"/>
                <a:cs typeface="Calibri"/>
              </a:rPr>
              <a:t>root </a:t>
            </a:r>
            <a:r>
              <a:rPr sz="2400" dirty="0">
                <a:latin typeface="Calibri"/>
                <a:cs typeface="Calibri"/>
              </a:rPr>
              <a:t>yields </a:t>
            </a:r>
            <a:r>
              <a:rPr sz="2400" spc="-530" dirty="0">
                <a:latin typeface="Calibri"/>
                <a:cs typeface="Calibri"/>
              </a:rPr>
              <a:t> </a:t>
            </a:r>
            <a:r>
              <a:rPr sz="2400" dirty="0">
                <a:latin typeface="Calibri"/>
                <a:cs typeface="Calibri"/>
              </a:rPr>
              <a:t>‘b’</a:t>
            </a:r>
            <a:r>
              <a:rPr sz="2400" spc="-5" dirty="0">
                <a:latin typeface="Calibri"/>
                <a:cs typeface="Calibri"/>
              </a:rPr>
              <a:t> nodes</a:t>
            </a:r>
            <a:r>
              <a:rPr sz="2400" dirty="0">
                <a:latin typeface="Calibri"/>
                <a:cs typeface="Calibri"/>
              </a:rPr>
              <a:t> </a:t>
            </a:r>
            <a:r>
              <a:rPr sz="2400" spc="-15" dirty="0">
                <a:latin typeface="Calibri"/>
                <a:cs typeface="Calibri"/>
              </a:rPr>
              <a:t>at </a:t>
            </a:r>
            <a:r>
              <a:rPr sz="2400" dirty="0">
                <a:latin typeface="Calibri"/>
                <a:cs typeface="Calibri"/>
              </a:rPr>
              <a:t>the</a:t>
            </a:r>
            <a:r>
              <a:rPr sz="2400" spc="-5" dirty="0">
                <a:latin typeface="Calibri"/>
                <a:cs typeface="Calibri"/>
              </a:rPr>
              <a:t> </a:t>
            </a:r>
            <a:r>
              <a:rPr sz="2400" spc="-15" dirty="0">
                <a:latin typeface="Calibri"/>
                <a:cs typeface="Calibri"/>
              </a:rPr>
              <a:t>first</a:t>
            </a:r>
            <a:r>
              <a:rPr sz="2400" spc="-20" dirty="0">
                <a:latin typeface="Calibri"/>
                <a:cs typeface="Calibri"/>
              </a:rPr>
              <a:t> </a:t>
            </a:r>
            <a:r>
              <a:rPr sz="2400" spc="-10" dirty="0">
                <a:latin typeface="Calibri"/>
                <a:cs typeface="Calibri"/>
              </a:rPr>
              <a:t>level.</a:t>
            </a:r>
            <a:endParaRPr sz="2400">
              <a:latin typeface="Calibri"/>
              <a:cs typeface="Calibri"/>
            </a:endParaRPr>
          </a:p>
          <a:p>
            <a:pPr marL="723900" marR="351155" lvl="1" indent="-228600">
              <a:lnSpc>
                <a:spcPts val="2590"/>
              </a:lnSpc>
              <a:spcBef>
                <a:spcPts val="509"/>
              </a:spcBef>
              <a:buFont typeface="Arial MT"/>
              <a:buChar char="•"/>
              <a:tabLst>
                <a:tab pos="724535" algn="l"/>
              </a:tabLst>
            </a:pPr>
            <a:r>
              <a:rPr sz="2400" spc="-5" dirty="0">
                <a:latin typeface="Calibri"/>
                <a:cs typeface="Calibri"/>
              </a:rPr>
              <a:t>Expanding </a:t>
            </a:r>
            <a:r>
              <a:rPr sz="2400" dirty="0">
                <a:latin typeface="Calibri"/>
                <a:cs typeface="Calibri"/>
              </a:rPr>
              <a:t>‘b’ </a:t>
            </a:r>
            <a:r>
              <a:rPr sz="2400" spc="-5" dirty="0">
                <a:latin typeface="Calibri"/>
                <a:cs typeface="Calibri"/>
              </a:rPr>
              <a:t>nodes </a:t>
            </a:r>
            <a:r>
              <a:rPr sz="2400" spc="-15" dirty="0">
                <a:latin typeface="Calibri"/>
                <a:cs typeface="Calibri"/>
              </a:rPr>
              <a:t>at first </a:t>
            </a:r>
            <a:r>
              <a:rPr sz="2400" spc="-10" dirty="0">
                <a:latin typeface="Calibri"/>
                <a:cs typeface="Calibri"/>
              </a:rPr>
              <a:t>level </a:t>
            </a:r>
            <a:r>
              <a:rPr sz="2400" spc="-530" dirty="0">
                <a:latin typeface="Calibri"/>
                <a:cs typeface="Calibri"/>
              </a:rPr>
              <a:t> </a:t>
            </a:r>
            <a:r>
              <a:rPr sz="2400" dirty="0">
                <a:latin typeface="Calibri"/>
                <a:cs typeface="Calibri"/>
              </a:rPr>
              <a:t>yields </a:t>
            </a:r>
            <a:r>
              <a:rPr sz="2400" spc="-10" dirty="0">
                <a:latin typeface="Calibri"/>
                <a:cs typeface="Calibri"/>
              </a:rPr>
              <a:t>b</a:t>
            </a:r>
            <a:r>
              <a:rPr sz="2400" spc="-15" baseline="24305" dirty="0">
                <a:latin typeface="Calibri"/>
                <a:cs typeface="Calibri"/>
              </a:rPr>
              <a:t>2</a:t>
            </a:r>
            <a:r>
              <a:rPr sz="2400" spc="-7" baseline="24305" dirty="0">
                <a:latin typeface="Calibri"/>
                <a:cs typeface="Calibri"/>
              </a:rPr>
              <a:t> </a:t>
            </a:r>
            <a:r>
              <a:rPr sz="2400" spc="-5" dirty="0">
                <a:latin typeface="Calibri"/>
                <a:cs typeface="Calibri"/>
              </a:rPr>
              <a:t>nodes </a:t>
            </a:r>
            <a:r>
              <a:rPr sz="2400" spc="-10" dirty="0">
                <a:latin typeface="Calibri"/>
                <a:cs typeface="Calibri"/>
              </a:rPr>
              <a:t>at </a:t>
            </a:r>
            <a:r>
              <a:rPr sz="2400" dirty="0">
                <a:latin typeface="Calibri"/>
                <a:cs typeface="Calibri"/>
              </a:rPr>
              <a:t>the </a:t>
            </a:r>
            <a:r>
              <a:rPr sz="2400" spc="-10" dirty="0">
                <a:latin typeface="Calibri"/>
                <a:cs typeface="Calibri"/>
              </a:rPr>
              <a:t>second </a:t>
            </a:r>
            <a:r>
              <a:rPr sz="2400" spc="-5" dirty="0">
                <a:latin typeface="Calibri"/>
                <a:cs typeface="Calibri"/>
              </a:rPr>
              <a:t> </a:t>
            </a:r>
            <a:r>
              <a:rPr sz="2400" spc="-10" dirty="0">
                <a:latin typeface="Calibri"/>
                <a:cs typeface="Calibri"/>
              </a:rPr>
              <a:t>level.</a:t>
            </a:r>
            <a:endParaRPr sz="2400">
              <a:latin typeface="Calibri"/>
              <a:cs typeface="Calibri"/>
            </a:endParaRPr>
          </a:p>
          <a:p>
            <a:pPr marL="723900" marR="270510" lvl="1" indent="-228600" algn="just">
              <a:lnSpc>
                <a:spcPct val="90100"/>
              </a:lnSpc>
              <a:spcBef>
                <a:spcPts val="455"/>
              </a:spcBef>
              <a:buFont typeface="Arial MT"/>
              <a:buChar char="•"/>
              <a:tabLst>
                <a:tab pos="724535" algn="l"/>
              </a:tabLst>
            </a:pPr>
            <a:r>
              <a:rPr sz="2400" spc="-20" dirty="0">
                <a:latin typeface="Calibri"/>
                <a:cs typeface="Calibri"/>
              </a:rPr>
              <a:t>Similarly, </a:t>
            </a:r>
            <a:r>
              <a:rPr sz="2400" spc="-10" dirty="0">
                <a:latin typeface="Calibri"/>
                <a:cs typeface="Calibri"/>
              </a:rPr>
              <a:t>expanding </a:t>
            </a:r>
            <a:r>
              <a:rPr sz="2400" spc="-5" dirty="0">
                <a:latin typeface="Calibri"/>
                <a:cs typeface="Calibri"/>
              </a:rPr>
              <a:t>the nodes </a:t>
            </a:r>
            <a:r>
              <a:rPr sz="2400" spc="-15" dirty="0">
                <a:latin typeface="Calibri"/>
                <a:cs typeface="Calibri"/>
              </a:rPr>
              <a:t>at </a:t>
            </a:r>
            <a:r>
              <a:rPr sz="2400" spc="-530" dirty="0">
                <a:latin typeface="Calibri"/>
                <a:cs typeface="Calibri"/>
              </a:rPr>
              <a:t> </a:t>
            </a:r>
            <a:r>
              <a:rPr sz="2400" spc="-5" dirty="0">
                <a:latin typeface="Calibri"/>
                <a:cs typeface="Calibri"/>
              </a:rPr>
              <a:t>(d+1)</a:t>
            </a:r>
            <a:r>
              <a:rPr sz="2400" spc="-7" baseline="24305" dirty="0">
                <a:latin typeface="Calibri"/>
                <a:cs typeface="Calibri"/>
              </a:rPr>
              <a:t>th </a:t>
            </a:r>
            <a:r>
              <a:rPr sz="2400" spc="-10" dirty="0">
                <a:latin typeface="Calibri"/>
                <a:cs typeface="Calibri"/>
              </a:rPr>
              <a:t>level </a:t>
            </a:r>
            <a:r>
              <a:rPr sz="2400" dirty="0">
                <a:latin typeface="Calibri"/>
                <a:cs typeface="Calibri"/>
              </a:rPr>
              <a:t>yields </a:t>
            </a:r>
            <a:r>
              <a:rPr sz="2400" spc="-5" dirty="0">
                <a:latin typeface="Calibri"/>
                <a:cs typeface="Calibri"/>
              </a:rPr>
              <a:t>b</a:t>
            </a:r>
            <a:r>
              <a:rPr sz="2400" spc="-7" baseline="24305" dirty="0">
                <a:latin typeface="Calibri"/>
                <a:cs typeface="Calibri"/>
              </a:rPr>
              <a:t>d </a:t>
            </a:r>
            <a:r>
              <a:rPr sz="2400" spc="-5" dirty="0">
                <a:latin typeface="Calibri"/>
                <a:cs typeface="Calibri"/>
              </a:rPr>
              <a:t>node </a:t>
            </a:r>
            <a:r>
              <a:rPr sz="2400" spc="-15" dirty="0">
                <a:latin typeface="Calibri"/>
                <a:cs typeface="Calibri"/>
              </a:rPr>
              <a:t>at </a:t>
            </a:r>
            <a:r>
              <a:rPr sz="2400" dirty="0">
                <a:latin typeface="Calibri"/>
                <a:cs typeface="Calibri"/>
              </a:rPr>
              <a:t>d</a:t>
            </a:r>
            <a:r>
              <a:rPr sz="2400" baseline="24305" dirty="0">
                <a:latin typeface="Calibri"/>
                <a:cs typeface="Calibri"/>
              </a:rPr>
              <a:t>th </a:t>
            </a:r>
            <a:r>
              <a:rPr sz="2400" spc="7" baseline="24305" dirty="0">
                <a:latin typeface="Calibri"/>
                <a:cs typeface="Calibri"/>
              </a:rPr>
              <a:t> </a:t>
            </a:r>
            <a:r>
              <a:rPr sz="2400" spc="-10" dirty="0">
                <a:latin typeface="Calibri"/>
                <a:cs typeface="Calibri"/>
              </a:rPr>
              <a:t>level</a:t>
            </a:r>
            <a:endParaRPr sz="2400">
              <a:latin typeface="Calibri"/>
              <a:cs typeface="Calibri"/>
            </a:endParaRPr>
          </a:p>
          <a:p>
            <a:pPr marL="723900" marR="356870" lvl="1" indent="-228600">
              <a:lnSpc>
                <a:spcPct val="90000"/>
              </a:lnSpc>
              <a:spcBef>
                <a:spcPts val="505"/>
              </a:spcBef>
              <a:buFont typeface="Arial MT"/>
              <a:buChar char="•"/>
              <a:tabLst>
                <a:tab pos="724535" algn="l"/>
              </a:tabLst>
            </a:pPr>
            <a:r>
              <a:rPr sz="2400" dirty="0">
                <a:latin typeface="Calibri"/>
                <a:cs typeface="Calibri"/>
              </a:rPr>
              <a:t>If the </a:t>
            </a:r>
            <a:r>
              <a:rPr sz="2400" spc="-10" dirty="0">
                <a:latin typeface="Calibri"/>
                <a:cs typeface="Calibri"/>
              </a:rPr>
              <a:t>goal </a:t>
            </a:r>
            <a:r>
              <a:rPr sz="2400" dirty="0">
                <a:latin typeface="Calibri"/>
                <a:cs typeface="Calibri"/>
              </a:rPr>
              <a:t>is in </a:t>
            </a:r>
            <a:r>
              <a:rPr sz="2400" spc="-5" dirty="0">
                <a:latin typeface="Calibri"/>
                <a:cs typeface="Calibri"/>
              </a:rPr>
              <a:t>d</a:t>
            </a:r>
            <a:r>
              <a:rPr sz="2400" spc="-7" baseline="24305" dirty="0">
                <a:latin typeface="Calibri"/>
                <a:cs typeface="Calibri"/>
              </a:rPr>
              <a:t>th</a:t>
            </a:r>
            <a:r>
              <a:rPr sz="2400" baseline="24305" dirty="0">
                <a:latin typeface="Calibri"/>
                <a:cs typeface="Calibri"/>
              </a:rPr>
              <a:t> </a:t>
            </a:r>
            <a:r>
              <a:rPr sz="2400" spc="-10" dirty="0">
                <a:latin typeface="Calibri"/>
                <a:cs typeface="Calibri"/>
              </a:rPr>
              <a:t>level, </a:t>
            </a:r>
            <a:r>
              <a:rPr sz="2400" dirty="0">
                <a:latin typeface="Calibri"/>
                <a:cs typeface="Calibri"/>
              </a:rPr>
              <a:t>in the </a:t>
            </a:r>
            <a:r>
              <a:rPr sz="2400" spc="5" dirty="0">
                <a:latin typeface="Calibri"/>
                <a:cs typeface="Calibri"/>
              </a:rPr>
              <a:t> </a:t>
            </a:r>
            <a:r>
              <a:rPr sz="2400" spc="-25" dirty="0">
                <a:latin typeface="Calibri"/>
                <a:cs typeface="Calibri"/>
              </a:rPr>
              <a:t>worst </a:t>
            </a:r>
            <a:r>
              <a:rPr sz="2400" spc="-5" dirty="0">
                <a:latin typeface="Calibri"/>
                <a:cs typeface="Calibri"/>
              </a:rPr>
              <a:t>case, </a:t>
            </a:r>
            <a:r>
              <a:rPr sz="2400" dirty="0">
                <a:latin typeface="Calibri"/>
                <a:cs typeface="Calibri"/>
              </a:rPr>
              <a:t>the </a:t>
            </a:r>
            <a:r>
              <a:rPr sz="2400" spc="-10" dirty="0">
                <a:latin typeface="Calibri"/>
                <a:cs typeface="Calibri"/>
              </a:rPr>
              <a:t>goal </a:t>
            </a:r>
            <a:r>
              <a:rPr sz="2400" spc="-5" dirty="0">
                <a:latin typeface="Calibri"/>
                <a:cs typeface="Calibri"/>
              </a:rPr>
              <a:t>node </a:t>
            </a:r>
            <a:r>
              <a:rPr sz="2400" spc="-10" dirty="0">
                <a:latin typeface="Calibri"/>
                <a:cs typeface="Calibri"/>
              </a:rPr>
              <a:t>would </a:t>
            </a:r>
            <a:r>
              <a:rPr sz="2400" spc="-530" dirty="0">
                <a:latin typeface="Calibri"/>
                <a:cs typeface="Calibri"/>
              </a:rPr>
              <a:t> </a:t>
            </a:r>
            <a:r>
              <a:rPr sz="2400" spc="-5" dirty="0">
                <a:latin typeface="Calibri"/>
                <a:cs typeface="Calibri"/>
              </a:rPr>
              <a:t>be</a:t>
            </a:r>
            <a:r>
              <a:rPr sz="2400" spc="-15"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last</a:t>
            </a:r>
            <a:r>
              <a:rPr sz="2400" spc="-20" dirty="0">
                <a:latin typeface="Calibri"/>
                <a:cs typeface="Calibri"/>
              </a:rPr>
              <a:t> </a:t>
            </a:r>
            <a:r>
              <a:rPr sz="2400" spc="-5" dirty="0">
                <a:latin typeface="Calibri"/>
                <a:cs typeface="Calibri"/>
              </a:rPr>
              <a:t>node</a:t>
            </a:r>
            <a:r>
              <a:rPr sz="2400" spc="-10" dirty="0">
                <a:latin typeface="Calibri"/>
                <a:cs typeface="Calibri"/>
              </a:rPr>
              <a:t> </a:t>
            </a:r>
            <a:r>
              <a:rPr sz="2400" dirty="0">
                <a:latin typeface="Calibri"/>
                <a:cs typeface="Calibri"/>
              </a:rPr>
              <a:t>in</a:t>
            </a:r>
            <a:r>
              <a:rPr sz="2400" spc="-5" dirty="0">
                <a:latin typeface="Calibri"/>
                <a:cs typeface="Calibri"/>
              </a:rPr>
              <a:t> </a:t>
            </a:r>
            <a:r>
              <a:rPr sz="2400" dirty="0">
                <a:latin typeface="Calibri"/>
                <a:cs typeface="Calibri"/>
              </a:rPr>
              <a:t>the</a:t>
            </a:r>
            <a:r>
              <a:rPr sz="2400" spc="-5" dirty="0">
                <a:latin typeface="Calibri"/>
                <a:cs typeface="Calibri"/>
              </a:rPr>
              <a:t> d</a:t>
            </a:r>
            <a:r>
              <a:rPr sz="2400" spc="-7" baseline="24305" dirty="0">
                <a:latin typeface="Calibri"/>
                <a:cs typeface="Calibri"/>
              </a:rPr>
              <a:t>th</a:t>
            </a:r>
            <a:r>
              <a:rPr sz="2400" spc="240" baseline="24305" dirty="0">
                <a:latin typeface="Calibri"/>
                <a:cs typeface="Calibri"/>
              </a:rPr>
              <a:t> </a:t>
            </a:r>
            <a:r>
              <a:rPr sz="2400" spc="-10" dirty="0">
                <a:latin typeface="Calibri"/>
                <a:cs typeface="Calibri"/>
              </a:rPr>
              <a:t>level</a:t>
            </a:r>
            <a:endParaRPr sz="2400">
              <a:latin typeface="Calibri"/>
              <a:cs typeface="Calibri"/>
            </a:endParaRPr>
          </a:p>
        </p:txBody>
      </p:sp>
      <p:sp>
        <p:nvSpPr>
          <p:cNvPr id="4" name="object 4"/>
          <p:cNvSpPr txBox="1"/>
          <p:nvPr/>
        </p:nvSpPr>
        <p:spPr>
          <a:xfrm>
            <a:off x="6683629" y="1802333"/>
            <a:ext cx="4530725" cy="4862830"/>
          </a:xfrm>
          <a:prstGeom prst="rect">
            <a:avLst/>
          </a:prstGeom>
        </p:spPr>
        <p:txBody>
          <a:bodyPr vert="horz" wrap="square" lIns="0" tIns="49530" rIns="0" bIns="0" rtlCol="0">
            <a:spAutoFit/>
          </a:bodyPr>
          <a:lstStyle/>
          <a:p>
            <a:pPr marL="266700" marR="214629" indent="-228600">
              <a:lnSpc>
                <a:spcPct val="90000"/>
              </a:lnSpc>
              <a:spcBef>
                <a:spcPts val="390"/>
              </a:spcBef>
              <a:buFont typeface="Arial MT"/>
              <a:buChar char="•"/>
              <a:tabLst>
                <a:tab pos="266700" algn="l"/>
              </a:tabLst>
            </a:pPr>
            <a:r>
              <a:rPr sz="2400" spc="-5" dirty="0">
                <a:latin typeface="Calibri"/>
                <a:cs typeface="Calibri"/>
              </a:rPr>
              <a:t>Hence,</a:t>
            </a:r>
            <a:r>
              <a:rPr sz="2400" spc="-15" dirty="0">
                <a:latin typeface="Calibri"/>
                <a:cs typeface="Calibri"/>
              </a:rPr>
              <a:t> </a:t>
            </a:r>
            <a:r>
              <a:rPr sz="2400" spc="-45" dirty="0">
                <a:latin typeface="Calibri"/>
                <a:cs typeface="Calibri"/>
              </a:rPr>
              <a:t>We</a:t>
            </a:r>
            <a:r>
              <a:rPr sz="2400" spc="-5" dirty="0">
                <a:latin typeface="Calibri"/>
                <a:cs typeface="Calibri"/>
              </a:rPr>
              <a:t> should</a:t>
            </a:r>
            <a:r>
              <a:rPr sz="2400" spc="-10" dirty="0">
                <a:latin typeface="Calibri"/>
                <a:cs typeface="Calibri"/>
              </a:rPr>
              <a:t> expand</a:t>
            </a:r>
            <a:r>
              <a:rPr sz="2400" spc="-15" dirty="0">
                <a:latin typeface="Calibri"/>
                <a:cs typeface="Calibri"/>
              </a:rPr>
              <a:t> </a:t>
            </a:r>
            <a:r>
              <a:rPr sz="2400" spc="-5" dirty="0">
                <a:latin typeface="Calibri"/>
                <a:cs typeface="Calibri"/>
              </a:rPr>
              <a:t>(b</a:t>
            </a:r>
            <a:r>
              <a:rPr sz="2400" spc="-7" baseline="24305" dirty="0">
                <a:latin typeface="Calibri"/>
                <a:cs typeface="Calibri"/>
              </a:rPr>
              <a:t>d</a:t>
            </a:r>
            <a:r>
              <a:rPr sz="2400" spc="-5" dirty="0">
                <a:latin typeface="Calibri"/>
                <a:cs typeface="Calibri"/>
              </a:rPr>
              <a:t>-1) </a:t>
            </a:r>
            <a:r>
              <a:rPr sz="2400" dirty="0">
                <a:latin typeface="Calibri"/>
                <a:cs typeface="Calibri"/>
              </a:rPr>
              <a:t> </a:t>
            </a:r>
            <a:r>
              <a:rPr sz="2400" spc="-5" dirty="0">
                <a:latin typeface="Calibri"/>
                <a:cs typeface="Calibri"/>
              </a:rPr>
              <a:t>nodes</a:t>
            </a:r>
            <a:r>
              <a:rPr sz="2400" spc="-15" dirty="0">
                <a:latin typeface="Calibri"/>
                <a:cs typeface="Calibri"/>
              </a:rPr>
              <a:t> </a:t>
            </a:r>
            <a:r>
              <a:rPr sz="2400" dirty="0">
                <a:latin typeface="Calibri"/>
                <a:cs typeface="Calibri"/>
              </a:rPr>
              <a:t>in</a:t>
            </a:r>
            <a:r>
              <a:rPr sz="2400" spc="-15" dirty="0">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d</a:t>
            </a:r>
            <a:r>
              <a:rPr sz="2400" spc="-7" baseline="24305" dirty="0">
                <a:latin typeface="Calibri"/>
                <a:cs typeface="Calibri"/>
              </a:rPr>
              <a:t>th</a:t>
            </a:r>
            <a:r>
              <a:rPr sz="2400" spc="262" baseline="24305" dirty="0">
                <a:latin typeface="Calibri"/>
                <a:cs typeface="Calibri"/>
              </a:rPr>
              <a:t> </a:t>
            </a:r>
            <a:r>
              <a:rPr sz="2400" spc="-10" dirty="0">
                <a:latin typeface="Calibri"/>
                <a:cs typeface="Calibri"/>
              </a:rPr>
              <a:t>level (Except</a:t>
            </a:r>
            <a:r>
              <a:rPr sz="2400" spc="-50" dirty="0">
                <a:latin typeface="Calibri"/>
                <a:cs typeface="Calibri"/>
              </a:rPr>
              <a:t> </a:t>
            </a:r>
            <a:r>
              <a:rPr sz="2400" dirty="0">
                <a:latin typeface="Calibri"/>
                <a:cs typeface="Calibri"/>
              </a:rPr>
              <a:t>the </a:t>
            </a:r>
            <a:r>
              <a:rPr sz="2400" spc="-525" dirty="0">
                <a:latin typeface="Calibri"/>
                <a:cs typeface="Calibri"/>
              </a:rPr>
              <a:t> </a:t>
            </a:r>
            <a:r>
              <a:rPr sz="2400" spc="-10" dirty="0">
                <a:latin typeface="Calibri"/>
                <a:cs typeface="Calibri"/>
              </a:rPr>
              <a:t>goal </a:t>
            </a:r>
            <a:r>
              <a:rPr sz="2400" spc="-5" dirty="0">
                <a:latin typeface="Calibri"/>
                <a:cs typeface="Calibri"/>
              </a:rPr>
              <a:t>node </a:t>
            </a:r>
            <a:r>
              <a:rPr sz="2400" dirty="0">
                <a:latin typeface="Calibri"/>
                <a:cs typeface="Calibri"/>
              </a:rPr>
              <a:t>itself which </a:t>
            </a:r>
            <a:r>
              <a:rPr sz="2400" spc="-5" dirty="0">
                <a:latin typeface="Calibri"/>
                <a:cs typeface="Calibri"/>
              </a:rPr>
              <a:t>doesn’t </a:t>
            </a:r>
            <a:r>
              <a:rPr sz="2400" dirty="0">
                <a:latin typeface="Calibri"/>
                <a:cs typeface="Calibri"/>
              </a:rPr>
              <a:t> </a:t>
            </a:r>
            <a:r>
              <a:rPr sz="2400" spc="-5" dirty="0">
                <a:latin typeface="Calibri"/>
                <a:cs typeface="Calibri"/>
              </a:rPr>
              <a:t>need</a:t>
            </a:r>
            <a:r>
              <a:rPr sz="2400" spc="-10" dirty="0">
                <a:latin typeface="Calibri"/>
                <a:cs typeface="Calibri"/>
              </a:rPr>
              <a:t> </a:t>
            </a:r>
            <a:r>
              <a:rPr sz="2400" spc="-15" dirty="0">
                <a:latin typeface="Calibri"/>
                <a:cs typeface="Calibri"/>
              </a:rPr>
              <a:t>to</a:t>
            </a:r>
            <a:r>
              <a:rPr sz="2400" spc="-10" dirty="0">
                <a:latin typeface="Calibri"/>
                <a:cs typeface="Calibri"/>
              </a:rPr>
              <a:t> </a:t>
            </a:r>
            <a:r>
              <a:rPr sz="2400" spc="-5" dirty="0">
                <a:latin typeface="Calibri"/>
                <a:cs typeface="Calibri"/>
              </a:rPr>
              <a:t>be</a:t>
            </a:r>
            <a:r>
              <a:rPr sz="2400" spc="-10" dirty="0">
                <a:latin typeface="Calibri"/>
                <a:cs typeface="Calibri"/>
              </a:rPr>
              <a:t> expanded)</a:t>
            </a:r>
            <a:endParaRPr sz="2400">
              <a:latin typeface="Calibri"/>
              <a:cs typeface="Calibri"/>
            </a:endParaRPr>
          </a:p>
          <a:p>
            <a:pPr marL="266700" indent="-228600">
              <a:lnSpc>
                <a:spcPts val="2735"/>
              </a:lnSpc>
              <a:spcBef>
                <a:spcPts val="215"/>
              </a:spcBef>
              <a:buFont typeface="Arial MT"/>
              <a:buChar char="•"/>
              <a:tabLst>
                <a:tab pos="266700" algn="l"/>
              </a:tabLst>
            </a:pPr>
            <a:r>
              <a:rPr sz="2400" spc="-20" dirty="0">
                <a:latin typeface="Calibri"/>
                <a:cs typeface="Calibri"/>
              </a:rPr>
              <a:t>So,</a:t>
            </a:r>
            <a:r>
              <a:rPr sz="2400" spc="-10" dirty="0">
                <a:latin typeface="Calibri"/>
                <a:cs typeface="Calibri"/>
              </a:rPr>
              <a:t> </a:t>
            </a:r>
            <a:r>
              <a:rPr sz="2400" spc="-55" dirty="0">
                <a:latin typeface="Calibri"/>
                <a:cs typeface="Calibri"/>
              </a:rPr>
              <a:t>Total</a:t>
            </a:r>
            <a:r>
              <a:rPr sz="2400" spc="-10" dirty="0">
                <a:latin typeface="Calibri"/>
                <a:cs typeface="Calibri"/>
              </a:rPr>
              <a:t> </a:t>
            </a:r>
            <a:r>
              <a:rPr sz="2400" spc="-5" dirty="0">
                <a:latin typeface="Calibri"/>
                <a:cs typeface="Calibri"/>
              </a:rPr>
              <a:t>number</a:t>
            </a:r>
            <a:r>
              <a:rPr sz="2400" spc="-15" dirty="0">
                <a:latin typeface="Calibri"/>
                <a:cs typeface="Calibri"/>
              </a:rPr>
              <a:t> </a:t>
            </a:r>
            <a:r>
              <a:rPr sz="2400" spc="-10" dirty="0">
                <a:latin typeface="Calibri"/>
                <a:cs typeface="Calibri"/>
              </a:rPr>
              <a:t>of nodes</a:t>
            </a:r>
            <a:endParaRPr sz="2400">
              <a:latin typeface="Calibri"/>
              <a:cs typeface="Calibri"/>
            </a:endParaRPr>
          </a:p>
          <a:p>
            <a:pPr marL="266700">
              <a:lnSpc>
                <a:spcPts val="2595"/>
              </a:lnSpc>
            </a:pPr>
            <a:r>
              <a:rPr sz="2400" spc="-15" dirty="0">
                <a:latin typeface="Calibri"/>
                <a:cs typeface="Calibri"/>
              </a:rPr>
              <a:t>generated</a:t>
            </a:r>
            <a:r>
              <a:rPr sz="2400" spc="-20" dirty="0">
                <a:latin typeface="Calibri"/>
                <a:cs typeface="Calibri"/>
              </a:rPr>
              <a:t> </a:t>
            </a:r>
            <a:r>
              <a:rPr sz="2400" spc="-15" dirty="0">
                <a:latin typeface="Calibri"/>
                <a:cs typeface="Calibri"/>
              </a:rPr>
              <a:t>at</a:t>
            </a:r>
            <a:r>
              <a:rPr sz="2400" spc="-20" dirty="0">
                <a:latin typeface="Calibri"/>
                <a:cs typeface="Calibri"/>
              </a:rPr>
              <a:t> </a:t>
            </a:r>
            <a:r>
              <a:rPr sz="2400" dirty="0">
                <a:latin typeface="Calibri"/>
                <a:cs typeface="Calibri"/>
              </a:rPr>
              <a:t>d</a:t>
            </a:r>
            <a:r>
              <a:rPr sz="2400" baseline="24305" dirty="0">
                <a:latin typeface="Calibri"/>
                <a:cs typeface="Calibri"/>
              </a:rPr>
              <a:t>th</a:t>
            </a:r>
            <a:r>
              <a:rPr sz="2400" spc="232" baseline="24305" dirty="0">
                <a:latin typeface="Calibri"/>
                <a:cs typeface="Calibri"/>
              </a:rPr>
              <a:t> </a:t>
            </a:r>
            <a:r>
              <a:rPr sz="2400" spc="-10" dirty="0">
                <a:latin typeface="Calibri"/>
                <a:cs typeface="Calibri"/>
              </a:rPr>
              <a:t>level</a:t>
            </a:r>
            <a:r>
              <a:rPr sz="2400" spc="5" dirty="0">
                <a:latin typeface="Calibri"/>
                <a:cs typeface="Calibri"/>
              </a:rPr>
              <a:t> </a:t>
            </a:r>
            <a:r>
              <a:rPr sz="2400" dirty="0">
                <a:latin typeface="Calibri"/>
                <a:cs typeface="Calibri"/>
              </a:rPr>
              <a:t>=</a:t>
            </a:r>
            <a:r>
              <a:rPr sz="2400" spc="-20" dirty="0">
                <a:latin typeface="Calibri"/>
                <a:cs typeface="Calibri"/>
              </a:rPr>
              <a:t> </a:t>
            </a:r>
            <a:r>
              <a:rPr sz="2400" spc="-5" dirty="0">
                <a:latin typeface="Calibri"/>
                <a:cs typeface="Calibri"/>
              </a:rPr>
              <a:t>b(b</a:t>
            </a:r>
            <a:r>
              <a:rPr sz="2400" spc="-7" baseline="24305" dirty="0">
                <a:latin typeface="Calibri"/>
                <a:cs typeface="Calibri"/>
              </a:rPr>
              <a:t>d</a:t>
            </a:r>
            <a:r>
              <a:rPr sz="2400" spc="-5" dirty="0">
                <a:latin typeface="Calibri"/>
                <a:cs typeface="Calibri"/>
              </a:rPr>
              <a:t>-1)</a:t>
            </a:r>
            <a:endParaRPr sz="2400">
              <a:latin typeface="Calibri"/>
              <a:cs typeface="Calibri"/>
            </a:endParaRPr>
          </a:p>
          <a:p>
            <a:pPr marL="266700">
              <a:lnSpc>
                <a:spcPts val="2735"/>
              </a:lnSpc>
            </a:pPr>
            <a:r>
              <a:rPr sz="2400" spc="-10" dirty="0">
                <a:latin typeface="Calibri"/>
                <a:cs typeface="Calibri"/>
              </a:rPr>
              <a:t>=b</a:t>
            </a:r>
            <a:r>
              <a:rPr sz="2400" spc="-15" baseline="24305" dirty="0">
                <a:latin typeface="Calibri"/>
                <a:cs typeface="Calibri"/>
              </a:rPr>
              <a:t>d+1</a:t>
            </a:r>
            <a:r>
              <a:rPr sz="2400" spc="-10" dirty="0">
                <a:latin typeface="Calibri"/>
                <a:cs typeface="Calibri"/>
              </a:rPr>
              <a:t>-b</a:t>
            </a:r>
            <a:endParaRPr sz="2400">
              <a:latin typeface="Calibri"/>
              <a:cs typeface="Calibri"/>
            </a:endParaRPr>
          </a:p>
          <a:p>
            <a:pPr marL="266700" indent="-228600">
              <a:lnSpc>
                <a:spcPts val="2740"/>
              </a:lnSpc>
              <a:spcBef>
                <a:spcPts val="215"/>
              </a:spcBef>
              <a:buFont typeface="Arial MT"/>
              <a:buChar char="•"/>
              <a:tabLst>
                <a:tab pos="266700" algn="l"/>
              </a:tabLst>
            </a:pPr>
            <a:r>
              <a:rPr sz="2400" spc="-10" dirty="0">
                <a:latin typeface="Calibri"/>
                <a:cs typeface="Calibri"/>
              </a:rPr>
              <a:t>Again,</a:t>
            </a:r>
            <a:r>
              <a:rPr sz="2400" spc="-25" dirty="0">
                <a:latin typeface="Calibri"/>
                <a:cs typeface="Calibri"/>
              </a:rPr>
              <a:t> </a:t>
            </a:r>
            <a:r>
              <a:rPr sz="2400" spc="-55" dirty="0">
                <a:latin typeface="Calibri"/>
                <a:cs typeface="Calibri"/>
              </a:rPr>
              <a:t>Total</a:t>
            </a:r>
            <a:r>
              <a:rPr sz="2400" spc="-10" dirty="0">
                <a:latin typeface="Calibri"/>
                <a:cs typeface="Calibri"/>
              </a:rPr>
              <a:t> </a:t>
            </a:r>
            <a:r>
              <a:rPr sz="2400" spc="-5" dirty="0">
                <a:latin typeface="Calibri"/>
                <a:cs typeface="Calibri"/>
              </a:rPr>
              <a:t>number</a:t>
            </a:r>
            <a:r>
              <a:rPr sz="2400" spc="-10" dirty="0">
                <a:latin typeface="Calibri"/>
                <a:cs typeface="Calibri"/>
              </a:rPr>
              <a:t> of nodes</a:t>
            </a:r>
            <a:endParaRPr sz="2400">
              <a:latin typeface="Calibri"/>
              <a:cs typeface="Calibri"/>
            </a:endParaRPr>
          </a:p>
          <a:p>
            <a:pPr marL="266700">
              <a:lnSpc>
                <a:spcPts val="2595"/>
              </a:lnSpc>
            </a:pPr>
            <a:r>
              <a:rPr sz="2400" spc="-15" dirty="0">
                <a:latin typeface="Calibri"/>
                <a:cs typeface="Calibri"/>
              </a:rPr>
              <a:t>generated</a:t>
            </a:r>
            <a:r>
              <a:rPr sz="2400" spc="-30" dirty="0">
                <a:latin typeface="Calibri"/>
                <a:cs typeface="Calibri"/>
              </a:rPr>
              <a:t> </a:t>
            </a:r>
            <a:r>
              <a:rPr sz="2400" dirty="0">
                <a:latin typeface="Calibri"/>
                <a:cs typeface="Calibri"/>
              </a:rPr>
              <a:t>=</a:t>
            </a:r>
            <a:r>
              <a:rPr sz="2400" spc="-20" dirty="0">
                <a:latin typeface="Calibri"/>
                <a:cs typeface="Calibri"/>
              </a:rPr>
              <a:t> </a:t>
            </a:r>
            <a:r>
              <a:rPr sz="2400" spc="-5" dirty="0">
                <a:latin typeface="Calibri"/>
                <a:cs typeface="Calibri"/>
              </a:rPr>
              <a:t>1+b+b</a:t>
            </a:r>
            <a:r>
              <a:rPr sz="2400" spc="-7" baseline="24305" dirty="0">
                <a:latin typeface="Calibri"/>
                <a:cs typeface="Calibri"/>
              </a:rPr>
              <a:t>2</a:t>
            </a:r>
            <a:r>
              <a:rPr sz="2400" spc="-5" dirty="0">
                <a:latin typeface="Calibri"/>
                <a:cs typeface="Calibri"/>
              </a:rPr>
              <a:t>+…+b</a:t>
            </a:r>
            <a:r>
              <a:rPr sz="2400" spc="-7" baseline="24305" dirty="0">
                <a:latin typeface="Calibri"/>
                <a:cs typeface="Calibri"/>
              </a:rPr>
              <a:t>d+1</a:t>
            </a:r>
            <a:r>
              <a:rPr sz="2400" spc="-5" dirty="0">
                <a:latin typeface="Calibri"/>
                <a:cs typeface="Calibri"/>
              </a:rPr>
              <a:t>-b</a:t>
            </a:r>
            <a:endParaRPr sz="2400">
              <a:latin typeface="Calibri"/>
              <a:cs typeface="Calibri"/>
            </a:endParaRPr>
          </a:p>
          <a:p>
            <a:pPr marL="266700">
              <a:lnSpc>
                <a:spcPts val="2735"/>
              </a:lnSpc>
            </a:pPr>
            <a:r>
              <a:rPr sz="2400" spc="-5" dirty="0">
                <a:latin typeface="Calibri"/>
                <a:cs typeface="Calibri"/>
              </a:rPr>
              <a:t>=O(b</a:t>
            </a:r>
            <a:r>
              <a:rPr sz="2400" spc="-7" baseline="24305" dirty="0">
                <a:latin typeface="Calibri"/>
                <a:cs typeface="Calibri"/>
              </a:rPr>
              <a:t>d+1</a:t>
            </a:r>
            <a:r>
              <a:rPr sz="2400" spc="-5" dirty="0">
                <a:latin typeface="Calibri"/>
                <a:cs typeface="Calibri"/>
              </a:rPr>
              <a:t>)=O(b</a:t>
            </a:r>
            <a:r>
              <a:rPr sz="2400" spc="-7" baseline="24305" dirty="0">
                <a:latin typeface="Calibri"/>
                <a:cs typeface="Calibri"/>
              </a:rPr>
              <a:t>d</a:t>
            </a:r>
            <a:r>
              <a:rPr sz="2400" spc="-5" dirty="0">
                <a:latin typeface="Calibri"/>
                <a:cs typeface="Calibri"/>
              </a:rPr>
              <a:t>)</a:t>
            </a:r>
            <a:endParaRPr sz="2400">
              <a:latin typeface="Calibri"/>
              <a:cs typeface="Calibri"/>
            </a:endParaRPr>
          </a:p>
          <a:p>
            <a:pPr marL="266700" marR="30480" indent="-228600">
              <a:lnSpc>
                <a:spcPct val="90000"/>
              </a:lnSpc>
              <a:spcBef>
                <a:spcPts val="490"/>
              </a:spcBef>
              <a:buFont typeface="Arial MT"/>
              <a:buChar char="•"/>
              <a:tabLst>
                <a:tab pos="266700" algn="l"/>
              </a:tabLst>
            </a:pPr>
            <a:r>
              <a:rPr sz="2400" spc="-5" dirty="0">
                <a:latin typeface="Calibri"/>
                <a:cs typeface="Calibri"/>
              </a:rPr>
              <a:t>Hence, </a:t>
            </a:r>
            <a:r>
              <a:rPr sz="2400" dirty="0">
                <a:latin typeface="Calibri"/>
                <a:cs typeface="Calibri"/>
              </a:rPr>
              <a:t>time </a:t>
            </a:r>
            <a:r>
              <a:rPr sz="2400" spc="-10" dirty="0">
                <a:latin typeface="Calibri"/>
                <a:cs typeface="Calibri"/>
              </a:rPr>
              <a:t>complexity </a:t>
            </a:r>
            <a:r>
              <a:rPr sz="2400" dirty="0">
                <a:latin typeface="Calibri"/>
                <a:cs typeface="Calibri"/>
              </a:rPr>
              <a:t>is </a:t>
            </a:r>
            <a:r>
              <a:rPr sz="2400" spc="-10" dirty="0">
                <a:latin typeface="Calibri"/>
                <a:cs typeface="Calibri"/>
              </a:rPr>
              <a:t>O(b</a:t>
            </a:r>
            <a:r>
              <a:rPr sz="2400" spc="-15" baseline="24305" dirty="0">
                <a:latin typeface="Calibri"/>
                <a:cs typeface="Calibri"/>
              </a:rPr>
              <a:t>d+1</a:t>
            </a:r>
            <a:r>
              <a:rPr sz="2400" spc="-10" dirty="0">
                <a:latin typeface="Calibri"/>
                <a:cs typeface="Calibri"/>
              </a:rPr>
              <a:t>) </a:t>
            </a:r>
            <a:r>
              <a:rPr sz="2400" spc="-5" dirty="0">
                <a:latin typeface="Calibri"/>
                <a:cs typeface="Calibri"/>
              </a:rPr>
              <a:t> where,</a:t>
            </a:r>
            <a:r>
              <a:rPr sz="2400" spc="105" dirty="0">
                <a:latin typeface="Calibri"/>
                <a:cs typeface="Calibri"/>
              </a:rPr>
              <a:t> </a:t>
            </a:r>
            <a:r>
              <a:rPr sz="2400" spc="-5" dirty="0">
                <a:latin typeface="Calibri"/>
                <a:cs typeface="Calibri"/>
              </a:rPr>
              <a:t>b=</a:t>
            </a:r>
            <a:r>
              <a:rPr sz="2400" spc="105" dirty="0">
                <a:latin typeface="Calibri"/>
                <a:cs typeface="Calibri"/>
              </a:rPr>
              <a:t> </a:t>
            </a:r>
            <a:r>
              <a:rPr sz="2400" spc="-5" dirty="0">
                <a:latin typeface="Calibri"/>
                <a:cs typeface="Calibri"/>
              </a:rPr>
              <a:t>branching</a:t>
            </a:r>
            <a:r>
              <a:rPr sz="2400" spc="90" dirty="0">
                <a:latin typeface="Calibri"/>
                <a:cs typeface="Calibri"/>
              </a:rPr>
              <a:t> </a:t>
            </a:r>
            <a:r>
              <a:rPr sz="2400" spc="-15" dirty="0">
                <a:latin typeface="Calibri"/>
                <a:cs typeface="Calibri"/>
              </a:rPr>
              <a:t>factor</a:t>
            </a:r>
            <a:r>
              <a:rPr sz="2400" spc="85" dirty="0">
                <a:latin typeface="Calibri"/>
                <a:cs typeface="Calibri"/>
              </a:rPr>
              <a:t> </a:t>
            </a:r>
            <a:r>
              <a:rPr sz="2400" dirty="0">
                <a:latin typeface="Calibri"/>
                <a:cs typeface="Calibri"/>
              </a:rPr>
              <a:t>and </a:t>
            </a:r>
            <a:r>
              <a:rPr sz="2400" spc="5" dirty="0">
                <a:latin typeface="Calibri"/>
                <a:cs typeface="Calibri"/>
              </a:rPr>
              <a:t> </a:t>
            </a:r>
            <a:r>
              <a:rPr sz="2400" spc="-5" dirty="0">
                <a:latin typeface="Calibri"/>
                <a:cs typeface="Calibri"/>
              </a:rPr>
              <a:t>d= </a:t>
            </a:r>
            <a:r>
              <a:rPr sz="2400" spc="-10" dirty="0">
                <a:latin typeface="Calibri"/>
                <a:cs typeface="Calibri"/>
              </a:rPr>
              <a:t>level </a:t>
            </a:r>
            <a:r>
              <a:rPr sz="2400" spc="-5" dirty="0">
                <a:latin typeface="Calibri"/>
                <a:cs typeface="Calibri"/>
              </a:rPr>
              <a:t>of </a:t>
            </a:r>
            <a:r>
              <a:rPr sz="2400" spc="-10" dirty="0">
                <a:latin typeface="Calibri"/>
                <a:cs typeface="Calibri"/>
              </a:rPr>
              <a:t>goal </a:t>
            </a:r>
            <a:r>
              <a:rPr sz="2400" spc="-5" dirty="0">
                <a:latin typeface="Calibri"/>
                <a:cs typeface="Calibri"/>
              </a:rPr>
              <a:t>node </a:t>
            </a:r>
            <a:r>
              <a:rPr sz="2400" dirty="0">
                <a:latin typeface="Calibri"/>
                <a:cs typeface="Calibri"/>
              </a:rPr>
              <a:t>in the </a:t>
            </a:r>
            <a:r>
              <a:rPr sz="2400" spc="-10" dirty="0">
                <a:latin typeface="Calibri"/>
                <a:cs typeface="Calibri"/>
              </a:rPr>
              <a:t>search </a:t>
            </a:r>
            <a:r>
              <a:rPr sz="2400" spc="-530" dirty="0">
                <a:latin typeface="Calibri"/>
                <a:cs typeface="Calibri"/>
              </a:rPr>
              <a:t> </a:t>
            </a:r>
            <a:r>
              <a:rPr sz="2400" spc="-5" dirty="0">
                <a:latin typeface="Calibri"/>
                <a:cs typeface="Calibri"/>
              </a:rPr>
              <a:t>table</a:t>
            </a:r>
            <a:endParaRPr sz="24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600950" cy="697230"/>
          </a:xfrm>
          <a:prstGeom prst="rect">
            <a:avLst/>
          </a:prstGeom>
        </p:spPr>
        <p:txBody>
          <a:bodyPr vert="horz" wrap="square" lIns="0" tIns="13335" rIns="0" bIns="0" rtlCol="0">
            <a:spAutoFit/>
          </a:bodyPr>
          <a:lstStyle/>
          <a:p>
            <a:pPr marL="12700">
              <a:lnSpc>
                <a:spcPct val="100000"/>
              </a:lnSpc>
              <a:spcBef>
                <a:spcPts val="105"/>
              </a:spcBef>
            </a:pPr>
            <a:r>
              <a:rPr b="1" spc="-10" dirty="0"/>
              <a:t>Breadth</a:t>
            </a:r>
            <a:r>
              <a:rPr b="1" spc="-30" dirty="0"/>
              <a:t> </a:t>
            </a:r>
            <a:r>
              <a:rPr b="1" spc="-25" dirty="0"/>
              <a:t>First</a:t>
            </a:r>
            <a:r>
              <a:rPr b="1" spc="-35" dirty="0"/>
              <a:t> </a:t>
            </a:r>
            <a:r>
              <a:rPr b="1" spc="-10" dirty="0"/>
              <a:t>Search:</a:t>
            </a:r>
            <a:r>
              <a:rPr b="1" spc="-30" dirty="0"/>
              <a:t> </a:t>
            </a:r>
            <a:r>
              <a:rPr b="1" spc="-15" dirty="0"/>
              <a:t>Four</a:t>
            </a:r>
            <a:r>
              <a:rPr b="1" spc="-20" dirty="0"/>
              <a:t> </a:t>
            </a:r>
            <a:r>
              <a:rPr b="1" spc="-10" dirty="0"/>
              <a:t>Criteria</a:t>
            </a:r>
          </a:p>
        </p:txBody>
      </p:sp>
      <p:sp>
        <p:nvSpPr>
          <p:cNvPr id="3" name="object 3"/>
          <p:cNvSpPr txBox="1"/>
          <p:nvPr/>
        </p:nvSpPr>
        <p:spPr>
          <a:xfrm>
            <a:off x="891539" y="1756565"/>
            <a:ext cx="4877435" cy="2000250"/>
          </a:xfrm>
          <a:prstGeom prst="rect">
            <a:avLst/>
          </a:prstGeom>
        </p:spPr>
        <p:txBody>
          <a:bodyPr vert="horz" wrap="square" lIns="0" tIns="48895" rIns="0" bIns="0" rtlCol="0">
            <a:spAutoFit/>
          </a:bodyPr>
          <a:lstStyle/>
          <a:p>
            <a:pPr marL="266700" indent="-228600">
              <a:lnSpc>
                <a:spcPct val="100000"/>
              </a:lnSpc>
              <a:spcBef>
                <a:spcPts val="385"/>
              </a:spcBef>
              <a:buFont typeface="Arial MT"/>
              <a:buChar char="•"/>
              <a:tabLst>
                <a:tab pos="266700" algn="l"/>
              </a:tabLst>
            </a:pPr>
            <a:r>
              <a:rPr sz="2800" spc="-5" dirty="0">
                <a:latin typeface="Calibri"/>
                <a:cs typeface="Calibri"/>
              </a:rPr>
              <a:t>Space</a:t>
            </a:r>
            <a:r>
              <a:rPr sz="2800" spc="-35" dirty="0">
                <a:latin typeface="Calibri"/>
                <a:cs typeface="Calibri"/>
              </a:rPr>
              <a:t> </a:t>
            </a:r>
            <a:r>
              <a:rPr sz="2800" spc="-10" dirty="0">
                <a:latin typeface="Calibri"/>
                <a:cs typeface="Calibri"/>
              </a:rPr>
              <a:t>Complexity</a:t>
            </a:r>
            <a:endParaRPr sz="2800" dirty="0">
              <a:latin typeface="Calibri"/>
              <a:cs typeface="Calibri"/>
            </a:endParaRPr>
          </a:p>
          <a:p>
            <a:pPr marL="723900" lvl="1" indent="-229235">
              <a:lnSpc>
                <a:spcPct val="100000"/>
              </a:lnSpc>
              <a:spcBef>
                <a:spcPts val="245"/>
              </a:spcBef>
              <a:buFont typeface="Arial MT"/>
              <a:buChar char="•"/>
              <a:tabLst>
                <a:tab pos="724535" algn="l"/>
              </a:tabLst>
            </a:pPr>
            <a:r>
              <a:rPr sz="2400" spc="-5" dirty="0">
                <a:latin typeface="Calibri"/>
                <a:cs typeface="Calibri"/>
              </a:rPr>
              <a:t>Same</a:t>
            </a:r>
            <a:r>
              <a:rPr sz="2400" spc="-30" dirty="0">
                <a:latin typeface="Calibri"/>
                <a:cs typeface="Calibri"/>
              </a:rPr>
              <a:t> </a:t>
            </a:r>
            <a:r>
              <a:rPr sz="2400" dirty="0">
                <a:latin typeface="Calibri"/>
                <a:cs typeface="Calibri"/>
              </a:rPr>
              <a:t>as</a:t>
            </a:r>
            <a:r>
              <a:rPr sz="2400" spc="-35" dirty="0">
                <a:latin typeface="Calibri"/>
                <a:cs typeface="Calibri"/>
              </a:rPr>
              <a:t> </a:t>
            </a:r>
            <a:r>
              <a:rPr sz="2400" dirty="0">
                <a:latin typeface="Calibri"/>
                <a:cs typeface="Calibri"/>
              </a:rPr>
              <a:t>time</a:t>
            </a:r>
            <a:r>
              <a:rPr sz="2400" spc="-30" dirty="0">
                <a:latin typeface="Calibri"/>
                <a:cs typeface="Calibri"/>
              </a:rPr>
              <a:t> </a:t>
            </a:r>
            <a:r>
              <a:rPr sz="2400" spc="-10" dirty="0">
                <a:latin typeface="Calibri"/>
                <a:cs typeface="Calibri"/>
              </a:rPr>
              <a:t>complexity</a:t>
            </a:r>
            <a:endParaRPr sz="2400" dirty="0">
              <a:latin typeface="Calibri"/>
              <a:cs typeface="Calibri"/>
            </a:endParaRPr>
          </a:p>
          <a:p>
            <a:pPr marL="494665" lvl="1">
              <a:lnSpc>
                <a:spcPct val="100000"/>
              </a:lnSpc>
              <a:spcBef>
                <a:spcPts val="219"/>
              </a:spcBef>
              <a:tabLst>
                <a:tab pos="724535" algn="l"/>
              </a:tabLst>
            </a:pPr>
            <a:r>
              <a:rPr sz="2400" dirty="0">
                <a:latin typeface="Calibri"/>
                <a:cs typeface="Calibri"/>
              </a:rPr>
              <a:t>i.e.</a:t>
            </a:r>
            <a:r>
              <a:rPr sz="2400" spc="-45" dirty="0">
                <a:latin typeface="Calibri"/>
                <a:cs typeface="Calibri"/>
              </a:rPr>
              <a:t> </a:t>
            </a:r>
            <a:r>
              <a:rPr sz="2400" spc="-10" dirty="0">
                <a:latin typeface="Calibri"/>
                <a:cs typeface="Calibri"/>
              </a:rPr>
              <a:t>O(b</a:t>
            </a:r>
            <a:r>
              <a:rPr sz="2400" spc="-15" baseline="24305" dirty="0">
                <a:latin typeface="Calibri"/>
                <a:cs typeface="Calibri"/>
              </a:rPr>
              <a:t>d+1</a:t>
            </a:r>
            <a:r>
              <a:rPr sz="2400" spc="-10" dirty="0">
                <a:latin typeface="Calibri"/>
                <a:cs typeface="Calibri"/>
              </a:rPr>
              <a:t>)</a:t>
            </a:r>
            <a:endParaRPr sz="2400" dirty="0">
              <a:latin typeface="Calibri"/>
              <a:cs typeface="Calibri"/>
            </a:endParaRPr>
          </a:p>
          <a:p>
            <a:pPr marL="723900" lvl="1" indent="-229235">
              <a:lnSpc>
                <a:spcPts val="2735"/>
              </a:lnSpc>
              <a:spcBef>
                <a:spcPts val="200"/>
              </a:spcBef>
              <a:buFont typeface="Arial MT"/>
              <a:buChar char="•"/>
              <a:tabLst>
                <a:tab pos="724535" algn="l"/>
              </a:tabLst>
            </a:pPr>
            <a:r>
              <a:rPr sz="2400" spc="-5" dirty="0">
                <a:latin typeface="Calibri"/>
                <a:cs typeface="Calibri"/>
              </a:rPr>
              <a:t>Since</a:t>
            </a:r>
            <a:r>
              <a:rPr sz="2400" spc="-15" dirty="0">
                <a:latin typeface="Calibri"/>
                <a:cs typeface="Calibri"/>
              </a:rPr>
              <a:t> </a:t>
            </a:r>
            <a:r>
              <a:rPr sz="2400" dirty="0">
                <a:latin typeface="Calibri"/>
                <a:cs typeface="Calibri"/>
              </a:rPr>
              <a:t>each</a:t>
            </a:r>
            <a:r>
              <a:rPr sz="2400" spc="-25" dirty="0">
                <a:latin typeface="Calibri"/>
                <a:cs typeface="Calibri"/>
              </a:rPr>
              <a:t> </a:t>
            </a:r>
            <a:r>
              <a:rPr sz="2400" spc="-5" dirty="0">
                <a:latin typeface="Calibri"/>
                <a:cs typeface="Calibri"/>
              </a:rPr>
              <a:t>node</a:t>
            </a:r>
            <a:r>
              <a:rPr sz="2400" dirty="0">
                <a:latin typeface="Calibri"/>
                <a:cs typeface="Calibri"/>
              </a:rPr>
              <a:t> </a:t>
            </a:r>
            <a:r>
              <a:rPr sz="2400" spc="-5" dirty="0">
                <a:latin typeface="Calibri"/>
                <a:cs typeface="Calibri"/>
              </a:rPr>
              <a:t>has</a:t>
            </a:r>
            <a:r>
              <a:rPr sz="2400" spc="-30" dirty="0">
                <a:latin typeface="Calibri"/>
                <a:cs typeface="Calibri"/>
              </a:rPr>
              <a:t> </a:t>
            </a:r>
            <a:r>
              <a:rPr sz="2400" spc="-15" dirty="0">
                <a:latin typeface="Calibri"/>
                <a:cs typeface="Calibri"/>
              </a:rPr>
              <a:t>to</a:t>
            </a:r>
            <a:r>
              <a:rPr sz="2400" spc="-20" dirty="0">
                <a:latin typeface="Calibri"/>
                <a:cs typeface="Calibri"/>
              </a:rPr>
              <a:t> </a:t>
            </a:r>
            <a:r>
              <a:rPr sz="2400" spc="-5" dirty="0">
                <a:latin typeface="Calibri"/>
                <a:cs typeface="Calibri"/>
              </a:rPr>
              <a:t>be </a:t>
            </a:r>
            <a:r>
              <a:rPr sz="2400" spc="-25" dirty="0">
                <a:latin typeface="Calibri"/>
                <a:cs typeface="Calibri"/>
              </a:rPr>
              <a:t>kept </a:t>
            </a:r>
            <a:r>
              <a:rPr sz="2400" dirty="0">
                <a:latin typeface="Calibri"/>
                <a:cs typeface="Calibri"/>
              </a:rPr>
              <a:t>in</a:t>
            </a:r>
          </a:p>
          <a:p>
            <a:pPr marL="723900">
              <a:lnSpc>
                <a:spcPts val="2735"/>
              </a:lnSpc>
            </a:pPr>
            <a:r>
              <a:rPr sz="2400" dirty="0">
                <a:latin typeface="Calibri"/>
                <a:cs typeface="Calibri"/>
              </a:rPr>
              <a:t>the</a:t>
            </a:r>
            <a:r>
              <a:rPr sz="2400" spc="-35" dirty="0">
                <a:latin typeface="Calibri"/>
                <a:cs typeface="Calibri"/>
              </a:rPr>
              <a:t> </a:t>
            </a:r>
            <a:r>
              <a:rPr sz="2400" dirty="0">
                <a:latin typeface="Calibri"/>
                <a:cs typeface="Calibri"/>
              </a:rPr>
              <a:t>memory</a:t>
            </a:r>
          </a:p>
        </p:txBody>
      </p:sp>
      <p:sp>
        <p:nvSpPr>
          <p:cNvPr id="4" name="object 4"/>
          <p:cNvSpPr txBox="1"/>
          <p:nvPr/>
        </p:nvSpPr>
        <p:spPr>
          <a:xfrm>
            <a:off x="6251828" y="1756565"/>
            <a:ext cx="4825365" cy="239331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5" dirty="0">
                <a:latin typeface="Calibri"/>
                <a:cs typeface="Calibri"/>
              </a:rPr>
              <a:t>Disadvantages</a:t>
            </a:r>
            <a:endParaRPr sz="2800">
              <a:latin typeface="Calibri"/>
              <a:cs typeface="Calibri"/>
            </a:endParaRPr>
          </a:p>
          <a:p>
            <a:pPr marL="698500" lvl="1" indent="-228600">
              <a:lnSpc>
                <a:spcPct val="100000"/>
              </a:lnSpc>
              <a:spcBef>
                <a:spcPts val="245"/>
              </a:spcBef>
              <a:buFont typeface="Arial MT"/>
              <a:buChar char="•"/>
              <a:tabLst>
                <a:tab pos="698500" algn="l"/>
              </a:tabLst>
            </a:pPr>
            <a:r>
              <a:rPr sz="2400" dirty="0">
                <a:latin typeface="Calibri"/>
                <a:cs typeface="Calibri"/>
              </a:rPr>
              <a:t>Memory</a:t>
            </a:r>
            <a:r>
              <a:rPr sz="2400" spc="-45" dirty="0">
                <a:latin typeface="Calibri"/>
                <a:cs typeface="Calibri"/>
              </a:rPr>
              <a:t> </a:t>
            </a:r>
            <a:r>
              <a:rPr sz="2400" spc="-25" dirty="0">
                <a:latin typeface="Calibri"/>
                <a:cs typeface="Calibri"/>
              </a:rPr>
              <a:t>Wastage</a:t>
            </a:r>
            <a:endParaRPr sz="2400">
              <a:latin typeface="Calibri"/>
              <a:cs typeface="Calibri"/>
            </a:endParaRPr>
          </a:p>
          <a:p>
            <a:pPr marL="698500" lvl="1" indent="-228600">
              <a:lnSpc>
                <a:spcPct val="100000"/>
              </a:lnSpc>
              <a:spcBef>
                <a:spcPts val="219"/>
              </a:spcBef>
              <a:buFont typeface="Arial MT"/>
              <a:buChar char="•"/>
              <a:tabLst>
                <a:tab pos="698500" algn="l"/>
              </a:tabLst>
            </a:pPr>
            <a:r>
              <a:rPr sz="2400" spc="-15" dirty="0">
                <a:latin typeface="Calibri"/>
                <a:cs typeface="Calibri"/>
              </a:rPr>
              <a:t>Irrelevant</a:t>
            </a:r>
            <a:r>
              <a:rPr sz="2400" spc="-25" dirty="0">
                <a:latin typeface="Calibri"/>
                <a:cs typeface="Calibri"/>
              </a:rPr>
              <a:t> </a:t>
            </a:r>
            <a:r>
              <a:rPr sz="2400" spc="-10" dirty="0">
                <a:latin typeface="Calibri"/>
                <a:cs typeface="Calibri"/>
              </a:rPr>
              <a:t>Operations</a:t>
            </a:r>
            <a:endParaRPr sz="2400">
              <a:latin typeface="Calibri"/>
              <a:cs typeface="Calibri"/>
            </a:endParaRPr>
          </a:p>
          <a:p>
            <a:pPr marL="698500" lvl="1" indent="-228600">
              <a:lnSpc>
                <a:spcPct val="100000"/>
              </a:lnSpc>
              <a:spcBef>
                <a:spcPts val="200"/>
              </a:spcBef>
              <a:buFont typeface="Arial MT"/>
              <a:buChar char="•"/>
              <a:tabLst>
                <a:tab pos="698500" algn="l"/>
              </a:tabLst>
            </a:pPr>
            <a:r>
              <a:rPr sz="2400" spc="-5" dirty="0">
                <a:latin typeface="Calibri"/>
                <a:cs typeface="Calibri"/>
              </a:rPr>
              <a:t>Time</a:t>
            </a:r>
            <a:r>
              <a:rPr sz="2400" spc="-25" dirty="0">
                <a:latin typeface="Calibri"/>
                <a:cs typeface="Calibri"/>
              </a:rPr>
              <a:t> </a:t>
            </a:r>
            <a:r>
              <a:rPr sz="2400" spc="-15" dirty="0">
                <a:latin typeface="Calibri"/>
                <a:cs typeface="Calibri"/>
              </a:rPr>
              <a:t>Intensive</a:t>
            </a:r>
            <a:endParaRPr sz="2400">
              <a:latin typeface="Calibri"/>
              <a:cs typeface="Calibri"/>
            </a:endParaRPr>
          </a:p>
          <a:p>
            <a:pPr marL="698500" marR="5080" lvl="1" indent="-228600">
              <a:lnSpc>
                <a:spcPts val="2590"/>
              </a:lnSpc>
              <a:spcBef>
                <a:spcPts val="550"/>
              </a:spcBef>
              <a:buFont typeface="Arial MT"/>
              <a:buChar char="•"/>
              <a:tabLst>
                <a:tab pos="698500" algn="l"/>
              </a:tabLst>
            </a:pPr>
            <a:r>
              <a:rPr sz="2400" dirty="0">
                <a:latin typeface="Calibri"/>
                <a:cs typeface="Calibri"/>
              </a:rPr>
              <a:t>It</a:t>
            </a:r>
            <a:r>
              <a:rPr sz="2400" spc="-35" dirty="0">
                <a:latin typeface="Calibri"/>
                <a:cs typeface="Calibri"/>
              </a:rPr>
              <a:t> </a:t>
            </a:r>
            <a:r>
              <a:rPr sz="2400" spc="-5" dirty="0">
                <a:latin typeface="Calibri"/>
                <a:cs typeface="Calibri"/>
              </a:rPr>
              <a:t>doesn’t</a:t>
            </a:r>
            <a:r>
              <a:rPr sz="2400" spc="-20" dirty="0">
                <a:latin typeface="Calibri"/>
                <a:cs typeface="Calibri"/>
              </a:rPr>
              <a:t> </a:t>
            </a:r>
            <a:r>
              <a:rPr sz="2400" spc="-10" dirty="0">
                <a:latin typeface="Calibri"/>
                <a:cs typeface="Calibri"/>
              </a:rPr>
              <a:t>assure</a:t>
            </a:r>
            <a:r>
              <a:rPr sz="2400" spc="-15" dirty="0">
                <a:latin typeface="Calibri"/>
                <a:cs typeface="Calibri"/>
              </a:rPr>
              <a:t> </a:t>
            </a:r>
            <a:r>
              <a:rPr sz="2400" dirty="0">
                <a:latin typeface="Calibri"/>
                <a:cs typeface="Calibri"/>
              </a:rPr>
              <a:t>the</a:t>
            </a:r>
            <a:r>
              <a:rPr sz="2400" spc="-15" dirty="0">
                <a:latin typeface="Calibri"/>
                <a:cs typeface="Calibri"/>
              </a:rPr>
              <a:t> </a:t>
            </a:r>
            <a:r>
              <a:rPr sz="2400" spc="-5" dirty="0">
                <a:latin typeface="Calibri"/>
                <a:cs typeface="Calibri"/>
              </a:rPr>
              <a:t>optimal</a:t>
            </a:r>
            <a:r>
              <a:rPr sz="2400" spc="-40" dirty="0">
                <a:latin typeface="Calibri"/>
                <a:cs typeface="Calibri"/>
              </a:rPr>
              <a:t> </a:t>
            </a:r>
            <a:r>
              <a:rPr sz="2400" spc="-15" dirty="0">
                <a:latin typeface="Calibri"/>
                <a:cs typeface="Calibri"/>
              </a:rPr>
              <a:t>cost </a:t>
            </a:r>
            <a:r>
              <a:rPr sz="2400" spc="-530" dirty="0">
                <a:latin typeface="Calibri"/>
                <a:cs typeface="Calibri"/>
              </a:rPr>
              <a:t> </a:t>
            </a:r>
            <a:r>
              <a:rPr sz="2400" spc="-5" dirty="0">
                <a:latin typeface="Calibri"/>
                <a:cs typeface="Calibri"/>
              </a:rPr>
              <a:t>solution</a:t>
            </a:r>
            <a:endParaRPr sz="24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38414-285E-414A-8211-808AA169D2F2}"/>
              </a:ext>
            </a:extLst>
          </p:cNvPr>
          <p:cNvSpPr>
            <a:spLocks noGrp="1"/>
          </p:cNvSpPr>
          <p:nvPr>
            <p:ph idx="1"/>
          </p:nvPr>
        </p:nvSpPr>
        <p:spPr>
          <a:xfrm>
            <a:off x="838200" y="1275644"/>
            <a:ext cx="10515600" cy="4901319"/>
          </a:xfrm>
        </p:spPr>
        <p:txBody>
          <a:bodyPr>
            <a:normAutofit lnSpcReduction="10000"/>
          </a:bodyPr>
          <a:lstStyle/>
          <a:p>
            <a:pPr marL="0" indent="0">
              <a:buNone/>
            </a:pPr>
            <a:r>
              <a:rPr lang="en-US" b="1" dirty="0"/>
              <a:t>Applications Of Breadth-First Search Algorithm</a:t>
            </a:r>
            <a:endParaRPr lang="en-US" dirty="0"/>
          </a:p>
          <a:p>
            <a:pPr>
              <a:buFont typeface="Arial" panose="020B0604020202020204" pitchFamily="34" charset="0"/>
              <a:buChar char="•"/>
            </a:pPr>
            <a:r>
              <a:rPr lang="en-US" sz="2400" dirty="0"/>
              <a:t>Crawlers in Search Engines: Breadth-First Search is one of the main algorithms used for indexing web pages  </a:t>
            </a:r>
          </a:p>
          <a:p>
            <a:pPr>
              <a:buFont typeface="Arial" panose="020B0604020202020204" pitchFamily="34" charset="0"/>
              <a:buChar char="•"/>
            </a:pPr>
            <a:endParaRPr lang="en-US" sz="2400" dirty="0"/>
          </a:p>
          <a:p>
            <a:pPr>
              <a:buFont typeface="Arial" panose="020B0604020202020204" pitchFamily="34" charset="0"/>
              <a:buChar char="•"/>
            </a:pPr>
            <a:r>
              <a:rPr lang="en-US" sz="2400" dirty="0"/>
              <a:t>GPS Navigation systems</a:t>
            </a:r>
          </a:p>
          <a:p>
            <a:pPr>
              <a:buFont typeface="Arial" panose="020B0604020202020204" pitchFamily="34" charset="0"/>
              <a:buChar char="•"/>
            </a:pPr>
            <a:endParaRPr lang="en-US" sz="2400" dirty="0"/>
          </a:p>
          <a:p>
            <a:pPr>
              <a:buFont typeface="Arial" panose="020B0604020202020204" pitchFamily="34" charset="0"/>
              <a:buChar char="•"/>
            </a:pPr>
            <a:r>
              <a:rPr lang="en-US" sz="2400" dirty="0"/>
              <a:t>Find the Shortest Path &amp; Minimum Spanning Tree for an unweighted graph</a:t>
            </a:r>
          </a:p>
          <a:p>
            <a:pPr>
              <a:buFont typeface="Arial" panose="020B0604020202020204" pitchFamily="34" charset="0"/>
              <a:buChar char="•"/>
            </a:pPr>
            <a:endParaRPr lang="en-US" sz="2400" dirty="0"/>
          </a:p>
          <a:p>
            <a:pPr>
              <a:buFont typeface="Arial" panose="020B0604020202020204" pitchFamily="34" charset="0"/>
              <a:buChar char="•"/>
            </a:pPr>
            <a:r>
              <a:rPr lang="en-US" sz="2400" dirty="0"/>
              <a:t>Broadcasting</a:t>
            </a:r>
          </a:p>
          <a:p>
            <a:pPr>
              <a:buFont typeface="Arial" panose="020B0604020202020204" pitchFamily="34" charset="0"/>
              <a:buChar char="•"/>
            </a:pPr>
            <a:endParaRPr lang="en-US" sz="2400" dirty="0"/>
          </a:p>
          <a:p>
            <a:pPr>
              <a:buFont typeface="Arial" panose="020B0604020202020204" pitchFamily="34" charset="0"/>
              <a:buChar char="•"/>
            </a:pPr>
            <a:r>
              <a:rPr lang="en-US" sz="2400" dirty="0"/>
              <a:t>Peer to Peer Networking</a:t>
            </a:r>
          </a:p>
          <a:p>
            <a:endParaRPr lang="en-US" dirty="0"/>
          </a:p>
        </p:txBody>
      </p:sp>
    </p:spTree>
    <p:extLst>
      <p:ext uri="{BB962C8B-B14F-4D97-AF65-F5344CB8AC3E}">
        <p14:creationId xmlns:p14="http://schemas.microsoft.com/office/powerpoint/2010/main" val="3579672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620260" cy="697230"/>
          </a:xfrm>
          <a:prstGeom prst="rect">
            <a:avLst/>
          </a:prstGeom>
        </p:spPr>
        <p:txBody>
          <a:bodyPr vert="horz" wrap="square" lIns="0" tIns="13335" rIns="0" bIns="0" rtlCol="0">
            <a:spAutoFit/>
          </a:bodyPr>
          <a:lstStyle/>
          <a:p>
            <a:pPr marL="12700">
              <a:lnSpc>
                <a:spcPct val="100000"/>
              </a:lnSpc>
              <a:spcBef>
                <a:spcPts val="105"/>
              </a:spcBef>
            </a:pPr>
            <a:r>
              <a:rPr b="1" spc="-15" dirty="0"/>
              <a:t>Uniform</a:t>
            </a:r>
            <a:r>
              <a:rPr b="1" spc="-40" dirty="0"/>
              <a:t> </a:t>
            </a:r>
            <a:r>
              <a:rPr b="1" spc="-20" dirty="0"/>
              <a:t>Cost</a:t>
            </a:r>
            <a:r>
              <a:rPr b="1" spc="-35" dirty="0"/>
              <a:t> </a:t>
            </a:r>
            <a:r>
              <a:rPr b="1" spc="-10" dirty="0"/>
              <a:t>Search</a:t>
            </a:r>
          </a:p>
        </p:txBody>
      </p:sp>
      <p:sp>
        <p:nvSpPr>
          <p:cNvPr id="3" name="object 3"/>
          <p:cNvSpPr txBox="1"/>
          <p:nvPr/>
        </p:nvSpPr>
        <p:spPr>
          <a:xfrm>
            <a:off x="916939" y="1793189"/>
            <a:ext cx="4926965" cy="836294"/>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spc="-5" dirty="0">
                <a:latin typeface="Calibri"/>
                <a:cs typeface="Calibri"/>
              </a:rPr>
              <a:t>It</a:t>
            </a:r>
            <a:r>
              <a:rPr sz="2800" dirty="0">
                <a:latin typeface="Calibri"/>
                <a:cs typeface="Calibri"/>
              </a:rPr>
              <a:t> </a:t>
            </a:r>
            <a:r>
              <a:rPr sz="2800" spc="-15" dirty="0">
                <a:latin typeface="Calibri"/>
                <a:cs typeface="Calibri"/>
              </a:rPr>
              <a:t>expands</a:t>
            </a:r>
            <a:r>
              <a:rPr sz="2800" spc="30" dirty="0">
                <a:latin typeface="Calibri"/>
                <a:cs typeface="Calibri"/>
              </a:rPr>
              <a:t> </a:t>
            </a:r>
            <a:r>
              <a:rPr sz="2800" spc="-5" dirty="0">
                <a:latin typeface="Calibri"/>
                <a:cs typeface="Calibri"/>
              </a:rPr>
              <a:t>the</a:t>
            </a:r>
            <a:r>
              <a:rPr sz="2800" spc="5" dirty="0">
                <a:latin typeface="Calibri"/>
                <a:cs typeface="Calibri"/>
              </a:rPr>
              <a:t> </a:t>
            </a:r>
            <a:r>
              <a:rPr sz="2800" spc="-15" dirty="0">
                <a:latin typeface="Calibri"/>
                <a:cs typeface="Calibri"/>
              </a:rPr>
              <a:t>lowest</a:t>
            </a:r>
            <a:r>
              <a:rPr sz="2800" spc="-5" dirty="0">
                <a:latin typeface="Calibri"/>
                <a:cs typeface="Calibri"/>
              </a:rPr>
              <a:t> </a:t>
            </a:r>
            <a:r>
              <a:rPr sz="2800" spc="-15" dirty="0">
                <a:latin typeface="Calibri"/>
                <a:cs typeface="Calibri"/>
              </a:rPr>
              <a:t>cost</a:t>
            </a:r>
            <a:r>
              <a:rPr sz="2800" spc="10" dirty="0">
                <a:latin typeface="Calibri"/>
                <a:cs typeface="Calibri"/>
              </a:rPr>
              <a:t> </a:t>
            </a:r>
            <a:r>
              <a:rPr sz="2800" spc="-5" dirty="0">
                <a:latin typeface="Calibri"/>
                <a:cs typeface="Calibri"/>
              </a:rPr>
              <a:t>mode </a:t>
            </a:r>
            <a:r>
              <a:rPr sz="2800" spc="-620" dirty="0">
                <a:latin typeface="Calibri"/>
                <a:cs typeface="Calibri"/>
              </a:rPr>
              <a:t> </a:t>
            </a:r>
            <a:r>
              <a:rPr sz="2800" spc="-5" dirty="0">
                <a:latin typeface="Calibri"/>
                <a:cs typeface="Calibri"/>
              </a:rPr>
              <a:t>on</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fringe</a:t>
            </a:r>
            <a:endParaRPr sz="2800">
              <a:latin typeface="Calibri"/>
              <a:cs typeface="Calibri"/>
            </a:endParaRPr>
          </a:p>
        </p:txBody>
      </p:sp>
      <p:sp>
        <p:nvSpPr>
          <p:cNvPr id="4" name="object 4"/>
          <p:cNvSpPr txBox="1"/>
          <p:nvPr/>
        </p:nvSpPr>
        <p:spPr>
          <a:xfrm>
            <a:off x="916939" y="2689986"/>
            <a:ext cx="4848860" cy="3225165"/>
          </a:xfrm>
          <a:prstGeom prst="rect">
            <a:avLst/>
          </a:prstGeom>
        </p:spPr>
        <p:txBody>
          <a:bodyPr vert="horz" wrap="square" lIns="0" tIns="54610" rIns="0" bIns="0" rtlCol="0">
            <a:spAutoFit/>
          </a:bodyPr>
          <a:lstStyle/>
          <a:p>
            <a:pPr marL="241300" marR="5080" indent="-228600">
              <a:lnSpc>
                <a:spcPct val="90000"/>
              </a:lnSpc>
              <a:spcBef>
                <a:spcPts val="430"/>
              </a:spcBef>
              <a:buFont typeface="Arial MT"/>
              <a:buChar char="•"/>
              <a:tabLst>
                <a:tab pos="241300" algn="l"/>
              </a:tabLst>
            </a:pPr>
            <a:r>
              <a:rPr sz="2800" spc="-5" dirty="0">
                <a:latin typeface="Calibri"/>
                <a:cs typeface="Calibri"/>
              </a:rPr>
              <a:t>The</a:t>
            </a:r>
            <a:r>
              <a:rPr sz="2800" spc="-10" dirty="0">
                <a:latin typeface="Calibri"/>
                <a:cs typeface="Calibri"/>
              </a:rPr>
              <a:t> </a:t>
            </a:r>
            <a:r>
              <a:rPr sz="2800" spc="-20" dirty="0">
                <a:latin typeface="Calibri"/>
                <a:cs typeface="Calibri"/>
              </a:rPr>
              <a:t>first</a:t>
            </a:r>
            <a:r>
              <a:rPr sz="2800" spc="20" dirty="0">
                <a:latin typeface="Calibri"/>
                <a:cs typeface="Calibri"/>
              </a:rPr>
              <a:t> </a:t>
            </a:r>
            <a:r>
              <a:rPr sz="2800" spc="-10" dirty="0">
                <a:latin typeface="Calibri"/>
                <a:cs typeface="Calibri"/>
              </a:rPr>
              <a:t>solution</a:t>
            </a:r>
            <a:r>
              <a:rPr sz="2800" spc="30" dirty="0">
                <a:latin typeface="Calibri"/>
                <a:cs typeface="Calibri"/>
              </a:rPr>
              <a:t> </a:t>
            </a:r>
            <a:r>
              <a:rPr sz="2800" spc="-5" dirty="0">
                <a:latin typeface="Calibri"/>
                <a:cs typeface="Calibri"/>
              </a:rPr>
              <a:t>is </a:t>
            </a:r>
            <a:r>
              <a:rPr sz="2800" spc="-15" dirty="0">
                <a:latin typeface="Calibri"/>
                <a:cs typeface="Calibri"/>
              </a:rPr>
              <a:t>guaranteed </a:t>
            </a:r>
            <a:r>
              <a:rPr sz="2800" spc="-10"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be</a:t>
            </a:r>
            <a:r>
              <a:rPr sz="2800" spc="5" dirty="0">
                <a:latin typeface="Calibri"/>
                <a:cs typeface="Calibri"/>
              </a:rPr>
              <a:t> </a:t>
            </a:r>
            <a:r>
              <a:rPr sz="2800" spc="-5" dirty="0">
                <a:latin typeface="Calibri"/>
                <a:cs typeface="Calibri"/>
              </a:rPr>
              <a:t>the</a:t>
            </a:r>
            <a:r>
              <a:rPr sz="2800" spc="-10" dirty="0">
                <a:latin typeface="Calibri"/>
                <a:cs typeface="Calibri"/>
              </a:rPr>
              <a:t> cheapest</a:t>
            </a:r>
            <a:r>
              <a:rPr sz="2800" spc="20" dirty="0">
                <a:latin typeface="Calibri"/>
                <a:cs typeface="Calibri"/>
              </a:rPr>
              <a:t> </a:t>
            </a:r>
            <a:r>
              <a:rPr sz="2800" spc="-5" dirty="0">
                <a:latin typeface="Calibri"/>
                <a:cs typeface="Calibri"/>
              </a:rPr>
              <a:t>one</a:t>
            </a:r>
            <a:r>
              <a:rPr sz="2800" spc="5" dirty="0">
                <a:latin typeface="Calibri"/>
                <a:cs typeface="Calibri"/>
              </a:rPr>
              <a:t> </a:t>
            </a:r>
            <a:r>
              <a:rPr sz="2800" spc="-10" dirty="0">
                <a:latin typeface="Calibri"/>
                <a:cs typeface="Calibri"/>
              </a:rPr>
              <a:t>because </a:t>
            </a:r>
            <a:r>
              <a:rPr sz="2800" spc="-620" dirty="0">
                <a:latin typeface="Calibri"/>
                <a:cs typeface="Calibri"/>
              </a:rPr>
              <a:t> </a:t>
            </a:r>
            <a:r>
              <a:rPr sz="2800" spc="-5" dirty="0">
                <a:latin typeface="Calibri"/>
                <a:cs typeface="Calibri"/>
              </a:rPr>
              <a:t>a</a:t>
            </a:r>
            <a:r>
              <a:rPr sz="2800" spc="5" dirty="0">
                <a:latin typeface="Calibri"/>
                <a:cs typeface="Calibri"/>
              </a:rPr>
              <a:t> </a:t>
            </a:r>
            <a:r>
              <a:rPr sz="2800" spc="-5" dirty="0">
                <a:latin typeface="Calibri"/>
                <a:cs typeface="Calibri"/>
              </a:rPr>
              <a:t>cheaper</a:t>
            </a:r>
            <a:r>
              <a:rPr sz="2800" spc="-10" dirty="0">
                <a:latin typeface="Calibri"/>
                <a:cs typeface="Calibri"/>
              </a:rPr>
              <a:t> </a:t>
            </a:r>
            <a:r>
              <a:rPr sz="2800" spc="-5" dirty="0">
                <a:latin typeface="Calibri"/>
                <a:cs typeface="Calibri"/>
              </a:rPr>
              <a:t>one</a:t>
            </a:r>
            <a:r>
              <a:rPr sz="2800" spc="10" dirty="0">
                <a:latin typeface="Calibri"/>
                <a:cs typeface="Calibri"/>
              </a:rPr>
              <a:t> </a:t>
            </a:r>
            <a:r>
              <a:rPr sz="2800" spc="-10" dirty="0">
                <a:latin typeface="Calibri"/>
                <a:cs typeface="Calibri"/>
              </a:rPr>
              <a:t>would</a:t>
            </a:r>
            <a:r>
              <a:rPr sz="2800" spc="15" dirty="0">
                <a:latin typeface="Calibri"/>
                <a:cs typeface="Calibri"/>
              </a:rPr>
              <a:t> </a:t>
            </a:r>
            <a:r>
              <a:rPr sz="2800" spc="-25" dirty="0">
                <a:latin typeface="Calibri"/>
                <a:cs typeface="Calibri"/>
              </a:rPr>
              <a:t>have </a:t>
            </a:r>
            <a:r>
              <a:rPr sz="2800" spc="-20" dirty="0">
                <a:latin typeface="Calibri"/>
                <a:cs typeface="Calibri"/>
              </a:rPr>
              <a:t> </a:t>
            </a:r>
            <a:r>
              <a:rPr sz="2800" spc="-15" dirty="0">
                <a:latin typeface="Calibri"/>
                <a:cs typeface="Calibri"/>
              </a:rPr>
              <a:t>expanded</a:t>
            </a:r>
            <a:r>
              <a:rPr sz="2800" spc="20" dirty="0">
                <a:latin typeface="Calibri"/>
                <a:cs typeface="Calibri"/>
              </a:rPr>
              <a:t> </a:t>
            </a:r>
            <a:r>
              <a:rPr sz="2800" spc="-5" dirty="0">
                <a:latin typeface="Calibri"/>
                <a:cs typeface="Calibri"/>
              </a:rPr>
              <a:t>earlier and</a:t>
            </a:r>
            <a:r>
              <a:rPr sz="2800" spc="5" dirty="0">
                <a:latin typeface="Calibri"/>
                <a:cs typeface="Calibri"/>
              </a:rPr>
              <a:t> </a:t>
            </a:r>
            <a:r>
              <a:rPr sz="2800" spc="-5" dirty="0">
                <a:latin typeface="Calibri"/>
                <a:cs typeface="Calibri"/>
              </a:rPr>
              <a:t>so</a:t>
            </a:r>
            <a:r>
              <a:rPr sz="2800" spc="15" dirty="0">
                <a:latin typeface="Calibri"/>
                <a:cs typeface="Calibri"/>
              </a:rPr>
              <a:t> </a:t>
            </a:r>
            <a:r>
              <a:rPr sz="2800" spc="-10" dirty="0">
                <a:latin typeface="Calibri"/>
                <a:cs typeface="Calibri"/>
              </a:rPr>
              <a:t>would </a:t>
            </a:r>
            <a:r>
              <a:rPr sz="2800" spc="-5" dirty="0">
                <a:latin typeface="Calibri"/>
                <a:cs typeface="Calibri"/>
              </a:rPr>
              <a:t> </a:t>
            </a:r>
            <a:r>
              <a:rPr sz="2800" spc="-25" dirty="0">
                <a:latin typeface="Calibri"/>
                <a:cs typeface="Calibri"/>
              </a:rPr>
              <a:t>have</a:t>
            </a:r>
            <a:r>
              <a:rPr sz="2800" spc="-5" dirty="0">
                <a:latin typeface="Calibri"/>
                <a:cs typeface="Calibri"/>
              </a:rPr>
              <a:t> been</a:t>
            </a:r>
            <a:r>
              <a:rPr sz="2800" spc="10" dirty="0">
                <a:latin typeface="Calibri"/>
                <a:cs typeface="Calibri"/>
              </a:rPr>
              <a:t> </a:t>
            </a:r>
            <a:r>
              <a:rPr sz="2800" spc="-20" dirty="0">
                <a:latin typeface="Calibri"/>
                <a:cs typeface="Calibri"/>
              </a:rPr>
              <a:t>found</a:t>
            </a:r>
            <a:r>
              <a:rPr sz="2800" spc="25" dirty="0">
                <a:latin typeface="Calibri"/>
                <a:cs typeface="Calibri"/>
              </a:rPr>
              <a:t> </a:t>
            </a:r>
            <a:r>
              <a:rPr sz="2800" spc="-25" dirty="0">
                <a:latin typeface="Calibri"/>
                <a:cs typeface="Calibri"/>
              </a:rPr>
              <a:t>first</a:t>
            </a:r>
            <a:endParaRPr sz="2800">
              <a:latin typeface="Calibri"/>
              <a:cs typeface="Calibri"/>
            </a:endParaRPr>
          </a:p>
          <a:p>
            <a:pPr marL="241300" indent="-228600">
              <a:lnSpc>
                <a:spcPct val="100000"/>
              </a:lnSpc>
              <a:spcBef>
                <a:spcPts val="665"/>
              </a:spcBef>
              <a:buFont typeface="Arial MT"/>
              <a:buChar char="•"/>
              <a:tabLst>
                <a:tab pos="241300" algn="l"/>
              </a:tabLst>
            </a:pPr>
            <a:r>
              <a:rPr sz="2800" spc="-15" dirty="0">
                <a:latin typeface="Calibri"/>
                <a:cs typeface="Calibri"/>
              </a:rPr>
              <a:t>Required</a:t>
            </a:r>
            <a:r>
              <a:rPr sz="2800" spc="15" dirty="0">
                <a:latin typeface="Calibri"/>
                <a:cs typeface="Calibri"/>
              </a:rPr>
              <a:t> </a:t>
            </a:r>
            <a:r>
              <a:rPr sz="2800" spc="-10" dirty="0">
                <a:latin typeface="Calibri"/>
                <a:cs typeface="Calibri"/>
              </a:rPr>
              <a:t>Condition:</a:t>
            </a:r>
            <a:r>
              <a:rPr sz="2800" spc="40" dirty="0">
                <a:latin typeface="Calibri"/>
                <a:cs typeface="Calibri"/>
              </a:rPr>
              <a:t> </a:t>
            </a:r>
            <a:r>
              <a:rPr sz="2800" spc="-5" dirty="0">
                <a:latin typeface="Calibri"/>
                <a:cs typeface="Calibri"/>
              </a:rPr>
              <a:t>A</a:t>
            </a:r>
            <a:r>
              <a:rPr sz="2800" spc="15" dirty="0">
                <a:latin typeface="Calibri"/>
                <a:cs typeface="Calibri"/>
              </a:rPr>
              <a:t> </a:t>
            </a:r>
            <a:r>
              <a:rPr sz="2800" spc="-15" dirty="0">
                <a:latin typeface="Calibri"/>
                <a:cs typeface="Calibri"/>
              </a:rPr>
              <a:t>to </a:t>
            </a:r>
            <a:r>
              <a:rPr sz="2800" spc="-5" dirty="0">
                <a:latin typeface="Calibri"/>
                <a:cs typeface="Calibri"/>
              </a:rPr>
              <a:t>H</a:t>
            </a:r>
            <a:endParaRPr sz="2800">
              <a:latin typeface="Calibri"/>
              <a:cs typeface="Calibri"/>
            </a:endParaRPr>
          </a:p>
          <a:p>
            <a:pPr marL="698500" marR="828040" lvl="1" indent="-228600">
              <a:lnSpc>
                <a:spcPts val="2590"/>
              </a:lnSpc>
              <a:spcBef>
                <a:spcPts val="570"/>
              </a:spcBef>
              <a:buFont typeface="Arial MT"/>
              <a:buChar char="•"/>
              <a:tabLst>
                <a:tab pos="699135" algn="l"/>
              </a:tabLst>
            </a:pPr>
            <a:r>
              <a:rPr sz="2400" spc="-5" dirty="0">
                <a:latin typeface="Calibri"/>
                <a:cs typeface="Calibri"/>
              </a:rPr>
              <a:t>ABEH=21,</a:t>
            </a:r>
            <a:r>
              <a:rPr sz="2400" spc="-35" dirty="0">
                <a:latin typeface="Calibri"/>
                <a:cs typeface="Calibri"/>
              </a:rPr>
              <a:t> </a:t>
            </a:r>
            <a:r>
              <a:rPr sz="2400" spc="-5" dirty="0">
                <a:latin typeface="Calibri"/>
                <a:cs typeface="Calibri"/>
              </a:rPr>
              <a:t>ACH=5,</a:t>
            </a:r>
            <a:r>
              <a:rPr sz="2400" spc="-45" dirty="0">
                <a:latin typeface="Calibri"/>
                <a:cs typeface="Calibri"/>
              </a:rPr>
              <a:t> </a:t>
            </a:r>
            <a:r>
              <a:rPr sz="2400" spc="-5" dirty="0">
                <a:latin typeface="Calibri"/>
                <a:cs typeface="Calibri"/>
              </a:rPr>
              <a:t>ACFH=7, </a:t>
            </a:r>
            <a:r>
              <a:rPr sz="2400" spc="-530" dirty="0">
                <a:latin typeface="Calibri"/>
                <a:cs typeface="Calibri"/>
              </a:rPr>
              <a:t> </a:t>
            </a:r>
            <a:r>
              <a:rPr sz="2400" dirty="0">
                <a:latin typeface="Calibri"/>
                <a:cs typeface="Calibri"/>
              </a:rPr>
              <a:t>ADIH=6</a:t>
            </a:r>
            <a:endParaRPr sz="2400">
              <a:latin typeface="Calibri"/>
              <a:cs typeface="Calibri"/>
            </a:endParaRPr>
          </a:p>
        </p:txBody>
      </p:sp>
      <p:pic>
        <p:nvPicPr>
          <p:cNvPr id="5" name="object 5"/>
          <p:cNvPicPr/>
          <p:nvPr/>
        </p:nvPicPr>
        <p:blipFill>
          <a:blip r:embed="rId2" cstate="print"/>
          <a:stretch>
            <a:fillRect/>
          </a:stretch>
        </p:blipFill>
        <p:spPr>
          <a:xfrm>
            <a:off x="7240523" y="1830323"/>
            <a:ext cx="4073652" cy="4494276"/>
          </a:xfrm>
          <a:prstGeom prst="rect">
            <a:avLst/>
          </a:prstGeom>
        </p:spPr>
      </p:pic>
      <p:sp>
        <p:nvSpPr>
          <p:cNvPr id="6" name="object 6"/>
          <p:cNvSpPr txBox="1"/>
          <p:nvPr/>
        </p:nvSpPr>
        <p:spPr>
          <a:xfrm>
            <a:off x="9277350" y="2037969"/>
            <a:ext cx="1581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A</a:t>
            </a:r>
            <a:endParaRPr sz="1800">
              <a:latin typeface="Calibri"/>
              <a:cs typeface="Calibri"/>
            </a:endParaRPr>
          </a:p>
        </p:txBody>
      </p:sp>
      <p:sp>
        <p:nvSpPr>
          <p:cNvPr id="7" name="object 7"/>
          <p:cNvSpPr txBox="1"/>
          <p:nvPr/>
        </p:nvSpPr>
        <p:spPr>
          <a:xfrm>
            <a:off x="7820025" y="2876803"/>
            <a:ext cx="1498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B</a:t>
            </a:r>
            <a:endParaRPr sz="1800">
              <a:latin typeface="Calibri"/>
              <a:cs typeface="Calibri"/>
            </a:endParaRPr>
          </a:p>
        </p:txBody>
      </p:sp>
      <p:sp>
        <p:nvSpPr>
          <p:cNvPr id="8" name="object 8"/>
          <p:cNvSpPr txBox="1"/>
          <p:nvPr/>
        </p:nvSpPr>
        <p:spPr>
          <a:xfrm>
            <a:off x="9281921" y="3363848"/>
            <a:ext cx="1473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C</a:t>
            </a:r>
            <a:endParaRPr sz="1800">
              <a:latin typeface="Calibri"/>
              <a:cs typeface="Calibri"/>
            </a:endParaRPr>
          </a:p>
        </p:txBody>
      </p:sp>
      <p:sp>
        <p:nvSpPr>
          <p:cNvPr id="9" name="object 9"/>
          <p:cNvSpPr txBox="1"/>
          <p:nvPr/>
        </p:nvSpPr>
        <p:spPr>
          <a:xfrm>
            <a:off x="10593069" y="2876803"/>
            <a:ext cx="16637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D</a:t>
            </a:r>
            <a:endParaRPr sz="1800">
              <a:latin typeface="Calibri"/>
              <a:cs typeface="Calibri"/>
            </a:endParaRPr>
          </a:p>
        </p:txBody>
      </p:sp>
      <p:sp>
        <p:nvSpPr>
          <p:cNvPr id="10" name="object 10"/>
          <p:cNvSpPr txBox="1"/>
          <p:nvPr/>
        </p:nvSpPr>
        <p:spPr>
          <a:xfrm>
            <a:off x="7573771" y="5057902"/>
            <a:ext cx="1371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E</a:t>
            </a:r>
            <a:endParaRPr sz="1800">
              <a:latin typeface="Calibri"/>
              <a:cs typeface="Calibri"/>
            </a:endParaRPr>
          </a:p>
        </p:txBody>
      </p:sp>
      <p:sp>
        <p:nvSpPr>
          <p:cNvPr id="11" name="object 11"/>
          <p:cNvSpPr txBox="1"/>
          <p:nvPr/>
        </p:nvSpPr>
        <p:spPr>
          <a:xfrm>
            <a:off x="9734804" y="4793107"/>
            <a:ext cx="1308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F</a:t>
            </a:r>
            <a:endParaRPr sz="1800">
              <a:latin typeface="Calibri"/>
              <a:cs typeface="Calibri"/>
            </a:endParaRPr>
          </a:p>
        </p:txBody>
      </p:sp>
      <p:sp>
        <p:nvSpPr>
          <p:cNvPr id="12" name="object 12"/>
          <p:cNvSpPr txBox="1"/>
          <p:nvPr/>
        </p:nvSpPr>
        <p:spPr>
          <a:xfrm>
            <a:off x="8625078" y="5789167"/>
            <a:ext cx="16827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H</a:t>
            </a:r>
            <a:endParaRPr sz="1800">
              <a:latin typeface="Calibri"/>
              <a:cs typeface="Calibri"/>
            </a:endParaRPr>
          </a:p>
        </p:txBody>
      </p:sp>
      <p:sp>
        <p:nvSpPr>
          <p:cNvPr id="13" name="object 13"/>
          <p:cNvSpPr txBox="1"/>
          <p:nvPr/>
        </p:nvSpPr>
        <p:spPr>
          <a:xfrm>
            <a:off x="10873485" y="4452873"/>
            <a:ext cx="831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I</a:t>
            </a:r>
            <a:endParaRPr sz="1800">
              <a:latin typeface="Calibri"/>
              <a:cs typeface="Calibri"/>
            </a:endParaRPr>
          </a:p>
        </p:txBody>
      </p:sp>
      <p:sp>
        <p:nvSpPr>
          <p:cNvPr id="14" name="object 14"/>
          <p:cNvSpPr txBox="1"/>
          <p:nvPr/>
        </p:nvSpPr>
        <p:spPr>
          <a:xfrm>
            <a:off x="8253221" y="2220848"/>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
        <p:nvSpPr>
          <p:cNvPr id="15" name="object 15"/>
          <p:cNvSpPr txBox="1"/>
          <p:nvPr/>
        </p:nvSpPr>
        <p:spPr>
          <a:xfrm>
            <a:off x="7242429" y="4041140"/>
            <a:ext cx="25717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1</a:t>
            </a:r>
            <a:r>
              <a:rPr sz="1800" dirty="0">
                <a:latin typeface="Calibri"/>
                <a:cs typeface="Calibri"/>
              </a:rPr>
              <a:t>2</a:t>
            </a:r>
            <a:endParaRPr sz="1800">
              <a:latin typeface="Calibri"/>
              <a:cs typeface="Calibri"/>
            </a:endParaRPr>
          </a:p>
        </p:txBody>
      </p:sp>
      <p:sp>
        <p:nvSpPr>
          <p:cNvPr id="16" name="object 16"/>
          <p:cNvSpPr txBox="1"/>
          <p:nvPr/>
        </p:nvSpPr>
        <p:spPr>
          <a:xfrm>
            <a:off x="7831073" y="5713882"/>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8</a:t>
            </a:r>
            <a:endParaRPr sz="1800">
              <a:latin typeface="Calibri"/>
              <a:cs typeface="Calibri"/>
            </a:endParaRPr>
          </a:p>
        </p:txBody>
      </p:sp>
      <p:sp>
        <p:nvSpPr>
          <p:cNvPr id="17" name="object 17"/>
          <p:cNvSpPr txBox="1"/>
          <p:nvPr/>
        </p:nvSpPr>
        <p:spPr>
          <a:xfrm>
            <a:off x="9041130" y="2693923"/>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4</a:t>
            </a:r>
            <a:endParaRPr sz="1800">
              <a:latin typeface="Calibri"/>
              <a:cs typeface="Calibri"/>
            </a:endParaRPr>
          </a:p>
        </p:txBody>
      </p:sp>
      <p:sp>
        <p:nvSpPr>
          <p:cNvPr id="18" name="object 18"/>
          <p:cNvSpPr txBox="1"/>
          <p:nvPr/>
        </p:nvSpPr>
        <p:spPr>
          <a:xfrm>
            <a:off x="8508618" y="4269994"/>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
        <p:nvSpPr>
          <p:cNvPr id="19" name="object 19"/>
          <p:cNvSpPr txBox="1"/>
          <p:nvPr/>
        </p:nvSpPr>
        <p:spPr>
          <a:xfrm>
            <a:off x="9878694" y="3912184"/>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2</a:t>
            </a:r>
            <a:endParaRPr sz="1800">
              <a:latin typeface="Calibri"/>
              <a:cs typeface="Calibri"/>
            </a:endParaRPr>
          </a:p>
        </p:txBody>
      </p:sp>
      <p:sp>
        <p:nvSpPr>
          <p:cNvPr id="20" name="object 20"/>
          <p:cNvSpPr txBox="1"/>
          <p:nvPr/>
        </p:nvSpPr>
        <p:spPr>
          <a:xfrm>
            <a:off x="9041130" y="5153914"/>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
        <p:nvSpPr>
          <p:cNvPr id="21" name="object 21"/>
          <p:cNvSpPr txBox="1"/>
          <p:nvPr/>
        </p:nvSpPr>
        <p:spPr>
          <a:xfrm>
            <a:off x="10166350" y="1855089"/>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3</a:t>
            </a:r>
            <a:endParaRPr sz="1800">
              <a:latin typeface="Calibri"/>
              <a:cs typeface="Calibri"/>
            </a:endParaRPr>
          </a:p>
        </p:txBody>
      </p:sp>
      <p:sp>
        <p:nvSpPr>
          <p:cNvPr id="22" name="object 22"/>
          <p:cNvSpPr txBox="1"/>
          <p:nvPr/>
        </p:nvSpPr>
        <p:spPr>
          <a:xfrm>
            <a:off x="10994517" y="3535807"/>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2</a:t>
            </a:r>
            <a:endParaRPr sz="1800">
              <a:latin typeface="Calibri"/>
              <a:cs typeface="Calibri"/>
            </a:endParaRPr>
          </a:p>
        </p:txBody>
      </p:sp>
      <p:sp>
        <p:nvSpPr>
          <p:cNvPr id="23" name="object 23"/>
          <p:cNvSpPr txBox="1"/>
          <p:nvPr/>
        </p:nvSpPr>
        <p:spPr>
          <a:xfrm>
            <a:off x="10166350" y="5713882"/>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620260" cy="697230"/>
          </a:xfrm>
          <a:prstGeom prst="rect">
            <a:avLst/>
          </a:prstGeom>
        </p:spPr>
        <p:txBody>
          <a:bodyPr vert="horz" wrap="square" lIns="0" tIns="13335" rIns="0" bIns="0" rtlCol="0">
            <a:spAutoFit/>
          </a:bodyPr>
          <a:lstStyle/>
          <a:p>
            <a:pPr marL="12700">
              <a:lnSpc>
                <a:spcPct val="100000"/>
              </a:lnSpc>
              <a:spcBef>
                <a:spcPts val="105"/>
              </a:spcBef>
            </a:pPr>
            <a:r>
              <a:rPr b="1" spc="-15" dirty="0"/>
              <a:t>Uniform</a:t>
            </a:r>
            <a:r>
              <a:rPr b="1" spc="-40" dirty="0"/>
              <a:t> </a:t>
            </a:r>
            <a:r>
              <a:rPr b="1" spc="-20" dirty="0"/>
              <a:t>Cost</a:t>
            </a:r>
            <a:r>
              <a:rPr b="1" spc="-35" dirty="0"/>
              <a:t> </a:t>
            </a:r>
            <a:r>
              <a:rPr b="1" spc="-10" dirty="0"/>
              <a:t>Search</a:t>
            </a:r>
          </a:p>
        </p:txBody>
      </p:sp>
      <p:sp>
        <p:nvSpPr>
          <p:cNvPr id="3" name="object 3"/>
          <p:cNvSpPr txBox="1"/>
          <p:nvPr/>
        </p:nvSpPr>
        <p:spPr>
          <a:xfrm>
            <a:off x="916939" y="1754788"/>
            <a:ext cx="4675505" cy="4667250"/>
          </a:xfrm>
          <a:prstGeom prst="rect">
            <a:avLst/>
          </a:prstGeom>
        </p:spPr>
        <p:txBody>
          <a:bodyPr vert="horz" wrap="square" lIns="0" tIns="50800" rIns="0" bIns="0" rtlCol="0">
            <a:spAutoFit/>
          </a:bodyPr>
          <a:lstStyle/>
          <a:p>
            <a:pPr marL="241300" indent="-228600">
              <a:lnSpc>
                <a:spcPct val="100000"/>
              </a:lnSpc>
              <a:spcBef>
                <a:spcPts val="400"/>
              </a:spcBef>
              <a:buFont typeface="Arial MT"/>
              <a:buChar char="•"/>
              <a:tabLst>
                <a:tab pos="241300" algn="l"/>
              </a:tabLst>
            </a:pPr>
            <a:r>
              <a:rPr sz="2800" spc="-10" dirty="0">
                <a:latin typeface="Calibri"/>
                <a:cs typeface="Calibri"/>
              </a:rPr>
              <a:t>Solution:</a:t>
            </a:r>
            <a:r>
              <a:rPr sz="2800" spc="20" dirty="0">
                <a:latin typeface="Calibri"/>
                <a:cs typeface="Calibri"/>
              </a:rPr>
              <a:t> </a:t>
            </a:r>
            <a:r>
              <a:rPr sz="2800" spc="-15" dirty="0">
                <a:latin typeface="Calibri"/>
                <a:cs typeface="Calibri"/>
              </a:rPr>
              <a:t>Required</a:t>
            </a:r>
            <a:r>
              <a:rPr sz="2800" spc="20" dirty="0">
                <a:latin typeface="Calibri"/>
                <a:cs typeface="Calibri"/>
              </a:rPr>
              <a:t> </a:t>
            </a:r>
            <a:r>
              <a:rPr sz="2800" spc="-15" dirty="0">
                <a:latin typeface="Calibri"/>
                <a:cs typeface="Calibri"/>
              </a:rPr>
              <a:t>Operation</a:t>
            </a:r>
            <a:endParaRPr sz="2800">
              <a:latin typeface="Calibri"/>
              <a:cs typeface="Calibri"/>
            </a:endParaRPr>
          </a:p>
          <a:p>
            <a:pPr marL="698500" marR="984885" lvl="1" indent="-228600">
              <a:lnSpc>
                <a:spcPts val="2580"/>
              </a:lnSpc>
              <a:spcBef>
                <a:spcPts val="595"/>
              </a:spcBef>
              <a:buFont typeface="Arial MT"/>
              <a:buChar char="•"/>
              <a:tabLst>
                <a:tab pos="699135" algn="l"/>
              </a:tabLst>
            </a:pPr>
            <a:r>
              <a:rPr sz="2400" spc="-5" dirty="0">
                <a:latin typeface="Calibri"/>
                <a:cs typeface="Calibri"/>
              </a:rPr>
              <a:t>Expand</a:t>
            </a:r>
            <a:r>
              <a:rPr sz="2400" spc="-20" dirty="0">
                <a:latin typeface="Calibri"/>
                <a:cs typeface="Calibri"/>
              </a:rPr>
              <a:t> </a:t>
            </a:r>
            <a:r>
              <a:rPr sz="2400" spc="5" dirty="0">
                <a:latin typeface="Calibri"/>
                <a:cs typeface="Calibri"/>
              </a:rPr>
              <a:t>A</a:t>
            </a:r>
            <a:r>
              <a:rPr sz="2400" spc="5" dirty="0">
                <a:latin typeface="Wingdings"/>
                <a:cs typeface="Wingdings"/>
              </a:rPr>
              <a:t></a:t>
            </a:r>
            <a:r>
              <a:rPr sz="2400" spc="-90" dirty="0">
                <a:latin typeface="Times New Roman"/>
                <a:cs typeface="Times New Roman"/>
              </a:rPr>
              <a:t> </a:t>
            </a:r>
            <a:r>
              <a:rPr sz="2400" spc="-10" dirty="0">
                <a:latin typeface="Calibri"/>
                <a:cs typeface="Calibri"/>
              </a:rPr>
              <a:t>Yield</a:t>
            </a:r>
            <a:r>
              <a:rPr sz="2400" spc="-15" dirty="0">
                <a:latin typeface="Calibri"/>
                <a:cs typeface="Calibri"/>
              </a:rPr>
              <a:t> </a:t>
            </a:r>
            <a:r>
              <a:rPr sz="2400" spc="-20" dirty="0">
                <a:latin typeface="Calibri"/>
                <a:cs typeface="Calibri"/>
              </a:rPr>
              <a:t>B,</a:t>
            </a:r>
            <a:r>
              <a:rPr sz="2400" spc="-10" dirty="0">
                <a:latin typeface="Calibri"/>
                <a:cs typeface="Calibri"/>
              </a:rPr>
              <a:t> C,</a:t>
            </a:r>
            <a:r>
              <a:rPr sz="2400" spc="-30" dirty="0">
                <a:latin typeface="Calibri"/>
                <a:cs typeface="Calibri"/>
              </a:rPr>
              <a:t> </a:t>
            </a:r>
            <a:r>
              <a:rPr sz="2400" dirty="0">
                <a:latin typeface="Calibri"/>
                <a:cs typeface="Calibri"/>
              </a:rPr>
              <a:t>D </a:t>
            </a:r>
            <a:r>
              <a:rPr sz="2400" spc="-530" dirty="0">
                <a:latin typeface="Calibri"/>
                <a:cs typeface="Calibri"/>
              </a:rPr>
              <a:t> </a:t>
            </a:r>
            <a:r>
              <a:rPr sz="2400" dirty="0">
                <a:latin typeface="Calibri"/>
                <a:cs typeface="Calibri"/>
              </a:rPr>
              <a:t>With</a:t>
            </a:r>
            <a:r>
              <a:rPr sz="2400" spc="-25" dirty="0">
                <a:latin typeface="Calibri"/>
                <a:cs typeface="Calibri"/>
              </a:rPr>
              <a:t> </a:t>
            </a:r>
            <a:r>
              <a:rPr sz="2400" dirty="0">
                <a:latin typeface="Calibri"/>
                <a:cs typeface="Calibri"/>
              </a:rPr>
              <a:t>AB=1,</a:t>
            </a:r>
            <a:r>
              <a:rPr sz="2400" spc="-50" dirty="0">
                <a:latin typeface="Calibri"/>
                <a:cs typeface="Calibri"/>
              </a:rPr>
              <a:t> </a:t>
            </a:r>
            <a:r>
              <a:rPr sz="2400" spc="-5" dirty="0">
                <a:latin typeface="Calibri"/>
                <a:cs typeface="Calibri"/>
              </a:rPr>
              <a:t>AC=4,</a:t>
            </a:r>
            <a:r>
              <a:rPr sz="2400" spc="-40" dirty="0">
                <a:latin typeface="Calibri"/>
                <a:cs typeface="Calibri"/>
              </a:rPr>
              <a:t> </a:t>
            </a:r>
            <a:r>
              <a:rPr sz="2400" dirty="0">
                <a:latin typeface="Calibri"/>
                <a:cs typeface="Calibri"/>
              </a:rPr>
              <a:t>AD=3</a:t>
            </a:r>
            <a:endParaRPr sz="2400">
              <a:latin typeface="Calibri"/>
              <a:cs typeface="Calibri"/>
            </a:endParaRPr>
          </a:p>
          <a:p>
            <a:pPr marL="698500" lvl="1" indent="-229235">
              <a:lnSpc>
                <a:spcPts val="2730"/>
              </a:lnSpc>
              <a:spcBef>
                <a:spcPts val="190"/>
              </a:spcBef>
              <a:buFont typeface="Arial MT"/>
              <a:buChar char="•"/>
              <a:tabLst>
                <a:tab pos="699135" algn="l"/>
              </a:tabLst>
            </a:pPr>
            <a:r>
              <a:rPr sz="2400" spc="-5" dirty="0">
                <a:latin typeface="Calibri"/>
                <a:cs typeface="Calibri"/>
              </a:rPr>
              <a:t>Expand</a:t>
            </a:r>
            <a:r>
              <a:rPr sz="2400" spc="-15" dirty="0">
                <a:latin typeface="Calibri"/>
                <a:cs typeface="Calibri"/>
              </a:rPr>
              <a:t> </a:t>
            </a:r>
            <a:r>
              <a:rPr sz="2400" dirty="0">
                <a:latin typeface="Calibri"/>
                <a:cs typeface="Calibri"/>
              </a:rPr>
              <a:t>B</a:t>
            </a:r>
            <a:r>
              <a:rPr sz="2400" dirty="0">
                <a:latin typeface="Wingdings"/>
                <a:cs typeface="Wingdings"/>
              </a:rPr>
              <a:t></a:t>
            </a:r>
            <a:r>
              <a:rPr sz="2400" spc="-85" dirty="0">
                <a:latin typeface="Times New Roman"/>
                <a:cs typeface="Times New Roman"/>
              </a:rPr>
              <a:t> </a:t>
            </a:r>
            <a:r>
              <a:rPr sz="2400" spc="-10" dirty="0">
                <a:latin typeface="Calibri"/>
                <a:cs typeface="Calibri"/>
              </a:rPr>
              <a:t>Yield </a:t>
            </a:r>
            <a:r>
              <a:rPr sz="2400" dirty="0">
                <a:latin typeface="Calibri"/>
                <a:cs typeface="Calibri"/>
              </a:rPr>
              <a:t>E</a:t>
            </a:r>
            <a:r>
              <a:rPr sz="2400" spc="-15" dirty="0">
                <a:latin typeface="Calibri"/>
                <a:cs typeface="Calibri"/>
              </a:rPr>
              <a:t> </a:t>
            </a:r>
            <a:r>
              <a:rPr sz="2400" dirty="0">
                <a:latin typeface="Calibri"/>
                <a:cs typeface="Calibri"/>
              </a:rPr>
              <a:t>with</a:t>
            </a:r>
            <a:r>
              <a:rPr sz="2400" spc="-30" dirty="0">
                <a:latin typeface="Calibri"/>
                <a:cs typeface="Calibri"/>
              </a:rPr>
              <a:t> </a:t>
            </a:r>
            <a:r>
              <a:rPr sz="2400" dirty="0">
                <a:latin typeface="Calibri"/>
                <a:cs typeface="Calibri"/>
              </a:rPr>
              <a:t>ABE=13</a:t>
            </a:r>
            <a:endParaRPr sz="2400">
              <a:latin typeface="Calibri"/>
              <a:cs typeface="Calibri"/>
            </a:endParaRPr>
          </a:p>
          <a:p>
            <a:pPr marL="698500">
              <a:lnSpc>
                <a:spcPts val="2730"/>
              </a:lnSpc>
            </a:pPr>
            <a:r>
              <a:rPr sz="2400" dirty="0">
                <a:latin typeface="Calibri"/>
                <a:cs typeface="Calibri"/>
              </a:rPr>
              <a:t>As</a:t>
            </a:r>
            <a:r>
              <a:rPr sz="2400" spc="-15" dirty="0">
                <a:latin typeface="Calibri"/>
                <a:cs typeface="Calibri"/>
              </a:rPr>
              <a:t> </a:t>
            </a:r>
            <a:r>
              <a:rPr sz="2400" spc="-5" dirty="0">
                <a:latin typeface="Calibri"/>
                <a:cs typeface="Calibri"/>
              </a:rPr>
              <a:t>ABE&gt;AC</a:t>
            </a:r>
            <a:r>
              <a:rPr sz="2400" spc="-50" dirty="0">
                <a:latin typeface="Calibri"/>
                <a:cs typeface="Calibri"/>
              </a:rPr>
              <a:t> </a:t>
            </a:r>
            <a:r>
              <a:rPr sz="2400" dirty="0">
                <a:latin typeface="Calibri"/>
                <a:cs typeface="Calibri"/>
              </a:rPr>
              <a:t>and</a:t>
            </a:r>
            <a:r>
              <a:rPr sz="2400" spc="-20" dirty="0">
                <a:latin typeface="Calibri"/>
                <a:cs typeface="Calibri"/>
              </a:rPr>
              <a:t> </a:t>
            </a:r>
            <a:r>
              <a:rPr sz="2400" spc="-5" dirty="0">
                <a:latin typeface="Calibri"/>
                <a:cs typeface="Calibri"/>
              </a:rPr>
              <a:t>ABE&gt;AD</a:t>
            </a:r>
            <a:endParaRPr sz="2400">
              <a:latin typeface="Calibri"/>
              <a:cs typeface="Calibri"/>
            </a:endParaRPr>
          </a:p>
          <a:p>
            <a:pPr marL="698500" marR="261620" lvl="1" indent="-228600">
              <a:lnSpc>
                <a:spcPts val="2570"/>
              </a:lnSpc>
              <a:spcBef>
                <a:spcPts val="575"/>
              </a:spcBef>
              <a:buFont typeface="Arial MT"/>
              <a:buChar char="•"/>
              <a:tabLst>
                <a:tab pos="699135" algn="l"/>
              </a:tabLst>
            </a:pPr>
            <a:r>
              <a:rPr sz="2400" spc="-5" dirty="0">
                <a:latin typeface="Calibri"/>
                <a:cs typeface="Calibri"/>
              </a:rPr>
              <a:t>Expand</a:t>
            </a:r>
            <a:r>
              <a:rPr sz="2400" spc="-20" dirty="0">
                <a:latin typeface="Calibri"/>
                <a:cs typeface="Calibri"/>
              </a:rPr>
              <a:t> </a:t>
            </a:r>
            <a:r>
              <a:rPr sz="2400" dirty="0">
                <a:latin typeface="Calibri"/>
                <a:cs typeface="Calibri"/>
              </a:rPr>
              <a:t>D</a:t>
            </a:r>
            <a:r>
              <a:rPr sz="2400" dirty="0">
                <a:latin typeface="Wingdings"/>
                <a:cs typeface="Wingdings"/>
              </a:rPr>
              <a:t></a:t>
            </a:r>
            <a:r>
              <a:rPr sz="2400" spc="-90" dirty="0">
                <a:latin typeface="Times New Roman"/>
                <a:cs typeface="Times New Roman"/>
              </a:rPr>
              <a:t> </a:t>
            </a:r>
            <a:r>
              <a:rPr sz="2400" spc="-10" dirty="0">
                <a:latin typeface="Calibri"/>
                <a:cs typeface="Calibri"/>
              </a:rPr>
              <a:t>Yield</a:t>
            </a:r>
            <a:r>
              <a:rPr sz="2400" spc="-5" dirty="0">
                <a:latin typeface="Calibri"/>
                <a:cs typeface="Calibri"/>
              </a:rPr>
              <a:t> </a:t>
            </a:r>
            <a:r>
              <a:rPr sz="2400" dirty="0">
                <a:latin typeface="Calibri"/>
                <a:cs typeface="Calibri"/>
              </a:rPr>
              <a:t>I</a:t>
            </a:r>
            <a:r>
              <a:rPr sz="2400" spc="-35" dirty="0">
                <a:latin typeface="Calibri"/>
                <a:cs typeface="Calibri"/>
              </a:rPr>
              <a:t> </a:t>
            </a:r>
            <a:r>
              <a:rPr sz="2400" dirty="0">
                <a:latin typeface="Calibri"/>
                <a:cs typeface="Calibri"/>
              </a:rPr>
              <a:t>with</a:t>
            </a:r>
            <a:r>
              <a:rPr sz="2400" spc="-15" dirty="0">
                <a:latin typeface="Calibri"/>
                <a:cs typeface="Calibri"/>
              </a:rPr>
              <a:t> </a:t>
            </a:r>
            <a:r>
              <a:rPr sz="2400" dirty="0">
                <a:latin typeface="Calibri"/>
                <a:cs typeface="Calibri"/>
              </a:rPr>
              <a:t>ADI=5 </a:t>
            </a:r>
            <a:r>
              <a:rPr sz="2400" spc="-530" dirty="0">
                <a:latin typeface="Calibri"/>
                <a:cs typeface="Calibri"/>
              </a:rPr>
              <a:t> </a:t>
            </a:r>
            <a:r>
              <a:rPr sz="2400" dirty="0">
                <a:latin typeface="Calibri"/>
                <a:cs typeface="Calibri"/>
              </a:rPr>
              <a:t>As</a:t>
            </a:r>
            <a:r>
              <a:rPr sz="2400" spc="-5" dirty="0">
                <a:latin typeface="Calibri"/>
                <a:cs typeface="Calibri"/>
              </a:rPr>
              <a:t> ADI&gt;AC</a:t>
            </a:r>
            <a:endParaRPr sz="2400">
              <a:latin typeface="Calibri"/>
              <a:cs typeface="Calibri"/>
            </a:endParaRPr>
          </a:p>
          <a:p>
            <a:pPr marL="698500" lvl="1" indent="-229235">
              <a:lnSpc>
                <a:spcPts val="2730"/>
              </a:lnSpc>
              <a:spcBef>
                <a:spcPts val="190"/>
              </a:spcBef>
              <a:buFont typeface="Arial MT"/>
              <a:buChar char="•"/>
              <a:tabLst>
                <a:tab pos="699135" algn="l"/>
              </a:tabLst>
            </a:pPr>
            <a:r>
              <a:rPr sz="2400" spc="-5" dirty="0">
                <a:latin typeface="Calibri"/>
                <a:cs typeface="Calibri"/>
              </a:rPr>
              <a:t>Expand</a:t>
            </a:r>
            <a:r>
              <a:rPr sz="2400" spc="-15" dirty="0">
                <a:latin typeface="Calibri"/>
                <a:cs typeface="Calibri"/>
              </a:rPr>
              <a:t> </a:t>
            </a:r>
            <a:r>
              <a:rPr sz="2400" dirty="0">
                <a:latin typeface="Calibri"/>
                <a:cs typeface="Calibri"/>
              </a:rPr>
              <a:t>C</a:t>
            </a:r>
            <a:r>
              <a:rPr sz="2400" dirty="0">
                <a:latin typeface="Wingdings"/>
                <a:cs typeface="Wingdings"/>
              </a:rPr>
              <a:t></a:t>
            </a:r>
            <a:r>
              <a:rPr sz="2400" spc="-95" dirty="0">
                <a:latin typeface="Times New Roman"/>
                <a:cs typeface="Times New Roman"/>
              </a:rPr>
              <a:t> </a:t>
            </a:r>
            <a:r>
              <a:rPr sz="2400" spc="-10" dirty="0">
                <a:latin typeface="Calibri"/>
                <a:cs typeface="Calibri"/>
              </a:rPr>
              <a:t>Yield</a:t>
            </a:r>
            <a:r>
              <a:rPr sz="2400" dirty="0">
                <a:latin typeface="Calibri"/>
                <a:cs typeface="Calibri"/>
              </a:rPr>
              <a:t> H</a:t>
            </a:r>
            <a:r>
              <a:rPr sz="2400" spc="-5"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F</a:t>
            </a:r>
            <a:r>
              <a:rPr sz="2400" spc="-25" dirty="0">
                <a:latin typeface="Calibri"/>
                <a:cs typeface="Calibri"/>
              </a:rPr>
              <a:t> </a:t>
            </a:r>
            <a:r>
              <a:rPr sz="2400" dirty="0">
                <a:latin typeface="Calibri"/>
                <a:cs typeface="Calibri"/>
              </a:rPr>
              <a:t>with</a:t>
            </a:r>
            <a:endParaRPr sz="2400">
              <a:latin typeface="Calibri"/>
              <a:cs typeface="Calibri"/>
            </a:endParaRPr>
          </a:p>
          <a:p>
            <a:pPr marL="698500">
              <a:lnSpc>
                <a:spcPts val="2730"/>
              </a:lnSpc>
            </a:pPr>
            <a:r>
              <a:rPr sz="2400" spc="-5" dirty="0">
                <a:latin typeface="Calibri"/>
                <a:cs typeface="Calibri"/>
              </a:rPr>
              <a:t>ACH=5</a:t>
            </a:r>
            <a:r>
              <a:rPr sz="2400" spc="-55" dirty="0">
                <a:latin typeface="Calibri"/>
                <a:cs typeface="Calibri"/>
              </a:rPr>
              <a:t> </a:t>
            </a:r>
            <a:r>
              <a:rPr sz="2400" dirty="0">
                <a:latin typeface="Calibri"/>
                <a:cs typeface="Calibri"/>
              </a:rPr>
              <a:t>and</a:t>
            </a:r>
            <a:r>
              <a:rPr sz="2400" spc="-35" dirty="0">
                <a:latin typeface="Calibri"/>
                <a:cs typeface="Calibri"/>
              </a:rPr>
              <a:t> </a:t>
            </a:r>
            <a:r>
              <a:rPr sz="2400" spc="-5" dirty="0">
                <a:latin typeface="Calibri"/>
                <a:cs typeface="Calibri"/>
              </a:rPr>
              <a:t>ACF=6</a:t>
            </a:r>
            <a:endParaRPr sz="2400">
              <a:latin typeface="Calibri"/>
              <a:cs typeface="Calibri"/>
            </a:endParaRPr>
          </a:p>
          <a:p>
            <a:pPr marL="698500" lvl="1" indent="-229235">
              <a:lnSpc>
                <a:spcPct val="100000"/>
              </a:lnSpc>
              <a:spcBef>
                <a:spcPts val="215"/>
              </a:spcBef>
              <a:buFont typeface="Arial MT"/>
              <a:buChar char="•"/>
              <a:tabLst>
                <a:tab pos="699135" algn="l"/>
              </a:tabLst>
            </a:pPr>
            <a:r>
              <a:rPr sz="2400" spc="-5" dirty="0">
                <a:latin typeface="Calibri"/>
                <a:cs typeface="Calibri"/>
              </a:rPr>
              <a:t>Solution</a:t>
            </a:r>
            <a:r>
              <a:rPr sz="2400" spc="-45" dirty="0">
                <a:latin typeface="Calibri"/>
                <a:cs typeface="Calibri"/>
              </a:rPr>
              <a:t> </a:t>
            </a:r>
            <a:r>
              <a:rPr sz="2400" spc="-5" dirty="0">
                <a:latin typeface="Calibri"/>
                <a:cs typeface="Calibri"/>
              </a:rPr>
              <a:t>Achieved</a:t>
            </a:r>
            <a:endParaRPr sz="2400">
              <a:latin typeface="Calibri"/>
              <a:cs typeface="Calibri"/>
            </a:endParaRPr>
          </a:p>
          <a:p>
            <a:pPr marL="241300" marR="197485" indent="-228600">
              <a:lnSpc>
                <a:spcPts val="3030"/>
              </a:lnSpc>
              <a:spcBef>
                <a:spcPts val="1010"/>
              </a:spcBef>
              <a:buFont typeface="Arial MT"/>
              <a:buChar char="•"/>
              <a:tabLst>
                <a:tab pos="241300" algn="l"/>
              </a:tabLst>
            </a:pPr>
            <a:r>
              <a:rPr sz="2800" spc="-5" dirty="0">
                <a:latin typeface="Calibri"/>
                <a:cs typeface="Calibri"/>
              </a:rPr>
              <a:t>If all </a:t>
            </a:r>
            <a:r>
              <a:rPr sz="2800" spc="-20" dirty="0">
                <a:latin typeface="Calibri"/>
                <a:cs typeface="Calibri"/>
              </a:rPr>
              <a:t>step</a:t>
            </a:r>
            <a:r>
              <a:rPr sz="2800" spc="15" dirty="0">
                <a:latin typeface="Calibri"/>
                <a:cs typeface="Calibri"/>
              </a:rPr>
              <a:t> </a:t>
            </a:r>
            <a:r>
              <a:rPr sz="2800" spc="-15" dirty="0">
                <a:latin typeface="Calibri"/>
                <a:cs typeface="Calibri"/>
              </a:rPr>
              <a:t>costs</a:t>
            </a:r>
            <a:r>
              <a:rPr sz="2800" spc="25" dirty="0">
                <a:latin typeface="Calibri"/>
                <a:cs typeface="Calibri"/>
              </a:rPr>
              <a:t> </a:t>
            </a:r>
            <a:r>
              <a:rPr sz="2800" spc="-15" dirty="0">
                <a:latin typeface="Calibri"/>
                <a:cs typeface="Calibri"/>
              </a:rPr>
              <a:t>are</a:t>
            </a:r>
            <a:r>
              <a:rPr sz="2800" dirty="0">
                <a:latin typeface="Calibri"/>
                <a:cs typeface="Calibri"/>
              </a:rPr>
              <a:t> </a:t>
            </a:r>
            <a:r>
              <a:rPr sz="2800" spc="-5" dirty="0">
                <a:latin typeface="Calibri"/>
                <a:cs typeface="Calibri"/>
              </a:rPr>
              <a:t>equal,</a:t>
            </a:r>
            <a:r>
              <a:rPr sz="2800" spc="15" dirty="0">
                <a:latin typeface="Calibri"/>
                <a:cs typeface="Calibri"/>
              </a:rPr>
              <a:t> </a:t>
            </a:r>
            <a:r>
              <a:rPr sz="2800" spc="-5" dirty="0">
                <a:latin typeface="Calibri"/>
                <a:cs typeface="Calibri"/>
              </a:rPr>
              <a:t>it</a:t>
            </a:r>
            <a:r>
              <a:rPr sz="2800" spc="10" dirty="0">
                <a:latin typeface="Calibri"/>
                <a:cs typeface="Calibri"/>
              </a:rPr>
              <a:t> </a:t>
            </a:r>
            <a:r>
              <a:rPr sz="2800" spc="-5" dirty="0">
                <a:latin typeface="Calibri"/>
                <a:cs typeface="Calibri"/>
              </a:rPr>
              <a:t>is </a:t>
            </a:r>
            <a:r>
              <a:rPr sz="2800" spc="-615" dirty="0">
                <a:latin typeface="Calibri"/>
                <a:cs typeface="Calibri"/>
              </a:rPr>
              <a:t> </a:t>
            </a:r>
            <a:r>
              <a:rPr sz="2800" spc="-10" dirty="0">
                <a:latin typeface="Calibri"/>
                <a:cs typeface="Calibri"/>
              </a:rPr>
              <a:t>identical</a:t>
            </a:r>
            <a:r>
              <a:rPr sz="2800" dirty="0">
                <a:latin typeface="Calibri"/>
                <a:cs typeface="Calibri"/>
              </a:rPr>
              <a:t> </a:t>
            </a:r>
            <a:r>
              <a:rPr sz="2800" spc="-10" dirty="0">
                <a:latin typeface="Calibri"/>
                <a:cs typeface="Calibri"/>
              </a:rPr>
              <a:t>breadth</a:t>
            </a:r>
            <a:r>
              <a:rPr sz="2800" spc="25" dirty="0">
                <a:latin typeface="Calibri"/>
                <a:cs typeface="Calibri"/>
              </a:rPr>
              <a:t> </a:t>
            </a:r>
            <a:r>
              <a:rPr sz="2800" spc="-25" dirty="0">
                <a:latin typeface="Calibri"/>
                <a:cs typeface="Calibri"/>
              </a:rPr>
              <a:t>first</a:t>
            </a:r>
            <a:r>
              <a:rPr sz="2800" spc="5" dirty="0">
                <a:latin typeface="Calibri"/>
                <a:cs typeface="Calibri"/>
              </a:rPr>
              <a:t> </a:t>
            </a:r>
            <a:r>
              <a:rPr sz="2800" spc="-10" dirty="0">
                <a:latin typeface="Calibri"/>
                <a:cs typeface="Calibri"/>
              </a:rPr>
              <a:t>search</a:t>
            </a:r>
            <a:endParaRPr sz="2800">
              <a:latin typeface="Calibri"/>
              <a:cs typeface="Calibri"/>
            </a:endParaRPr>
          </a:p>
        </p:txBody>
      </p:sp>
      <p:pic>
        <p:nvPicPr>
          <p:cNvPr id="4" name="object 4"/>
          <p:cNvPicPr/>
          <p:nvPr/>
        </p:nvPicPr>
        <p:blipFill>
          <a:blip r:embed="rId2" cstate="print"/>
          <a:stretch>
            <a:fillRect/>
          </a:stretch>
        </p:blipFill>
        <p:spPr>
          <a:xfrm>
            <a:off x="7240523" y="1830323"/>
            <a:ext cx="4073652" cy="4494276"/>
          </a:xfrm>
          <a:prstGeom prst="rect">
            <a:avLst/>
          </a:prstGeom>
        </p:spPr>
      </p:pic>
      <p:sp>
        <p:nvSpPr>
          <p:cNvPr id="5" name="object 5"/>
          <p:cNvSpPr txBox="1"/>
          <p:nvPr/>
        </p:nvSpPr>
        <p:spPr>
          <a:xfrm>
            <a:off x="9277350" y="2037969"/>
            <a:ext cx="1581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A</a:t>
            </a:r>
            <a:endParaRPr sz="1800">
              <a:latin typeface="Calibri"/>
              <a:cs typeface="Calibri"/>
            </a:endParaRPr>
          </a:p>
        </p:txBody>
      </p:sp>
      <p:sp>
        <p:nvSpPr>
          <p:cNvPr id="6" name="object 6"/>
          <p:cNvSpPr txBox="1"/>
          <p:nvPr/>
        </p:nvSpPr>
        <p:spPr>
          <a:xfrm>
            <a:off x="7820025" y="2876803"/>
            <a:ext cx="1498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B</a:t>
            </a:r>
            <a:endParaRPr sz="1800">
              <a:latin typeface="Calibri"/>
              <a:cs typeface="Calibri"/>
            </a:endParaRPr>
          </a:p>
        </p:txBody>
      </p:sp>
      <p:sp>
        <p:nvSpPr>
          <p:cNvPr id="7" name="object 7"/>
          <p:cNvSpPr txBox="1"/>
          <p:nvPr/>
        </p:nvSpPr>
        <p:spPr>
          <a:xfrm>
            <a:off x="9281921" y="3363848"/>
            <a:ext cx="1473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C</a:t>
            </a:r>
            <a:endParaRPr sz="1800">
              <a:latin typeface="Calibri"/>
              <a:cs typeface="Calibri"/>
            </a:endParaRPr>
          </a:p>
        </p:txBody>
      </p:sp>
      <p:sp>
        <p:nvSpPr>
          <p:cNvPr id="8" name="object 8"/>
          <p:cNvSpPr txBox="1"/>
          <p:nvPr/>
        </p:nvSpPr>
        <p:spPr>
          <a:xfrm>
            <a:off x="10593069" y="2876803"/>
            <a:ext cx="16637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D</a:t>
            </a:r>
            <a:endParaRPr sz="1800">
              <a:latin typeface="Calibri"/>
              <a:cs typeface="Calibri"/>
            </a:endParaRPr>
          </a:p>
        </p:txBody>
      </p:sp>
      <p:sp>
        <p:nvSpPr>
          <p:cNvPr id="9" name="object 9"/>
          <p:cNvSpPr txBox="1"/>
          <p:nvPr/>
        </p:nvSpPr>
        <p:spPr>
          <a:xfrm>
            <a:off x="7573771" y="5057902"/>
            <a:ext cx="13716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E</a:t>
            </a:r>
            <a:endParaRPr sz="1800">
              <a:latin typeface="Calibri"/>
              <a:cs typeface="Calibri"/>
            </a:endParaRPr>
          </a:p>
        </p:txBody>
      </p:sp>
      <p:sp>
        <p:nvSpPr>
          <p:cNvPr id="10" name="object 10"/>
          <p:cNvSpPr txBox="1"/>
          <p:nvPr/>
        </p:nvSpPr>
        <p:spPr>
          <a:xfrm>
            <a:off x="9734804" y="4793107"/>
            <a:ext cx="13081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F</a:t>
            </a:r>
            <a:endParaRPr sz="1800">
              <a:latin typeface="Calibri"/>
              <a:cs typeface="Calibri"/>
            </a:endParaRPr>
          </a:p>
        </p:txBody>
      </p:sp>
      <p:sp>
        <p:nvSpPr>
          <p:cNvPr id="11" name="object 11"/>
          <p:cNvSpPr txBox="1"/>
          <p:nvPr/>
        </p:nvSpPr>
        <p:spPr>
          <a:xfrm>
            <a:off x="8625078" y="5789167"/>
            <a:ext cx="16827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H</a:t>
            </a:r>
            <a:endParaRPr sz="1800">
              <a:latin typeface="Calibri"/>
              <a:cs typeface="Calibri"/>
            </a:endParaRPr>
          </a:p>
        </p:txBody>
      </p:sp>
      <p:sp>
        <p:nvSpPr>
          <p:cNvPr id="12" name="object 12"/>
          <p:cNvSpPr txBox="1"/>
          <p:nvPr/>
        </p:nvSpPr>
        <p:spPr>
          <a:xfrm>
            <a:off x="10873485" y="4452873"/>
            <a:ext cx="8318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I</a:t>
            </a:r>
            <a:endParaRPr sz="1800">
              <a:latin typeface="Calibri"/>
              <a:cs typeface="Calibri"/>
            </a:endParaRPr>
          </a:p>
        </p:txBody>
      </p:sp>
      <p:sp>
        <p:nvSpPr>
          <p:cNvPr id="13" name="object 13"/>
          <p:cNvSpPr txBox="1"/>
          <p:nvPr/>
        </p:nvSpPr>
        <p:spPr>
          <a:xfrm>
            <a:off x="8253221" y="2220848"/>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
        <p:nvSpPr>
          <p:cNvPr id="14" name="object 14"/>
          <p:cNvSpPr txBox="1"/>
          <p:nvPr/>
        </p:nvSpPr>
        <p:spPr>
          <a:xfrm>
            <a:off x="7242429" y="4041140"/>
            <a:ext cx="25717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12</a:t>
            </a:r>
            <a:endParaRPr sz="1800">
              <a:latin typeface="Calibri"/>
              <a:cs typeface="Calibri"/>
            </a:endParaRPr>
          </a:p>
        </p:txBody>
      </p:sp>
      <p:sp>
        <p:nvSpPr>
          <p:cNvPr id="15" name="object 15"/>
          <p:cNvSpPr txBox="1"/>
          <p:nvPr/>
        </p:nvSpPr>
        <p:spPr>
          <a:xfrm>
            <a:off x="7831073" y="5713882"/>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8</a:t>
            </a:r>
            <a:endParaRPr sz="1800">
              <a:latin typeface="Calibri"/>
              <a:cs typeface="Calibri"/>
            </a:endParaRPr>
          </a:p>
        </p:txBody>
      </p:sp>
      <p:sp>
        <p:nvSpPr>
          <p:cNvPr id="16" name="object 16"/>
          <p:cNvSpPr txBox="1"/>
          <p:nvPr/>
        </p:nvSpPr>
        <p:spPr>
          <a:xfrm>
            <a:off x="9041130" y="2693923"/>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4</a:t>
            </a:r>
            <a:endParaRPr sz="1800">
              <a:latin typeface="Calibri"/>
              <a:cs typeface="Calibri"/>
            </a:endParaRPr>
          </a:p>
        </p:txBody>
      </p:sp>
      <p:sp>
        <p:nvSpPr>
          <p:cNvPr id="17" name="object 17"/>
          <p:cNvSpPr txBox="1"/>
          <p:nvPr/>
        </p:nvSpPr>
        <p:spPr>
          <a:xfrm>
            <a:off x="8508618" y="4269994"/>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
        <p:nvSpPr>
          <p:cNvPr id="18" name="object 18"/>
          <p:cNvSpPr txBox="1"/>
          <p:nvPr/>
        </p:nvSpPr>
        <p:spPr>
          <a:xfrm>
            <a:off x="9878694" y="3912184"/>
            <a:ext cx="14160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2</a:t>
            </a:r>
            <a:endParaRPr sz="1800">
              <a:latin typeface="Calibri"/>
              <a:cs typeface="Calibri"/>
            </a:endParaRPr>
          </a:p>
        </p:txBody>
      </p:sp>
      <p:sp>
        <p:nvSpPr>
          <p:cNvPr id="19" name="object 19"/>
          <p:cNvSpPr txBox="1"/>
          <p:nvPr/>
        </p:nvSpPr>
        <p:spPr>
          <a:xfrm>
            <a:off x="9041130" y="5153914"/>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
        <p:nvSpPr>
          <p:cNvPr id="20" name="object 20"/>
          <p:cNvSpPr txBox="1"/>
          <p:nvPr/>
        </p:nvSpPr>
        <p:spPr>
          <a:xfrm>
            <a:off x="10166350" y="1855089"/>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3</a:t>
            </a:r>
            <a:endParaRPr sz="1800">
              <a:latin typeface="Calibri"/>
              <a:cs typeface="Calibri"/>
            </a:endParaRPr>
          </a:p>
        </p:txBody>
      </p:sp>
      <p:sp>
        <p:nvSpPr>
          <p:cNvPr id="21" name="object 21"/>
          <p:cNvSpPr txBox="1"/>
          <p:nvPr/>
        </p:nvSpPr>
        <p:spPr>
          <a:xfrm>
            <a:off x="10994517" y="3535807"/>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2</a:t>
            </a:r>
            <a:endParaRPr sz="1800">
              <a:latin typeface="Calibri"/>
              <a:cs typeface="Calibri"/>
            </a:endParaRPr>
          </a:p>
        </p:txBody>
      </p:sp>
      <p:sp>
        <p:nvSpPr>
          <p:cNvPr id="22" name="object 22"/>
          <p:cNvSpPr txBox="1"/>
          <p:nvPr/>
        </p:nvSpPr>
        <p:spPr>
          <a:xfrm>
            <a:off x="10166350" y="5713882"/>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1</a:t>
            </a:r>
            <a:endParaRPr sz="18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11E22-E3E9-44EC-9AD3-6BCD5A563905}"/>
              </a:ext>
            </a:extLst>
          </p:cNvPr>
          <p:cNvSpPr>
            <a:spLocks noGrp="1"/>
          </p:cNvSpPr>
          <p:nvPr>
            <p:ph type="title"/>
          </p:nvPr>
        </p:nvSpPr>
        <p:spPr>
          <a:xfrm>
            <a:off x="838200" y="365126"/>
            <a:ext cx="2808111" cy="718608"/>
          </a:xfrm>
        </p:spPr>
        <p:txBody>
          <a:bodyPr/>
          <a:lstStyle/>
          <a:p>
            <a:r>
              <a:rPr lang="en-US" b="1" dirty="0"/>
              <a:t>Assignment</a:t>
            </a:r>
          </a:p>
        </p:txBody>
      </p:sp>
      <p:pic>
        <p:nvPicPr>
          <p:cNvPr id="4" name="Content Placeholder 3">
            <a:extLst>
              <a:ext uri="{FF2B5EF4-FFF2-40B4-BE49-F238E27FC236}">
                <a16:creationId xmlns:a16="http://schemas.microsoft.com/office/drawing/2014/main" id="{F82B5E25-5F97-4DF2-A243-D94480A7C7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8489" y="1825625"/>
            <a:ext cx="8252177" cy="4667250"/>
          </a:xfrm>
          <a:prstGeom prst="rect">
            <a:avLst/>
          </a:prstGeom>
        </p:spPr>
      </p:pic>
    </p:spTree>
    <p:extLst>
      <p:ext uri="{BB962C8B-B14F-4D97-AF65-F5344CB8AC3E}">
        <p14:creationId xmlns:p14="http://schemas.microsoft.com/office/powerpoint/2010/main" val="2734229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D07D38-E663-4ED3-B663-642BC5834FC2}"/>
              </a:ext>
            </a:extLst>
          </p:cNvPr>
          <p:cNvSpPr>
            <a:spLocks noGrp="1"/>
          </p:cNvSpPr>
          <p:nvPr>
            <p:ph idx="1"/>
          </p:nvPr>
        </p:nvSpPr>
        <p:spPr>
          <a:xfrm>
            <a:off x="838200" y="395110"/>
            <a:ext cx="10515600" cy="6310489"/>
          </a:xfrm>
        </p:spPr>
        <p:txBody>
          <a:bodyPr/>
          <a:lstStyle/>
          <a:p>
            <a:pPr marL="0" indent="0">
              <a:buNone/>
            </a:pPr>
            <a:r>
              <a:rPr lang="en-US" b="1" dirty="0"/>
              <a:t>Advantages</a:t>
            </a:r>
          </a:p>
          <a:p>
            <a:pPr lvl="1"/>
            <a:r>
              <a:rPr lang="en-US" dirty="0"/>
              <a:t>It helps to find the path with the lowest cumulative cost inside a weighted graph having a different cost associated with each of its edge from the root node to the destination node.</a:t>
            </a:r>
          </a:p>
          <a:p>
            <a:pPr lvl="1"/>
            <a:endParaRPr lang="en-US" dirty="0"/>
          </a:p>
          <a:p>
            <a:pPr lvl="1"/>
            <a:r>
              <a:rPr lang="en-US" dirty="0"/>
              <a:t>It is considered to be an optimal solution since, at each state, the least path is considered to be followed.</a:t>
            </a:r>
          </a:p>
          <a:p>
            <a:pPr>
              <a:buFont typeface="Arial" panose="020B0604020202020204" pitchFamily="34" charset="0"/>
              <a:buChar char="•"/>
            </a:pPr>
            <a:endParaRPr lang="en-US" dirty="0"/>
          </a:p>
          <a:p>
            <a:pPr marL="12700" indent="0">
              <a:lnSpc>
                <a:spcPct val="100000"/>
              </a:lnSpc>
              <a:spcBef>
                <a:spcPts val="320"/>
              </a:spcBef>
              <a:buNone/>
              <a:tabLst>
                <a:tab pos="241300" algn="l"/>
              </a:tabLst>
            </a:pPr>
            <a:r>
              <a:rPr lang="en-US" sz="3200" b="1" spc="-10" dirty="0">
                <a:latin typeface="Calibri"/>
                <a:cs typeface="Calibri"/>
              </a:rPr>
              <a:t>Disadvantages</a:t>
            </a:r>
            <a:endParaRPr lang="en-US" sz="3200" b="1" dirty="0">
              <a:latin typeface="Calibri"/>
              <a:cs typeface="Calibri"/>
            </a:endParaRPr>
          </a:p>
          <a:p>
            <a:pPr marL="1155700" marR="5080" lvl="2">
              <a:lnSpc>
                <a:spcPts val="3020"/>
              </a:lnSpc>
              <a:spcBef>
                <a:spcPts val="575"/>
              </a:spcBef>
              <a:buFont typeface="Arial MT"/>
              <a:buChar char="•"/>
              <a:tabLst>
                <a:tab pos="699135" algn="l"/>
              </a:tabLst>
            </a:pPr>
            <a:r>
              <a:rPr lang="en-US" sz="2400" spc="-10" dirty="0">
                <a:latin typeface="Calibri"/>
                <a:cs typeface="Calibri"/>
              </a:rPr>
              <a:t>Doesn’t</a:t>
            </a:r>
            <a:r>
              <a:rPr lang="en-US" sz="2400" spc="20" dirty="0">
                <a:latin typeface="Calibri"/>
                <a:cs typeface="Calibri"/>
              </a:rPr>
              <a:t> </a:t>
            </a:r>
            <a:r>
              <a:rPr lang="en-US" sz="2400" spc="-20" dirty="0">
                <a:latin typeface="Calibri"/>
                <a:cs typeface="Calibri"/>
              </a:rPr>
              <a:t>care</a:t>
            </a:r>
            <a:r>
              <a:rPr lang="en-US" sz="2400" spc="5" dirty="0">
                <a:latin typeface="Calibri"/>
                <a:cs typeface="Calibri"/>
              </a:rPr>
              <a:t> </a:t>
            </a:r>
            <a:r>
              <a:rPr lang="en-US" sz="2400" spc="-5" dirty="0">
                <a:latin typeface="Calibri"/>
                <a:cs typeface="Calibri"/>
              </a:rPr>
              <a:t>about</a:t>
            </a:r>
            <a:r>
              <a:rPr lang="en-US" sz="2400" spc="5" dirty="0">
                <a:latin typeface="Calibri"/>
                <a:cs typeface="Calibri"/>
              </a:rPr>
              <a:t> </a:t>
            </a:r>
            <a:r>
              <a:rPr lang="en-US" sz="2400" spc="-5" dirty="0">
                <a:latin typeface="Calibri"/>
                <a:cs typeface="Calibri"/>
              </a:rPr>
              <a:t>the</a:t>
            </a:r>
            <a:r>
              <a:rPr lang="en-US" sz="2400" spc="10" dirty="0">
                <a:latin typeface="Calibri"/>
                <a:cs typeface="Calibri"/>
              </a:rPr>
              <a:t> </a:t>
            </a:r>
            <a:r>
              <a:rPr lang="en-US" sz="2400" spc="-10" dirty="0">
                <a:latin typeface="Calibri"/>
                <a:cs typeface="Calibri"/>
              </a:rPr>
              <a:t>number</a:t>
            </a:r>
            <a:r>
              <a:rPr lang="en-US" sz="2400" spc="20" dirty="0">
                <a:latin typeface="Calibri"/>
                <a:cs typeface="Calibri"/>
              </a:rPr>
              <a:t> </a:t>
            </a:r>
            <a:r>
              <a:rPr lang="en-US" sz="2400" spc="-5" dirty="0">
                <a:latin typeface="Calibri"/>
                <a:cs typeface="Calibri"/>
              </a:rPr>
              <a:t>of</a:t>
            </a:r>
            <a:r>
              <a:rPr lang="en-US" sz="2400" dirty="0">
                <a:latin typeface="Calibri"/>
                <a:cs typeface="Calibri"/>
              </a:rPr>
              <a:t> </a:t>
            </a:r>
            <a:r>
              <a:rPr lang="en-US" sz="2400" spc="-20" dirty="0">
                <a:latin typeface="Calibri"/>
                <a:cs typeface="Calibri"/>
              </a:rPr>
              <a:t>steps</a:t>
            </a:r>
            <a:r>
              <a:rPr lang="en-US" sz="2400" spc="20" dirty="0">
                <a:latin typeface="Calibri"/>
                <a:cs typeface="Calibri"/>
              </a:rPr>
              <a:t> </a:t>
            </a:r>
            <a:r>
              <a:rPr lang="en-US" sz="2400" spc="-5" dirty="0">
                <a:latin typeface="Calibri"/>
                <a:cs typeface="Calibri"/>
              </a:rPr>
              <a:t>a</a:t>
            </a:r>
            <a:r>
              <a:rPr lang="en-US" sz="2400" spc="5" dirty="0">
                <a:latin typeface="Calibri"/>
                <a:cs typeface="Calibri"/>
              </a:rPr>
              <a:t> </a:t>
            </a:r>
            <a:r>
              <a:rPr lang="en-US" sz="2400" spc="-10" dirty="0">
                <a:latin typeface="Calibri"/>
                <a:cs typeface="Calibri"/>
              </a:rPr>
              <a:t>path</a:t>
            </a:r>
            <a:r>
              <a:rPr lang="en-US" sz="2400" spc="5" dirty="0">
                <a:latin typeface="Calibri"/>
                <a:cs typeface="Calibri"/>
              </a:rPr>
              <a:t> </a:t>
            </a:r>
            <a:r>
              <a:rPr lang="en-US" sz="2400" spc="-10" dirty="0">
                <a:latin typeface="Calibri"/>
                <a:cs typeface="Calibri"/>
              </a:rPr>
              <a:t>has</a:t>
            </a:r>
            <a:r>
              <a:rPr lang="en-US" sz="2400" spc="15" dirty="0">
                <a:latin typeface="Calibri"/>
                <a:cs typeface="Calibri"/>
              </a:rPr>
              <a:t> </a:t>
            </a:r>
            <a:r>
              <a:rPr lang="en-US" sz="2400" spc="-10" dirty="0">
                <a:latin typeface="Calibri"/>
                <a:cs typeface="Calibri"/>
              </a:rPr>
              <a:t>but</a:t>
            </a:r>
            <a:r>
              <a:rPr lang="en-US" sz="2400" spc="15" dirty="0">
                <a:latin typeface="Calibri"/>
                <a:cs typeface="Calibri"/>
              </a:rPr>
              <a:t> </a:t>
            </a:r>
            <a:r>
              <a:rPr lang="en-US" sz="2400" spc="-10" dirty="0">
                <a:latin typeface="Calibri"/>
                <a:cs typeface="Calibri"/>
              </a:rPr>
              <a:t>only</a:t>
            </a:r>
            <a:r>
              <a:rPr lang="en-US" sz="2400" spc="20" dirty="0">
                <a:latin typeface="Calibri"/>
                <a:cs typeface="Calibri"/>
              </a:rPr>
              <a:t> </a:t>
            </a:r>
            <a:r>
              <a:rPr lang="en-US" sz="2400" spc="-5" dirty="0">
                <a:latin typeface="Calibri"/>
                <a:cs typeface="Calibri"/>
              </a:rPr>
              <a:t>about </a:t>
            </a:r>
            <a:r>
              <a:rPr lang="en-US" sz="2400" spc="-620" dirty="0">
                <a:latin typeface="Calibri"/>
                <a:cs typeface="Calibri"/>
              </a:rPr>
              <a:t> </a:t>
            </a:r>
            <a:r>
              <a:rPr lang="en-US" sz="2400" spc="-5" dirty="0">
                <a:latin typeface="Calibri"/>
                <a:cs typeface="Calibri"/>
              </a:rPr>
              <a:t>their</a:t>
            </a:r>
            <a:r>
              <a:rPr lang="en-US" sz="2400" dirty="0">
                <a:latin typeface="Calibri"/>
                <a:cs typeface="Calibri"/>
              </a:rPr>
              <a:t> </a:t>
            </a:r>
            <a:r>
              <a:rPr lang="en-US" sz="2400" spc="-20" dirty="0">
                <a:latin typeface="Calibri"/>
                <a:cs typeface="Calibri"/>
              </a:rPr>
              <a:t>cost</a:t>
            </a:r>
          </a:p>
          <a:p>
            <a:pPr marL="1155700" marR="5080" lvl="2">
              <a:lnSpc>
                <a:spcPts val="3020"/>
              </a:lnSpc>
              <a:spcBef>
                <a:spcPts val="575"/>
              </a:spcBef>
              <a:buFont typeface="Arial MT"/>
              <a:buChar char="•"/>
              <a:tabLst>
                <a:tab pos="699135" algn="l"/>
              </a:tabLst>
            </a:pPr>
            <a:endParaRPr lang="en-US" sz="2400" dirty="0">
              <a:latin typeface="Calibri"/>
              <a:cs typeface="Calibri"/>
            </a:endParaRPr>
          </a:p>
          <a:p>
            <a:pPr marL="1155700" marR="12065" lvl="2">
              <a:lnSpc>
                <a:spcPts val="3030"/>
              </a:lnSpc>
              <a:buFont typeface="Arial MT"/>
              <a:buChar char="•"/>
              <a:tabLst>
                <a:tab pos="699135" algn="l"/>
              </a:tabLst>
            </a:pPr>
            <a:r>
              <a:rPr lang="en-US" sz="2400" spc="-5" dirty="0">
                <a:latin typeface="Calibri"/>
                <a:cs typeface="Calibri"/>
              </a:rPr>
              <a:t>It </a:t>
            </a:r>
            <a:r>
              <a:rPr lang="en-US" sz="2400" spc="-10" dirty="0">
                <a:latin typeface="Calibri"/>
                <a:cs typeface="Calibri"/>
              </a:rPr>
              <a:t>might</a:t>
            </a:r>
            <a:r>
              <a:rPr lang="en-US" sz="2400" spc="10" dirty="0">
                <a:latin typeface="Calibri"/>
                <a:cs typeface="Calibri"/>
              </a:rPr>
              <a:t> </a:t>
            </a:r>
            <a:r>
              <a:rPr lang="en-US" sz="2400" spc="-15" dirty="0">
                <a:latin typeface="Calibri"/>
                <a:cs typeface="Calibri"/>
              </a:rPr>
              <a:t>get</a:t>
            </a:r>
            <a:r>
              <a:rPr lang="en-US" sz="2400" spc="-10" dirty="0">
                <a:latin typeface="Calibri"/>
                <a:cs typeface="Calibri"/>
              </a:rPr>
              <a:t> stuck</a:t>
            </a:r>
            <a:r>
              <a:rPr lang="en-US" sz="2400" spc="20" dirty="0">
                <a:latin typeface="Calibri"/>
                <a:cs typeface="Calibri"/>
              </a:rPr>
              <a:t> </a:t>
            </a:r>
            <a:r>
              <a:rPr lang="en-US" sz="2400" spc="-5" dirty="0">
                <a:latin typeface="Calibri"/>
                <a:cs typeface="Calibri"/>
              </a:rPr>
              <a:t>in</a:t>
            </a:r>
            <a:r>
              <a:rPr lang="en-US" sz="2400" spc="5" dirty="0">
                <a:latin typeface="Calibri"/>
                <a:cs typeface="Calibri"/>
              </a:rPr>
              <a:t> </a:t>
            </a:r>
            <a:r>
              <a:rPr lang="en-US" sz="2400" spc="-5" dirty="0">
                <a:latin typeface="Calibri"/>
                <a:cs typeface="Calibri"/>
              </a:rPr>
              <a:t>an</a:t>
            </a:r>
            <a:r>
              <a:rPr lang="en-US" sz="2400" spc="10" dirty="0">
                <a:latin typeface="Calibri"/>
                <a:cs typeface="Calibri"/>
              </a:rPr>
              <a:t> </a:t>
            </a:r>
            <a:r>
              <a:rPr lang="en-US" sz="2400" spc="-15" dirty="0">
                <a:latin typeface="Calibri"/>
                <a:cs typeface="Calibri"/>
              </a:rPr>
              <a:t>infinite</a:t>
            </a:r>
            <a:r>
              <a:rPr lang="en-US" sz="2400" spc="15" dirty="0">
                <a:latin typeface="Calibri"/>
                <a:cs typeface="Calibri"/>
              </a:rPr>
              <a:t> </a:t>
            </a:r>
            <a:r>
              <a:rPr lang="en-US" sz="2400" spc="-5" dirty="0">
                <a:latin typeface="Calibri"/>
                <a:cs typeface="Calibri"/>
              </a:rPr>
              <a:t>loop</a:t>
            </a:r>
            <a:r>
              <a:rPr lang="en-US" sz="2400" dirty="0">
                <a:latin typeface="Calibri"/>
                <a:cs typeface="Calibri"/>
              </a:rPr>
              <a:t> </a:t>
            </a:r>
            <a:r>
              <a:rPr lang="en-US" sz="2400" spc="-5" dirty="0">
                <a:latin typeface="Calibri"/>
                <a:cs typeface="Calibri"/>
              </a:rPr>
              <a:t>if it</a:t>
            </a:r>
            <a:r>
              <a:rPr lang="en-US" sz="2400" dirty="0">
                <a:latin typeface="Calibri"/>
                <a:cs typeface="Calibri"/>
              </a:rPr>
              <a:t> </a:t>
            </a:r>
            <a:r>
              <a:rPr lang="en-US" sz="2400" spc="-15" dirty="0">
                <a:latin typeface="Calibri"/>
                <a:cs typeface="Calibri"/>
              </a:rPr>
              <a:t>expands</a:t>
            </a:r>
            <a:r>
              <a:rPr lang="en-US" sz="2400" spc="35" dirty="0">
                <a:latin typeface="Calibri"/>
                <a:cs typeface="Calibri"/>
              </a:rPr>
              <a:t> </a:t>
            </a:r>
            <a:r>
              <a:rPr lang="en-US" sz="2400" spc="-5" dirty="0">
                <a:latin typeface="Calibri"/>
                <a:cs typeface="Calibri"/>
              </a:rPr>
              <a:t>a node</a:t>
            </a:r>
            <a:r>
              <a:rPr lang="en-US" sz="2400" spc="10" dirty="0">
                <a:latin typeface="Calibri"/>
                <a:cs typeface="Calibri"/>
              </a:rPr>
              <a:t> </a:t>
            </a:r>
            <a:r>
              <a:rPr lang="en-US" sz="2400" spc="-10" dirty="0">
                <a:latin typeface="Calibri"/>
                <a:cs typeface="Calibri"/>
              </a:rPr>
              <a:t>that</a:t>
            </a:r>
            <a:r>
              <a:rPr lang="en-US" sz="2400" spc="10" dirty="0">
                <a:latin typeface="Calibri"/>
                <a:cs typeface="Calibri"/>
              </a:rPr>
              <a:t> </a:t>
            </a:r>
            <a:r>
              <a:rPr lang="en-US" sz="2400" spc="-5" dirty="0">
                <a:latin typeface="Calibri"/>
                <a:cs typeface="Calibri"/>
              </a:rPr>
              <a:t>has</a:t>
            </a:r>
            <a:r>
              <a:rPr lang="en-US" sz="2400" spc="10" dirty="0">
                <a:latin typeface="Calibri"/>
                <a:cs typeface="Calibri"/>
              </a:rPr>
              <a:t> </a:t>
            </a:r>
            <a:r>
              <a:rPr lang="en-US" sz="2400" spc="-5" dirty="0">
                <a:latin typeface="Calibri"/>
                <a:cs typeface="Calibri"/>
              </a:rPr>
              <a:t>a </a:t>
            </a:r>
            <a:r>
              <a:rPr lang="en-US" sz="2400" spc="-620" dirty="0">
                <a:latin typeface="Calibri"/>
                <a:cs typeface="Calibri"/>
              </a:rPr>
              <a:t> </a:t>
            </a:r>
            <a:r>
              <a:rPr lang="en-US" sz="2400" spc="-35" dirty="0">
                <a:latin typeface="Calibri"/>
                <a:cs typeface="Calibri"/>
              </a:rPr>
              <a:t>zero</a:t>
            </a:r>
            <a:r>
              <a:rPr lang="en-US" sz="2400" spc="-5" dirty="0">
                <a:latin typeface="Calibri"/>
                <a:cs typeface="Calibri"/>
              </a:rPr>
              <a:t> </a:t>
            </a:r>
            <a:r>
              <a:rPr lang="en-US" sz="2400" spc="-20" dirty="0">
                <a:latin typeface="Calibri"/>
                <a:cs typeface="Calibri"/>
              </a:rPr>
              <a:t>cost</a:t>
            </a:r>
            <a:r>
              <a:rPr lang="en-US" sz="2400" spc="10" dirty="0">
                <a:latin typeface="Calibri"/>
                <a:cs typeface="Calibri"/>
              </a:rPr>
              <a:t> </a:t>
            </a:r>
            <a:r>
              <a:rPr lang="en-US" sz="2400" spc="-5" dirty="0">
                <a:latin typeface="Calibri"/>
                <a:cs typeface="Calibri"/>
              </a:rPr>
              <a:t>action</a:t>
            </a:r>
            <a:r>
              <a:rPr lang="en-US" sz="2400" spc="-10" dirty="0">
                <a:latin typeface="Calibri"/>
                <a:cs typeface="Calibri"/>
              </a:rPr>
              <a:t> </a:t>
            </a:r>
            <a:r>
              <a:rPr lang="en-US" sz="2400" spc="-5" dirty="0">
                <a:latin typeface="Calibri"/>
                <a:cs typeface="Calibri"/>
              </a:rPr>
              <a:t>leading</a:t>
            </a:r>
            <a:r>
              <a:rPr lang="en-US" sz="2400" spc="5" dirty="0">
                <a:latin typeface="Calibri"/>
                <a:cs typeface="Calibri"/>
              </a:rPr>
              <a:t> </a:t>
            </a:r>
            <a:r>
              <a:rPr lang="en-US" sz="2400" spc="-10" dirty="0">
                <a:latin typeface="Calibri"/>
                <a:cs typeface="Calibri"/>
              </a:rPr>
              <a:t>back</a:t>
            </a:r>
            <a:r>
              <a:rPr lang="en-US" sz="2400" spc="15" dirty="0">
                <a:latin typeface="Calibri"/>
                <a:cs typeface="Calibri"/>
              </a:rPr>
              <a:t> </a:t>
            </a:r>
            <a:r>
              <a:rPr lang="en-US" sz="2400" spc="-20" dirty="0">
                <a:latin typeface="Calibri"/>
                <a:cs typeface="Calibri"/>
              </a:rPr>
              <a:t>to</a:t>
            </a:r>
            <a:r>
              <a:rPr lang="en-US" sz="2400" spc="-5" dirty="0">
                <a:latin typeface="Calibri"/>
                <a:cs typeface="Calibri"/>
              </a:rPr>
              <a:t> same </a:t>
            </a:r>
            <a:r>
              <a:rPr lang="en-US" sz="2400" spc="-30" dirty="0">
                <a:latin typeface="Calibri"/>
                <a:cs typeface="Calibri"/>
              </a:rPr>
              <a:t>state</a:t>
            </a:r>
            <a:endParaRPr lang="en-US" sz="2400" dirty="0">
              <a:latin typeface="Calibri"/>
              <a:cs typeface="Calibri"/>
            </a:endParaRPr>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499554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689850" cy="697230"/>
          </a:xfrm>
          <a:prstGeom prst="rect">
            <a:avLst/>
          </a:prstGeom>
        </p:spPr>
        <p:txBody>
          <a:bodyPr vert="horz" wrap="square" lIns="0" tIns="13335" rIns="0" bIns="0" rtlCol="0">
            <a:spAutoFit/>
          </a:bodyPr>
          <a:lstStyle/>
          <a:p>
            <a:pPr marL="12700">
              <a:lnSpc>
                <a:spcPct val="100000"/>
              </a:lnSpc>
              <a:spcBef>
                <a:spcPts val="105"/>
              </a:spcBef>
            </a:pPr>
            <a:r>
              <a:rPr b="1" spc="-15" dirty="0"/>
              <a:t>Uniform</a:t>
            </a:r>
            <a:r>
              <a:rPr b="1" spc="-20" dirty="0"/>
              <a:t> Cost</a:t>
            </a:r>
            <a:r>
              <a:rPr b="1" spc="-10" dirty="0"/>
              <a:t> Search:</a:t>
            </a:r>
            <a:r>
              <a:rPr b="1" spc="-25" dirty="0"/>
              <a:t> </a:t>
            </a:r>
            <a:r>
              <a:rPr b="1" spc="-15" dirty="0"/>
              <a:t>Four</a:t>
            </a:r>
            <a:r>
              <a:rPr b="1" spc="-20" dirty="0"/>
              <a:t> </a:t>
            </a:r>
            <a:r>
              <a:rPr b="1" spc="-10" dirty="0"/>
              <a:t>Criteria</a:t>
            </a:r>
          </a:p>
        </p:txBody>
      </p:sp>
      <p:sp>
        <p:nvSpPr>
          <p:cNvPr id="3" name="object 3"/>
          <p:cNvSpPr txBox="1"/>
          <p:nvPr/>
        </p:nvSpPr>
        <p:spPr>
          <a:xfrm>
            <a:off x="916939" y="1756565"/>
            <a:ext cx="4940935" cy="244856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Completeness</a:t>
            </a:r>
            <a:endParaRPr sz="2800">
              <a:latin typeface="Calibri"/>
              <a:cs typeface="Calibri"/>
            </a:endParaRPr>
          </a:p>
          <a:p>
            <a:pPr marL="698500" marR="5080" lvl="1" indent="-228600">
              <a:lnSpc>
                <a:spcPts val="2590"/>
              </a:lnSpc>
              <a:spcBef>
                <a:spcPts val="575"/>
              </a:spcBef>
              <a:buFont typeface="Arial MT"/>
              <a:buChar char="•"/>
              <a:tabLst>
                <a:tab pos="699135" algn="l"/>
              </a:tabLst>
            </a:pPr>
            <a:r>
              <a:rPr sz="2400" spc="-10" dirty="0">
                <a:latin typeface="Calibri"/>
                <a:cs typeface="Calibri"/>
              </a:rPr>
              <a:t>Complete, </a:t>
            </a:r>
            <a:r>
              <a:rPr sz="2400" dirty="0">
                <a:latin typeface="Calibri"/>
                <a:cs typeface="Calibri"/>
              </a:rPr>
              <a:t>if the </a:t>
            </a:r>
            <a:r>
              <a:rPr sz="2400" spc="-15" dirty="0">
                <a:latin typeface="Calibri"/>
                <a:cs typeface="Calibri"/>
              </a:rPr>
              <a:t>cost </a:t>
            </a:r>
            <a:r>
              <a:rPr sz="2400" spc="-5" dirty="0">
                <a:latin typeface="Calibri"/>
                <a:cs typeface="Calibri"/>
              </a:rPr>
              <a:t>of every </a:t>
            </a:r>
            <a:r>
              <a:rPr sz="2400" spc="-15" dirty="0">
                <a:latin typeface="Calibri"/>
                <a:cs typeface="Calibri"/>
              </a:rPr>
              <a:t>step </a:t>
            </a:r>
            <a:r>
              <a:rPr sz="2400" spc="-530" dirty="0">
                <a:latin typeface="Calibri"/>
                <a:cs typeface="Calibri"/>
              </a:rPr>
              <a:t> </a:t>
            </a:r>
            <a:r>
              <a:rPr sz="2400" dirty="0">
                <a:latin typeface="Calibri"/>
                <a:cs typeface="Calibri"/>
              </a:rPr>
              <a:t>is </a:t>
            </a:r>
            <a:r>
              <a:rPr sz="2400" spc="-15" dirty="0">
                <a:latin typeface="Calibri"/>
                <a:cs typeface="Calibri"/>
              </a:rPr>
              <a:t>greater </a:t>
            </a:r>
            <a:r>
              <a:rPr sz="2400" dirty="0">
                <a:latin typeface="Calibri"/>
                <a:cs typeface="Calibri"/>
              </a:rPr>
              <a:t>than </a:t>
            </a:r>
            <a:r>
              <a:rPr sz="2400" spc="-5" dirty="0">
                <a:latin typeface="Calibri"/>
                <a:cs typeface="Calibri"/>
              </a:rPr>
              <a:t>or </a:t>
            </a:r>
            <a:r>
              <a:rPr sz="2400" dirty="0">
                <a:latin typeface="Calibri"/>
                <a:cs typeface="Calibri"/>
              </a:rPr>
              <a:t>equal </a:t>
            </a:r>
            <a:r>
              <a:rPr sz="2400" spc="-15" dirty="0">
                <a:latin typeface="Calibri"/>
                <a:cs typeface="Calibri"/>
              </a:rPr>
              <a:t>to </a:t>
            </a:r>
            <a:r>
              <a:rPr sz="2400" spc="-5" dirty="0">
                <a:latin typeface="Calibri"/>
                <a:cs typeface="Calibri"/>
              </a:rPr>
              <a:t>some </a:t>
            </a:r>
            <a:r>
              <a:rPr sz="2400" dirty="0">
                <a:latin typeface="Calibri"/>
                <a:cs typeface="Calibri"/>
              </a:rPr>
              <a:t> </a:t>
            </a:r>
            <a:r>
              <a:rPr sz="2400" spc="-5" dirty="0">
                <a:latin typeface="Calibri"/>
                <a:cs typeface="Calibri"/>
              </a:rPr>
              <a:t>small</a:t>
            </a:r>
            <a:r>
              <a:rPr sz="2400" spc="-20" dirty="0">
                <a:latin typeface="Calibri"/>
                <a:cs typeface="Calibri"/>
              </a:rPr>
              <a:t> </a:t>
            </a:r>
            <a:r>
              <a:rPr sz="2400" spc="-10" dirty="0">
                <a:latin typeface="Calibri"/>
                <a:cs typeface="Calibri"/>
              </a:rPr>
              <a:t>positive</a:t>
            </a:r>
            <a:r>
              <a:rPr sz="2400" spc="-5" dirty="0">
                <a:latin typeface="Calibri"/>
                <a:cs typeface="Calibri"/>
              </a:rPr>
              <a:t> </a:t>
            </a:r>
            <a:r>
              <a:rPr sz="2400" spc="-15" dirty="0">
                <a:latin typeface="Calibri"/>
                <a:cs typeface="Calibri"/>
              </a:rPr>
              <a:t>constant </a:t>
            </a:r>
            <a:r>
              <a:rPr sz="2400" dirty="0">
                <a:latin typeface="Calibri"/>
                <a:cs typeface="Calibri"/>
              </a:rPr>
              <a:t>E</a:t>
            </a:r>
            <a:endParaRPr sz="2400">
              <a:latin typeface="Calibri"/>
              <a:cs typeface="Calibri"/>
            </a:endParaRPr>
          </a:p>
          <a:p>
            <a:pPr marL="241300" indent="-228600">
              <a:lnSpc>
                <a:spcPct val="100000"/>
              </a:lnSpc>
              <a:spcBef>
                <a:spcPts val="600"/>
              </a:spcBef>
              <a:buFont typeface="Arial MT"/>
              <a:buChar char="•"/>
              <a:tabLst>
                <a:tab pos="241300" algn="l"/>
              </a:tabLst>
            </a:pPr>
            <a:r>
              <a:rPr sz="2800" spc="-5" dirty="0">
                <a:latin typeface="Calibri"/>
                <a:cs typeface="Calibri"/>
              </a:rPr>
              <a:t>Optimality</a:t>
            </a:r>
            <a:endParaRPr sz="2800">
              <a:latin typeface="Calibri"/>
              <a:cs typeface="Calibri"/>
            </a:endParaRPr>
          </a:p>
          <a:p>
            <a:pPr marL="698500" lvl="1" indent="-229235">
              <a:lnSpc>
                <a:spcPct val="100000"/>
              </a:lnSpc>
              <a:spcBef>
                <a:spcPts val="245"/>
              </a:spcBef>
              <a:buFont typeface="Arial MT"/>
              <a:buChar char="•"/>
              <a:tabLst>
                <a:tab pos="699135" algn="l"/>
              </a:tabLst>
            </a:pPr>
            <a:r>
              <a:rPr sz="2400" spc="-5" dirty="0">
                <a:latin typeface="Calibri"/>
                <a:cs typeface="Calibri"/>
              </a:rPr>
              <a:t>The</a:t>
            </a:r>
            <a:r>
              <a:rPr sz="2400" spc="-10" dirty="0">
                <a:latin typeface="Calibri"/>
                <a:cs typeface="Calibri"/>
              </a:rPr>
              <a:t> </a:t>
            </a:r>
            <a:r>
              <a:rPr sz="2400" spc="-5" dirty="0">
                <a:latin typeface="Calibri"/>
                <a:cs typeface="Calibri"/>
              </a:rPr>
              <a:t>same</a:t>
            </a:r>
            <a:r>
              <a:rPr sz="2400" spc="-30" dirty="0">
                <a:latin typeface="Calibri"/>
                <a:cs typeface="Calibri"/>
              </a:rPr>
              <a:t> </a:t>
            </a:r>
            <a:r>
              <a:rPr sz="2400" spc="-5" dirty="0">
                <a:latin typeface="Calibri"/>
                <a:cs typeface="Calibri"/>
              </a:rPr>
              <a:t>ensures optimality</a:t>
            </a:r>
            <a:endParaRPr sz="2400">
              <a:latin typeface="Calibri"/>
              <a:cs typeface="Calibri"/>
            </a:endParaRPr>
          </a:p>
        </p:txBody>
      </p:sp>
      <p:sp>
        <p:nvSpPr>
          <p:cNvPr id="4" name="object 4"/>
          <p:cNvSpPr txBox="1"/>
          <p:nvPr/>
        </p:nvSpPr>
        <p:spPr>
          <a:xfrm>
            <a:off x="6226428" y="1756565"/>
            <a:ext cx="4827905" cy="3233420"/>
          </a:xfrm>
          <a:prstGeom prst="rect">
            <a:avLst/>
          </a:prstGeom>
        </p:spPr>
        <p:txBody>
          <a:bodyPr vert="horz" wrap="square" lIns="0" tIns="48895" rIns="0" bIns="0" rtlCol="0">
            <a:spAutoFit/>
          </a:bodyPr>
          <a:lstStyle/>
          <a:p>
            <a:pPr marL="266700" indent="-228600">
              <a:lnSpc>
                <a:spcPct val="100000"/>
              </a:lnSpc>
              <a:spcBef>
                <a:spcPts val="385"/>
              </a:spcBef>
              <a:buFont typeface="Arial MT"/>
              <a:buChar char="•"/>
              <a:tabLst>
                <a:tab pos="266700" algn="l"/>
              </a:tabLst>
            </a:pPr>
            <a:r>
              <a:rPr sz="2800" spc="-5" dirty="0">
                <a:latin typeface="Calibri"/>
                <a:cs typeface="Calibri"/>
              </a:rPr>
              <a:t>Time</a:t>
            </a:r>
            <a:r>
              <a:rPr sz="2800" spc="-40" dirty="0">
                <a:latin typeface="Calibri"/>
                <a:cs typeface="Calibri"/>
              </a:rPr>
              <a:t> </a:t>
            </a:r>
            <a:r>
              <a:rPr sz="2800" spc="-15" dirty="0">
                <a:latin typeface="Calibri"/>
                <a:cs typeface="Calibri"/>
              </a:rPr>
              <a:t>Complexity</a:t>
            </a:r>
            <a:endParaRPr sz="2800">
              <a:latin typeface="Calibri"/>
              <a:cs typeface="Calibri"/>
            </a:endParaRPr>
          </a:p>
          <a:p>
            <a:pPr marL="723900" lvl="1" indent="-228600">
              <a:lnSpc>
                <a:spcPct val="100000"/>
              </a:lnSpc>
              <a:spcBef>
                <a:spcPts val="245"/>
              </a:spcBef>
              <a:buFont typeface="Arial MT"/>
              <a:buChar char="•"/>
              <a:tabLst>
                <a:tab pos="723900" algn="l"/>
              </a:tabLst>
            </a:pPr>
            <a:r>
              <a:rPr sz="2400" spc="-5" dirty="0">
                <a:latin typeface="Calibri"/>
                <a:cs typeface="Calibri"/>
              </a:rPr>
              <a:t>O(b</a:t>
            </a:r>
            <a:r>
              <a:rPr sz="2400" spc="-35" dirty="0">
                <a:latin typeface="Calibri"/>
                <a:cs typeface="Calibri"/>
              </a:rPr>
              <a:t> </a:t>
            </a:r>
            <a:r>
              <a:rPr sz="2400" spc="-15" baseline="24305" dirty="0">
                <a:latin typeface="Calibri"/>
                <a:cs typeface="Calibri"/>
              </a:rPr>
              <a:t>C*/E</a:t>
            </a:r>
            <a:r>
              <a:rPr sz="2400" spc="-10" dirty="0">
                <a:latin typeface="Calibri"/>
                <a:cs typeface="Calibri"/>
              </a:rPr>
              <a:t>)</a:t>
            </a:r>
            <a:endParaRPr sz="2400">
              <a:latin typeface="Calibri"/>
              <a:cs typeface="Calibri"/>
            </a:endParaRPr>
          </a:p>
          <a:p>
            <a:pPr marL="723900" marR="30480" lvl="1" indent="-228600">
              <a:lnSpc>
                <a:spcPts val="2590"/>
              </a:lnSpc>
              <a:spcBef>
                <a:spcPts val="560"/>
              </a:spcBef>
              <a:buFont typeface="Arial MT"/>
              <a:buChar char="•"/>
              <a:tabLst>
                <a:tab pos="723900" algn="l"/>
              </a:tabLst>
            </a:pPr>
            <a:r>
              <a:rPr sz="2400" spc="-10" dirty="0">
                <a:latin typeface="Calibri"/>
                <a:cs typeface="Calibri"/>
              </a:rPr>
              <a:t>Where </a:t>
            </a:r>
            <a:r>
              <a:rPr sz="2400" dirty="0">
                <a:latin typeface="Calibri"/>
                <a:cs typeface="Calibri"/>
              </a:rPr>
              <a:t>C*</a:t>
            </a:r>
            <a:r>
              <a:rPr sz="2400" dirty="0">
                <a:latin typeface="Wingdings"/>
                <a:cs typeface="Wingdings"/>
              </a:rPr>
              <a:t></a:t>
            </a:r>
            <a:r>
              <a:rPr sz="2400" spc="-85" dirty="0">
                <a:latin typeface="Times New Roman"/>
                <a:cs typeface="Times New Roman"/>
              </a:rPr>
              <a:t> </a:t>
            </a:r>
            <a:r>
              <a:rPr sz="2400" spc="-15" dirty="0">
                <a:latin typeface="Calibri"/>
                <a:cs typeface="Calibri"/>
              </a:rPr>
              <a:t>cost</a:t>
            </a:r>
            <a:r>
              <a:rPr sz="2400" spc="-25" dirty="0">
                <a:latin typeface="Calibri"/>
                <a:cs typeface="Calibri"/>
              </a:rPr>
              <a:t> </a:t>
            </a:r>
            <a:r>
              <a:rPr sz="2400" spc="-5" dirty="0">
                <a:latin typeface="Calibri"/>
                <a:cs typeface="Calibri"/>
              </a:rPr>
              <a:t>of</a:t>
            </a:r>
            <a:r>
              <a:rPr sz="2400" spc="-15" dirty="0">
                <a:latin typeface="Calibri"/>
                <a:cs typeface="Calibri"/>
              </a:rPr>
              <a:t> </a:t>
            </a:r>
            <a:r>
              <a:rPr sz="2400" spc="-5" dirty="0">
                <a:latin typeface="Calibri"/>
                <a:cs typeface="Calibri"/>
              </a:rPr>
              <a:t>optimal</a:t>
            </a:r>
            <a:r>
              <a:rPr sz="2400" spc="-20" dirty="0">
                <a:latin typeface="Calibri"/>
                <a:cs typeface="Calibri"/>
              </a:rPr>
              <a:t> </a:t>
            </a:r>
            <a:r>
              <a:rPr sz="2400" spc="-10" dirty="0">
                <a:latin typeface="Calibri"/>
                <a:cs typeface="Calibri"/>
              </a:rPr>
              <a:t>path </a:t>
            </a:r>
            <a:r>
              <a:rPr sz="2400" spc="-530" dirty="0">
                <a:latin typeface="Calibri"/>
                <a:cs typeface="Calibri"/>
              </a:rPr>
              <a:t> </a:t>
            </a:r>
            <a:r>
              <a:rPr sz="2400" dirty="0">
                <a:latin typeface="Calibri"/>
                <a:cs typeface="Calibri"/>
              </a:rPr>
              <a:t>and</a:t>
            </a:r>
            <a:r>
              <a:rPr sz="2400" spc="-10" dirty="0">
                <a:latin typeface="Calibri"/>
                <a:cs typeface="Calibri"/>
              </a:rPr>
              <a:t> </a:t>
            </a:r>
            <a:r>
              <a:rPr sz="2400" spc="-5" dirty="0">
                <a:latin typeface="Calibri"/>
                <a:cs typeface="Calibri"/>
              </a:rPr>
              <a:t>E</a:t>
            </a:r>
            <a:r>
              <a:rPr sz="2400" spc="-5" dirty="0">
                <a:latin typeface="Wingdings"/>
                <a:cs typeface="Wingdings"/>
              </a:rPr>
              <a:t></a:t>
            </a:r>
            <a:r>
              <a:rPr sz="2400" spc="-70" dirty="0">
                <a:latin typeface="Times New Roman"/>
                <a:cs typeface="Times New Roman"/>
              </a:rPr>
              <a:t> </a:t>
            </a:r>
            <a:r>
              <a:rPr sz="2400" spc="-5" dirty="0">
                <a:latin typeface="Calibri"/>
                <a:cs typeface="Calibri"/>
              </a:rPr>
              <a:t>small</a:t>
            </a:r>
            <a:r>
              <a:rPr sz="2400" spc="-40" dirty="0">
                <a:latin typeface="Calibri"/>
                <a:cs typeface="Calibri"/>
              </a:rPr>
              <a:t> </a:t>
            </a:r>
            <a:r>
              <a:rPr sz="2400" spc="-10" dirty="0">
                <a:latin typeface="Calibri"/>
                <a:cs typeface="Calibri"/>
              </a:rPr>
              <a:t>positive</a:t>
            </a:r>
            <a:r>
              <a:rPr sz="2400" spc="5" dirty="0">
                <a:latin typeface="Calibri"/>
                <a:cs typeface="Calibri"/>
              </a:rPr>
              <a:t> </a:t>
            </a:r>
            <a:r>
              <a:rPr sz="2400" spc="-15" dirty="0">
                <a:latin typeface="Calibri"/>
                <a:cs typeface="Calibri"/>
              </a:rPr>
              <a:t>constant</a:t>
            </a:r>
            <a:endParaRPr sz="2400">
              <a:latin typeface="Calibri"/>
              <a:cs typeface="Calibri"/>
            </a:endParaRPr>
          </a:p>
          <a:p>
            <a:pPr marL="723900" marR="147320" lvl="1" indent="-228600">
              <a:lnSpc>
                <a:spcPts val="2590"/>
              </a:lnSpc>
              <a:spcBef>
                <a:spcPts val="484"/>
              </a:spcBef>
              <a:buFont typeface="Arial MT"/>
              <a:buChar char="•"/>
              <a:tabLst>
                <a:tab pos="723900" algn="l"/>
              </a:tabLst>
            </a:pPr>
            <a:r>
              <a:rPr sz="2400" spc="-5" dirty="0">
                <a:latin typeface="Calibri"/>
                <a:cs typeface="Calibri"/>
              </a:rPr>
              <a:t>This </a:t>
            </a:r>
            <a:r>
              <a:rPr sz="2400" spc="-10" dirty="0">
                <a:latin typeface="Calibri"/>
                <a:cs typeface="Calibri"/>
              </a:rPr>
              <a:t>complexity </a:t>
            </a:r>
            <a:r>
              <a:rPr sz="2400" dirty="0">
                <a:latin typeface="Calibri"/>
                <a:cs typeface="Calibri"/>
              </a:rPr>
              <a:t>is much </a:t>
            </a:r>
            <a:r>
              <a:rPr sz="2400" spc="-15" dirty="0">
                <a:latin typeface="Calibri"/>
                <a:cs typeface="Calibri"/>
              </a:rPr>
              <a:t>greater </a:t>
            </a:r>
            <a:r>
              <a:rPr sz="2400" spc="-530" dirty="0">
                <a:latin typeface="Calibri"/>
                <a:cs typeface="Calibri"/>
              </a:rPr>
              <a:t> </a:t>
            </a:r>
            <a:r>
              <a:rPr sz="2400" dirty="0">
                <a:latin typeface="Calibri"/>
                <a:cs typeface="Calibri"/>
              </a:rPr>
              <a:t>than</a:t>
            </a:r>
            <a:r>
              <a:rPr sz="2400" spc="-5" dirty="0">
                <a:latin typeface="Calibri"/>
                <a:cs typeface="Calibri"/>
              </a:rPr>
              <a:t> </a:t>
            </a:r>
            <a:r>
              <a:rPr sz="2400" spc="-10" dirty="0">
                <a:latin typeface="Calibri"/>
                <a:cs typeface="Calibri"/>
              </a:rPr>
              <a:t>that</a:t>
            </a:r>
            <a:r>
              <a:rPr sz="2400" spc="-20" dirty="0">
                <a:latin typeface="Calibri"/>
                <a:cs typeface="Calibri"/>
              </a:rPr>
              <a:t> </a:t>
            </a:r>
            <a:r>
              <a:rPr sz="2400" spc="-5" dirty="0">
                <a:latin typeface="Calibri"/>
                <a:cs typeface="Calibri"/>
              </a:rPr>
              <a:t>of</a:t>
            </a:r>
            <a:r>
              <a:rPr sz="2400" spc="-10" dirty="0">
                <a:latin typeface="Calibri"/>
                <a:cs typeface="Calibri"/>
              </a:rPr>
              <a:t> Breadth </a:t>
            </a:r>
            <a:r>
              <a:rPr sz="2400" spc="-20" dirty="0">
                <a:latin typeface="Calibri"/>
                <a:cs typeface="Calibri"/>
              </a:rPr>
              <a:t>first</a:t>
            </a:r>
            <a:r>
              <a:rPr sz="2400" spc="-15" dirty="0">
                <a:latin typeface="Calibri"/>
                <a:cs typeface="Calibri"/>
              </a:rPr>
              <a:t> </a:t>
            </a:r>
            <a:r>
              <a:rPr sz="2400" spc="-10" dirty="0">
                <a:latin typeface="Calibri"/>
                <a:cs typeface="Calibri"/>
              </a:rPr>
              <a:t>search</a:t>
            </a:r>
            <a:endParaRPr sz="2400">
              <a:latin typeface="Calibri"/>
              <a:cs typeface="Calibri"/>
            </a:endParaRPr>
          </a:p>
          <a:p>
            <a:pPr marL="266700" indent="-228600">
              <a:lnSpc>
                <a:spcPct val="100000"/>
              </a:lnSpc>
              <a:spcBef>
                <a:spcPts val="605"/>
              </a:spcBef>
              <a:buFont typeface="Arial MT"/>
              <a:buChar char="•"/>
              <a:tabLst>
                <a:tab pos="266700" algn="l"/>
              </a:tabLst>
            </a:pPr>
            <a:r>
              <a:rPr sz="2800" spc="-5" dirty="0">
                <a:latin typeface="Calibri"/>
                <a:cs typeface="Calibri"/>
              </a:rPr>
              <a:t>Space</a:t>
            </a:r>
            <a:r>
              <a:rPr sz="2800" spc="-30" dirty="0">
                <a:latin typeface="Calibri"/>
                <a:cs typeface="Calibri"/>
              </a:rPr>
              <a:t> </a:t>
            </a:r>
            <a:r>
              <a:rPr sz="2800" spc="-15" dirty="0">
                <a:latin typeface="Calibri"/>
                <a:cs typeface="Calibri"/>
              </a:rPr>
              <a:t>Complexity</a:t>
            </a:r>
            <a:endParaRPr sz="2800">
              <a:latin typeface="Calibri"/>
              <a:cs typeface="Calibri"/>
            </a:endParaRPr>
          </a:p>
          <a:p>
            <a:pPr marL="723900" lvl="1" indent="-228600">
              <a:lnSpc>
                <a:spcPct val="100000"/>
              </a:lnSpc>
              <a:spcBef>
                <a:spcPts val="235"/>
              </a:spcBef>
              <a:buFont typeface="Arial MT"/>
              <a:buChar char="•"/>
              <a:tabLst>
                <a:tab pos="723900" algn="l"/>
              </a:tabLst>
            </a:pPr>
            <a:r>
              <a:rPr sz="2400" spc="-5" dirty="0">
                <a:latin typeface="Calibri"/>
                <a:cs typeface="Calibri"/>
              </a:rPr>
              <a:t>O(b</a:t>
            </a:r>
            <a:r>
              <a:rPr sz="2400" spc="-35" dirty="0">
                <a:latin typeface="Calibri"/>
                <a:cs typeface="Calibri"/>
              </a:rPr>
              <a:t> </a:t>
            </a:r>
            <a:r>
              <a:rPr sz="2400" spc="-15" baseline="24305" dirty="0">
                <a:latin typeface="Calibri"/>
                <a:cs typeface="Calibri"/>
              </a:rPr>
              <a:t>C*/E</a:t>
            </a:r>
            <a:r>
              <a:rPr sz="2400" spc="-10" dirty="0">
                <a:latin typeface="Calibri"/>
                <a:cs typeface="Calibri"/>
              </a:rPr>
              <a:t>)</a:t>
            </a:r>
            <a:endParaRPr sz="24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C85A-49E2-4B9C-964F-D17F25F9B3F2}"/>
              </a:ext>
            </a:extLst>
          </p:cNvPr>
          <p:cNvSpPr>
            <a:spLocks noGrp="1"/>
          </p:cNvSpPr>
          <p:nvPr>
            <p:ph type="title"/>
          </p:nvPr>
        </p:nvSpPr>
        <p:spPr>
          <a:xfrm>
            <a:off x="838200" y="365126"/>
            <a:ext cx="5630333" cy="1170164"/>
          </a:xfrm>
        </p:spPr>
        <p:txBody>
          <a:bodyPr>
            <a:normAutofit/>
          </a:bodyPr>
          <a:lstStyle/>
          <a:p>
            <a:r>
              <a:rPr lang="en-US" sz="3600" b="1" dirty="0"/>
              <a:t>Depth- First Search (DFS)</a:t>
            </a:r>
          </a:p>
        </p:txBody>
      </p:sp>
      <p:sp>
        <p:nvSpPr>
          <p:cNvPr id="3" name="Content Placeholder 2">
            <a:extLst>
              <a:ext uri="{FF2B5EF4-FFF2-40B4-BE49-F238E27FC236}">
                <a16:creationId xmlns:a16="http://schemas.microsoft.com/office/drawing/2014/main" id="{BE26FA7D-60AD-4BEF-BE61-D4C1A7791C2A}"/>
              </a:ext>
            </a:extLst>
          </p:cNvPr>
          <p:cNvSpPr>
            <a:spLocks noGrp="1"/>
          </p:cNvSpPr>
          <p:nvPr>
            <p:ph idx="1"/>
          </p:nvPr>
        </p:nvSpPr>
        <p:spPr/>
        <p:txBody>
          <a:bodyPr/>
          <a:lstStyle/>
          <a:p>
            <a:r>
              <a:rPr lang="en-US" dirty="0">
                <a:effectLst/>
                <a:latin typeface="Times New Roman" panose="02020603050405020304" pitchFamily="18" charset="0"/>
              </a:rPr>
              <a:t>DFS proceeds down a single branch of the tree at a time.</a:t>
            </a:r>
          </a:p>
          <a:p>
            <a:pPr marL="0" indent="0">
              <a:buNone/>
            </a:pPr>
            <a:br>
              <a:rPr lang="en-US" dirty="0"/>
            </a:br>
            <a:r>
              <a:rPr lang="en-US" dirty="0">
                <a:effectLst/>
                <a:latin typeface="Times New Roman" panose="02020603050405020304" pitchFamily="18" charset="0"/>
              </a:rPr>
              <a:t>- It expands the root node, then the leftmost child of the root node, then the leftmost child of that node etc.</a:t>
            </a:r>
          </a:p>
          <a:p>
            <a:pPr marL="0" indent="0">
              <a:buNone/>
            </a:pPr>
            <a:br>
              <a:rPr lang="en-US" dirty="0"/>
            </a:br>
            <a:r>
              <a:rPr lang="en-US" dirty="0">
                <a:effectLst/>
                <a:latin typeface="Times New Roman" panose="02020603050405020304" pitchFamily="18" charset="0"/>
              </a:rPr>
              <a:t>- Always expands a node at the deepest level of the tree</a:t>
            </a:r>
          </a:p>
          <a:p>
            <a:pPr marL="0" indent="0">
              <a:buNone/>
            </a:pPr>
            <a:br>
              <a:rPr lang="en-US" dirty="0"/>
            </a:br>
            <a:r>
              <a:rPr lang="en-US" dirty="0">
                <a:effectLst/>
                <a:latin typeface="Times New Roman" panose="02020603050405020304" pitchFamily="18" charset="0"/>
              </a:rPr>
              <a:t>- Only when the search hits a dead end (a partial solution which can’t be extended) does the search backtrack and expand nodes at higher levels.</a:t>
            </a:r>
            <a:endParaRPr lang="en-US" dirty="0"/>
          </a:p>
        </p:txBody>
      </p:sp>
    </p:spTree>
    <p:extLst>
      <p:ext uri="{BB962C8B-B14F-4D97-AF65-F5344CB8AC3E}">
        <p14:creationId xmlns:p14="http://schemas.microsoft.com/office/powerpoint/2010/main" val="1999087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4">
            <a:extLst>
              <a:ext uri="{FF2B5EF4-FFF2-40B4-BE49-F238E27FC236}">
                <a16:creationId xmlns:a16="http://schemas.microsoft.com/office/drawing/2014/main" id="{994A072A-39F1-4D04-B0E1-CC20FC602E21}"/>
              </a:ext>
            </a:extLst>
          </p:cNvPr>
          <p:cNvPicPr/>
          <p:nvPr/>
        </p:nvPicPr>
        <p:blipFill>
          <a:blip r:embed="rId2" cstate="print"/>
          <a:stretch>
            <a:fillRect/>
          </a:stretch>
        </p:blipFill>
        <p:spPr>
          <a:xfrm>
            <a:off x="452065" y="719884"/>
            <a:ext cx="4568952" cy="4497324"/>
          </a:xfrm>
          <a:prstGeom prst="rect">
            <a:avLst/>
          </a:prstGeom>
        </p:spPr>
      </p:pic>
      <p:pic>
        <p:nvPicPr>
          <p:cNvPr id="4" name="Picture 3">
            <a:extLst>
              <a:ext uri="{FF2B5EF4-FFF2-40B4-BE49-F238E27FC236}">
                <a16:creationId xmlns:a16="http://schemas.microsoft.com/office/drawing/2014/main" id="{21AB1CBB-19E0-4289-BFB1-CCA7B382C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2150" y="1063280"/>
            <a:ext cx="5553761" cy="5077876"/>
          </a:xfrm>
          <a:prstGeom prst="rect">
            <a:avLst/>
          </a:prstGeom>
        </p:spPr>
      </p:pic>
    </p:spTree>
    <p:extLst>
      <p:ext uri="{BB962C8B-B14F-4D97-AF65-F5344CB8AC3E}">
        <p14:creationId xmlns:p14="http://schemas.microsoft.com/office/powerpoint/2010/main" val="2225824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192009" cy="697230"/>
          </a:xfrm>
          <a:prstGeom prst="rect">
            <a:avLst/>
          </a:prstGeom>
        </p:spPr>
        <p:txBody>
          <a:bodyPr vert="horz" wrap="square" lIns="0" tIns="13335" rIns="0" bIns="0" rtlCol="0">
            <a:spAutoFit/>
          </a:bodyPr>
          <a:lstStyle/>
          <a:p>
            <a:pPr marL="12700">
              <a:lnSpc>
                <a:spcPct val="100000"/>
              </a:lnSpc>
              <a:spcBef>
                <a:spcPts val="105"/>
              </a:spcBef>
            </a:pPr>
            <a:r>
              <a:rPr b="1" spc="-5" dirty="0"/>
              <a:t>Depth</a:t>
            </a:r>
            <a:r>
              <a:rPr b="1" spc="-10" dirty="0"/>
              <a:t> </a:t>
            </a:r>
            <a:r>
              <a:rPr b="1" spc="-25" dirty="0"/>
              <a:t>First</a:t>
            </a:r>
            <a:r>
              <a:rPr b="1" spc="-40" dirty="0"/>
              <a:t> </a:t>
            </a:r>
            <a:r>
              <a:rPr b="1" spc="-10" dirty="0"/>
              <a:t>Search:</a:t>
            </a:r>
            <a:r>
              <a:rPr b="1" spc="-25" dirty="0"/>
              <a:t> </a:t>
            </a:r>
            <a:r>
              <a:rPr b="1" spc="-15" dirty="0"/>
              <a:t>Four </a:t>
            </a:r>
            <a:r>
              <a:rPr b="1" spc="-10" dirty="0"/>
              <a:t>Criteria</a:t>
            </a:r>
          </a:p>
        </p:txBody>
      </p:sp>
      <p:sp>
        <p:nvSpPr>
          <p:cNvPr id="3" name="object 3"/>
          <p:cNvSpPr txBox="1"/>
          <p:nvPr/>
        </p:nvSpPr>
        <p:spPr>
          <a:xfrm>
            <a:off x="916939" y="1756565"/>
            <a:ext cx="4994275" cy="338137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Completeness</a:t>
            </a:r>
            <a:endParaRPr sz="2800">
              <a:latin typeface="Calibri"/>
              <a:cs typeface="Calibri"/>
            </a:endParaRPr>
          </a:p>
          <a:p>
            <a:pPr marL="698500" marR="655320" lvl="1" indent="-228600">
              <a:lnSpc>
                <a:spcPts val="2590"/>
              </a:lnSpc>
              <a:spcBef>
                <a:spcPts val="575"/>
              </a:spcBef>
              <a:buFont typeface="Arial MT"/>
              <a:buChar char="•"/>
              <a:tabLst>
                <a:tab pos="699135" algn="l"/>
              </a:tabLst>
            </a:pPr>
            <a:r>
              <a:rPr sz="2400" spc="-5" dirty="0">
                <a:latin typeface="Calibri"/>
                <a:cs typeface="Calibri"/>
              </a:rPr>
              <a:t>Can</a:t>
            </a:r>
            <a:r>
              <a:rPr sz="2400" spc="-30" dirty="0">
                <a:latin typeface="Calibri"/>
                <a:cs typeface="Calibri"/>
              </a:rPr>
              <a:t> </a:t>
            </a:r>
            <a:r>
              <a:rPr sz="2400" spc="-10" dirty="0">
                <a:latin typeface="Calibri"/>
                <a:cs typeface="Calibri"/>
              </a:rPr>
              <a:t>get</a:t>
            </a:r>
            <a:r>
              <a:rPr sz="2400" spc="-15" dirty="0">
                <a:latin typeface="Calibri"/>
                <a:cs typeface="Calibri"/>
              </a:rPr>
              <a:t> </a:t>
            </a:r>
            <a:r>
              <a:rPr sz="2400" spc="-10" dirty="0">
                <a:latin typeface="Calibri"/>
                <a:cs typeface="Calibri"/>
              </a:rPr>
              <a:t>stuck</a:t>
            </a:r>
            <a:r>
              <a:rPr sz="2400" spc="-35" dirty="0">
                <a:latin typeface="Calibri"/>
                <a:cs typeface="Calibri"/>
              </a:rPr>
              <a:t> </a:t>
            </a:r>
            <a:r>
              <a:rPr sz="2400" spc="-10" dirty="0">
                <a:latin typeface="Calibri"/>
                <a:cs typeface="Calibri"/>
              </a:rPr>
              <a:t>going</a:t>
            </a:r>
            <a:r>
              <a:rPr sz="2400" spc="-30" dirty="0">
                <a:latin typeface="Calibri"/>
                <a:cs typeface="Calibri"/>
              </a:rPr>
              <a:t> </a:t>
            </a:r>
            <a:r>
              <a:rPr sz="2400" spc="-10" dirty="0">
                <a:latin typeface="Calibri"/>
                <a:cs typeface="Calibri"/>
              </a:rPr>
              <a:t>down</a:t>
            </a:r>
            <a:r>
              <a:rPr sz="2400" dirty="0">
                <a:latin typeface="Calibri"/>
                <a:cs typeface="Calibri"/>
              </a:rPr>
              <a:t> the </a:t>
            </a:r>
            <a:r>
              <a:rPr sz="2400" spc="-530" dirty="0">
                <a:latin typeface="Calibri"/>
                <a:cs typeface="Calibri"/>
              </a:rPr>
              <a:t> </a:t>
            </a:r>
            <a:r>
              <a:rPr sz="2400" spc="-10" dirty="0">
                <a:latin typeface="Calibri"/>
                <a:cs typeface="Calibri"/>
              </a:rPr>
              <a:t>wrong</a:t>
            </a:r>
            <a:r>
              <a:rPr sz="2400" spc="-30" dirty="0">
                <a:latin typeface="Calibri"/>
                <a:cs typeface="Calibri"/>
              </a:rPr>
              <a:t> </a:t>
            </a:r>
            <a:r>
              <a:rPr sz="2400" spc="-10" dirty="0">
                <a:latin typeface="Calibri"/>
                <a:cs typeface="Calibri"/>
              </a:rPr>
              <a:t>path</a:t>
            </a:r>
            <a:endParaRPr sz="2400">
              <a:latin typeface="Calibri"/>
              <a:cs typeface="Calibri"/>
            </a:endParaRPr>
          </a:p>
          <a:p>
            <a:pPr marL="698500" lvl="1" indent="-229235">
              <a:lnSpc>
                <a:spcPts val="2735"/>
              </a:lnSpc>
              <a:spcBef>
                <a:spcPts val="180"/>
              </a:spcBef>
              <a:buFont typeface="Arial MT"/>
              <a:buChar char="•"/>
              <a:tabLst>
                <a:tab pos="699135" algn="l"/>
              </a:tabLst>
            </a:pPr>
            <a:r>
              <a:rPr sz="2400" dirty="0">
                <a:latin typeface="Calibri"/>
                <a:cs typeface="Calibri"/>
              </a:rPr>
              <a:t>It</a:t>
            </a:r>
            <a:r>
              <a:rPr sz="2400" spc="-35" dirty="0">
                <a:latin typeface="Calibri"/>
                <a:cs typeface="Calibri"/>
              </a:rPr>
              <a:t> </a:t>
            </a:r>
            <a:r>
              <a:rPr sz="2400" dirty="0">
                <a:latin typeface="Calibri"/>
                <a:cs typeface="Calibri"/>
              </a:rPr>
              <a:t>will</a:t>
            </a:r>
            <a:r>
              <a:rPr sz="2400" spc="-25" dirty="0">
                <a:latin typeface="Calibri"/>
                <a:cs typeface="Calibri"/>
              </a:rPr>
              <a:t> </a:t>
            </a:r>
            <a:r>
              <a:rPr sz="2400" spc="-15" dirty="0">
                <a:latin typeface="Calibri"/>
                <a:cs typeface="Calibri"/>
              </a:rPr>
              <a:t>always</a:t>
            </a:r>
            <a:r>
              <a:rPr sz="2400" spc="-30" dirty="0">
                <a:latin typeface="Calibri"/>
                <a:cs typeface="Calibri"/>
              </a:rPr>
              <a:t> </a:t>
            </a:r>
            <a:r>
              <a:rPr sz="2400" spc="-10" dirty="0">
                <a:latin typeface="Calibri"/>
                <a:cs typeface="Calibri"/>
              </a:rPr>
              <a:t>continue </a:t>
            </a:r>
            <a:r>
              <a:rPr sz="2400" spc="-15" dirty="0">
                <a:latin typeface="Calibri"/>
                <a:cs typeface="Calibri"/>
              </a:rPr>
              <a:t>downwards</a:t>
            </a:r>
            <a:endParaRPr sz="2400">
              <a:latin typeface="Calibri"/>
              <a:cs typeface="Calibri"/>
            </a:endParaRPr>
          </a:p>
          <a:p>
            <a:pPr marL="698500">
              <a:lnSpc>
                <a:spcPts val="2735"/>
              </a:lnSpc>
            </a:pPr>
            <a:r>
              <a:rPr sz="2400" dirty="0">
                <a:latin typeface="Calibri"/>
                <a:cs typeface="Calibri"/>
              </a:rPr>
              <a:t>without</a:t>
            </a:r>
            <a:r>
              <a:rPr sz="2400" spc="-45" dirty="0">
                <a:latin typeface="Calibri"/>
                <a:cs typeface="Calibri"/>
              </a:rPr>
              <a:t> </a:t>
            </a:r>
            <a:r>
              <a:rPr sz="2400" spc="-5" dirty="0">
                <a:latin typeface="Calibri"/>
                <a:cs typeface="Calibri"/>
              </a:rPr>
              <a:t>backing</a:t>
            </a:r>
            <a:r>
              <a:rPr sz="2400" spc="-35" dirty="0">
                <a:latin typeface="Calibri"/>
                <a:cs typeface="Calibri"/>
              </a:rPr>
              <a:t> </a:t>
            </a:r>
            <a:r>
              <a:rPr sz="2400" spc="-5" dirty="0">
                <a:latin typeface="Calibri"/>
                <a:cs typeface="Calibri"/>
              </a:rPr>
              <a:t>up</a:t>
            </a:r>
            <a:endParaRPr sz="2400">
              <a:latin typeface="Calibri"/>
              <a:cs typeface="Calibri"/>
            </a:endParaRPr>
          </a:p>
          <a:p>
            <a:pPr marL="698500" marR="5080" lvl="1" indent="-228600">
              <a:lnSpc>
                <a:spcPts val="2590"/>
              </a:lnSpc>
              <a:spcBef>
                <a:spcPts val="530"/>
              </a:spcBef>
              <a:buFont typeface="Arial MT"/>
              <a:buChar char="•"/>
              <a:tabLst>
                <a:tab pos="699135" algn="l"/>
              </a:tabLst>
            </a:pPr>
            <a:r>
              <a:rPr sz="2400" dirty="0">
                <a:latin typeface="Calibri"/>
                <a:cs typeface="Calibri"/>
              </a:rPr>
              <a:t>If the </a:t>
            </a:r>
            <a:r>
              <a:rPr sz="2400" spc="-10" dirty="0">
                <a:latin typeface="Calibri"/>
                <a:cs typeface="Calibri"/>
              </a:rPr>
              <a:t>path </a:t>
            </a:r>
            <a:r>
              <a:rPr sz="2400" dirty="0">
                <a:latin typeface="Calibri"/>
                <a:cs typeface="Calibri"/>
              </a:rPr>
              <a:t>chose </a:t>
            </a:r>
            <a:r>
              <a:rPr sz="2400" spc="-10" dirty="0">
                <a:latin typeface="Calibri"/>
                <a:cs typeface="Calibri"/>
              </a:rPr>
              <a:t>get infinitely </a:t>
            </a:r>
            <a:r>
              <a:rPr sz="2400" spc="-5" dirty="0">
                <a:latin typeface="Calibri"/>
                <a:cs typeface="Calibri"/>
              </a:rPr>
              <a:t> down, </a:t>
            </a:r>
            <a:r>
              <a:rPr sz="2400" spc="-10" dirty="0">
                <a:latin typeface="Calibri"/>
                <a:cs typeface="Calibri"/>
              </a:rPr>
              <a:t>even </a:t>
            </a:r>
            <a:r>
              <a:rPr sz="2400" dirty="0">
                <a:latin typeface="Calibri"/>
                <a:cs typeface="Calibri"/>
              </a:rPr>
              <a:t>when </a:t>
            </a:r>
            <a:r>
              <a:rPr sz="2400" spc="-10" dirty="0">
                <a:latin typeface="Calibri"/>
                <a:cs typeface="Calibri"/>
              </a:rPr>
              <a:t>shallow </a:t>
            </a:r>
            <a:r>
              <a:rPr sz="2400" spc="-5" dirty="0">
                <a:latin typeface="Calibri"/>
                <a:cs typeface="Calibri"/>
              </a:rPr>
              <a:t>solution </a:t>
            </a:r>
            <a:r>
              <a:rPr sz="2400" spc="-530" dirty="0">
                <a:latin typeface="Calibri"/>
                <a:cs typeface="Calibri"/>
              </a:rPr>
              <a:t> </a:t>
            </a:r>
            <a:r>
              <a:rPr sz="2400" spc="-15" dirty="0">
                <a:latin typeface="Calibri"/>
                <a:cs typeface="Calibri"/>
              </a:rPr>
              <a:t>exists</a:t>
            </a:r>
            <a:endParaRPr sz="2400">
              <a:latin typeface="Calibri"/>
              <a:cs typeface="Calibri"/>
            </a:endParaRPr>
          </a:p>
          <a:p>
            <a:pPr marL="698500" lvl="1" indent="-229235">
              <a:lnSpc>
                <a:spcPct val="100000"/>
              </a:lnSpc>
              <a:spcBef>
                <a:spcPts val="185"/>
              </a:spcBef>
              <a:buFont typeface="Arial MT"/>
              <a:buChar char="•"/>
              <a:tabLst>
                <a:tab pos="699135" algn="l"/>
              </a:tabLst>
            </a:pPr>
            <a:r>
              <a:rPr sz="2400" spc="-5" dirty="0">
                <a:latin typeface="Calibri"/>
                <a:cs typeface="Calibri"/>
              </a:rPr>
              <a:t>Not</a:t>
            </a:r>
            <a:r>
              <a:rPr sz="2400" spc="-25" dirty="0">
                <a:latin typeface="Calibri"/>
                <a:cs typeface="Calibri"/>
              </a:rPr>
              <a:t> </a:t>
            </a:r>
            <a:r>
              <a:rPr sz="2400" spc="-15" dirty="0">
                <a:latin typeface="Calibri"/>
                <a:cs typeface="Calibri"/>
              </a:rPr>
              <a:t>complete</a:t>
            </a:r>
            <a:endParaRPr sz="2400">
              <a:latin typeface="Calibri"/>
              <a:cs typeface="Calibri"/>
            </a:endParaRPr>
          </a:p>
        </p:txBody>
      </p:sp>
      <p:sp>
        <p:nvSpPr>
          <p:cNvPr id="4" name="object 4"/>
          <p:cNvSpPr txBox="1"/>
          <p:nvPr/>
        </p:nvSpPr>
        <p:spPr>
          <a:xfrm>
            <a:off x="6251828" y="1756565"/>
            <a:ext cx="4676775" cy="226695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Optimality</a:t>
            </a:r>
            <a:endParaRPr sz="2800">
              <a:latin typeface="Calibri"/>
              <a:cs typeface="Calibri"/>
            </a:endParaRPr>
          </a:p>
          <a:p>
            <a:pPr marL="698500" marR="5080" lvl="1" indent="-228600">
              <a:lnSpc>
                <a:spcPts val="2590"/>
              </a:lnSpc>
              <a:spcBef>
                <a:spcPts val="575"/>
              </a:spcBef>
              <a:buFont typeface="Arial MT"/>
              <a:buChar char="•"/>
              <a:tabLst>
                <a:tab pos="698500" algn="l"/>
              </a:tabLst>
            </a:pPr>
            <a:r>
              <a:rPr sz="2400" spc="-5" dirty="0">
                <a:latin typeface="Calibri"/>
                <a:cs typeface="Calibri"/>
              </a:rPr>
              <a:t>The </a:t>
            </a:r>
            <a:r>
              <a:rPr sz="2400" spc="-20" dirty="0">
                <a:latin typeface="Calibri"/>
                <a:cs typeface="Calibri"/>
              </a:rPr>
              <a:t>strategy </a:t>
            </a:r>
            <a:r>
              <a:rPr sz="2400" spc="-5" dirty="0">
                <a:latin typeface="Calibri"/>
                <a:cs typeface="Calibri"/>
              </a:rPr>
              <a:t>might </a:t>
            </a:r>
            <a:r>
              <a:rPr sz="2400" spc="-10" dirty="0">
                <a:latin typeface="Calibri"/>
                <a:cs typeface="Calibri"/>
              </a:rPr>
              <a:t>return </a:t>
            </a:r>
            <a:r>
              <a:rPr sz="2400" dirty="0">
                <a:latin typeface="Calibri"/>
                <a:cs typeface="Calibri"/>
              </a:rPr>
              <a:t>a </a:t>
            </a:r>
            <a:r>
              <a:rPr sz="2400" spc="5" dirty="0">
                <a:latin typeface="Calibri"/>
                <a:cs typeface="Calibri"/>
              </a:rPr>
              <a:t> </a:t>
            </a:r>
            <a:r>
              <a:rPr sz="2400" spc="-5" dirty="0">
                <a:latin typeface="Calibri"/>
                <a:cs typeface="Calibri"/>
              </a:rPr>
              <a:t>solution </a:t>
            </a:r>
            <a:r>
              <a:rPr sz="2400" spc="-10" dirty="0">
                <a:latin typeface="Calibri"/>
                <a:cs typeface="Calibri"/>
              </a:rPr>
              <a:t>path that </a:t>
            </a:r>
            <a:r>
              <a:rPr sz="2400" dirty="0">
                <a:latin typeface="Calibri"/>
                <a:cs typeface="Calibri"/>
              </a:rPr>
              <a:t>is </a:t>
            </a:r>
            <a:r>
              <a:rPr sz="2400" spc="-10" dirty="0">
                <a:latin typeface="Calibri"/>
                <a:cs typeface="Calibri"/>
              </a:rPr>
              <a:t>longer </a:t>
            </a:r>
            <a:r>
              <a:rPr sz="2400" dirty="0">
                <a:latin typeface="Calibri"/>
                <a:cs typeface="Calibri"/>
              </a:rPr>
              <a:t>than </a:t>
            </a:r>
            <a:r>
              <a:rPr sz="2400" spc="-530" dirty="0">
                <a:latin typeface="Calibri"/>
                <a:cs typeface="Calibri"/>
              </a:rPr>
              <a:t> </a:t>
            </a:r>
            <a:r>
              <a:rPr sz="2400" dirty="0">
                <a:latin typeface="Calibri"/>
                <a:cs typeface="Calibri"/>
              </a:rPr>
              <a:t>the </a:t>
            </a:r>
            <a:r>
              <a:rPr sz="2400" spc="-5" dirty="0">
                <a:latin typeface="Calibri"/>
                <a:cs typeface="Calibri"/>
              </a:rPr>
              <a:t>optimal solution, </a:t>
            </a:r>
            <a:r>
              <a:rPr sz="2400" dirty="0">
                <a:latin typeface="Calibri"/>
                <a:cs typeface="Calibri"/>
              </a:rPr>
              <a:t>if it </a:t>
            </a:r>
            <a:r>
              <a:rPr sz="2400" spc="-10" dirty="0">
                <a:latin typeface="Calibri"/>
                <a:cs typeface="Calibri"/>
              </a:rPr>
              <a:t>starts </a:t>
            </a:r>
            <a:r>
              <a:rPr sz="2400" spc="-5" dirty="0">
                <a:latin typeface="Calibri"/>
                <a:cs typeface="Calibri"/>
              </a:rPr>
              <a:t> </a:t>
            </a:r>
            <a:r>
              <a:rPr sz="2400" dirty="0">
                <a:latin typeface="Calibri"/>
                <a:cs typeface="Calibri"/>
              </a:rPr>
              <a:t>with</a:t>
            </a:r>
            <a:r>
              <a:rPr sz="2400" spc="-25" dirty="0">
                <a:latin typeface="Calibri"/>
                <a:cs typeface="Calibri"/>
              </a:rPr>
              <a:t> </a:t>
            </a:r>
            <a:r>
              <a:rPr sz="2400" dirty="0">
                <a:latin typeface="Calibri"/>
                <a:cs typeface="Calibri"/>
              </a:rPr>
              <a:t>an</a:t>
            </a:r>
            <a:r>
              <a:rPr sz="2400" spc="-5" dirty="0">
                <a:latin typeface="Calibri"/>
                <a:cs typeface="Calibri"/>
              </a:rPr>
              <a:t> unlucky</a:t>
            </a:r>
            <a:r>
              <a:rPr sz="2400" spc="-10" dirty="0">
                <a:latin typeface="Calibri"/>
                <a:cs typeface="Calibri"/>
              </a:rPr>
              <a:t> path</a:t>
            </a:r>
            <a:endParaRPr sz="2400">
              <a:latin typeface="Calibri"/>
              <a:cs typeface="Calibri"/>
            </a:endParaRPr>
          </a:p>
          <a:p>
            <a:pPr marL="698500" lvl="1" indent="-228600">
              <a:lnSpc>
                <a:spcPct val="100000"/>
              </a:lnSpc>
              <a:spcBef>
                <a:spcPts val="185"/>
              </a:spcBef>
              <a:buFont typeface="Arial MT"/>
              <a:buChar char="•"/>
              <a:tabLst>
                <a:tab pos="698500" algn="l"/>
              </a:tabLst>
            </a:pPr>
            <a:r>
              <a:rPr sz="2400" spc="-5" dirty="0">
                <a:latin typeface="Calibri"/>
                <a:cs typeface="Calibri"/>
              </a:rPr>
              <a:t>Not</a:t>
            </a:r>
            <a:r>
              <a:rPr sz="2400" spc="-35" dirty="0">
                <a:latin typeface="Calibri"/>
                <a:cs typeface="Calibri"/>
              </a:rPr>
              <a:t> </a:t>
            </a:r>
            <a:r>
              <a:rPr sz="2400" spc="-5" dirty="0">
                <a:latin typeface="Calibri"/>
                <a:cs typeface="Calibri"/>
              </a:rPr>
              <a:t>optimal</a:t>
            </a:r>
            <a:endParaRPr sz="24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7193915" cy="697230"/>
          </a:xfrm>
          <a:prstGeom prst="rect">
            <a:avLst/>
          </a:prstGeom>
        </p:spPr>
        <p:txBody>
          <a:bodyPr vert="horz" wrap="square" lIns="0" tIns="13335" rIns="0" bIns="0" rtlCol="0">
            <a:spAutoFit/>
          </a:bodyPr>
          <a:lstStyle/>
          <a:p>
            <a:pPr marL="12700">
              <a:lnSpc>
                <a:spcPct val="100000"/>
              </a:lnSpc>
              <a:spcBef>
                <a:spcPts val="105"/>
              </a:spcBef>
            </a:pPr>
            <a:r>
              <a:rPr b="1" spc="-5" dirty="0"/>
              <a:t>Depth</a:t>
            </a:r>
            <a:r>
              <a:rPr b="1" spc="-10" dirty="0"/>
              <a:t> </a:t>
            </a:r>
            <a:r>
              <a:rPr b="1" spc="-25" dirty="0"/>
              <a:t>First</a:t>
            </a:r>
            <a:r>
              <a:rPr b="1" spc="-30" dirty="0"/>
              <a:t> </a:t>
            </a:r>
            <a:r>
              <a:rPr b="1" spc="-10" dirty="0"/>
              <a:t>Search:</a:t>
            </a:r>
            <a:r>
              <a:rPr b="1" spc="-25" dirty="0"/>
              <a:t> </a:t>
            </a:r>
            <a:r>
              <a:rPr b="1" spc="-15" dirty="0"/>
              <a:t>Four </a:t>
            </a:r>
            <a:r>
              <a:rPr b="1" spc="-10" dirty="0"/>
              <a:t>Criteria</a:t>
            </a:r>
          </a:p>
        </p:txBody>
      </p:sp>
      <p:sp>
        <p:nvSpPr>
          <p:cNvPr id="3" name="object 3"/>
          <p:cNvSpPr txBox="1"/>
          <p:nvPr/>
        </p:nvSpPr>
        <p:spPr>
          <a:xfrm>
            <a:off x="891539" y="1756565"/>
            <a:ext cx="5143500" cy="4304665"/>
          </a:xfrm>
          <a:prstGeom prst="rect">
            <a:avLst/>
          </a:prstGeom>
        </p:spPr>
        <p:txBody>
          <a:bodyPr vert="horz" wrap="square" lIns="0" tIns="48895" rIns="0" bIns="0" rtlCol="0">
            <a:spAutoFit/>
          </a:bodyPr>
          <a:lstStyle/>
          <a:p>
            <a:pPr marL="266700" indent="-228600">
              <a:lnSpc>
                <a:spcPct val="100000"/>
              </a:lnSpc>
              <a:spcBef>
                <a:spcPts val="385"/>
              </a:spcBef>
              <a:buFont typeface="Arial MT"/>
              <a:buChar char="•"/>
              <a:tabLst>
                <a:tab pos="266700" algn="l"/>
              </a:tabLst>
            </a:pPr>
            <a:r>
              <a:rPr sz="2800" spc="-5" dirty="0">
                <a:latin typeface="Calibri"/>
                <a:cs typeface="Calibri"/>
              </a:rPr>
              <a:t>Space</a:t>
            </a:r>
            <a:r>
              <a:rPr sz="2800" spc="-35" dirty="0">
                <a:latin typeface="Calibri"/>
                <a:cs typeface="Calibri"/>
              </a:rPr>
              <a:t> </a:t>
            </a:r>
            <a:r>
              <a:rPr sz="2800" spc="-10" dirty="0">
                <a:latin typeface="Calibri"/>
                <a:cs typeface="Calibri"/>
              </a:rPr>
              <a:t>Complexity</a:t>
            </a:r>
            <a:endParaRPr sz="2800">
              <a:latin typeface="Calibri"/>
              <a:cs typeface="Calibri"/>
            </a:endParaRPr>
          </a:p>
          <a:p>
            <a:pPr marL="723900" marR="100330" lvl="1" indent="-228600">
              <a:lnSpc>
                <a:spcPts val="2590"/>
              </a:lnSpc>
              <a:spcBef>
                <a:spcPts val="575"/>
              </a:spcBef>
              <a:buFont typeface="Arial MT"/>
              <a:buChar char="•"/>
              <a:tabLst>
                <a:tab pos="724535" algn="l"/>
              </a:tabLst>
            </a:pPr>
            <a:r>
              <a:rPr sz="2400" dirty="0">
                <a:latin typeface="Calibri"/>
                <a:cs typeface="Calibri"/>
              </a:rPr>
              <a:t>It </a:t>
            </a:r>
            <a:r>
              <a:rPr sz="2400" spc="-5" dirty="0">
                <a:latin typeface="Calibri"/>
                <a:cs typeface="Calibri"/>
              </a:rPr>
              <a:t>needs </a:t>
            </a:r>
            <a:r>
              <a:rPr sz="2400" spc="-15" dirty="0">
                <a:latin typeface="Calibri"/>
                <a:cs typeface="Calibri"/>
              </a:rPr>
              <a:t>to </a:t>
            </a:r>
            <a:r>
              <a:rPr sz="2400" spc="-20" dirty="0">
                <a:latin typeface="Calibri"/>
                <a:cs typeface="Calibri"/>
              </a:rPr>
              <a:t>store </a:t>
            </a:r>
            <a:r>
              <a:rPr sz="2400" dirty="0">
                <a:latin typeface="Calibri"/>
                <a:cs typeface="Calibri"/>
              </a:rPr>
              <a:t>a </a:t>
            </a:r>
            <a:r>
              <a:rPr sz="2400" spc="-5" dirty="0">
                <a:latin typeface="Calibri"/>
                <a:cs typeface="Calibri"/>
              </a:rPr>
              <a:t>single </a:t>
            </a:r>
            <a:r>
              <a:rPr sz="2400" spc="-10" dirty="0">
                <a:latin typeface="Calibri"/>
                <a:cs typeface="Calibri"/>
              </a:rPr>
              <a:t>path </a:t>
            </a:r>
            <a:r>
              <a:rPr sz="2400" spc="-15" dirty="0">
                <a:latin typeface="Calibri"/>
                <a:cs typeface="Calibri"/>
              </a:rPr>
              <a:t>from </a:t>
            </a:r>
            <a:r>
              <a:rPr sz="2400" spc="-530" dirty="0">
                <a:latin typeface="Calibri"/>
                <a:cs typeface="Calibri"/>
              </a:rPr>
              <a:t> </a:t>
            </a:r>
            <a:r>
              <a:rPr sz="2400" spc="-15" dirty="0">
                <a:latin typeface="Calibri"/>
                <a:cs typeface="Calibri"/>
              </a:rPr>
              <a:t>root to </a:t>
            </a:r>
            <a:r>
              <a:rPr sz="2400" dirty="0">
                <a:latin typeface="Calibri"/>
                <a:cs typeface="Calibri"/>
              </a:rPr>
              <a:t>a leaf </a:t>
            </a:r>
            <a:r>
              <a:rPr sz="2400" spc="-5" dirty="0">
                <a:latin typeface="Calibri"/>
                <a:cs typeface="Calibri"/>
              </a:rPr>
              <a:t>node </a:t>
            </a:r>
            <a:r>
              <a:rPr sz="2400" dirty="0">
                <a:latin typeface="Calibri"/>
                <a:cs typeface="Calibri"/>
              </a:rPr>
              <a:t>and the </a:t>
            </a:r>
            <a:r>
              <a:rPr sz="2400" spc="5" dirty="0">
                <a:latin typeface="Calibri"/>
                <a:cs typeface="Calibri"/>
              </a:rPr>
              <a:t> </a:t>
            </a:r>
            <a:r>
              <a:rPr sz="2400" spc="-5" dirty="0">
                <a:latin typeface="Calibri"/>
                <a:cs typeface="Calibri"/>
              </a:rPr>
              <a:t>remaining </a:t>
            </a:r>
            <a:r>
              <a:rPr sz="2400" spc="-10" dirty="0">
                <a:latin typeface="Calibri"/>
                <a:cs typeface="Calibri"/>
              </a:rPr>
              <a:t>unexpanded </a:t>
            </a:r>
            <a:r>
              <a:rPr sz="2400" spc="-5" dirty="0">
                <a:latin typeface="Calibri"/>
                <a:cs typeface="Calibri"/>
              </a:rPr>
              <a:t>sibling </a:t>
            </a:r>
            <a:r>
              <a:rPr sz="2400" dirty="0">
                <a:latin typeface="Calibri"/>
                <a:cs typeface="Calibri"/>
              </a:rPr>
              <a:t> </a:t>
            </a:r>
            <a:r>
              <a:rPr sz="2400" spc="-5" dirty="0">
                <a:latin typeface="Calibri"/>
                <a:cs typeface="Calibri"/>
              </a:rPr>
              <a:t>nodes </a:t>
            </a:r>
            <a:r>
              <a:rPr sz="2400" spc="-20" dirty="0">
                <a:latin typeface="Calibri"/>
                <a:cs typeface="Calibri"/>
              </a:rPr>
              <a:t>for</a:t>
            </a:r>
            <a:r>
              <a:rPr sz="2400" spc="-15" dirty="0">
                <a:latin typeface="Calibri"/>
                <a:cs typeface="Calibri"/>
              </a:rPr>
              <a:t> </a:t>
            </a:r>
            <a:r>
              <a:rPr sz="2400" dirty="0">
                <a:latin typeface="Calibri"/>
                <a:cs typeface="Calibri"/>
              </a:rPr>
              <a:t>each</a:t>
            </a:r>
            <a:r>
              <a:rPr sz="2400" spc="-25" dirty="0">
                <a:latin typeface="Calibri"/>
                <a:cs typeface="Calibri"/>
              </a:rPr>
              <a:t> </a:t>
            </a:r>
            <a:r>
              <a:rPr sz="2400" spc="-5" dirty="0">
                <a:latin typeface="Calibri"/>
                <a:cs typeface="Calibri"/>
              </a:rPr>
              <a:t>node</a:t>
            </a:r>
            <a:r>
              <a:rPr sz="2400" spc="-10" dirty="0">
                <a:latin typeface="Calibri"/>
                <a:cs typeface="Calibri"/>
              </a:rPr>
              <a:t> </a:t>
            </a:r>
            <a:r>
              <a:rPr sz="2400" dirty="0">
                <a:latin typeface="Calibri"/>
                <a:cs typeface="Calibri"/>
              </a:rPr>
              <a:t>in</a:t>
            </a:r>
            <a:r>
              <a:rPr sz="2400" spc="-5" dirty="0">
                <a:latin typeface="Calibri"/>
                <a:cs typeface="Calibri"/>
              </a:rPr>
              <a:t> the</a:t>
            </a:r>
            <a:r>
              <a:rPr sz="2400" dirty="0">
                <a:latin typeface="Calibri"/>
                <a:cs typeface="Calibri"/>
              </a:rPr>
              <a:t> </a:t>
            </a:r>
            <a:r>
              <a:rPr sz="2400" spc="-10" dirty="0">
                <a:latin typeface="Calibri"/>
                <a:cs typeface="Calibri"/>
              </a:rPr>
              <a:t>path</a:t>
            </a:r>
            <a:endParaRPr sz="2400">
              <a:latin typeface="Calibri"/>
              <a:cs typeface="Calibri"/>
            </a:endParaRPr>
          </a:p>
          <a:p>
            <a:pPr marL="723900" marR="30480" lvl="1" indent="-228600">
              <a:lnSpc>
                <a:spcPct val="90000"/>
              </a:lnSpc>
              <a:spcBef>
                <a:spcPts val="475"/>
              </a:spcBef>
              <a:buFont typeface="Arial MT"/>
              <a:buChar char="•"/>
              <a:tabLst>
                <a:tab pos="724535" algn="l"/>
              </a:tabLst>
            </a:pPr>
            <a:r>
              <a:rPr sz="2400" spc="-15" dirty="0">
                <a:latin typeface="Calibri"/>
                <a:cs typeface="Calibri"/>
              </a:rPr>
              <a:t>For </a:t>
            </a:r>
            <a:r>
              <a:rPr sz="2400" dirty="0">
                <a:latin typeface="Calibri"/>
                <a:cs typeface="Calibri"/>
              </a:rPr>
              <a:t>a </a:t>
            </a:r>
            <a:r>
              <a:rPr sz="2400" spc="-10" dirty="0">
                <a:latin typeface="Calibri"/>
                <a:cs typeface="Calibri"/>
              </a:rPr>
              <a:t>search tree </a:t>
            </a:r>
            <a:r>
              <a:rPr sz="2400" spc="-5" dirty="0">
                <a:latin typeface="Calibri"/>
                <a:cs typeface="Calibri"/>
              </a:rPr>
              <a:t>of </a:t>
            </a:r>
            <a:r>
              <a:rPr sz="2400" spc="-10" dirty="0">
                <a:latin typeface="Calibri"/>
                <a:cs typeface="Calibri"/>
              </a:rPr>
              <a:t>branching </a:t>
            </a:r>
            <a:r>
              <a:rPr sz="2400" spc="-5" dirty="0">
                <a:latin typeface="Calibri"/>
                <a:cs typeface="Calibri"/>
              </a:rPr>
              <a:t> </a:t>
            </a:r>
            <a:r>
              <a:rPr sz="2400" spc="-15" dirty="0">
                <a:latin typeface="Calibri"/>
                <a:cs typeface="Calibri"/>
              </a:rPr>
              <a:t>factor </a:t>
            </a:r>
            <a:r>
              <a:rPr sz="2400" dirty="0">
                <a:latin typeface="Calibri"/>
                <a:cs typeface="Calibri"/>
              </a:rPr>
              <a:t>‘b’ and </a:t>
            </a:r>
            <a:r>
              <a:rPr sz="2400" spc="-10" dirty="0">
                <a:latin typeface="Calibri"/>
                <a:cs typeface="Calibri"/>
              </a:rPr>
              <a:t>maximum tree </a:t>
            </a:r>
            <a:r>
              <a:rPr sz="2400" spc="-5" dirty="0">
                <a:latin typeface="Calibri"/>
                <a:cs typeface="Calibri"/>
              </a:rPr>
              <a:t>depth </a:t>
            </a:r>
            <a:r>
              <a:rPr sz="2400" spc="-530" dirty="0">
                <a:latin typeface="Calibri"/>
                <a:cs typeface="Calibri"/>
              </a:rPr>
              <a:t> </a:t>
            </a:r>
            <a:r>
              <a:rPr sz="2400" spc="-60" dirty="0">
                <a:latin typeface="Calibri"/>
                <a:cs typeface="Calibri"/>
              </a:rPr>
              <a:t>‘m’,</a:t>
            </a:r>
            <a:r>
              <a:rPr sz="2400" spc="-25" dirty="0">
                <a:latin typeface="Calibri"/>
                <a:cs typeface="Calibri"/>
              </a:rPr>
              <a:t> </a:t>
            </a:r>
            <a:r>
              <a:rPr sz="2400" spc="-5" dirty="0">
                <a:latin typeface="Calibri"/>
                <a:cs typeface="Calibri"/>
              </a:rPr>
              <a:t>only</a:t>
            </a:r>
            <a:r>
              <a:rPr sz="2400" spc="-15" dirty="0">
                <a:latin typeface="Calibri"/>
                <a:cs typeface="Calibri"/>
              </a:rPr>
              <a:t> </a:t>
            </a:r>
            <a:r>
              <a:rPr sz="2400" dirty="0">
                <a:latin typeface="Calibri"/>
                <a:cs typeface="Calibri"/>
              </a:rPr>
              <a:t>the</a:t>
            </a:r>
            <a:r>
              <a:rPr sz="2400" spc="-10" dirty="0">
                <a:latin typeface="Calibri"/>
                <a:cs typeface="Calibri"/>
              </a:rPr>
              <a:t> </a:t>
            </a:r>
            <a:r>
              <a:rPr sz="2400" spc="-20" dirty="0">
                <a:latin typeface="Calibri"/>
                <a:cs typeface="Calibri"/>
              </a:rPr>
              <a:t>storage</a:t>
            </a:r>
            <a:r>
              <a:rPr sz="2400" spc="-15" dirty="0">
                <a:latin typeface="Calibri"/>
                <a:cs typeface="Calibri"/>
              </a:rPr>
              <a:t> </a:t>
            </a:r>
            <a:r>
              <a:rPr sz="2400" spc="-5" dirty="0">
                <a:latin typeface="Calibri"/>
                <a:cs typeface="Calibri"/>
              </a:rPr>
              <a:t>of</a:t>
            </a:r>
            <a:r>
              <a:rPr sz="2400" spc="-10" dirty="0">
                <a:latin typeface="Calibri"/>
                <a:cs typeface="Calibri"/>
              </a:rPr>
              <a:t> </a:t>
            </a:r>
            <a:r>
              <a:rPr sz="2400" spc="-5" dirty="0">
                <a:latin typeface="Calibri"/>
                <a:cs typeface="Calibri"/>
              </a:rPr>
              <a:t>b</a:t>
            </a:r>
            <a:r>
              <a:rPr sz="2400" spc="-7" baseline="-20833" dirty="0">
                <a:latin typeface="Calibri"/>
                <a:cs typeface="Calibri"/>
              </a:rPr>
              <a:t>m+1</a:t>
            </a:r>
            <a:r>
              <a:rPr sz="2400" spc="247" baseline="-20833" dirty="0">
                <a:latin typeface="Calibri"/>
                <a:cs typeface="Calibri"/>
              </a:rPr>
              <a:t> </a:t>
            </a:r>
            <a:r>
              <a:rPr sz="2400" spc="-5" dirty="0">
                <a:latin typeface="Calibri"/>
                <a:cs typeface="Calibri"/>
              </a:rPr>
              <a:t>node</a:t>
            </a:r>
            <a:r>
              <a:rPr sz="2400" dirty="0">
                <a:latin typeface="Calibri"/>
                <a:cs typeface="Calibri"/>
              </a:rPr>
              <a:t> is </a:t>
            </a:r>
            <a:r>
              <a:rPr sz="2400" spc="-530" dirty="0">
                <a:latin typeface="Calibri"/>
                <a:cs typeface="Calibri"/>
              </a:rPr>
              <a:t> </a:t>
            </a:r>
            <a:r>
              <a:rPr sz="2400" spc="-10" dirty="0">
                <a:latin typeface="Calibri"/>
                <a:cs typeface="Calibri"/>
              </a:rPr>
              <a:t>required</a:t>
            </a:r>
            <a:endParaRPr sz="2400">
              <a:latin typeface="Calibri"/>
              <a:cs typeface="Calibri"/>
            </a:endParaRPr>
          </a:p>
          <a:p>
            <a:pPr marL="723900" lvl="1" indent="-229235">
              <a:lnSpc>
                <a:spcPts val="2735"/>
              </a:lnSpc>
              <a:spcBef>
                <a:spcPts val="204"/>
              </a:spcBef>
              <a:buFont typeface="Arial MT"/>
              <a:buChar char="•"/>
              <a:tabLst>
                <a:tab pos="724535" algn="l"/>
              </a:tabLst>
            </a:pPr>
            <a:r>
              <a:rPr sz="2400" spc="-5" dirty="0">
                <a:latin typeface="Calibri"/>
                <a:cs typeface="Calibri"/>
              </a:rPr>
              <a:t>Hence,</a:t>
            </a:r>
            <a:endParaRPr sz="2400">
              <a:latin typeface="Calibri"/>
              <a:cs typeface="Calibri"/>
            </a:endParaRPr>
          </a:p>
          <a:p>
            <a:pPr marL="723900">
              <a:lnSpc>
                <a:spcPts val="2590"/>
              </a:lnSpc>
            </a:pPr>
            <a:r>
              <a:rPr sz="2400" spc="-5" dirty="0">
                <a:latin typeface="Calibri"/>
                <a:cs typeface="Calibri"/>
              </a:rPr>
              <a:t>Space</a:t>
            </a:r>
            <a:r>
              <a:rPr sz="2400" spc="-25" dirty="0">
                <a:latin typeface="Calibri"/>
                <a:cs typeface="Calibri"/>
              </a:rPr>
              <a:t> </a:t>
            </a:r>
            <a:r>
              <a:rPr sz="2400" spc="-10" dirty="0">
                <a:latin typeface="Calibri"/>
                <a:cs typeface="Calibri"/>
              </a:rPr>
              <a:t>Complexity=</a:t>
            </a:r>
            <a:r>
              <a:rPr sz="2400" spc="-45" dirty="0">
                <a:latin typeface="Calibri"/>
                <a:cs typeface="Calibri"/>
              </a:rPr>
              <a:t> </a:t>
            </a:r>
            <a:r>
              <a:rPr sz="2400" spc="-5" dirty="0">
                <a:latin typeface="Calibri"/>
                <a:cs typeface="Calibri"/>
              </a:rPr>
              <a:t>O(b.m+1)</a:t>
            </a:r>
            <a:endParaRPr sz="2400">
              <a:latin typeface="Calibri"/>
              <a:cs typeface="Calibri"/>
            </a:endParaRPr>
          </a:p>
          <a:p>
            <a:pPr marL="2919095">
              <a:lnSpc>
                <a:spcPts val="2735"/>
              </a:lnSpc>
            </a:pPr>
            <a:r>
              <a:rPr sz="2400" dirty="0">
                <a:latin typeface="Calibri"/>
                <a:cs typeface="Calibri"/>
              </a:rPr>
              <a:t>=</a:t>
            </a:r>
            <a:r>
              <a:rPr sz="2400" spc="-50" dirty="0">
                <a:latin typeface="Calibri"/>
                <a:cs typeface="Calibri"/>
              </a:rPr>
              <a:t> </a:t>
            </a:r>
            <a:r>
              <a:rPr sz="2400" spc="-5" dirty="0">
                <a:latin typeface="Calibri"/>
                <a:cs typeface="Calibri"/>
              </a:rPr>
              <a:t>O(bm)</a:t>
            </a:r>
            <a:endParaRPr sz="2400">
              <a:latin typeface="Calibri"/>
              <a:cs typeface="Calibri"/>
            </a:endParaRPr>
          </a:p>
        </p:txBody>
      </p:sp>
      <p:sp>
        <p:nvSpPr>
          <p:cNvPr id="4" name="object 4"/>
          <p:cNvSpPr txBox="1"/>
          <p:nvPr/>
        </p:nvSpPr>
        <p:spPr>
          <a:xfrm>
            <a:off x="6226428" y="1756565"/>
            <a:ext cx="4918710" cy="2595880"/>
          </a:xfrm>
          <a:prstGeom prst="rect">
            <a:avLst/>
          </a:prstGeom>
        </p:spPr>
        <p:txBody>
          <a:bodyPr vert="horz" wrap="square" lIns="0" tIns="48895" rIns="0" bIns="0" rtlCol="0">
            <a:spAutoFit/>
          </a:bodyPr>
          <a:lstStyle/>
          <a:p>
            <a:pPr marL="266700" indent="-228600">
              <a:lnSpc>
                <a:spcPct val="100000"/>
              </a:lnSpc>
              <a:spcBef>
                <a:spcPts val="385"/>
              </a:spcBef>
              <a:buFont typeface="Arial MT"/>
              <a:buChar char="•"/>
              <a:tabLst>
                <a:tab pos="266700" algn="l"/>
              </a:tabLst>
            </a:pPr>
            <a:r>
              <a:rPr sz="2800" spc="-5" dirty="0">
                <a:latin typeface="Calibri"/>
                <a:cs typeface="Calibri"/>
              </a:rPr>
              <a:t>Time</a:t>
            </a:r>
            <a:r>
              <a:rPr sz="2800" spc="-40" dirty="0">
                <a:latin typeface="Calibri"/>
                <a:cs typeface="Calibri"/>
              </a:rPr>
              <a:t> </a:t>
            </a:r>
            <a:r>
              <a:rPr sz="2800" spc="-15" dirty="0">
                <a:latin typeface="Calibri"/>
                <a:cs typeface="Calibri"/>
              </a:rPr>
              <a:t>Complexity</a:t>
            </a:r>
            <a:endParaRPr sz="2800">
              <a:latin typeface="Calibri"/>
              <a:cs typeface="Calibri"/>
            </a:endParaRPr>
          </a:p>
          <a:p>
            <a:pPr marL="723900" marR="30480" lvl="1" indent="-228600">
              <a:lnSpc>
                <a:spcPts val="2590"/>
              </a:lnSpc>
              <a:spcBef>
                <a:spcPts val="575"/>
              </a:spcBef>
              <a:buFont typeface="Arial MT"/>
              <a:buChar char="•"/>
              <a:tabLst>
                <a:tab pos="723900" algn="l"/>
              </a:tabLst>
            </a:pPr>
            <a:r>
              <a:rPr sz="2400" spc="-5" dirty="0">
                <a:latin typeface="Calibri"/>
                <a:cs typeface="Calibri"/>
              </a:rPr>
              <a:t>O(b</a:t>
            </a:r>
            <a:r>
              <a:rPr sz="2400" spc="-7" baseline="24305" dirty="0">
                <a:latin typeface="Calibri"/>
                <a:cs typeface="Calibri"/>
              </a:rPr>
              <a:t>m</a:t>
            </a:r>
            <a:r>
              <a:rPr sz="2400" spc="-5" dirty="0">
                <a:latin typeface="Calibri"/>
                <a:cs typeface="Calibri"/>
              </a:rPr>
              <a:t>), </a:t>
            </a:r>
            <a:r>
              <a:rPr sz="2400" dirty="0">
                <a:latin typeface="Calibri"/>
                <a:cs typeface="Calibri"/>
              </a:rPr>
              <a:t>in the </a:t>
            </a:r>
            <a:r>
              <a:rPr sz="2400" spc="-20" dirty="0">
                <a:latin typeface="Calibri"/>
                <a:cs typeface="Calibri"/>
              </a:rPr>
              <a:t>worst </a:t>
            </a:r>
            <a:r>
              <a:rPr sz="2400" spc="-5" dirty="0">
                <a:latin typeface="Calibri"/>
                <a:cs typeface="Calibri"/>
              </a:rPr>
              <a:t>case, since </a:t>
            </a:r>
            <a:r>
              <a:rPr sz="2400" dirty="0">
                <a:latin typeface="Calibri"/>
                <a:cs typeface="Calibri"/>
              </a:rPr>
              <a:t>in </a:t>
            </a:r>
            <a:r>
              <a:rPr sz="2400" spc="5" dirty="0">
                <a:latin typeface="Calibri"/>
                <a:cs typeface="Calibri"/>
              </a:rPr>
              <a:t> </a:t>
            </a:r>
            <a:r>
              <a:rPr sz="2400" dirty="0">
                <a:latin typeface="Calibri"/>
                <a:cs typeface="Calibri"/>
              </a:rPr>
              <a:t>the</a:t>
            </a:r>
            <a:r>
              <a:rPr sz="2400" spc="-15" dirty="0">
                <a:latin typeface="Calibri"/>
                <a:cs typeface="Calibri"/>
              </a:rPr>
              <a:t> </a:t>
            </a:r>
            <a:r>
              <a:rPr sz="2400" spc="-20" dirty="0">
                <a:latin typeface="Calibri"/>
                <a:cs typeface="Calibri"/>
              </a:rPr>
              <a:t>worst</a:t>
            </a:r>
            <a:r>
              <a:rPr sz="2400" spc="-45" dirty="0">
                <a:latin typeface="Calibri"/>
                <a:cs typeface="Calibri"/>
              </a:rPr>
              <a:t> </a:t>
            </a:r>
            <a:r>
              <a:rPr sz="2400" spc="-5" dirty="0">
                <a:latin typeface="Calibri"/>
                <a:cs typeface="Calibri"/>
              </a:rPr>
              <a:t>case</a:t>
            </a:r>
            <a:r>
              <a:rPr sz="2400" spc="-15" dirty="0">
                <a:latin typeface="Calibri"/>
                <a:cs typeface="Calibri"/>
              </a:rPr>
              <a:t> </a:t>
            </a:r>
            <a:r>
              <a:rPr sz="2400" dirty="0">
                <a:latin typeface="Calibri"/>
                <a:cs typeface="Calibri"/>
              </a:rPr>
              <a:t>all</a:t>
            </a:r>
            <a:r>
              <a:rPr sz="2400" spc="-25" dirty="0">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b</a:t>
            </a:r>
            <a:r>
              <a:rPr sz="2400" spc="-7" baseline="24305" dirty="0">
                <a:latin typeface="Calibri"/>
                <a:cs typeface="Calibri"/>
              </a:rPr>
              <a:t>m</a:t>
            </a:r>
            <a:r>
              <a:rPr sz="2400" spc="247" baseline="24305" dirty="0">
                <a:latin typeface="Calibri"/>
                <a:cs typeface="Calibri"/>
              </a:rPr>
              <a:t> </a:t>
            </a:r>
            <a:r>
              <a:rPr sz="2400" spc="-5" dirty="0">
                <a:latin typeface="Calibri"/>
                <a:cs typeface="Calibri"/>
              </a:rPr>
              <a:t>nodes</a:t>
            </a:r>
            <a:r>
              <a:rPr sz="2400" spc="-20" dirty="0">
                <a:latin typeface="Calibri"/>
                <a:cs typeface="Calibri"/>
              </a:rPr>
              <a:t> </a:t>
            </a:r>
            <a:r>
              <a:rPr sz="2400" spc="-5" dirty="0">
                <a:latin typeface="Calibri"/>
                <a:cs typeface="Calibri"/>
              </a:rPr>
              <a:t>of </a:t>
            </a:r>
            <a:r>
              <a:rPr sz="2400" spc="-525" dirty="0">
                <a:latin typeface="Calibri"/>
                <a:cs typeface="Calibri"/>
              </a:rPr>
              <a:t> </a:t>
            </a:r>
            <a:r>
              <a:rPr sz="2400" dirty="0">
                <a:latin typeface="Calibri"/>
                <a:cs typeface="Calibri"/>
              </a:rPr>
              <a:t>the </a:t>
            </a:r>
            <a:r>
              <a:rPr sz="2400" spc="-10" dirty="0">
                <a:latin typeface="Calibri"/>
                <a:cs typeface="Calibri"/>
              </a:rPr>
              <a:t>search tree would </a:t>
            </a:r>
            <a:r>
              <a:rPr sz="2400" spc="-5" dirty="0">
                <a:latin typeface="Calibri"/>
                <a:cs typeface="Calibri"/>
              </a:rPr>
              <a:t>be </a:t>
            </a:r>
            <a:r>
              <a:rPr sz="2400" dirty="0">
                <a:latin typeface="Calibri"/>
                <a:cs typeface="Calibri"/>
              </a:rPr>
              <a:t> </a:t>
            </a:r>
            <a:r>
              <a:rPr sz="2400" spc="-15" dirty="0">
                <a:latin typeface="Calibri"/>
                <a:cs typeface="Calibri"/>
              </a:rPr>
              <a:t>generated</a:t>
            </a:r>
            <a:endParaRPr sz="2400">
              <a:latin typeface="Calibri"/>
              <a:cs typeface="Calibri"/>
            </a:endParaRPr>
          </a:p>
          <a:p>
            <a:pPr marL="723900" lvl="1" indent="-228600">
              <a:lnSpc>
                <a:spcPts val="2735"/>
              </a:lnSpc>
              <a:spcBef>
                <a:spcPts val="185"/>
              </a:spcBef>
              <a:buFont typeface="Arial MT"/>
              <a:buChar char="•"/>
              <a:tabLst>
                <a:tab pos="723900" algn="l"/>
              </a:tabLst>
            </a:pPr>
            <a:r>
              <a:rPr sz="2400" spc="-5" dirty="0">
                <a:latin typeface="Calibri"/>
                <a:cs typeface="Calibri"/>
              </a:rPr>
              <a:t>Hence,</a:t>
            </a:r>
            <a:endParaRPr sz="2400">
              <a:latin typeface="Calibri"/>
              <a:cs typeface="Calibri"/>
            </a:endParaRPr>
          </a:p>
          <a:p>
            <a:pPr marL="723900">
              <a:lnSpc>
                <a:spcPts val="2735"/>
              </a:lnSpc>
            </a:pPr>
            <a:r>
              <a:rPr sz="2400" spc="-5" dirty="0">
                <a:latin typeface="Calibri"/>
                <a:cs typeface="Calibri"/>
              </a:rPr>
              <a:t>Time</a:t>
            </a:r>
            <a:r>
              <a:rPr sz="2400" spc="-20" dirty="0">
                <a:latin typeface="Calibri"/>
                <a:cs typeface="Calibri"/>
              </a:rPr>
              <a:t> </a:t>
            </a:r>
            <a:r>
              <a:rPr sz="2400" spc="-10" dirty="0">
                <a:latin typeface="Calibri"/>
                <a:cs typeface="Calibri"/>
              </a:rPr>
              <a:t>Complexity=</a:t>
            </a:r>
            <a:r>
              <a:rPr sz="2400" spc="-30" dirty="0">
                <a:latin typeface="Calibri"/>
                <a:cs typeface="Calibri"/>
              </a:rPr>
              <a:t> </a:t>
            </a:r>
            <a:r>
              <a:rPr sz="2400" spc="-5" dirty="0">
                <a:latin typeface="Calibri"/>
                <a:cs typeface="Calibri"/>
              </a:rPr>
              <a:t>O(b</a:t>
            </a:r>
            <a:r>
              <a:rPr sz="2400" spc="-7" baseline="24305" dirty="0">
                <a:latin typeface="Calibri"/>
                <a:cs typeface="Calibri"/>
              </a:rPr>
              <a:t>m</a:t>
            </a:r>
            <a:r>
              <a:rPr sz="2400" spc="-5" dirty="0">
                <a:latin typeface="Calibri"/>
                <a:cs typeface="Calibri"/>
              </a:rPr>
              <a:t>)</a:t>
            </a:r>
            <a:endParaRPr sz="24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4CB7A-B02E-46E5-807B-1633F3003231}"/>
              </a:ext>
            </a:extLst>
          </p:cNvPr>
          <p:cNvSpPr>
            <a:spLocks noGrp="1"/>
          </p:cNvSpPr>
          <p:nvPr>
            <p:ph idx="1"/>
          </p:nvPr>
        </p:nvSpPr>
        <p:spPr/>
        <p:txBody>
          <a:bodyPr/>
          <a:lstStyle/>
          <a:p>
            <a:pPr marL="0" indent="0">
              <a:buNone/>
            </a:pPr>
            <a:r>
              <a:rPr lang="en-US" b="1" dirty="0"/>
              <a:t>Applications</a:t>
            </a:r>
          </a:p>
          <a:p>
            <a:pPr marL="0" indent="0">
              <a:buNone/>
            </a:pPr>
            <a:endParaRPr lang="en-US" dirty="0"/>
          </a:p>
          <a:p>
            <a:r>
              <a:rPr lang="en-US" dirty="0"/>
              <a:t>Depth-first search is used in topological sorting, scheduling problems, cycle detection in graphs, and solving puzzles with only one solution, such as a maze or a sudoku puzzle. </a:t>
            </a:r>
          </a:p>
          <a:p>
            <a:endParaRPr lang="en-US" dirty="0"/>
          </a:p>
          <a:p>
            <a:r>
              <a:rPr lang="en-US" dirty="0"/>
              <a:t>Other applications involve analyzing networks, for example, testing if a graph is bipartite.</a:t>
            </a:r>
          </a:p>
        </p:txBody>
      </p:sp>
    </p:spTree>
    <p:extLst>
      <p:ext uri="{BB962C8B-B14F-4D97-AF65-F5344CB8AC3E}">
        <p14:creationId xmlns:p14="http://schemas.microsoft.com/office/powerpoint/2010/main" val="2277098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4835525" cy="697230"/>
          </a:xfrm>
          <a:prstGeom prst="rect">
            <a:avLst/>
          </a:prstGeom>
        </p:spPr>
        <p:txBody>
          <a:bodyPr vert="horz" wrap="square" lIns="0" tIns="13335" rIns="0" bIns="0" rtlCol="0">
            <a:spAutoFit/>
          </a:bodyPr>
          <a:lstStyle/>
          <a:p>
            <a:pPr marL="12700">
              <a:lnSpc>
                <a:spcPct val="100000"/>
              </a:lnSpc>
              <a:spcBef>
                <a:spcPts val="105"/>
              </a:spcBef>
            </a:pPr>
            <a:r>
              <a:rPr b="1" spc="-5" dirty="0"/>
              <a:t>Depth</a:t>
            </a:r>
            <a:r>
              <a:rPr b="1" spc="-25" dirty="0"/>
              <a:t> </a:t>
            </a:r>
            <a:r>
              <a:rPr b="1" spc="-5" dirty="0"/>
              <a:t>Limited</a:t>
            </a:r>
            <a:r>
              <a:rPr b="1" spc="-25" dirty="0"/>
              <a:t> </a:t>
            </a:r>
            <a:r>
              <a:rPr b="1" spc="-15" dirty="0"/>
              <a:t>Search</a:t>
            </a:r>
          </a:p>
        </p:txBody>
      </p:sp>
      <p:sp>
        <p:nvSpPr>
          <p:cNvPr id="3" name="object 3"/>
          <p:cNvSpPr txBox="1"/>
          <p:nvPr/>
        </p:nvSpPr>
        <p:spPr>
          <a:xfrm>
            <a:off x="916939" y="1759661"/>
            <a:ext cx="5022215" cy="4248150"/>
          </a:xfrm>
          <a:prstGeom prst="rect">
            <a:avLst/>
          </a:prstGeom>
        </p:spPr>
        <p:txBody>
          <a:bodyPr vert="horz" wrap="square" lIns="0" tIns="94615" rIns="0" bIns="0" rtlCol="0">
            <a:spAutoFit/>
          </a:bodyPr>
          <a:lstStyle/>
          <a:p>
            <a:pPr marL="241300" marR="974725" indent="-228600">
              <a:lnSpc>
                <a:spcPts val="2690"/>
              </a:lnSpc>
              <a:spcBef>
                <a:spcPts val="745"/>
              </a:spcBef>
              <a:buFont typeface="Arial MT"/>
              <a:buChar char="•"/>
              <a:tabLst>
                <a:tab pos="241300" algn="l"/>
              </a:tabLst>
            </a:pPr>
            <a:r>
              <a:rPr sz="2800" spc="-10" dirty="0">
                <a:latin typeface="Calibri"/>
                <a:cs typeface="Calibri"/>
              </a:rPr>
              <a:t>Modification</a:t>
            </a:r>
            <a:r>
              <a:rPr sz="2800" spc="15"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depth</a:t>
            </a:r>
            <a:r>
              <a:rPr sz="2800" spc="30" dirty="0">
                <a:latin typeface="Calibri"/>
                <a:cs typeface="Calibri"/>
              </a:rPr>
              <a:t> </a:t>
            </a:r>
            <a:r>
              <a:rPr sz="2800" spc="-25" dirty="0">
                <a:latin typeface="Calibri"/>
                <a:cs typeface="Calibri"/>
              </a:rPr>
              <a:t>first </a:t>
            </a:r>
            <a:r>
              <a:rPr sz="2800" spc="-615" dirty="0">
                <a:latin typeface="Calibri"/>
                <a:cs typeface="Calibri"/>
              </a:rPr>
              <a:t> </a:t>
            </a:r>
            <a:r>
              <a:rPr sz="2800" spc="-10" dirty="0">
                <a:latin typeface="Calibri"/>
                <a:cs typeface="Calibri"/>
              </a:rPr>
              <a:t>search</a:t>
            </a:r>
            <a:endParaRPr sz="2800">
              <a:latin typeface="Calibri"/>
              <a:cs typeface="Calibri"/>
            </a:endParaRPr>
          </a:p>
          <a:p>
            <a:pPr marL="241300" marR="1492250" indent="-228600">
              <a:lnSpc>
                <a:spcPts val="2690"/>
              </a:lnSpc>
              <a:spcBef>
                <a:spcPts val="994"/>
              </a:spcBef>
              <a:buFont typeface="Arial MT"/>
              <a:buChar char="•"/>
              <a:tabLst>
                <a:tab pos="241300" algn="l"/>
              </a:tabLst>
            </a:pPr>
            <a:r>
              <a:rPr sz="2800" spc="-10" dirty="0">
                <a:latin typeface="Calibri"/>
                <a:cs typeface="Calibri"/>
              </a:rPr>
              <a:t>Depth</a:t>
            </a:r>
            <a:r>
              <a:rPr sz="2800" spc="5" dirty="0">
                <a:latin typeface="Calibri"/>
                <a:cs typeface="Calibri"/>
              </a:rPr>
              <a:t> </a:t>
            </a:r>
            <a:r>
              <a:rPr sz="2800" spc="-25" dirty="0">
                <a:latin typeface="Calibri"/>
                <a:cs typeface="Calibri"/>
              </a:rPr>
              <a:t>first</a:t>
            </a:r>
            <a:r>
              <a:rPr sz="2800" spc="10" dirty="0">
                <a:latin typeface="Calibri"/>
                <a:cs typeface="Calibri"/>
              </a:rPr>
              <a:t> </a:t>
            </a:r>
            <a:r>
              <a:rPr sz="2800" spc="-10" dirty="0">
                <a:latin typeface="Calibri"/>
                <a:cs typeface="Calibri"/>
              </a:rPr>
              <a:t>search</a:t>
            </a:r>
            <a:r>
              <a:rPr sz="2800" spc="5" dirty="0">
                <a:latin typeface="Calibri"/>
                <a:cs typeface="Calibri"/>
              </a:rPr>
              <a:t> </a:t>
            </a:r>
            <a:r>
              <a:rPr sz="2800" spc="-5" dirty="0">
                <a:latin typeface="Calibri"/>
                <a:cs typeface="Calibri"/>
              </a:rPr>
              <a:t>with </a:t>
            </a:r>
            <a:r>
              <a:rPr sz="2800" spc="-620" dirty="0">
                <a:latin typeface="Calibri"/>
                <a:cs typeface="Calibri"/>
              </a:rPr>
              <a:t> </a:t>
            </a:r>
            <a:r>
              <a:rPr sz="2800" spc="-10" dirty="0">
                <a:latin typeface="Calibri"/>
                <a:cs typeface="Calibri"/>
              </a:rPr>
              <a:t>predetermined</a:t>
            </a:r>
            <a:r>
              <a:rPr sz="2800" spc="10" dirty="0">
                <a:latin typeface="Calibri"/>
                <a:cs typeface="Calibri"/>
              </a:rPr>
              <a:t> </a:t>
            </a:r>
            <a:r>
              <a:rPr sz="2800" spc="-5" dirty="0">
                <a:latin typeface="Calibri"/>
                <a:cs typeface="Calibri"/>
              </a:rPr>
              <a:t>limit</a:t>
            </a:r>
            <a:r>
              <a:rPr sz="2800" spc="-15" dirty="0">
                <a:latin typeface="Calibri"/>
                <a:cs typeface="Calibri"/>
              </a:rPr>
              <a:t> </a:t>
            </a:r>
            <a:r>
              <a:rPr sz="2800" spc="-5" dirty="0">
                <a:latin typeface="Calibri"/>
                <a:cs typeface="Calibri"/>
              </a:rPr>
              <a:t>‘l’</a:t>
            </a:r>
            <a:endParaRPr sz="2800">
              <a:latin typeface="Calibri"/>
              <a:cs typeface="Calibri"/>
            </a:endParaRPr>
          </a:p>
          <a:p>
            <a:pPr marL="241300" marR="55244" indent="-228600">
              <a:lnSpc>
                <a:spcPct val="80000"/>
              </a:lnSpc>
              <a:spcBef>
                <a:spcPts val="1030"/>
              </a:spcBef>
              <a:buFont typeface="Arial MT"/>
              <a:buChar char="•"/>
              <a:tabLst>
                <a:tab pos="241300" algn="l"/>
              </a:tabLst>
            </a:pPr>
            <a:r>
              <a:rPr sz="2800" spc="-10" dirty="0">
                <a:latin typeface="Calibri"/>
                <a:cs typeface="Calibri"/>
              </a:rPr>
              <a:t>After</a:t>
            </a:r>
            <a:r>
              <a:rPr sz="2800" spc="-5" dirty="0">
                <a:latin typeface="Calibri"/>
                <a:cs typeface="Calibri"/>
              </a:rPr>
              <a:t> the</a:t>
            </a:r>
            <a:r>
              <a:rPr sz="2800" spc="10" dirty="0">
                <a:latin typeface="Calibri"/>
                <a:cs typeface="Calibri"/>
              </a:rPr>
              <a:t> </a:t>
            </a:r>
            <a:r>
              <a:rPr sz="2800" spc="-10" dirty="0">
                <a:latin typeface="Calibri"/>
                <a:cs typeface="Calibri"/>
              </a:rPr>
              <a:t>nodes</a:t>
            </a:r>
            <a:r>
              <a:rPr sz="2800" spc="30" dirty="0">
                <a:latin typeface="Calibri"/>
                <a:cs typeface="Calibri"/>
              </a:rPr>
              <a:t> </a:t>
            </a:r>
            <a:r>
              <a:rPr sz="2800" spc="-15" dirty="0">
                <a:latin typeface="Calibri"/>
                <a:cs typeface="Calibri"/>
              </a:rPr>
              <a:t>at</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level</a:t>
            </a:r>
            <a:r>
              <a:rPr sz="2800" dirty="0">
                <a:latin typeface="Calibri"/>
                <a:cs typeface="Calibri"/>
              </a:rPr>
              <a:t> </a:t>
            </a:r>
            <a:r>
              <a:rPr sz="2800" spc="-5" dirty="0">
                <a:latin typeface="Calibri"/>
                <a:cs typeface="Calibri"/>
              </a:rPr>
              <a:t>‘l’ </a:t>
            </a:r>
            <a:r>
              <a:rPr sz="2800" dirty="0">
                <a:latin typeface="Calibri"/>
                <a:cs typeface="Calibri"/>
              </a:rPr>
              <a:t> </a:t>
            </a:r>
            <a:r>
              <a:rPr sz="2800" spc="-15" dirty="0">
                <a:latin typeface="Calibri"/>
                <a:cs typeface="Calibri"/>
              </a:rPr>
              <a:t>are</a:t>
            </a:r>
            <a:r>
              <a:rPr sz="2800" spc="-5" dirty="0">
                <a:latin typeface="Calibri"/>
                <a:cs typeface="Calibri"/>
              </a:rPr>
              <a:t> </a:t>
            </a:r>
            <a:r>
              <a:rPr sz="2800" spc="-15" dirty="0">
                <a:latin typeface="Calibri"/>
                <a:cs typeface="Calibri"/>
              </a:rPr>
              <a:t>explored,</a:t>
            </a:r>
            <a:r>
              <a:rPr sz="2800" spc="35" dirty="0">
                <a:latin typeface="Calibri"/>
                <a:cs typeface="Calibri"/>
              </a:rPr>
              <a:t> </a:t>
            </a:r>
            <a:r>
              <a:rPr sz="2800" spc="-5" dirty="0">
                <a:latin typeface="Calibri"/>
                <a:cs typeface="Calibri"/>
              </a:rPr>
              <a:t>the </a:t>
            </a:r>
            <a:r>
              <a:rPr sz="2800" spc="-10" dirty="0">
                <a:latin typeface="Calibri"/>
                <a:cs typeface="Calibri"/>
              </a:rPr>
              <a:t>search </a:t>
            </a:r>
            <a:r>
              <a:rPr sz="2800" spc="-5" dirty="0">
                <a:latin typeface="Calibri"/>
                <a:cs typeface="Calibri"/>
              </a:rPr>
              <a:t> </a:t>
            </a:r>
            <a:r>
              <a:rPr sz="2800" spc="-15" dirty="0">
                <a:latin typeface="Calibri"/>
                <a:cs typeface="Calibri"/>
              </a:rPr>
              <a:t>backtracks</a:t>
            </a:r>
            <a:r>
              <a:rPr sz="2800" spc="10" dirty="0">
                <a:latin typeface="Calibri"/>
                <a:cs typeface="Calibri"/>
              </a:rPr>
              <a:t> </a:t>
            </a:r>
            <a:r>
              <a:rPr sz="2800" spc="-5" dirty="0">
                <a:latin typeface="Calibri"/>
                <a:cs typeface="Calibri"/>
              </a:rPr>
              <a:t>without</a:t>
            </a:r>
            <a:r>
              <a:rPr sz="2800" spc="35" dirty="0">
                <a:latin typeface="Calibri"/>
                <a:cs typeface="Calibri"/>
              </a:rPr>
              <a:t> </a:t>
            </a:r>
            <a:r>
              <a:rPr sz="2800" spc="-10" dirty="0">
                <a:latin typeface="Calibri"/>
                <a:cs typeface="Calibri"/>
              </a:rPr>
              <a:t>going</a:t>
            </a:r>
            <a:r>
              <a:rPr sz="2800" spc="15" dirty="0">
                <a:latin typeface="Calibri"/>
                <a:cs typeface="Calibri"/>
              </a:rPr>
              <a:t> </a:t>
            </a:r>
            <a:r>
              <a:rPr sz="2800" spc="-10" dirty="0">
                <a:latin typeface="Calibri"/>
                <a:cs typeface="Calibri"/>
              </a:rPr>
              <a:t>further </a:t>
            </a:r>
            <a:r>
              <a:rPr sz="2800" spc="-615" dirty="0">
                <a:latin typeface="Calibri"/>
                <a:cs typeface="Calibri"/>
              </a:rPr>
              <a:t> </a:t>
            </a:r>
            <a:r>
              <a:rPr sz="2800" spc="-10" dirty="0">
                <a:latin typeface="Calibri"/>
                <a:cs typeface="Calibri"/>
              </a:rPr>
              <a:t>deep</a:t>
            </a:r>
            <a:endParaRPr sz="2800">
              <a:latin typeface="Calibri"/>
              <a:cs typeface="Calibri"/>
            </a:endParaRPr>
          </a:p>
          <a:p>
            <a:pPr marL="241300" marR="5080" indent="-228600">
              <a:lnSpc>
                <a:spcPct val="80000"/>
              </a:lnSpc>
              <a:spcBef>
                <a:spcPts val="1000"/>
              </a:spcBef>
              <a:buFont typeface="Arial MT"/>
              <a:buChar char="•"/>
              <a:tabLst>
                <a:tab pos="241300" algn="l"/>
              </a:tabLst>
            </a:pPr>
            <a:r>
              <a:rPr sz="2800" spc="-5" dirty="0">
                <a:latin typeface="Calibri"/>
                <a:cs typeface="Calibri"/>
              </a:rPr>
              <a:t>Hence,</a:t>
            </a:r>
            <a:r>
              <a:rPr sz="2800" spc="10" dirty="0">
                <a:latin typeface="Calibri"/>
                <a:cs typeface="Calibri"/>
              </a:rPr>
              <a:t> </a:t>
            </a:r>
            <a:r>
              <a:rPr sz="2800" spc="-5" dirty="0">
                <a:latin typeface="Calibri"/>
                <a:cs typeface="Calibri"/>
              </a:rPr>
              <a:t>it</a:t>
            </a:r>
            <a:r>
              <a:rPr sz="2800" spc="10" dirty="0">
                <a:latin typeface="Calibri"/>
                <a:cs typeface="Calibri"/>
              </a:rPr>
              <a:t> </a:t>
            </a:r>
            <a:r>
              <a:rPr sz="2800" spc="-10" dirty="0">
                <a:latin typeface="Calibri"/>
                <a:cs typeface="Calibri"/>
              </a:rPr>
              <a:t>solves</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infinite</a:t>
            </a:r>
            <a:r>
              <a:rPr sz="2800" spc="10" dirty="0">
                <a:latin typeface="Calibri"/>
                <a:cs typeface="Calibri"/>
              </a:rPr>
              <a:t> </a:t>
            </a:r>
            <a:r>
              <a:rPr sz="2800" spc="-10" dirty="0">
                <a:latin typeface="Calibri"/>
                <a:cs typeface="Calibri"/>
              </a:rPr>
              <a:t>path </a:t>
            </a:r>
            <a:r>
              <a:rPr sz="2800" spc="-5" dirty="0">
                <a:latin typeface="Calibri"/>
                <a:cs typeface="Calibri"/>
              </a:rPr>
              <a:t> </a:t>
            </a:r>
            <a:r>
              <a:rPr sz="2800" spc="-15" dirty="0">
                <a:latin typeface="Calibri"/>
                <a:cs typeface="Calibri"/>
              </a:rPr>
              <a:t>problem</a:t>
            </a:r>
            <a:r>
              <a:rPr sz="2800" spc="25" dirty="0">
                <a:latin typeface="Calibri"/>
                <a:cs typeface="Calibri"/>
              </a:rPr>
              <a:t> </a:t>
            </a:r>
            <a:r>
              <a:rPr sz="2800" spc="-5" dirty="0">
                <a:latin typeface="Calibri"/>
                <a:cs typeface="Calibri"/>
              </a:rPr>
              <a:t>of</a:t>
            </a:r>
            <a:r>
              <a:rPr sz="2800" spc="-15"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depth</a:t>
            </a:r>
            <a:r>
              <a:rPr sz="2800" spc="30" dirty="0">
                <a:latin typeface="Calibri"/>
                <a:cs typeface="Calibri"/>
              </a:rPr>
              <a:t> </a:t>
            </a:r>
            <a:r>
              <a:rPr sz="2800" spc="-25" dirty="0">
                <a:latin typeface="Calibri"/>
                <a:cs typeface="Calibri"/>
              </a:rPr>
              <a:t>first</a:t>
            </a:r>
            <a:r>
              <a:rPr sz="2800" spc="5" dirty="0">
                <a:latin typeface="Calibri"/>
                <a:cs typeface="Calibri"/>
              </a:rPr>
              <a:t> </a:t>
            </a:r>
            <a:r>
              <a:rPr sz="2800" spc="-10" dirty="0">
                <a:latin typeface="Calibri"/>
                <a:cs typeface="Calibri"/>
              </a:rPr>
              <a:t>search </a:t>
            </a:r>
            <a:r>
              <a:rPr sz="2800" spc="-620" dirty="0">
                <a:latin typeface="Calibri"/>
                <a:cs typeface="Calibri"/>
              </a:rPr>
              <a:t> </a:t>
            </a:r>
            <a:r>
              <a:rPr sz="2800" spc="-20" dirty="0">
                <a:latin typeface="Calibri"/>
                <a:cs typeface="Calibri"/>
              </a:rPr>
              <a:t>strategy</a:t>
            </a:r>
            <a:endParaRPr sz="2800">
              <a:latin typeface="Calibri"/>
              <a:cs typeface="Calibri"/>
            </a:endParaRPr>
          </a:p>
        </p:txBody>
      </p:sp>
      <p:sp>
        <p:nvSpPr>
          <p:cNvPr id="4" name="object 4"/>
          <p:cNvSpPr txBox="1"/>
          <p:nvPr/>
        </p:nvSpPr>
        <p:spPr>
          <a:xfrm>
            <a:off x="6226427" y="1759661"/>
            <a:ext cx="5796239" cy="4528163"/>
          </a:xfrm>
          <a:prstGeom prst="rect">
            <a:avLst/>
          </a:prstGeom>
        </p:spPr>
        <p:txBody>
          <a:bodyPr vert="horz" wrap="square" lIns="0" tIns="97790" rIns="0" bIns="0" rtlCol="0">
            <a:spAutoFit/>
          </a:bodyPr>
          <a:lstStyle/>
          <a:p>
            <a:pPr marL="266700" marR="30480" indent="-228600">
              <a:lnSpc>
                <a:spcPct val="80000"/>
              </a:lnSpc>
              <a:spcBef>
                <a:spcPts val="770"/>
              </a:spcBef>
              <a:buFont typeface="Arial MT"/>
              <a:buChar char="•"/>
              <a:tabLst>
                <a:tab pos="266700" algn="l"/>
              </a:tabLst>
            </a:pPr>
            <a:r>
              <a:rPr sz="2800" b="1" spc="-10" dirty="0">
                <a:latin typeface="Calibri"/>
                <a:cs typeface="Calibri"/>
              </a:rPr>
              <a:t>Completeness</a:t>
            </a:r>
            <a:r>
              <a:rPr sz="2800" spc="-10" dirty="0">
                <a:latin typeface="Calibri"/>
                <a:cs typeface="Calibri"/>
              </a:rPr>
              <a:t>:</a:t>
            </a:r>
            <a:r>
              <a:rPr sz="2800" spc="10" dirty="0">
                <a:latin typeface="Calibri"/>
                <a:cs typeface="Calibri"/>
              </a:rPr>
              <a:t> </a:t>
            </a:r>
            <a:r>
              <a:rPr lang="en-US" sz="2800" dirty="0"/>
              <a:t>DLS search algorithm is complete if the solution is above the depth-limit.</a:t>
            </a:r>
          </a:p>
          <a:p>
            <a:pPr marL="266700" marR="30480" indent="-228600">
              <a:lnSpc>
                <a:spcPct val="80000"/>
              </a:lnSpc>
              <a:spcBef>
                <a:spcPts val="770"/>
              </a:spcBef>
              <a:buFont typeface="Arial MT"/>
              <a:buChar char="•"/>
              <a:tabLst>
                <a:tab pos="266700" algn="l"/>
              </a:tabLst>
            </a:pPr>
            <a:endParaRPr lang="en-US" sz="2800" b="1" spc="-10" dirty="0">
              <a:latin typeface="Calibri"/>
              <a:cs typeface="Calibri"/>
            </a:endParaRPr>
          </a:p>
          <a:p>
            <a:pPr marL="266700" marR="30480" indent="-228600">
              <a:lnSpc>
                <a:spcPct val="80000"/>
              </a:lnSpc>
              <a:spcBef>
                <a:spcPts val="770"/>
              </a:spcBef>
              <a:buFont typeface="Arial MT"/>
              <a:buChar char="•"/>
              <a:tabLst>
                <a:tab pos="266700" algn="l"/>
              </a:tabLst>
            </a:pPr>
            <a:r>
              <a:rPr sz="2800" b="1" spc="-10" dirty="0">
                <a:latin typeface="Calibri"/>
                <a:cs typeface="Calibri"/>
              </a:rPr>
              <a:t>Optimality</a:t>
            </a:r>
            <a:r>
              <a:rPr sz="2800" spc="-10" dirty="0">
                <a:latin typeface="Calibri"/>
                <a:cs typeface="Calibri"/>
              </a:rPr>
              <a:t>:</a:t>
            </a:r>
            <a:r>
              <a:rPr sz="2800" spc="15" dirty="0">
                <a:latin typeface="Calibri"/>
                <a:cs typeface="Calibri"/>
              </a:rPr>
              <a:t> </a:t>
            </a:r>
            <a:r>
              <a:rPr lang="en-US" sz="2800" dirty="0"/>
              <a:t>Depth-limited search can be viewed as a special case of DFS, and it is also not optimal even if ℓ&gt;d.</a:t>
            </a:r>
          </a:p>
          <a:p>
            <a:pPr marL="266700" marR="30480" indent="-228600">
              <a:lnSpc>
                <a:spcPct val="80000"/>
              </a:lnSpc>
              <a:spcBef>
                <a:spcPts val="770"/>
              </a:spcBef>
              <a:buFont typeface="Arial MT"/>
              <a:buChar char="•"/>
              <a:tabLst>
                <a:tab pos="266700" algn="l"/>
              </a:tabLst>
            </a:pPr>
            <a:endParaRPr lang="en-US" sz="2800" dirty="0"/>
          </a:p>
          <a:p>
            <a:pPr marL="266700" marR="30480" indent="-228600">
              <a:lnSpc>
                <a:spcPct val="80000"/>
              </a:lnSpc>
              <a:spcBef>
                <a:spcPts val="770"/>
              </a:spcBef>
              <a:buFont typeface="Arial MT"/>
              <a:buChar char="•"/>
              <a:tabLst>
                <a:tab pos="266700" algn="l"/>
              </a:tabLst>
            </a:pPr>
            <a:r>
              <a:rPr sz="2800" b="1" spc="-10" dirty="0">
                <a:latin typeface="Calibri"/>
                <a:cs typeface="Calibri"/>
              </a:rPr>
              <a:t>Time</a:t>
            </a:r>
            <a:r>
              <a:rPr sz="2800" b="1" spc="-30" dirty="0">
                <a:latin typeface="Calibri"/>
                <a:cs typeface="Calibri"/>
              </a:rPr>
              <a:t> </a:t>
            </a:r>
            <a:r>
              <a:rPr sz="2800" b="1" spc="-10" dirty="0">
                <a:latin typeface="Calibri"/>
                <a:cs typeface="Calibri"/>
              </a:rPr>
              <a:t>Complexity</a:t>
            </a:r>
            <a:r>
              <a:rPr sz="2800" spc="-10" dirty="0">
                <a:latin typeface="Calibri"/>
                <a:cs typeface="Calibri"/>
              </a:rPr>
              <a:t>=O(b</a:t>
            </a:r>
            <a:r>
              <a:rPr sz="2775" spc="-15" baseline="25525" dirty="0">
                <a:latin typeface="Calibri"/>
                <a:cs typeface="Calibri"/>
              </a:rPr>
              <a:t>l</a:t>
            </a:r>
            <a:r>
              <a:rPr sz="2800" spc="-10" dirty="0">
                <a:latin typeface="Calibri"/>
                <a:cs typeface="Calibri"/>
              </a:rPr>
              <a:t>)</a:t>
            </a:r>
            <a:endParaRPr lang="en-US" sz="2800" spc="-10" dirty="0">
              <a:latin typeface="Calibri"/>
              <a:cs typeface="Calibri"/>
            </a:endParaRPr>
          </a:p>
          <a:p>
            <a:pPr marL="266700" marR="30480" indent="-228600">
              <a:lnSpc>
                <a:spcPct val="80000"/>
              </a:lnSpc>
              <a:spcBef>
                <a:spcPts val="770"/>
              </a:spcBef>
              <a:buFont typeface="Arial MT"/>
              <a:buChar char="•"/>
              <a:tabLst>
                <a:tab pos="266700" algn="l"/>
              </a:tabLst>
            </a:pPr>
            <a:endParaRPr sz="2800" dirty="0">
              <a:latin typeface="Calibri"/>
              <a:cs typeface="Calibri"/>
            </a:endParaRPr>
          </a:p>
          <a:p>
            <a:pPr marL="266700" indent="-228600">
              <a:lnSpc>
                <a:spcPct val="100000"/>
              </a:lnSpc>
              <a:spcBef>
                <a:spcPts val="325"/>
              </a:spcBef>
              <a:buFont typeface="Arial MT"/>
              <a:buChar char="•"/>
              <a:tabLst>
                <a:tab pos="266700" algn="l"/>
              </a:tabLst>
            </a:pPr>
            <a:r>
              <a:rPr sz="2800" b="1" spc="-5" dirty="0">
                <a:latin typeface="Calibri"/>
                <a:cs typeface="Calibri"/>
              </a:rPr>
              <a:t>Space</a:t>
            </a:r>
            <a:r>
              <a:rPr sz="2800" b="1" spc="-40" dirty="0">
                <a:latin typeface="Calibri"/>
                <a:cs typeface="Calibri"/>
              </a:rPr>
              <a:t> </a:t>
            </a:r>
            <a:r>
              <a:rPr sz="2800" b="1" spc="-10" dirty="0">
                <a:latin typeface="Calibri"/>
                <a:cs typeface="Calibri"/>
              </a:rPr>
              <a:t>Complexity</a:t>
            </a:r>
            <a:r>
              <a:rPr sz="2800" spc="-10" dirty="0">
                <a:latin typeface="Calibri"/>
                <a:cs typeface="Calibri"/>
              </a:rPr>
              <a:t>=O(bl)</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14D4E3-7B8B-44E4-BCF7-BBA945D34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0356" y="462843"/>
            <a:ext cx="7371643" cy="6028267"/>
          </a:xfrm>
          <a:prstGeom prst="rect">
            <a:avLst/>
          </a:prstGeom>
        </p:spPr>
      </p:pic>
    </p:spTree>
    <p:extLst>
      <p:ext uri="{BB962C8B-B14F-4D97-AF65-F5344CB8AC3E}">
        <p14:creationId xmlns:p14="http://schemas.microsoft.com/office/powerpoint/2010/main" val="3834537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8D747-0B1A-4BB6-AEA0-61D2259A372F}"/>
              </a:ext>
            </a:extLst>
          </p:cNvPr>
          <p:cNvSpPr>
            <a:spLocks noGrp="1"/>
          </p:cNvSpPr>
          <p:nvPr>
            <p:ph idx="1"/>
          </p:nvPr>
        </p:nvSpPr>
        <p:spPr>
          <a:xfrm>
            <a:off x="838200" y="745067"/>
            <a:ext cx="10515600" cy="5431896"/>
          </a:xfrm>
        </p:spPr>
        <p:txBody>
          <a:bodyPr>
            <a:normAutofit/>
          </a:bodyPr>
          <a:lstStyle/>
          <a:p>
            <a:pPr marL="0" indent="0">
              <a:buNone/>
            </a:pPr>
            <a:r>
              <a:rPr lang="en-US" b="1" dirty="0"/>
              <a:t>Advantages:</a:t>
            </a:r>
          </a:p>
          <a:p>
            <a:endParaRPr lang="en-US" dirty="0"/>
          </a:p>
          <a:p>
            <a:r>
              <a:rPr lang="en-US" dirty="0"/>
              <a:t>Depth-limited search is Memory efficient.</a:t>
            </a:r>
          </a:p>
          <a:p>
            <a:endParaRPr lang="en-US" dirty="0"/>
          </a:p>
          <a:p>
            <a:pPr marL="0" indent="0">
              <a:buNone/>
            </a:pPr>
            <a:r>
              <a:rPr lang="en-US" b="1" dirty="0"/>
              <a:t>Disadvantages:</a:t>
            </a:r>
          </a:p>
          <a:p>
            <a:endParaRPr lang="en-US" dirty="0"/>
          </a:p>
          <a:p>
            <a:pPr>
              <a:buFont typeface="Arial" panose="020B0604020202020204" pitchFamily="34" charset="0"/>
              <a:buChar char="•"/>
            </a:pPr>
            <a:r>
              <a:rPr lang="en-US" dirty="0"/>
              <a:t>Depth-limited search also has a disadvantage of incompleteness</a:t>
            </a:r>
          </a:p>
          <a:p>
            <a:pPr>
              <a:buFont typeface="Arial" panose="020B0604020202020204" pitchFamily="34" charset="0"/>
              <a:buChar char="•"/>
            </a:pPr>
            <a:endParaRPr lang="en-US" dirty="0"/>
          </a:p>
          <a:p>
            <a:pPr>
              <a:buFont typeface="Arial" panose="020B0604020202020204" pitchFamily="34" charset="0"/>
              <a:buChar char="•"/>
            </a:pPr>
            <a:r>
              <a:rPr lang="en-US" dirty="0"/>
              <a:t>It may not be optimal if the problem has more than one solution</a:t>
            </a:r>
          </a:p>
          <a:p>
            <a:endParaRPr lang="en-US" dirty="0"/>
          </a:p>
        </p:txBody>
      </p:sp>
    </p:spTree>
    <p:extLst>
      <p:ext uri="{BB962C8B-B14F-4D97-AF65-F5344CB8AC3E}">
        <p14:creationId xmlns:p14="http://schemas.microsoft.com/office/powerpoint/2010/main" val="25262592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1F78D-C029-4DDC-BC0F-DEA6D5A87E84}"/>
              </a:ext>
            </a:extLst>
          </p:cNvPr>
          <p:cNvSpPr>
            <a:spLocks noGrp="1"/>
          </p:cNvSpPr>
          <p:nvPr>
            <p:ph idx="1"/>
          </p:nvPr>
        </p:nvSpPr>
        <p:spPr/>
        <p:txBody>
          <a:bodyPr/>
          <a:lstStyle/>
          <a:p>
            <a:pPr marL="0" indent="0">
              <a:buNone/>
            </a:pPr>
            <a:r>
              <a:rPr lang="en-US" b="1" dirty="0"/>
              <a:t>Applications</a:t>
            </a:r>
          </a:p>
          <a:p>
            <a:endParaRPr lang="en-US" dirty="0"/>
          </a:p>
          <a:p>
            <a:r>
              <a:rPr lang="en-US" sz="2800" dirty="0"/>
              <a:t>Detecting cycle in a graph. ...</a:t>
            </a:r>
          </a:p>
          <a:p>
            <a:r>
              <a:rPr lang="en-US" sz="2800" dirty="0"/>
              <a:t>Path Finding. ...</a:t>
            </a:r>
          </a:p>
          <a:p>
            <a:r>
              <a:rPr lang="en-US" sz="2800" dirty="0"/>
              <a:t>Topological Sorting. ...</a:t>
            </a:r>
          </a:p>
          <a:p>
            <a:r>
              <a:rPr lang="en-US" sz="2800" dirty="0"/>
              <a:t>To test if a graph is bipartite. ...</a:t>
            </a:r>
          </a:p>
          <a:p>
            <a:r>
              <a:rPr lang="en-US" sz="2800" dirty="0"/>
              <a:t>Finding Strongly Connected Components of a graph A directed graph is called strongly connected if there is a path from each vertex in the graph to every other vertex.</a:t>
            </a:r>
          </a:p>
          <a:p>
            <a:endParaRPr lang="en-US" dirty="0"/>
          </a:p>
        </p:txBody>
      </p:sp>
    </p:spTree>
    <p:extLst>
      <p:ext uri="{BB962C8B-B14F-4D97-AF65-F5344CB8AC3E}">
        <p14:creationId xmlns:p14="http://schemas.microsoft.com/office/powerpoint/2010/main" val="1282426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4ED1-B759-4FE5-B963-BCBEF8C619AE}"/>
              </a:ext>
            </a:extLst>
          </p:cNvPr>
          <p:cNvSpPr>
            <a:spLocks noGrp="1"/>
          </p:cNvSpPr>
          <p:nvPr>
            <p:ph type="title"/>
          </p:nvPr>
        </p:nvSpPr>
        <p:spPr>
          <a:xfrm>
            <a:off x="838200" y="365125"/>
            <a:ext cx="7278511" cy="752475"/>
          </a:xfrm>
        </p:spPr>
        <p:txBody>
          <a:bodyPr>
            <a:normAutofit/>
          </a:bodyPr>
          <a:lstStyle/>
          <a:p>
            <a:r>
              <a:rPr lang="en-US" sz="3600" b="1" dirty="0"/>
              <a:t>Iterative Deepening Depth First Search</a:t>
            </a:r>
          </a:p>
        </p:txBody>
      </p:sp>
      <p:sp>
        <p:nvSpPr>
          <p:cNvPr id="3" name="Content Placeholder 2">
            <a:extLst>
              <a:ext uri="{FF2B5EF4-FFF2-40B4-BE49-F238E27FC236}">
                <a16:creationId xmlns:a16="http://schemas.microsoft.com/office/drawing/2014/main" id="{04C2F670-7377-4283-99F8-968FE93D4BFA}"/>
              </a:ext>
            </a:extLst>
          </p:cNvPr>
          <p:cNvSpPr>
            <a:spLocks noGrp="1"/>
          </p:cNvSpPr>
          <p:nvPr>
            <p:ph idx="1"/>
          </p:nvPr>
        </p:nvSpPr>
        <p:spPr>
          <a:xfrm>
            <a:off x="838200" y="1603022"/>
            <a:ext cx="10515600" cy="4573941"/>
          </a:xfrm>
        </p:spPr>
        <p:txBody>
          <a:bodyPr/>
          <a:lstStyle/>
          <a:p>
            <a:r>
              <a:rPr lang="en-US" b="1" dirty="0"/>
              <a:t>IDDFS</a:t>
            </a:r>
            <a:r>
              <a:rPr lang="en-US" dirty="0"/>
              <a:t> combines depth-first search’s space-efficiency and breadth-first search’s fast search (for nodes closer to root).</a:t>
            </a:r>
          </a:p>
          <a:p>
            <a:endParaRPr lang="en-US" dirty="0"/>
          </a:p>
          <a:p>
            <a:r>
              <a:rPr lang="en-US" dirty="0"/>
              <a:t>We do a limited depth-first search up to a fixed “limited depth”. </a:t>
            </a:r>
          </a:p>
          <a:p>
            <a:endParaRPr lang="en-US" dirty="0"/>
          </a:p>
          <a:p>
            <a:r>
              <a:rPr lang="en-US" dirty="0"/>
              <a:t>Then we keep on incrementing the depth limit by iterating the procedure unless we have found the goal node or have traversed the whole tree whichever is earlier.</a:t>
            </a:r>
          </a:p>
        </p:txBody>
      </p:sp>
    </p:spTree>
    <p:extLst>
      <p:ext uri="{BB962C8B-B14F-4D97-AF65-F5344CB8AC3E}">
        <p14:creationId xmlns:p14="http://schemas.microsoft.com/office/powerpoint/2010/main" val="2861782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C3FE74-F69C-4B5D-A05D-9B77274997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643467"/>
            <a:ext cx="9753600" cy="5746044"/>
          </a:xfrm>
          <a:prstGeom prst="rect">
            <a:avLst/>
          </a:prstGeom>
        </p:spPr>
      </p:pic>
    </p:spTree>
    <p:extLst>
      <p:ext uri="{BB962C8B-B14F-4D97-AF65-F5344CB8AC3E}">
        <p14:creationId xmlns:p14="http://schemas.microsoft.com/office/powerpoint/2010/main" val="231510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7DACF-8597-4788-BEB9-8CCD31F5CB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6633"/>
            <a:ext cx="5562600" cy="5257800"/>
          </a:xfrm>
          <a:prstGeom prst="rect">
            <a:avLst/>
          </a:prstGeom>
        </p:spPr>
      </p:pic>
      <p:sp>
        <p:nvSpPr>
          <p:cNvPr id="5" name="TextBox 4">
            <a:extLst>
              <a:ext uri="{FF2B5EF4-FFF2-40B4-BE49-F238E27FC236}">
                <a16:creationId xmlns:a16="http://schemas.microsoft.com/office/drawing/2014/main" id="{BAEA1997-CD4F-4865-B3A3-78AFAB88812E}"/>
              </a:ext>
            </a:extLst>
          </p:cNvPr>
          <p:cNvSpPr txBox="1"/>
          <p:nvPr/>
        </p:nvSpPr>
        <p:spPr>
          <a:xfrm>
            <a:off x="5475111" y="900415"/>
            <a:ext cx="6096000" cy="4247317"/>
          </a:xfrm>
          <a:prstGeom prst="rect">
            <a:avLst/>
          </a:prstGeom>
          <a:noFill/>
        </p:spPr>
        <p:txBody>
          <a:bodyPr wrap="square">
            <a:spAutoFit/>
          </a:bodyPr>
          <a:lstStyle/>
          <a:p>
            <a:r>
              <a:rPr lang="en-US" dirty="0"/>
              <a:t>Here in the given tree, the starting node is A and the depth initialized to 0. </a:t>
            </a:r>
          </a:p>
          <a:p>
            <a:endParaRPr lang="en-US" dirty="0"/>
          </a:p>
          <a:p>
            <a:r>
              <a:rPr lang="en-US" dirty="0"/>
              <a:t>The goal node is R where we have to find the depth and the path to reach it. </a:t>
            </a:r>
          </a:p>
          <a:p>
            <a:endParaRPr lang="en-US" dirty="0"/>
          </a:p>
          <a:p>
            <a:r>
              <a:rPr lang="en-US" dirty="0"/>
              <a:t>The depth from the figure is 4. </a:t>
            </a:r>
          </a:p>
          <a:p>
            <a:endParaRPr lang="en-US" dirty="0"/>
          </a:p>
          <a:p>
            <a:r>
              <a:rPr lang="en-US" dirty="0"/>
              <a:t>In this example, we consider the tree as a finite tree, while we can consider the same procedure for the infinite tree as well.</a:t>
            </a:r>
          </a:p>
          <a:p>
            <a:endParaRPr lang="en-US" dirty="0"/>
          </a:p>
          <a:p>
            <a:r>
              <a:rPr lang="en-US" dirty="0"/>
              <a:t>We knew that in the algorithm of IDDFS we first do DFS till a specified depth and then increase the depth at each loop. </a:t>
            </a:r>
          </a:p>
          <a:p>
            <a:endParaRPr lang="en-US" dirty="0"/>
          </a:p>
          <a:p>
            <a:r>
              <a:rPr lang="en-US" dirty="0"/>
              <a:t>This special step forms the part of DLS or Depth Limited Search.</a:t>
            </a:r>
          </a:p>
        </p:txBody>
      </p:sp>
    </p:spTree>
    <p:extLst>
      <p:ext uri="{BB962C8B-B14F-4D97-AF65-F5344CB8AC3E}">
        <p14:creationId xmlns:p14="http://schemas.microsoft.com/office/powerpoint/2010/main" val="828981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124CB4-0517-4A4F-B608-EC6FC4395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289" y="1072445"/>
            <a:ext cx="6654800" cy="4081639"/>
          </a:xfrm>
          <a:prstGeom prst="rect">
            <a:avLst/>
          </a:prstGeom>
        </p:spPr>
      </p:pic>
    </p:spTree>
    <p:extLst>
      <p:ext uri="{BB962C8B-B14F-4D97-AF65-F5344CB8AC3E}">
        <p14:creationId xmlns:p14="http://schemas.microsoft.com/office/powerpoint/2010/main" val="180310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18F75A-376A-4FCE-BB60-29DDE4D17B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199" y="722489"/>
            <a:ext cx="10374489" cy="5655733"/>
          </a:xfrm>
          <a:prstGeom prst="rect">
            <a:avLst/>
          </a:prstGeom>
        </p:spPr>
      </p:pic>
    </p:spTree>
    <p:extLst>
      <p:ext uri="{BB962C8B-B14F-4D97-AF65-F5344CB8AC3E}">
        <p14:creationId xmlns:p14="http://schemas.microsoft.com/office/powerpoint/2010/main" val="3411529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C136-FE68-4662-B0D1-8757B6795ABF}"/>
              </a:ext>
            </a:extLst>
          </p:cNvPr>
          <p:cNvSpPr>
            <a:spLocks noGrp="1"/>
          </p:cNvSpPr>
          <p:nvPr>
            <p:ph type="title"/>
          </p:nvPr>
        </p:nvSpPr>
        <p:spPr>
          <a:xfrm>
            <a:off x="838200" y="365125"/>
            <a:ext cx="3790244" cy="854075"/>
          </a:xfrm>
        </p:spPr>
        <p:txBody>
          <a:bodyPr>
            <a:normAutofit/>
          </a:bodyPr>
          <a:lstStyle/>
          <a:p>
            <a:r>
              <a:rPr lang="en-US" sz="3600" b="1" dirty="0"/>
              <a:t>Bidirectional Search</a:t>
            </a:r>
          </a:p>
        </p:txBody>
      </p:sp>
      <p:sp>
        <p:nvSpPr>
          <p:cNvPr id="3" name="Content Placeholder 2">
            <a:extLst>
              <a:ext uri="{FF2B5EF4-FFF2-40B4-BE49-F238E27FC236}">
                <a16:creationId xmlns:a16="http://schemas.microsoft.com/office/drawing/2014/main" id="{ACC55704-9D38-4844-BA8D-FC2B7E91CAE4}"/>
              </a:ext>
            </a:extLst>
          </p:cNvPr>
          <p:cNvSpPr>
            <a:spLocks noGrp="1"/>
          </p:cNvSpPr>
          <p:nvPr>
            <p:ph idx="1"/>
          </p:nvPr>
        </p:nvSpPr>
        <p:spPr>
          <a:xfrm>
            <a:off x="838200" y="1411111"/>
            <a:ext cx="10515600" cy="4811007"/>
          </a:xfrm>
        </p:spPr>
        <p:txBody>
          <a:bodyPr/>
          <a:lstStyle/>
          <a:p>
            <a:r>
              <a:rPr lang="en-US" dirty="0"/>
              <a:t>Bidirectional search replaces single search graph(which is likely to grow exponentially) with two smaller sub graphs – one starting from initial vertex and other starting from goal vertex. </a:t>
            </a:r>
          </a:p>
          <a:p>
            <a:endParaRPr lang="en-US" b="1" dirty="0"/>
          </a:p>
          <a:p>
            <a:r>
              <a:rPr lang="en-US" dirty="0"/>
              <a:t>The search terminates when two graphs intersect.</a:t>
            </a:r>
          </a:p>
          <a:p>
            <a:endParaRPr lang="en-US" dirty="0"/>
          </a:p>
          <a:p>
            <a:endParaRPr lang="en-US" dirty="0"/>
          </a:p>
        </p:txBody>
      </p:sp>
    </p:spTree>
    <p:extLst>
      <p:ext uri="{BB962C8B-B14F-4D97-AF65-F5344CB8AC3E}">
        <p14:creationId xmlns:p14="http://schemas.microsoft.com/office/powerpoint/2010/main" val="12083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F286AC-EA54-4A07-83F6-4F7365ADA6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172" y="315823"/>
            <a:ext cx="4740961" cy="4199733"/>
          </a:xfrm>
          <a:prstGeom prst="rect">
            <a:avLst/>
          </a:prstGeom>
        </p:spPr>
      </p:pic>
      <p:sp>
        <p:nvSpPr>
          <p:cNvPr id="5" name="TextBox 4">
            <a:extLst>
              <a:ext uri="{FF2B5EF4-FFF2-40B4-BE49-F238E27FC236}">
                <a16:creationId xmlns:a16="http://schemas.microsoft.com/office/drawing/2014/main" id="{F954A2D1-060B-4DEF-92D4-E9FBB8B52A3F}"/>
              </a:ext>
            </a:extLst>
          </p:cNvPr>
          <p:cNvSpPr txBox="1"/>
          <p:nvPr/>
        </p:nvSpPr>
        <p:spPr>
          <a:xfrm>
            <a:off x="5881511" y="1196960"/>
            <a:ext cx="6096000" cy="3416320"/>
          </a:xfrm>
          <a:prstGeom prst="rect">
            <a:avLst/>
          </a:prstGeom>
          <a:noFill/>
        </p:spPr>
        <p:txBody>
          <a:bodyPr wrap="square">
            <a:spAutoFit/>
          </a:bodyPr>
          <a:lstStyle/>
          <a:p>
            <a:r>
              <a:rPr lang="en-US" dirty="0"/>
              <a:t>Suppose we want to find if there exists a path from vertex 0 to vertex 16. </a:t>
            </a:r>
          </a:p>
          <a:p>
            <a:endParaRPr lang="en-US" dirty="0"/>
          </a:p>
          <a:p>
            <a:r>
              <a:rPr lang="en-US" dirty="0"/>
              <a:t>Here we can execute two searches, one from vertex 0 and other from vertex 16. </a:t>
            </a:r>
          </a:p>
          <a:p>
            <a:endParaRPr lang="en-US" dirty="0"/>
          </a:p>
          <a:p>
            <a:r>
              <a:rPr lang="en-US" dirty="0"/>
              <a:t>When both forward and backward search meet at vertex 9, we know that we have found a path from node 0 to 16 and search can be terminated now. </a:t>
            </a:r>
          </a:p>
          <a:p>
            <a:endParaRPr lang="en-US" dirty="0"/>
          </a:p>
          <a:p>
            <a:r>
              <a:rPr lang="en-US" dirty="0"/>
              <a:t>We can clearly see that we have successfully avoided unnecessary exploration. </a:t>
            </a:r>
          </a:p>
        </p:txBody>
      </p:sp>
      <p:sp>
        <p:nvSpPr>
          <p:cNvPr id="7" name="TextBox 6">
            <a:extLst>
              <a:ext uri="{FF2B5EF4-FFF2-40B4-BE49-F238E27FC236}">
                <a16:creationId xmlns:a16="http://schemas.microsoft.com/office/drawing/2014/main" id="{4747A092-5D4F-4207-9936-6D07D4E69A03}"/>
              </a:ext>
            </a:extLst>
          </p:cNvPr>
          <p:cNvSpPr txBox="1"/>
          <p:nvPr/>
        </p:nvSpPr>
        <p:spPr>
          <a:xfrm>
            <a:off x="541865" y="5508977"/>
            <a:ext cx="8082845" cy="1200329"/>
          </a:xfrm>
          <a:prstGeom prst="rect">
            <a:avLst/>
          </a:prstGeom>
          <a:noFill/>
        </p:spPr>
        <p:txBody>
          <a:bodyPr wrap="square">
            <a:spAutoFit/>
          </a:bodyPr>
          <a:lstStyle/>
          <a:p>
            <a:r>
              <a:rPr lang="en-US" b="1" dirty="0"/>
              <a:t>When to use bidirectional approach?</a:t>
            </a:r>
            <a:endParaRPr lang="en-US" dirty="0"/>
          </a:p>
          <a:p>
            <a:r>
              <a:rPr lang="en-US" dirty="0"/>
              <a:t>We can consider bidirectional approach when- </a:t>
            </a:r>
          </a:p>
          <a:p>
            <a:pPr>
              <a:buFont typeface="+mj-lt"/>
              <a:buAutoNum type="arabicPeriod"/>
            </a:pPr>
            <a:r>
              <a:rPr lang="en-US" dirty="0"/>
              <a:t>Both initial and goal states are unique and completely defined.</a:t>
            </a:r>
          </a:p>
          <a:p>
            <a:pPr>
              <a:buFont typeface="+mj-lt"/>
              <a:buAutoNum type="arabicPeriod"/>
            </a:pPr>
            <a:r>
              <a:rPr lang="en-US" dirty="0"/>
              <a:t>The branching factor is exactly the same in both directions.</a:t>
            </a:r>
          </a:p>
        </p:txBody>
      </p:sp>
    </p:spTree>
    <p:extLst>
      <p:ext uri="{BB962C8B-B14F-4D97-AF65-F5344CB8AC3E}">
        <p14:creationId xmlns:p14="http://schemas.microsoft.com/office/powerpoint/2010/main" val="4150207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12BAD6-1705-4D51-AEF8-0161B126EC30}"/>
              </a:ext>
            </a:extLst>
          </p:cNvPr>
          <p:cNvSpPr txBox="1"/>
          <p:nvPr/>
        </p:nvSpPr>
        <p:spPr>
          <a:xfrm>
            <a:off x="778933" y="527882"/>
            <a:ext cx="10001956" cy="1200329"/>
          </a:xfrm>
          <a:prstGeom prst="rect">
            <a:avLst/>
          </a:prstGeom>
          <a:noFill/>
        </p:spPr>
        <p:txBody>
          <a:bodyPr wrap="square">
            <a:spAutoFit/>
          </a:bodyPr>
          <a:lstStyle/>
          <a:p>
            <a:r>
              <a:rPr lang="en-US" b="1"/>
              <a:t>Advantages</a:t>
            </a:r>
          </a:p>
          <a:p>
            <a:pPr>
              <a:buFont typeface="Arial" panose="020B0604020202020204" pitchFamily="34" charset="0"/>
              <a:buChar char="•"/>
            </a:pPr>
            <a:r>
              <a:rPr lang="en-US"/>
              <a:t>One of the main advantages of bidirectional searches is the speed at which we get the desired results.</a:t>
            </a:r>
          </a:p>
          <a:p>
            <a:pPr>
              <a:buFont typeface="Arial" panose="020B0604020202020204" pitchFamily="34" charset="0"/>
              <a:buChar char="•"/>
            </a:pPr>
            <a:r>
              <a:rPr lang="en-US"/>
              <a:t>It drastically reduces the time taken by the search by having simultaneous searches.</a:t>
            </a:r>
          </a:p>
          <a:p>
            <a:pPr>
              <a:buFont typeface="Arial" panose="020B0604020202020204" pitchFamily="34" charset="0"/>
              <a:buChar char="•"/>
            </a:pPr>
            <a:r>
              <a:rPr lang="en-US"/>
              <a:t>It also saves resources for users as it requires less memory capacity to store all the searches.</a:t>
            </a:r>
            <a:endParaRPr lang="en-US" dirty="0"/>
          </a:p>
        </p:txBody>
      </p:sp>
      <p:sp>
        <p:nvSpPr>
          <p:cNvPr id="5" name="TextBox 4">
            <a:extLst>
              <a:ext uri="{FF2B5EF4-FFF2-40B4-BE49-F238E27FC236}">
                <a16:creationId xmlns:a16="http://schemas.microsoft.com/office/drawing/2014/main" id="{2B9586D7-40D0-4B20-9AEA-2DBB8261F979}"/>
              </a:ext>
            </a:extLst>
          </p:cNvPr>
          <p:cNvSpPr txBox="1"/>
          <p:nvPr/>
        </p:nvSpPr>
        <p:spPr>
          <a:xfrm>
            <a:off x="778933" y="3018853"/>
            <a:ext cx="10668000" cy="2308324"/>
          </a:xfrm>
          <a:prstGeom prst="rect">
            <a:avLst/>
          </a:prstGeom>
          <a:noFill/>
        </p:spPr>
        <p:txBody>
          <a:bodyPr wrap="square">
            <a:spAutoFit/>
          </a:bodyPr>
          <a:lstStyle/>
          <a:p>
            <a:r>
              <a:rPr lang="en-US" b="1" dirty="0"/>
              <a:t>Disadvantages</a:t>
            </a:r>
          </a:p>
          <a:p>
            <a:pPr>
              <a:buFont typeface="Arial" panose="020B0604020202020204" pitchFamily="34" charset="0"/>
              <a:buChar char="•"/>
            </a:pPr>
            <a:r>
              <a:rPr lang="en-US" dirty="0"/>
              <a:t>The fundamental issue with bidirectional search is that the user should be aware of the goal state to use bidirectional search and thereby to decrease its use cases drastically.</a:t>
            </a:r>
          </a:p>
          <a:p>
            <a:pPr>
              <a:buFont typeface="Arial" panose="020B0604020202020204" pitchFamily="34" charset="0"/>
              <a:buChar char="•"/>
            </a:pPr>
            <a:r>
              <a:rPr lang="en-US" dirty="0"/>
              <a:t>The implementation is another challenge as additional code and instructions are needed to implement this algorithm, and also care has to be taken as each node and step to implement such searches.</a:t>
            </a:r>
          </a:p>
          <a:p>
            <a:pPr>
              <a:buFont typeface="Arial" panose="020B0604020202020204" pitchFamily="34" charset="0"/>
              <a:buChar char="•"/>
            </a:pPr>
            <a:r>
              <a:rPr lang="en-US" dirty="0"/>
              <a:t>The algorithm must be robust enough to understand the intersection when the search should come to an end or else there’s a possibility of an infinite loop.</a:t>
            </a:r>
          </a:p>
          <a:p>
            <a:pPr>
              <a:buFont typeface="Arial" panose="020B0604020202020204" pitchFamily="34" charset="0"/>
              <a:buChar char="•"/>
            </a:pPr>
            <a:r>
              <a:rPr lang="en-US" dirty="0"/>
              <a:t>It is also not possible to search backwards through all states.</a:t>
            </a:r>
          </a:p>
        </p:txBody>
      </p:sp>
    </p:spTree>
    <p:extLst>
      <p:ext uri="{BB962C8B-B14F-4D97-AF65-F5344CB8AC3E}">
        <p14:creationId xmlns:p14="http://schemas.microsoft.com/office/powerpoint/2010/main" val="8575003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728085" cy="697230"/>
          </a:xfrm>
          <a:prstGeom prst="rect">
            <a:avLst/>
          </a:prstGeom>
        </p:spPr>
        <p:txBody>
          <a:bodyPr vert="horz" wrap="square" lIns="0" tIns="13335" rIns="0" bIns="0" rtlCol="0">
            <a:spAutoFit/>
          </a:bodyPr>
          <a:lstStyle/>
          <a:p>
            <a:pPr marL="12700">
              <a:lnSpc>
                <a:spcPct val="100000"/>
              </a:lnSpc>
              <a:spcBef>
                <a:spcPts val="105"/>
              </a:spcBef>
            </a:pPr>
            <a:r>
              <a:rPr b="1" spc="-20" dirty="0"/>
              <a:t>Informed</a:t>
            </a:r>
            <a:r>
              <a:rPr b="1" spc="-85" dirty="0"/>
              <a:t> </a:t>
            </a:r>
            <a:r>
              <a:rPr b="1" spc="-10" dirty="0"/>
              <a:t>Search</a:t>
            </a:r>
          </a:p>
        </p:txBody>
      </p:sp>
      <p:sp>
        <p:nvSpPr>
          <p:cNvPr id="3" name="object 3"/>
          <p:cNvSpPr txBox="1"/>
          <p:nvPr/>
        </p:nvSpPr>
        <p:spPr>
          <a:xfrm>
            <a:off x="916939" y="1793189"/>
            <a:ext cx="9933305" cy="4754507"/>
          </a:xfrm>
          <a:prstGeom prst="rect">
            <a:avLst/>
          </a:prstGeom>
        </p:spPr>
        <p:txBody>
          <a:bodyPr vert="horz" wrap="square" lIns="0" tIns="60325" rIns="0" bIns="0" rtlCol="0">
            <a:spAutoFit/>
          </a:bodyPr>
          <a:lstStyle/>
          <a:p>
            <a:pPr marL="241300" indent="-228600">
              <a:lnSpc>
                <a:spcPct val="100000"/>
              </a:lnSpc>
              <a:spcBef>
                <a:spcPts val="620"/>
              </a:spcBef>
              <a:buFont typeface="Arial MT"/>
              <a:buChar char="•"/>
              <a:tabLst>
                <a:tab pos="241300" algn="l"/>
              </a:tabLst>
            </a:pPr>
            <a:r>
              <a:rPr lang="en-US" sz="2800" dirty="0"/>
              <a:t>Informed Search algorithms have information on the goal state which helps in more efficient searching</a:t>
            </a:r>
          </a:p>
          <a:p>
            <a:pPr marL="241300" indent="-228600">
              <a:lnSpc>
                <a:spcPct val="100000"/>
              </a:lnSpc>
              <a:spcBef>
                <a:spcPts val="620"/>
              </a:spcBef>
              <a:buFont typeface="Arial MT"/>
              <a:buChar char="•"/>
              <a:tabLst>
                <a:tab pos="241300" algn="l"/>
              </a:tabLst>
            </a:pPr>
            <a:endParaRPr lang="en-US" sz="2800" spc="-5" dirty="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These</a:t>
            </a:r>
            <a:r>
              <a:rPr sz="2800" spc="10" dirty="0">
                <a:latin typeface="Calibri"/>
                <a:cs typeface="Calibri"/>
              </a:rPr>
              <a:t> </a:t>
            </a:r>
            <a:r>
              <a:rPr sz="2800" spc="-10" dirty="0">
                <a:latin typeface="Calibri"/>
                <a:cs typeface="Calibri"/>
              </a:rPr>
              <a:t>search</a:t>
            </a:r>
            <a:r>
              <a:rPr sz="2800" spc="25" dirty="0">
                <a:latin typeface="Calibri"/>
                <a:cs typeface="Calibri"/>
              </a:rPr>
              <a:t> </a:t>
            </a:r>
            <a:r>
              <a:rPr sz="2800" spc="-10" dirty="0">
                <a:latin typeface="Calibri"/>
                <a:cs typeface="Calibri"/>
              </a:rPr>
              <a:t>find</a:t>
            </a:r>
            <a:r>
              <a:rPr sz="2800" spc="30" dirty="0">
                <a:latin typeface="Calibri"/>
                <a:cs typeface="Calibri"/>
              </a:rPr>
              <a:t> </a:t>
            </a:r>
            <a:r>
              <a:rPr sz="2800" spc="-10" dirty="0">
                <a:latin typeface="Calibri"/>
                <a:cs typeface="Calibri"/>
              </a:rPr>
              <a:t>solutions</a:t>
            </a:r>
            <a:r>
              <a:rPr sz="2800" spc="55" dirty="0">
                <a:latin typeface="Calibri"/>
                <a:cs typeface="Calibri"/>
              </a:rPr>
              <a:t> </a:t>
            </a:r>
            <a:r>
              <a:rPr sz="2800" spc="-15" dirty="0">
                <a:latin typeface="Calibri"/>
                <a:cs typeface="Calibri"/>
              </a:rPr>
              <a:t>more</a:t>
            </a:r>
            <a:r>
              <a:rPr sz="2800" spc="10" dirty="0">
                <a:latin typeface="Calibri"/>
                <a:cs typeface="Calibri"/>
              </a:rPr>
              <a:t> </a:t>
            </a:r>
            <a:r>
              <a:rPr sz="2800" spc="-15" dirty="0">
                <a:latin typeface="Calibri"/>
                <a:cs typeface="Calibri"/>
              </a:rPr>
              <a:t>efficiently</a:t>
            </a:r>
            <a:r>
              <a:rPr sz="2800" spc="5" dirty="0">
                <a:latin typeface="Calibri"/>
                <a:cs typeface="Calibri"/>
              </a:rPr>
              <a:t> </a:t>
            </a:r>
            <a:r>
              <a:rPr sz="2800" spc="-15" dirty="0">
                <a:latin typeface="Calibri"/>
                <a:cs typeface="Calibri"/>
              </a:rPr>
              <a:t>by</a:t>
            </a:r>
            <a:r>
              <a:rPr sz="2800" spc="1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use</a:t>
            </a:r>
            <a:r>
              <a:rPr sz="2800" spc="20" dirty="0">
                <a:latin typeface="Calibri"/>
                <a:cs typeface="Calibri"/>
              </a:rPr>
              <a:t> </a:t>
            </a:r>
            <a:r>
              <a:rPr sz="2800" spc="-5" dirty="0">
                <a:latin typeface="Calibri"/>
                <a:cs typeface="Calibri"/>
              </a:rPr>
              <a:t>of</a:t>
            </a:r>
            <a:r>
              <a:rPr sz="2800" spc="10" dirty="0">
                <a:latin typeface="Calibri"/>
                <a:cs typeface="Calibri"/>
              </a:rPr>
              <a:t> </a:t>
            </a:r>
            <a:r>
              <a:rPr sz="2800" spc="-10" dirty="0">
                <a:latin typeface="Calibri"/>
                <a:cs typeface="Calibri"/>
              </a:rPr>
              <a:t>heuristics</a:t>
            </a:r>
            <a:endParaRPr lang="en-US" sz="2800" spc="-10" dirty="0">
              <a:latin typeface="Calibri"/>
              <a:cs typeface="Calibri"/>
            </a:endParaRPr>
          </a:p>
          <a:p>
            <a:pPr marL="241300" indent="-228600">
              <a:lnSpc>
                <a:spcPct val="100000"/>
              </a:lnSpc>
              <a:spcBef>
                <a:spcPts val="620"/>
              </a:spcBef>
              <a:buFont typeface="Arial MT"/>
              <a:buChar char="•"/>
              <a:tabLst>
                <a:tab pos="241300" algn="l"/>
              </a:tabLst>
            </a:pPr>
            <a:endParaRPr sz="2800" dirty="0">
              <a:latin typeface="Calibri"/>
              <a:cs typeface="Calibri"/>
            </a:endParaRPr>
          </a:p>
          <a:p>
            <a:pPr marL="241300" marR="243204" indent="-228600">
              <a:lnSpc>
                <a:spcPts val="3030"/>
              </a:lnSpc>
              <a:spcBef>
                <a:spcPts val="1035"/>
              </a:spcBef>
              <a:buFont typeface="Arial MT"/>
              <a:buChar char="•"/>
              <a:tabLst>
                <a:tab pos="241300" algn="l"/>
              </a:tabLst>
            </a:pPr>
            <a:r>
              <a:rPr sz="2800" spc="-10" dirty="0">
                <a:latin typeface="Calibri"/>
                <a:cs typeface="Calibri"/>
              </a:rPr>
              <a:t>Heuristic</a:t>
            </a:r>
            <a:r>
              <a:rPr sz="2800" spc="40"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search</a:t>
            </a:r>
            <a:r>
              <a:rPr sz="2800" spc="5" dirty="0">
                <a:latin typeface="Calibri"/>
                <a:cs typeface="Calibri"/>
              </a:rPr>
              <a:t> </a:t>
            </a:r>
            <a:r>
              <a:rPr sz="2800" spc="-5" dirty="0">
                <a:latin typeface="Calibri"/>
                <a:cs typeface="Calibri"/>
              </a:rPr>
              <a:t>technique</a:t>
            </a:r>
            <a:r>
              <a:rPr sz="2800" spc="40" dirty="0">
                <a:latin typeface="Calibri"/>
                <a:cs typeface="Calibri"/>
              </a:rPr>
              <a:t> </a:t>
            </a:r>
            <a:r>
              <a:rPr sz="2800" spc="-10" dirty="0">
                <a:latin typeface="Calibri"/>
                <a:cs typeface="Calibri"/>
              </a:rPr>
              <a:t>that</a:t>
            </a:r>
            <a:r>
              <a:rPr sz="2800" spc="15" dirty="0">
                <a:latin typeface="Calibri"/>
                <a:cs typeface="Calibri"/>
              </a:rPr>
              <a:t> </a:t>
            </a:r>
            <a:r>
              <a:rPr sz="2800" spc="-15" dirty="0">
                <a:latin typeface="Calibri"/>
                <a:cs typeface="Calibri"/>
              </a:rPr>
              <a:t>improves</a:t>
            </a:r>
            <a:r>
              <a:rPr sz="2800" spc="25"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efficiency</a:t>
            </a:r>
            <a:r>
              <a:rPr sz="2800" spc="-5" dirty="0">
                <a:latin typeface="Calibri"/>
                <a:cs typeface="Calibri"/>
              </a:rPr>
              <a:t> of the </a:t>
            </a:r>
            <a:r>
              <a:rPr sz="2800" spc="-620" dirty="0">
                <a:latin typeface="Calibri"/>
                <a:cs typeface="Calibri"/>
              </a:rPr>
              <a:t> </a:t>
            </a:r>
            <a:r>
              <a:rPr sz="2800" spc="-10" dirty="0">
                <a:latin typeface="Calibri"/>
                <a:cs typeface="Calibri"/>
              </a:rPr>
              <a:t>search</a:t>
            </a:r>
            <a:r>
              <a:rPr sz="2800" spc="15" dirty="0">
                <a:latin typeface="Calibri"/>
                <a:cs typeface="Calibri"/>
              </a:rPr>
              <a:t> </a:t>
            </a:r>
            <a:r>
              <a:rPr sz="2800" spc="-10" dirty="0">
                <a:latin typeface="Calibri"/>
                <a:cs typeface="Calibri"/>
              </a:rPr>
              <a:t>process</a:t>
            </a:r>
            <a:endParaRPr lang="en-US" sz="2800" spc="-10" dirty="0">
              <a:latin typeface="Calibri"/>
              <a:cs typeface="Calibri"/>
            </a:endParaRPr>
          </a:p>
          <a:p>
            <a:pPr marL="241300" marR="243204" indent="-228600">
              <a:lnSpc>
                <a:spcPts val="3030"/>
              </a:lnSpc>
              <a:spcBef>
                <a:spcPts val="1035"/>
              </a:spcBef>
              <a:buFont typeface="Arial MT"/>
              <a:buChar char="•"/>
              <a:tabLst>
                <a:tab pos="241300" algn="l"/>
              </a:tabLst>
            </a:pPr>
            <a:endParaRPr sz="2800" dirty="0">
              <a:latin typeface="Calibri"/>
              <a:cs typeface="Calibri"/>
            </a:endParaRPr>
          </a:p>
          <a:p>
            <a:pPr marL="241300" marR="176530" indent="-228600">
              <a:lnSpc>
                <a:spcPts val="3030"/>
              </a:lnSpc>
              <a:spcBef>
                <a:spcPts val="990"/>
              </a:spcBef>
              <a:buFont typeface="Arial MT"/>
              <a:buChar char="•"/>
              <a:tabLst>
                <a:tab pos="241300" algn="l"/>
              </a:tabLst>
            </a:pPr>
            <a:r>
              <a:rPr sz="2800" spc="-15" dirty="0">
                <a:latin typeface="Calibri"/>
                <a:cs typeface="Calibri"/>
              </a:rPr>
              <a:t>By</a:t>
            </a:r>
            <a:r>
              <a:rPr sz="2800" spc="5" dirty="0">
                <a:latin typeface="Calibri"/>
                <a:cs typeface="Calibri"/>
              </a:rPr>
              <a:t> </a:t>
            </a:r>
            <a:r>
              <a:rPr sz="2800" spc="-5" dirty="0">
                <a:latin typeface="Calibri"/>
                <a:cs typeface="Calibri"/>
              </a:rPr>
              <a:t>eliminating</a:t>
            </a:r>
            <a:r>
              <a:rPr sz="2800" spc="2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unpromising</a:t>
            </a:r>
            <a:r>
              <a:rPr sz="2800" spc="60" dirty="0">
                <a:latin typeface="Calibri"/>
                <a:cs typeface="Calibri"/>
              </a:rPr>
              <a:t> </a:t>
            </a:r>
            <a:r>
              <a:rPr sz="2800" spc="-25" dirty="0">
                <a:latin typeface="Calibri"/>
                <a:cs typeface="Calibri"/>
              </a:rPr>
              <a:t>states</a:t>
            </a:r>
            <a:r>
              <a:rPr sz="2800" spc="25" dirty="0">
                <a:latin typeface="Calibri"/>
                <a:cs typeface="Calibri"/>
              </a:rPr>
              <a:t> </a:t>
            </a:r>
            <a:r>
              <a:rPr sz="2800" spc="-5" dirty="0">
                <a:latin typeface="Calibri"/>
                <a:cs typeface="Calibri"/>
              </a:rPr>
              <a:t>and</a:t>
            </a:r>
            <a:r>
              <a:rPr sz="2800" spc="25" dirty="0">
                <a:latin typeface="Calibri"/>
                <a:cs typeface="Calibri"/>
              </a:rPr>
              <a:t> </a:t>
            </a:r>
            <a:r>
              <a:rPr sz="2800" spc="-5" dirty="0">
                <a:latin typeface="Calibri"/>
                <a:cs typeface="Calibri"/>
              </a:rPr>
              <a:t>their</a:t>
            </a:r>
            <a:r>
              <a:rPr sz="2800" spc="15" dirty="0">
                <a:latin typeface="Calibri"/>
                <a:cs typeface="Calibri"/>
              </a:rPr>
              <a:t> </a:t>
            </a:r>
            <a:r>
              <a:rPr sz="2800" spc="-10" dirty="0">
                <a:latin typeface="Calibri"/>
                <a:cs typeface="Calibri"/>
              </a:rPr>
              <a:t>descendants</a:t>
            </a:r>
            <a:r>
              <a:rPr sz="2800" spc="60" dirty="0">
                <a:latin typeface="Calibri"/>
                <a:cs typeface="Calibri"/>
              </a:rPr>
              <a:t> </a:t>
            </a:r>
            <a:r>
              <a:rPr sz="2800" spc="-20" dirty="0">
                <a:latin typeface="Calibri"/>
                <a:cs typeface="Calibri"/>
              </a:rPr>
              <a:t>from </a:t>
            </a:r>
            <a:r>
              <a:rPr sz="2800" spc="-615" dirty="0">
                <a:latin typeface="Calibri"/>
                <a:cs typeface="Calibri"/>
              </a:rPr>
              <a:t> </a:t>
            </a:r>
            <a:r>
              <a:rPr sz="2800" spc="-15" dirty="0">
                <a:latin typeface="Calibri"/>
                <a:cs typeface="Calibri"/>
              </a:rPr>
              <a:t>consideration,</a:t>
            </a:r>
            <a:r>
              <a:rPr sz="2800" spc="50" dirty="0">
                <a:latin typeface="Calibri"/>
                <a:cs typeface="Calibri"/>
              </a:rPr>
              <a:t> </a:t>
            </a:r>
            <a:r>
              <a:rPr sz="2800" spc="-10" dirty="0">
                <a:latin typeface="Calibri"/>
                <a:cs typeface="Calibri"/>
              </a:rPr>
              <a:t>heuristic</a:t>
            </a:r>
            <a:r>
              <a:rPr sz="2800" spc="50" dirty="0">
                <a:latin typeface="Calibri"/>
                <a:cs typeface="Calibri"/>
              </a:rPr>
              <a:t> </a:t>
            </a:r>
            <a:r>
              <a:rPr sz="2800" spc="-10" dirty="0">
                <a:latin typeface="Calibri"/>
                <a:cs typeface="Calibri"/>
              </a:rPr>
              <a:t>algorithms</a:t>
            </a:r>
            <a:r>
              <a:rPr sz="2800" spc="30" dirty="0">
                <a:latin typeface="Calibri"/>
                <a:cs typeface="Calibri"/>
              </a:rPr>
              <a:t> </a:t>
            </a:r>
            <a:r>
              <a:rPr sz="2800" spc="-10" dirty="0">
                <a:latin typeface="Calibri"/>
                <a:cs typeface="Calibri"/>
              </a:rPr>
              <a:t>can</a:t>
            </a:r>
            <a:r>
              <a:rPr sz="2800" spc="15" dirty="0">
                <a:latin typeface="Calibri"/>
                <a:cs typeface="Calibri"/>
              </a:rPr>
              <a:t> </a:t>
            </a:r>
            <a:r>
              <a:rPr sz="2800" spc="-10" dirty="0">
                <a:latin typeface="Calibri"/>
                <a:cs typeface="Calibri"/>
              </a:rPr>
              <a:t>find</a:t>
            </a:r>
            <a:r>
              <a:rPr sz="2800" spc="30" dirty="0">
                <a:latin typeface="Calibri"/>
                <a:cs typeface="Calibri"/>
              </a:rPr>
              <a:t> </a:t>
            </a:r>
            <a:r>
              <a:rPr sz="2800" spc="-10" dirty="0">
                <a:latin typeface="Calibri"/>
                <a:cs typeface="Calibri"/>
              </a:rPr>
              <a:t>acceptable</a:t>
            </a:r>
            <a:r>
              <a:rPr sz="2800" spc="25" dirty="0">
                <a:latin typeface="Calibri"/>
                <a:cs typeface="Calibri"/>
              </a:rPr>
              <a:t> </a:t>
            </a:r>
            <a:r>
              <a:rPr sz="2800" spc="-10" dirty="0">
                <a:latin typeface="Calibri"/>
                <a:cs typeface="Calibri"/>
              </a:rPr>
              <a:t>solutions</a:t>
            </a:r>
            <a:endParaRPr sz="2800" dirty="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3728085" cy="697230"/>
          </a:xfrm>
          <a:prstGeom prst="rect">
            <a:avLst/>
          </a:prstGeom>
        </p:spPr>
        <p:txBody>
          <a:bodyPr vert="horz" wrap="square" lIns="0" tIns="13335" rIns="0" bIns="0" rtlCol="0">
            <a:spAutoFit/>
          </a:bodyPr>
          <a:lstStyle/>
          <a:p>
            <a:pPr marL="12700">
              <a:lnSpc>
                <a:spcPct val="100000"/>
              </a:lnSpc>
              <a:spcBef>
                <a:spcPts val="105"/>
              </a:spcBef>
            </a:pPr>
            <a:r>
              <a:rPr b="1" spc="-20" dirty="0"/>
              <a:t>Informed</a:t>
            </a:r>
            <a:r>
              <a:rPr b="1" spc="-85" dirty="0"/>
              <a:t> </a:t>
            </a:r>
            <a:r>
              <a:rPr b="1" spc="-10" dirty="0"/>
              <a:t>Search</a:t>
            </a:r>
          </a:p>
        </p:txBody>
      </p:sp>
      <p:sp>
        <p:nvSpPr>
          <p:cNvPr id="3" name="object 3"/>
          <p:cNvSpPr txBox="1"/>
          <p:nvPr/>
        </p:nvSpPr>
        <p:spPr>
          <a:xfrm>
            <a:off x="916939" y="1706841"/>
            <a:ext cx="10132695" cy="4498026"/>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lang="en-US" sz="2800" dirty="0"/>
              <a:t>The informed search algorithm is more useful for large search space. </a:t>
            </a:r>
          </a:p>
          <a:p>
            <a:pPr marL="241300" indent="-228600">
              <a:lnSpc>
                <a:spcPct val="100000"/>
              </a:lnSpc>
              <a:spcBef>
                <a:spcPts val="775"/>
              </a:spcBef>
              <a:buFont typeface="Arial MT"/>
              <a:buChar char="•"/>
              <a:tabLst>
                <a:tab pos="241300" algn="l"/>
              </a:tabLst>
            </a:pPr>
            <a:endParaRPr lang="en-US" sz="2800" dirty="0"/>
          </a:p>
          <a:p>
            <a:pPr marL="241300" indent="-228600">
              <a:lnSpc>
                <a:spcPct val="100000"/>
              </a:lnSpc>
              <a:spcBef>
                <a:spcPts val="775"/>
              </a:spcBef>
              <a:buFont typeface="Arial MT"/>
              <a:buChar char="•"/>
              <a:tabLst>
                <a:tab pos="241300" algn="l"/>
              </a:tabLst>
            </a:pPr>
            <a:r>
              <a:rPr lang="en-US" sz="2800" dirty="0"/>
              <a:t>Informed search algorithm uses the idea of heuristic, so it is also called Heuristic search.</a:t>
            </a:r>
            <a:endParaRPr lang="en-US" sz="2800" spc="-10" dirty="0">
              <a:latin typeface="Calibri"/>
              <a:cs typeface="Calibri"/>
            </a:endParaRPr>
          </a:p>
          <a:p>
            <a:pPr marL="241300" marR="602615" indent="-228600">
              <a:lnSpc>
                <a:spcPts val="3020"/>
              </a:lnSpc>
              <a:spcBef>
                <a:spcPts val="1060"/>
              </a:spcBef>
              <a:buFont typeface="Arial MT"/>
              <a:buChar char="•"/>
              <a:tabLst>
                <a:tab pos="241300" algn="l"/>
              </a:tabLst>
            </a:pPr>
            <a:endParaRPr lang="en-US" sz="2800" spc="-5" dirty="0">
              <a:latin typeface="Calibri"/>
              <a:cs typeface="Calibri"/>
            </a:endParaRPr>
          </a:p>
          <a:p>
            <a:pPr marL="241300" marR="602615" indent="-228600">
              <a:lnSpc>
                <a:spcPts val="3020"/>
              </a:lnSpc>
              <a:spcBef>
                <a:spcPts val="1060"/>
              </a:spcBef>
              <a:buFont typeface="Arial MT"/>
              <a:buChar char="•"/>
              <a:tabLst>
                <a:tab pos="241300" algn="l"/>
              </a:tabLst>
            </a:pPr>
            <a:r>
              <a:rPr sz="2800" spc="-5" dirty="0">
                <a:latin typeface="Calibri"/>
                <a:cs typeface="Calibri"/>
              </a:rPr>
              <a:t>It</a:t>
            </a:r>
            <a:r>
              <a:rPr sz="2800" spc="10"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approach</a:t>
            </a:r>
            <a:r>
              <a:rPr sz="2800" spc="35" dirty="0">
                <a:latin typeface="Calibri"/>
                <a:cs typeface="Calibri"/>
              </a:rPr>
              <a:t> </a:t>
            </a:r>
            <a:r>
              <a:rPr sz="2800" spc="-15" dirty="0">
                <a:latin typeface="Calibri"/>
                <a:cs typeface="Calibri"/>
              </a:rPr>
              <a:t>following</a:t>
            </a:r>
            <a:r>
              <a:rPr sz="2800" spc="20" dirty="0">
                <a:latin typeface="Calibri"/>
                <a:cs typeface="Calibri"/>
              </a:rPr>
              <a:t> </a:t>
            </a:r>
            <a:r>
              <a:rPr sz="2800" spc="-5" dirty="0">
                <a:latin typeface="Calibri"/>
                <a:cs typeface="Calibri"/>
              </a:rPr>
              <a:t>an</a:t>
            </a:r>
            <a:r>
              <a:rPr sz="2800" spc="10" dirty="0">
                <a:latin typeface="Calibri"/>
                <a:cs typeface="Calibri"/>
              </a:rPr>
              <a:t> </a:t>
            </a:r>
            <a:r>
              <a:rPr sz="2800" spc="-15" dirty="0">
                <a:latin typeface="Calibri"/>
                <a:cs typeface="Calibri"/>
              </a:rPr>
              <a:t>informed</a:t>
            </a:r>
            <a:r>
              <a:rPr sz="2800" spc="25" dirty="0">
                <a:latin typeface="Calibri"/>
                <a:cs typeface="Calibri"/>
              </a:rPr>
              <a:t> </a:t>
            </a:r>
            <a:r>
              <a:rPr sz="2800" spc="-5" dirty="0">
                <a:latin typeface="Calibri"/>
                <a:cs typeface="Calibri"/>
              </a:rPr>
              <a:t>guess</a:t>
            </a:r>
            <a:r>
              <a:rPr sz="2800" spc="40" dirty="0">
                <a:latin typeface="Calibri"/>
                <a:cs typeface="Calibri"/>
              </a:rPr>
              <a:t> </a:t>
            </a:r>
            <a:r>
              <a:rPr sz="2800" spc="-5" dirty="0">
                <a:latin typeface="Calibri"/>
                <a:cs typeface="Calibri"/>
              </a:rPr>
              <a:t>of </a:t>
            </a:r>
            <a:r>
              <a:rPr sz="2800" spc="-15" dirty="0">
                <a:latin typeface="Calibri"/>
                <a:cs typeface="Calibri"/>
              </a:rPr>
              <a:t>next</a:t>
            </a:r>
            <a:r>
              <a:rPr sz="2800" spc="20" dirty="0">
                <a:latin typeface="Calibri"/>
                <a:cs typeface="Calibri"/>
              </a:rPr>
              <a:t> </a:t>
            </a:r>
            <a:r>
              <a:rPr sz="2800" spc="-20" dirty="0">
                <a:latin typeface="Calibri"/>
                <a:cs typeface="Calibri"/>
              </a:rPr>
              <a:t>step</a:t>
            </a:r>
            <a:r>
              <a:rPr sz="2800" spc="25" dirty="0">
                <a:latin typeface="Calibri"/>
                <a:cs typeface="Calibri"/>
              </a:rPr>
              <a:t> </a:t>
            </a:r>
            <a:r>
              <a:rPr sz="2800" spc="-15" dirty="0">
                <a:latin typeface="Calibri"/>
                <a:cs typeface="Calibri"/>
              </a:rPr>
              <a:t>to</a:t>
            </a:r>
            <a:r>
              <a:rPr sz="2800" spc="10" dirty="0">
                <a:latin typeface="Calibri"/>
                <a:cs typeface="Calibri"/>
              </a:rPr>
              <a:t> </a:t>
            </a:r>
            <a:r>
              <a:rPr sz="2800" spc="-10" dirty="0">
                <a:latin typeface="Calibri"/>
                <a:cs typeface="Calibri"/>
              </a:rPr>
              <a:t>be </a:t>
            </a:r>
            <a:r>
              <a:rPr sz="2800" spc="-620" dirty="0">
                <a:latin typeface="Calibri"/>
                <a:cs typeface="Calibri"/>
              </a:rPr>
              <a:t> </a:t>
            </a:r>
            <a:r>
              <a:rPr sz="2800" spc="-25" dirty="0">
                <a:latin typeface="Calibri"/>
                <a:cs typeface="Calibri"/>
              </a:rPr>
              <a:t>taken</a:t>
            </a:r>
            <a:endParaRPr lang="en-US" sz="2800" spc="-25" dirty="0">
              <a:latin typeface="Calibri"/>
              <a:cs typeface="Calibri"/>
            </a:endParaRPr>
          </a:p>
          <a:p>
            <a:pPr marL="241300" marR="602615" indent="-228600">
              <a:lnSpc>
                <a:spcPts val="3020"/>
              </a:lnSpc>
              <a:spcBef>
                <a:spcPts val="1060"/>
              </a:spcBef>
              <a:buFont typeface="Arial MT"/>
              <a:buChar char="•"/>
              <a:tabLst>
                <a:tab pos="241300" algn="l"/>
              </a:tabLst>
            </a:pPr>
            <a:endParaRPr sz="2800" dirty="0">
              <a:latin typeface="Calibri"/>
              <a:cs typeface="Calibri"/>
            </a:endParaRPr>
          </a:p>
          <a:p>
            <a:pPr marL="241300" indent="-228600">
              <a:lnSpc>
                <a:spcPct val="100000"/>
              </a:lnSpc>
              <a:spcBef>
                <a:spcPts val="620"/>
              </a:spcBef>
              <a:buFont typeface="Arial MT"/>
              <a:buChar char="•"/>
              <a:tabLst>
                <a:tab pos="241300" algn="l"/>
              </a:tabLst>
            </a:pPr>
            <a:r>
              <a:rPr sz="2800" spc="-5" dirty="0">
                <a:latin typeface="Calibri"/>
                <a:cs typeface="Calibri"/>
              </a:rPr>
              <a:t>It</a:t>
            </a:r>
            <a:r>
              <a:rPr sz="2800"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often</a:t>
            </a:r>
            <a:r>
              <a:rPr sz="2800" spc="10" dirty="0">
                <a:latin typeface="Calibri"/>
                <a:cs typeface="Calibri"/>
              </a:rPr>
              <a:t> </a:t>
            </a:r>
            <a:r>
              <a:rPr sz="2800" spc="-5" dirty="0">
                <a:latin typeface="Calibri"/>
                <a:cs typeface="Calibri"/>
              </a:rPr>
              <a:t>based</a:t>
            </a:r>
            <a:r>
              <a:rPr sz="2800" spc="10" dirty="0">
                <a:latin typeface="Calibri"/>
                <a:cs typeface="Calibri"/>
              </a:rPr>
              <a:t> </a:t>
            </a:r>
            <a:r>
              <a:rPr sz="2800" spc="-5" dirty="0">
                <a:latin typeface="Calibri"/>
                <a:cs typeface="Calibri"/>
              </a:rPr>
              <a:t>on</a:t>
            </a:r>
            <a:r>
              <a:rPr sz="2800" spc="5" dirty="0">
                <a:latin typeface="Calibri"/>
                <a:cs typeface="Calibri"/>
              </a:rPr>
              <a:t> </a:t>
            </a:r>
            <a:r>
              <a:rPr sz="2800" spc="-10" dirty="0">
                <a:latin typeface="Calibri"/>
                <a:cs typeface="Calibri"/>
              </a:rPr>
              <a:t>experience</a:t>
            </a:r>
            <a:r>
              <a:rPr sz="2800" spc="30" dirty="0">
                <a:latin typeface="Calibri"/>
                <a:cs typeface="Calibri"/>
              </a:rPr>
              <a:t> </a:t>
            </a:r>
            <a:r>
              <a:rPr sz="2800" spc="-5" dirty="0">
                <a:latin typeface="Calibri"/>
                <a:cs typeface="Calibri"/>
              </a:rPr>
              <a:t>or</a:t>
            </a:r>
            <a:r>
              <a:rPr sz="2800" spc="-10" dirty="0">
                <a:latin typeface="Calibri"/>
                <a:cs typeface="Calibri"/>
              </a:rPr>
              <a:t> intuition</a:t>
            </a:r>
            <a:endParaRPr sz="2800" dirty="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C39ED-364F-41E4-B58E-75BDF26C7ACC}"/>
              </a:ext>
            </a:extLst>
          </p:cNvPr>
          <p:cNvSpPr>
            <a:spLocks noGrp="1"/>
          </p:cNvSpPr>
          <p:nvPr>
            <p:ph type="title"/>
          </p:nvPr>
        </p:nvSpPr>
        <p:spPr>
          <a:xfrm>
            <a:off x="838200" y="218369"/>
            <a:ext cx="3948289" cy="650875"/>
          </a:xfrm>
        </p:spPr>
        <p:txBody>
          <a:bodyPr>
            <a:normAutofit/>
          </a:bodyPr>
          <a:lstStyle/>
          <a:p>
            <a:r>
              <a:rPr lang="en-US" sz="3600" b="1" dirty="0"/>
              <a:t>Heuristics function</a:t>
            </a:r>
          </a:p>
        </p:txBody>
      </p:sp>
      <p:sp>
        <p:nvSpPr>
          <p:cNvPr id="3" name="Content Placeholder 2">
            <a:extLst>
              <a:ext uri="{FF2B5EF4-FFF2-40B4-BE49-F238E27FC236}">
                <a16:creationId xmlns:a16="http://schemas.microsoft.com/office/drawing/2014/main" id="{E9CFAC4A-030C-4551-A0F2-B6078801F5A6}"/>
              </a:ext>
            </a:extLst>
          </p:cNvPr>
          <p:cNvSpPr>
            <a:spLocks noGrp="1"/>
          </p:cNvSpPr>
          <p:nvPr>
            <p:ph idx="1"/>
          </p:nvPr>
        </p:nvSpPr>
        <p:spPr>
          <a:xfrm>
            <a:off x="838200" y="1253067"/>
            <a:ext cx="10515600" cy="5386564"/>
          </a:xfrm>
        </p:spPr>
        <p:txBody>
          <a:bodyPr>
            <a:normAutofit lnSpcReduction="10000"/>
          </a:bodyPr>
          <a:lstStyle/>
          <a:p>
            <a:pPr algn="just"/>
            <a:r>
              <a:rPr lang="en-US" dirty="0"/>
              <a:t>Heuristic is a function which is used in Informed Search, and it finds the most promising path. </a:t>
            </a:r>
          </a:p>
          <a:p>
            <a:pPr algn="just"/>
            <a:endParaRPr lang="en-US" dirty="0"/>
          </a:p>
          <a:p>
            <a:pPr algn="just"/>
            <a:r>
              <a:rPr lang="en-US" dirty="0"/>
              <a:t>It takes the current state of the agent as its input and produces the estimation of how close agent is from the goal. </a:t>
            </a:r>
          </a:p>
          <a:p>
            <a:pPr algn="just"/>
            <a:endParaRPr lang="en-US" dirty="0"/>
          </a:p>
          <a:p>
            <a:pPr algn="just"/>
            <a:r>
              <a:rPr lang="en-US" dirty="0"/>
              <a:t>The heuristic method, however, might not always give the best solution, but it guaranteed to find a good solution in reasonable time.</a:t>
            </a:r>
          </a:p>
          <a:p>
            <a:pPr algn="just"/>
            <a:endParaRPr lang="en-US" dirty="0"/>
          </a:p>
          <a:p>
            <a:pPr algn="just"/>
            <a:r>
              <a:rPr lang="en-US" dirty="0"/>
              <a:t>It is represented by h(n), and it calculates the cost of an optimal path between the pair of states. The value of the heuristic function is always positive.</a:t>
            </a:r>
          </a:p>
        </p:txBody>
      </p:sp>
    </p:spTree>
    <p:extLst>
      <p:ext uri="{BB962C8B-B14F-4D97-AF65-F5344CB8AC3E}">
        <p14:creationId xmlns:p14="http://schemas.microsoft.com/office/powerpoint/2010/main" val="3775665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6D13-0E1E-47C9-857E-C89B241BB74D}"/>
              </a:ext>
            </a:extLst>
          </p:cNvPr>
          <p:cNvSpPr>
            <a:spLocks noGrp="1"/>
          </p:cNvSpPr>
          <p:nvPr>
            <p:ph type="title"/>
          </p:nvPr>
        </p:nvSpPr>
        <p:spPr>
          <a:xfrm>
            <a:off x="838200" y="365126"/>
            <a:ext cx="3203222" cy="718608"/>
          </a:xfrm>
        </p:spPr>
        <p:txBody>
          <a:bodyPr>
            <a:normAutofit/>
          </a:bodyPr>
          <a:lstStyle/>
          <a:p>
            <a:r>
              <a:rPr lang="en-US" sz="3600" b="1" dirty="0"/>
              <a:t>Best First Search</a:t>
            </a:r>
          </a:p>
        </p:txBody>
      </p:sp>
      <p:sp>
        <p:nvSpPr>
          <p:cNvPr id="3" name="Content Placeholder 2">
            <a:extLst>
              <a:ext uri="{FF2B5EF4-FFF2-40B4-BE49-F238E27FC236}">
                <a16:creationId xmlns:a16="http://schemas.microsoft.com/office/drawing/2014/main" id="{57093DF4-73A5-4A6F-A4F9-B90F65F218B0}"/>
              </a:ext>
            </a:extLst>
          </p:cNvPr>
          <p:cNvSpPr>
            <a:spLocks noGrp="1"/>
          </p:cNvSpPr>
          <p:nvPr>
            <p:ph idx="1"/>
          </p:nvPr>
        </p:nvSpPr>
        <p:spPr>
          <a:xfrm>
            <a:off x="838200" y="1241778"/>
            <a:ext cx="10515600" cy="4935185"/>
          </a:xfrm>
        </p:spPr>
        <p:txBody>
          <a:bodyPr>
            <a:normAutofit fontScale="92500" lnSpcReduction="20000"/>
          </a:bodyPr>
          <a:lstStyle/>
          <a:p>
            <a:r>
              <a:rPr lang="en-US" dirty="0"/>
              <a:t>Best First Search use an evaluation function to decide which among the various available nodes is the most promising (or ‘BEST’) before traversing to that node. </a:t>
            </a:r>
          </a:p>
          <a:p>
            <a:endParaRPr lang="en-US" dirty="0"/>
          </a:p>
          <a:p>
            <a:r>
              <a:rPr lang="en-US" dirty="0"/>
              <a:t>The Best first search uses the concept of a Priority queue and heuristic search. </a:t>
            </a:r>
          </a:p>
          <a:p>
            <a:endParaRPr lang="en-US" dirty="0"/>
          </a:p>
          <a:p>
            <a:r>
              <a:rPr lang="en-US" dirty="0"/>
              <a:t>To search the graph space, the BFS method uses two lists for tracking the traversal. </a:t>
            </a:r>
          </a:p>
          <a:p>
            <a:endParaRPr lang="en-US" dirty="0"/>
          </a:p>
          <a:p>
            <a:r>
              <a:rPr lang="en-US" dirty="0"/>
              <a:t>An ‘Open’ list which keeps track of the current ‘immediate’ nodes available for traversal and ‘CLOSED’ list that keeps track of the nodes already traversed. </a:t>
            </a:r>
          </a:p>
        </p:txBody>
      </p:sp>
    </p:spTree>
    <p:extLst>
      <p:ext uri="{BB962C8B-B14F-4D97-AF65-F5344CB8AC3E}">
        <p14:creationId xmlns:p14="http://schemas.microsoft.com/office/powerpoint/2010/main" val="3063986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16661-4B2E-4F15-9896-5E2FC3A02FA2}"/>
              </a:ext>
            </a:extLst>
          </p:cNvPr>
          <p:cNvSpPr>
            <a:spLocks noGrp="1"/>
          </p:cNvSpPr>
          <p:nvPr>
            <p:ph idx="1"/>
          </p:nvPr>
        </p:nvSpPr>
        <p:spPr/>
        <p:txBody>
          <a:bodyPr/>
          <a:lstStyle/>
          <a:p>
            <a:pPr marL="0" indent="0">
              <a:buNone/>
            </a:pPr>
            <a:r>
              <a:rPr lang="en-US" dirty="0"/>
              <a:t>Algorithm for implementing Best First Search</a:t>
            </a:r>
          </a:p>
          <a:p>
            <a:endParaRPr lang="en-US" dirty="0"/>
          </a:p>
          <a:p>
            <a:r>
              <a:rPr lang="en-US" dirty="0"/>
              <a:t>Step 1 : Create a </a:t>
            </a:r>
            <a:r>
              <a:rPr lang="en-US" dirty="0" err="1"/>
              <a:t>priorityQueue</a:t>
            </a:r>
            <a:r>
              <a:rPr lang="en-US" dirty="0"/>
              <a:t> </a:t>
            </a:r>
            <a:r>
              <a:rPr lang="en-US" dirty="0" err="1"/>
              <a:t>pqueue</a:t>
            </a:r>
            <a:r>
              <a:rPr lang="en-US" dirty="0"/>
              <a:t>.</a:t>
            </a:r>
          </a:p>
          <a:p>
            <a:r>
              <a:rPr lang="en-US" dirty="0"/>
              <a:t>Step 2 : insert ‘start’ in </a:t>
            </a:r>
            <a:r>
              <a:rPr lang="en-US" dirty="0" err="1"/>
              <a:t>pqueue</a:t>
            </a:r>
            <a:r>
              <a:rPr lang="en-US" dirty="0"/>
              <a:t> : </a:t>
            </a:r>
            <a:r>
              <a:rPr lang="en-US" dirty="0" err="1"/>
              <a:t>pqueue.insert</a:t>
            </a:r>
            <a:r>
              <a:rPr lang="en-US" dirty="0"/>
              <a:t>(start)</a:t>
            </a:r>
          </a:p>
          <a:p>
            <a:r>
              <a:rPr lang="en-US" dirty="0"/>
              <a:t>Step 3 : delete all elements of </a:t>
            </a:r>
            <a:r>
              <a:rPr lang="en-US" dirty="0" err="1"/>
              <a:t>pqueue</a:t>
            </a:r>
            <a:r>
              <a:rPr lang="en-US" dirty="0"/>
              <a:t> one by one.</a:t>
            </a:r>
          </a:p>
          <a:p>
            <a:r>
              <a:rPr lang="en-US" dirty="0"/>
              <a:t>   Step 3.1 : if, the element is goal . Exit.</a:t>
            </a:r>
          </a:p>
          <a:p>
            <a:r>
              <a:rPr lang="en-US" dirty="0"/>
              <a:t>   Step 3.2 : else, traverse </a:t>
            </a:r>
            <a:r>
              <a:rPr lang="en-US" dirty="0" err="1"/>
              <a:t>neighbours</a:t>
            </a:r>
            <a:r>
              <a:rPr lang="en-US" dirty="0"/>
              <a:t> and mark the node examined.</a:t>
            </a:r>
          </a:p>
          <a:p>
            <a:r>
              <a:rPr lang="en-US" dirty="0"/>
              <a:t>Step 4 : End.</a:t>
            </a:r>
          </a:p>
        </p:txBody>
      </p:sp>
    </p:spTree>
    <p:extLst>
      <p:ext uri="{BB962C8B-B14F-4D97-AF65-F5344CB8AC3E}">
        <p14:creationId xmlns:p14="http://schemas.microsoft.com/office/powerpoint/2010/main" val="2787541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a:extLst>
              <a:ext uri="{FF2B5EF4-FFF2-40B4-BE49-F238E27FC236}">
                <a16:creationId xmlns:a16="http://schemas.microsoft.com/office/drawing/2014/main" id="{2C6BB6CA-3C26-4CE3-890F-028F630AD8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316" y="1214615"/>
            <a:ext cx="4505325" cy="36385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7BDB0D3F-960E-4021-AC9A-126B31B799A2}"/>
              </a:ext>
            </a:extLst>
          </p:cNvPr>
          <p:cNvGraphicFramePr>
            <a:graphicFrameLocks noGrp="1"/>
          </p:cNvGraphicFramePr>
          <p:nvPr>
            <p:extLst>
              <p:ext uri="{D42A27DB-BD31-4B8C-83A1-F6EECF244321}">
                <p14:modId xmlns:p14="http://schemas.microsoft.com/office/powerpoint/2010/main" val="1765330981"/>
              </p:ext>
            </p:extLst>
          </p:nvPr>
        </p:nvGraphicFramePr>
        <p:xfrm>
          <a:off x="6437372" y="1953279"/>
          <a:ext cx="4505326" cy="2074051"/>
        </p:xfrm>
        <a:graphic>
          <a:graphicData uri="http://schemas.openxmlformats.org/drawingml/2006/table">
            <a:tbl>
              <a:tblPr firstRow="1" firstCol="1" bandRow="1"/>
              <a:tblGrid>
                <a:gridCol w="735873">
                  <a:extLst>
                    <a:ext uri="{9D8B030D-6E8A-4147-A177-3AD203B41FA5}">
                      <a16:colId xmlns:a16="http://schemas.microsoft.com/office/drawing/2014/main" val="428038680"/>
                    </a:ext>
                  </a:extLst>
                </a:gridCol>
                <a:gridCol w="761418">
                  <a:extLst>
                    <a:ext uri="{9D8B030D-6E8A-4147-A177-3AD203B41FA5}">
                      <a16:colId xmlns:a16="http://schemas.microsoft.com/office/drawing/2014/main" val="1873154710"/>
                    </a:ext>
                  </a:extLst>
                </a:gridCol>
                <a:gridCol w="1286224">
                  <a:extLst>
                    <a:ext uri="{9D8B030D-6E8A-4147-A177-3AD203B41FA5}">
                      <a16:colId xmlns:a16="http://schemas.microsoft.com/office/drawing/2014/main" val="2414745494"/>
                    </a:ext>
                  </a:extLst>
                </a:gridCol>
                <a:gridCol w="279539">
                  <a:extLst>
                    <a:ext uri="{9D8B030D-6E8A-4147-A177-3AD203B41FA5}">
                      <a16:colId xmlns:a16="http://schemas.microsoft.com/office/drawing/2014/main" val="1541171300"/>
                    </a:ext>
                  </a:extLst>
                </a:gridCol>
                <a:gridCol w="721136">
                  <a:extLst>
                    <a:ext uri="{9D8B030D-6E8A-4147-A177-3AD203B41FA5}">
                      <a16:colId xmlns:a16="http://schemas.microsoft.com/office/drawing/2014/main" val="2340952922"/>
                    </a:ext>
                  </a:extLst>
                </a:gridCol>
                <a:gridCol w="721136">
                  <a:extLst>
                    <a:ext uri="{9D8B030D-6E8A-4147-A177-3AD203B41FA5}">
                      <a16:colId xmlns:a16="http://schemas.microsoft.com/office/drawing/2014/main" val="2626340787"/>
                    </a:ext>
                  </a:extLst>
                </a:gridCol>
              </a:tblGrid>
              <a:tr h="451562">
                <a:tc>
                  <a:txBody>
                    <a:bodyPr/>
                    <a:lstStyle/>
                    <a:p>
                      <a:r>
                        <a:rPr lang="en-US" b="1">
                          <a:effectLst/>
                        </a:rPr>
                        <a:t>node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h(n)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dirty="0">
                          <a:effectLst/>
                        </a:rPr>
                        <a:t>node </a:t>
                      </a: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h(n)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effectLst/>
                        </a:rPr>
                        <a:t>node </a:t>
                      </a: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h(n)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1482747"/>
                  </a:ext>
                </a:extLst>
              </a:tr>
              <a:tr h="200939">
                <a:tc>
                  <a:txBody>
                    <a:bodyPr/>
                    <a:lstStyle/>
                    <a:p>
                      <a:r>
                        <a:rPr lang="en-US" b="1">
                          <a:effectLst/>
                        </a:rPr>
                        <a:t>A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11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dirty="0">
                          <a:effectLst/>
                        </a:rPr>
                        <a:t>E</a:t>
                      </a:r>
                      <a:endParaRPr lang="en-US" dirty="0">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4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effectLst/>
                        </a:rPr>
                        <a:t>I,J</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3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0213872"/>
                  </a:ext>
                </a:extLst>
              </a:tr>
              <a:tr h="200939">
                <a:tc>
                  <a:txBody>
                    <a:bodyPr/>
                    <a:lstStyle/>
                    <a:p>
                      <a:r>
                        <a:rPr lang="en-US" b="1">
                          <a:effectLst/>
                        </a:rPr>
                        <a:t>B</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5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effectLst/>
                        </a:rPr>
                        <a:t>F</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2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effectLst/>
                        </a:rPr>
                        <a:t>S</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15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8962579"/>
                  </a:ext>
                </a:extLst>
              </a:tr>
              <a:tr h="393841">
                <a:tc>
                  <a:txBody>
                    <a:bodyPr/>
                    <a:lstStyle/>
                    <a:p>
                      <a:r>
                        <a:rPr lang="en-US" b="1">
                          <a:effectLst/>
                        </a:rPr>
                        <a:t>C,D</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9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effectLst/>
                        </a:rPr>
                        <a:t>H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solidFill>
                            <a:srgbClr val="38761D"/>
                          </a:solidFill>
                          <a:effectLst/>
                        </a:rPr>
                        <a:t>7 </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b="1">
                          <a:effectLst/>
                        </a:rPr>
                        <a:t>G</a:t>
                      </a:r>
                      <a:endParaRPr lang="en-US">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dirty="0">
                          <a:solidFill>
                            <a:srgbClr val="38761D"/>
                          </a:solidFill>
                          <a:effectLst/>
                        </a:rPr>
                        <a:t>0</a:t>
                      </a:r>
                      <a:endParaRPr lang="en-US" dirty="0">
                        <a:effectLst/>
                      </a:endParaRPr>
                    </a:p>
                  </a:txBody>
                  <a:tcPr marL="68580" marR="68580" marT="1143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7282932"/>
                  </a:ext>
                </a:extLst>
              </a:tr>
            </a:tbl>
          </a:graphicData>
        </a:graphic>
      </p:graphicFrame>
      <p:sp>
        <p:nvSpPr>
          <p:cNvPr id="4" name="Rectangle 4">
            <a:extLst>
              <a:ext uri="{FF2B5EF4-FFF2-40B4-BE49-F238E27FC236}">
                <a16:creationId xmlns:a16="http://schemas.microsoft.com/office/drawing/2014/main" id="{A87E6557-E667-4E9A-83DE-9B7771D4CB39}"/>
              </a:ext>
            </a:extLst>
          </p:cNvPr>
          <p:cNvSpPr>
            <a:spLocks noChangeArrowheads="1"/>
          </p:cNvSpPr>
          <p:nvPr/>
        </p:nvSpPr>
        <p:spPr bwMode="auto">
          <a:xfrm>
            <a:off x="6748408" y="475951"/>
            <a:ext cx="419429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rPr>
              <a:t>       Initial state, G: goal.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Arial" panose="020B0604020202020204" pitchFamily="34" charset="0"/>
              </a:rPr>
              <a:t>Table shows the heuristic estimates:</a:t>
            </a:r>
            <a:endParaRPr kumimoji="0" lang="en-US" altLang="en-US" sz="18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5919288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FB7C7-72C2-4661-AD9A-90C7F2D36C12}"/>
              </a:ext>
            </a:extLst>
          </p:cNvPr>
          <p:cNvSpPr>
            <a:spLocks noGrp="1"/>
          </p:cNvSpPr>
          <p:nvPr>
            <p:ph type="title"/>
          </p:nvPr>
        </p:nvSpPr>
        <p:spPr/>
        <p:txBody>
          <a:bodyPr/>
          <a:lstStyle/>
          <a:p>
            <a:r>
              <a:rPr lang="en-US" b="1" dirty="0"/>
              <a:t>Types of Best First Search</a:t>
            </a:r>
          </a:p>
        </p:txBody>
      </p:sp>
      <p:sp>
        <p:nvSpPr>
          <p:cNvPr id="3" name="Content Placeholder 2">
            <a:extLst>
              <a:ext uri="{FF2B5EF4-FFF2-40B4-BE49-F238E27FC236}">
                <a16:creationId xmlns:a16="http://schemas.microsoft.com/office/drawing/2014/main" id="{4B3CFE94-DF2A-4133-9066-5ECE40728E34}"/>
              </a:ext>
            </a:extLst>
          </p:cNvPr>
          <p:cNvSpPr>
            <a:spLocks noGrp="1"/>
          </p:cNvSpPr>
          <p:nvPr>
            <p:ph idx="1"/>
          </p:nvPr>
        </p:nvSpPr>
        <p:spPr/>
        <p:txBody>
          <a:bodyPr/>
          <a:lstStyle/>
          <a:p>
            <a:r>
              <a:rPr lang="en-US" dirty="0"/>
              <a:t>Greedy Best First Search</a:t>
            </a:r>
          </a:p>
          <a:p>
            <a:r>
              <a:rPr lang="en-US" dirty="0"/>
              <a:t>A* Search</a:t>
            </a:r>
          </a:p>
        </p:txBody>
      </p:sp>
    </p:spTree>
    <p:extLst>
      <p:ext uri="{BB962C8B-B14F-4D97-AF65-F5344CB8AC3E}">
        <p14:creationId xmlns:p14="http://schemas.microsoft.com/office/powerpoint/2010/main" val="24827376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CE57D-BE99-4A5D-9EC2-B179F1C9BB35}"/>
              </a:ext>
            </a:extLst>
          </p:cNvPr>
          <p:cNvSpPr>
            <a:spLocks noGrp="1"/>
          </p:cNvSpPr>
          <p:nvPr>
            <p:ph type="title"/>
          </p:nvPr>
        </p:nvSpPr>
        <p:spPr>
          <a:xfrm>
            <a:off x="838200" y="365126"/>
            <a:ext cx="4682067" cy="684742"/>
          </a:xfrm>
        </p:spPr>
        <p:txBody>
          <a:bodyPr>
            <a:normAutofit/>
          </a:bodyPr>
          <a:lstStyle/>
          <a:p>
            <a:r>
              <a:rPr lang="en-US" sz="3600" b="1" dirty="0"/>
              <a:t>Greedy Best First Search</a:t>
            </a:r>
          </a:p>
        </p:txBody>
      </p:sp>
      <p:sp>
        <p:nvSpPr>
          <p:cNvPr id="3" name="Content Placeholder 2">
            <a:extLst>
              <a:ext uri="{FF2B5EF4-FFF2-40B4-BE49-F238E27FC236}">
                <a16:creationId xmlns:a16="http://schemas.microsoft.com/office/drawing/2014/main" id="{72244740-72AB-4730-B91B-C8D1BC9B465E}"/>
              </a:ext>
            </a:extLst>
          </p:cNvPr>
          <p:cNvSpPr>
            <a:spLocks noGrp="1"/>
          </p:cNvSpPr>
          <p:nvPr>
            <p:ph idx="1"/>
          </p:nvPr>
        </p:nvSpPr>
        <p:spPr>
          <a:xfrm>
            <a:off x="838200" y="1614311"/>
            <a:ext cx="10515600" cy="4878563"/>
          </a:xfrm>
        </p:spPr>
        <p:txBody>
          <a:bodyPr>
            <a:normAutofit fontScale="85000" lnSpcReduction="20000"/>
          </a:bodyPr>
          <a:lstStyle/>
          <a:p>
            <a:r>
              <a:rPr lang="en-US" dirty="0"/>
              <a:t>Greedy best-first search algorithm always selects the path which appears best at that moment. </a:t>
            </a:r>
          </a:p>
          <a:p>
            <a:endParaRPr lang="en-US" dirty="0"/>
          </a:p>
          <a:p>
            <a:r>
              <a:rPr lang="en-US" dirty="0"/>
              <a:t>It is the combination of depth-first search and breadth-first search algorithms. </a:t>
            </a:r>
          </a:p>
          <a:p>
            <a:endParaRPr lang="en-US" dirty="0"/>
          </a:p>
          <a:p>
            <a:r>
              <a:rPr lang="en-US" dirty="0"/>
              <a:t>It uses the heuristic(quick judgement) function and search. </a:t>
            </a:r>
          </a:p>
          <a:p>
            <a:endParaRPr lang="en-US" dirty="0"/>
          </a:p>
          <a:p>
            <a:r>
              <a:rPr lang="en-US" dirty="0"/>
              <a:t>Best-first search allows us to take the advantages of both algorithms. With the help of best-first search, at each step, we can choose the most promising node.</a:t>
            </a:r>
          </a:p>
          <a:p>
            <a:endParaRPr lang="en-US" dirty="0"/>
          </a:p>
          <a:p>
            <a:r>
              <a:rPr lang="en-US" dirty="0"/>
              <a:t>In the best first search algorithm, we expand the node which is closest to the goal node and the closest cost is estimated by heuristic function, i.e.</a:t>
            </a:r>
          </a:p>
          <a:p>
            <a:pPr marL="0" indent="0">
              <a:buNone/>
            </a:pPr>
            <a:r>
              <a:rPr lang="en-US" dirty="0"/>
              <a:t>f(n)= g(n).   </a:t>
            </a:r>
          </a:p>
          <a:p>
            <a:endParaRPr lang="en-US" dirty="0"/>
          </a:p>
        </p:txBody>
      </p:sp>
    </p:spTree>
    <p:extLst>
      <p:ext uri="{BB962C8B-B14F-4D97-AF65-F5344CB8AC3E}">
        <p14:creationId xmlns:p14="http://schemas.microsoft.com/office/powerpoint/2010/main" val="22249525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515E-8219-4AC5-BE3C-47AEA003AD51}"/>
              </a:ext>
            </a:extLst>
          </p:cNvPr>
          <p:cNvSpPr>
            <a:spLocks noGrp="1"/>
          </p:cNvSpPr>
          <p:nvPr>
            <p:ph type="title"/>
          </p:nvPr>
        </p:nvSpPr>
        <p:spPr>
          <a:xfrm>
            <a:off x="838200" y="365125"/>
            <a:ext cx="5133622" cy="696031"/>
          </a:xfrm>
        </p:spPr>
        <p:txBody>
          <a:bodyPr>
            <a:normAutofit/>
          </a:bodyPr>
          <a:lstStyle/>
          <a:p>
            <a:r>
              <a:rPr lang="en-US" sz="3600" dirty="0"/>
              <a:t>Best First Search Algorithm</a:t>
            </a:r>
          </a:p>
        </p:txBody>
      </p:sp>
      <p:sp>
        <p:nvSpPr>
          <p:cNvPr id="3" name="Content Placeholder 2">
            <a:extLst>
              <a:ext uri="{FF2B5EF4-FFF2-40B4-BE49-F238E27FC236}">
                <a16:creationId xmlns:a16="http://schemas.microsoft.com/office/drawing/2014/main" id="{A07AE127-2F73-4B02-BBE5-15310B368438}"/>
              </a:ext>
            </a:extLst>
          </p:cNvPr>
          <p:cNvSpPr>
            <a:spLocks noGrp="1"/>
          </p:cNvSpPr>
          <p:nvPr>
            <p:ph idx="1"/>
          </p:nvPr>
        </p:nvSpPr>
        <p:spPr>
          <a:xfrm>
            <a:off x="838200" y="1185333"/>
            <a:ext cx="10515600" cy="4991630"/>
          </a:xfrm>
        </p:spPr>
        <p:txBody>
          <a:bodyPr>
            <a:normAutofit/>
          </a:bodyPr>
          <a:lstStyle/>
          <a:p>
            <a:r>
              <a:rPr lang="en-US" sz="2400" b="1" dirty="0"/>
              <a:t>Step 1</a:t>
            </a:r>
            <a:r>
              <a:rPr lang="en-US" sz="2400" dirty="0"/>
              <a:t>: Place the starting node into the OPEN list.</a:t>
            </a:r>
          </a:p>
          <a:p>
            <a:r>
              <a:rPr lang="en-US" sz="2400" b="1" dirty="0"/>
              <a:t>Step 2</a:t>
            </a:r>
            <a:r>
              <a:rPr lang="en-US" sz="2400" dirty="0"/>
              <a:t>: If the OPEN list is empty, Stop and return failure.</a:t>
            </a:r>
          </a:p>
          <a:p>
            <a:r>
              <a:rPr lang="en-US" sz="2400" b="1" dirty="0"/>
              <a:t>Step 3</a:t>
            </a:r>
            <a:r>
              <a:rPr lang="en-US" sz="2400" dirty="0"/>
              <a:t>: Remove the node n, from the OPEN list which has the lowest value of h(n), and places it in the CLOSED list.</a:t>
            </a:r>
          </a:p>
          <a:p>
            <a:r>
              <a:rPr lang="en-US" sz="2400" b="1" dirty="0"/>
              <a:t>Step 4</a:t>
            </a:r>
            <a:r>
              <a:rPr lang="en-US" sz="2400" dirty="0"/>
              <a:t>: Expand the node n, and generate the successors of node n.</a:t>
            </a:r>
          </a:p>
          <a:p>
            <a:r>
              <a:rPr lang="en-US" sz="2400" b="1" dirty="0"/>
              <a:t>Step 5</a:t>
            </a:r>
            <a:r>
              <a:rPr lang="en-US" sz="2400" dirty="0"/>
              <a:t>: Check each successor of node n, and find whether any node is a goal node or not. If any successor node is goal node, then return success and terminate the search, else proceed to Step 6.</a:t>
            </a:r>
          </a:p>
          <a:p>
            <a:r>
              <a:rPr lang="en-US" sz="2400" b="1" dirty="0"/>
              <a:t>Step 6</a:t>
            </a:r>
            <a:r>
              <a:rPr lang="en-US" sz="2400" dirty="0"/>
              <a:t>: For each successor node, algorithm checks for evaluation function f(n), and then check if the node has been in either OPEN or CLOSED list. If the node has not been in both list, then add it to the OPEN list.</a:t>
            </a:r>
          </a:p>
          <a:p>
            <a:r>
              <a:rPr lang="en-US" sz="2400" b="1" dirty="0"/>
              <a:t>Step 7</a:t>
            </a:r>
            <a:r>
              <a:rPr lang="en-US" sz="2400" dirty="0"/>
              <a:t>: Return to Step 2.</a:t>
            </a:r>
          </a:p>
        </p:txBody>
      </p:sp>
      <p:sp>
        <p:nvSpPr>
          <p:cNvPr id="7" name="TextBox 6">
            <a:extLst>
              <a:ext uri="{FF2B5EF4-FFF2-40B4-BE49-F238E27FC236}">
                <a16:creationId xmlns:a16="http://schemas.microsoft.com/office/drawing/2014/main" id="{C7D0B367-76EA-4C21-8C5F-137022D20E9A}"/>
              </a:ext>
            </a:extLst>
          </p:cNvPr>
          <p:cNvSpPr txBox="1"/>
          <p:nvPr/>
        </p:nvSpPr>
        <p:spPr>
          <a:xfrm>
            <a:off x="2810933" y="6308209"/>
            <a:ext cx="6096000" cy="369332"/>
          </a:xfrm>
          <a:prstGeom prst="rect">
            <a:avLst/>
          </a:prstGeom>
          <a:noFill/>
        </p:spPr>
        <p:txBody>
          <a:bodyPr wrap="square">
            <a:spAutoFit/>
          </a:bodyPr>
          <a:lstStyle/>
          <a:p>
            <a:r>
              <a:rPr lang="en-US" dirty="0"/>
              <a:t>h(n)= estimated cost from node n to the goal. </a:t>
            </a:r>
          </a:p>
        </p:txBody>
      </p:sp>
    </p:spTree>
    <p:extLst>
      <p:ext uri="{BB962C8B-B14F-4D97-AF65-F5344CB8AC3E}">
        <p14:creationId xmlns:p14="http://schemas.microsoft.com/office/powerpoint/2010/main" val="3319476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C336-1CE7-47D4-8E09-BC6E55AFE223}"/>
              </a:ext>
            </a:extLst>
          </p:cNvPr>
          <p:cNvSpPr>
            <a:spLocks noGrp="1"/>
          </p:cNvSpPr>
          <p:nvPr>
            <p:ph type="title"/>
          </p:nvPr>
        </p:nvSpPr>
        <p:spPr>
          <a:xfrm>
            <a:off x="838200" y="365125"/>
            <a:ext cx="2085622" cy="594431"/>
          </a:xfrm>
        </p:spPr>
        <p:txBody>
          <a:bodyPr>
            <a:normAutofit/>
          </a:bodyPr>
          <a:lstStyle/>
          <a:p>
            <a:r>
              <a:rPr lang="en-US" sz="3600" dirty="0"/>
              <a:t>Example:</a:t>
            </a:r>
          </a:p>
        </p:txBody>
      </p:sp>
      <p:sp>
        <p:nvSpPr>
          <p:cNvPr id="3" name="Content Placeholder 2">
            <a:extLst>
              <a:ext uri="{FF2B5EF4-FFF2-40B4-BE49-F238E27FC236}">
                <a16:creationId xmlns:a16="http://schemas.microsoft.com/office/drawing/2014/main" id="{7F0B7F4C-1B26-45F4-9D13-F77D87C3D8F4}"/>
              </a:ext>
            </a:extLst>
          </p:cNvPr>
          <p:cNvSpPr>
            <a:spLocks noGrp="1"/>
          </p:cNvSpPr>
          <p:nvPr>
            <p:ph idx="1"/>
          </p:nvPr>
        </p:nvSpPr>
        <p:spPr>
          <a:xfrm>
            <a:off x="838200" y="1207911"/>
            <a:ext cx="10515600" cy="4969052"/>
          </a:xfrm>
        </p:spPr>
        <p:txBody>
          <a:bodyPr/>
          <a:lstStyle/>
          <a:p>
            <a:r>
              <a:rPr lang="en-US" sz="1600" dirty="0"/>
              <a:t>At each iteration, each node is expanded using evaluation function f(n)=h(n) , which is given in the below table</a:t>
            </a:r>
          </a:p>
          <a:p>
            <a:endParaRPr lang="en-US" sz="1600" dirty="0"/>
          </a:p>
          <a:p>
            <a:endParaRPr lang="en-US" dirty="0"/>
          </a:p>
        </p:txBody>
      </p:sp>
      <p:pic>
        <p:nvPicPr>
          <p:cNvPr id="5" name="Picture 4">
            <a:extLst>
              <a:ext uri="{FF2B5EF4-FFF2-40B4-BE49-F238E27FC236}">
                <a16:creationId xmlns:a16="http://schemas.microsoft.com/office/drawing/2014/main" id="{F935E996-4F9C-4472-9091-C987FC933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581" y="1601399"/>
            <a:ext cx="5058481" cy="4048690"/>
          </a:xfrm>
          <a:prstGeom prst="rect">
            <a:avLst/>
          </a:prstGeom>
        </p:spPr>
      </p:pic>
      <p:sp>
        <p:nvSpPr>
          <p:cNvPr id="7" name="TextBox 6">
            <a:extLst>
              <a:ext uri="{FF2B5EF4-FFF2-40B4-BE49-F238E27FC236}">
                <a16:creationId xmlns:a16="http://schemas.microsoft.com/office/drawing/2014/main" id="{F7BDEC63-E40A-4BF9-8985-05A5D4A4C169}"/>
              </a:ext>
            </a:extLst>
          </p:cNvPr>
          <p:cNvSpPr txBox="1"/>
          <p:nvPr/>
        </p:nvSpPr>
        <p:spPr>
          <a:xfrm>
            <a:off x="5701419" y="2363590"/>
            <a:ext cx="6096000" cy="646331"/>
          </a:xfrm>
          <a:prstGeom prst="rect">
            <a:avLst/>
          </a:prstGeom>
          <a:noFill/>
        </p:spPr>
        <p:txBody>
          <a:bodyPr wrap="square">
            <a:spAutoFit/>
          </a:bodyPr>
          <a:lstStyle/>
          <a:p>
            <a:r>
              <a:rPr lang="en-US" dirty="0"/>
              <a:t>In this search example, we are using two lists which are </a:t>
            </a:r>
            <a:r>
              <a:rPr lang="en-US" b="1" dirty="0"/>
              <a:t>OPEN</a:t>
            </a:r>
            <a:r>
              <a:rPr lang="en-US" dirty="0"/>
              <a:t> and </a:t>
            </a:r>
            <a:r>
              <a:rPr lang="en-US" b="1" dirty="0"/>
              <a:t>CLOSED</a:t>
            </a:r>
            <a:r>
              <a:rPr lang="en-US" dirty="0"/>
              <a:t> Lists</a:t>
            </a:r>
          </a:p>
        </p:txBody>
      </p:sp>
    </p:spTree>
    <p:extLst>
      <p:ext uri="{BB962C8B-B14F-4D97-AF65-F5344CB8AC3E}">
        <p14:creationId xmlns:p14="http://schemas.microsoft.com/office/powerpoint/2010/main" val="22878953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A0761D-5E3A-4902-A1CB-FBDBCD198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142" y="568382"/>
            <a:ext cx="4164092" cy="3954524"/>
          </a:xfrm>
          <a:prstGeom prst="rect">
            <a:avLst/>
          </a:prstGeom>
        </p:spPr>
      </p:pic>
      <p:sp>
        <p:nvSpPr>
          <p:cNvPr id="5" name="Rectangle 2">
            <a:extLst>
              <a:ext uri="{FF2B5EF4-FFF2-40B4-BE49-F238E27FC236}">
                <a16:creationId xmlns:a16="http://schemas.microsoft.com/office/drawing/2014/main" id="{E2E45C91-0BE9-4BDB-A44E-8A047529E6FB}"/>
              </a:ext>
            </a:extLst>
          </p:cNvPr>
          <p:cNvSpPr>
            <a:spLocks noChangeArrowheads="1"/>
          </p:cNvSpPr>
          <p:nvPr/>
        </p:nvSpPr>
        <p:spPr bwMode="auto">
          <a:xfrm>
            <a:off x="4222045" y="208844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Expand the nodes of S and put in the CLOSED list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Initialization:</a:t>
            </a:r>
            <a:r>
              <a:rPr kumimoji="0" lang="en-US" altLang="en-US" sz="1800" b="0" i="0" u="none" strike="noStrike" cap="none" normalizeH="0" baseline="0" dirty="0">
                <a:ln>
                  <a:noFill/>
                </a:ln>
                <a:solidFill>
                  <a:schemeClr val="tx1"/>
                </a:solidFill>
                <a:effectLst/>
                <a:latin typeface="Arial" panose="020B0604020202020204" pitchFamily="34" charset="0"/>
              </a:rPr>
              <a:t> Open [A, B], Closed [S]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Iteration 1:</a:t>
            </a:r>
            <a:r>
              <a:rPr kumimoji="0" lang="en-US" altLang="en-US" sz="1800" b="0" i="0" u="none" strike="noStrike" cap="none" normalizeH="0" baseline="0" dirty="0">
                <a:ln>
                  <a:noFill/>
                </a:ln>
                <a:solidFill>
                  <a:schemeClr val="tx1"/>
                </a:solidFill>
                <a:effectLst/>
                <a:latin typeface="Arial" panose="020B0604020202020204" pitchFamily="34" charset="0"/>
              </a:rPr>
              <a:t> Open [A], Closed [S, B]</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Iteration 2:</a:t>
            </a:r>
            <a:r>
              <a:rPr kumimoji="0" lang="en-US" altLang="en-US" sz="1800" b="0" i="0" u="none" strike="noStrike" cap="none" normalizeH="0" baseline="0" dirty="0">
                <a:ln>
                  <a:noFill/>
                </a:ln>
                <a:solidFill>
                  <a:schemeClr val="tx1"/>
                </a:solidFill>
                <a:effectLst/>
                <a:latin typeface="Arial" panose="020B0604020202020204" pitchFamily="34" charset="0"/>
              </a:rPr>
              <a:t> Open [E, F, A], Closed [S, B]</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 Open [E, A], Closed [S, B, 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Iteration 3:</a:t>
            </a:r>
            <a:r>
              <a:rPr kumimoji="0" lang="en-US" altLang="en-US" sz="1800" b="0" i="0" u="none" strike="noStrike" cap="none" normalizeH="0" baseline="0" dirty="0">
                <a:ln>
                  <a:noFill/>
                </a:ln>
                <a:solidFill>
                  <a:schemeClr val="tx1"/>
                </a:solidFill>
                <a:effectLst/>
                <a:latin typeface="Arial" panose="020B0604020202020204" pitchFamily="34" charset="0"/>
              </a:rPr>
              <a:t> Open [I, G, E, A], Closed [S, B, F]</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 Open [I, E, A], Closed [S, B, F, 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Hence the final solution path will be: </a:t>
            </a:r>
            <a:r>
              <a:rPr kumimoji="0" lang="en-US" altLang="en-US" sz="1800" b="1" i="0" u="none" strike="noStrike" cap="none" normalizeH="0" baseline="0" dirty="0">
                <a:ln>
                  <a:noFill/>
                </a:ln>
                <a:solidFill>
                  <a:schemeClr val="tx1"/>
                </a:solidFill>
                <a:effectLst/>
                <a:latin typeface="Arial" panose="020B0604020202020204" pitchFamily="34" charset="0"/>
              </a:rPr>
              <a:t>S----&gt; B-----&gt;F----&gt; 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89801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1B936D-43C7-426A-B206-69A4E191D79C}"/>
              </a:ext>
            </a:extLst>
          </p:cNvPr>
          <p:cNvSpPr>
            <a:spLocks noGrp="1"/>
          </p:cNvSpPr>
          <p:nvPr>
            <p:ph idx="1"/>
          </p:nvPr>
        </p:nvSpPr>
        <p:spPr>
          <a:xfrm>
            <a:off x="838200" y="406400"/>
            <a:ext cx="10515600" cy="5770563"/>
          </a:xfrm>
        </p:spPr>
        <p:txBody>
          <a:bodyPr>
            <a:normAutofit lnSpcReduction="10000"/>
          </a:bodyPr>
          <a:lstStyle/>
          <a:p>
            <a:pPr marL="0" indent="0">
              <a:buNone/>
            </a:pPr>
            <a:r>
              <a:rPr lang="en-US" b="1" dirty="0"/>
              <a:t>Advantages:</a:t>
            </a:r>
          </a:p>
          <a:p>
            <a:pPr>
              <a:buFont typeface="Arial" panose="020B0604020202020204" pitchFamily="34" charset="0"/>
              <a:buChar char="•"/>
            </a:pPr>
            <a:r>
              <a:rPr lang="en-US" dirty="0"/>
              <a:t>Best first search can switch between BFS and DFS by gaining the advantages of both the algorithms.</a:t>
            </a:r>
          </a:p>
          <a:p>
            <a:pPr>
              <a:buFont typeface="Arial" panose="020B0604020202020204" pitchFamily="34" charset="0"/>
              <a:buChar char="•"/>
            </a:pPr>
            <a:endParaRPr lang="en-US" dirty="0"/>
          </a:p>
          <a:p>
            <a:pPr>
              <a:buFont typeface="Arial" panose="020B0604020202020204" pitchFamily="34" charset="0"/>
              <a:buChar char="•"/>
            </a:pPr>
            <a:r>
              <a:rPr lang="en-US" dirty="0"/>
              <a:t>This algorithm is more efficient than BFS and DFS algorithms. </a:t>
            </a:r>
          </a:p>
          <a:p>
            <a:pPr>
              <a:buFont typeface="Arial" panose="020B0604020202020204" pitchFamily="34" charset="0"/>
              <a:buChar char="•"/>
            </a:pPr>
            <a:endParaRPr lang="en-US" dirty="0"/>
          </a:p>
          <a:p>
            <a:pPr marL="0" indent="0">
              <a:buNone/>
            </a:pPr>
            <a:r>
              <a:rPr lang="en-US" b="1" dirty="0"/>
              <a:t>Disadvantages:</a:t>
            </a:r>
          </a:p>
          <a:p>
            <a:pPr>
              <a:buFont typeface="Arial" panose="020B0604020202020204" pitchFamily="34" charset="0"/>
              <a:buChar char="•"/>
            </a:pPr>
            <a:r>
              <a:rPr lang="en-US" dirty="0"/>
              <a:t>It can behave as an unguided depth-first search in the worst case scenario. </a:t>
            </a:r>
          </a:p>
          <a:p>
            <a:pPr>
              <a:buFont typeface="Arial" panose="020B0604020202020204" pitchFamily="34" charset="0"/>
              <a:buChar char="•"/>
            </a:pPr>
            <a:r>
              <a:rPr lang="en-US" dirty="0"/>
              <a:t>It can get stuck in a loop as DFS.</a:t>
            </a:r>
          </a:p>
          <a:p>
            <a:pPr>
              <a:buFont typeface="Arial" panose="020B0604020202020204" pitchFamily="34" charset="0"/>
              <a:buChar char="•"/>
            </a:pPr>
            <a:endParaRPr lang="en-US" dirty="0"/>
          </a:p>
          <a:p>
            <a:pPr>
              <a:buFont typeface="Arial" panose="020B0604020202020204" pitchFamily="34" charset="0"/>
              <a:buChar char="•"/>
            </a:pPr>
            <a:r>
              <a:rPr lang="en-US" dirty="0"/>
              <a:t>This algorithm is not optimal.</a:t>
            </a:r>
          </a:p>
          <a:p>
            <a:endParaRPr lang="en-US" dirty="0"/>
          </a:p>
        </p:txBody>
      </p:sp>
    </p:spTree>
    <p:extLst>
      <p:ext uri="{BB962C8B-B14F-4D97-AF65-F5344CB8AC3E}">
        <p14:creationId xmlns:p14="http://schemas.microsoft.com/office/powerpoint/2010/main" val="30594180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23AA-7449-4599-8C5C-42327AD947B8}"/>
              </a:ext>
            </a:extLst>
          </p:cNvPr>
          <p:cNvSpPr>
            <a:spLocks noGrp="1"/>
          </p:cNvSpPr>
          <p:nvPr>
            <p:ph type="title"/>
          </p:nvPr>
        </p:nvSpPr>
        <p:spPr>
          <a:xfrm>
            <a:off x="838200" y="365125"/>
            <a:ext cx="4004733" cy="808919"/>
          </a:xfrm>
        </p:spPr>
        <p:txBody>
          <a:bodyPr>
            <a:normAutofit/>
          </a:bodyPr>
          <a:lstStyle/>
          <a:p>
            <a:r>
              <a:rPr lang="en-US" sz="3600" b="1" dirty="0"/>
              <a:t>A* Search Algorithm</a:t>
            </a:r>
          </a:p>
        </p:txBody>
      </p:sp>
      <p:sp>
        <p:nvSpPr>
          <p:cNvPr id="3" name="Content Placeholder 2">
            <a:extLst>
              <a:ext uri="{FF2B5EF4-FFF2-40B4-BE49-F238E27FC236}">
                <a16:creationId xmlns:a16="http://schemas.microsoft.com/office/drawing/2014/main" id="{C21F664D-DD68-4236-BB30-65EF1C5FE84D}"/>
              </a:ext>
            </a:extLst>
          </p:cNvPr>
          <p:cNvSpPr>
            <a:spLocks noGrp="1"/>
          </p:cNvSpPr>
          <p:nvPr>
            <p:ph idx="1"/>
          </p:nvPr>
        </p:nvSpPr>
        <p:spPr>
          <a:xfrm>
            <a:off x="838200" y="1648178"/>
            <a:ext cx="10515600" cy="4528785"/>
          </a:xfrm>
        </p:spPr>
        <p:txBody>
          <a:bodyPr>
            <a:normAutofit lnSpcReduction="10000"/>
          </a:bodyPr>
          <a:lstStyle/>
          <a:p>
            <a:r>
              <a:rPr lang="en-US" dirty="0"/>
              <a:t>A* search is the most commonly known form of best-first search. </a:t>
            </a:r>
          </a:p>
          <a:p>
            <a:endParaRPr lang="en-US" dirty="0"/>
          </a:p>
          <a:p>
            <a:r>
              <a:rPr lang="en-US" dirty="0"/>
              <a:t>It uses heuristic function h(n), and cost to reach the node n from the start state g(n). </a:t>
            </a:r>
          </a:p>
          <a:p>
            <a:endParaRPr lang="en-US" dirty="0"/>
          </a:p>
          <a:p>
            <a:r>
              <a:rPr lang="en-US" dirty="0"/>
              <a:t>It has combined features of UCS and greedy best-first search, by which it solve the problem efficiently. </a:t>
            </a:r>
          </a:p>
          <a:p>
            <a:endParaRPr lang="en-US" dirty="0"/>
          </a:p>
          <a:p>
            <a:r>
              <a:rPr lang="en-US" dirty="0"/>
              <a:t>A* search algorithm finds the shortest path through the search space using the heuristic function.</a:t>
            </a:r>
          </a:p>
        </p:txBody>
      </p:sp>
    </p:spTree>
    <p:extLst>
      <p:ext uri="{BB962C8B-B14F-4D97-AF65-F5344CB8AC3E}">
        <p14:creationId xmlns:p14="http://schemas.microsoft.com/office/powerpoint/2010/main" val="9309357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0F8FCC-E67D-4FE8-A673-BE76D2F8F14A}"/>
              </a:ext>
            </a:extLst>
          </p:cNvPr>
          <p:cNvSpPr>
            <a:spLocks noGrp="1"/>
          </p:cNvSpPr>
          <p:nvPr>
            <p:ph idx="1"/>
          </p:nvPr>
        </p:nvSpPr>
        <p:spPr>
          <a:xfrm>
            <a:off x="838200" y="711200"/>
            <a:ext cx="10515600" cy="5465763"/>
          </a:xfrm>
        </p:spPr>
        <p:txBody>
          <a:bodyPr/>
          <a:lstStyle/>
          <a:p>
            <a:r>
              <a:rPr lang="en-US" dirty="0"/>
              <a:t>This search algorithm expands less search tree and provides optimal result faster. </a:t>
            </a:r>
          </a:p>
          <a:p>
            <a:endParaRPr lang="en-US" dirty="0"/>
          </a:p>
          <a:p>
            <a:r>
              <a:rPr lang="en-US" dirty="0"/>
              <a:t>A* algorithm is similar to UCS except that it uses g(n)+h(n) instead of g(n).</a:t>
            </a:r>
          </a:p>
          <a:p>
            <a:endParaRPr lang="en-US" dirty="0"/>
          </a:p>
          <a:p>
            <a:r>
              <a:rPr lang="en-US" dirty="0"/>
              <a:t>In A* search algorithm, we use search heuristic as well as the cost to reach the node. </a:t>
            </a:r>
          </a:p>
          <a:p>
            <a:endParaRPr lang="en-US" dirty="0"/>
          </a:p>
          <a:p>
            <a:r>
              <a:rPr lang="en-US" dirty="0"/>
              <a:t>Hence we can combine both costs as following, and this sum is called as a </a:t>
            </a:r>
            <a:r>
              <a:rPr lang="en-US" b="1" dirty="0"/>
              <a:t>fitness number</a:t>
            </a:r>
            <a:r>
              <a:rPr lang="en-US" dirty="0"/>
              <a:t>.</a:t>
            </a:r>
          </a:p>
          <a:p>
            <a:endParaRPr lang="en-US" dirty="0"/>
          </a:p>
        </p:txBody>
      </p:sp>
    </p:spTree>
    <p:extLst>
      <p:ext uri="{BB962C8B-B14F-4D97-AF65-F5344CB8AC3E}">
        <p14:creationId xmlns:p14="http://schemas.microsoft.com/office/powerpoint/2010/main" val="11243660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1972DA-852E-4168-8387-404283C98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11" y="1174044"/>
            <a:ext cx="8376356" cy="4143022"/>
          </a:xfrm>
          <a:prstGeom prst="rect">
            <a:avLst/>
          </a:prstGeom>
        </p:spPr>
      </p:pic>
    </p:spTree>
    <p:extLst>
      <p:ext uri="{BB962C8B-B14F-4D97-AF65-F5344CB8AC3E}">
        <p14:creationId xmlns:p14="http://schemas.microsoft.com/office/powerpoint/2010/main" val="3548684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F079-1964-46E0-A90B-966C477CB650}"/>
              </a:ext>
            </a:extLst>
          </p:cNvPr>
          <p:cNvSpPr>
            <a:spLocks noGrp="1"/>
          </p:cNvSpPr>
          <p:nvPr>
            <p:ph type="title"/>
          </p:nvPr>
        </p:nvSpPr>
        <p:spPr>
          <a:xfrm>
            <a:off x="838200" y="365125"/>
            <a:ext cx="4332111" cy="707319"/>
          </a:xfrm>
        </p:spPr>
        <p:txBody>
          <a:bodyPr>
            <a:normAutofit/>
          </a:bodyPr>
          <a:lstStyle/>
          <a:p>
            <a:r>
              <a:rPr lang="en-US" sz="3600" b="1" dirty="0"/>
              <a:t>Algorithm of A* Search</a:t>
            </a:r>
          </a:p>
        </p:txBody>
      </p:sp>
      <p:sp>
        <p:nvSpPr>
          <p:cNvPr id="3" name="Content Placeholder 2">
            <a:extLst>
              <a:ext uri="{FF2B5EF4-FFF2-40B4-BE49-F238E27FC236}">
                <a16:creationId xmlns:a16="http://schemas.microsoft.com/office/drawing/2014/main" id="{CE93AE19-BDB3-40A0-B24D-8C7B211DD167}"/>
              </a:ext>
            </a:extLst>
          </p:cNvPr>
          <p:cNvSpPr>
            <a:spLocks noGrp="1"/>
          </p:cNvSpPr>
          <p:nvPr>
            <p:ph idx="1"/>
          </p:nvPr>
        </p:nvSpPr>
        <p:spPr>
          <a:xfrm>
            <a:off x="838200" y="1219200"/>
            <a:ext cx="10515600" cy="4957763"/>
          </a:xfrm>
        </p:spPr>
        <p:txBody>
          <a:bodyPr>
            <a:normAutofit fontScale="92500" lnSpcReduction="10000"/>
          </a:bodyPr>
          <a:lstStyle/>
          <a:p>
            <a:pPr marL="0" indent="0">
              <a:buNone/>
            </a:pPr>
            <a:r>
              <a:rPr lang="en-US" b="1" dirty="0"/>
              <a:t>Step1:</a:t>
            </a:r>
            <a:r>
              <a:rPr lang="en-US" dirty="0"/>
              <a:t> Place the starting node in the OPEN list.</a:t>
            </a:r>
          </a:p>
          <a:p>
            <a:pPr marL="0" indent="0">
              <a:buNone/>
            </a:pPr>
            <a:r>
              <a:rPr lang="en-US" b="1" dirty="0"/>
              <a:t>Step 2:</a:t>
            </a:r>
            <a:r>
              <a:rPr lang="en-US" dirty="0"/>
              <a:t> Check if the OPEN list is empty or not, if the list is empty then return failure and stops.</a:t>
            </a:r>
          </a:p>
          <a:p>
            <a:pPr marL="0" indent="0">
              <a:buNone/>
            </a:pPr>
            <a:r>
              <a:rPr lang="en-US" b="1" dirty="0"/>
              <a:t>Step 3:</a:t>
            </a:r>
            <a:r>
              <a:rPr lang="en-US" dirty="0"/>
              <a:t> Select the node from the OPEN list which has the smallest value of evaluation function (</a:t>
            </a:r>
            <a:r>
              <a:rPr lang="en-US" dirty="0" err="1"/>
              <a:t>g+h</a:t>
            </a:r>
            <a:r>
              <a:rPr lang="en-US" dirty="0"/>
              <a:t>), if node n is goal node then return success and stop, otherwise</a:t>
            </a:r>
          </a:p>
          <a:p>
            <a:pPr marL="0" indent="0">
              <a:buNone/>
            </a:pPr>
            <a:r>
              <a:rPr lang="en-US" b="1" dirty="0"/>
              <a:t>Step 4:</a:t>
            </a:r>
            <a:r>
              <a:rPr lang="en-US" dirty="0"/>
              <a:t> Expand node n and generate all of its successors, and put n into the closed list. For each successor n', check whether n' is already in the OPEN or CLOSED list, if not then compute evaluation function for n' and place into Open list.</a:t>
            </a:r>
          </a:p>
          <a:p>
            <a:pPr marL="0" indent="0">
              <a:buNone/>
            </a:pPr>
            <a:r>
              <a:rPr lang="en-US" b="1" dirty="0"/>
              <a:t>Step 5:</a:t>
            </a:r>
            <a:r>
              <a:rPr lang="en-US" dirty="0"/>
              <a:t> Else if node n' is already in OPEN and CLOSED, then it should be attached to the back pointer which reflects the lowest g(n') value.</a:t>
            </a:r>
          </a:p>
          <a:p>
            <a:pPr marL="0" indent="0">
              <a:buNone/>
            </a:pPr>
            <a:r>
              <a:rPr lang="en-US" b="1" dirty="0"/>
              <a:t>Step 6:</a:t>
            </a:r>
            <a:r>
              <a:rPr lang="en-US" dirty="0"/>
              <a:t> Return to </a:t>
            </a:r>
            <a:r>
              <a:rPr lang="en-US" b="1" dirty="0"/>
              <a:t>Step 2</a:t>
            </a:r>
            <a:r>
              <a:rPr lang="en-US" dirty="0"/>
              <a:t>.</a:t>
            </a:r>
          </a:p>
          <a:p>
            <a:endParaRPr lang="en-US" dirty="0"/>
          </a:p>
        </p:txBody>
      </p:sp>
    </p:spTree>
    <p:extLst>
      <p:ext uri="{BB962C8B-B14F-4D97-AF65-F5344CB8AC3E}">
        <p14:creationId xmlns:p14="http://schemas.microsoft.com/office/powerpoint/2010/main" val="26461428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ACE69D-BB30-40FD-BD0E-305F681A987A}"/>
              </a:ext>
            </a:extLst>
          </p:cNvPr>
          <p:cNvPicPr>
            <a:picLocks noChangeAspect="1"/>
          </p:cNvPicPr>
          <p:nvPr/>
        </p:nvPicPr>
        <p:blipFill>
          <a:blip r:embed="rId2"/>
          <a:stretch>
            <a:fillRect/>
          </a:stretch>
        </p:blipFill>
        <p:spPr>
          <a:xfrm>
            <a:off x="1648178" y="846667"/>
            <a:ext cx="8489243" cy="5091289"/>
          </a:xfrm>
          <a:prstGeom prst="rect">
            <a:avLst/>
          </a:prstGeom>
        </p:spPr>
      </p:pic>
    </p:spTree>
    <p:extLst>
      <p:ext uri="{BB962C8B-B14F-4D97-AF65-F5344CB8AC3E}">
        <p14:creationId xmlns:p14="http://schemas.microsoft.com/office/powerpoint/2010/main" val="11763371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BA6A39-6E7A-48E7-B3BF-4871B3479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251" y="545314"/>
            <a:ext cx="4514993" cy="4184730"/>
          </a:xfrm>
          <a:prstGeom prst="rect">
            <a:avLst/>
          </a:prstGeom>
        </p:spPr>
      </p:pic>
      <p:sp>
        <p:nvSpPr>
          <p:cNvPr id="5" name="TextBox 4">
            <a:extLst>
              <a:ext uri="{FF2B5EF4-FFF2-40B4-BE49-F238E27FC236}">
                <a16:creationId xmlns:a16="http://schemas.microsoft.com/office/drawing/2014/main" id="{9165A862-C2C0-4CF2-B029-33CE987D98FD}"/>
              </a:ext>
            </a:extLst>
          </p:cNvPr>
          <p:cNvSpPr txBox="1"/>
          <p:nvPr/>
        </p:nvSpPr>
        <p:spPr>
          <a:xfrm>
            <a:off x="4730044" y="993760"/>
            <a:ext cx="7123289" cy="2031325"/>
          </a:xfrm>
          <a:prstGeom prst="rect">
            <a:avLst/>
          </a:prstGeom>
          <a:noFill/>
        </p:spPr>
        <p:txBody>
          <a:bodyPr wrap="square">
            <a:spAutoFit/>
          </a:bodyPr>
          <a:lstStyle/>
          <a:p>
            <a:r>
              <a:rPr lang="en-US" b="1" dirty="0"/>
              <a:t>Initialization:</a:t>
            </a:r>
            <a:r>
              <a:rPr lang="en-US" dirty="0"/>
              <a:t> {(S, 0)}</a:t>
            </a:r>
          </a:p>
          <a:p>
            <a:r>
              <a:rPr lang="en-US" b="1" dirty="0"/>
              <a:t>Iteration1:</a:t>
            </a:r>
            <a:r>
              <a:rPr lang="en-US" dirty="0"/>
              <a:t> {(S--&gt; A, 1), (S--&gt;G, 10)}</a:t>
            </a:r>
          </a:p>
          <a:p>
            <a:r>
              <a:rPr lang="en-US" b="1" dirty="0"/>
              <a:t>Iteration2:</a:t>
            </a:r>
            <a:r>
              <a:rPr lang="en-US" dirty="0"/>
              <a:t> {(S--&gt; A--&gt;C, 2), (S--&gt; A--&gt;B, 3), (S--&gt;G, 10)}</a:t>
            </a:r>
          </a:p>
          <a:p>
            <a:r>
              <a:rPr lang="en-US" b="1" dirty="0"/>
              <a:t>Iteration3:</a:t>
            </a:r>
            <a:r>
              <a:rPr lang="en-US" dirty="0"/>
              <a:t> {(S--&gt; A--&gt;C---&gt;G, 6), (S--&gt; A--&gt;C---&gt;D---&gt;G, 7), (S--&gt; A--&gt;B--&gt;D--&gt;G, 10), (S--&gt;G, 10)}</a:t>
            </a:r>
          </a:p>
          <a:p>
            <a:r>
              <a:rPr lang="en-US" b="1" dirty="0"/>
              <a:t>Iteration 4</a:t>
            </a:r>
            <a:r>
              <a:rPr lang="en-US" dirty="0"/>
              <a:t> will give the final result, as </a:t>
            </a:r>
            <a:r>
              <a:rPr lang="en-US" b="1" dirty="0"/>
              <a:t>S---&gt;A---&gt;C---&gt;G</a:t>
            </a:r>
            <a:r>
              <a:rPr lang="en-US" dirty="0"/>
              <a:t> it provides the optimal path with cost 6. </a:t>
            </a:r>
          </a:p>
        </p:txBody>
      </p:sp>
    </p:spTree>
    <p:extLst>
      <p:ext uri="{BB962C8B-B14F-4D97-AF65-F5344CB8AC3E}">
        <p14:creationId xmlns:p14="http://schemas.microsoft.com/office/powerpoint/2010/main" val="33384047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23A676-B907-4797-9FBC-FBCB21054414}"/>
              </a:ext>
            </a:extLst>
          </p:cNvPr>
          <p:cNvSpPr>
            <a:spLocks noGrp="1"/>
          </p:cNvSpPr>
          <p:nvPr>
            <p:ph idx="1"/>
          </p:nvPr>
        </p:nvSpPr>
        <p:spPr>
          <a:xfrm>
            <a:off x="838200" y="891822"/>
            <a:ext cx="10515600" cy="5285141"/>
          </a:xfrm>
        </p:spPr>
        <p:txBody>
          <a:bodyPr>
            <a:normAutofit lnSpcReduction="10000"/>
          </a:bodyPr>
          <a:lstStyle/>
          <a:p>
            <a:pPr marL="0" indent="0">
              <a:buNone/>
            </a:pPr>
            <a:r>
              <a:rPr lang="en-US" b="1" dirty="0"/>
              <a:t>Points to remember:</a:t>
            </a:r>
            <a:endParaRPr lang="en-US" dirty="0"/>
          </a:p>
          <a:p>
            <a:pPr>
              <a:buFont typeface="Arial" panose="020B0604020202020204" pitchFamily="34" charset="0"/>
              <a:buChar char="•"/>
            </a:pPr>
            <a:r>
              <a:rPr lang="en-US" dirty="0"/>
              <a:t>A* algorithm returns the path which occurred first, and it does not search for all remaining paths.</a:t>
            </a:r>
          </a:p>
          <a:p>
            <a:pPr>
              <a:buFont typeface="Arial" panose="020B0604020202020204" pitchFamily="34" charset="0"/>
              <a:buChar char="•"/>
            </a:pPr>
            <a:r>
              <a:rPr lang="en-US" dirty="0"/>
              <a:t>The efficiency of A* algorithm depends on the quality of heuristic.</a:t>
            </a:r>
          </a:p>
          <a:p>
            <a:pPr>
              <a:buFont typeface="Arial" panose="020B0604020202020204" pitchFamily="34" charset="0"/>
              <a:buChar char="•"/>
            </a:pPr>
            <a:r>
              <a:rPr lang="en-US" dirty="0"/>
              <a:t>A* algorithm expands all nodes which satisfy the condition f(n) &lt;="" li=""&gt; </a:t>
            </a:r>
          </a:p>
          <a:p>
            <a:pPr marL="0" indent="0">
              <a:buNone/>
            </a:pPr>
            <a:r>
              <a:rPr lang="en-US" b="1" dirty="0"/>
              <a:t>Complete:</a:t>
            </a:r>
            <a:r>
              <a:rPr lang="en-US" dirty="0"/>
              <a:t> A* algorithm is complete as long as:</a:t>
            </a:r>
          </a:p>
          <a:p>
            <a:pPr marL="0" indent="0">
              <a:buNone/>
            </a:pPr>
            <a:endParaRPr lang="en-US" dirty="0"/>
          </a:p>
          <a:p>
            <a:pPr>
              <a:buFont typeface="Arial" panose="020B0604020202020204" pitchFamily="34" charset="0"/>
              <a:buChar char="•"/>
            </a:pPr>
            <a:r>
              <a:rPr lang="en-US" dirty="0"/>
              <a:t>Branching factor is finite.</a:t>
            </a:r>
          </a:p>
          <a:p>
            <a:pPr>
              <a:buFont typeface="Arial" panose="020B0604020202020204" pitchFamily="34" charset="0"/>
              <a:buChar char="•"/>
            </a:pPr>
            <a:endParaRPr lang="en-US" dirty="0"/>
          </a:p>
          <a:p>
            <a:pPr>
              <a:buFont typeface="Arial" panose="020B0604020202020204" pitchFamily="34" charset="0"/>
              <a:buChar char="•"/>
            </a:pPr>
            <a:r>
              <a:rPr lang="en-US" dirty="0"/>
              <a:t>Cost at every action is fixed.</a:t>
            </a:r>
          </a:p>
          <a:p>
            <a:endParaRPr lang="en-US" dirty="0"/>
          </a:p>
        </p:txBody>
      </p:sp>
    </p:spTree>
    <p:extLst>
      <p:ext uri="{BB962C8B-B14F-4D97-AF65-F5344CB8AC3E}">
        <p14:creationId xmlns:p14="http://schemas.microsoft.com/office/powerpoint/2010/main" val="42572373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2252980" cy="697230"/>
          </a:xfrm>
          <a:prstGeom prst="rect">
            <a:avLst/>
          </a:prstGeom>
        </p:spPr>
        <p:txBody>
          <a:bodyPr vert="horz" wrap="square" lIns="0" tIns="13335" rIns="0" bIns="0" rtlCol="0">
            <a:spAutoFit/>
          </a:bodyPr>
          <a:lstStyle/>
          <a:p>
            <a:pPr marL="12700">
              <a:lnSpc>
                <a:spcPct val="100000"/>
              </a:lnSpc>
              <a:spcBef>
                <a:spcPts val="105"/>
              </a:spcBef>
            </a:pPr>
            <a:r>
              <a:rPr dirty="0"/>
              <a:t>A*</a:t>
            </a:r>
            <a:r>
              <a:rPr spc="-95" dirty="0"/>
              <a:t> </a:t>
            </a:r>
            <a:r>
              <a:rPr spc="-10" dirty="0"/>
              <a:t>Search</a:t>
            </a:r>
          </a:p>
        </p:txBody>
      </p:sp>
      <p:sp>
        <p:nvSpPr>
          <p:cNvPr id="3" name="object 3"/>
          <p:cNvSpPr txBox="1"/>
          <p:nvPr/>
        </p:nvSpPr>
        <p:spPr>
          <a:xfrm>
            <a:off x="916939" y="1756565"/>
            <a:ext cx="4349750" cy="230060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5" dirty="0">
                <a:latin typeface="Calibri"/>
                <a:cs typeface="Calibri"/>
              </a:rPr>
              <a:t>Optimality</a:t>
            </a:r>
            <a:endParaRPr sz="2800">
              <a:latin typeface="Calibri"/>
              <a:cs typeface="Calibri"/>
            </a:endParaRPr>
          </a:p>
          <a:p>
            <a:pPr marL="698500" lvl="1" indent="-229235">
              <a:lnSpc>
                <a:spcPct val="100000"/>
              </a:lnSpc>
              <a:spcBef>
                <a:spcPts val="245"/>
              </a:spcBef>
              <a:buFont typeface="Arial MT"/>
              <a:buChar char="•"/>
              <a:tabLst>
                <a:tab pos="699135" algn="l"/>
              </a:tabLst>
            </a:pPr>
            <a:r>
              <a:rPr sz="2400" spc="-5" dirty="0">
                <a:latin typeface="Calibri"/>
                <a:cs typeface="Calibri"/>
              </a:rPr>
              <a:t>Optimal</a:t>
            </a:r>
            <a:r>
              <a:rPr sz="2400" spc="-35" dirty="0">
                <a:latin typeface="Calibri"/>
                <a:cs typeface="Calibri"/>
              </a:rPr>
              <a:t> </a:t>
            </a:r>
            <a:r>
              <a:rPr sz="2400" dirty="0">
                <a:latin typeface="Calibri"/>
                <a:cs typeface="Calibri"/>
              </a:rPr>
              <a:t>if</a:t>
            </a:r>
            <a:r>
              <a:rPr sz="2400" spc="-20" dirty="0">
                <a:latin typeface="Calibri"/>
                <a:cs typeface="Calibri"/>
              </a:rPr>
              <a:t> </a:t>
            </a:r>
            <a:r>
              <a:rPr sz="2400" spc="-5" dirty="0">
                <a:latin typeface="Calibri"/>
                <a:cs typeface="Calibri"/>
              </a:rPr>
              <a:t>h(n)</a:t>
            </a:r>
            <a:r>
              <a:rPr sz="2400" spc="-35"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admissible</a:t>
            </a:r>
            <a:endParaRPr sz="2400">
              <a:latin typeface="Calibri"/>
              <a:cs typeface="Calibri"/>
            </a:endParaRPr>
          </a:p>
          <a:p>
            <a:pPr lvl="1">
              <a:lnSpc>
                <a:spcPct val="100000"/>
              </a:lnSpc>
              <a:spcBef>
                <a:spcPts val="25"/>
              </a:spcBef>
              <a:buFont typeface="Arial MT"/>
              <a:buChar char="•"/>
            </a:pPr>
            <a:endParaRPr sz="3800">
              <a:latin typeface="Calibri"/>
              <a:cs typeface="Calibri"/>
            </a:endParaRPr>
          </a:p>
          <a:p>
            <a:pPr marL="241300" indent="-228600">
              <a:lnSpc>
                <a:spcPct val="100000"/>
              </a:lnSpc>
              <a:spcBef>
                <a:spcPts val="5"/>
              </a:spcBef>
              <a:buFont typeface="Arial MT"/>
              <a:buChar char="•"/>
              <a:tabLst>
                <a:tab pos="241300" algn="l"/>
              </a:tabLst>
            </a:pPr>
            <a:r>
              <a:rPr sz="2800" spc="-10" dirty="0">
                <a:latin typeface="Calibri"/>
                <a:cs typeface="Calibri"/>
              </a:rPr>
              <a:t>Completness</a:t>
            </a:r>
            <a:endParaRPr sz="2800">
              <a:latin typeface="Calibri"/>
              <a:cs typeface="Calibri"/>
            </a:endParaRPr>
          </a:p>
          <a:p>
            <a:pPr marL="698500" lvl="1" indent="-229235">
              <a:lnSpc>
                <a:spcPct val="100000"/>
              </a:lnSpc>
              <a:spcBef>
                <a:spcPts val="229"/>
              </a:spcBef>
              <a:buFont typeface="Arial MT"/>
              <a:buChar char="•"/>
              <a:tabLst>
                <a:tab pos="699135" algn="l"/>
              </a:tabLst>
            </a:pPr>
            <a:r>
              <a:rPr sz="2400" spc="-10" dirty="0">
                <a:latin typeface="Calibri"/>
                <a:cs typeface="Calibri"/>
              </a:rPr>
              <a:t>Complete</a:t>
            </a:r>
            <a:r>
              <a:rPr sz="2400" spc="-40" dirty="0">
                <a:latin typeface="Calibri"/>
                <a:cs typeface="Calibri"/>
              </a:rPr>
              <a:t> </a:t>
            </a:r>
            <a:r>
              <a:rPr sz="2400" dirty="0">
                <a:latin typeface="Calibri"/>
                <a:cs typeface="Calibri"/>
              </a:rPr>
              <a:t>if</a:t>
            </a:r>
            <a:r>
              <a:rPr sz="2400" spc="-15" dirty="0">
                <a:latin typeface="Calibri"/>
                <a:cs typeface="Calibri"/>
              </a:rPr>
              <a:t> </a:t>
            </a:r>
            <a:r>
              <a:rPr sz="2400" spc="-5" dirty="0">
                <a:latin typeface="Calibri"/>
                <a:cs typeface="Calibri"/>
              </a:rPr>
              <a:t>h(n)</a:t>
            </a:r>
            <a:r>
              <a:rPr sz="2400" spc="-35" dirty="0">
                <a:latin typeface="Calibri"/>
                <a:cs typeface="Calibri"/>
              </a:rPr>
              <a:t> </a:t>
            </a:r>
            <a:r>
              <a:rPr sz="2400" dirty="0">
                <a:latin typeface="Calibri"/>
                <a:cs typeface="Calibri"/>
              </a:rPr>
              <a:t>is</a:t>
            </a:r>
            <a:r>
              <a:rPr sz="2400" spc="-15" dirty="0">
                <a:latin typeface="Calibri"/>
                <a:cs typeface="Calibri"/>
              </a:rPr>
              <a:t> </a:t>
            </a:r>
            <a:r>
              <a:rPr sz="2400" dirty="0">
                <a:latin typeface="Calibri"/>
                <a:cs typeface="Calibri"/>
              </a:rPr>
              <a:t>admissible</a:t>
            </a:r>
            <a:endParaRPr sz="2400">
              <a:latin typeface="Calibri"/>
              <a:cs typeface="Calibri"/>
            </a:endParaRPr>
          </a:p>
        </p:txBody>
      </p:sp>
      <p:sp>
        <p:nvSpPr>
          <p:cNvPr id="4" name="object 4"/>
          <p:cNvSpPr txBox="1"/>
          <p:nvPr/>
        </p:nvSpPr>
        <p:spPr>
          <a:xfrm>
            <a:off x="6213728" y="1756565"/>
            <a:ext cx="3881754" cy="2245360"/>
          </a:xfrm>
          <a:prstGeom prst="rect">
            <a:avLst/>
          </a:prstGeom>
        </p:spPr>
        <p:txBody>
          <a:bodyPr vert="horz" wrap="square" lIns="0" tIns="48895" rIns="0" bIns="0" rtlCol="0">
            <a:spAutoFit/>
          </a:bodyPr>
          <a:lstStyle/>
          <a:p>
            <a:pPr marL="279400" indent="-228600">
              <a:lnSpc>
                <a:spcPct val="100000"/>
              </a:lnSpc>
              <a:spcBef>
                <a:spcPts val="385"/>
              </a:spcBef>
              <a:buFont typeface="Arial MT"/>
              <a:buChar char="•"/>
              <a:tabLst>
                <a:tab pos="279400" algn="l"/>
              </a:tabLst>
            </a:pPr>
            <a:r>
              <a:rPr sz="2800" spc="-5" dirty="0">
                <a:latin typeface="Calibri"/>
                <a:cs typeface="Calibri"/>
              </a:rPr>
              <a:t>Space</a:t>
            </a:r>
            <a:r>
              <a:rPr sz="2800" spc="-30" dirty="0">
                <a:latin typeface="Calibri"/>
                <a:cs typeface="Calibri"/>
              </a:rPr>
              <a:t> </a:t>
            </a:r>
            <a:r>
              <a:rPr sz="2800" spc="-15" dirty="0">
                <a:latin typeface="Calibri"/>
                <a:cs typeface="Calibri"/>
              </a:rPr>
              <a:t>Complexity</a:t>
            </a:r>
            <a:endParaRPr sz="2800">
              <a:latin typeface="Calibri"/>
              <a:cs typeface="Calibri"/>
            </a:endParaRPr>
          </a:p>
          <a:p>
            <a:pPr marL="736600" lvl="1" indent="-228600">
              <a:lnSpc>
                <a:spcPct val="100000"/>
              </a:lnSpc>
              <a:spcBef>
                <a:spcPts val="245"/>
              </a:spcBef>
              <a:buFont typeface="Arial MT"/>
              <a:buChar char="•"/>
              <a:tabLst>
                <a:tab pos="736600" algn="l"/>
              </a:tabLst>
            </a:pPr>
            <a:r>
              <a:rPr sz="2400" spc="-5" dirty="0">
                <a:latin typeface="Calibri"/>
                <a:cs typeface="Calibri"/>
              </a:rPr>
              <a:t>O(b</a:t>
            </a:r>
            <a:r>
              <a:rPr sz="2400" spc="-7" baseline="24305" dirty="0">
                <a:latin typeface="Calibri"/>
                <a:cs typeface="Calibri"/>
              </a:rPr>
              <a:t>d</a:t>
            </a:r>
            <a:r>
              <a:rPr sz="2400" spc="-5" dirty="0">
                <a:latin typeface="Calibri"/>
                <a:cs typeface="Calibri"/>
              </a:rPr>
              <a:t>)</a:t>
            </a:r>
            <a:r>
              <a:rPr sz="2400" spc="-35" dirty="0">
                <a:latin typeface="Calibri"/>
                <a:cs typeface="Calibri"/>
              </a:rPr>
              <a:t> </a:t>
            </a:r>
            <a:r>
              <a:rPr sz="2400" dirty="0">
                <a:latin typeface="Calibri"/>
                <a:cs typeface="Calibri"/>
              </a:rPr>
              <a:t>if</a:t>
            </a:r>
            <a:r>
              <a:rPr sz="2400" spc="-20" dirty="0">
                <a:latin typeface="Calibri"/>
                <a:cs typeface="Calibri"/>
              </a:rPr>
              <a:t> </a:t>
            </a:r>
            <a:r>
              <a:rPr sz="2400" spc="-5" dirty="0">
                <a:latin typeface="Calibri"/>
                <a:cs typeface="Calibri"/>
              </a:rPr>
              <a:t>h(n)</a:t>
            </a:r>
            <a:r>
              <a:rPr sz="2400" spc="-30"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admissible</a:t>
            </a:r>
            <a:endParaRPr sz="2400">
              <a:latin typeface="Calibri"/>
              <a:cs typeface="Calibri"/>
            </a:endParaRPr>
          </a:p>
          <a:p>
            <a:pPr lvl="1">
              <a:lnSpc>
                <a:spcPct val="100000"/>
              </a:lnSpc>
              <a:spcBef>
                <a:spcPts val="5"/>
              </a:spcBef>
              <a:buFont typeface="Arial MT"/>
              <a:buChar char="•"/>
            </a:pPr>
            <a:endParaRPr sz="3050">
              <a:latin typeface="Calibri"/>
              <a:cs typeface="Calibri"/>
            </a:endParaRPr>
          </a:p>
          <a:p>
            <a:pPr marL="279400" indent="-228600">
              <a:lnSpc>
                <a:spcPct val="100000"/>
              </a:lnSpc>
              <a:buFont typeface="Arial MT"/>
              <a:buChar char="•"/>
              <a:tabLst>
                <a:tab pos="279400" algn="l"/>
              </a:tabLst>
            </a:pPr>
            <a:r>
              <a:rPr sz="2800" spc="-5" dirty="0">
                <a:latin typeface="Calibri"/>
                <a:cs typeface="Calibri"/>
              </a:rPr>
              <a:t>Time</a:t>
            </a:r>
            <a:r>
              <a:rPr sz="2800" spc="-30" dirty="0">
                <a:latin typeface="Calibri"/>
                <a:cs typeface="Calibri"/>
              </a:rPr>
              <a:t> </a:t>
            </a:r>
            <a:r>
              <a:rPr sz="2800" spc="-15" dirty="0">
                <a:latin typeface="Calibri"/>
                <a:cs typeface="Calibri"/>
              </a:rPr>
              <a:t>Complexity</a:t>
            </a:r>
            <a:endParaRPr sz="2800">
              <a:latin typeface="Calibri"/>
              <a:cs typeface="Calibri"/>
            </a:endParaRPr>
          </a:p>
          <a:p>
            <a:pPr marL="736600" lvl="1" indent="-228600">
              <a:lnSpc>
                <a:spcPct val="100000"/>
              </a:lnSpc>
              <a:spcBef>
                <a:spcPts val="740"/>
              </a:spcBef>
              <a:buFont typeface="Arial MT"/>
              <a:buChar char="•"/>
              <a:tabLst>
                <a:tab pos="736600" algn="l"/>
              </a:tabLst>
            </a:pPr>
            <a:r>
              <a:rPr sz="2400" spc="-5" dirty="0">
                <a:latin typeface="Calibri"/>
                <a:cs typeface="Calibri"/>
              </a:rPr>
              <a:t>O(b</a:t>
            </a:r>
            <a:r>
              <a:rPr sz="2400" spc="-7" baseline="24305" dirty="0">
                <a:latin typeface="Calibri"/>
                <a:cs typeface="Calibri"/>
              </a:rPr>
              <a:t>d</a:t>
            </a:r>
            <a:r>
              <a:rPr sz="2400" spc="-5" dirty="0">
                <a:latin typeface="Calibri"/>
                <a:cs typeface="Calibri"/>
              </a:rPr>
              <a:t>)</a:t>
            </a:r>
            <a:r>
              <a:rPr sz="2400" spc="-35" dirty="0">
                <a:latin typeface="Calibri"/>
                <a:cs typeface="Calibri"/>
              </a:rPr>
              <a:t> </a:t>
            </a:r>
            <a:r>
              <a:rPr sz="2400" dirty="0">
                <a:latin typeface="Calibri"/>
                <a:cs typeface="Calibri"/>
              </a:rPr>
              <a:t>if</a:t>
            </a:r>
            <a:r>
              <a:rPr sz="2400" spc="-20" dirty="0">
                <a:latin typeface="Calibri"/>
                <a:cs typeface="Calibri"/>
              </a:rPr>
              <a:t> </a:t>
            </a:r>
            <a:r>
              <a:rPr sz="2400" spc="-5" dirty="0">
                <a:latin typeface="Calibri"/>
                <a:cs typeface="Calibri"/>
              </a:rPr>
              <a:t>h(n)</a:t>
            </a:r>
            <a:r>
              <a:rPr sz="2400" spc="-30"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admissible</a:t>
            </a:r>
            <a:endParaRPr sz="24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9135745" cy="697230"/>
          </a:xfrm>
          <a:prstGeom prst="rect">
            <a:avLst/>
          </a:prstGeom>
        </p:spPr>
        <p:txBody>
          <a:bodyPr vert="horz" wrap="square" lIns="0" tIns="13335" rIns="0" bIns="0" rtlCol="0">
            <a:spAutoFit/>
          </a:bodyPr>
          <a:lstStyle/>
          <a:p>
            <a:pPr marL="12700">
              <a:lnSpc>
                <a:spcPct val="100000"/>
              </a:lnSpc>
              <a:spcBef>
                <a:spcPts val="105"/>
              </a:spcBef>
            </a:pPr>
            <a:r>
              <a:rPr spc="-10" dirty="0"/>
              <a:t>Local</a:t>
            </a:r>
            <a:r>
              <a:rPr dirty="0"/>
              <a:t> </a:t>
            </a:r>
            <a:r>
              <a:rPr spc="-10" dirty="0"/>
              <a:t>Search</a:t>
            </a:r>
            <a:r>
              <a:rPr spc="-15" dirty="0"/>
              <a:t> </a:t>
            </a:r>
            <a:r>
              <a:rPr spc="-5" dirty="0"/>
              <a:t>Algorithm</a:t>
            </a:r>
            <a:r>
              <a:rPr spc="-10" dirty="0"/>
              <a:t> </a:t>
            </a:r>
            <a:r>
              <a:rPr dirty="0"/>
              <a:t>and</a:t>
            </a:r>
            <a:r>
              <a:rPr spc="-10" dirty="0"/>
              <a:t> </a:t>
            </a:r>
            <a:r>
              <a:rPr spc="-15" dirty="0"/>
              <a:t>Optimization</a:t>
            </a:r>
          </a:p>
        </p:txBody>
      </p:sp>
      <p:sp>
        <p:nvSpPr>
          <p:cNvPr id="3" name="object 3"/>
          <p:cNvSpPr txBox="1"/>
          <p:nvPr/>
        </p:nvSpPr>
        <p:spPr>
          <a:xfrm>
            <a:off x="916939" y="1756565"/>
            <a:ext cx="4912995" cy="1215390"/>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Optimization</a:t>
            </a:r>
            <a:endParaRPr sz="2800">
              <a:latin typeface="Calibri"/>
              <a:cs typeface="Calibri"/>
            </a:endParaRPr>
          </a:p>
          <a:p>
            <a:pPr marL="698500" marR="5080" lvl="1" indent="-228600">
              <a:lnSpc>
                <a:spcPts val="2590"/>
              </a:lnSpc>
              <a:spcBef>
                <a:spcPts val="575"/>
              </a:spcBef>
              <a:buFont typeface="Arial MT"/>
              <a:buChar char="•"/>
              <a:tabLst>
                <a:tab pos="699135" algn="l"/>
              </a:tabLst>
            </a:pPr>
            <a:r>
              <a:rPr sz="2400" dirty="0">
                <a:latin typeface="Calibri"/>
                <a:cs typeface="Calibri"/>
              </a:rPr>
              <a:t>Aim </a:t>
            </a:r>
            <a:r>
              <a:rPr sz="2400" spc="-15" dirty="0">
                <a:latin typeface="Calibri"/>
                <a:cs typeface="Calibri"/>
              </a:rPr>
              <a:t>to </a:t>
            </a:r>
            <a:r>
              <a:rPr sz="2400" spc="-5" dirty="0">
                <a:latin typeface="Calibri"/>
                <a:cs typeface="Calibri"/>
              </a:rPr>
              <a:t>find </a:t>
            </a:r>
            <a:r>
              <a:rPr sz="2400" dirty="0">
                <a:latin typeface="Calibri"/>
                <a:cs typeface="Calibri"/>
              </a:rPr>
              <a:t>the </a:t>
            </a:r>
            <a:r>
              <a:rPr sz="2400" spc="-10" dirty="0">
                <a:latin typeface="Calibri"/>
                <a:cs typeface="Calibri"/>
              </a:rPr>
              <a:t>best </a:t>
            </a:r>
            <a:r>
              <a:rPr sz="2400" spc="-25" dirty="0">
                <a:latin typeface="Calibri"/>
                <a:cs typeface="Calibri"/>
              </a:rPr>
              <a:t>state </a:t>
            </a:r>
            <a:r>
              <a:rPr sz="2400" spc="-20" dirty="0">
                <a:latin typeface="Calibri"/>
                <a:cs typeface="Calibri"/>
              </a:rPr>
              <a:t> </a:t>
            </a:r>
            <a:r>
              <a:rPr sz="2400" spc="-10" dirty="0">
                <a:latin typeface="Calibri"/>
                <a:cs typeface="Calibri"/>
              </a:rPr>
              <a:t>according</a:t>
            </a:r>
            <a:r>
              <a:rPr sz="2400" spc="-35" dirty="0">
                <a:latin typeface="Calibri"/>
                <a:cs typeface="Calibri"/>
              </a:rPr>
              <a:t> </a:t>
            </a:r>
            <a:r>
              <a:rPr sz="2400" spc="-15" dirty="0">
                <a:latin typeface="Calibri"/>
                <a:cs typeface="Calibri"/>
              </a:rPr>
              <a:t>to</a:t>
            </a:r>
            <a:r>
              <a:rPr sz="2400" spc="-20" dirty="0">
                <a:latin typeface="Calibri"/>
                <a:cs typeface="Calibri"/>
              </a:rPr>
              <a:t> </a:t>
            </a:r>
            <a:r>
              <a:rPr sz="2400" dirty="0">
                <a:latin typeface="Calibri"/>
                <a:cs typeface="Calibri"/>
              </a:rPr>
              <a:t>an</a:t>
            </a:r>
            <a:r>
              <a:rPr sz="2400" spc="-20" dirty="0">
                <a:latin typeface="Calibri"/>
                <a:cs typeface="Calibri"/>
              </a:rPr>
              <a:t> </a:t>
            </a:r>
            <a:r>
              <a:rPr sz="2400" spc="-10" dirty="0">
                <a:latin typeface="Calibri"/>
                <a:cs typeface="Calibri"/>
              </a:rPr>
              <a:t>objective</a:t>
            </a:r>
            <a:r>
              <a:rPr sz="2400" spc="-20" dirty="0">
                <a:latin typeface="Calibri"/>
                <a:cs typeface="Calibri"/>
              </a:rPr>
              <a:t> </a:t>
            </a:r>
            <a:r>
              <a:rPr sz="2400" spc="-5" dirty="0">
                <a:latin typeface="Calibri"/>
                <a:cs typeface="Calibri"/>
              </a:rPr>
              <a:t>function</a:t>
            </a:r>
            <a:endParaRPr sz="2400">
              <a:latin typeface="Calibri"/>
              <a:cs typeface="Calibri"/>
            </a:endParaRPr>
          </a:p>
        </p:txBody>
      </p:sp>
      <p:sp>
        <p:nvSpPr>
          <p:cNvPr id="4" name="object 4"/>
          <p:cNvSpPr txBox="1"/>
          <p:nvPr/>
        </p:nvSpPr>
        <p:spPr>
          <a:xfrm>
            <a:off x="6251828" y="1756565"/>
            <a:ext cx="4737735" cy="1873885"/>
          </a:xfrm>
          <a:prstGeom prst="rect">
            <a:avLst/>
          </a:prstGeom>
        </p:spPr>
        <p:txBody>
          <a:bodyPr vert="horz" wrap="square" lIns="0" tIns="48895" rIns="0" bIns="0" rtlCol="0">
            <a:spAutoFit/>
          </a:bodyPr>
          <a:lstStyle/>
          <a:p>
            <a:pPr marL="241300" indent="-228600">
              <a:lnSpc>
                <a:spcPct val="100000"/>
              </a:lnSpc>
              <a:spcBef>
                <a:spcPts val="385"/>
              </a:spcBef>
              <a:buFont typeface="Arial MT"/>
              <a:buChar char="•"/>
              <a:tabLst>
                <a:tab pos="241300" algn="l"/>
              </a:tabLst>
            </a:pPr>
            <a:r>
              <a:rPr sz="2800" spc="-10" dirty="0">
                <a:latin typeface="Calibri"/>
                <a:cs typeface="Calibri"/>
              </a:rPr>
              <a:t>Local</a:t>
            </a:r>
            <a:r>
              <a:rPr sz="2800" spc="-15" dirty="0">
                <a:latin typeface="Calibri"/>
                <a:cs typeface="Calibri"/>
              </a:rPr>
              <a:t> Search</a:t>
            </a:r>
            <a:r>
              <a:rPr sz="2800" spc="-10" dirty="0">
                <a:latin typeface="Calibri"/>
                <a:cs typeface="Calibri"/>
              </a:rPr>
              <a:t> Algorithm</a:t>
            </a:r>
            <a:endParaRPr sz="2800">
              <a:latin typeface="Calibri"/>
              <a:cs typeface="Calibri"/>
            </a:endParaRPr>
          </a:p>
          <a:p>
            <a:pPr marL="698500" marR="5080" lvl="1" indent="-228600">
              <a:lnSpc>
                <a:spcPts val="2590"/>
              </a:lnSpc>
              <a:spcBef>
                <a:spcPts val="575"/>
              </a:spcBef>
              <a:buFont typeface="Arial MT"/>
              <a:buChar char="•"/>
              <a:tabLst>
                <a:tab pos="698500" algn="l"/>
              </a:tabLst>
            </a:pPr>
            <a:r>
              <a:rPr sz="2400" dirty="0">
                <a:latin typeface="Calibri"/>
                <a:cs typeface="Calibri"/>
              </a:rPr>
              <a:t>It</a:t>
            </a:r>
            <a:r>
              <a:rPr sz="2400" spc="-35" dirty="0">
                <a:latin typeface="Calibri"/>
                <a:cs typeface="Calibri"/>
              </a:rPr>
              <a:t> </a:t>
            </a:r>
            <a:r>
              <a:rPr sz="2400" spc="-15" dirty="0">
                <a:latin typeface="Calibri"/>
                <a:cs typeface="Calibri"/>
              </a:rPr>
              <a:t>operates </a:t>
            </a:r>
            <a:r>
              <a:rPr sz="2400" spc="-5" dirty="0">
                <a:latin typeface="Calibri"/>
                <a:cs typeface="Calibri"/>
              </a:rPr>
              <a:t>using</a:t>
            </a:r>
            <a:r>
              <a:rPr sz="2400" spc="-20" dirty="0">
                <a:latin typeface="Calibri"/>
                <a:cs typeface="Calibri"/>
              </a:rPr>
              <a:t> </a:t>
            </a:r>
            <a:r>
              <a:rPr sz="2400" dirty="0">
                <a:latin typeface="Calibri"/>
                <a:cs typeface="Calibri"/>
              </a:rPr>
              <a:t>a</a:t>
            </a:r>
            <a:r>
              <a:rPr sz="2400" spc="-20" dirty="0">
                <a:latin typeface="Calibri"/>
                <a:cs typeface="Calibri"/>
              </a:rPr>
              <a:t> </a:t>
            </a:r>
            <a:r>
              <a:rPr sz="2400" spc="-5" dirty="0">
                <a:latin typeface="Calibri"/>
                <a:cs typeface="Calibri"/>
              </a:rPr>
              <a:t>single</a:t>
            </a:r>
            <a:r>
              <a:rPr sz="2400" spc="-30" dirty="0">
                <a:latin typeface="Calibri"/>
                <a:cs typeface="Calibri"/>
              </a:rPr>
              <a:t> </a:t>
            </a:r>
            <a:r>
              <a:rPr sz="2400" spc="-10" dirty="0">
                <a:latin typeface="Calibri"/>
                <a:cs typeface="Calibri"/>
              </a:rPr>
              <a:t>current </a:t>
            </a:r>
            <a:r>
              <a:rPr sz="2400" spc="-530" dirty="0">
                <a:latin typeface="Calibri"/>
                <a:cs typeface="Calibri"/>
              </a:rPr>
              <a:t> </a:t>
            </a:r>
            <a:r>
              <a:rPr sz="2400" spc="-25" dirty="0">
                <a:latin typeface="Calibri"/>
                <a:cs typeface="Calibri"/>
              </a:rPr>
              <a:t>state </a:t>
            </a:r>
            <a:r>
              <a:rPr sz="2400" spc="-15" dirty="0">
                <a:latin typeface="Calibri"/>
                <a:cs typeface="Calibri"/>
              </a:rPr>
              <a:t>rather </a:t>
            </a:r>
            <a:r>
              <a:rPr sz="2400" dirty="0">
                <a:latin typeface="Calibri"/>
                <a:cs typeface="Calibri"/>
              </a:rPr>
              <a:t>than multiple </a:t>
            </a:r>
            <a:r>
              <a:rPr sz="2400" spc="-10" dirty="0">
                <a:latin typeface="Calibri"/>
                <a:cs typeface="Calibri"/>
              </a:rPr>
              <a:t>path </a:t>
            </a:r>
            <a:r>
              <a:rPr sz="2400" spc="-5" dirty="0">
                <a:latin typeface="Calibri"/>
                <a:cs typeface="Calibri"/>
              </a:rPr>
              <a:t> </a:t>
            </a:r>
            <a:r>
              <a:rPr sz="2400" dirty="0">
                <a:latin typeface="Calibri"/>
                <a:cs typeface="Calibri"/>
              </a:rPr>
              <a:t>and </a:t>
            </a:r>
            <a:r>
              <a:rPr sz="2400" spc="-10" dirty="0">
                <a:latin typeface="Calibri"/>
                <a:cs typeface="Calibri"/>
              </a:rPr>
              <a:t>generally </a:t>
            </a:r>
            <a:r>
              <a:rPr sz="2400" spc="-15" dirty="0">
                <a:latin typeface="Calibri"/>
                <a:cs typeface="Calibri"/>
              </a:rPr>
              <a:t>move </a:t>
            </a:r>
            <a:r>
              <a:rPr sz="2400" spc="-5" dirty="0">
                <a:latin typeface="Calibri"/>
                <a:cs typeface="Calibri"/>
              </a:rPr>
              <a:t>only </a:t>
            </a:r>
            <a:r>
              <a:rPr sz="2400" spc="-15" dirty="0">
                <a:latin typeface="Calibri"/>
                <a:cs typeface="Calibri"/>
              </a:rPr>
              <a:t>to </a:t>
            </a:r>
            <a:r>
              <a:rPr sz="2400" spc="-10" dirty="0">
                <a:latin typeface="Calibri"/>
                <a:cs typeface="Calibri"/>
              </a:rPr>
              <a:t> </a:t>
            </a:r>
            <a:r>
              <a:rPr sz="2400" spc="-5" dirty="0">
                <a:latin typeface="Calibri"/>
                <a:cs typeface="Calibri"/>
              </a:rPr>
              <a:t>neighbour</a:t>
            </a:r>
            <a:r>
              <a:rPr sz="2400" spc="-10" dirty="0">
                <a:latin typeface="Calibri"/>
                <a:cs typeface="Calibri"/>
              </a:rPr>
              <a:t> of</a:t>
            </a:r>
            <a:r>
              <a:rPr sz="2400" spc="-5" dirty="0">
                <a:latin typeface="Calibri"/>
                <a:cs typeface="Calibri"/>
              </a:rPr>
              <a:t> </a:t>
            </a:r>
            <a:r>
              <a:rPr sz="2400" spc="-10" dirty="0">
                <a:latin typeface="Calibri"/>
                <a:cs typeface="Calibri"/>
              </a:rPr>
              <a:t>that</a:t>
            </a:r>
            <a:r>
              <a:rPr sz="2400" spc="-25" dirty="0">
                <a:latin typeface="Calibri"/>
                <a:cs typeface="Calibri"/>
              </a:rPr>
              <a:t> </a:t>
            </a:r>
            <a:r>
              <a:rPr sz="2400" spc="-20" dirty="0">
                <a:latin typeface="Calibri"/>
                <a:cs typeface="Calibri"/>
              </a:rPr>
              <a:t>state</a:t>
            </a:r>
            <a:endParaRPr sz="2400">
              <a:latin typeface="Calibri"/>
              <a:cs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1815-508F-4596-B196-5C30CE7B5D53}"/>
              </a:ext>
            </a:extLst>
          </p:cNvPr>
          <p:cNvSpPr>
            <a:spLocks noGrp="1"/>
          </p:cNvSpPr>
          <p:nvPr>
            <p:ph type="title"/>
          </p:nvPr>
        </p:nvSpPr>
        <p:spPr>
          <a:xfrm>
            <a:off x="838200" y="365125"/>
            <a:ext cx="3011311" cy="707319"/>
          </a:xfrm>
        </p:spPr>
        <p:txBody>
          <a:bodyPr/>
          <a:lstStyle/>
          <a:p>
            <a:r>
              <a:rPr lang="en-US" b="1" dirty="0"/>
              <a:t>Hill Climbing</a:t>
            </a:r>
          </a:p>
        </p:txBody>
      </p:sp>
      <p:sp>
        <p:nvSpPr>
          <p:cNvPr id="3" name="Content Placeholder 2">
            <a:extLst>
              <a:ext uri="{FF2B5EF4-FFF2-40B4-BE49-F238E27FC236}">
                <a16:creationId xmlns:a16="http://schemas.microsoft.com/office/drawing/2014/main" id="{E601B387-BF61-4CF0-AD37-EA159FA2F690}"/>
              </a:ext>
            </a:extLst>
          </p:cNvPr>
          <p:cNvSpPr>
            <a:spLocks noGrp="1"/>
          </p:cNvSpPr>
          <p:nvPr>
            <p:ph idx="1"/>
          </p:nvPr>
        </p:nvSpPr>
        <p:spPr>
          <a:xfrm>
            <a:off x="838200" y="1433688"/>
            <a:ext cx="10515600" cy="5226755"/>
          </a:xfrm>
        </p:spPr>
        <p:txBody>
          <a:bodyPr>
            <a:normAutofit fontScale="92500" lnSpcReduction="10000"/>
          </a:bodyPr>
          <a:lstStyle/>
          <a:p>
            <a:r>
              <a:rPr lang="en-US" dirty="0"/>
              <a:t>Hill climbing algorithm is a </a:t>
            </a:r>
            <a:r>
              <a:rPr lang="en-US" b="1" dirty="0"/>
              <a:t>local search algorithm </a:t>
            </a:r>
            <a:r>
              <a:rPr lang="en-US" dirty="0"/>
              <a:t>which continuously moves in the direction of increasing elevation/value to find the peak of the mountain or best solution to the problem. </a:t>
            </a:r>
          </a:p>
          <a:p>
            <a:r>
              <a:rPr lang="en-US" dirty="0"/>
              <a:t>No Back Tracking</a:t>
            </a:r>
          </a:p>
          <a:p>
            <a:endParaRPr lang="en-US" dirty="0"/>
          </a:p>
          <a:p>
            <a:r>
              <a:rPr lang="en-US" dirty="0"/>
              <a:t>It terminates when it reaches a peak value where no neighbor has a higher value.</a:t>
            </a:r>
          </a:p>
          <a:p>
            <a:endParaRPr lang="en-US" dirty="0"/>
          </a:p>
          <a:p>
            <a:r>
              <a:rPr lang="en-US" dirty="0"/>
              <a:t>It is also called </a:t>
            </a:r>
            <a:r>
              <a:rPr lang="en-US" b="1" dirty="0"/>
              <a:t>greedy local </a:t>
            </a:r>
            <a:r>
              <a:rPr lang="en-US" dirty="0"/>
              <a:t>search as it only looks to its good immediate neighbor state and not beyond that.</a:t>
            </a:r>
          </a:p>
          <a:p>
            <a:r>
              <a:rPr lang="en-US" dirty="0"/>
              <a:t>A node of hill climbing algorithm has two components which are state and value.</a:t>
            </a:r>
          </a:p>
          <a:p>
            <a:r>
              <a:rPr lang="en-US" dirty="0"/>
              <a:t>Hill Climbing is mostly used when a good heuristic is available.</a:t>
            </a:r>
          </a:p>
        </p:txBody>
      </p:sp>
    </p:spTree>
    <p:extLst>
      <p:ext uri="{BB962C8B-B14F-4D97-AF65-F5344CB8AC3E}">
        <p14:creationId xmlns:p14="http://schemas.microsoft.com/office/powerpoint/2010/main" val="1590680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B57E98-1AB2-46BE-9D53-144EBC1BCF6F}"/>
              </a:ext>
            </a:extLst>
          </p:cNvPr>
          <p:cNvSpPr>
            <a:spLocks noGrp="1"/>
          </p:cNvSpPr>
          <p:nvPr>
            <p:ph idx="1"/>
          </p:nvPr>
        </p:nvSpPr>
        <p:spPr>
          <a:xfrm>
            <a:off x="838200" y="959556"/>
            <a:ext cx="10515600" cy="5217407"/>
          </a:xfrm>
        </p:spPr>
        <p:txBody>
          <a:bodyPr/>
          <a:lstStyle/>
          <a:p>
            <a:r>
              <a:rPr lang="en-US" dirty="0"/>
              <a:t>In this algorithm, we don't need to maintain and handle the search tree or graph as it only keeps a single current state.</a:t>
            </a:r>
          </a:p>
          <a:p>
            <a:endParaRPr lang="en-US" dirty="0"/>
          </a:p>
          <a:p>
            <a:pPr marL="0" indent="0">
              <a:buNone/>
            </a:pPr>
            <a:r>
              <a:rPr lang="en-US" dirty="0"/>
              <a:t>Following are some main features of Hill Climbing Algorithm:</a:t>
            </a:r>
          </a:p>
          <a:p>
            <a:pPr>
              <a:buFont typeface="Arial" panose="020B0604020202020204" pitchFamily="34" charset="0"/>
              <a:buChar char="•"/>
            </a:pPr>
            <a:r>
              <a:rPr lang="en-US" b="1" dirty="0"/>
              <a:t>Generate and Test variant:</a:t>
            </a:r>
            <a:r>
              <a:rPr lang="en-US" dirty="0"/>
              <a:t> Hill Climbing is the variant of Generate and Test method. The Generate and Test method produce feedback which helps to decide which direction to move in the search space.</a:t>
            </a:r>
          </a:p>
          <a:p>
            <a:pPr>
              <a:buFont typeface="Arial" panose="020B0604020202020204" pitchFamily="34" charset="0"/>
              <a:buChar char="•"/>
            </a:pPr>
            <a:r>
              <a:rPr lang="en-US" b="1" dirty="0"/>
              <a:t>Greedy approach:</a:t>
            </a:r>
            <a:r>
              <a:rPr lang="en-US" dirty="0"/>
              <a:t> Hill-climbing algorithm search moves in the direction which optimizes the cost.</a:t>
            </a:r>
          </a:p>
          <a:p>
            <a:pPr>
              <a:buFont typeface="Arial" panose="020B0604020202020204" pitchFamily="34" charset="0"/>
              <a:buChar char="•"/>
            </a:pPr>
            <a:r>
              <a:rPr lang="en-US" b="1" dirty="0"/>
              <a:t>No backtracking:</a:t>
            </a:r>
            <a:r>
              <a:rPr lang="en-US" dirty="0"/>
              <a:t> It does not backtrack the search space, as it does not remember the previous states.</a:t>
            </a:r>
          </a:p>
          <a:p>
            <a:endParaRPr lang="en-US" dirty="0"/>
          </a:p>
        </p:txBody>
      </p:sp>
    </p:spTree>
    <p:extLst>
      <p:ext uri="{BB962C8B-B14F-4D97-AF65-F5344CB8AC3E}">
        <p14:creationId xmlns:p14="http://schemas.microsoft.com/office/powerpoint/2010/main" val="2901902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2ABA65-6B62-4FCF-AD5C-4B6926E47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5956" y="1061156"/>
            <a:ext cx="8963377" cy="4854222"/>
          </a:xfrm>
          <a:prstGeom prst="rect">
            <a:avLst/>
          </a:prstGeom>
        </p:spPr>
      </p:pic>
    </p:spTree>
    <p:extLst>
      <p:ext uri="{BB962C8B-B14F-4D97-AF65-F5344CB8AC3E}">
        <p14:creationId xmlns:p14="http://schemas.microsoft.com/office/powerpoint/2010/main" val="38313803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E4D7D8-8354-4E2B-9524-D35E79D11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444" y="1590323"/>
            <a:ext cx="9584267" cy="4648200"/>
          </a:xfrm>
          <a:prstGeom prst="rect">
            <a:avLst/>
          </a:prstGeom>
        </p:spPr>
      </p:pic>
    </p:spTree>
    <p:extLst>
      <p:ext uri="{BB962C8B-B14F-4D97-AF65-F5344CB8AC3E}">
        <p14:creationId xmlns:p14="http://schemas.microsoft.com/office/powerpoint/2010/main" val="13714856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52C-F2AC-41E5-923E-10EC6F06B98D}"/>
              </a:ext>
            </a:extLst>
          </p:cNvPr>
          <p:cNvSpPr>
            <a:spLocks noGrp="1"/>
          </p:cNvSpPr>
          <p:nvPr>
            <p:ph type="title"/>
          </p:nvPr>
        </p:nvSpPr>
        <p:spPr>
          <a:xfrm>
            <a:off x="838200" y="1"/>
            <a:ext cx="10515600" cy="666043"/>
          </a:xfrm>
        </p:spPr>
        <p:txBody>
          <a:bodyPr>
            <a:normAutofit fontScale="90000"/>
          </a:bodyPr>
          <a:lstStyle/>
          <a:p>
            <a:r>
              <a:rPr lang="en-US" b="1" dirty="0"/>
              <a:t>Problems in Hill Climbing</a:t>
            </a:r>
          </a:p>
        </p:txBody>
      </p:sp>
      <p:sp>
        <p:nvSpPr>
          <p:cNvPr id="3" name="Content Placeholder 2">
            <a:extLst>
              <a:ext uri="{FF2B5EF4-FFF2-40B4-BE49-F238E27FC236}">
                <a16:creationId xmlns:a16="http://schemas.microsoft.com/office/drawing/2014/main" id="{B9BCE7C7-1069-4116-BD37-FBF317691705}"/>
              </a:ext>
            </a:extLst>
          </p:cNvPr>
          <p:cNvSpPr>
            <a:spLocks noGrp="1"/>
          </p:cNvSpPr>
          <p:nvPr>
            <p:ph idx="1"/>
          </p:nvPr>
        </p:nvSpPr>
        <p:spPr>
          <a:xfrm>
            <a:off x="838200" y="564444"/>
            <a:ext cx="10515600" cy="5499631"/>
          </a:xfrm>
        </p:spPr>
        <p:txBody>
          <a:bodyPr/>
          <a:lstStyle/>
          <a:p>
            <a:pPr marL="0" indent="0">
              <a:buNone/>
            </a:pPr>
            <a:r>
              <a:rPr lang="en-US" b="1" dirty="0"/>
              <a:t>1. Local Maximum:</a:t>
            </a:r>
            <a:r>
              <a:rPr lang="en-US" dirty="0"/>
              <a:t> A local maximum is a peak state in the landscape which is better than each of its neighboring states, but there is another state also present which is higher than the local maximum. </a:t>
            </a:r>
          </a:p>
          <a:p>
            <a:endParaRPr lang="en-US" dirty="0"/>
          </a:p>
          <a:p>
            <a:endParaRPr lang="en-US" dirty="0"/>
          </a:p>
          <a:p>
            <a:pPr marL="0" indent="0">
              <a:buNone/>
            </a:pPr>
            <a:r>
              <a:rPr lang="en-US" b="1" dirty="0"/>
              <a:t>Solution:</a:t>
            </a:r>
            <a:r>
              <a:rPr lang="en-US" dirty="0"/>
              <a:t> Backtracking technique can be a solution of the local maximum in state space landscape. </a:t>
            </a:r>
          </a:p>
          <a:p>
            <a:r>
              <a:rPr lang="en-US" dirty="0"/>
              <a:t>Create a list of the promising path so that the algorithm can backtrack the search space and explore other paths as well. </a:t>
            </a:r>
          </a:p>
          <a:p>
            <a:pPr marL="0" indent="0">
              <a:buNone/>
            </a:pPr>
            <a:endParaRPr lang="en-US" dirty="0"/>
          </a:p>
        </p:txBody>
      </p:sp>
      <p:pic>
        <p:nvPicPr>
          <p:cNvPr id="5" name="Picture 4">
            <a:extLst>
              <a:ext uri="{FF2B5EF4-FFF2-40B4-BE49-F238E27FC236}">
                <a16:creationId xmlns:a16="http://schemas.microsoft.com/office/drawing/2014/main" id="{6CD152E2-0D3A-4804-BE11-C0F5BDB6F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2996" y="4828892"/>
            <a:ext cx="5096586" cy="2029108"/>
          </a:xfrm>
          <a:prstGeom prst="rect">
            <a:avLst/>
          </a:prstGeom>
        </p:spPr>
      </p:pic>
    </p:spTree>
    <p:extLst>
      <p:ext uri="{BB962C8B-B14F-4D97-AF65-F5344CB8AC3E}">
        <p14:creationId xmlns:p14="http://schemas.microsoft.com/office/powerpoint/2010/main" val="7110857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171D8C-B50A-4D5A-9205-26E7BE6C2A88}"/>
              </a:ext>
            </a:extLst>
          </p:cNvPr>
          <p:cNvSpPr>
            <a:spLocks noGrp="1"/>
          </p:cNvSpPr>
          <p:nvPr>
            <p:ph idx="1"/>
          </p:nvPr>
        </p:nvSpPr>
        <p:spPr>
          <a:xfrm>
            <a:off x="838200" y="280688"/>
            <a:ext cx="10515600" cy="5896275"/>
          </a:xfrm>
        </p:spPr>
        <p:txBody>
          <a:bodyPr/>
          <a:lstStyle/>
          <a:p>
            <a:pPr marL="0" indent="0">
              <a:buNone/>
            </a:pPr>
            <a:r>
              <a:rPr lang="en-US" b="1" dirty="0"/>
              <a:t>2. Plateau:</a:t>
            </a:r>
            <a:r>
              <a:rPr lang="en-US" dirty="0"/>
              <a:t> A plateau is the flat area of the search space in which all the neighbor states of the current state contains the same value, because of this algorithm does not find any best direction to move. A hill-climbing search might be lost in the plateau area. </a:t>
            </a:r>
          </a:p>
          <a:p>
            <a:pPr marL="0" indent="0">
              <a:buNone/>
            </a:pPr>
            <a:endParaRPr lang="en-US" dirty="0"/>
          </a:p>
          <a:p>
            <a:pPr marL="0" indent="0">
              <a:buNone/>
            </a:pPr>
            <a:r>
              <a:rPr lang="en-US" b="1" dirty="0"/>
              <a:t>Solution:</a:t>
            </a:r>
            <a:r>
              <a:rPr lang="en-US" dirty="0"/>
              <a:t> The solution for the plateau is to take big steps or very little steps while searching, to solve the problem. Randomly select a state which is far away from the current state so it is possible that the algorithm could find non-plateau region.</a:t>
            </a:r>
          </a:p>
          <a:p>
            <a:endParaRPr lang="en-US" dirty="0"/>
          </a:p>
        </p:txBody>
      </p:sp>
      <p:pic>
        <p:nvPicPr>
          <p:cNvPr id="5" name="Picture 4">
            <a:extLst>
              <a:ext uri="{FF2B5EF4-FFF2-40B4-BE49-F238E27FC236}">
                <a16:creationId xmlns:a16="http://schemas.microsoft.com/office/drawing/2014/main" id="{1AE026BA-6E44-46C6-B03C-CFF3CA27E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0174" y="4382060"/>
            <a:ext cx="5539470" cy="2300962"/>
          </a:xfrm>
          <a:prstGeom prst="rect">
            <a:avLst/>
          </a:prstGeom>
        </p:spPr>
      </p:pic>
    </p:spTree>
    <p:extLst>
      <p:ext uri="{BB962C8B-B14F-4D97-AF65-F5344CB8AC3E}">
        <p14:creationId xmlns:p14="http://schemas.microsoft.com/office/powerpoint/2010/main" val="13337990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001B5-35F5-4C20-8325-C3B35B0398C2}"/>
              </a:ext>
            </a:extLst>
          </p:cNvPr>
          <p:cNvSpPr>
            <a:spLocks noGrp="1"/>
          </p:cNvSpPr>
          <p:nvPr>
            <p:ph idx="1"/>
          </p:nvPr>
        </p:nvSpPr>
        <p:spPr>
          <a:xfrm>
            <a:off x="838200" y="270933"/>
            <a:ext cx="10515600" cy="5906030"/>
          </a:xfrm>
        </p:spPr>
        <p:txBody>
          <a:bodyPr/>
          <a:lstStyle/>
          <a:p>
            <a:pPr marL="0" indent="0">
              <a:buNone/>
            </a:pPr>
            <a:r>
              <a:rPr lang="en-US" b="1" dirty="0"/>
              <a:t>3. Ridges:</a:t>
            </a:r>
            <a:r>
              <a:rPr lang="en-US" dirty="0"/>
              <a:t> A ridge is a special form of the local maximum. It has an area which is higher than its surrounding areas, but itself has a slope, and cannot be reached in a single move. </a:t>
            </a:r>
          </a:p>
          <a:p>
            <a:pPr marL="0" indent="0">
              <a:buNone/>
            </a:pPr>
            <a:endParaRPr lang="en-US" dirty="0"/>
          </a:p>
          <a:p>
            <a:pPr marL="0" indent="0">
              <a:buNone/>
            </a:pPr>
            <a:r>
              <a:rPr lang="en-US" b="1" dirty="0"/>
              <a:t>Solution:</a:t>
            </a:r>
            <a:r>
              <a:rPr lang="en-US" dirty="0"/>
              <a:t> With the use of bidirectional search, or by moving in different directions, we can improve this problem.</a:t>
            </a:r>
          </a:p>
          <a:p>
            <a:endParaRPr lang="en-US" dirty="0"/>
          </a:p>
        </p:txBody>
      </p:sp>
      <p:pic>
        <p:nvPicPr>
          <p:cNvPr id="8" name="Picture 7">
            <a:extLst>
              <a:ext uri="{FF2B5EF4-FFF2-40B4-BE49-F238E27FC236}">
                <a16:creationId xmlns:a16="http://schemas.microsoft.com/office/drawing/2014/main" id="{D57932D7-21E3-489A-A76F-EE16660A8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9322" y="3735581"/>
            <a:ext cx="5453167" cy="2851486"/>
          </a:xfrm>
          <a:prstGeom prst="rect">
            <a:avLst/>
          </a:prstGeom>
        </p:spPr>
      </p:pic>
    </p:spTree>
    <p:extLst>
      <p:ext uri="{BB962C8B-B14F-4D97-AF65-F5344CB8AC3E}">
        <p14:creationId xmlns:p14="http://schemas.microsoft.com/office/powerpoint/2010/main" val="22759618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E156F4-AE76-4EC2-98E1-86734C1F7085}"/>
              </a:ext>
            </a:extLst>
          </p:cNvPr>
          <p:cNvSpPr>
            <a:spLocks noGrp="1"/>
          </p:cNvSpPr>
          <p:nvPr>
            <p:ph idx="1"/>
          </p:nvPr>
        </p:nvSpPr>
        <p:spPr>
          <a:xfrm>
            <a:off x="838200" y="485422"/>
            <a:ext cx="10515600" cy="5691541"/>
          </a:xfrm>
        </p:spPr>
        <p:txBody>
          <a:bodyPr/>
          <a:lstStyle/>
          <a:p>
            <a:pPr marL="0" indent="0">
              <a:buNone/>
            </a:pPr>
            <a:r>
              <a:rPr lang="en-US" b="1" dirty="0"/>
              <a:t>Simulated Annealing: </a:t>
            </a:r>
          </a:p>
          <a:p>
            <a:pPr marL="0" indent="0">
              <a:buNone/>
            </a:pPr>
            <a:endParaRPr lang="en-US" b="1" dirty="0"/>
          </a:p>
          <a:p>
            <a:r>
              <a:rPr lang="en-US" sz="2400" dirty="0"/>
              <a:t>A hill-climbing algorithm which never makes a move towards a lower value guaranteed to be incomplete because it can get stuck on a local maximum.</a:t>
            </a:r>
          </a:p>
          <a:p>
            <a:endParaRPr lang="en-US" sz="2400" dirty="0"/>
          </a:p>
          <a:p>
            <a:r>
              <a:rPr lang="en-US" sz="2400" dirty="0"/>
              <a:t> And if algorithm applies a random walk, by moving a successor, then it may complete but not efficient. </a:t>
            </a:r>
          </a:p>
          <a:p>
            <a:endParaRPr lang="en-US" sz="2400" b="1" dirty="0"/>
          </a:p>
          <a:p>
            <a:r>
              <a:rPr lang="en-US" sz="2400" b="1" dirty="0"/>
              <a:t>Simulated Annealing</a:t>
            </a:r>
            <a:r>
              <a:rPr lang="en-US" sz="2400" dirty="0"/>
              <a:t> is an algorithm which yields both efficiency and completeness.</a:t>
            </a:r>
          </a:p>
          <a:p>
            <a:endParaRPr lang="en-US" dirty="0"/>
          </a:p>
        </p:txBody>
      </p:sp>
    </p:spTree>
    <p:extLst>
      <p:ext uri="{BB962C8B-B14F-4D97-AF65-F5344CB8AC3E}">
        <p14:creationId xmlns:p14="http://schemas.microsoft.com/office/powerpoint/2010/main" val="13881189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713E-1D55-4FDC-B9A1-DE636A39AF4F}"/>
              </a:ext>
            </a:extLst>
          </p:cNvPr>
          <p:cNvSpPr>
            <a:spLocks noGrp="1"/>
          </p:cNvSpPr>
          <p:nvPr>
            <p:ph type="title"/>
          </p:nvPr>
        </p:nvSpPr>
        <p:spPr>
          <a:xfrm>
            <a:off x="838200" y="365125"/>
            <a:ext cx="10515600" cy="628297"/>
          </a:xfrm>
        </p:spPr>
        <p:txBody>
          <a:bodyPr>
            <a:normAutofit fontScale="90000"/>
          </a:bodyPr>
          <a:lstStyle/>
          <a:p>
            <a:r>
              <a:rPr lang="en-US" dirty="0" err="1"/>
              <a:t>MiniMax</a:t>
            </a:r>
            <a:r>
              <a:rPr lang="en-US" dirty="0"/>
              <a:t> Algorithm</a:t>
            </a:r>
          </a:p>
        </p:txBody>
      </p:sp>
      <p:sp>
        <p:nvSpPr>
          <p:cNvPr id="3" name="Content Placeholder 2">
            <a:extLst>
              <a:ext uri="{FF2B5EF4-FFF2-40B4-BE49-F238E27FC236}">
                <a16:creationId xmlns:a16="http://schemas.microsoft.com/office/drawing/2014/main" id="{3E127C5A-79CD-4607-95D0-42AF985B59E0}"/>
              </a:ext>
            </a:extLst>
          </p:cNvPr>
          <p:cNvSpPr>
            <a:spLocks noGrp="1"/>
          </p:cNvSpPr>
          <p:nvPr>
            <p:ph idx="1"/>
          </p:nvPr>
        </p:nvSpPr>
        <p:spPr>
          <a:xfrm>
            <a:off x="838200" y="1557867"/>
            <a:ext cx="10515600" cy="4619096"/>
          </a:xfrm>
        </p:spPr>
        <p:txBody>
          <a:bodyPr>
            <a:normAutofit fontScale="70000" lnSpcReduction="20000"/>
          </a:bodyPr>
          <a:lstStyle/>
          <a:p>
            <a:pPr algn="just"/>
            <a:r>
              <a:rPr lang="en-US" dirty="0"/>
              <a:t>Mini-max algorithm is a recursive or backtracking algorithm which is used in decision-making and game theory. </a:t>
            </a:r>
          </a:p>
          <a:p>
            <a:pPr algn="just"/>
            <a:endParaRPr lang="en-US" dirty="0"/>
          </a:p>
          <a:p>
            <a:pPr algn="just"/>
            <a:r>
              <a:rPr lang="en-US" dirty="0"/>
              <a:t>It provides an optimal move for the player assuming that opponent is also playing optimally.</a:t>
            </a:r>
          </a:p>
          <a:p>
            <a:pPr marL="0" indent="0" algn="just">
              <a:buNone/>
            </a:pPr>
            <a:r>
              <a:rPr lang="en-US" dirty="0"/>
              <a:t> </a:t>
            </a:r>
          </a:p>
          <a:p>
            <a:pPr algn="just"/>
            <a:r>
              <a:rPr lang="en-US" dirty="0"/>
              <a:t>Mini-Max algorithm uses recursion to search through the game-tree. </a:t>
            </a:r>
          </a:p>
          <a:p>
            <a:pPr algn="just"/>
            <a:endParaRPr lang="en-US" dirty="0"/>
          </a:p>
          <a:p>
            <a:pPr algn="just"/>
            <a:r>
              <a:rPr lang="en-US" dirty="0"/>
              <a:t>Max will try to </a:t>
            </a:r>
            <a:r>
              <a:rPr lang="en-US" b="1" dirty="0"/>
              <a:t>maximize its utility(best move) </a:t>
            </a:r>
            <a:r>
              <a:rPr lang="en-US" dirty="0"/>
              <a:t>and min will try to </a:t>
            </a:r>
            <a:r>
              <a:rPr lang="en-US" b="1" dirty="0"/>
              <a:t>minimize its utility(worst move)</a:t>
            </a:r>
            <a:r>
              <a:rPr lang="en-US" dirty="0"/>
              <a:t>.</a:t>
            </a:r>
          </a:p>
          <a:p>
            <a:pPr marL="0" indent="0" algn="just">
              <a:buNone/>
            </a:pPr>
            <a:endParaRPr lang="en-US" dirty="0"/>
          </a:p>
          <a:p>
            <a:pPr algn="just"/>
            <a:r>
              <a:rPr lang="en-US" dirty="0"/>
              <a:t>Min-Max algorithm is mostly used for game playing in AI. Such as Chess, Checkers, tic-tac-toe, go, and various tow-players game. This Algorithm computes the minimax decision for the current state. </a:t>
            </a:r>
          </a:p>
          <a:p>
            <a:pPr marL="0" indent="0" algn="just">
              <a:buNone/>
            </a:pPr>
            <a:endParaRPr lang="en-US" dirty="0"/>
          </a:p>
          <a:p>
            <a:pPr algn="just"/>
            <a:r>
              <a:rPr lang="en-US" dirty="0"/>
              <a:t>In this algorithm two players play the game, one is called MAX and other is called MIN. </a:t>
            </a:r>
          </a:p>
          <a:p>
            <a:pPr algn="just"/>
            <a:endParaRPr lang="en-US" dirty="0"/>
          </a:p>
        </p:txBody>
      </p:sp>
    </p:spTree>
    <p:extLst>
      <p:ext uri="{BB962C8B-B14F-4D97-AF65-F5344CB8AC3E}">
        <p14:creationId xmlns:p14="http://schemas.microsoft.com/office/powerpoint/2010/main" val="32790283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5F4112-3D7B-421B-AAB1-B846FC139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156" y="812800"/>
            <a:ext cx="7744178" cy="5429956"/>
          </a:xfrm>
          <a:prstGeom prst="rect">
            <a:avLst/>
          </a:prstGeom>
        </p:spPr>
      </p:pic>
    </p:spTree>
    <p:extLst>
      <p:ext uri="{BB962C8B-B14F-4D97-AF65-F5344CB8AC3E}">
        <p14:creationId xmlns:p14="http://schemas.microsoft.com/office/powerpoint/2010/main" val="18612660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03CF-61F3-49DA-842C-CAE656265C81}"/>
              </a:ext>
            </a:extLst>
          </p:cNvPr>
          <p:cNvSpPr>
            <a:spLocks noGrp="1"/>
          </p:cNvSpPr>
          <p:nvPr>
            <p:ph type="title"/>
          </p:nvPr>
        </p:nvSpPr>
        <p:spPr>
          <a:xfrm>
            <a:off x="838200" y="365125"/>
            <a:ext cx="10515600" cy="605719"/>
          </a:xfrm>
        </p:spPr>
        <p:txBody>
          <a:bodyPr>
            <a:normAutofit fontScale="90000"/>
          </a:bodyPr>
          <a:lstStyle/>
          <a:p>
            <a:r>
              <a:rPr lang="en-US" dirty="0"/>
              <a:t>Alpha Beta Pruning</a:t>
            </a:r>
          </a:p>
        </p:txBody>
      </p:sp>
      <p:sp>
        <p:nvSpPr>
          <p:cNvPr id="3" name="Content Placeholder 2">
            <a:extLst>
              <a:ext uri="{FF2B5EF4-FFF2-40B4-BE49-F238E27FC236}">
                <a16:creationId xmlns:a16="http://schemas.microsoft.com/office/drawing/2014/main" id="{F0A8D009-6714-4811-8746-9EE8D91E91E5}"/>
              </a:ext>
            </a:extLst>
          </p:cNvPr>
          <p:cNvSpPr>
            <a:spLocks noGrp="1"/>
          </p:cNvSpPr>
          <p:nvPr>
            <p:ph idx="1"/>
          </p:nvPr>
        </p:nvSpPr>
        <p:spPr/>
        <p:txBody>
          <a:bodyPr/>
          <a:lstStyle/>
          <a:p>
            <a:r>
              <a:rPr lang="en-US" dirty="0"/>
              <a:t>Alpha-beta pruning is a modified version of the minimax algorithm. </a:t>
            </a:r>
          </a:p>
          <a:p>
            <a:r>
              <a:rPr lang="en-US" dirty="0"/>
              <a:t>It is an optimization technique for the minimax algorithm. </a:t>
            </a:r>
          </a:p>
          <a:p>
            <a:endParaRPr lang="en-US" dirty="0"/>
          </a:p>
          <a:p>
            <a:pPr marL="0" indent="0">
              <a:buNone/>
            </a:pPr>
            <a:r>
              <a:rPr lang="en-US" dirty="0"/>
              <a:t>The two-parameter can be defined as: </a:t>
            </a:r>
          </a:p>
          <a:p>
            <a:pPr marL="514350" indent="-514350">
              <a:buAutoNum type="arabicPeriod"/>
            </a:pPr>
            <a:r>
              <a:rPr lang="en-US" b="1" dirty="0"/>
              <a:t>Alpha:</a:t>
            </a:r>
            <a:r>
              <a:rPr lang="en-US" dirty="0"/>
              <a:t> The best (highest-value) choice we have found so far at any point along the path of Maximizer. The initial value of alpha is </a:t>
            </a:r>
            <a:r>
              <a:rPr lang="en-US" b="1" dirty="0"/>
              <a:t>-∞</a:t>
            </a:r>
            <a:r>
              <a:rPr lang="en-US" dirty="0"/>
              <a:t>. </a:t>
            </a:r>
          </a:p>
          <a:p>
            <a:pPr marL="0" indent="0">
              <a:buNone/>
            </a:pPr>
            <a:endParaRPr lang="en-US" dirty="0"/>
          </a:p>
          <a:p>
            <a:pPr marL="0" indent="0">
              <a:buNone/>
            </a:pPr>
            <a:r>
              <a:rPr lang="en-US" b="1" dirty="0"/>
              <a:t>2. Beta:</a:t>
            </a:r>
            <a:r>
              <a:rPr lang="en-US" dirty="0"/>
              <a:t> The best (lowest-value) choice we have found so far at any point along the path of Minimizer. The initial value of beta is </a:t>
            </a:r>
            <a:r>
              <a:rPr lang="en-US" b="1" dirty="0"/>
              <a:t>+∞</a:t>
            </a:r>
            <a:r>
              <a:rPr lang="en-US" dirty="0"/>
              <a:t>.</a:t>
            </a:r>
          </a:p>
          <a:p>
            <a:endParaRPr lang="en-US" dirty="0"/>
          </a:p>
        </p:txBody>
      </p:sp>
    </p:spTree>
    <p:extLst>
      <p:ext uri="{BB962C8B-B14F-4D97-AF65-F5344CB8AC3E}">
        <p14:creationId xmlns:p14="http://schemas.microsoft.com/office/powerpoint/2010/main" val="4156251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2CF71-AF74-46A7-AD56-4E98E9932694}"/>
              </a:ext>
            </a:extLst>
          </p:cNvPr>
          <p:cNvSpPr>
            <a:spLocks noGrp="1"/>
          </p:cNvSpPr>
          <p:nvPr>
            <p:ph idx="1"/>
          </p:nvPr>
        </p:nvSpPr>
        <p:spPr/>
        <p:txBody>
          <a:bodyPr/>
          <a:lstStyle/>
          <a:p>
            <a:pPr marL="0" indent="0">
              <a:buNone/>
            </a:pPr>
            <a:r>
              <a:rPr lang="en-US" dirty="0"/>
              <a:t>The advantages of alpha-beta pruning are as follow :</a:t>
            </a:r>
          </a:p>
          <a:p>
            <a:pPr marL="0" indent="0">
              <a:buNone/>
            </a:pPr>
            <a:r>
              <a:rPr lang="en-US" dirty="0" err="1"/>
              <a:t>i</a:t>
            </a:r>
            <a:r>
              <a:rPr lang="en-US" dirty="0"/>
              <a:t>) Alpha-beta pruning plays a great role in reducing the number of nodes which are found out by minimax algorithm.</a:t>
            </a:r>
          </a:p>
          <a:p>
            <a:pPr marL="0" indent="0">
              <a:buNone/>
            </a:pPr>
            <a:r>
              <a:rPr lang="en-US" dirty="0"/>
              <a:t>ii) When one chance or option is found at the minimum, it stops assessing a move.</a:t>
            </a:r>
          </a:p>
          <a:p>
            <a:pPr marL="0" indent="0">
              <a:buNone/>
            </a:pPr>
            <a:r>
              <a:rPr lang="en-US" dirty="0"/>
              <a:t>iii) This method also helps to improve the search procedure in an effective way.</a:t>
            </a:r>
          </a:p>
          <a:p>
            <a:endParaRPr lang="en-US" dirty="0"/>
          </a:p>
        </p:txBody>
      </p:sp>
    </p:spTree>
    <p:extLst>
      <p:ext uri="{BB962C8B-B14F-4D97-AF65-F5344CB8AC3E}">
        <p14:creationId xmlns:p14="http://schemas.microsoft.com/office/powerpoint/2010/main" val="1724689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AB809-7AD2-4B6F-8050-E27345353513}"/>
              </a:ext>
            </a:extLst>
          </p:cNvPr>
          <p:cNvSpPr>
            <a:spLocks noGrp="1"/>
          </p:cNvSpPr>
          <p:nvPr>
            <p:ph idx="1"/>
          </p:nvPr>
        </p:nvSpPr>
        <p:spPr/>
        <p:txBody>
          <a:bodyPr/>
          <a:lstStyle/>
          <a:p>
            <a:pPr marL="0" indent="0">
              <a:buNone/>
            </a:pPr>
            <a:r>
              <a:rPr lang="en-US" dirty="0"/>
              <a:t>The disadvantage of alpha - beta pruning method is -</a:t>
            </a:r>
          </a:p>
          <a:p>
            <a:r>
              <a:rPr lang="en-US" dirty="0"/>
              <a:t>It has been found that alpha - beta pruning method is not feasible in most of the cases to find out the whole game tree.</a:t>
            </a:r>
          </a:p>
          <a:p>
            <a:endParaRPr lang="en-US" dirty="0"/>
          </a:p>
        </p:txBody>
      </p:sp>
    </p:spTree>
    <p:extLst>
      <p:ext uri="{BB962C8B-B14F-4D97-AF65-F5344CB8AC3E}">
        <p14:creationId xmlns:p14="http://schemas.microsoft.com/office/powerpoint/2010/main" val="3161106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1252</TotalTime>
  <Words>4932</Words>
  <Application>Microsoft Office PowerPoint</Application>
  <PresentationFormat>Widescreen</PresentationFormat>
  <Paragraphs>531</Paragraphs>
  <Slides>76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Arial</vt:lpstr>
      <vt:lpstr>Arial MT</vt:lpstr>
      <vt:lpstr>Calibri</vt:lpstr>
      <vt:lpstr>Calibri Light</vt:lpstr>
      <vt:lpstr>Courier New</vt:lpstr>
      <vt:lpstr>Times New Roman</vt:lpstr>
      <vt:lpstr>Wingdings</vt:lpstr>
      <vt:lpstr>Office Theme</vt:lpstr>
      <vt:lpstr>Chapter 3 </vt:lpstr>
      <vt:lpstr>Outline</vt:lpstr>
      <vt:lpstr>Searching</vt:lpstr>
      <vt:lpstr>PowerPoint Presentation</vt:lpstr>
      <vt:lpstr>PowerPoint Presentation</vt:lpstr>
      <vt:lpstr>Steps in Searching</vt:lpstr>
      <vt:lpstr>PowerPoint Presentation</vt:lpstr>
      <vt:lpstr>Searching: Criteria to Measure Performance</vt:lpstr>
      <vt:lpstr>Searching: Types</vt:lpstr>
      <vt:lpstr>Searching: Problem Classification</vt:lpstr>
      <vt:lpstr>Uninformed Search Algorithm</vt:lpstr>
      <vt:lpstr>PowerPoint Presentation</vt:lpstr>
      <vt:lpstr>Breadth First Search</vt:lpstr>
      <vt:lpstr>PowerPoint Presentation</vt:lpstr>
      <vt:lpstr>PowerPoint Presentation</vt:lpstr>
      <vt:lpstr>PowerPoint Presentation</vt:lpstr>
      <vt:lpstr>Breadth First Search: Four Criteria</vt:lpstr>
      <vt:lpstr>Breadth First Search: Four Criteria</vt:lpstr>
      <vt:lpstr>Breadth First Search: Four Criteria</vt:lpstr>
      <vt:lpstr>PowerPoint Presentation</vt:lpstr>
      <vt:lpstr>Uniform Cost Search</vt:lpstr>
      <vt:lpstr>Uniform Cost Search</vt:lpstr>
      <vt:lpstr>Assignment</vt:lpstr>
      <vt:lpstr>PowerPoint Presentation</vt:lpstr>
      <vt:lpstr>Uniform Cost Search: Four Criteria</vt:lpstr>
      <vt:lpstr>Depth- First Search (DFS)</vt:lpstr>
      <vt:lpstr>PowerPoint Presentation</vt:lpstr>
      <vt:lpstr>Depth First Search: Four Criteria</vt:lpstr>
      <vt:lpstr>Depth First Search: Four Criteria</vt:lpstr>
      <vt:lpstr>PowerPoint Presentation</vt:lpstr>
      <vt:lpstr>Depth Limited Search</vt:lpstr>
      <vt:lpstr>PowerPoint Presentation</vt:lpstr>
      <vt:lpstr>PowerPoint Presentation</vt:lpstr>
      <vt:lpstr>PowerPoint Presentation</vt:lpstr>
      <vt:lpstr>Iterative Deepening Depth First Search</vt:lpstr>
      <vt:lpstr>PowerPoint Presentation</vt:lpstr>
      <vt:lpstr>PowerPoint Presentation</vt:lpstr>
      <vt:lpstr>PowerPoint Presentation</vt:lpstr>
      <vt:lpstr>PowerPoint Presentation</vt:lpstr>
      <vt:lpstr>Bidirectional Search</vt:lpstr>
      <vt:lpstr>PowerPoint Presentation</vt:lpstr>
      <vt:lpstr>PowerPoint Presentation</vt:lpstr>
      <vt:lpstr>Informed Search</vt:lpstr>
      <vt:lpstr>Informed Search</vt:lpstr>
      <vt:lpstr>Heuristics function</vt:lpstr>
      <vt:lpstr>Best First Search</vt:lpstr>
      <vt:lpstr>PowerPoint Presentation</vt:lpstr>
      <vt:lpstr>PowerPoint Presentation</vt:lpstr>
      <vt:lpstr>Types of Best First Search</vt:lpstr>
      <vt:lpstr>Greedy Best First Search</vt:lpstr>
      <vt:lpstr>Best First Search Algorithm</vt:lpstr>
      <vt:lpstr>Example:</vt:lpstr>
      <vt:lpstr>PowerPoint Presentation</vt:lpstr>
      <vt:lpstr>PowerPoint Presentation</vt:lpstr>
      <vt:lpstr>A* Search Algorithm</vt:lpstr>
      <vt:lpstr>PowerPoint Presentation</vt:lpstr>
      <vt:lpstr>PowerPoint Presentation</vt:lpstr>
      <vt:lpstr>Algorithm of A* Search</vt:lpstr>
      <vt:lpstr>PowerPoint Presentation</vt:lpstr>
      <vt:lpstr>PowerPoint Presentation</vt:lpstr>
      <vt:lpstr>PowerPoint Presentation</vt:lpstr>
      <vt:lpstr>A* Search</vt:lpstr>
      <vt:lpstr>Local Search Algorithm and Optimization</vt:lpstr>
      <vt:lpstr>Hill Climbing</vt:lpstr>
      <vt:lpstr>PowerPoint Presentation</vt:lpstr>
      <vt:lpstr>PowerPoint Presentation</vt:lpstr>
      <vt:lpstr>PowerPoint Presentation</vt:lpstr>
      <vt:lpstr>Problems in Hill Climbing</vt:lpstr>
      <vt:lpstr>PowerPoint Presentation</vt:lpstr>
      <vt:lpstr>PowerPoint Presentation</vt:lpstr>
      <vt:lpstr>PowerPoint Presentation</vt:lpstr>
      <vt:lpstr>MiniMax Algorithm</vt:lpstr>
      <vt:lpstr>PowerPoint Presentation</vt:lpstr>
      <vt:lpstr>Alpha Beta Pruning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dc:title>
  <dc:creator>Sarju Sriju</dc:creator>
  <cp:lastModifiedBy>Sarju Sriju</cp:lastModifiedBy>
  <cp:revision>112</cp:revision>
  <dcterms:created xsi:type="dcterms:W3CDTF">2021-12-19T05:31:04Z</dcterms:created>
  <dcterms:modified xsi:type="dcterms:W3CDTF">2022-01-03T06:54:39Z</dcterms:modified>
</cp:coreProperties>
</file>