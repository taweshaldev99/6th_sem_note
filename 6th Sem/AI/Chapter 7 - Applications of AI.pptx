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6.jpg" ContentType="image/jpg"/>
  <Override PartName="/ppt/media/image7.jpg" ContentType="image/jpg"/>
  <Override PartName="/ppt/media/image8.jpg" ContentType="image/jpg"/>
  <Override PartName="/ppt/media/image10.jpg" ContentType="image/jpg"/>
  <Override PartName="/ppt/media/image11.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6" r:id="rId2"/>
    <p:sldId id="257" r:id="rId3"/>
    <p:sldId id="258" r:id="rId4"/>
    <p:sldId id="307" r:id="rId5"/>
    <p:sldId id="259" r:id="rId6"/>
    <p:sldId id="308" r:id="rId7"/>
    <p:sldId id="261" r:id="rId8"/>
    <p:sldId id="262" r:id="rId9"/>
    <p:sldId id="263" r:id="rId10"/>
    <p:sldId id="264" r:id="rId11"/>
    <p:sldId id="265" r:id="rId12"/>
    <p:sldId id="266" r:id="rId13"/>
    <p:sldId id="267" r:id="rId14"/>
    <p:sldId id="309" r:id="rId15"/>
    <p:sldId id="268" r:id="rId16"/>
    <p:sldId id="269" r:id="rId17"/>
    <p:sldId id="270" r:id="rId18"/>
    <p:sldId id="310" r:id="rId19"/>
    <p:sldId id="271" r:id="rId20"/>
    <p:sldId id="272" r:id="rId21"/>
    <p:sldId id="273" r:id="rId22"/>
    <p:sldId id="274" r:id="rId23"/>
    <p:sldId id="275" r:id="rId24"/>
    <p:sldId id="276" r:id="rId25"/>
    <p:sldId id="277" r:id="rId26"/>
    <p:sldId id="306" r:id="rId27"/>
    <p:sldId id="312" r:id="rId28"/>
    <p:sldId id="311" r:id="rId29"/>
    <p:sldId id="284" r:id="rId30"/>
    <p:sldId id="285" r:id="rId31"/>
    <p:sldId id="313" r:id="rId32"/>
    <p:sldId id="326" r:id="rId33"/>
    <p:sldId id="286" r:id="rId34"/>
    <p:sldId id="287" r:id="rId35"/>
    <p:sldId id="289" r:id="rId36"/>
    <p:sldId id="290" r:id="rId37"/>
    <p:sldId id="314" r:id="rId38"/>
    <p:sldId id="315" r:id="rId39"/>
    <p:sldId id="316" r:id="rId40"/>
    <p:sldId id="317"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18" r:id="rId55"/>
    <p:sldId id="304" r:id="rId56"/>
    <p:sldId id="319" r:id="rId57"/>
    <p:sldId id="305" r:id="rId58"/>
    <p:sldId id="320" r:id="rId59"/>
    <p:sldId id="321" r:id="rId60"/>
    <p:sldId id="322" r:id="rId61"/>
    <p:sldId id="323" r:id="rId62"/>
    <p:sldId id="324" r:id="rId63"/>
    <p:sldId id="325" r:id="rId64"/>
    <p:sldId id="327" r:id="rId65"/>
    <p:sldId id="328" r:id="rId66"/>
    <p:sldId id="329" r:id="rId67"/>
    <p:sldId id="330" r:id="rId6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16"/>
    <p:restoredTop sz="91986"/>
  </p:normalViewPr>
  <p:slideViewPr>
    <p:cSldViewPr>
      <p:cViewPr varScale="1">
        <p:scale>
          <a:sx n="112" d="100"/>
          <a:sy n="112" d="100"/>
        </p:scale>
        <p:origin x="1096"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45F7B22-2569-1443-ADE4-F321E60A82B8}" type="datetimeFigureOut">
              <a:rPr lang="en-NP" smtClean="0"/>
              <a:t>12/11/2025</a:t>
            </a:fld>
            <a:endParaRPr lang="en-NP"/>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21E8325-8933-3442-A0BA-AB781F61C1FF}" type="slidenum">
              <a:rPr lang="en-NP" smtClean="0"/>
              <a:t>‹#›</a:t>
            </a:fld>
            <a:endParaRPr lang="en-NP"/>
          </a:p>
        </p:txBody>
      </p:sp>
    </p:spTree>
    <p:extLst>
      <p:ext uri="{BB962C8B-B14F-4D97-AF65-F5344CB8AC3E}">
        <p14:creationId xmlns:p14="http://schemas.microsoft.com/office/powerpoint/2010/main" val="3440897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121E8325-8933-3442-A0BA-AB781F61C1FF}" type="slidenum">
              <a:rPr lang="en-NP" smtClean="0"/>
              <a:t>20</a:t>
            </a:fld>
            <a:endParaRPr lang="en-NP"/>
          </a:p>
        </p:txBody>
      </p:sp>
    </p:spTree>
    <p:extLst>
      <p:ext uri="{BB962C8B-B14F-4D97-AF65-F5344CB8AC3E}">
        <p14:creationId xmlns:p14="http://schemas.microsoft.com/office/powerpoint/2010/main" val="1925873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0844" y="3265500"/>
            <a:ext cx="10370311" cy="169291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51828" y="1706841"/>
            <a:ext cx="4919980" cy="398970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995297" y="2716479"/>
            <a:ext cx="8201405" cy="1590039"/>
          </a:xfrm>
          <a:prstGeom prst="rect">
            <a:avLst/>
          </a:prstGeom>
        </p:spPr>
        <p:txBody>
          <a:bodyPr wrap="square" lIns="0" tIns="0" rIns="0" bIns="0">
            <a:spAutoFit/>
          </a:bodyPr>
          <a:lstStyle>
            <a:lvl1pPr>
              <a:defRPr sz="5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706841"/>
            <a:ext cx="5319395" cy="156146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s://www.ibm.com/cloud/learn/deep-learning" TargetMode="External"/><Relationship Id="rId2" Type="http://schemas.openxmlformats.org/officeDocument/2006/relationships/hyperlink" Target="https://www.ibm.com/cloud/learn/machine-learnin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045" rIns="0" bIns="0" rtlCol="0">
            <a:spAutoFit/>
          </a:bodyPr>
          <a:lstStyle/>
          <a:p>
            <a:pPr marL="12700" marR="5080" indent="1289685">
              <a:lnSpc>
                <a:spcPts val="5830"/>
              </a:lnSpc>
              <a:spcBef>
                <a:spcPts val="835"/>
              </a:spcBef>
            </a:pPr>
            <a:br>
              <a:rPr lang="en-US" spc="-15" dirty="0"/>
            </a:br>
            <a:r>
              <a:rPr spc="-15" dirty="0"/>
              <a:t>Chapter</a:t>
            </a:r>
            <a:r>
              <a:rPr spc="-45" dirty="0"/>
              <a:t> </a:t>
            </a:r>
            <a:r>
              <a:rPr spc="-5" dirty="0"/>
              <a:t>VII:</a:t>
            </a:r>
            <a:r>
              <a:rPr spc="-20" dirty="0"/>
              <a:t> </a:t>
            </a:r>
            <a:r>
              <a:rPr spc="-15" dirty="0"/>
              <a:t>Applications</a:t>
            </a:r>
            <a:r>
              <a:rPr spc="-50" dirty="0"/>
              <a:t> </a:t>
            </a:r>
            <a:r>
              <a:rPr spc="-5" dirty="0"/>
              <a:t>of</a:t>
            </a:r>
            <a:r>
              <a:rPr spc="-25" dirty="0"/>
              <a:t> </a:t>
            </a:r>
            <a:r>
              <a:rPr spc="-5" dirty="0"/>
              <a:t>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679575" cy="697230"/>
          </a:xfrm>
          <a:prstGeom prst="rect">
            <a:avLst/>
          </a:prstGeom>
        </p:spPr>
        <p:txBody>
          <a:bodyPr vert="horz" wrap="square" lIns="0" tIns="13335" rIns="0" bIns="0" rtlCol="0">
            <a:spAutoFit/>
          </a:bodyPr>
          <a:lstStyle/>
          <a:p>
            <a:pPr marL="12700">
              <a:lnSpc>
                <a:spcPct val="100000"/>
              </a:lnSpc>
              <a:spcBef>
                <a:spcPts val="105"/>
              </a:spcBef>
            </a:pPr>
            <a:r>
              <a:rPr sz="4400" spc="-5" dirty="0"/>
              <a:t>Outline</a:t>
            </a:r>
            <a:endParaRPr sz="4400"/>
          </a:p>
        </p:txBody>
      </p:sp>
      <p:sp>
        <p:nvSpPr>
          <p:cNvPr id="3" name="object 3"/>
          <p:cNvSpPr txBox="1"/>
          <p:nvPr/>
        </p:nvSpPr>
        <p:spPr>
          <a:xfrm>
            <a:off x="916939" y="1706841"/>
            <a:ext cx="2543810" cy="207200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5" dirty="0">
                <a:latin typeface="Calibri"/>
                <a:cs typeface="Calibri"/>
              </a:rPr>
              <a:t>Neural</a:t>
            </a:r>
            <a:r>
              <a:rPr sz="2800" spc="-35" dirty="0">
                <a:latin typeface="Calibri"/>
                <a:cs typeface="Calibri"/>
              </a:rPr>
              <a:t> </a:t>
            </a:r>
            <a:r>
              <a:rPr sz="2800" spc="-15" dirty="0">
                <a:latin typeface="Calibri"/>
                <a:cs typeface="Calibri"/>
              </a:rPr>
              <a:t>Network</a:t>
            </a:r>
            <a:endParaRPr sz="2800">
              <a:latin typeface="Calibri"/>
              <a:cs typeface="Calibri"/>
            </a:endParaRPr>
          </a:p>
          <a:p>
            <a:pPr marL="241300" indent="-228600">
              <a:lnSpc>
                <a:spcPct val="100000"/>
              </a:lnSpc>
              <a:spcBef>
                <a:spcPts val="675"/>
              </a:spcBef>
              <a:buFont typeface="Arial MT"/>
              <a:buChar char="•"/>
              <a:tabLst>
                <a:tab pos="241300" algn="l"/>
              </a:tabLst>
            </a:pPr>
            <a:r>
              <a:rPr sz="2800" spc="-10" dirty="0">
                <a:latin typeface="Calibri"/>
                <a:cs typeface="Calibri"/>
              </a:rPr>
              <a:t>Expert</a:t>
            </a:r>
            <a:r>
              <a:rPr sz="2800" spc="-15" dirty="0">
                <a:latin typeface="Calibri"/>
                <a:cs typeface="Calibri"/>
              </a:rPr>
              <a:t> </a:t>
            </a:r>
            <a:r>
              <a:rPr sz="2800" spc="-25" dirty="0">
                <a:latin typeface="Calibri"/>
                <a:cs typeface="Calibri"/>
              </a:rPr>
              <a:t>System</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NLP</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Machine</a:t>
            </a:r>
            <a:r>
              <a:rPr sz="2800" spc="-20" dirty="0">
                <a:latin typeface="Calibri"/>
                <a:cs typeface="Calibri"/>
              </a:rPr>
              <a:t> </a:t>
            </a:r>
            <a:r>
              <a:rPr sz="2800" spc="-10" dirty="0">
                <a:latin typeface="Calibri"/>
                <a:cs typeface="Calibri"/>
              </a:rPr>
              <a:t>Vision</a:t>
            </a:r>
            <a:endParaRPr sz="2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0040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65" dirty="0"/>
              <a:t> </a:t>
            </a:r>
            <a:r>
              <a:rPr sz="4400" spc="-35" dirty="0"/>
              <a:t>System</a:t>
            </a:r>
            <a:endParaRPr sz="4400"/>
          </a:p>
        </p:txBody>
      </p:sp>
      <p:sp>
        <p:nvSpPr>
          <p:cNvPr id="3" name="object 3"/>
          <p:cNvSpPr txBox="1"/>
          <p:nvPr/>
        </p:nvSpPr>
        <p:spPr>
          <a:xfrm>
            <a:off x="916939" y="1793189"/>
            <a:ext cx="10113010" cy="4229234"/>
          </a:xfrm>
          <a:prstGeom prst="rect">
            <a:avLst/>
          </a:prstGeom>
        </p:spPr>
        <p:txBody>
          <a:bodyPr vert="horz" wrap="square" lIns="0" tIns="55244" rIns="0" bIns="0" rtlCol="0">
            <a:spAutoFit/>
          </a:bodyPr>
          <a:lstStyle/>
          <a:p>
            <a:pPr marL="241300" marR="177800" indent="-228600">
              <a:lnSpc>
                <a:spcPct val="90000"/>
              </a:lnSpc>
              <a:spcBef>
                <a:spcPts val="434"/>
              </a:spcBef>
              <a:buFont typeface="Arial MT"/>
              <a:buChar char="•"/>
              <a:tabLst>
                <a:tab pos="241300" algn="l"/>
              </a:tabLst>
            </a:pPr>
            <a:r>
              <a:rPr lang="en-US" sz="2800" dirty="0"/>
              <a:t>The expert systems are the computer applications developed to solve complex problems in a particular domain, at the level of extra-ordinary human intelligence and expertise.</a:t>
            </a:r>
            <a:endParaRPr lang="en-US" sz="2800" spc="-5" dirty="0">
              <a:latin typeface="Calibri"/>
              <a:cs typeface="Calibri"/>
            </a:endParaRPr>
          </a:p>
          <a:p>
            <a:pPr marL="241300" marR="177800" indent="-228600">
              <a:lnSpc>
                <a:spcPct val="90000"/>
              </a:lnSpc>
              <a:spcBef>
                <a:spcPts val="434"/>
              </a:spcBef>
              <a:buFont typeface="Arial MT"/>
              <a:buChar char="•"/>
              <a:tabLst>
                <a:tab pos="241300" algn="l"/>
              </a:tabLst>
            </a:pPr>
            <a:r>
              <a:rPr sz="2800" spc="-5" dirty="0">
                <a:latin typeface="Calibri"/>
                <a:cs typeface="Calibri"/>
              </a:rPr>
              <a:t>An</a:t>
            </a:r>
            <a:r>
              <a:rPr sz="2800" spc="15" dirty="0">
                <a:latin typeface="Calibri"/>
                <a:cs typeface="Calibri"/>
              </a:rPr>
              <a:t> </a:t>
            </a:r>
            <a:r>
              <a:rPr sz="2800" spc="-15" dirty="0">
                <a:latin typeface="Calibri"/>
                <a:cs typeface="Calibri"/>
              </a:rPr>
              <a:t>expert</a:t>
            </a:r>
            <a:r>
              <a:rPr sz="2800" spc="25" dirty="0">
                <a:latin typeface="Calibri"/>
                <a:cs typeface="Calibri"/>
              </a:rPr>
              <a:t> </a:t>
            </a:r>
            <a:r>
              <a:rPr sz="2800" spc="-25" dirty="0">
                <a:latin typeface="Calibri"/>
                <a:cs typeface="Calibri"/>
              </a:rPr>
              <a:t>system</a:t>
            </a:r>
            <a:r>
              <a:rPr sz="2800" spc="15"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set</a:t>
            </a:r>
            <a:r>
              <a:rPr sz="2800" spc="-5" dirty="0">
                <a:latin typeface="Calibri"/>
                <a:cs typeface="Calibri"/>
              </a:rPr>
              <a:t> </a:t>
            </a:r>
            <a:r>
              <a:rPr sz="2800" dirty="0">
                <a:latin typeface="Calibri"/>
                <a:cs typeface="Calibri"/>
              </a:rPr>
              <a:t>of</a:t>
            </a:r>
            <a:r>
              <a:rPr sz="2800" spc="-5" dirty="0">
                <a:latin typeface="Calibri"/>
                <a:cs typeface="Calibri"/>
              </a:rPr>
              <a:t> </a:t>
            </a:r>
            <a:r>
              <a:rPr sz="2800" spc="-20" dirty="0">
                <a:latin typeface="Calibri"/>
                <a:cs typeface="Calibri"/>
              </a:rPr>
              <a:t>program</a:t>
            </a:r>
            <a:r>
              <a:rPr sz="2800" spc="20" dirty="0">
                <a:latin typeface="Calibri"/>
                <a:cs typeface="Calibri"/>
              </a:rPr>
              <a:t> </a:t>
            </a:r>
            <a:r>
              <a:rPr sz="2800" spc="-10" dirty="0">
                <a:latin typeface="Calibri"/>
                <a:cs typeface="Calibri"/>
              </a:rPr>
              <a:t>that</a:t>
            </a:r>
            <a:r>
              <a:rPr sz="2800" spc="-5" dirty="0">
                <a:latin typeface="Calibri"/>
                <a:cs typeface="Calibri"/>
              </a:rPr>
              <a:t> </a:t>
            </a:r>
            <a:r>
              <a:rPr sz="2800" spc="-10" dirty="0">
                <a:latin typeface="Calibri"/>
                <a:cs typeface="Calibri"/>
              </a:rPr>
              <a:t>manipulate</a:t>
            </a:r>
            <a:r>
              <a:rPr sz="2800" spc="25" dirty="0">
                <a:latin typeface="Calibri"/>
                <a:cs typeface="Calibri"/>
              </a:rPr>
              <a:t> </a:t>
            </a:r>
            <a:r>
              <a:rPr sz="2800" spc="-10" dirty="0">
                <a:latin typeface="Calibri"/>
                <a:cs typeface="Calibri"/>
              </a:rPr>
              <a:t>encoded </a:t>
            </a:r>
            <a:r>
              <a:rPr sz="2800" spc="-5" dirty="0">
                <a:latin typeface="Calibri"/>
                <a:cs typeface="Calibri"/>
              </a:rPr>
              <a:t> knowledge</a:t>
            </a:r>
            <a:r>
              <a:rPr sz="2800" spc="15" dirty="0">
                <a:latin typeface="Calibri"/>
                <a:cs typeface="Calibri"/>
              </a:rPr>
              <a:t> </a:t>
            </a:r>
            <a:r>
              <a:rPr sz="2800" spc="-15" dirty="0">
                <a:latin typeface="Calibri"/>
                <a:cs typeface="Calibri"/>
              </a:rPr>
              <a:t>to</a:t>
            </a:r>
            <a:r>
              <a:rPr sz="2800" spc="10" dirty="0">
                <a:latin typeface="Calibri"/>
                <a:cs typeface="Calibri"/>
              </a:rPr>
              <a:t> </a:t>
            </a:r>
            <a:r>
              <a:rPr sz="2800" spc="-15" dirty="0">
                <a:latin typeface="Calibri"/>
                <a:cs typeface="Calibri"/>
              </a:rPr>
              <a:t>solve</a:t>
            </a:r>
            <a:r>
              <a:rPr sz="2800" spc="5" dirty="0">
                <a:latin typeface="Calibri"/>
                <a:cs typeface="Calibri"/>
              </a:rPr>
              <a:t> </a:t>
            </a:r>
            <a:r>
              <a:rPr sz="2800" spc="-15" dirty="0">
                <a:latin typeface="Calibri"/>
                <a:cs typeface="Calibri"/>
              </a:rPr>
              <a:t>problems</a:t>
            </a:r>
            <a:r>
              <a:rPr sz="2800" spc="4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specialized</a:t>
            </a:r>
            <a:r>
              <a:rPr sz="2800" spc="20" dirty="0">
                <a:latin typeface="Calibri"/>
                <a:cs typeface="Calibri"/>
              </a:rPr>
              <a:t> </a:t>
            </a:r>
            <a:r>
              <a:rPr sz="2800" spc="-5" dirty="0">
                <a:latin typeface="Calibri"/>
                <a:cs typeface="Calibri"/>
              </a:rPr>
              <a:t>domain</a:t>
            </a:r>
            <a:r>
              <a:rPr sz="2800" spc="25" dirty="0">
                <a:latin typeface="Calibri"/>
                <a:cs typeface="Calibri"/>
              </a:rPr>
              <a:t> </a:t>
            </a:r>
            <a:r>
              <a:rPr sz="2800" spc="-10" dirty="0">
                <a:latin typeface="Calibri"/>
                <a:cs typeface="Calibri"/>
              </a:rPr>
              <a:t>that</a:t>
            </a:r>
            <a:r>
              <a:rPr sz="2800" spc="15" dirty="0">
                <a:latin typeface="Calibri"/>
                <a:cs typeface="Calibri"/>
              </a:rPr>
              <a:t> </a:t>
            </a:r>
            <a:r>
              <a:rPr sz="2800" spc="-10" dirty="0">
                <a:latin typeface="Calibri"/>
                <a:cs typeface="Calibri"/>
              </a:rPr>
              <a:t>normally </a:t>
            </a:r>
            <a:r>
              <a:rPr sz="2800" spc="-615" dirty="0">
                <a:latin typeface="Calibri"/>
                <a:cs typeface="Calibri"/>
              </a:rPr>
              <a:t> </a:t>
            </a:r>
            <a:r>
              <a:rPr sz="2800" spc="-15" dirty="0">
                <a:latin typeface="Calibri"/>
                <a:cs typeface="Calibri"/>
              </a:rPr>
              <a:t>requires</a:t>
            </a:r>
            <a:r>
              <a:rPr sz="2800" spc="25" dirty="0">
                <a:latin typeface="Calibri"/>
                <a:cs typeface="Calibri"/>
              </a:rPr>
              <a:t> </a:t>
            </a:r>
            <a:r>
              <a:rPr sz="2800" spc="-10" dirty="0">
                <a:latin typeface="Calibri"/>
                <a:cs typeface="Calibri"/>
              </a:rPr>
              <a:t>human</a:t>
            </a:r>
            <a:r>
              <a:rPr sz="2800" spc="35" dirty="0">
                <a:latin typeface="Calibri"/>
                <a:cs typeface="Calibri"/>
              </a:rPr>
              <a:t> </a:t>
            </a:r>
            <a:r>
              <a:rPr sz="2800" spc="-20" dirty="0">
                <a:latin typeface="Calibri"/>
                <a:cs typeface="Calibri"/>
              </a:rPr>
              <a:t>expertize</a:t>
            </a:r>
            <a:endParaRPr sz="2800" dirty="0">
              <a:latin typeface="Calibri"/>
              <a:cs typeface="Calibri"/>
            </a:endParaRPr>
          </a:p>
          <a:p>
            <a:pPr marL="241300" marR="307975" indent="-228600">
              <a:lnSpc>
                <a:spcPts val="3030"/>
              </a:lnSpc>
              <a:spcBef>
                <a:spcPts val="1045"/>
              </a:spcBef>
              <a:buFont typeface="Arial MT"/>
              <a:buChar char="•"/>
              <a:tabLst>
                <a:tab pos="241300" algn="l"/>
              </a:tabLst>
            </a:pPr>
            <a:r>
              <a:rPr sz="2800" spc="-5" dirty="0">
                <a:latin typeface="Calibri"/>
                <a:cs typeface="Calibri"/>
              </a:rPr>
              <a:t>Expert</a:t>
            </a:r>
            <a:r>
              <a:rPr sz="2800" spc="15" dirty="0">
                <a:latin typeface="Calibri"/>
                <a:cs typeface="Calibri"/>
              </a:rPr>
              <a:t> </a:t>
            </a:r>
            <a:r>
              <a:rPr sz="2800" spc="-25" dirty="0">
                <a:latin typeface="Calibri"/>
                <a:cs typeface="Calibri"/>
              </a:rPr>
              <a:t>systems</a:t>
            </a:r>
            <a:r>
              <a:rPr sz="2800" spc="25" dirty="0">
                <a:latin typeface="Calibri"/>
                <a:cs typeface="Calibri"/>
              </a:rPr>
              <a:t> </a:t>
            </a:r>
            <a:r>
              <a:rPr sz="2800" spc="-15" dirty="0">
                <a:latin typeface="Calibri"/>
                <a:cs typeface="Calibri"/>
              </a:rPr>
              <a:t>are</a:t>
            </a:r>
            <a:r>
              <a:rPr sz="2800" dirty="0">
                <a:latin typeface="Calibri"/>
                <a:cs typeface="Calibri"/>
              </a:rPr>
              <a:t> </a:t>
            </a:r>
            <a:r>
              <a:rPr sz="2800" spc="-5" dirty="0">
                <a:latin typeface="Calibri"/>
                <a:cs typeface="Calibri"/>
              </a:rPr>
              <a:t>used</a:t>
            </a:r>
            <a:r>
              <a:rPr sz="2800" spc="15" dirty="0">
                <a:latin typeface="Calibri"/>
                <a:cs typeface="Calibri"/>
              </a:rPr>
              <a:t> </a:t>
            </a:r>
            <a:r>
              <a:rPr sz="2800" spc="-15" dirty="0">
                <a:latin typeface="Calibri"/>
                <a:cs typeface="Calibri"/>
              </a:rPr>
              <a:t>by</a:t>
            </a:r>
            <a:r>
              <a:rPr sz="2800" spc="15" dirty="0">
                <a:latin typeface="Calibri"/>
                <a:cs typeface="Calibri"/>
              </a:rPr>
              <a:t> </a:t>
            </a:r>
            <a:r>
              <a:rPr sz="2800" spc="-10" dirty="0">
                <a:latin typeface="Calibri"/>
                <a:cs typeface="Calibri"/>
              </a:rPr>
              <a:t>most</a:t>
            </a:r>
            <a:r>
              <a:rPr sz="2800" spc="25"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large</a:t>
            </a:r>
            <a:r>
              <a:rPr sz="2800" dirty="0">
                <a:latin typeface="Calibri"/>
                <a:cs typeface="Calibri"/>
              </a:rPr>
              <a:t> </a:t>
            </a:r>
            <a:r>
              <a:rPr sz="2800" spc="-5" dirty="0">
                <a:latin typeface="Calibri"/>
                <a:cs typeface="Calibri"/>
              </a:rPr>
              <a:t>or medium</a:t>
            </a:r>
            <a:r>
              <a:rPr sz="2800" spc="40" dirty="0">
                <a:latin typeface="Calibri"/>
                <a:cs typeface="Calibri"/>
              </a:rPr>
              <a:t> </a:t>
            </a:r>
            <a:r>
              <a:rPr sz="2800" spc="-20" dirty="0">
                <a:latin typeface="Calibri"/>
                <a:cs typeface="Calibri"/>
              </a:rPr>
              <a:t>sized </a:t>
            </a:r>
            <a:r>
              <a:rPr sz="2800" spc="-15" dirty="0">
                <a:latin typeface="Calibri"/>
                <a:cs typeface="Calibri"/>
              </a:rPr>
              <a:t> organization</a:t>
            </a:r>
            <a:r>
              <a:rPr sz="2800" spc="-10" dirty="0">
                <a:latin typeface="Calibri"/>
                <a:cs typeface="Calibri"/>
              </a:rPr>
              <a:t> </a:t>
            </a:r>
            <a:r>
              <a:rPr sz="2800" dirty="0">
                <a:latin typeface="Calibri"/>
                <a:cs typeface="Calibri"/>
              </a:rPr>
              <a:t>as</a:t>
            </a:r>
            <a:r>
              <a:rPr sz="2800" spc="-5" dirty="0">
                <a:latin typeface="Calibri"/>
                <a:cs typeface="Calibri"/>
              </a:rPr>
              <a:t> a</a:t>
            </a:r>
            <a:r>
              <a:rPr sz="2800" spc="10" dirty="0">
                <a:latin typeface="Calibri"/>
                <a:cs typeface="Calibri"/>
              </a:rPr>
              <a:t> </a:t>
            </a:r>
            <a:r>
              <a:rPr sz="2800" dirty="0">
                <a:latin typeface="Calibri"/>
                <a:cs typeface="Calibri"/>
              </a:rPr>
              <a:t>major </a:t>
            </a:r>
            <a:r>
              <a:rPr sz="2800" spc="-10" dirty="0">
                <a:latin typeface="Calibri"/>
                <a:cs typeface="Calibri"/>
              </a:rPr>
              <a:t>tool</a:t>
            </a:r>
            <a:r>
              <a:rPr sz="2800" spc="-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improving</a:t>
            </a:r>
            <a:r>
              <a:rPr sz="2800" spc="40" dirty="0">
                <a:latin typeface="Calibri"/>
                <a:cs typeface="Calibri"/>
              </a:rPr>
              <a:t> </a:t>
            </a:r>
            <a:r>
              <a:rPr sz="2800" spc="-10" dirty="0">
                <a:latin typeface="Calibri"/>
                <a:cs typeface="Calibri"/>
              </a:rPr>
              <a:t>productivity</a:t>
            </a:r>
            <a:r>
              <a:rPr sz="2800" spc="45"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quality</a:t>
            </a:r>
            <a:endParaRPr sz="2800" dirty="0">
              <a:latin typeface="Calibri"/>
              <a:cs typeface="Calibri"/>
            </a:endParaRPr>
          </a:p>
          <a:p>
            <a:pPr marL="241300" marR="5080" indent="-228600">
              <a:lnSpc>
                <a:spcPts val="3020"/>
              </a:lnSpc>
              <a:spcBef>
                <a:spcPts val="994"/>
              </a:spcBef>
              <a:buFont typeface="Arial MT"/>
              <a:buChar char="•"/>
              <a:tabLst>
                <a:tab pos="241300" algn="l"/>
              </a:tabLst>
            </a:pPr>
            <a:r>
              <a:rPr sz="2800" spc="-5" dirty="0">
                <a:latin typeface="Calibri"/>
                <a:cs typeface="Calibri"/>
              </a:rPr>
              <a:t>An</a:t>
            </a:r>
            <a:r>
              <a:rPr sz="2800" spc="15" dirty="0">
                <a:latin typeface="Calibri"/>
                <a:cs typeface="Calibri"/>
              </a:rPr>
              <a:t> </a:t>
            </a:r>
            <a:r>
              <a:rPr sz="2800" spc="-15" dirty="0">
                <a:latin typeface="Calibri"/>
                <a:cs typeface="Calibri"/>
              </a:rPr>
              <a:t>expert</a:t>
            </a:r>
            <a:r>
              <a:rPr sz="2800" spc="35" dirty="0">
                <a:latin typeface="Calibri"/>
                <a:cs typeface="Calibri"/>
              </a:rPr>
              <a:t> </a:t>
            </a:r>
            <a:r>
              <a:rPr sz="2800" spc="-45" dirty="0">
                <a:latin typeface="Calibri"/>
                <a:cs typeface="Calibri"/>
              </a:rPr>
              <a:t>system’s</a:t>
            </a:r>
            <a:r>
              <a:rPr sz="2800" spc="30" dirty="0">
                <a:latin typeface="Calibri"/>
                <a:cs typeface="Calibri"/>
              </a:rPr>
              <a:t> </a:t>
            </a:r>
            <a:r>
              <a:rPr sz="2800" spc="-5" dirty="0">
                <a:latin typeface="Calibri"/>
                <a:cs typeface="Calibri"/>
              </a:rPr>
              <a:t>knowledge</a:t>
            </a:r>
            <a:r>
              <a:rPr sz="2800" spc="5"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obtained</a:t>
            </a:r>
            <a:r>
              <a:rPr sz="2800" spc="45" dirty="0">
                <a:latin typeface="Calibri"/>
                <a:cs typeface="Calibri"/>
              </a:rPr>
              <a:t> </a:t>
            </a:r>
            <a:r>
              <a:rPr sz="2800" spc="-20" dirty="0">
                <a:latin typeface="Calibri"/>
                <a:cs typeface="Calibri"/>
              </a:rPr>
              <a:t>from</a:t>
            </a:r>
            <a:r>
              <a:rPr sz="2800" spc="5" dirty="0">
                <a:latin typeface="Calibri"/>
                <a:cs typeface="Calibri"/>
              </a:rPr>
              <a:t> </a:t>
            </a:r>
            <a:r>
              <a:rPr sz="2800" spc="-15" dirty="0">
                <a:latin typeface="Calibri"/>
                <a:cs typeface="Calibri"/>
              </a:rPr>
              <a:t>expert</a:t>
            </a:r>
            <a:r>
              <a:rPr sz="2800" spc="35" dirty="0">
                <a:latin typeface="Calibri"/>
                <a:cs typeface="Calibri"/>
              </a:rPr>
              <a:t> </a:t>
            </a:r>
            <a:r>
              <a:rPr sz="2800" spc="-15" dirty="0">
                <a:latin typeface="Calibri"/>
                <a:cs typeface="Calibri"/>
              </a:rPr>
              <a:t>source</a:t>
            </a:r>
            <a:r>
              <a:rPr sz="2800" spc="25" dirty="0">
                <a:latin typeface="Calibri"/>
                <a:cs typeface="Calibri"/>
              </a:rPr>
              <a:t> </a:t>
            </a:r>
            <a:r>
              <a:rPr sz="2800" spc="-5" dirty="0">
                <a:latin typeface="Calibri"/>
                <a:cs typeface="Calibri"/>
              </a:rPr>
              <a:t>and </a:t>
            </a:r>
            <a:r>
              <a:rPr sz="2800" dirty="0">
                <a:latin typeface="Calibri"/>
                <a:cs typeface="Calibri"/>
              </a:rPr>
              <a:t> </a:t>
            </a:r>
            <a:r>
              <a:rPr sz="2800" spc="-10" dirty="0">
                <a:latin typeface="Calibri"/>
                <a:cs typeface="Calibri"/>
              </a:rPr>
              <a:t>code</a:t>
            </a:r>
            <a:r>
              <a:rPr sz="2800" spc="10" dirty="0">
                <a:latin typeface="Calibri"/>
                <a:cs typeface="Calibri"/>
              </a:rPr>
              <a:t> </a:t>
            </a:r>
            <a:r>
              <a:rPr sz="2800" spc="-5" dirty="0">
                <a:latin typeface="Calibri"/>
                <a:cs typeface="Calibri"/>
              </a:rPr>
              <a:t>in</a:t>
            </a:r>
            <a:r>
              <a:rPr sz="2800" spc="10" dirty="0">
                <a:latin typeface="Calibri"/>
                <a:cs typeface="Calibri"/>
              </a:rPr>
              <a:t> </a:t>
            </a:r>
            <a:r>
              <a:rPr sz="2800" spc="-5" dirty="0">
                <a:latin typeface="Calibri"/>
                <a:cs typeface="Calibri"/>
              </a:rPr>
              <a:t>a</a:t>
            </a:r>
            <a:r>
              <a:rPr sz="2800" dirty="0">
                <a:latin typeface="Calibri"/>
                <a:cs typeface="Calibri"/>
              </a:rPr>
              <a:t> </a:t>
            </a:r>
            <a:r>
              <a:rPr sz="2800" spc="-20" dirty="0">
                <a:latin typeface="Calibri"/>
                <a:cs typeface="Calibri"/>
              </a:rPr>
              <a:t>form</a:t>
            </a:r>
            <a:r>
              <a:rPr sz="2800" spc="10" dirty="0">
                <a:latin typeface="Calibri"/>
                <a:cs typeface="Calibri"/>
              </a:rPr>
              <a:t> </a:t>
            </a:r>
            <a:r>
              <a:rPr sz="2800" spc="-10" dirty="0">
                <a:latin typeface="Calibri"/>
                <a:cs typeface="Calibri"/>
              </a:rPr>
              <a:t>suitable</a:t>
            </a:r>
            <a:r>
              <a:rPr sz="2800" spc="20" dirty="0">
                <a:latin typeface="Calibri"/>
                <a:cs typeface="Calibri"/>
              </a:rPr>
              <a:t> </a:t>
            </a:r>
            <a:r>
              <a:rPr sz="2800" spc="-25" dirty="0">
                <a:latin typeface="Calibri"/>
                <a:cs typeface="Calibri"/>
              </a:rPr>
              <a:t>for</a:t>
            </a:r>
            <a:r>
              <a:rPr sz="2800" spc="15" dirty="0">
                <a:latin typeface="Calibri"/>
                <a:cs typeface="Calibri"/>
              </a:rPr>
              <a:t> </a:t>
            </a:r>
            <a:r>
              <a:rPr sz="2800" spc="-5" dirty="0">
                <a:latin typeface="Calibri"/>
                <a:cs typeface="Calibri"/>
              </a:rPr>
              <a:t>the </a:t>
            </a:r>
            <a:r>
              <a:rPr sz="2800" spc="-25" dirty="0">
                <a:latin typeface="Calibri"/>
                <a:cs typeface="Calibri"/>
              </a:rPr>
              <a:t>system</a:t>
            </a:r>
            <a:r>
              <a:rPr sz="2800" spc="30" dirty="0">
                <a:latin typeface="Calibri"/>
                <a:cs typeface="Calibri"/>
              </a:rPr>
              <a:t> </a:t>
            </a:r>
            <a:r>
              <a:rPr sz="2800" spc="-15" dirty="0">
                <a:latin typeface="Calibri"/>
                <a:cs typeface="Calibri"/>
              </a:rPr>
              <a:t>to</a:t>
            </a:r>
            <a:r>
              <a:rPr sz="2800" dirty="0">
                <a:latin typeface="Calibri"/>
                <a:cs typeface="Calibri"/>
              </a:rPr>
              <a:t> </a:t>
            </a:r>
            <a:r>
              <a:rPr sz="2800" spc="-5" dirty="0">
                <a:latin typeface="Calibri"/>
                <a:cs typeface="Calibri"/>
              </a:rPr>
              <a:t>use</a:t>
            </a:r>
            <a:r>
              <a:rPr sz="2800" spc="1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its</a:t>
            </a:r>
            <a:r>
              <a:rPr sz="2800" spc="10" dirty="0">
                <a:latin typeface="Calibri"/>
                <a:cs typeface="Calibri"/>
              </a:rPr>
              <a:t> </a:t>
            </a:r>
            <a:r>
              <a:rPr sz="2800" spc="-10" dirty="0">
                <a:latin typeface="Calibri"/>
                <a:cs typeface="Calibri"/>
              </a:rPr>
              <a:t>reasoning</a:t>
            </a:r>
            <a:r>
              <a:rPr sz="2800" spc="20" dirty="0">
                <a:latin typeface="Calibri"/>
                <a:cs typeface="Calibri"/>
              </a:rPr>
              <a:t> </a:t>
            </a:r>
            <a:r>
              <a:rPr sz="2800" spc="-10" dirty="0">
                <a:latin typeface="Calibri"/>
                <a:cs typeface="Calibri"/>
              </a:rPr>
              <a:t>process</a:t>
            </a: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CDD53E-5B6C-4389-97B2-B29227F2A65D}"/>
              </a:ext>
            </a:extLst>
          </p:cNvPr>
          <p:cNvSpPr txBox="1"/>
          <p:nvPr/>
        </p:nvSpPr>
        <p:spPr>
          <a:xfrm>
            <a:off x="838200" y="1028343"/>
            <a:ext cx="9677400" cy="4862870"/>
          </a:xfrm>
          <a:prstGeom prst="rect">
            <a:avLst/>
          </a:prstGeom>
          <a:noFill/>
        </p:spPr>
        <p:txBody>
          <a:bodyPr wrap="square">
            <a:spAutoFit/>
          </a:bodyPr>
          <a:lstStyle/>
          <a:p>
            <a:r>
              <a:rPr lang="en-US" sz="2000" b="1"/>
              <a:t>Characteristics of Expert Systems</a:t>
            </a:r>
          </a:p>
          <a:p>
            <a:pPr>
              <a:buFont typeface="Arial" panose="020B0604020202020204" pitchFamily="34" charset="0"/>
              <a:buChar char="•"/>
            </a:pPr>
            <a:r>
              <a:rPr lang="en-US"/>
              <a:t>High performance</a:t>
            </a:r>
          </a:p>
          <a:p>
            <a:pPr>
              <a:buFont typeface="Arial" panose="020B0604020202020204" pitchFamily="34" charset="0"/>
              <a:buChar char="•"/>
            </a:pPr>
            <a:r>
              <a:rPr lang="en-US"/>
              <a:t>Understandable</a:t>
            </a:r>
          </a:p>
          <a:p>
            <a:pPr>
              <a:buFont typeface="Arial" panose="020B0604020202020204" pitchFamily="34" charset="0"/>
              <a:buChar char="•"/>
            </a:pPr>
            <a:r>
              <a:rPr lang="en-US"/>
              <a:t>Reliable</a:t>
            </a:r>
          </a:p>
          <a:p>
            <a:pPr>
              <a:buFont typeface="Arial" panose="020B0604020202020204" pitchFamily="34" charset="0"/>
              <a:buChar char="•"/>
            </a:pPr>
            <a:r>
              <a:rPr lang="en-US"/>
              <a:t>Highly responsive</a:t>
            </a:r>
          </a:p>
          <a:p>
            <a:r>
              <a:rPr lang="en-US" sz="2000" b="1"/>
              <a:t>Capabilities of Expert Systems</a:t>
            </a:r>
          </a:p>
          <a:p>
            <a:r>
              <a:rPr lang="en-US"/>
              <a:t>The expert systems are capable of −</a:t>
            </a:r>
          </a:p>
          <a:p>
            <a:pPr>
              <a:buFont typeface="Arial" panose="020B0604020202020204" pitchFamily="34" charset="0"/>
              <a:buChar char="•"/>
            </a:pPr>
            <a:r>
              <a:rPr lang="en-US"/>
              <a:t>Advising</a:t>
            </a:r>
          </a:p>
          <a:p>
            <a:pPr>
              <a:buFont typeface="Arial" panose="020B0604020202020204" pitchFamily="34" charset="0"/>
              <a:buChar char="•"/>
            </a:pPr>
            <a:r>
              <a:rPr lang="en-US"/>
              <a:t>Instructing and assisting human in decision making</a:t>
            </a:r>
          </a:p>
          <a:p>
            <a:pPr>
              <a:buFont typeface="Arial" panose="020B0604020202020204" pitchFamily="34" charset="0"/>
              <a:buChar char="•"/>
            </a:pPr>
            <a:r>
              <a:rPr lang="en-US"/>
              <a:t>Demonstrating</a:t>
            </a:r>
          </a:p>
          <a:p>
            <a:pPr>
              <a:buFont typeface="Arial" panose="020B0604020202020204" pitchFamily="34" charset="0"/>
              <a:buChar char="•"/>
            </a:pPr>
            <a:r>
              <a:rPr lang="en-US"/>
              <a:t>Deriving a solution</a:t>
            </a:r>
          </a:p>
          <a:p>
            <a:pPr>
              <a:buFont typeface="Arial" panose="020B0604020202020204" pitchFamily="34" charset="0"/>
              <a:buChar char="•"/>
            </a:pPr>
            <a:r>
              <a:rPr lang="en-US"/>
              <a:t>Diagnosing</a:t>
            </a:r>
          </a:p>
          <a:p>
            <a:pPr>
              <a:buFont typeface="Arial" panose="020B0604020202020204" pitchFamily="34" charset="0"/>
              <a:buChar char="•"/>
            </a:pPr>
            <a:r>
              <a:rPr lang="en-US"/>
              <a:t>Explaining </a:t>
            </a:r>
          </a:p>
          <a:p>
            <a:pPr>
              <a:buFont typeface="Arial" panose="020B0604020202020204" pitchFamily="34" charset="0"/>
              <a:buChar char="•"/>
            </a:pPr>
            <a:r>
              <a:rPr lang="en-US"/>
              <a:t>Interpreting input</a:t>
            </a:r>
          </a:p>
          <a:p>
            <a:pPr>
              <a:buFont typeface="Arial" panose="020B0604020202020204" pitchFamily="34" charset="0"/>
              <a:buChar char="•"/>
            </a:pPr>
            <a:r>
              <a:rPr lang="en-US"/>
              <a:t>Predicting results</a:t>
            </a:r>
          </a:p>
          <a:p>
            <a:pPr>
              <a:buFont typeface="Arial" panose="020B0604020202020204" pitchFamily="34" charset="0"/>
              <a:buChar char="•"/>
            </a:pPr>
            <a:r>
              <a:rPr lang="en-US"/>
              <a:t>Justifying the conclusion</a:t>
            </a:r>
          </a:p>
          <a:p>
            <a:pPr>
              <a:buFont typeface="Arial" panose="020B0604020202020204" pitchFamily="34" charset="0"/>
              <a:buChar char="•"/>
            </a:pPr>
            <a:r>
              <a:rPr lang="en-US"/>
              <a:t>Suggesting alternative options to a problem</a:t>
            </a:r>
            <a:endParaRPr lang="en-US" dirty="0"/>
          </a:p>
        </p:txBody>
      </p:sp>
      <p:sp>
        <p:nvSpPr>
          <p:cNvPr id="5" name="TextBox 4">
            <a:extLst>
              <a:ext uri="{FF2B5EF4-FFF2-40B4-BE49-F238E27FC236}">
                <a16:creationId xmlns:a16="http://schemas.microsoft.com/office/drawing/2014/main" id="{6E436E54-9914-46BD-BB92-3732E93888A2}"/>
              </a:ext>
            </a:extLst>
          </p:cNvPr>
          <p:cNvSpPr txBox="1"/>
          <p:nvPr/>
        </p:nvSpPr>
        <p:spPr>
          <a:xfrm>
            <a:off x="6248400" y="2514600"/>
            <a:ext cx="6093994" cy="1815882"/>
          </a:xfrm>
          <a:prstGeom prst="rect">
            <a:avLst/>
          </a:prstGeom>
          <a:noFill/>
        </p:spPr>
        <p:txBody>
          <a:bodyPr wrap="square">
            <a:spAutoFit/>
          </a:bodyPr>
          <a:lstStyle/>
          <a:p>
            <a:r>
              <a:rPr lang="en-US" sz="2000" b="1" dirty="0"/>
              <a:t>They are incapable of −</a:t>
            </a:r>
          </a:p>
          <a:p>
            <a:endParaRPr lang="en-US" sz="2000" b="1" dirty="0"/>
          </a:p>
          <a:p>
            <a:pPr>
              <a:buFont typeface="Arial" panose="020B0604020202020204" pitchFamily="34" charset="0"/>
              <a:buChar char="•"/>
            </a:pPr>
            <a:r>
              <a:rPr lang="en-US" dirty="0"/>
              <a:t>Substituting human decision makers</a:t>
            </a:r>
          </a:p>
          <a:p>
            <a:pPr>
              <a:buFont typeface="Arial" panose="020B0604020202020204" pitchFamily="34" charset="0"/>
              <a:buChar char="•"/>
            </a:pPr>
            <a:r>
              <a:rPr lang="en-US" dirty="0"/>
              <a:t>Possessing human capabilities</a:t>
            </a:r>
          </a:p>
          <a:p>
            <a:pPr>
              <a:buFont typeface="Arial" panose="020B0604020202020204" pitchFamily="34" charset="0"/>
              <a:buChar char="•"/>
            </a:pPr>
            <a:r>
              <a:rPr lang="en-US" dirty="0"/>
              <a:t>Producing accurate output for inadequate knowledge base</a:t>
            </a:r>
          </a:p>
          <a:p>
            <a:pPr>
              <a:buFont typeface="Arial" panose="020B0604020202020204" pitchFamily="34" charset="0"/>
              <a:buChar char="•"/>
            </a:pPr>
            <a:r>
              <a:rPr lang="en-US" dirty="0"/>
              <a:t>Refining their own knowledge</a:t>
            </a:r>
          </a:p>
        </p:txBody>
      </p:sp>
    </p:spTree>
    <p:extLst>
      <p:ext uri="{BB962C8B-B14F-4D97-AF65-F5344CB8AC3E}">
        <p14:creationId xmlns:p14="http://schemas.microsoft.com/office/powerpoint/2010/main" val="308475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0040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65" dirty="0"/>
              <a:t> </a:t>
            </a:r>
            <a:r>
              <a:rPr sz="4400" spc="-35" dirty="0"/>
              <a:t>System</a:t>
            </a:r>
            <a:endParaRPr sz="4400"/>
          </a:p>
        </p:txBody>
      </p:sp>
      <p:sp>
        <p:nvSpPr>
          <p:cNvPr id="3" name="object 3"/>
          <p:cNvSpPr txBox="1"/>
          <p:nvPr/>
        </p:nvSpPr>
        <p:spPr>
          <a:xfrm>
            <a:off x="916939" y="1774901"/>
            <a:ext cx="7676515" cy="258762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Lst>
            </a:pPr>
            <a:r>
              <a:rPr sz="3600" spc="-5" dirty="0">
                <a:latin typeface="Calibri"/>
                <a:cs typeface="Calibri"/>
              </a:rPr>
              <a:t>The</a:t>
            </a:r>
            <a:r>
              <a:rPr sz="3600" spc="-10" dirty="0">
                <a:latin typeface="Calibri"/>
                <a:cs typeface="Calibri"/>
              </a:rPr>
              <a:t> sources</a:t>
            </a:r>
            <a:r>
              <a:rPr sz="3600" spc="-15" dirty="0">
                <a:latin typeface="Calibri"/>
                <a:cs typeface="Calibri"/>
              </a:rPr>
              <a:t> </a:t>
            </a:r>
            <a:r>
              <a:rPr sz="3600" spc="-25" dirty="0">
                <a:latin typeface="Calibri"/>
                <a:cs typeface="Calibri"/>
              </a:rPr>
              <a:t>for</a:t>
            </a:r>
            <a:r>
              <a:rPr sz="3600" spc="-5" dirty="0">
                <a:latin typeface="Calibri"/>
                <a:cs typeface="Calibri"/>
              </a:rPr>
              <a:t> </a:t>
            </a:r>
            <a:r>
              <a:rPr sz="3600" dirty="0">
                <a:latin typeface="Calibri"/>
                <a:cs typeface="Calibri"/>
              </a:rPr>
              <a:t>an</a:t>
            </a:r>
            <a:r>
              <a:rPr sz="3600" spc="-5" dirty="0">
                <a:latin typeface="Calibri"/>
                <a:cs typeface="Calibri"/>
              </a:rPr>
              <a:t> </a:t>
            </a:r>
            <a:r>
              <a:rPr sz="3600" spc="-15" dirty="0">
                <a:latin typeface="Calibri"/>
                <a:cs typeface="Calibri"/>
              </a:rPr>
              <a:t>expert</a:t>
            </a:r>
            <a:r>
              <a:rPr sz="3600" spc="-25" dirty="0">
                <a:latin typeface="Calibri"/>
                <a:cs typeface="Calibri"/>
              </a:rPr>
              <a:t> </a:t>
            </a:r>
            <a:r>
              <a:rPr sz="3600" spc="-30" dirty="0">
                <a:latin typeface="Calibri"/>
                <a:cs typeface="Calibri"/>
              </a:rPr>
              <a:t>system</a:t>
            </a:r>
            <a:r>
              <a:rPr sz="3600" spc="-5" dirty="0">
                <a:latin typeface="Calibri"/>
                <a:cs typeface="Calibri"/>
              </a:rPr>
              <a:t> </a:t>
            </a:r>
            <a:r>
              <a:rPr sz="3600" spc="-10" dirty="0">
                <a:latin typeface="Calibri"/>
                <a:cs typeface="Calibri"/>
              </a:rPr>
              <a:t>can</a:t>
            </a:r>
            <a:r>
              <a:rPr sz="3600" spc="-15" dirty="0">
                <a:latin typeface="Calibri"/>
                <a:cs typeface="Calibri"/>
              </a:rPr>
              <a:t> </a:t>
            </a:r>
            <a:r>
              <a:rPr sz="3600" spc="-5" dirty="0">
                <a:latin typeface="Calibri"/>
                <a:cs typeface="Calibri"/>
              </a:rPr>
              <a:t>be</a:t>
            </a:r>
            <a:endParaRPr sz="3600">
              <a:latin typeface="Calibri"/>
              <a:cs typeface="Calibri"/>
            </a:endParaRPr>
          </a:p>
          <a:p>
            <a:pPr marL="698500" lvl="1" indent="-229235">
              <a:lnSpc>
                <a:spcPct val="100000"/>
              </a:lnSpc>
              <a:spcBef>
                <a:spcPts val="140"/>
              </a:spcBef>
              <a:buFont typeface="Arial MT"/>
              <a:buChar char="•"/>
              <a:tabLst>
                <a:tab pos="699135" algn="l"/>
              </a:tabLst>
            </a:pPr>
            <a:r>
              <a:rPr sz="3200" spc="-10" dirty="0">
                <a:latin typeface="Calibri"/>
                <a:cs typeface="Calibri"/>
              </a:rPr>
              <a:t>Specialists</a:t>
            </a:r>
            <a:endParaRPr sz="3200">
              <a:latin typeface="Calibri"/>
              <a:cs typeface="Calibri"/>
            </a:endParaRPr>
          </a:p>
          <a:p>
            <a:pPr marL="698500" lvl="1" indent="-229235">
              <a:lnSpc>
                <a:spcPct val="100000"/>
              </a:lnSpc>
              <a:spcBef>
                <a:spcPts val="120"/>
              </a:spcBef>
              <a:buFont typeface="Arial MT"/>
              <a:buChar char="•"/>
              <a:tabLst>
                <a:tab pos="699135" algn="l"/>
              </a:tabLst>
            </a:pPr>
            <a:r>
              <a:rPr sz="3200" spc="-65" dirty="0">
                <a:latin typeface="Calibri"/>
                <a:cs typeface="Calibri"/>
              </a:rPr>
              <a:t>Texts</a:t>
            </a:r>
            <a:endParaRPr sz="3200">
              <a:latin typeface="Calibri"/>
              <a:cs typeface="Calibri"/>
            </a:endParaRPr>
          </a:p>
          <a:p>
            <a:pPr marL="698500" lvl="1" indent="-229235">
              <a:lnSpc>
                <a:spcPct val="100000"/>
              </a:lnSpc>
              <a:spcBef>
                <a:spcPts val="120"/>
              </a:spcBef>
              <a:buFont typeface="Arial MT"/>
              <a:buChar char="•"/>
              <a:tabLst>
                <a:tab pos="699135" algn="l"/>
              </a:tabLst>
            </a:pPr>
            <a:r>
              <a:rPr sz="3200" dirty="0">
                <a:latin typeface="Calibri"/>
                <a:cs typeface="Calibri"/>
              </a:rPr>
              <a:t>Journal</a:t>
            </a:r>
            <a:r>
              <a:rPr sz="3200" spc="-15" dirty="0">
                <a:latin typeface="Calibri"/>
                <a:cs typeface="Calibri"/>
              </a:rPr>
              <a:t> </a:t>
            </a:r>
            <a:r>
              <a:rPr sz="3200" spc="-5" dirty="0">
                <a:latin typeface="Calibri"/>
                <a:cs typeface="Calibri"/>
              </a:rPr>
              <a:t>Articles</a:t>
            </a:r>
            <a:endParaRPr sz="3200">
              <a:latin typeface="Calibri"/>
              <a:cs typeface="Calibri"/>
            </a:endParaRPr>
          </a:p>
          <a:p>
            <a:pPr marL="698500" lvl="1" indent="-229235">
              <a:lnSpc>
                <a:spcPct val="100000"/>
              </a:lnSpc>
              <a:spcBef>
                <a:spcPts val="110"/>
              </a:spcBef>
              <a:buFont typeface="Arial MT"/>
              <a:buChar char="•"/>
              <a:tabLst>
                <a:tab pos="699135" algn="l"/>
              </a:tabLst>
            </a:pPr>
            <a:r>
              <a:rPr sz="3200" spc="-10" dirty="0">
                <a:latin typeface="Calibri"/>
                <a:cs typeface="Calibri"/>
              </a:rPr>
              <a:t>Database</a:t>
            </a:r>
            <a:endParaRPr sz="3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A20588-2779-46E7-B74C-A46300DC8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950118"/>
            <a:ext cx="7939087" cy="4957763"/>
          </a:xfrm>
          <a:prstGeom prst="rect">
            <a:avLst/>
          </a:prstGeom>
        </p:spPr>
      </p:pic>
    </p:spTree>
    <p:extLst>
      <p:ext uri="{BB962C8B-B14F-4D97-AF65-F5344CB8AC3E}">
        <p14:creationId xmlns:p14="http://schemas.microsoft.com/office/powerpoint/2010/main" val="2453069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0040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65" dirty="0"/>
              <a:t> </a:t>
            </a:r>
            <a:r>
              <a:rPr sz="4400" spc="-35" dirty="0"/>
              <a:t>System</a:t>
            </a:r>
            <a:endParaRPr sz="4400"/>
          </a:p>
        </p:txBody>
      </p:sp>
      <p:sp>
        <p:nvSpPr>
          <p:cNvPr id="3" name="object 3"/>
          <p:cNvSpPr txBox="1"/>
          <p:nvPr/>
        </p:nvSpPr>
        <p:spPr>
          <a:xfrm>
            <a:off x="940485" y="1862052"/>
            <a:ext cx="381000" cy="3525520"/>
          </a:xfrm>
          <a:prstGeom prst="rect">
            <a:avLst/>
          </a:prstGeom>
        </p:spPr>
        <p:txBody>
          <a:bodyPr vert="vert270" wrap="square" lIns="0" tIns="0" rIns="0" bIns="0" rtlCol="0">
            <a:spAutoFit/>
          </a:bodyPr>
          <a:lstStyle/>
          <a:p>
            <a:pPr marL="12700">
              <a:lnSpc>
                <a:spcPts val="2755"/>
              </a:lnSpc>
            </a:pPr>
            <a:r>
              <a:rPr sz="2800" spc="-15" dirty="0">
                <a:latin typeface="Calibri"/>
                <a:cs typeface="Calibri"/>
              </a:rPr>
              <a:t>Steps</a:t>
            </a:r>
            <a:r>
              <a:rPr sz="2800" spc="-5" dirty="0">
                <a:latin typeface="Calibri"/>
                <a:cs typeface="Calibri"/>
              </a:rPr>
              <a:t> in a </a:t>
            </a:r>
            <a:r>
              <a:rPr sz="2800" spc="-10" dirty="0">
                <a:latin typeface="Calibri"/>
                <a:cs typeface="Calibri"/>
              </a:rPr>
              <a:t>Expert</a:t>
            </a:r>
            <a:r>
              <a:rPr sz="2800" dirty="0">
                <a:latin typeface="Calibri"/>
                <a:cs typeface="Calibri"/>
              </a:rPr>
              <a:t> </a:t>
            </a:r>
            <a:r>
              <a:rPr sz="2800" spc="-30" dirty="0">
                <a:latin typeface="Calibri"/>
                <a:cs typeface="Calibri"/>
              </a:rPr>
              <a:t>System</a:t>
            </a:r>
            <a:endParaRPr sz="2800">
              <a:latin typeface="Calibri"/>
              <a:cs typeface="Calibri"/>
            </a:endParaRPr>
          </a:p>
        </p:txBody>
      </p:sp>
      <p:sp>
        <p:nvSpPr>
          <p:cNvPr id="4" name="object 4"/>
          <p:cNvSpPr txBox="1"/>
          <p:nvPr/>
        </p:nvSpPr>
        <p:spPr>
          <a:xfrm>
            <a:off x="3235451" y="2039111"/>
            <a:ext cx="2095500" cy="1112520"/>
          </a:xfrm>
          <a:prstGeom prst="rect">
            <a:avLst/>
          </a:prstGeom>
          <a:ln w="12192">
            <a:solidFill>
              <a:srgbClr val="000000"/>
            </a:solidFill>
          </a:ln>
        </p:spPr>
        <p:txBody>
          <a:bodyPr vert="horz" wrap="square" lIns="0" tIns="106680" rIns="0" bIns="0" rtlCol="0">
            <a:spAutoFit/>
          </a:bodyPr>
          <a:lstStyle/>
          <a:p>
            <a:pPr marL="247015" marR="236220" indent="5715">
              <a:lnSpc>
                <a:spcPct val="100000"/>
              </a:lnSpc>
              <a:spcBef>
                <a:spcPts val="840"/>
              </a:spcBef>
            </a:pPr>
            <a:r>
              <a:rPr sz="2800" spc="-55" dirty="0">
                <a:latin typeface="Calibri"/>
                <a:cs typeface="Calibri"/>
              </a:rPr>
              <a:t>K</a:t>
            </a:r>
            <a:r>
              <a:rPr sz="2800" spc="-10" dirty="0">
                <a:latin typeface="Calibri"/>
                <a:cs typeface="Calibri"/>
              </a:rPr>
              <a:t>n</a:t>
            </a:r>
            <a:r>
              <a:rPr sz="2800" spc="-25" dirty="0">
                <a:latin typeface="Calibri"/>
                <a:cs typeface="Calibri"/>
              </a:rPr>
              <a:t>o</a:t>
            </a:r>
            <a:r>
              <a:rPr sz="2800" spc="-5" dirty="0">
                <a:latin typeface="Calibri"/>
                <a:cs typeface="Calibri"/>
              </a:rPr>
              <a:t>wle</a:t>
            </a:r>
            <a:r>
              <a:rPr sz="2800" spc="-20" dirty="0">
                <a:latin typeface="Calibri"/>
                <a:cs typeface="Calibri"/>
              </a:rPr>
              <a:t>d</a:t>
            </a:r>
            <a:r>
              <a:rPr sz="2800" spc="-30" dirty="0">
                <a:latin typeface="Calibri"/>
                <a:cs typeface="Calibri"/>
              </a:rPr>
              <a:t>g</a:t>
            </a:r>
            <a:r>
              <a:rPr sz="2800" spc="-5" dirty="0">
                <a:latin typeface="Calibri"/>
                <a:cs typeface="Calibri"/>
              </a:rPr>
              <a:t>e  Acqu</a:t>
            </a:r>
            <a:r>
              <a:rPr sz="2800" spc="-15" dirty="0">
                <a:latin typeface="Calibri"/>
                <a:cs typeface="Calibri"/>
              </a:rPr>
              <a:t>i</a:t>
            </a:r>
            <a:r>
              <a:rPr sz="2800" spc="-10" dirty="0">
                <a:latin typeface="Calibri"/>
                <a:cs typeface="Calibri"/>
              </a:rPr>
              <a:t>si</a:t>
            </a:r>
            <a:r>
              <a:rPr sz="2800" spc="-15" dirty="0">
                <a:latin typeface="Calibri"/>
                <a:cs typeface="Calibri"/>
              </a:rPr>
              <a:t>t</a:t>
            </a:r>
            <a:r>
              <a:rPr sz="2800" spc="-5" dirty="0">
                <a:latin typeface="Calibri"/>
                <a:cs typeface="Calibri"/>
              </a:rPr>
              <a:t>ion</a:t>
            </a:r>
            <a:endParaRPr sz="2800">
              <a:latin typeface="Calibri"/>
              <a:cs typeface="Calibri"/>
            </a:endParaRPr>
          </a:p>
        </p:txBody>
      </p:sp>
      <p:sp>
        <p:nvSpPr>
          <p:cNvPr id="5" name="object 5"/>
          <p:cNvSpPr txBox="1"/>
          <p:nvPr/>
        </p:nvSpPr>
        <p:spPr>
          <a:xfrm>
            <a:off x="7997952" y="4297679"/>
            <a:ext cx="2095500" cy="1112520"/>
          </a:xfrm>
          <a:prstGeom prst="rect">
            <a:avLst/>
          </a:prstGeom>
          <a:ln w="12192">
            <a:solidFill>
              <a:srgbClr val="000000"/>
            </a:solidFill>
          </a:ln>
        </p:spPr>
        <p:txBody>
          <a:bodyPr vert="horz" wrap="square" lIns="0" tIns="107314" rIns="0" bIns="0" rtlCol="0">
            <a:spAutoFit/>
          </a:bodyPr>
          <a:lstStyle/>
          <a:p>
            <a:pPr marL="431800" marR="244475" indent="-178435">
              <a:lnSpc>
                <a:spcPct val="100000"/>
              </a:lnSpc>
              <a:spcBef>
                <a:spcPts val="844"/>
              </a:spcBef>
            </a:pPr>
            <a:r>
              <a:rPr sz="2800" spc="-55" dirty="0">
                <a:latin typeface="Calibri"/>
                <a:cs typeface="Calibri"/>
              </a:rPr>
              <a:t>K</a:t>
            </a:r>
            <a:r>
              <a:rPr sz="2800" spc="-10" dirty="0">
                <a:latin typeface="Calibri"/>
                <a:cs typeface="Calibri"/>
              </a:rPr>
              <a:t>n</a:t>
            </a:r>
            <a:r>
              <a:rPr sz="2800" spc="-25" dirty="0">
                <a:latin typeface="Calibri"/>
                <a:cs typeface="Calibri"/>
              </a:rPr>
              <a:t>o</a:t>
            </a:r>
            <a:r>
              <a:rPr sz="2800" spc="-5" dirty="0">
                <a:latin typeface="Calibri"/>
                <a:cs typeface="Calibri"/>
              </a:rPr>
              <a:t>wle</a:t>
            </a:r>
            <a:r>
              <a:rPr sz="2800" spc="-20" dirty="0">
                <a:latin typeface="Calibri"/>
                <a:cs typeface="Calibri"/>
              </a:rPr>
              <a:t>d</a:t>
            </a:r>
            <a:r>
              <a:rPr sz="2800" spc="-30" dirty="0">
                <a:latin typeface="Calibri"/>
                <a:cs typeface="Calibri"/>
              </a:rPr>
              <a:t>g</a:t>
            </a:r>
            <a:r>
              <a:rPr sz="2800" spc="-5" dirty="0">
                <a:latin typeface="Calibri"/>
                <a:cs typeface="Calibri"/>
              </a:rPr>
              <a:t>e  </a:t>
            </a:r>
            <a:r>
              <a:rPr sz="2800" spc="-15" dirty="0">
                <a:latin typeface="Calibri"/>
                <a:cs typeface="Calibri"/>
              </a:rPr>
              <a:t>Inferring</a:t>
            </a:r>
            <a:endParaRPr sz="2800">
              <a:latin typeface="Calibri"/>
              <a:cs typeface="Calibri"/>
            </a:endParaRPr>
          </a:p>
        </p:txBody>
      </p:sp>
      <p:sp>
        <p:nvSpPr>
          <p:cNvPr id="6" name="object 6"/>
          <p:cNvSpPr txBox="1"/>
          <p:nvPr/>
        </p:nvSpPr>
        <p:spPr>
          <a:xfrm>
            <a:off x="3235451" y="4297679"/>
            <a:ext cx="2095500" cy="1112520"/>
          </a:xfrm>
          <a:prstGeom prst="rect">
            <a:avLst/>
          </a:prstGeom>
          <a:ln w="12192">
            <a:solidFill>
              <a:srgbClr val="000000"/>
            </a:solidFill>
          </a:ln>
        </p:spPr>
        <p:txBody>
          <a:bodyPr vert="horz" wrap="square" lIns="0" tIns="172085" rIns="0" bIns="0" rtlCol="0">
            <a:spAutoFit/>
          </a:bodyPr>
          <a:lstStyle/>
          <a:p>
            <a:pPr algn="ctr">
              <a:lnSpc>
                <a:spcPct val="100000"/>
              </a:lnSpc>
              <a:spcBef>
                <a:spcPts val="1355"/>
              </a:spcBef>
            </a:pPr>
            <a:r>
              <a:rPr sz="2400" spc="-10" dirty="0">
                <a:latin typeface="Calibri"/>
                <a:cs typeface="Calibri"/>
              </a:rPr>
              <a:t>Knowledge</a:t>
            </a:r>
            <a:endParaRPr sz="2400">
              <a:latin typeface="Calibri"/>
              <a:cs typeface="Calibri"/>
            </a:endParaRPr>
          </a:p>
          <a:p>
            <a:pPr marL="1905" algn="ctr">
              <a:lnSpc>
                <a:spcPct val="100000"/>
              </a:lnSpc>
            </a:pPr>
            <a:r>
              <a:rPr sz="2400" spc="-10" dirty="0">
                <a:latin typeface="Calibri"/>
                <a:cs typeface="Calibri"/>
              </a:rPr>
              <a:t>Representation</a:t>
            </a:r>
            <a:endParaRPr sz="2400">
              <a:latin typeface="Calibri"/>
              <a:cs typeface="Calibri"/>
            </a:endParaRPr>
          </a:p>
        </p:txBody>
      </p:sp>
      <p:sp>
        <p:nvSpPr>
          <p:cNvPr id="7" name="object 7"/>
          <p:cNvSpPr txBox="1"/>
          <p:nvPr/>
        </p:nvSpPr>
        <p:spPr>
          <a:xfrm>
            <a:off x="7997952" y="2039111"/>
            <a:ext cx="2095500" cy="1112520"/>
          </a:xfrm>
          <a:prstGeom prst="rect">
            <a:avLst/>
          </a:prstGeom>
          <a:ln w="12192">
            <a:solidFill>
              <a:srgbClr val="000000"/>
            </a:solidFill>
          </a:ln>
        </p:spPr>
        <p:txBody>
          <a:bodyPr vert="horz" wrap="square" lIns="0" tIns="106680" rIns="0" bIns="0" rtlCol="0">
            <a:spAutoFit/>
          </a:bodyPr>
          <a:lstStyle/>
          <a:p>
            <a:pPr marL="467995" marR="244475" indent="-215265">
              <a:lnSpc>
                <a:spcPct val="100000"/>
              </a:lnSpc>
              <a:spcBef>
                <a:spcPts val="840"/>
              </a:spcBef>
            </a:pPr>
            <a:r>
              <a:rPr sz="2800" spc="-55" dirty="0">
                <a:latin typeface="Calibri"/>
                <a:cs typeface="Calibri"/>
              </a:rPr>
              <a:t>K</a:t>
            </a:r>
            <a:r>
              <a:rPr sz="2800" spc="-10" dirty="0">
                <a:latin typeface="Calibri"/>
                <a:cs typeface="Calibri"/>
              </a:rPr>
              <a:t>n</a:t>
            </a:r>
            <a:r>
              <a:rPr sz="2800" spc="-25" dirty="0">
                <a:latin typeface="Calibri"/>
                <a:cs typeface="Calibri"/>
              </a:rPr>
              <a:t>o</a:t>
            </a:r>
            <a:r>
              <a:rPr sz="2800" spc="-5" dirty="0">
                <a:latin typeface="Calibri"/>
                <a:cs typeface="Calibri"/>
              </a:rPr>
              <a:t>wle</a:t>
            </a:r>
            <a:r>
              <a:rPr sz="2800" spc="-20" dirty="0">
                <a:latin typeface="Calibri"/>
                <a:cs typeface="Calibri"/>
              </a:rPr>
              <a:t>d</a:t>
            </a:r>
            <a:r>
              <a:rPr sz="2800" spc="-30" dirty="0">
                <a:latin typeface="Calibri"/>
                <a:cs typeface="Calibri"/>
              </a:rPr>
              <a:t>g</a:t>
            </a:r>
            <a:r>
              <a:rPr sz="2800" spc="-5" dirty="0">
                <a:latin typeface="Calibri"/>
                <a:cs typeface="Calibri"/>
              </a:rPr>
              <a:t>e  </a:t>
            </a:r>
            <a:r>
              <a:rPr sz="2800" spc="-45" dirty="0">
                <a:latin typeface="Calibri"/>
                <a:cs typeface="Calibri"/>
              </a:rPr>
              <a:t>Transfer</a:t>
            </a:r>
            <a:endParaRPr sz="2800">
              <a:latin typeface="Calibri"/>
              <a:cs typeface="Calibri"/>
            </a:endParaRPr>
          </a:p>
        </p:txBody>
      </p:sp>
      <p:sp>
        <p:nvSpPr>
          <p:cNvPr id="8" name="object 8"/>
          <p:cNvSpPr/>
          <p:nvPr/>
        </p:nvSpPr>
        <p:spPr>
          <a:xfrm>
            <a:off x="4245864" y="3151632"/>
            <a:ext cx="76200" cy="1147445"/>
          </a:xfrm>
          <a:custGeom>
            <a:avLst/>
            <a:gdLst/>
            <a:ahLst/>
            <a:cxnLst/>
            <a:rect l="l" t="t" r="r" b="b"/>
            <a:pathLst>
              <a:path w="76200" h="1147445">
                <a:moveTo>
                  <a:pt x="31750" y="1071117"/>
                </a:moveTo>
                <a:lnTo>
                  <a:pt x="0" y="1071117"/>
                </a:lnTo>
                <a:lnTo>
                  <a:pt x="38100" y="1147317"/>
                </a:lnTo>
                <a:lnTo>
                  <a:pt x="69850" y="1083817"/>
                </a:lnTo>
                <a:lnTo>
                  <a:pt x="31750" y="1083817"/>
                </a:lnTo>
                <a:lnTo>
                  <a:pt x="31750" y="1071117"/>
                </a:lnTo>
                <a:close/>
              </a:path>
              <a:path w="76200" h="1147445">
                <a:moveTo>
                  <a:pt x="44450" y="0"/>
                </a:moveTo>
                <a:lnTo>
                  <a:pt x="31750" y="0"/>
                </a:lnTo>
                <a:lnTo>
                  <a:pt x="31750" y="1083817"/>
                </a:lnTo>
                <a:lnTo>
                  <a:pt x="44450" y="1083817"/>
                </a:lnTo>
                <a:lnTo>
                  <a:pt x="44450" y="0"/>
                </a:lnTo>
                <a:close/>
              </a:path>
              <a:path w="76200" h="1147445">
                <a:moveTo>
                  <a:pt x="76200" y="1071117"/>
                </a:moveTo>
                <a:lnTo>
                  <a:pt x="44450" y="1071117"/>
                </a:lnTo>
                <a:lnTo>
                  <a:pt x="44450" y="1083817"/>
                </a:lnTo>
                <a:lnTo>
                  <a:pt x="69850" y="1083817"/>
                </a:lnTo>
                <a:lnTo>
                  <a:pt x="76200" y="1071117"/>
                </a:lnTo>
                <a:close/>
              </a:path>
            </a:pathLst>
          </a:custGeom>
          <a:solidFill>
            <a:srgbClr val="000000"/>
          </a:solidFill>
        </p:spPr>
        <p:txBody>
          <a:bodyPr wrap="square" lIns="0" tIns="0" rIns="0" bIns="0" rtlCol="0"/>
          <a:lstStyle/>
          <a:p>
            <a:endParaRPr/>
          </a:p>
        </p:txBody>
      </p:sp>
      <p:sp>
        <p:nvSpPr>
          <p:cNvPr id="9" name="object 9"/>
          <p:cNvSpPr/>
          <p:nvPr/>
        </p:nvSpPr>
        <p:spPr>
          <a:xfrm>
            <a:off x="9006840" y="3151632"/>
            <a:ext cx="76200" cy="1147445"/>
          </a:xfrm>
          <a:custGeom>
            <a:avLst/>
            <a:gdLst/>
            <a:ahLst/>
            <a:cxnLst/>
            <a:rect l="l" t="t" r="r" b="b"/>
            <a:pathLst>
              <a:path w="76200" h="1147445">
                <a:moveTo>
                  <a:pt x="44450" y="63500"/>
                </a:moveTo>
                <a:lnTo>
                  <a:pt x="31750" y="63500"/>
                </a:lnTo>
                <a:lnTo>
                  <a:pt x="31750" y="1147317"/>
                </a:lnTo>
                <a:lnTo>
                  <a:pt x="44450" y="1147317"/>
                </a:lnTo>
                <a:lnTo>
                  <a:pt x="44450" y="63500"/>
                </a:lnTo>
                <a:close/>
              </a:path>
              <a:path w="76200" h="1147445">
                <a:moveTo>
                  <a:pt x="38100" y="0"/>
                </a:moveTo>
                <a:lnTo>
                  <a:pt x="0" y="76200"/>
                </a:lnTo>
                <a:lnTo>
                  <a:pt x="31750" y="76200"/>
                </a:lnTo>
                <a:lnTo>
                  <a:pt x="31750" y="63500"/>
                </a:lnTo>
                <a:lnTo>
                  <a:pt x="69850" y="63500"/>
                </a:lnTo>
                <a:lnTo>
                  <a:pt x="38100" y="0"/>
                </a:lnTo>
                <a:close/>
              </a:path>
              <a:path w="76200" h="114744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0" name="object 10"/>
          <p:cNvSpPr/>
          <p:nvPr/>
        </p:nvSpPr>
        <p:spPr>
          <a:xfrm>
            <a:off x="5330952" y="4815840"/>
            <a:ext cx="2666365" cy="76200"/>
          </a:xfrm>
          <a:custGeom>
            <a:avLst/>
            <a:gdLst/>
            <a:ahLst/>
            <a:cxnLst/>
            <a:rect l="l" t="t" r="r" b="b"/>
            <a:pathLst>
              <a:path w="2666365" h="76200">
                <a:moveTo>
                  <a:pt x="2589656" y="0"/>
                </a:moveTo>
                <a:lnTo>
                  <a:pt x="2589656" y="76200"/>
                </a:lnTo>
                <a:lnTo>
                  <a:pt x="2653156" y="44450"/>
                </a:lnTo>
                <a:lnTo>
                  <a:pt x="2602356" y="44450"/>
                </a:lnTo>
                <a:lnTo>
                  <a:pt x="2602356" y="31750"/>
                </a:lnTo>
                <a:lnTo>
                  <a:pt x="2653156" y="31750"/>
                </a:lnTo>
                <a:lnTo>
                  <a:pt x="2589656" y="0"/>
                </a:lnTo>
                <a:close/>
              </a:path>
              <a:path w="2666365" h="76200">
                <a:moveTo>
                  <a:pt x="2589656" y="31750"/>
                </a:moveTo>
                <a:lnTo>
                  <a:pt x="0" y="31750"/>
                </a:lnTo>
                <a:lnTo>
                  <a:pt x="0" y="44450"/>
                </a:lnTo>
                <a:lnTo>
                  <a:pt x="2589656" y="44450"/>
                </a:lnTo>
                <a:lnTo>
                  <a:pt x="2589656" y="31750"/>
                </a:lnTo>
                <a:close/>
              </a:path>
              <a:path w="2666365" h="76200">
                <a:moveTo>
                  <a:pt x="2653156" y="31750"/>
                </a:moveTo>
                <a:lnTo>
                  <a:pt x="2602356" y="31750"/>
                </a:lnTo>
                <a:lnTo>
                  <a:pt x="2602356" y="44450"/>
                </a:lnTo>
                <a:lnTo>
                  <a:pt x="2653156" y="44450"/>
                </a:lnTo>
                <a:lnTo>
                  <a:pt x="2665856" y="38100"/>
                </a:lnTo>
                <a:lnTo>
                  <a:pt x="2653156" y="31750"/>
                </a:lnTo>
                <a:close/>
              </a:path>
            </a:pathLst>
          </a:custGeom>
          <a:solidFill>
            <a:srgbClr val="000000"/>
          </a:solidFill>
        </p:spPr>
        <p:txBody>
          <a:bodyPr wrap="square" lIns="0" tIns="0" rIns="0" bIns="0" rtlCol="0"/>
          <a:lstStyle/>
          <a:p>
            <a:endParaRPr/>
          </a:p>
        </p:txBody>
      </p:sp>
      <p:sp>
        <p:nvSpPr>
          <p:cNvPr id="11" name="object 11"/>
          <p:cNvSpPr txBox="1"/>
          <p:nvPr/>
        </p:nvSpPr>
        <p:spPr>
          <a:xfrm>
            <a:off x="5565775" y="2367788"/>
            <a:ext cx="1501775"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Calibri"/>
                <a:cs typeface="Calibri"/>
              </a:rPr>
              <a:t>From</a:t>
            </a:r>
            <a:r>
              <a:rPr sz="1800" spc="-55" dirty="0">
                <a:latin typeface="Calibri"/>
                <a:cs typeface="Calibri"/>
              </a:rPr>
              <a:t> </a:t>
            </a:r>
            <a:r>
              <a:rPr sz="1800" spc="-5" dirty="0">
                <a:latin typeface="Calibri"/>
                <a:cs typeface="Calibri"/>
              </a:rPr>
              <a:t>experts</a:t>
            </a:r>
            <a:r>
              <a:rPr sz="1800" spc="-55" dirty="0">
                <a:latin typeface="Calibri"/>
                <a:cs typeface="Calibri"/>
              </a:rPr>
              <a:t> </a:t>
            </a:r>
            <a:r>
              <a:rPr sz="1800" spc="-5" dirty="0">
                <a:latin typeface="Calibri"/>
                <a:cs typeface="Calibri"/>
              </a:rPr>
              <a:t>or </a:t>
            </a:r>
            <a:r>
              <a:rPr sz="1800" spc="-395" dirty="0">
                <a:latin typeface="Calibri"/>
                <a:cs typeface="Calibri"/>
              </a:rPr>
              <a:t> </a:t>
            </a:r>
            <a:r>
              <a:rPr sz="1800" spc="-5" dirty="0">
                <a:latin typeface="Calibri"/>
                <a:cs typeface="Calibri"/>
              </a:rPr>
              <a:t>Other</a:t>
            </a:r>
            <a:r>
              <a:rPr sz="1800" spc="-15" dirty="0">
                <a:latin typeface="Calibri"/>
                <a:cs typeface="Calibri"/>
              </a:rPr>
              <a:t> </a:t>
            </a:r>
            <a:r>
              <a:rPr sz="1800" spc="-10" dirty="0">
                <a:latin typeface="Calibri"/>
                <a:cs typeface="Calibri"/>
              </a:rPr>
              <a:t>sources</a:t>
            </a:r>
            <a:endParaRPr sz="1800">
              <a:latin typeface="Calibri"/>
              <a:cs typeface="Calibri"/>
            </a:endParaRPr>
          </a:p>
        </p:txBody>
      </p:sp>
      <p:sp>
        <p:nvSpPr>
          <p:cNvPr id="12" name="object 12"/>
          <p:cNvSpPr txBox="1"/>
          <p:nvPr/>
        </p:nvSpPr>
        <p:spPr>
          <a:xfrm>
            <a:off x="3694557" y="5575503"/>
            <a:ext cx="118872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In</a:t>
            </a:r>
            <a:r>
              <a:rPr sz="1800" spc="-75" dirty="0">
                <a:latin typeface="Calibri"/>
                <a:cs typeface="Calibri"/>
              </a:rPr>
              <a:t> </a:t>
            </a:r>
            <a:r>
              <a:rPr sz="1800" spc="-5" dirty="0">
                <a:latin typeface="Calibri"/>
                <a:cs typeface="Calibri"/>
              </a:rPr>
              <a:t>Computer</a:t>
            </a:r>
            <a:endParaRPr sz="1800">
              <a:latin typeface="Calibri"/>
              <a:cs typeface="Calibri"/>
            </a:endParaRPr>
          </a:p>
        </p:txBody>
      </p:sp>
      <p:sp>
        <p:nvSpPr>
          <p:cNvPr id="13" name="object 13"/>
          <p:cNvSpPr txBox="1"/>
          <p:nvPr/>
        </p:nvSpPr>
        <p:spPr>
          <a:xfrm>
            <a:off x="8407654" y="5604154"/>
            <a:ext cx="11899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In</a:t>
            </a:r>
            <a:r>
              <a:rPr sz="1800" spc="-65" dirty="0">
                <a:latin typeface="Calibri"/>
                <a:cs typeface="Calibri"/>
              </a:rPr>
              <a:t> </a:t>
            </a:r>
            <a:r>
              <a:rPr sz="1800" spc="-5" dirty="0">
                <a:latin typeface="Calibri"/>
                <a:cs typeface="Calibri"/>
              </a:rPr>
              <a:t>Computer</a:t>
            </a:r>
            <a:endParaRPr sz="1800">
              <a:latin typeface="Calibri"/>
              <a:cs typeface="Calibri"/>
            </a:endParaRPr>
          </a:p>
        </p:txBody>
      </p:sp>
      <p:sp>
        <p:nvSpPr>
          <p:cNvPr id="14" name="object 14"/>
          <p:cNvSpPr txBox="1"/>
          <p:nvPr/>
        </p:nvSpPr>
        <p:spPr>
          <a:xfrm>
            <a:off x="10321290" y="2522601"/>
            <a:ext cx="718820"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Calibri"/>
                <a:cs typeface="Calibri"/>
              </a:rPr>
              <a:t>T</a:t>
            </a:r>
            <a:r>
              <a:rPr sz="1800" dirty="0">
                <a:latin typeface="Calibri"/>
                <a:cs typeface="Calibri"/>
              </a:rPr>
              <a:t>o</a:t>
            </a:r>
            <a:r>
              <a:rPr sz="1800" spc="-5" dirty="0">
                <a:latin typeface="Calibri"/>
                <a:cs typeface="Calibri"/>
              </a:rPr>
              <a:t> </a:t>
            </a:r>
            <a:r>
              <a:rPr sz="1800" dirty="0">
                <a:latin typeface="Calibri"/>
                <a:cs typeface="Calibri"/>
              </a:rPr>
              <a:t>User</a:t>
            </a:r>
            <a:endParaRPr sz="1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33730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20" dirty="0"/>
              <a:t> </a:t>
            </a:r>
            <a:r>
              <a:rPr sz="4400" spc="-30" dirty="0"/>
              <a:t>System:</a:t>
            </a:r>
            <a:r>
              <a:rPr sz="4400" spc="-45" dirty="0"/>
              <a:t> </a:t>
            </a:r>
            <a:r>
              <a:rPr sz="4400" spc="-10" dirty="0"/>
              <a:t>Components</a:t>
            </a:r>
            <a:endParaRPr sz="4400"/>
          </a:p>
        </p:txBody>
      </p:sp>
      <p:sp>
        <p:nvSpPr>
          <p:cNvPr id="3" name="object 3"/>
          <p:cNvSpPr txBox="1"/>
          <p:nvPr/>
        </p:nvSpPr>
        <p:spPr>
          <a:xfrm>
            <a:off x="916939" y="1793189"/>
            <a:ext cx="10304780" cy="3522345"/>
          </a:xfrm>
          <a:prstGeom prst="rect">
            <a:avLst/>
          </a:prstGeom>
        </p:spPr>
        <p:txBody>
          <a:bodyPr vert="horz" wrap="square" lIns="0" tIns="60325" rIns="0" bIns="0" rtlCol="0">
            <a:spAutoFit/>
          </a:bodyPr>
          <a:lstStyle/>
          <a:p>
            <a:pPr marL="241300" marR="13970" indent="-228600">
              <a:lnSpc>
                <a:spcPts val="3030"/>
              </a:lnSpc>
              <a:spcBef>
                <a:spcPts val="475"/>
              </a:spcBef>
              <a:buFont typeface="Arial MT"/>
              <a:buChar char="•"/>
              <a:tabLst>
                <a:tab pos="241300" algn="l"/>
              </a:tabLst>
            </a:pPr>
            <a:r>
              <a:rPr sz="2800" spc="-15" dirty="0">
                <a:latin typeface="Calibri"/>
                <a:cs typeface="Calibri"/>
              </a:rPr>
              <a:t>Knowledge</a:t>
            </a:r>
            <a:r>
              <a:rPr sz="2800" spc="15" dirty="0">
                <a:latin typeface="Calibri"/>
                <a:cs typeface="Calibri"/>
              </a:rPr>
              <a:t> </a:t>
            </a:r>
            <a:r>
              <a:rPr sz="2800" spc="-5" dirty="0">
                <a:latin typeface="Calibri"/>
                <a:cs typeface="Calibri"/>
              </a:rPr>
              <a:t>Base:</a:t>
            </a:r>
            <a:r>
              <a:rPr sz="2800" dirty="0">
                <a:latin typeface="Calibri"/>
                <a:cs typeface="Calibri"/>
              </a:rPr>
              <a:t> </a:t>
            </a:r>
            <a:r>
              <a:rPr sz="2800" spc="-5" dirty="0">
                <a:latin typeface="Calibri"/>
                <a:cs typeface="Calibri"/>
              </a:rPr>
              <a:t>A</a:t>
            </a:r>
            <a:r>
              <a:rPr sz="2800" spc="25" dirty="0">
                <a:latin typeface="Calibri"/>
                <a:cs typeface="Calibri"/>
              </a:rPr>
              <a:t> </a:t>
            </a:r>
            <a:r>
              <a:rPr sz="2800" spc="-15" dirty="0">
                <a:latin typeface="Calibri"/>
                <a:cs typeface="Calibri"/>
              </a:rPr>
              <a:t>declarative</a:t>
            </a:r>
            <a:r>
              <a:rPr sz="2800" spc="5" dirty="0">
                <a:latin typeface="Calibri"/>
                <a:cs typeface="Calibri"/>
              </a:rPr>
              <a:t> </a:t>
            </a:r>
            <a:r>
              <a:rPr sz="2800" spc="-15" dirty="0">
                <a:latin typeface="Calibri"/>
                <a:cs typeface="Calibri"/>
              </a:rPr>
              <a:t>representation</a:t>
            </a:r>
            <a:r>
              <a:rPr sz="2800" spc="4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expertise,</a:t>
            </a:r>
            <a:r>
              <a:rPr sz="2800" spc="25" dirty="0">
                <a:latin typeface="Calibri"/>
                <a:cs typeface="Calibri"/>
              </a:rPr>
              <a:t> </a:t>
            </a:r>
            <a:r>
              <a:rPr sz="2800" spc="-10" dirty="0">
                <a:latin typeface="Calibri"/>
                <a:cs typeface="Calibri"/>
              </a:rPr>
              <a:t>often</a:t>
            </a:r>
            <a:r>
              <a:rPr sz="2800" spc="5"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IF </a:t>
            </a:r>
            <a:r>
              <a:rPr sz="2800" spc="-620" dirty="0">
                <a:latin typeface="Calibri"/>
                <a:cs typeface="Calibri"/>
              </a:rPr>
              <a:t> </a:t>
            </a:r>
            <a:r>
              <a:rPr sz="2800" spc="-5" dirty="0">
                <a:latin typeface="Calibri"/>
                <a:cs typeface="Calibri"/>
              </a:rPr>
              <a:t>Then</a:t>
            </a:r>
            <a:r>
              <a:rPr sz="2800" spc="5" dirty="0">
                <a:latin typeface="Calibri"/>
                <a:cs typeface="Calibri"/>
              </a:rPr>
              <a:t> </a:t>
            </a:r>
            <a:r>
              <a:rPr sz="2800" spc="-5" dirty="0">
                <a:latin typeface="Calibri"/>
                <a:cs typeface="Calibri"/>
              </a:rPr>
              <a:t>rule</a:t>
            </a:r>
            <a:endParaRPr sz="2800">
              <a:latin typeface="Calibri"/>
              <a:cs typeface="Calibri"/>
            </a:endParaRPr>
          </a:p>
          <a:p>
            <a:pPr marL="241300" indent="-228600">
              <a:lnSpc>
                <a:spcPct val="100000"/>
              </a:lnSpc>
              <a:spcBef>
                <a:spcPts val="620"/>
              </a:spcBef>
              <a:buFont typeface="Arial MT"/>
              <a:buChar char="•"/>
              <a:tabLst>
                <a:tab pos="241300" algn="l"/>
              </a:tabLst>
            </a:pPr>
            <a:r>
              <a:rPr sz="2800" spc="-25" dirty="0">
                <a:latin typeface="Calibri"/>
                <a:cs typeface="Calibri"/>
              </a:rPr>
              <a:t>Working</a:t>
            </a:r>
            <a:r>
              <a:rPr sz="2800" spc="20" dirty="0">
                <a:latin typeface="Calibri"/>
                <a:cs typeface="Calibri"/>
              </a:rPr>
              <a:t> </a:t>
            </a:r>
            <a:r>
              <a:rPr sz="2800" spc="-20" dirty="0">
                <a:latin typeface="Calibri"/>
                <a:cs typeface="Calibri"/>
              </a:rPr>
              <a:t>Storage:</a:t>
            </a:r>
            <a:r>
              <a:rPr sz="2800" spc="5" dirty="0">
                <a:latin typeface="Calibri"/>
                <a:cs typeface="Calibri"/>
              </a:rPr>
              <a:t> </a:t>
            </a:r>
            <a:r>
              <a:rPr sz="2800" spc="-5" dirty="0">
                <a:latin typeface="Calibri"/>
                <a:cs typeface="Calibri"/>
              </a:rPr>
              <a:t>The</a:t>
            </a:r>
            <a:r>
              <a:rPr sz="2800" dirty="0">
                <a:latin typeface="Calibri"/>
                <a:cs typeface="Calibri"/>
              </a:rPr>
              <a:t> </a:t>
            </a:r>
            <a:r>
              <a:rPr sz="2800" spc="-20" dirty="0">
                <a:latin typeface="Calibri"/>
                <a:cs typeface="Calibri"/>
              </a:rPr>
              <a:t>data</a:t>
            </a:r>
            <a:r>
              <a:rPr sz="2800" spc="15" dirty="0">
                <a:latin typeface="Calibri"/>
                <a:cs typeface="Calibri"/>
              </a:rPr>
              <a:t> </a:t>
            </a:r>
            <a:r>
              <a:rPr sz="2800" spc="-5" dirty="0">
                <a:latin typeface="Calibri"/>
                <a:cs typeface="Calibri"/>
              </a:rPr>
              <a:t>which</a:t>
            </a:r>
            <a:r>
              <a:rPr sz="2800" spc="2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specific</a:t>
            </a:r>
            <a:r>
              <a:rPr sz="2800" spc="25"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a</a:t>
            </a:r>
            <a:r>
              <a:rPr sz="2800" spc="15" dirty="0">
                <a:latin typeface="Calibri"/>
                <a:cs typeface="Calibri"/>
              </a:rPr>
              <a:t> </a:t>
            </a:r>
            <a:r>
              <a:rPr sz="2800" spc="-15" dirty="0">
                <a:latin typeface="Calibri"/>
                <a:cs typeface="Calibri"/>
              </a:rPr>
              <a:t>problem</a:t>
            </a:r>
            <a:r>
              <a:rPr sz="2800" spc="25" dirty="0">
                <a:latin typeface="Calibri"/>
                <a:cs typeface="Calibri"/>
              </a:rPr>
              <a:t> </a:t>
            </a:r>
            <a:r>
              <a:rPr sz="2800" spc="-10" dirty="0">
                <a:latin typeface="Calibri"/>
                <a:cs typeface="Calibri"/>
              </a:rPr>
              <a:t>being</a:t>
            </a:r>
            <a:r>
              <a:rPr sz="2800" spc="25" dirty="0">
                <a:latin typeface="Calibri"/>
                <a:cs typeface="Calibri"/>
              </a:rPr>
              <a:t> </a:t>
            </a:r>
            <a:r>
              <a:rPr sz="2800" spc="-10" dirty="0">
                <a:latin typeface="Calibri"/>
                <a:cs typeface="Calibri"/>
              </a:rPr>
              <a:t>solved</a:t>
            </a:r>
            <a:endParaRPr sz="2800">
              <a:latin typeface="Calibri"/>
              <a:cs typeface="Calibri"/>
            </a:endParaRPr>
          </a:p>
          <a:p>
            <a:pPr marL="241300" marR="408305" indent="-228600">
              <a:lnSpc>
                <a:spcPts val="3030"/>
              </a:lnSpc>
              <a:spcBef>
                <a:spcPts val="1035"/>
              </a:spcBef>
              <a:buFont typeface="Arial MT"/>
              <a:buChar char="•"/>
              <a:tabLst>
                <a:tab pos="241300" algn="l"/>
              </a:tabLst>
            </a:pPr>
            <a:r>
              <a:rPr sz="2800" spc="-15" dirty="0">
                <a:latin typeface="Calibri"/>
                <a:cs typeface="Calibri"/>
              </a:rPr>
              <a:t>Inference</a:t>
            </a:r>
            <a:r>
              <a:rPr sz="2800" spc="10" dirty="0">
                <a:latin typeface="Calibri"/>
                <a:cs typeface="Calibri"/>
              </a:rPr>
              <a:t> </a:t>
            </a:r>
            <a:r>
              <a:rPr sz="2800" spc="-5" dirty="0">
                <a:latin typeface="Calibri"/>
                <a:cs typeface="Calibri"/>
              </a:rPr>
              <a:t>Engine:</a:t>
            </a:r>
            <a:r>
              <a:rPr sz="2800" spc="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code</a:t>
            </a:r>
            <a:r>
              <a:rPr sz="2800" spc="10" dirty="0">
                <a:latin typeface="Calibri"/>
                <a:cs typeface="Calibri"/>
              </a:rPr>
              <a:t> </a:t>
            </a:r>
            <a:r>
              <a:rPr sz="2800" spc="-15" dirty="0">
                <a:latin typeface="Calibri"/>
                <a:cs typeface="Calibri"/>
              </a:rPr>
              <a:t>at</a:t>
            </a:r>
            <a:r>
              <a:rPr sz="2800" spc="-5" dirty="0">
                <a:latin typeface="Calibri"/>
                <a:cs typeface="Calibri"/>
              </a:rPr>
              <a:t> the</a:t>
            </a:r>
            <a:r>
              <a:rPr sz="2800" spc="5" dirty="0">
                <a:latin typeface="Calibri"/>
                <a:cs typeface="Calibri"/>
              </a:rPr>
              <a:t> </a:t>
            </a:r>
            <a:r>
              <a:rPr sz="2800" spc="-20" dirty="0">
                <a:latin typeface="Calibri"/>
                <a:cs typeface="Calibri"/>
              </a:rPr>
              <a:t>core</a:t>
            </a:r>
            <a:r>
              <a:rPr sz="2800" dirty="0">
                <a:latin typeface="Calibri"/>
                <a:cs typeface="Calibri"/>
              </a:rPr>
              <a:t> of</a:t>
            </a:r>
            <a:r>
              <a:rPr sz="2800" spc="-5" dirty="0">
                <a:latin typeface="Calibri"/>
                <a:cs typeface="Calibri"/>
              </a:rPr>
              <a:t> the</a:t>
            </a:r>
            <a:r>
              <a:rPr sz="2800" spc="15" dirty="0">
                <a:latin typeface="Calibri"/>
                <a:cs typeface="Calibri"/>
              </a:rPr>
              <a:t> </a:t>
            </a:r>
            <a:r>
              <a:rPr sz="2800" spc="-25" dirty="0">
                <a:latin typeface="Calibri"/>
                <a:cs typeface="Calibri"/>
              </a:rPr>
              <a:t>system</a:t>
            </a:r>
            <a:r>
              <a:rPr sz="2800" spc="15" dirty="0">
                <a:latin typeface="Calibri"/>
                <a:cs typeface="Calibri"/>
              </a:rPr>
              <a:t> </a:t>
            </a:r>
            <a:r>
              <a:rPr sz="2800" spc="-5" dirty="0">
                <a:latin typeface="Calibri"/>
                <a:cs typeface="Calibri"/>
              </a:rPr>
              <a:t>which</a:t>
            </a:r>
            <a:r>
              <a:rPr sz="2800" spc="30" dirty="0">
                <a:latin typeface="Calibri"/>
                <a:cs typeface="Calibri"/>
              </a:rPr>
              <a:t> </a:t>
            </a:r>
            <a:r>
              <a:rPr sz="2800" spc="-10" dirty="0">
                <a:latin typeface="Calibri"/>
                <a:cs typeface="Calibri"/>
              </a:rPr>
              <a:t>derives </a:t>
            </a:r>
            <a:r>
              <a:rPr sz="2800" spc="-620" dirty="0">
                <a:latin typeface="Calibri"/>
                <a:cs typeface="Calibri"/>
              </a:rPr>
              <a:t> </a:t>
            </a:r>
            <a:r>
              <a:rPr sz="2800" spc="-10" dirty="0">
                <a:latin typeface="Calibri"/>
                <a:cs typeface="Calibri"/>
              </a:rPr>
              <a:t>recommendations</a:t>
            </a:r>
            <a:r>
              <a:rPr sz="2800" spc="40" dirty="0">
                <a:latin typeface="Calibri"/>
                <a:cs typeface="Calibri"/>
              </a:rPr>
              <a:t> </a:t>
            </a:r>
            <a:r>
              <a:rPr sz="2800" spc="-20" dirty="0">
                <a:latin typeface="Calibri"/>
                <a:cs typeface="Calibri"/>
              </a:rPr>
              <a:t>from</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knowledge</a:t>
            </a:r>
            <a:r>
              <a:rPr sz="2800" spc="15" dirty="0">
                <a:latin typeface="Calibri"/>
                <a:cs typeface="Calibri"/>
              </a:rPr>
              <a:t> </a:t>
            </a:r>
            <a:r>
              <a:rPr sz="2800" spc="-10" dirty="0">
                <a:latin typeface="Calibri"/>
                <a:cs typeface="Calibri"/>
              </a:rPr>
              <a:t>base</a:t>
            </a:r>
            <a:r>
              <a:rPr sz="2800" dirty="0">
                <a:latin typeface="Calibri"/>
                <a:cs typeface="Calibri"/>
              </a:rPr>
              <a:t> </a:t>
            </a:r>
            <a:r>
              <a:rPr sz="2800" spc="-5" dirty="0">
                <a:latin typeface="Calibri"/>
                <a:cs typeface="Calibri"/>
              </a:rPr>
              <a:t>and</a:t>
            </a:r>
            <a:r>
              <a:rPr sz="2800" spc="20" dirty="0">
                <a:latin typeface="Calibri"/>
                <a:cs typeface="Calibri"/>
              </a:rPr>
              <a:t> </a:t>
            </a:r>
            <a:r>
              <a:rPr sz="2800" spc="-15" dirty="0">
                <a:latin typeface="Calibri"/>
                <a:cs typeface="Calibri"/>
              </a:rPr>
              <a:t>problem</a:t>
            </a:r>
            <a:r>
              <a:rPr sz="2800" spc="20" dirty="0">
                <a:latin typeface="Calibri"/>
                <a:cs typeface="Calibri"/>
              </a:rPr>
              <a:t> </a:t>
            </a:r>
            <a:r>
              <a:rPr sz="2800" spc="-5" dirty="0">
                <a:latin typeface="Calibri"/>
                <a:cs typeface="Calibri"/>
              </a:rPr>
              <a:t>specific </a:t>
            </a:r>
            <a:r>
              <a:rPr sz="2800" dirty="0">
                <a:latin typeface="Calibri"/>
                <a:cs typeface="Calibri"/>
              </a:rPr>
              <a:t> </a:t>
            </a:r>
            <a:r>
              <a:rPr sz="2800" spc="-20" dirty="0">
                <a:latin typeface="Calibri"/>
                <a:cs typeface="Calibri"/>
              </a:rPr>
              <a:t>data</a:t>
            </a:r>
            <a:r>
              <a:rPr sz="2800" spc="5" dirty="0">
                <a:latin typeface="Calibri"/>
                <a:cs typeface="Calibri"/>
              </a:rPr>
              <a:t> </a:t>
            </a:r>
            <a:r>
              <a:rPr sz="2800" spc="-5" dirty="0">
                <a:latin typeface="Calibri"/>
                <a:cs typeface="Calibri"/>
              </a:rPr>
              <a:t>in</a:t>
            </a:r>
            <a:r>
              <a:rPr sz="2800" spc="10" dirty="0">
                <a:latin typeface="Calibri"/>
                <a:cs typeface="Calibri"/>
              </a:rPr>
              <a:t> </a:t>
            </a:r>
            <a:r>
              <a:rPr sz="2800" spc="-10" dirty="0">
                <a:latin typeface="Calibri"/>
                <a:cs typeface="Calibri"/>
              </a:rPr>
              <a:t>working</a:t>
            </a:r>
            <a:r>
              <a:rPr sz="2800" spc="15" dirty="0">
                <a:latin typeface="Calibri"/>
                <a:cs typeface="Calibri"/>
              </a:rPr>
              <a:t> </a:t>
            </a:r>
            <a:r>
              <a:rPr sz="2800" spc="-25" dirty="0">
                <a:latin typeface="Calibri"/>
                <a:cs typeface="Calibri"/>
              </a:rPr>
              <a:t>storage</a:t>
            </a:r>
            <a:endParaRPr sz="2800">
              <a:latin typeface="Calibri"/>
              <a:cs typeface="Calibri"/>
            </a:endParaRPr>
          </a:p>
          <a:p>
            <a:pPr marL="241300" marR="456565" indent="-228600">
              <a:lnSpc>
                <a:spcPts val="3020"/>
              </a:lnSpc>
              <a:spcBef>
                <a:spcPts val="995"/>
              </a:spcBef>
              <a:buFont typeface="Arial MT"/>
              <a:buChar char="•"/>
              <a:tabLst>
                <a:tab pos="241300" algn="l"/>
              </a:tabLst>
            </a:pPr>
            <a:r>
              <a:rPr sz="2800" spc="-5" dirty="0">
                <a:latin typeface="Calibri"/>
                <a:cs typeface="Calibri"/>
              </a:rPr>
              <a:t>User</a:t>
            </a:r>
            <a:r>
              <a:rPr sz="2800" spc="20" dirty="0">
                <a:latin typeface="Calibri"/>
                <a:cs typeface="Calibri"/>
              </a:rPr>
              <a:t> </a:t>
            </a:r>
            <a:r>
              <a:rPr sz="2800" spc="-15" dirty="0">
                <a:latin typeface="Calibri"/>
                <a:cs typeface="Calibri"/>
              </a:rPr>
              <a:t>Interface:</a:t>
            </a:r>
            <a:r>
              <a:rPr sz="2800" spc="10" dirty="0">
                <a:latin typeface="Calibri"/>
                <a:cs typeface="Calibri"/>
              </a:rPr>
              <a:t> </a:t>
            </a:r>
            <a:r>
              <a:rPr sz="2800" spc="-10" dirty="0">
                <a:latin typeface="Calibri"/>
                <a:cs typeface="Calibri"/>
              </a:rPr>
              <a:t>The</a:t>
            </a:r>
            <a:r>
              <a:rPr sz="2800" spc="10" dirty="0">
                <a:latin typeface="Calibri"/>
                <a:cs typeface="Calibri"/>
              </a:rPr>
              <a:t> </a:t>
            </a:r>
            <a:r>
              <a:rPr sz="2800" spc="-10" dirty="0">
                <a:latin typeface="Calibri"/>
                <a:cs typeface="Calibri"/>
              </a:rPr>
              <a:t>code</a:t>
            </a:r>
            <a:r>
              <a:rPr sz="2800" spc="25" dirty="0">
                <a:latin typeface="Calibri"/>
                <a:cs typeface="Calibri"/>
              </a:rPr>
              <a:t> </a:t>
            </a:r>
            <a:r>
              <a:rPr sz="2800" spc="-10" dirty="0">
                <a:latin typeface="Calibri"/>
                <a:cs typeface="Calibri"/>
              </a:rPr>
              <a:t>that</a:t>
            </a:r>
            <a:r>
              <a:rPr sz="2800" spc="25" dirty="0">
                <a:latin typeface="Calibri"/>
                <a:cs typeface="Calibri"/>
              </a:rPr>
              <a:t> </a:t>
            </a:r>
            <a:r>
              <a:rPr sz="2800" spc="-20" dirty="0">
                <a:latin typeface="Calibri"/>
                <a:cs typeface="Calibri"/>
              </a:rPr>
              <a:t>controls</a:t>
            </a:r>
            <a:r>
              <a:rPr sz="2800" spc="30" dirty="0">
                <a:latin typeface="Calibri"/>
                <a:cs typeface="Calibri"/>
              </a:rPr>
              <a:t> </a:t>
            </a:r>
            <a:r>
              <a:rPr sz="2800" spc="-5" dirty="0">
                <a:latin typeface="Calibri"/>
                <a:cs typeface="Calibri"/>
              </a:rPr>
              <a:t>the</a:t>
            </a:r>
            <a:r>
              <a:rPr sz="2800" spc="25" dirty="0">
                <a:latin typeface="Calibri"/>
                <a:cs typeface="Calibri"/>
              </a:rPr>
              <a:t> </a:t>
            </a:r>
            <a:r>
              <a:rPr sz="2800" spc="-10" dirty="0">
                <a:latin typeface="Calibri"/>
                <a:cs typeface="Calibri"/>
              </a:rPr>
              <a:t>dialog</a:t>
            </a:r>
            <a:r>
              <a:rPr sz="2800" spc="15" dirty="0">
                <a:latin typeface="Calibri"/>
                <a:cs typeface="Calibri"/>
              </a:rPr>
              <a:t> </a:t>
            </a:r>
            <a:r>
              <a:rPr sz="2800" spc="-10" dirty="0">
                <a:latin typeface="Calibri"/>
                <a:cs typeface="Calibri"/>
              </a:rPr>
              <a:t>between</a:t>
            </a:r>
            <a:r>
              <a:rPr sz="2800" spc="15" dirty="0">
                <a:latin typeface="Calibri"/>
                <a:cs typeface="Calibri"/>
              </a:rPr>
              <a:t> </a:t>
            </a:r>
            <a:r>
              <a:rPr sz="2800" spc="-5" dirty="0">
                <a:latin typeface="Calibri"/>
                <a:cs typeface="Calibri"/>
              </a:rPr>
              <a:t>the</a:t>
            </a:r>
            <a:r>
              <a:rPr sz="2800" spc="25" dirty="0">
                <a:latin typeface="Calibri"/>
                <a:cs typeface="Calibri"/>
              </a:rPr>
              <a:t> </a:t>
            </a:r>
            <a:r>
              <a:rPr sz="2800" spc="-10" dirty="0">
                <a:latin typeface="Calibri"/>
                <a:cs typeface="Calibri"/>
              </a:rPr>
              <a:t>user </a:t>
            </a:r>
            <a:r>
              <a:rPr sz="2800" spc="-615" dirty="0">
                <a:latin typeface="Calibri"/>
                <a:cs typeface="Calibri"/>
              </a:rPr>
              <a:t> </a:t>
            </a:r>
            <a:r>
              <a:rPr sz="2800" spc="-5" dirty="0">
                <a:latin typeface="Calibri"/>
                <a:cs typeface="Calibri"/>
              </a:rPr>
              <a:t>and</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30" dirty="0">
                <a:latin typeface="Calibri"/>
                <a:cs typeface="Calibri"/>
              </a:rPr>
              <a:t>system</a:t>
            </a:r>
            <a:endParaRPr sz="2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14197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25" dirty="0"/>
              <a:t> </a:t>
            </a:r>
            <a:r>
              <a:rPr sz="4400" spc="-30" dirty="0"/>
              <a:t>System:</a:t>
            </a:r>
            <a:r>
              <a:rPr sz="4400" spc="-50" dirty="0"/>
              <a:t> </a:t>
            </a:r>
            <a:r>
              <a:rPr sz="4400" spc="-15" dirty="0"/>
              <a:t>General</a:t>
            </a:r>
            <a:r>
              <a:rPr sz="4400" spc="-5" dirty="0"/>
              <a:t> </a:t>
            </a:r>
            <a:r>
              <a:rPr sz="4400" spc="-15" dirty="0"/>
              <a:t>Architecture</a:t>
            </a:r>
            <a:endParaRPr sz="4400"/>
          </a:p>
        </p:txBody>
      </p:sp>
      <p:sp>
        <p:nvSpPr>
          <p:cNvPr id="3" name="object 3"/>
          <p:cNvSpPr txBox="1"/>
          <p:nvPr/>
        </p:nvSpPr>
        <p:spPr>
          <a:xfrm>
            <a:off x="2756916" y="2039111"/>
            <a:ext cx="2097405" cy="1112520"/>
          </a:xfrm>
          <a:prstGeom prst="rect">
            <a:avLst/>
          </a:prstGeom>
          <a:ln w="12192">
            <a:solidFill>
              <a:srgbClr val="000000"/>
            </a:solidFill>
          </a:ln>
        </p:spPr>
        <p:txBody>
          <a:bodyPr vert="horz" wrap="square" lIns="0" tIns="170815" rIns="0" bIns="0" rtlCol="0">
            <a:spAutoFit/>
          </a:bodyPr>
          <a:lstStyle/>
          <a:p>
            <a:pPr marL="227329">
              <a:lnSpc>
                <a:spcPct val="100000"/>
              </a:lnSpc>
              <a:spcBef>
                <a:spcPts val="1345"/>
              </a:spcBef>
            </a:pPr>
            <a:r>
              <a:rPr sz="2400" spc="-10" dirty="0">
                <a:latin typeface="Calibri"/>
                <a:cs typeface="Calibri"/>
              </a:rPr>
              <a:t>Current</a:t>
            </a:r>
            <a:r>
              <a:rPr sz="2400" spc="-55" dirty="0">
                <a:latin typeface="Calibri"/>
                <a:cs typeface="Calibri"/>
              </a:rPr>
              <a:t> </a:t>
            </a:r>
            <a:r>
              <a:rPr sz="2400" spc="-15" dirty="0">
                <a:latin typeface="Calibri"/>
                <a:cs typeface="Calibri"/>
              </a:rPr>
              <a:t>Facts</a:t>
            </a:r>
            <a:endParaRPr sz="2400">
              <a:latin typeface="Calibri"/>
              <a:cs typeface="Calibri"/>
            </a:endParaRPr>
          </a:p>
          <a:p>
            <a:pPr marL="98425">
              <a:lnSpc>
                <a:spcPct val="100000"/>
              </a:lnSpc>
              <a:spcBef>
                <a:spcPts val="5"/>
              </a:spcBef>
            </a:pPr>
            <a:r>
              <a:rPr sz="2400" dirty="0">
                <a:latin typeface="Calibri"/>
                <a:cs typeface="Calibri"/>
              </a:rPr>
              <a:t>and</a:t>
            </a:r>
            <a:r>
              <a:rPr sz="2400" spc="-45" dirty="0">
                <a:latin typeface="Calibri"/>
                <a:cs typeface="Calibri"/>
              </a:rPr>
              <a:t> </a:t>
            </a:r>
            <a:r>
              <a:rPr sz="2400" spc="-10" dirty="0">
                <a:latin typeface="Calibri"/>
                <a:cs typeface="Calibri"/>
              </a:rPr>
              <a:t>Knowledge</a:t>
            </a:r>
            <a:endParaRPr sz="2400">
              <a:latin typeface="Calibri"/>
              <a:cs typeface="Calibri"/>
            </a:endParaRPr>
          </a:p>
        </p:txBody>
      </p:sp>
      <p:sp>
        <p:nvSpPr>
          <p:cNvPr id="4" name="object 4"/>
          <p:cNvSpPr txBox="1"/>
          <p:nvPr/>
        </p:nvSpPr>
        <p:spPr>
          <a:xfrm>
            <a:off x="7997952" y="4297679"/>
            <a:ext cx="2095500" cy="1112520"/>
          </a:xfrm>
          <a:prstGeom prst="rect">
            <a:avLst/>
          </a:prstGeom>
          <a:ln w="12192">
            <a:solidFill>
              <a:srgbClr val="000000"/>
            </a:solidFill>
          </a:ln>
        </p:spPr>
        <p:txBody>
          <a:bodyPr vert="horz" wrap="square" lIns="0" tIns="172085" rIns="0" bIns="0" rtlCol="0">
            <a:spAutoFit/>
          </a:bodyPr>
          <a:lstStyle/>
          <a:p>
            <a:pPr algn="ctr">
              <a:lnSpc>
                <a:spcPct val="100000"/>
              </a:lnSpc>
              <a:spcBef>
                <a:spcPts val="1355"/>
              </a:spcBef>
            </a:pPr>
            <a:r>
              <a:rPr sz="2400" spc="-10" dirty="0">
                <a:latin typeface="Calibri"/>
                <a:cs typeface="Calibri"/>
              </a:rPr>
              <a:t>General</a:t>
            </a:r>
            <a:r>
              <a:rPr sz="2400" spc="-35" dirty="0">
                <a:latin typeface="Calibri"/>
                <a:cs typeface="Calibri"/>
              </a:rPr>
              <a:t> </a:t>
            </a:r>
            <a:r>
              <a:rPr sz="2400" spc="-15" dirty="0">
                <a:latin typeface="Calibri"/>
                <a:cs typeface="Calibri"/>
              </a:rPr>
              <a:t>Facts</a:t>
            </a:r>
            <a:endParaRPr sz="2400">
              <a:latin typeface="Calibri"/>
              <a:cs typeface="Calibri"/>
            </a:endParaRPr>
          </a:p>
          <a:p>
            <a:pPr marL="1270" algn="ctr">
              <a:lnSpc>
                <a:spcPct val="100000"/>
              </a:lnSpc>
            </a:pPr>
            <a:r>
              <a:rPr sz="2400" dirty="0">
                <a:latin typeface="Calibri"/>
                <a:cs typeface="Calibri"/>
              </a:rPr>
              <a:t>and</a:t>
            </a:r>
            <a:r>
              <a:rPr sz="2400" spc="-45" dirty="0">
                <a:latin typeface="Calibri"/>
                <a:cs typeface="Calibri"/>
              </a:rPr>
              <a:t> </a:t>
            </a:r>
            <a:r>
              <a:rPr sz="2400" dirty="0">
                <a:latin typeface="Calibri"/>
                <a:cs typeface="Calibri"/>
              </a:rPr>
              <a:t>Rules</a:t>
            </a:r>
            <a:endParaRPr sz="2400">
              <a:latin typeface="Calibri"/>
              <a:cs typeface="Calibri"/>
            </a:endParaRPr>
          </a:p>
        </p:txBody>
      </p:sp>
      <p:sp>
        <p:nvSpPr>
          <p:cNvPr id="5" name="object 5"/>
          <p:cNvSpPr txBox="1"/>
          <p:nvPr/>
        </p:nvSpPr>
        <p:spPr>
          <a:xfrm>
            <a:off x="2278379" y="4297679"/>
            <a:ext cx="3053080" cy="1112520"/>
          </a:xfrm>
          <a:prstGeom prst="rect">
            <a:avLst/>
          </a:prstGeom>
          <a:ln w="12192">
            <a:solidFill>
              <a:srgbClr val="000000"/>
            </a:solidFill>
          </a:ln>
        </p:spPr>
        <p:txBody>
          <a:bodyPr vert="horz" wrap="square" lIns="0" tIns="107314" rIns="0" bIns="0" rtlCol="0">
            <a:spAutoFit/>
          </a:bodyPr>
          <a:lstStyle/>
          <a:p>
            <a:pPr marL="179705" marR="170180" indent="787400">
              <a:lnSpc>
                <a:spcPct val="100000"/>
              </a:lnSpc>
              <a:spcBef>
                <a:spcPts val="844"/>
              </a:spcBef>
            </a:pPr>
            <a:r>
              <a:rPr sz="2800" spc="-10" dirty="0">
                <a:latin typeface="Calibri"/>
                <a:cs typeface="Calibri"/>
              </a:rPr>
              <a:t>Derived </a:t>
            </a:r>
            <a:r>
              <a:rPr sz="2800" spc="-5" dirty="0">
                <a:latin typeface="Calibri"/>
                <a:cs typeface="Calibri"/>
              </a:rPr>
              <a:t> </a:t>
            </a:r>
            <a:r>
              <a:rPr sz="2800" spc="-50" dirty="0">
                <a:latin typeface="Calibri"/>
                <a:cs typeface="Calibri"/>
              </a:rPr>
              <a:t>R</a:t>
            </a:r>
            <a:r>
              <a:rPr sz="2800" spc="-5" dirty="0">
                <a:latin typeface="Calibri"/>
                <a:cs typeface="Calibri"/>
              </a:rPr>
              <a:t>e</a:t>
            </a:r>
            <a:r>
              <a:rPr sz="2800" spc="-25" dirty="0">
                <a:latin typeface="Calibri"/>
                <a:cs typeface="Calibri"/>
              </a:rPr>
              <a:t>c</a:t>
            </a:r>
            <a:r>
              <a:rPr sz="2800" spc="-10" dirty="0">
                <a:latin typeface="Calibri"/>
                <a:cs typeface="Calibri"/>
              </a:rPr>
              <a:t>ommen</a:t>
            </a:r>
            <a:r>
              <a:rPr sz="2800" spc="-15" dirty="0">
                <a:latin typeface="Calibri"/>
                <a:cs typeface="Calibri"/>
              </a:rPr>
              <a:t>d</a:t>
            </a:r>
            <a:r>
              <a:rPr sz="2800" spc="-25" dirty="0">
                <a:latin typeface="Calibri"/>
                <a:cs typeface="Calibri"/>
              </a:rPr>
              <a:t>a</a:t>
            </a:r>
            <a:r>
              <a:rPr sz="2800" spc="-5" dirty="0">
                <a:latin typeface="Calibri"/>
                <a:cs typeface="Calibri"/>
              </a:rPr>
              <a:t>tio</a:t>
            </a:r>
            <a:r>
              <a:rPr sz="2800" spc="-15" dirty="0">
                <a:latin typeface="Calibri"/>
                <a:cs typeface="Calibri"/>
              </a:rPr>
              <a:t>n</a:t>
            </a:r>
            <a:r>
              <a:rPr sz="2800" spc="-5" dirty="0">
                <a:latin typeface="Calibri"/>
                <a:cs typeface="Calibri"/>
              </a:rPr>
              <a:t>s</a:t>
            </a:r>
            <a:endParaRPr sz="2800">
              <a:latin typeface="Calibri"/>
              <a:cs typeface="Calibri"/>
            </a:endParaRPr>
          </a:p>
        </p:txBody>
      </p:sp>
      <p:sp>
        <p:nvSpPr>
          <p:cNvPr id="6" name="object 6"/>
          <p:cNvSpPr txBox="1"/>
          <p:nvPr/>
        </p:nvSpPr>
        <p:spPr>
          <a:xfrm>
            <a:off x="7997952" y="2039111"/>
            <a:ext cx="2095500" cy="1112520"/>
          </a:xfrm>
          <a:prstGeom prst="rect">
            <a:avLst/>
          </a:prstGeom>
          <a:ln w="12192">
            <a:solidFill>
              <a:srgbClr val="000000"/>
            </a:solidFill>
          </a:ln>
        </p:spPr>
        <p:txBody>
          <a:bodyPr vert="horz" wrap="square" lIns="0" tIns="6350" rIns="0" bIns="0" rtlCol="0">
            <a:spAutoFit/>
          </a:bodyPr>
          <a:lstStyle/>
          <a:p>
            <a:pPr>
              <a:lnSpc>
                <a:spcPct val="100000"/>
              </a:lnSpc>
              <a:spcBef>
                <a:spcPts val="50"/>
              </a:spcBef>
            </a:pPr>
            <a:endParaRPr sz="2150">
              <a:latin typeface="Times New Roman"/>
              <a:cs typeface="Times New Roman"/>
            </a:endParaRPr>
          </a:p>
          <a:p>
            <a:pPr marL="443865">
              <a:lnSpc>
                <a:spcPct val="100000"/>
              </a:lnSpc>
            </a:pPr>
            <a:r>
              <a:rPr sz="2800" spc="-10" dirty="0">
                <a:latin typeface="Calibri"/>
                <a:cs typeface="Calibri"/>
              </a:rPr>
              <a:t>Window</a:t>
            </a:r>
            <a:endParaRPr sz="2800">
              <a:latin typeface="Calibri"/>
              <a:cs typeface="Calibri"/>
            </a:endParaRPr>
          </a:p>
        </p:txBody>
      </p:sp>
      <p:sp>
        <p:nvSpPr>
          <p:cNvPr id="7" name="object 7"/>
          <p:cNvSpPr/>
          <p:nvPr/>
        </p:nvSpPr>
        <p:spPr>
          <a:xfrm>
            <a:off x="5330952" y="4815840"/>
            <a:ext cx="2666365" cy="76200"/>
          </a:xfrm>
          <a:custGeom>
            <a:avLst/>
            <a:gdLst/>
            <a:ahLst/>
            <a:cxnLst/>
            <a:rect l="l" t="t" r="r" b="b"/>
            <a:pathLst>
              <a:path w="2666365" h="76200">
                <a:moveTo>
                  <a:pt x="76200" y="0"/>
                </a:moveTo>
                <a:lnTo>
                  <a:pt x="0" y="38100"/>
                </a:lnTo>
                <a:lnTo>
                  <a:pt x="76200" y="76200"/>
                </a:lnTo>
                <a:lnTo>
                  <a:pt x="76200" y="44450"/>
                </a:lnTo>
                <a:lnTo>
                  <a:pt x="63500" y="44450"/>
                </a:lnTo>
                <a:lnTo>
                  <a:pt x="63500" y="31750"/>
                </a:lnTo>
                <a:lnTo>
                  <a:pt x="76200" y="31750"/>
                </a:lnTo>
                <a:lnTo>
                  <a:pt x="76200" y="0"/>
                </a:lnTo>
                <a:close/>
              </a:path>
              <a:path w="2666365" h="76200">
                <a:moveTo>
                  <a:pt x="2589656" y="0"/>
                </a:moveTo>
                <a:lnTo>
                  <a:pt x="2589656" y="76200"/>
                </a:lnTo>
                <a:lnTo>
                  <a:pt x="2653156" y="44450"/>
                </a:lnTo>
                <a:lnTo>
                  <a:pt x="2602356" y="44450"/>
                </a:lnTo>
                <a:lnTo>
                  <a:pt x="2602356" y="31750"/>
                </a:lnTo>
                <a:lnTo>
                  <a:pt x="2653156" y="31750"/>
                </a:lnTo>
                <a:lnTo>
                  <a:pt x="2589656" y="0"/>
                </a:lnTo>
                <a:close/>
              </a:path>
              <a:path w="2666365" h="76200">
                <a:moveTo>
                  <a:pt x="76200" y="31750"/>
                </a:moveTo>
                <a:lnTo>
                  <a:pt x="63500" y="31750"/>
                </a:lnTo>
                <a:lnTo>
                  <a:pt x="63500" y="44450"/>
                </a:lnTo>
                <a:lnTo>
                  <a:pt x="76200" y="44450"/>
                </a:lnTo>
                <a:lnTo>
                  <a:pt x="76200" y="31750"/>
                </a:lnTo>
                <a:close/>
              </a:path>
              <a:path w="2666365" h="76200">
                <a:moveTo>
                  <a:pt x="2589656" y="31750"/>
                </a:moveTo>
                <a:lnTo>
                  <a:pt x="76200" y="31750"/>
                </a:lnTo>
                <a:lnTo>
                  <a:pt x="76200" y="44450"/>
                </a:lnTo>
                <a:lnTo>
                  <a:pt x="2589656" y="44450"/>
                </a:lnTo>
                <a:lnTo>
                  <a:pt x="2589656" y="31750"/>
                </a:lnTo>
                <a:close/>
              </a:path>
              <a:path w="2666365" h="76200">
                <a:moveTo>
                  <a:pt x="2653156" y="31750"/>
                </a:moveTo>
                <a:lnTo>
                  <a:pt x="2602356" y="31750"/>
                </a:lnTo>
                <a:lnTo>
                  <a:pt x="2602356" y="44450"/>
                </a:lnTo>
                <a:lnTo>
                  <a:pt x="2653156" y="44450"/>
                </a:lnTo>
                <a:lnTo>
                  <a:pt x="2665856" y="38100"/>
                </a:lnTo>
                <a:lnTo>
                  <a:pt x="2653156" y="31750"/>
                </a:lnTo>
                <a:close/>
              </a:path>
            </a:pathLst>
          </a:custGeom>
          <a:solidFill>
            <a:srgbClr val="000000"/>
          </a:solidFill>
        </p:spPr>
        <p:txBody>
          <a:bodyPr wrap="square" lIns="0" tIns="0" rIns="0" bIns="0" rtlCol="0"/>
          <a:lstStyle/>
          <a:p>
            <a:endParaRPr/>
          </a:p>
        </p:txBody>
      </p:sp>
      <p:sp>
        <p:nvSpPr>
          <p:cNvPr id="8" name="object 8"/>
          <p:cNvSpPr/>
          <p:nvPr/>
        </p:nvSpPr>
        <p:spPr>
          <a:xfrm>
            <a:off x="4853940" y="2557272"/>
            <a:ext cx="3144520" cy="76200"/>
          </a:xfrm>
          <a:custGeom>
            <a:avLst/>
            <a:gdLst/>
            <a:ahLst/>
            <a:cxnLst/>
            <a:rect l="l" t="t" r="r" b="b"/>
            <a:pathLst>
              <a:path w="3144520" h="76200">
                <a:moveTo>
                  <a:pt x="76200" y="0"/>
                </a:moveTo>
                <a:lnTo>
                  <a:pt x="0" y="38100"/>
                </a:lnTo>
                <a:lnTo>
                  <a:pt x="76200" y="76200"/>
                </a:lnTo>
                <a:lnTo>
                  <a:pt x="76200" y="44450"/>
                </a:lnTo>
                <a:lnTo>
                  <a:pt x="63500" y="44450"/>
                </a:lnTo>
                <a:lnTo>
                  <a:pt x="63500" y="31750"/>
                </a:lnTo>
                <a:lnTo>
                  <a:pt x="76200" y="31750"/>
                </a:lnTo>
                <a:lnTo>
                  <a:pt x="76200" y="0"/>
                </a:lnTo>
                <a:close/>
              </a:path>
              <a:path w="3144520" h="76200">
                <a:moveTo>
                  <a:pt x="3067939" y="0"/>
                </a:moveTo>
                <a:lnTo>
                  <a:pt x="3067939" y="76200"/>
                </a:lnTo>
                <a:lnTo>
                  <a:pt x="3131439" y="44450"/>
                </a:lnTo>
                <a:lnTo>
                  <a:pt x="3080639" y="44450"/>
                </a:lnTo>
                <a:lnTo>
                  <a:pt x="3080639" y="31750"/>
                </a:lnTo>
                <a:lnTo>
                  <a:pt x="3131439" y="31750"/>
                </a:lnTo>
                <a:lnTo>
                  <a:pt x="3067939" y="0"/>
                </a:lnTo>
                <a:close/>
              </a:path>
              <a:path w="3144520" h="76200">
                <a:moveTo>
                  <a:pt x="76200" y="31750"/>
                </a:moveTo>
                <a:lnTo>
                  <a:pt x="63500" y="31750"/>
                </a:lnTo>
                <a:lnTo>
                  <a:pt x="63500" y="44450"/>
                </a:lnTo>
                <a:lnTo>
                  <a:pt x="76200" y="44450"/>
                </a:lnTo>
                <a:lnTo>
                  <a:pt x="76200" y="31750"/>
                </a:lnTo>
                <a:close/>
              </a:path>
              <a:path w="3144520" h="76200">
                <a:moveTo>
                  <a:pt x="3067939" y="31750"/>
                </a:moveTo>
                <a:lnTo>
                  <a:pt x="76200" y="31750"/>
                </a:lnTo>
                <a:lnTo>
                  <a:pt x="76200" y="44450"/>
                </a:lnTo>
                <a:lnTo>
                  <a:pt x="3067939" y="44450"/>
                </a:lnTo>
                <a:lnTo>
                  <a:pt x="3067939" y="31750"/>
                </a:lnTo>
                <a:close/>
              </a:path>
              <a:path w="3144520" h="76200">
                <a:moveTo>
                  <a:pt x="3131439" y="31750"/>
                </a:moveTo>
                <a:lnTo>
                  <a:pt x="3080639" y="31750"/>
                </a:lnTo>
                <a:lnTo>
                  <a:pt x="3080639" y="44450"/>
                </a:lnTo>
                <a:lnTo>
                  <a:pt x="3131439" y="44450"/>
                </a:lnTo>
                <a:lnTo>
                  <a:pt x="3144139" y="38100"/>
                </a:lnTo>
                <a:lnTo>
                  <a:pt x="3131439" y="31750"/>
                </a:lnTo>
                <a:close/>
              </a:path>
            </a:pathLst>
          </a:custGeom>
          <a:solidFill>
            <a:srgbClr val="000000"/>
          </a:solidFill>
        </p:spPr>
        <p:txBody>
          <a:bodyPr wrap="square" lIns="0" tIns="0" rIns="0" bIns="0" rtlCol="0"/>
          <a:lstStyle/>
          <a:p>
            <a:endParaRPr/>
          </a:p>
        </p:txBody>
      </p:sp>
      <p:sp>
        <p:nvSpPr>
          <p:cNvPr id="9" name="object 9"/>
          <p:cNvSpPr/>
          <p:nvPr/>
        </p:nvSpPr>
        <p:spPr>
          <a:xfrm>
            <a:off x="10093452" y="2557272"/>
            <a:ext cx="696595" cy="76200"/>
          </a:xfrm>
          <a:custGeom>
            <a:avLst/>
            <a:gdLst/>
            <a:ahLst/>
            <a:cxnLst/>
            <a:rect l="l" t="t" r="r" b="b"/>
            <a:pathLst>
              <a:path w="696595" h="76200">
                <a:moveTo>
                  <a:pt x="620141" y="0"/>
                </a:moveTo>
                <a:lnTo>
                  <a:pt x="620141" y="76200"/>
                </a:lnTo>
                <a:lnTo>
                  <a:pt x="683641" y="44450"/>
                </a:lnTo>
                <a:lnTo>
                  <a:pt x="632841" y="44450"/>
                </a:lnTo>
                <a:lnTo>
                  <a:pt x="632841" y="31750"/>
                </a:lnTo>
                <a:lnTo>
                  <a:pt x="683641" y="31750"/>
                </a:lnTo>
                <a:lnTo>
                  <a:pt x="620141" y="0"/>
                </a:lnTo>
                <a:close/>
              </a:path>
              <a:path w="696595" h="76200">
                <a:moveTo>
                  <a:pt x="620141" y="31750"/>
                </a:moveTo>
                <a:lnTo>
                  <a:pt x="0" y="31750"/>
                </a:lnTo>
                <a:lnTo>
                  <a:pt x="0" y="44450"/>
                </a:lnTo>
                <a:lnTo>
                  <a:pt x="620141" y="44450"/>
                </a:lnTo>
                <a:lnTo>
                  <a:pt x="620141" y="31750"/>
                </a:lnTo>
                <a:close/>
              </a:path>
              <a:path w="696595" h="76200">
                <a:moveTo>
                  <a:pt x="683641" y="31750"/>
                </a:moveTo>
                <a:lnTo>
                  <a:pt x="632841" y="31750"/>
                </a:lnTo>
                <a:lnTo>
                  <a:pt x="632841" y="44450"/>
                </a:lnTo>
                <a:lnTo>
                  <a:pt x="683641" y="44450"/>
                </a:lnTo>
                <a:lnTo>
                  <a:pt x="696341" y="38100"/>
                </a:lnTo>
                <a:lnTo>
                  <a:pt x="683641" y="31750"/>
                </a:lnTo>
                <a:close/>
              </a:path>
            </a:pathLst>
          </a:custGeom>
          <a:solidFill>
            <a:srgbClr val="000000"/>
          </a:solidFill>
        </p:spPr>
        <p:txBody>
          <a:bodyPr wrap="square" lIns="0" tIns="0" rIns="0" bIns="0" rtlCol="0"/>
          <a:lstStyle/>
          <a:p>
            <a:endParaRPr/>
          </a:p>
        </p:txBody>
      </p:sp>
      <p:grpSp>
        <p:nvGrpSpPr>
          <p:cNvPr id="10" name="object 10"/>
          <p:cNvGrpSpPr/>
          <p:nvPr/>
        </p:nvGrpSpPr>
        <p:grpSpPr>
          <a:xfrm>
            <a:off x="835152" y="3151632"/>
            <a:ext cx="10521950" cy="1147445"/>
            <a:chOff x="835152" y="3151632"/>
            <a:chExt cx="10521950" cy="1147445"/>
          </a:xfrm>
        </p:grpSpPr>
        <p:sp>
          <p:nvSpPr>
            <p:cNvPr id="11" name="object 11"/>
            <p:cNvSpPr/>
            <p:nvPr/>
          </p:nvSpPr>
          <p:spPr>
            <a:xfrm>
              <a:off x="3767328" y="3151631"/>
              <a:ext cx="5316220" cy="1147445"/>
            </a:xfrm>
            <a:custGeom>
              <a:avLst/>
              <a:gdLst/>
              <a:ahLst/>
              <a:cxnLst/>
              <a:rect l="l" t="t" r="r" b="b"/>
              <a:pathLst>
                <a:path w="5316220" h="1147445">
                  <a:moveTo>
                    <a:pt x="76200" y="76200"/>
                  </a:moveTo>
                  <a:lnTo>
                    <a:pt x="69850" y="63500"/>
                  </a:lnTo>
                  <a:lnTo>
                    <a:pt x="38100" y="0"/>
                  </a:lnTo>
                  <a:lnTo>
                    <a:pt x="0" y="76200"/>
                  </a:lnTo>
                  <a:lnTo>
                    <a:pt x="31750" y="76200"/>
                  </a:lnTo>
                  <a:lnTo>
                    <a:pt x="31750" y="1071118"/>
                  </a:lnTo>
                  <a:lnTo>
                    <a:pt x="0" y="1071118"/>
                  </a:lnTo>
                  <a:lnTo>
                    <a:pt x="38100" y="1147318"/>
                  </a:lnTo>
                  <a:lnTo>
                    <a:pt x="69850" y="1083818"/>
                  </a:lnTo>
                  <a:lnTo>
                    <a:pt x="76200" y="1071118"/>
                  </a:lnTo>
                  <a:lnTo>
                    <a:pt x="44450" y="1071118"/>
                  </a:lnTo>
                  <a:lnTo>
                    <a:pt x="44450" y="76200"/>
                  </a:lnTo>
                  <a:lnTo>
                    <a:pt x="76200" y="76200"/>
                  </a:lnTo>
                  <a:close/>
                </a:path>
                <a:path w="5316220" h="1147445">
                  <a:moveTo>
                    <a:pt x="5315712" y="76200"/>
                  </a:moveTo>
                  <a:lnTo>
                    <a:pt x="5309362" y="63500"/>
                  </a:lnTo>
                  <a:lnTo>
                    <a:pt x="5277612" y="0"/>
                  </a:lnTo>
                  <a:lnTo>
                    <a:pt x="5239512" y="76200"/>
                  </a:lnTo>
                  <a:lnTo>
                    <a:pt x="5271262" y="76200"/>
                  </a:lnTo>
                  <a:lnTo>
                    <a:pt x="5271262" y="1071118"/>
                  </a:lnTo>
                  <a:lnTo>
                    <a:pt x="5239512" y="1071118"/>
                  </a:lnTo>
                  <a:lnTo>
                    <a:pt x="5277612" y="1147318"/>
                  </a:lnTo>
                  <a:lnTo>
                    <a:pt x="5309362" y="1083818"/>
                  </a:lnTo>
                  <a:lnTo>
                    <a:pt x="5315712" y="1071118"/>
                  </a:lnTo>
                  <a:lnTo>
                    <a:pt x="5283962" y="1071118"/>
                  </a:lnTo>
                  <a:lnTo>
                    <a:pt x="5283962" y="76200"/>
                  </a:lnTo>
                  <a:lnTo>
                    <a:pt x="5315712" y="76200"/>
                  </a:lnTo>
                  <a:close/>
                </a:path>
              </a:pathLst>
            </a:custGeom>
            <a:solidFill>
              <a:srgbClr val="000000"/>
            </a:solidFill>
          </p:spPr>
          <p:txBody>
            <a:bodyPr wrap="square" lIns="0" tIns="0" rIns="0" bIns="0" rtlCol="0"/>
            <a:lstStyle/>
            <a:p>
              <a:endParaRPr/>
            </a:p>
          </p:txBody>
        </p:sp>
        <p:sp>
          <p:nvSpPr>
            <p:cNvPr id="12" name="object 12"/>
            <p:cNvSpPr/>
            <p:nvPr/>
          </p:nvSpPr>
          <p:spPr>
            <a:xfrm>
              <a:off x="838200" y="3607308"/>
              <a:ext cx="10515600" cy="17145"/>
            </a:xfrm>
            <a:custGeom>
              <a:avLst/>
              <a:gdLst/>
              <a:ahLst/>
              <a:cxnLst/>
              <a:rect l="l" t="t" r="r" b="b"/>
              <a:pathLst>
                <a:path w="10515600" h="17145">
                  <a:moveTo>
                    <a:pt x="0" y="0"/>
                  </a:moveTo>
                  <a:lnTo>
                    <a:pt x="10515600" y="16637"/>
                  </a:lnTo>
                </a:path>
              </a:pathLst>
            </a:custGeom>
            <a:ln w="6096">
              <a:solidFill>
                <a:srgbClr val="000000"/>
              </a:solidFill>
              <a:prstDash val="sysDot"/>
            </a:ln>
          </p:spPr>
          <p:txBody>
            <a:bodyPr wrap="square" lIns="0" tIns="0" rIns="0" bIns="0" rtlCol="0"/>
            <a:lstStyle/>
            <a:p>
              <a:endParaRPr/>
            </a:p>
          </p:txBody>
        </p:sp>
      </p:grpSp>
      <p:sp>
        <p:nvSpPr>
          <p:cNvPr id="13" name="object 13"/>
          <p:cNvSpPr txBox="1"/>
          <p:nvPr/>
        </p:nvSpPr>
        <p:spPr>
          <a:xfrm>
            <a:off x="10912856" y="2458973"/>
            <a:ext cx="4552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User</a:t>
            </a:r>
            <a:endParaRPr sz="1800">
              <a:latin typeface="Calibri"/>
              <a:cs typeface="Calibri"/>
            </a:endParaRPr>
          </a:p>
        </p:txBody>
      </p:sp>
      <p:sp>
        <p:nvSpPr>
          <p:cNvPr id="14" name="object 14"/>
          <p:cNvSpPr txBox="1"/>
          <p:nvPr/>
        </p:nvSpPr>
        <p:spPr>
          <a:xfrm>
            <a:off x="916939" y="2262885"/>
            <a:ext cx="1218565"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Calibri"/>
                <a:cs typeface="Calibri"/>
              </a:rPr>
              <a:t>Consultation </a:t>
            </a:r>
            <a:r>
              <a:rPr sz="1800" spc="-395" dirty="0">
                <a:latin typeface="Calibri"/>
                <a:cs typeface="Calibri"/>
              </a:rPr>
              <a:t> </a:t>
            </a:r>
            <a:r>
              <a:rPr sz="1800" spc="-5" dirty="0">
                <a:latin typeface="Calibri"/>
                <a:cs typeface="Calibri"/>
              </a:rPr>
              <a:t>E</a:t>
            </a:r>
            <a:r>
              <a:rPr sz="1800" spc="-25" dirty="0">
                <a:latin typeface="Calibri"/>
                <a:cs typeface="Calibri"/>
              </a:rPr>
              <a:t>n</a:t>
            </a:r>
            <a:r>
              <a:rPr sz="1800" dirty="0">
                <a:latin typeface="Calibri"/>
                <a:cs typeface="Calibri"/>
              </a:rPr>
              <a:t>vi</a:t>
            </a:r>
            <a:r>
              <a:rPr sz="1800" spc="-35" dirty="0">
                <a:latin typeface="Calibri"/>
                <a:cs typeface="Calibri"/>
              </a:rPr>
              <a:t>r</a:t>
            </a:r>
            <a:r>
              <a:rPr sz="1800" spc="-5" dirty="0">
                <a:latin typeface="Calibri"/>
                <a:cs typeface="Calibri"/>
              </a:rPr>
              <a:t>onm</a:t>
            </a:r>
            <a:r>
              <a:rPr sz="1800" dirty="0">
                <a:latin typeface="Calibri"/>
                <a:cs typeface="Calibri"/>
              </a:rPr>
              <a:t>e</a:t>
            </a:r>
            <a:r>
              <a:rPr sz="1800" spc="-10" dirty="0">
                <a:latin typeface="Calibri"/>
                <a:cs typeface="Calibri"/>
              </a:rPr>
              <a:t>n</a:t>
            </a:r>
            <a:r>
              <a:rPr sz="1800" dirty="0">
                <a:latin typeface="Calibri"/>
                <a:cs typeface="Calibri"/>
              </a:rPr>
              <a:t>t</a:t>
            </a:r>
            <a:endParaRPr sz="1800">
              <a:latin typeface="Calibri"/>
              <a:cs typeface="Calibri"/>
            </a:endParaRPr>
          </a:p>
        </p:txBody>
      </p:sp>
      <p:sp>
        <p:nvSpPr>
          <p:cNvPr id="15" name="object 15"/>
          <p:cNvSpPr txBox="1"/>
          <p:nvPr/>
        </p:nvSpPr>
        <p:spPr>
          <a:xfrm>
            <a:off x="1059891" y="5688583"/>
            <a:ext cx="1280795"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libri"/>
                <a:cs typeface="Calibri"/>
              </a:rPr>
              <a:t>D</a:t>
            </a:r>
            <a:r>
              <a:rPr sz="1800" spc="-15" dirty="0">
                <a:latin typeface="Calibri"/>
                <a:cs typeface="Calibri"/>
              </a:rPr>
              <a:t>e</a:t>
            </a:r>
            <a:r>
              <a:rPr sz="1800" spc="-10" dirty="0">
                <a:latin typeface="Calibri"/>
                <a:cs typeface="Calibri"/>
              </a:rPr>
              <a:t>v</a:t>
            </a:r>
            <a:r>
              <a:rPr sz="1800" dirty="0">
                <a:latin typeface="Calibri"/>
                <a:cs typeface="Calibri"/>
              </a:rPr>
              <a:t>elopme</a:t>
            </a:r>
            <a:r>
              <a:rPr sz="1800" spc="-10" dirty="0">
                <a:latin typeface="Calibri"/>
                <a:cs typeface="Calibri"/>
              </a:rPr>
              <a:t>n</a:t>
            </a:r>
            <a:r>
              <a:rPr sz="1800" dirty="0">
                <a:latin typeface="Calibri"/>
                <a:cs typeface="Calibri"/>
              </a:rPr>
              <a:t>t  </a:t>
            </a:r>
            <a:r>
              <a:rPr sz="1800" spc="-10" dirty="0">
                <a:latin typeface="Calibri"/>
                <a:cs typeface="Calibri"/>
              </a:rPr>
              <a:t>Environment</a:t>
            </a:r>
            <a:endParaRPr sz="1800">
              <a:latin typeface="Calibri"/>
              <a:cs typeface="Calibri"/>
            </a:endParaRPr>
          </a:p>
        </p:txBody>
      </p:sp>
      <p:sp>
        <p:nvSpPr>
          <p:cNvPr id="16" name="object 16"/>
          <p:cNvSpPr txBox="1"/>
          <p:nvPr/>
        </p:nvSpPr>
        <p:spPr>
          <a:xfrm>
            <a:off x="9340342" y="5622137"/>
            <a:ext cx="154241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Knowledge</a:t>
            </a:r>
            <a:r>
              <a:rPr sz="1800" spc="-25" dirty="0">
                <a:latin typeface="Calibri"/>
                <a:cs typeface="Calibri"/>
              </a:rPr>
              <a:t> </a:t>
            </a:r>
            <a:r>
              <a:rPr sz="1800" spc="-5" dirty="0">
                <a:latin typeface="Calibri"/>
                <a:cs typeface="Calibri"/>
              </a:rPr>
              <a:t>Base</a:t>
            </a:r>
            <a:endParaRPr sz="1800">
              <a:latin typeface="Calibri"/>
              <a:cs typeface="Calibri"/>
            </a:endParaRPr>
          </a:p>
        </p:txBody>
      </p:sp>
      <p:sp>
        <p:nvSpPr>
          <p:cNvPr id="17" name="object 17"/>
          <p:cNvSpPr txBox="1"/>
          <p:nvPr/>
        </p:nvSpPr>
        <p:spPr>
          <a:xfrm>
            <a:off x="3884421" y="5555081"/>
            <a:ext cx="158178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Inference</a:t>
            </a:r>
            <a:r>
              <a:rPr sz="1800" spc="-55" dirty="0">
                <a:latin typeface="Calibri"/>
                <a:cs typeface="Calibri"/>
              </a:rPr>
              <a:t> </a:t>
            </a:r>
            <a:r>
              <a:rPr sz="1800" spc="-5" dirty="0">
                <a:latin typeface="Calibri"/>
                <a:cs typeface="Calibri"/>
              </a:rPr>
              <a:t>Engine</a:t>
            </a:r>
            <a:endParaRPr sz="1800">
              <a:latin typeface="Calibri"/>
              <a:cs typeface="Calibri"/>
            </a:endParaRPr>
          </a:p>
        </p:txBody>
      </p:sp>
      <p:sp>
        <p:nvSpPr>
          <p:cNvPr id="18" name="object 18"/>
          <p:cNvSpPr txBox="1"/>
          <p:nvPr/>
        </p:nvSpPr>
        <p:spPr>
          <a:xfrm>
            <a:off x="3884421" y="1708480"/>
            <a:ext cx="1560195" cy="300355"/>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Working</a:t>
            </a:r>
            <a:r>
              <a:rPr sz="1800" spc="-15" dirty="0">
                <a:latin typeface="Calibri"/>
                <a:cs typeface="Calibri"/>
              </a:rPr>
              <a:t> Storage</a:t>
            </a:r>
            <a:endParaRPr sz="1800">
              <a:latin typeface="Calibri"/>
              <a:cs typeface="Calibri"/>
            </a:endParaRPr>
          </a:p>
        </p:txBody>
      </p:sp>
      <p:sp>
        <p:nvSpPr>
          <p:cNvPr id="19" name="object 19"/>
          <p:cNvSpPr txBox="1"/>
          <p:nvPr/>
        </p:nvSpPr>
        <p:spPr>
          <a:xfrm>
            <a:off x="9125457" y="1708480"/>
            <a:ext cx="133667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User</a:t>
            </a:r>
            <a:r>
              <a:rPr sz="1800" spc="-75" dirty="0">
                <a:latin typeface="Calibri"/>
                <a:cs typeface="Calibri"/>
              </a:rPr>
              <a:t> </a:t>
            </a:r>
            <a:r>
              <a:rPr sz="1800" spc="-10" dirty="0">
                <a:latin typeface="Calibri"/>
                <a:cs typeface="Calibri"/>
              </a:rPr>
              <a:t>Interface</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0040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65" dirty="0"/>
              <a:t> </a:t>
            </a:r>
            <a:r>
              <a:rPr sz="4400" spc="-35" dirty="0"/>
              <a:t>System</a:t>
            </a:r>
            <a:endParaRPr sz="4400"/>
          </a:p>
        </p:txBody>
      </p:sp>
      <p:sp>
        <p:nvSpPr>
          <p:cNvPr id="3" name="object 3"/>
          <p:cNvSpPr txBox="1"/>
          <p:nvPr/>
        </p:nvSpPr>
        <p:spPr>
          <a:xfrm>
            <a:off x="916939" y="1774901"/>
            <a:ext cx="10205085" cy="403288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Lst>
            </a:pPr>
            <a:r>
              <a:rPr sz="3600" spc="-10" dirty="0">
                <a:latin typeface="Calibri"/>
                <a:cs typeface="Calibri"/>
              </a:rPr>
              <a:t>General</a:t>
            </a:r>
            <a:r>
              <a:rPr sz="3600" spc="-20" dirty="0">
                <a:latin typeface="Calibri"/>
                <a:cs typeface="Calibri"/>
              </a:rPr>
              <a:t> </a:t>
            </a:r>
            <a:r>
              <a:rPr sz="3600" spc="-15" dirty="0">
                <a:latin typeface="Calibri"/>
                <a:cs typeface="Calibri"/>
              </a:rPr>
              <a:t>Contents</a:t>
            </a:r>
            <a:r>
              <a:rPr sz="3600" spc="-5" dirty="0">
                <a:latin typeface="Calibri"/>
                <a:cs typeface="Calibri"/>
              </a:rPr>
              <a:t> of </a:t>
            </a:r>
            <a:r>
              <a:rPr sz="3600" spc="-15" dirty="0">
                <a:latin typeface="Calibri"/>
                <a:cs typeface="Calibri"/>
              </a:rPr>
              <a:t>Knowledge </a:t>
            </a:r>
            <a:r>
              <a:rPr sz="3600" dirty="0">
                <a:latin typeface="Calibri"/>
                <a:cs typeface="Calibri"/>
              </a:rPr>
              <a:t>Base</a:t>
            </a:r>
            <a:r>
              <a:rPr sz="3600" spc="10" dirty="0">
                <a:latin typeface="Calibri"/>
                <a:cs typeface="Calibri"/>
              </a:rPr>
              <a:t> </a:t>
            </a:r>
            <a:r>
              <a:rPr sz="3600" dirty="0">
                <a:latin typeface="Calibri"/>
                <a:cs typeface="Calibri"/>
              </a:rPr>
              <a:t>in</a:t>
            </a:r>
            <a:r>
              <a:rPr sz="3600" spc="-5" dirty="0">
                <a:latin typeface="Calibri"/>
                <a:cs typeface="Calibri"/>
              </a:rPr>
              <a:t> </a:t>
            </a:r>
            <a:r>
              <a:rPr sz="3600" dirty="0">
                <a:latin typeface="Calibri"/>
                <a:cs typeface="Calibri"/>
              </a:rPr>
              <a:t>an</a:t>
            </a:r>
            <a:r>
              <a:rPr sz="3600" spc="-5" dirty="0">
                <a:latin typeface="Calibri"/>
                <a:cs typeface="Calibri"/>
              </a:rPr>
              <a:t> </a:t>
            </a:r>
            <a:r>
              <a:rPr sz="3600" spc="-25" dirty="0">
                <a:latin typeface="Calibri"/>
                <a:cs typeface="Calibri"/>
              </a:rPr>
              <a:t>ES</a:t>
            </a:r>
            <a:endParaRPr sz="3600">
              <a:latin typeface="Calibri"/>
              <a:cs typeface="Calibri"/>
            </a:endParaRPr>
          </a:p>
          <a:p>
            <a:pPr marL="698500" lvl="1" indent="-229235">
              <a:lnSpc>
                <a:spcPct val="100000"/>
              </a:lnSpc>
              <a:spcBef>
                <a:spcPts val="140"/>
              </a:spcBef>
              <a:buFont typeface="Arial MT"/>
              <a:buChar char="•"/>
              <a:tabLst>
                <a:tab pos="699135" algn="l"/>
              </a:tabLst>
            </a:pPr>
            <a:r>
              <a:rPr sz="3200" spc="-5" dirty="0">
                <a:latin typeface="Calibri"/>
                <a:cs typeface="Calibri"/>
              </a:rPr>
              <a:t>Theories</a:t>
            </a:r>
            <a:r>
              <a:rPr sz="3200" spc="-20" dirty="0">
                <a:latin typeface="Calibri"/>
                <a:cs typeface="Calibri"/>
              </a:rPr>
              <a:t> </a:t>
            </a:r>
            <a:r>
              <a:rPr sz="3200" dirty="0">
                <a:latin typeface="Calibri"/>
                <a:cs typeface="Calibri"/>
              </a:rPr>
              <a:t>about</a:t>
            </a:r>
            <a:r>
              <a:rPr sz="3200" spc="-10" dirty="0">
                <a:latin typeface="Calibri"/>
                <a:cs typeface="Calibri"/>
              </a:rPr>
              <a:t> </a:t>
            </a:r>
            <a:r>
              <a:rPr sz="3200" dirty="0">
                <a:latin typeface="Calibri"/>
                <a:cs typeface="Calibri"/>
              </a:rPr>
              <a:t>the</a:t>
            </a:r>
            <a:r>
              <a:rPr sz="3200" spc="-10" dirty="0">
                <a:latin typeface="Calibri"/>
                <a:cs typeface="Calibri"/>
              </a:rPr>
              <a:t> problem</a:t>
            </a:r>
            <a:r>
              <a:rPr sz="3200" spc="-15" dirty="0">
                <a:latin typeface="Calibri"/>
                <a:cs typeface="Calibri"/>
              </a:rPr>
              <a:t> </a:t>
            </a:r>
            <a:r>
              <a:rPr sz="3200" spc="-10" dirty="0">
                <a:latin typeface="Calibri"/>
                <a:cs typeface="Calibri"/>
              </a:rPr>
              <a:t>area</a:t>
            </a:r>
            <a:endParaRPr sz="3200">
              <a:latin typeface="Calibri"/>
              <a:cs typeface="Calibri"/>
            </a:endParaRPr>
          </a:p>
          <a:p>
            <a:pPr marL="698500" lvl="1" indent="-229235">
              <a:lnSpc>
                <a:spcPct val="100000"/>
              </a:lnSpc>
              <a:spcBef>
                <a:spcPts val="120"/>
              </a:spcBef>
              <a:buFont typeface="Arial MT"/>
              <a:buChar char="•"/>
              <a:tabLst>
                <a:tab pos="699135" algn="l"/>
              </a:tabLst>
            </a:pPr>
            <a:r>
              <a:rPr sz="3200" dirty="0">
                <a:latin typeface="Calibri"/>
                <a:cs typeface="Calibri"/>
              </a:rPr>
              <a:t>Rules</a:t>
            </a:r>
            <a:r>
              <a:rPr sz="3200" spc="5" dirty="0">
                <a:latin typeface="Calibri"/>
                <a:cs typeface="Calibri"/>
              </a:rPr>
              <a:t> </a:t>
            </a:r>
            <a:r>
              <a:rPr sz="3200" dirty="0">
                <a:latin typeface="Calibri"/>
                <a:cs typeface="Calibri"/>
              </a:rPr>
              <a:t>and</a:t>
            </a:r>
            <a:r>
              <a:rPr sz="3200" spc="15" dirty="0">
                <a:latin typeface="Calibri"/>
                <a:cs typeface="Calibri"/>
              </a:rPr>
              <a:t> </a:t>
            </a:r>
            <a:r>
              <a:rPr sz="3200" spc="-15" dirty="0">
                <a:latin typeface="Calibri"/>
                <a:cs typeface="Calibri"/>
              </a:rPr>
              <a:t>procedures</a:t>
            </a:r>
            <a:r>
              <a:rPr sz="3200" spc="-30" dirty="0">
                <a:latin typeface="Calibri"/>
                <a:cs typeface="Calibri"/>
              </a:rPr>
              <a:t> </a:t>
            </a:r>
            <a:r>
              <a:rPr sz="3200" spc="-20" dirty="0">
                <a:latin typeface="Calibri"/>
                <a:cs typeface="Calibri"/>
              </a:rPr>
              <a:t>regarding</a:t>
            </a:r>
            <a:r>
              <a:rPr sz="3200" spc="5" dirty="0">
                <a:latin typeface="Calibri"/>
                <a:cs typeface="Calibri"/>
              </a:rPr>
              <a:t> </a:t>
            </a:r>
            <a:r>
              <a:rPr sz="3200" dirty="0">
                <a:latin typeface="Calibri"/>
                <a:cs typeface="Calibri"/>
              </a:rPr>
              <a:t>the</a:t>
            </a:r>
            <a:r>
              <a:rPr sz="3200" spc="10" dirty="0">
                <a:latin typeface="Calibri"/>
                <a:cs typeface="Calibri"/>
              </a:rPr>
              <a:t> </a:t>
            </a:r>
            <a:r>
              <a:rPr sz="3200" spc="-15" dirty="0">
                <a:latin typeface="Calibri"/>
                <a:cs typeface="Calibri"/>
              </a:rPr>
              <a:t>general</a:t>
            </a:r>
            <a:r>
              <a:rPr sz="3200" spc="-20" dirty="0">
                <a:latin typeface="Calibri"/>
                <a:cs typeface="Calibri"/>
              </a:rPr>
              <a:t> </a:t>
            </a:r>
            <a:r>
              <a:rPr sz="3200" spc="-10" dirty="0">
                <a:latin typeface="Calibri"/>
                <a:cs typeface="Calibri"/>
              </a:rPr>
              <a:t>problem area</a:t>
            </a:r>
            <a:endParaRPr sz="3200">
              <a:latin typeface="Calibri"/>
              <a:cs typeface="Calibri"/>
            </a:endParaRPr>
          </a:p>
          <a:p>
            <a:pPr marL="698500" marR="1225550" lvl="1" indent="-228600">
              <a:lnSpc>
                <a:spcPts val="3460"/>
              </a:lnSpc>
              <a:spcBef>
                <a:spcPts val="555"/>
              </a:spcBef>
              <a:buFont typeface="Arial MT"/>
              <a:buChar char="•"/>
              <a:tabLst>
                <a:tab pos="699135" algn="l"/>
              </a:tabLst>
            </a:pPr>
            <a:r>
              <a:rPr sz="3200" dirty="0">
                <a:latin typeface="Calibri"/>
                <a:cs typeface="Calibri"/>
              </a:rPr>
              <a:t>Rules</a:t>
            </a:r>
            <a:r>
              <a:rPr sz="3200" spc="-10" dirty="0">
                <a:latin typeface="Calibri"/>
                <a:cs typeface="Calibri"/>
              </a:rPr>
              <a:t> (heuristics)</a:t>
            </a:r>
            <a:r>
              <a:rPr sz="3200" spc="15" dirty="0">
                <a:latin typeface="Calibri"/>
                <a:cs typeface="Calibri"/>
              </a:rPr>
              <a:t> </a:t>
            </a:r>
            <a:r>
              <a:rPr sz="3200" spc="-5" dirty="0">
                <a:latin typeface="Calibri"/>
                <a:cs typeface="Calibri"/>
              </a:rPr>
              <a:t>of what</a:t>
            </a:r>
            <a:r>
              <a:rPr sz="3200" spc="5" dirty="0">
                <a:latin typeface="Calibri"/>
                <a:cs typeface="Calibri"/>
              </a:rPr>
              <a:t> </a:t>
            </a:r>
            <a:r>
              <a:rPr sz="3200" spc="-30" dirty="0">
                <a:latin typeface="Calibri"/>
                <a:cs typeface="Calibri"/>
              </a:rPr>
              <a:t>to</a:t>
            </a:r>
            <a:r>
              <a:rPr sz="3200" spc="5" dirty="0">
                <a:latin typeface="Calibri"/>
                <a:cs typeface="Calibri"/>
              </a:rPr>
              <a:t> </a:t>
            </a:r>
            <a:r>
              <a:rPr sz="3200" spc="-5" dirty="0">
                <a:latin typeface="Calibri"/>
                <a:cs typeface="Calibri"/>
              </a:rPr>
              <a:t>do</a:t>
            </a:r>
            <a:r>
              <a:rPr sz="3200" dirty="0">
                <a:latin typeface="Calibri"/>
                <a:cs typeface="Calibri"/>
              </a:rPr>
              <a:t> in</a:t>
            </a:r>
            <a:r>
              <a:rPr sz="3200" spc="20" dirty="0">
                <a:latin typeface="Calibri"/>
                <a:cs typeface="Calibri"/>
              </a:rPr>
              <a:t> </a:t>
            </a:r>
            <a:r>
              <a:rPr sz="3200" dirty="0">
                <a:latin typeface="Calibri"/>
                <a:cs typeface="Calibri"/>
              </a:rPr>
              <a:t>a</a:t>
            </a:r>
            <a:r>
              <a:rPr sz="3200" spc="5" dirty="0">
                <a:latin typeface="Calibri"/>
                <a:cs typeface="Calibri"/>
              </a:rPr>
              <a:t> </a:t>
            </a:r>
            <a:r>
              <a:rPr sz="3200" spc="-10" dirty="0">
                <a:latin typeface="Calibri"/>
                <a:cs typeface="Calibri"/>
              </a:rPr>
              <a:t>given</a:t>
            </a:r>
            <a:r>
              <a:rPr sz="3200" dirty="0">
                <a:latin typeface="Calibri"/>
                <a:cs typeface="Calibri"/>
              </a:rPr>
              <a:t> </a:t>
            </a:r>
            <a:r>
              <a:rPr sz="3200" spc="-10" dirty="0">
                <a:latin typeface="Calibri"/>
                <a:cs typeface="Calibri"/>
              </a:rPr>
              <a:t>problem </a:t>
            </a:r>
            <a:r>
              <a:rPr sz="3200" spc="-710" dirty="0">
                <a:latin typeface="Calibri"/>
                <a:cs typeface="Calibri"/>
              </a:rPr>
              <a:t> </a:t>
            </a:r>
            <a:r>
              <a:rPr sz="3200" spc="-10" dirty="0">
                <a:latin typeface="Calibri"/>
                <a:cs typeface="Calibri"/>
              </a:rPr>
              <a:t>situation</a:t>
            </a:r>
            <a:endParaRPr sz="3200">
              <a:latin typeface="Calibri"/>
              <a:cs typeface="Calibri"/>
            </a:endParaRPr>
          </a:p>
          <a:p>
            <a:pPr marL="698500" lvl="1" indent="-229235">
              <a:lnSpc>
                <a:spcPct val="100000"/>
              </a:lnSpc>
              <a:spcBef>
                <a:spcPts val="50"/>
              </a:spcBef>
              <a:buFont typeface="Arial MT"/>
              <a:buChar char="•"/>
              <a:tabLst>
                <a:tab pos="699135" algn="l"/>
              </a:tabLst>
            </a:pPr>
            <a:r>
              <a:rPr sz="3200" spc="-5" dirty="0">
                <a:latin typeface="Calibri"/>
                <a:cs typeface="Calibri"/>
              </a:rPr>
              <a:t>Global</a:t>
            </a:r>
            <a:r>
              <a:rPr sz="3200" spc="5" dirty="0">
                <a:latin typeface="Calibri"/>
                <a:cs typeface="Calibri"/>
              </a:rPr>
              <a:t> </a:t>
            </a:r>
            <a:r>
              <a:rPr sz="3200" spc="-20" dirty="0">
                <a:latin typeface="Calibri"/>
                <a:cs typeface="Calibri"/>
              </a:rPr>
              <a:t>strategies</a:t>
            </a:r>
            <a:r>
              <a:rPr sz="3200" spc="-10" dirty="0">
                <a:latin typeface="Calibri"/>
                <a:cs typeface="Calibri"/>
              </a:rPr>
              <a:t> </a:t>
            </a:r>
            <a:r>
              <a:rPr sz="3200" spc="-25" dirty="0">
                <a:latin typeface="Calibri"/>
                <a:cs typeface="Calibri"/>
              </a:rPr>
              <a:t>for</a:t>
            </a:r>
            <a:r>
              <a:rPr sz="3200" spc="-5" dirty="0">
                <a:latin typeface="Calibri"/>
                <a:cs typeface="Calibri"/>
              </a:rPr>
              <a:t> solving</a:t>
            </a:r>
            <a:r>
              <a:rPr sz="3200" spc="5" dirty="0">
                <a:latin typeface="Calibri"/>
                <a:cs typeface="Calibri"/>
              </a:rPr>
              <a:t> </a:t>
            </a:r>
            <a:r>
              <a:rPr sz="3200" spc="-5" dirty="0">
                <a:latin typeface="Calibri"/>
                <a:cs typeface="Calibri"/>
              </a:rPr>
              <a:t>these</a:t>
            </a:r>
            <a:r>
              <a:rPr sz="3200" spc="-10" dirty="0">
                <a:latin typeface="Calibri"/>
                <a:cs typeface="Calibri"/>
              </a:rPr>
              <a:t> </a:t>
            </a:r>
            <a:r>
              <a:rPr sz="3200" dirty="0">
                <a:latin typeface="Calibri"/>
                <a:cs typeface="Calibri"/>
              </a:rPr>
              <a:t>types of</a:t>
            </a:r>
            <a:r>
              <a:rPr sz="3200" spc="-5" dirty="0">
                <a:latin typeface="Calibri"/>
                <a:cs typeface="Calibri"/>
              </a:rPr>
              <a:t> </a:t>
            </a:r>
            <a:r>
              <a:rPr sz="3200" spc="-10" dirty="0">
                <a:latin typeface="Calibri"/>
                <a:cs typeface="Calibri"/>
              </a:rPr>
              <a:t>problems</a:t>
            </a:r>
            <a:endParaRPr sz="3200">
              <a:latin typeface="Calibri"/>
              <a:cs typeface="Calibri"/>
            </a:endParaRPr>
          </a:p>
          <a:p>
            <a:pPr marL="698500" lvl="1" indent="-229235">
              <a:lnSpc>
                <a:spcPct val="100000"/>
              </a:lnSpc>
              <a:spcBef>
                <a:spcPts val="125"/>
              </a:spcBef>
              <a:buFont typeface="Arial MT"/>
              <a:buChar char="•"/>
              <a:tabLst>
                <a:tab pos="699135" algn="l"/>
              </a:tabLst>
            </a:pPr>
            <a:r>
              <a:rPr sz="3200" spc="-15" dirty="0">
                <a:latin typeface="Calibri"/>
                <a:cs typeface="Calibri"/>
              </a:rPr>
              <a:t>Meta</a:t>
            </a:r>
            <a:r>
              <a:rPr sz="3200" spc="-40" dirty="0">
                <a:latin typeface="Calibri"/>
                <a:cs typeface="Calibri"/>
              </a:rPr>
              <a:t> </a:t>
            </a:r>
            <a:r>
              <a:rPr sz="3200" spc="-10" dirty="0">
                <a:latin typeface="Calibri"/>
                <a:cs typeface="Calibri"/>
              </a:rPr>
              <a:t>Knowledge</a:t>
            </a:r>
            <a:endParaRPr sz="3200">
              <a:latin typeface="Calibri"/>
              <a:cs typeface="Calibri"/>
            </a:endParaRPr>
          </a:p>
          <a:p>
            <a:pPr marL="698500" lvl="1" indent="-229235">
              <a:lnSpc>
                <a:spcPct val="100000"/>
              </a:lnSpc>
              <a:spcBef>
                <a:spcPts val="120"/>
              </a:spcBef>
              <a:buFont typeface="Arial MT"/>
              <a:buChar char="•"/>
              <a:tabLst>
                <a:tab pos="699135" algn="l"/>
              </a:tabLst>
            </a:pPr>
            <a:r>
              <a:rPr sz="3200" spc="-20" dirty="0">
                <a:latin typeface="Calibri"/>
                <a:cs typeface="Calibri"/>
              </a:rPr>
              <a:t>Fact </a:t>
            </a:r>
            <a:r>
              <a:rPr sz="3200" dirty="0">
                <a:latin typeface="Calibri"/>
                <a:cs typeface="Calibri"/>
              </a:rPr>
              <a:t>about the</a:t>
            </a:r>
            <a:r>
              <a:rPr sz="3200" spc="-15" dirty="0">
                <a:latin typeface="Calibri"/>
                <a:cs typeface="Calibri"/>
              </a:rPr>
              <a:t> </a:t>
            </a:r>
            <a:r>
              <a:rPr sz="3200" spc="-10" dirty="0">
                <a:latin typeface="Calibri"/>
                <a:cs typeface="Calibri"/>
              </a:rPr>
              <a:t>problem</a:t>
            </a:r>
            <a:r>
              <a:rPr sz="3200" spc="-25" dirty="0">
                <a:latin typeface="Calibri"/>
                <a:cs typeface="Calibri"/>
              </a:rPr>
              <a:t> </a:t>
            </a:r>
            <a:r>
              <a:rPr sz="3200" spc="-10" dirty="0">
                <a:latin typeface="Calibri"/>
                <a:cs typeface="Calibri"/>
              </a:rPr>
              <a:t>area</a:t>
            </a:r>
            <a:endParaRPr sz="3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407025"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40" dirty="0"/>
              <a:t> </a:t>
            </a:r>
            <a:r>
              <a:rPr sz="4400" spc="-30" dirty="0"/>
              <a:t>System:</a:t>
            </a:r>
            <a:r>
              <a:rPr sz="4400" spc="-65" dirty="0"/>
              <a:t> </a:t>
            </a:r>
            <a:r>
              <a:rPr sz="4400" spc="-20" dirty="0"/>
              <a:t>Features</a:t>
            </a:r>
            <a:endParaRPr sz="4400"/>
          </a:p>
        </p:txBody>
      </p:sp>
      <p:sp>
        <p:nvSpPr>
          <p:cNvPr id="3" name="object 3"/>
          <p:cNvSpPr txBox="1"/>
          <p:nvPr/>
        </p:nvSpPr>
        <p:spPr>
          <a:xfrm>
            <a:off x="916939" y="1793189"/>
            <a:ext cx="9975215" cy="4415790"/>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dirty="0">
                <a:latin typeface="Calibri"/>
                <a:cs typeface="Calibri"/>
              </a:rPr>
              <a:t>Goal</a:t>
            </a:r>
            <a:r>
              <a:rPr sz="2800" spc="-5" dirty="0">
                <a:latin typeface="Calibri"/>
                <a:cs typeface="Calibri"/>
              </a:rPr>
              <a:t> </a:t>
            </a:r>
            <a:r>
              <a:rPr sz="2800" spc="-10" dirty="0">
                <a:latin typeface="Calibri"/>
                <a:cs typeface="Calibri"/>
              </a:rPr>
              <a:t>Driven</a:t>
            </a:r>
            <a:r>
              <a:rPr sz="2800" spc="30" dirty="0">
                <a:latin typeface="Calibri"/>
                <a:cs typeface="Calibri"/>
              </a:rPr>
              <a:t> </a:t>
            </a:r>
            <a:r>
              <a:rPr sz="2800" spc="-10" dirty="0">
                <a:latin typeface="Calibri"/>
                <a:cs typeface="Calibri"/>
              </a:rPr>
              <a:t>(Backward</a:t>
            </a:r>
            <a:r>
              <a:rPr sz="2800" dirty="0">
                <a:latin typeface="Calibri"/>
                <a:cs typeface="Calibri"/>
              </a:rPr>
              <a:t> </a:t>
            </a:r>
            <a:r>
              <a:rPr sz="2800" spc="-10" dirty="0">
                <a:latin typeface="Calibri"/>
                <a:cs typeface="Calibri"/>
              </a:rPr>
              <a:t>Chaining)</a:t>
            </a:r>
            <a:r>
              <a:rPr sz="2800" spc="40" dirty="0">
                <a:latin typeface="Calibri"/>
                <a:cs typeface="Calibri"/>
              </a:rPr>
              <a:t> </a:t>
            </a:r>
            <a:r>
              <a:rPr sz="2800" spc="-5" dirty="0">
                <a:latin typeface="Calibri"/>
                <a:cs typeface="Calibri"/>
              </a:rPr>
              <a:t>or</a:t>
            </a:r>
            <a:r>
              <a:rPr sz="2800" dirty="0">
                <a:latin typeface="Calibri"/>
                <a:cs typeface="Calibri"/>
              </a:rPr>
              <a:t> </a:t>
            </a:r>
            <a:r>
              <a:rPr sz="2800" spc="-20" dirty="0">
                <a:latin typeface="Calibri"/>
                <a:cs typeface="Calibri"/>
              </a:rPr>
              <a:t>Data</a:t>
            </a:r>
            <a:r>
              <a:rPr sz="2800" spc="10" dirty="0">
                <a:latin typeface="Calibri"/>
                <a:cs typeface="Calibri"/>
              </a:rPr>
              <a:t> </a:t>
            </a:r>
            <a:r>
              <a:rPr sz="2800" spc="-10" dirty="0">
                <a:latin typeface="Calibri"/>
                <a:cs typeface="Calibri"/>
              </a:rPr>
              <a:t>Driven</a:t>
            </a:r>
            <a:r>
              <a:rPr sz="2800" spc="30" dirty="0">
                <a:latin typeface="Calibri"/>
                <a:cs typeface="Calibri"/>
              </a:rPr>
              <a:t> </a:t>
            </a:r>
            <a:r>
              <a:rPr sz="2800" spc="-15" dirty="0">
                <a:latin typeface="Calibri"/>
                <a:cs typeface="Calibri"/>
              </a:rPr>
              <a:t>(Forward</a:t>
            </a:r>
            <a:r>
              <a:rPr sz="2800" spc="10" dirty="0">
                <a:latin typeface="Calibri"/>
                <a:cs typeface="Calibri"/>
              </a:rPr>
              <a:t> </a:t>
            </a:r>
            <a:r>
              <a:rPr sz="2800" spc="-10" dirty="0">
                <a:latin typeface="Calibri"/>
                <a:cs typeface="Calibri"/>
              </a:rPr>
              <a:t>Chaining) </a:t>
            </a:r>
            <a:r>
              <a:rPr sz="2800" spc="-620" dirty="0">
                <a:latin typeface="Calibri"/>
                <a:cs typeface="Calibri"/>
              </a:rPr>
              <a:t> </a:t>
            </a:r>
            <a:r>
              <a:rPr sz="2800" spc="-10" dirty="0">
                <a:latin typeface="Calibri"/>
                <a:cs typeface="Calibri"/>
              </a:rPr>
              <a:t>Reasoning</a:t>
            </a:r>
            <a:endParaRPr sz="2800">
              <a:latin typeface="Calibri"/>
              <a:cs typeface="Calibri"/>
            </a:endParaRPr>
          </a:p>
          <a:p>
            <a:pPr marL="241300" indent="-228600">
              <a:lnSpc>
                <a:spcPct val="100000"/>
              </a:lnSpc>
              <a:spcBef>
                <a:spcPts val="620"/>
              </a:spcBef>
              <a:buFont typeface="Arial MT"/>
              <a:buChar char="•"/>
              <a:tabLst>
                <a:tab pos="241300" algn="l"/>
              </a:tabLst>
            </a:pPr>
            <a:r>
              <a:rPr sz="2800" spc="-10" dirty="0">
                <a:latin typeface="Calibri"/>
                <a:cs typeface="Calibri"/>
              </a:rPr>
              <a:t>Coping</a:t>
            </a:r>
            <a:r>
              <a:rPr sz="2800" spc="-5" dirty="0">
                <a:latin typeface="Calibri"/>
                <a:cs typeface="Calibri"/>
              </a:rPr>
              <a:t> with</a:t>
            </a:r>
            <a:r>
              <a:rPr sz="2800" dirty="0">
                <a:latin typeface="Calibri"/>
                <a:cs typeface="Calibri"/>
              </a:rPr>
              <a:t> </a:t>
            </a:r>
            <a:r>
              <a:rPr sz="2800" spc="-10" dirty="0">
                <a:latin typeface="Calibri"/>
                <a:cs typeface="Calibri"/>
              </a:rPr>
              <a:t>uncertainty</a:t>
            </a:r>
            <a:endParaRPr sz="2800">
              <a:latin typeface="Calibri"/>
              <a:cs typeface="Calibri"/>
            </a:endParaRPr>
          </a:p>
          <a:p>
            <a:pPr marL="241300" indent="-228600">
              <a:lnSpc>
                <a:spcPct val="100000"/>
              </a:lnSpc>
              <a:spcBef>
                <a:spcPts val="660"/>
              </a:spcBef>
              <a:buFont typeface="Arial MT"/>
              <a:buChar char="•"/>
              <a:tabLst>
                <a:tab pos="241300" algn="l"/>
              </a:tabLst>
            </a:pPr>
            <a:r>
              <a:rPr sz="2800" spc="-20" dirty="0">
                <a:latin typeface="Calibri"/>
                <a:cs typeface="Calibri"/>
              </a:rPr>
              <a:t>Data</a:t>
            </a:r>
            <a:r>
              <a:rPr sz="2800" spc="-25" dirty="0">
                <a:latin typeface="Calibri"/>
                <a:cs typeface="Calibri"/>
              </a:rPr>
              <a:t> </a:t>
            </a:r>
            <a:r>
              <a:rPr sz="2800" spc="-15" dirty="0">
                <a:latin typeface="Calibri"/>
                <a:cs typeface="Calibri"/>
              </a:rPr>
              <a:t>Representation</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User</a:t>
            </a:r>
            <a:r>
              <a:rPr sz="2800" spc="-10" dirty="0">
                <a:latin typeface="Calibri"/>
                <a:cs typeface="Calibri"/>
              </a:rPr>
              <a:t> </a:t>
            </a:r>
            <a:r>
              <a:rPr sz="2800" spc="-15" dirty="0">
                <a:latin typeface="Calibri"/>
                <a:cs typeface="Calibri"/>
              </a:rPr>
              <a:t>Interface</a:t>
            </a:r>
            <a:endParaRPr sz="2800">
              <a:latin typeface="Calibri"/>
              <a:cs typeface="Calibri"/>
            </a:endParaRPr>
          </a:p>
          <a:p>
            <a:pPr marL="241300" indent="-228600">
              <a:lnSpc>
                <a:spcPct val="100000"/>
              </a:lnSpc>
              <a:spcBef>
                <a:spcPts val="670"/>
              </a:spcBef>
              <a:buFont typeface="Arial MT"/>
              <a:buChar char="•"/>
              <a:tabLst>
                <a:tab pos="241300" algn="l"/>
              </a:tabLst>
            </a:pPr>
            <a:r>
              <a:rPr sz="2800" spc="-5" dirty="0">
                <a:latin typeface="Calibri"/>
                <a:cs typeface="Calibri"/>
              </a:rPr>
              <a:t>Explanations</a:t>
            </a:r>
            <a:r>
              <a:rPr sz="2800" spc="25" dirty="0">
                <a:latin typeface="Calibri"/>
                <a:cs typeface="Calibri"/>
              </a:rPr>
              <a:t> </a:t>
            </a:r>
            <a:r>
              <a:rPr sz="2800" spc="-5" dirty="0">
                <a:latin typeface="Calibri"/>
                <a:cs typeface="Calibri"/>
              </a:rPr>
              <a:t>(ability</a:t>
            </a:r>
            <a:r>
              <a:rPr sz="2800" spc="10"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explain</a:t>
            </a:r>
            <a:r>
              <a:rPr sz="2800" spc="25" dirty="0">
                <a:latin typeface="Calibri"/>
                <a:cs typeface="Calibri"/>
              </a:rPr>
              <a:t> </a:t>
            </a:r>
            <a:r>
              <a:rPr sz="2800" spc="-10" dirty="0">
                <a:latin typeface="Calibri"/>
                <a:cs typeface="Calibri"/>
              </a:rPr>
              <a:t>solution</a:t>
            </a:r>
            <a:r>
              <a:rPr sz="2800" spc="40" dirty="0">
                <a:latin typeface="Calibri"/>
                <a:cs typeface="Calibri"/>
              </a:rPr>
              <a:t> </a:t>
            </a:r>
            <a:r>
              <a:rPr sz="2800" spc="-90" dirty="0">
                <a:latin typeface="Calibri"/>
                <a:cs typeface="Calibri"/>
              </a:rPr>
              <a:t>w.r.t.</a:t>
            </a:r>
            <a:r>
              <a:rPr sz="2800" spc="25" dirty="0">
                <a:latin typeface="Calibri"/>
                <a:cs typeface="Calibri"/>
              </a:rPr>
              <a:t> </a:t>
            </a:r>
            <a:r>
              <a:rPr sz="2800" spc="-15" dirty="0">
                <a:latin typeface="Calibri"/>
                <a:cs typeface="Calibri"/>
              </a:rPr>
              <a:t>problem</a:t>
            </a:r>
            <a:r>
              <a:rPr sz="2800" spc="20" dirty="0">
                <a:latin typeface="Calibri"/>
                <a:cs typeface="Calibri"/>
              </a:rPr>
              <a:t> </a:t>
            </a:r>
            <a:r>
              <a:rPr sz="2800" spc="-10" dirty="0">
                <a:latin typeface="Calibri"/>
                <a:cs typeface="Calibri"/>
              </a:rPr>
              <a:t>specification</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Use knowledge</a:t>
            </a:r>
            <a:r>
              <a:rPr sz="2800" spc="10" dirty="0">
                <a:latin typeface="Calibri"/>
                <a:cs typeface="Calibri"/>
              </a:rPr>
              <a:t> </a:t>
            </a:r>
            <a:r>
              <a:rPr sz="2800" spc="-20" dirty="0">
                <a:latin typeface="Calibri"/>
                <a:cs typeface="Calibri"/>
              </a:rPr>
              <a:t>rather</a:t>
            </a:r>
            <a:r>
              <a:rPr sz="2800" spc="5" dirty="0">
                <a:latin typeface="Calibri"/>
                <a:cs typeface="Calibri"/>
              </a:rPr>
              <a:t> </a:t>
            </a:r>
            <a:r>
              <a:rPr sz="2800" spc="-5" dirty="0">
                <a:latin typeface="Calibri"/>
                <a:cs typeface="Calibri"/>
              </a:rPr>
              <a:t>than</a:t>
            </a:r>
            <a:r>
              <a:rPr sz="2800" spc="15" dirty="0">
                <a:latin typeface="Calibri"/>
                <a:cs typeface="Calibri"/>
              </a:rPr>
              <a:t> </a:t>
            </a:r>
            <a:r>
              <a:rPr sz="2800" spc="-20" dirty="0">
                <a:latin typeface="Calibri"/>
                <a:cs typeface="Calibri"/>
              </a:rPr>
              <a:t>data</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Use </a:t>
            </a:r>
            <a:r>
              <a:rPr sz="2800" spc="-10" dirty="0">
                <a:latin typeface="Calibri"/>
                <a:cs typeface="Calibri"/>
              </a:rPr>
              <a:t>symbolic</a:t>
            </a:r>
            <a:r>
              <a:rPr sz="2800" spc="35" dirty="0">
                <a:latin typeface="Calibri"/>
                <a:cs typeface="Calibri"/>
              </a:rPr>
              <a:t> </a:t>
            </a:r>
            <a:r>
              <a:rPr sz="2800" spc="-15" dirty="0">
                <a:latin typeface="Calibri"/>
                <a:cs typeface="Calibri"/>
              </a:rPr>
              <a:t>representation</a:t>
            </a:r>
            <a:r>
              <a:rPr sz="2800" spc="20" dirty="0">
                <a:latin typeface="Calibri"/>
                <a:cs typeface="Calibri"/>
              </a:rPr>
              <a:t> </a:t>
            </a:r>
            <a:r>
              <a:rPr sz="2800" spc="-25" dirty="0">
                <a:latin typeface="Calibri"/>
                <a:cs typeface="Calibri"/>
              </a:rPr>
              <a:t>for</a:t>
            </a:r>
            <a:r>
              <a:rPr sz="2800" spc="-5" dirty="0">
                <a:latin typeface="Calibri"/>
                <a:cs typeface="Calibri"/>
              </a:rPr>
              <a:t> knowledge</a:t>
            </a:r>
            <a:endParaRPr sz="2800">
              <a:latin typeface="Calibri"/>
              <a:cs typeface="Calibri"/>
            </a:endParaRPr>
          </a:p>
          <a:p>
            <a:pPr marL="241300" indent="-228600">
              <a:lnSpc>
                <a:spcPct val="100000"/>
              </a:lnSpc>
              <a:spcBef>
                <a:spcPts val="670"/>
              </a:spcBef>
              <a:buFont typeface="Arial MT"/>
              <a:buChar char="•"/>
              <a:tabLst>
                <a:tab pos="241300" algn="l"/>
              </a:tabLst>
            </a:pPr>
            <a:r>
              <a:rPr sz="2800" spc="-10" dirty="0">
                <a:latin typeface="Calibri"/>
                <a:cs typeface="Calibri"/>
              </a:rPr>
              <a:t>Should</a:t>
            </a:r>
            <a:r>
              <a:rPr sz="2800" spc="20" dirty="0">
                <a:latin typeface="Calibri"/>
                <a:cs typeface="Calibri"/>
              </a:rPr>
              <a:t> </a:t>
            </a:r>
            <a:r>
              <a:rPr sz="2800" spc="-25" dirty="0">
                <a:latin typeface="Calibri"/>
                <a:cs typeface="Calibri"/>
              </a:rPr>
              <a:t>have</a:t>
            </a:r>
            <a:r>
              <a:rPr sz="2800" spc="-5" dirty="0">
                <a:latin typeface="Calibri"/>
                <a:cs typeface="Calibri"/>
              </a:rPr>
              <a:t> </a:t>
            </a:r>
            <a:r>
              <a:rPr sz="2800" spc="-15" dirty="0">
                <a:latin typeface="Calibri"/>
                <a:cs typeface="Calibri"/>
              </a:rPr>
              <a:t>meta</a:t>
            </a:r>
            <a:r>
              <a:rPr sz="2800" dirty="0">
                <a:latin typeface="Calibri"/>
                <a:cs typeface="Calibri"/>
              </a:rPr>
              <a:t> </a:t>
            </a:r>
            <a:r>
              <a:rPr sz="2800" spc="-5" dirty="0">
                <a:latin typeface="Calibri"/>
                <a:cs typeface="Calibri"/>
              </a:rPr>
              <a:t>knowledge</a:t>
            </a:r>
            <a:endParaRPr sz="2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053455"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40" dirty="0"/>
              <a:t> </a:t>
            </a:r>
            <a:r>
              <a:rPr sz="4400" spc="-30" dirty="0"/>
              <a:t>System:</a:t>
            </a:r>
            <a:r>
              <a:rPr sz="4400" spc="-60" dirty="0"/>
              <a:t> </a:t>
            </a:r>
            <a:r>
              <a:rPr sz="4400" spc="-20" dirty="0"/>
              <a:t>Advantages</a:t>
            </a:r>
            <a:endParaRPr sz="4400"/>
          </a:p>
        </p:txBody>
      </p:sp>
      <p:sp>
        <p:nvSpPr>
          <p:cNvPr id="3" name="object 3"/>
          <p:cNvSpPr txBox="1"/>
          <p:nvPr/>
        </p:nvSpPr>
        <p:spPr>
          <a:xfrm>
            <a:off x="916939" y="1793189"/>
            <a:ext cx="9890760" cy="2369820"/>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15" dirty="0">
                <a:latin typeface="Calibri"/>
                <a:cs typeface="Calibri"/>
              </a:rPr>
              <a:t>Provide</a:t>
            </a:r>
            <a:r>
              <a:rPr sz="2800" spc="20" dirty="0">
                <a:latin typeface="Calibri"/>
                <a:cs typeface="Calibri"/>
              </a:rPr>
              <a:t> </a:t>
            </a:r>
            <a:r>
              <a:rPr sz="2800" spc="-15" dirty="0">
                <a:latin typeface="Calibri"/>
                <a:cs typeface="Calibri"/>
              </a:rPr>
              <a:t>consistent</a:t>
            </a:r>
            <a:r>
              <a:rPr sz="2800" spc="40" dirty="0">
                <a:latin typeface="Calibri"/>
                <a:cs typeface="Calibri"/>
              </a:rPr>
              <a:t> </a:t>
            </a:r>
            <a:r>
              <a:rPr sz="2800" spc="-15" dirty="0">
                <a:latin typeface="Calibri"/>
                <a:cs typeface="Calibri"/>
              </a:rPr>
              <a:t>answers</a:t>
            </a:r>
            <a:r>
              <a:rPr sz="2800" spc="15" dirty="0">
                <a:latin typeface="Calibri"/>
                <a:cs typeface="Calibri"/>
              </a:rPr>
              <a:t> </a:t>
            </a:r>
            <a:r>
              <a:rPr sz="2800" spc="-25" dirty="0">
                <a:latin typeface="Calibri"/>
                <a:cs typeface="Calibri"/>
              </a:rPr>
              <a:t>for</a:t>
            </a:r>
            <a:r>
              <a:rPr sz="2800" spc="15" dirty="0">
                <a:latin typeface="Calibri"/>
                <a:cs typeface="Calibri"/>
              </a:rPr>
              <a:t> </a:t>
            </a:r>
            <a:r>
              <a:rPr sz="2800" spc="-10" dirty="0">
                <a:latin typeface="Calibri"/>
                <a:cs typeface="Calibri"/>
              </a:rPr>
              <a:t>repetitive</a:t>
            </a:r>
            <a:r>
              <a:rPr sz="2800" spc="5" dirty="0">
                <a:latin typeface="Calibri"/>
                <a:cs typeface="Calibri"/>
              </a:rPr>
              <a:t> </a:t>
            </a:r>
            <a:r>
              <a:rPr sz="2800" spc="-5" dirty="0">
                <a:latin typeface="Calibri"/>
                <a:cs typeface="Calibri"/>
              </a:rPr>
              <a:t>decisions,</a:t>
            </a:r>
            <a:r>
              <a:rPr sz="2800" spc="35" dirty="0">
                <a:latin typeface="Calibri"/>
                <a:cs typeface="Calibri"/>
              </a:rPr>
              <a:t> </a:t>
            </a:r>
            <a:r>
              <a:rPr sz="2800" spc="-15" dirty="0">
                <a:latin typeface="Calibri"/>
                <a:cs typeface="Calibri"/>
              </a:rPr>
              <a:t>processors</a:t>
            </a:r>
            <a:r>
              <a:rPr sz="2800" spc="40" dirty="0">
                <a:latin typeface="Calibri"/>
                <a:cs typeface="Calibri"/>
              </a:rPr>
              <a:t> </a:t>
            </a:r>
            <a:r>
              <a:rPr sz="2800" spc="-5" dirty="0">
                <a:latin typeface="Calibri"/>
                <a:cs typeface="Calibri"/>
              </a:rPr>
              <a:t>and </a:t>
            </a:r>
            <a:r>
              <a:rPr sz="2800" spc="-615" dirty="0">
                <a:latin typeface="Calibri"/>
                <a:cs typeface="Calibri"/>
              </a:rPr>
              <a:t> </a:t>
            </a:r>
            <a:r>
              <a:rPr sz="2800" spc="-15" dirty="0">
                <a:latin typeface="Calibri"/>
                <a:cs typeface="Calibri"/>
              </a:rPr>
              <a:t>tasks</a:t>
            </a:r>
            <a:endParaRPr sz="2800">
              <a:latin typeface="Calibri"/>
              <a:cs typeface="Calibri"/>
            </a:endParaRPr>
          </a:p>
          <a:p>
            <a:pPr marL="241300" indent="-228600">
              <a:lnSpc>
                <a:spcPct val="100000"/>
              </a:lnSpc>
              <a:spcBef>
                <a:spcPts val="620"/>
              </a:spcBef>
              <a:buFont typeface="Arial MT"/>
              <a:buChar char="•"/>
              <a:tabLst>
                <a:tab pos="241300" algn="l"/>
              </a:tabLst>
            </a:pPr>
            <a:r>
              <a:rPr sz="2800" spc="-10" dirty="0">
                <a:latin typeface="Calibri"/>
                <a:cs typeface="Calibri"/>
              </a:rPr>
              <a:t>Hold</a:t>
            </a:r>
            <a:r>
              <a:rPr sz="2800" spc="25"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maintain</a:t>
            </a:r>
            <a:r>
              <a:rPr sz="2800" spc="25" dirty="0">
                <a:latin typeface="Calibri"/>
                <a:cs typeface="Calibri"/>
              </a:rPr>
              <a:t> </a:t>
            </a:r>
            <a:r>
              <a:rPr sz="2800" spc="-10" dirty="0">
                <a:latin typeface="Calibri"/>
                <a:cs typeface="Calibri"/>
              </a:rPr>
              <a:t>significant</a:t>
            </a:r>
            <a:r>
              <a:rPr sz="2800" spc="25" dirty="0">
                <a:latin typeface="Calibri"/>
                <a:cs typeface="Calibri"/>
              </a:rPr>
              <a:t> </a:t>
            </a:r>
            <a:r>
              <a:rPr sz="2800" spc="-10" dirty="0">
                <a:latin typeface="Calibri"/>
                <a:cs typeface="Calibri"/>
              </a:rPr>
              <a:t>levels</a:t>
            </a:r>
            <a:r>
              <a:rPr sz="2800" dirty="0">
                <a:latin typeface="Calibri"/>
                <a:cs typeface="Calibri"/>
              </a:rPr>
              <a:t> of</a:t>
            </a:r>
            <a:r>
              <a:rPr sz="2800" spc="-5" dirty="0">
                <a:latin typeface="Calibri"/>
                <a:cs typeface="Calibri"/>
              </a:rPr>
              <a:t> </a:t>
            </a:r>
            <a:r>
              <a:rPr sz="2800" spc="-15" dirty="0">
                <a:latin typeface="Calibri"/>
                <a:cs typeface="Calibri"/>
              </a:rPr>
              <a:t>information</a:t>
            </a:r>
            <a:endParaRPr sz="2800">
              <a:latin typeface="Calibri"/>
              <a:cs typeface="Calibri"/>
            </a:endParaRPr>
          </a:p>
          <a:p>
            <a:pPr marL="241300" indent="-228600">
              <a:lnSpc>
                <a:spcPct val="100000"/>
              </a:lnSpc>
              <a:spcBef>
                <a:spcPts val="660"/>
              </a:spcBef>
              <a:buFont typeface="Arial MT"/>
              <a:buChar char="•"/>
              <a:tabLst>
                <a:tab pos="241300" algn="l"/>
              </a:tabLst>
            </a:pPr>
            <a:r>
              <a:rPr sz="2800" spc="-15" dirty="0">
                <a:latin typeface="Calibri"/>
                <a:cs typeface="Calibri"/>
              </a:rPr>
              <a:t>Encourage</a:t>
            </a:r>
            <a:r>
              <a:rPr sz="2800" dirty="0">
                <a:latin typeface="Calibri"/>
                <a:cs typeface="Calibri"/>
              </a:rPr>
              <a:t> </a:t>
            </a:r>
            <a:r>
              <a:rPr sz="2800" spc="-15" dirty="0">
                <a:latin typeface="Calibri"/>
                <a:cs typeface="Calibri"/>
              </a:rPr>
              <a:t>organization</a:t>
            </a:r>
            <a:r>
              <a:rPr sz="2800" dirty="0">
                <a:latin typeface="Calibri"/>
                <a:cs typeface="Calibri"/>
              </a:rPr>
              <a:t> </a:t>
            </a:r>
            <a:r>
              <a:rPr sz="2800" spc="-15" dirty="0">
                <a:latin typeface="Calibri"/>
                <a:cs typeface="Calibri"/>
              </a:rPr>
              <a:t>to</a:t>
            </a:r>
            <a:r>
              <a:rPr sz="2800" dirty="0">
                <a:latin typeface="Calibri"/>
                <a:cs typeface="Calibri"/>
              </a:rPr>
              <a:t> clarify</a:t>
            </a:r>
            <a:r>
              <a:rPr sz="2800" spc="5"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logic</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their</a:t>
            </a:r>
            <a:r>
              <a:rPr sz="2800" spc="5" dirty="0">
                <a:latin typeface="Calibri"/>
                <a:cs typeface="Calibri"/>
              </a:rPr>
              <a:t> </a:t>
            </a:r>
            <a:r>
              <a:rPr sz="2800" spc="-5" dirty="0">
                <a:latin typeface="Calibri"/>
                <a:cs typeface="Calibri"/>
              </a:rPr>
              <a:t>decision</a:t>
            </a:r>
            <a:r>
              <a:rPr sz="2800" spc="20" dirty="0">
                <a:latin typeface="Calibri"/>
                <a:cs typeface="Calibri"/>
              </a:rPr>
              <a:t> </a:t>
            </a:r>
            <a:r>
              <a:rPr sz="2800" spc="-5" dirty="0">
                <a:latin typeface="Calibri"/>
                <a:cs typeface="Calibri"/>
              </a:rPr>
              <a:t>making</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Ask</a:t>
            </a:r>
            <a:r>
              <a:rPr sz="2800" spc="15" dirty="0">
                <a:latin typeface="Calibri"/>
                <a:cs typeface="Calibri"/>
              </a:rPr>
              <a:t> </a:t>
            </a:r>
            <a:r>
              <a:rPr sz="2800" spc="-10" dirty="0">
                <a:latin typeface="Calibri"/>
                <a:cs typeface="Calibri"/>
              </a:rPr>
              <a:t>question</a:t>
            </a:r>
            <a:r>
              <a:rPr sz="2800" spc="45" dirty="0">
                <a:latin typeface="Calibri"/>
                <a:cs typeface="Calibri"/>
              </a:rPr>
              <a:t> </a:t>
            </a:r>
            <a:r>
              <a:rPr sz="2800" spc="-25" dirty="0">
                <a:latin typeface="Calibri"/>
                <a:cs typeface="Calibri"/>
              </a:rPr>
              <a:t>like</a:t>
            </a:r>
            <a:r>
              <a:rPr sz="2800" dirty="0">
                <a:latin typeface="Calibri"/>
                <a:cs typeface="Calibri"/>
              </a:rPr>
              <a:t> </a:t>
            </a:r>
            <a:r>
              <a:rPr sz="2800" spc="-10" dirty="0">
                <a:latin typeface="Calibri"/>
                <a:cs typeface="Calibri"/>
              </a:rPr>
              <a:t>human</a:t>
            </a:r>
            <a:r>
              <a:rPr sz="2800" spc="30" dirty="0">
                <a:latin typeface="Calibri"/>
                <a:cs typeface="Calibri"/>
              </a:rPr>
              <a:t> </a:t>
            </a:r>
            <a:r>
              <a:rPr sz="2800" spc="-15" dirty="0">
                <a:latin typeface="Calibri"/>
                <a:cs typeface="Calibri"/>
              </a:rPr>
              <a:t>expertise</a:t>
            </a:r>
            <a:endParaRPr sz="2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682105"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30" dirty="0"/>
              <a:t> System:</a:t>
            </a:r>
            <a:r>
              <a:rPr sz="4400" spc="-55" dirty="0"/>
              <a:t> </a:t>
            </a:r>
            <a:r>
              <a:rPr sz="4400" spc="-15" dirty="0"/>
              <a:t>Disadvantages</a:t>
            </a:r>
            <a:endParaRPr sz="4400"/>
          </a:p>
        </p:txBody>
      </p:sp>
      <p:sp>
        <p:nvSpPr>
          <p:cNvPr id="3" name="object 3"/>
          <p:cNvSpPr txBox="1"/>
          <p:nvPr/>
        </p:nvSpPr>
        <p:spPr>
          <a:xfrm>
            <a:off x="916939" y="1706841"/>
            <a:ext cx="9775825" cy="373697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Lack</a:t>
            </a:r>
            <a:r>
              <a:rPr sz="2800" spc="5"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common</a:t>
            </a:r>
            <a:r>
              <a:rPr sz="2800" spc="5" dirty="0">
                <a:latin typeface="Calibri"/>
                <a:cs typeface="Calibri"/>
              </a:rPr>
              <a:t> </a:t>
            </a:r>
            <a:r>
              <a:rPr sz="2800" spc="-5" dirty="0">
                <a:latin typeface="Calibri"/>
                <a:cs typeface="Calibri"/>
              </a:rPr>
              <a:t>sense</a:t>
            </a:r>
            <a:r>
              <a:rPr sz="2800" spc="20" dirty="0">
                <a:latin typeface="Calibri"/>
                <a:cs typeface="Calibri"/>
              </a:rPr>
              <a:t> </a:t>
            </a:r>
            <a:r>
              <a:rPr sz="2800" spc="-5" dirty="0">
                <a:latin typeface="Calibri"/>
                <a:cs typeface="Calibri"/>
              </a:rPr>
              <a:t>needed</a:t>
            </a:r>
            <a:r>
              <a:rPr sz="2800" spc="10"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same</a:t>
            </a:r>
            <a:r>
              <a:rPr sz="2800" spc="5" dirty="0">
                <a:latin typeface="Calibri"/>
                <a:cs typeface="Calibri"/>
              </a:rPr>
              <a:t> </a:t>
            </a:r>
            <a:r>
              <a:rPr sz="2800" spc="-5" dirty="0">
                <a:latin typeface="Calibri"/>
                <a:cs typeface="Calibri"/>
              </a:rPr>
              <a:t>decision</a:t>
            </a:r>
            <a:r>
              <a:rPr sz="2800" spc="25" dirty="0">
                <a:latin typeface="Calibri"/>
                <a:cs typeface="Calibri"/>
              </a:rPr>
              <a:t> </a:t>
            </a:r>
            <a:r>
              <a:rPr sz="2800" spc="-5" dirty="0">
                <a:latin typeface="Calibri"/>
                <a:cs typeface="Calibri"/>
              </a:rPr>
              <a:t>making</a:t>
            </a:r>
            <a:endParaRPr sz="2800">
              <a:latin typeface="Calibri"/>
              <a:cs typeface="Calibri"/>
            </a:endParaRPr>
          </a:p>
          <a:p>
            <a:pPr marL="241300" marR="190500" indent="-228600">
              <a:lnSpc>
                <a:spcPts val="3020"/>
              </a:lnSpc>
              <a:spcBef>
                <a:spcPts val="1060"/>
              </a:spcBef>
              <a:buFont typeface="Arial MT"/>
              <a:buChar char="•"/>
              <a:tabLst>
                <a:tab pos="241300" algn="l"/>
              </a:tabLst>
            </a:pPr>
            <a:r>
              <a:rPr sz="2800" spc="-15" dirty="0">
                <a:latin typeface="Calibri"/>
                <a:cs typeface="Calibri"/>
              </a:rPr>
              <a:t>Cant</a:t>
            </a:r>
            <a:r>
              <a:rPr sz="2800" dirty="0">
                <a:latin typeface="Calibri"/>
                <a:cs typeface="Calibri"/>
              </a:rPr>
              <a:t> </a:t>
            </a:r>
            <a:r>
              <a:rPr sz="2800" spc="-25" dirty="0">
                <a:latin typeface="Calibri"/>
                <a:cs typeface="Calibri"/>
              </a:rPr>
              <a:t>make</a:t>
            </a:r>
            <a:r>
              <a:rPr sz="2800" spc="10" dirty="0">
                <a:latin typeface="Calibri"/>
                <a:cs typeface="Calibri"/>
              </a:rPr>
              <a:t> </a:t>
            </a:r>
            <a:r>
              <a:rPr sz="2800" spc="-15" dirty="0">
                <a:latin typeface="Calibri"/>
                <a:cs typeface="Calibri"/>
              </a:rPr>
              <a:t>creative</a:t>
            </a:r>
            <a:r>
              <a:rPr sz="2800" spc="5" dirty="0">
                <a:latin typeface="Calibri"/>
                <a:cs typeface="Calibri"/>
              </a:rPr>
              <a:t> </a:t>
            </a:r>
            <a:r>
              <a:rPr sz="2800" spc="-10" dirty="0">
                <a:latin typeface="Calibri"/>
                <a:cs typeface="Calibri"/>
              </a:rPr>
              <a:t>responses</a:t>
            </a:r>
            <a:r>
              <a:rPr sz="2800" spc="50" dirty="0">
                <a:latin typeface="Calibri"/>
                <a:cs typeface="Calibri"/>
              </a:rPr>
              <a:t> </a:t>
            </a:r>
            <a:r>
              <a:rPr sz="2800" spc="-5" dirty="0">
                <a:latin typeface="Calibri"/>
                <a:cs typeface="Calibri"/>
              </a:rPr>
              <a:t>as</a:t>
            </a:r>
            <a:r>
              <a:rPr sz="2800" spc="15" dirty="0">
                <a:latin typeface="Calibri"/>
                <a:cs typeface="Calibri"/>
              </a:rPr>
              <a:t> </a:t>
            </a:r>
            <a:r>
              <a:rPr sz="2800" spc="-10" dirty="0">
                <a:latin typeface="Calibri"/>
                <a:cs typeface="Calibri"/>
              </a:rPr>
              <a:t>human</a:t>
            </a:r>
            <a:r>
              <a:rPr sz="2800" spc="45" dirty="0">
                <a:latin typeface="Calibri"/>
                <a:cs typeface="Calibri"/>
              </a:rPr>
              <a:t> </a:t>
            </a:r>
            <a:r>
              <a:rPr sz="2800" spc="-15" dirty="0">
                <a:latin typeface="Calibri"/>
                <a:cs typeface="Calibri"/>
              </a:rPr>
              <a:t>expert</a:t>
            </a:r>
            <a:r>
              <a:rPr sz="2800" spc="20" dirty="0">
                <a:latin typeface="Calibri"/>
                <a:cs typeface="Calibri"/>
              </a:rPr>
              <a:t> </a:t>
            </a:r>
            <a:r>
              <a:rPr sz="2800" spc="-10" dirty="0">
                <a:latin typeface="Calibri"/>
                <a:cs typeface="Calibri"/>
              </a:rPr>
              <a:t>would</a:t>
            </a:r>
            <a:r>
              <a:rPr sz="2800" spc="25" dirty="0">
                <a:latin typeface="Calibri"/>
                <a:cs typeface="Calibri"/>
              </a:rPr>
              <a:t> </a:t>
            </a:r>
            <a:r>
              <a:rPr sz="2800" spc="-5" dirty="0">
                <a:latin typeface="Calibri"/>
                <a:cs typeface="Calibri"/>
              </a:rPr>
              <a:t>in</a:t>
            </a:r>
            <a:r>
              <a:rPr sz="2800" spc="20" dirty="0">
                <a:latin typeface="Calibri"/>
                <a:cs typeface="Calibri"/>
              </a:rPr>
              <a:t> </a:t>
            </a:r>
            <a:r>
              <a:rPr sz="2800" spc="-10" dirty="0">
                <a:latin typeface="Calibri"/>
                <a:cs typeface="Calibri"/>
              </a:rPr>
              <a:t>unusual </a:t>
            </a:r>
            <a:r>
              <a:rPr sz="2800" spc="-620" dirty="0">
                <a:latin typeface="Calibri"/>
                <a:cs typeface="Calibri"/>
              </a:rPr>
              <a:t> </a:t>
            </a:r>
            <a:r>
              <a:rPr sz="2800" spc="-10" dirty="0">
                <a:latin typeface="Calibri"/>
                <a:cs typeface="Calibri"/>
              </a:rPr>
              <a:t>circumstances</a:t>
            </a:r>
            <a:endParaRPr sz="280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Not</a:t>
            </a:r>
            <a:r>
              <a:rPr sz="2800" spc="20" dirty="0">
                <a:latin typeface="Calibri"/>
                <a:cs typeface="Calibri"/>
              </a:rPr>
              <a:t> </a:t>
            </a:r>
            <a:r>
              <a:rPr sz="2800" spc="-5" dirty="0">
                <a:latin typeface="Calibri"/>
                <a:cs typeface="Calibri"/>
              </a:rPr>
              <a:t>able</a:t>
            </a:r>
            <a:r>
              <a:rPr sz="2800"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explain</a:t>
            </a:r>
            <a:r>
              <a:rPr sz="2800" spc="20" dirty="0">
                <a:latin typeface="Calibri"/>
                <a:cs typeface="Calibri"/>
              </a:rPr>
              <a:t> </a:t>
            </a:r>
            <a:r>
              <a:rPr sz="2800" spc="-5" dirty="0">
                <a:latin typeface="Calibri"/>
                <a:cs typeface="Calibri"/>
              </a:rPr>
              <a:t>their</a:t>
            </a:r>
            <a:r>
              <a:rPr sz="2800" spc="10" dirty="0">
                <a:latin typeface="Calibri"/>
                <a:cs typeface="Calibri"/>
              </a:rPr>
              <a:t> </a:t>
            </a:r>
            <a:r>
              <a:rPr sz="2800" spc="-5" dirty="0">
                <a:latin typeface="Calibri"/>
                <a:cs typeface="Calibri"/>
              </a:rPr>
              <a:t>logic</a:t>
            </a:r>
            <a:r>
              <a:rPr sz="2800" spc="15" dirty="0">
                <a:latin typeface="Calibri"/>
                <a:cs typeface="Calibri"/>
              </a:rPr>
              <a:t> </a:t>
            </a:r>
            <a:r>
              <a:rPr sz="2800" spc="-5" dirty="0">
                <a:latin typeface="Calibri"/>
                <a:cs typeface="Calibri"/>
              </a:rPr>
              <a:t>and</a:t>
            </a:r>
            <a:r>
              <a:rPr sz="2800" spc="20" dirty="0">
                <a:latin typeface="Calibri"/>
                <a:cs typeface="Calibri"/>
              </a:rPr>
              <a:t> </a:t>
            </a:r>
            <a:r>
              <a:rPr sz="2800" spc="-10" dirty="0">
                <a:latin typeface="Calibri"/>
                <a:cs typeface="Calibri"/>
              </a:rPr>
              <a:t>reasoning</a:t>
            </a:r>
            <a:endParaRPr sz="2800">
              <a:latin typeface="Calibri"/>
              <a:cs typeface="Calibri"/>
            </a:endParaRPr>
          </a:p>
          <a:p>
            <a:pPr marL="241300" marR="5080" indent="-228600">
              <a:lnSpc>
                <a:spcPts val="3020"/>
              </a:lnSpc>
              <a:spcBef>
                <a:spcPts val="1045"/>
              </a:spcBef>
              <a:buFont typeface="Arial MT"/>
              <a:buChar char="•"/>
              <a:tabLst>
                <a:tab pos="241300" algn="l"/>
              </a:tabLst>
            </a:pPr>
            <a:r>
              <a:rPr sz="2800" spc="-15" dirty="0">
                <a:latin typeface="Calibri"/>
                <a:cs typeface="Calibri"/>
              </a:rPr>
              <a:t>Error</a:t>
            </a:r>
            <a:r>
              <a:rPr sz="2800" spc="15" dirty="0">
                <a:latin typeface="Calibri"/>
                <a:cs typeface="Calibri"/>
              </a:rPr>
              <a:t> </a:t>
            </a:r>
            <a:r>
              <a:rPr sz="2800" spc="-20" dirty="0">
                <a:latin typeface="Calibri"/>
                <a:cs typeface="Calibri"/>
              </a:rPr>
              <a:t>may</a:t>
            </a:r>
            <a:r>
              <a:rPr sz="2800" spc="-10" dirty="0">
                <a:latin typeface="Calibri"/>
                <a:cs typeface="Calibri"/>
              </a:rPr>
              <a:t> </a:t>
            </a:r>
            <a:r>
              <a:rPr sz="2800" spc="-5" dirty="0">
                <a:latin typeface="Calibri"/>
                <a:cs typeface="Calibri"/>
              </a:rPr>
              <a:t>occur</a:t>
            </a:r>
            <a:r>
              <a:rPr sz="2800" spc="35" dirty="0">
                <a:latin typeface="Calibri"/>
                <a:cs typeface="Calibri"/>
              </a:rPr>
              <a:t> </a:t>
            </a:r>
            <a:r>
              <a:rPr sz="2800" spc="-5" dirty="0">
                <a:latin typeface="Calibri"/>
                <a:cs typeface="Calibri"/>
              </a:rPr>
              <a:t>n</a:t>
            </a:r>
            <a:r>
              <a:rPr sz="2800" spc="10" dirty="0">
                <a:latin typeface="Calibri"/>
                <a:cs typeface="Calibri"/>
              </a:rPr>
              <a:t> </a:t>
            </a:r>
            <a:r>
              <a:rPr sz="2800" spc="-5" dirty="0">
                <a:latin typeface="Calibri"/>
                <a:cs typeface="Calibri"/>
              </a:rPr>
              <a:t>the</a:t>
            </a:r>
            <a:r>
              <a:rPr sz="2800" spc="5" dirty="0">
                <a:latin typeface="Calibri"/>
                <a:cs typeface="Calibri"/>
              </a:rPr>
              <a:t> </a:t>
            </a:r>
            <a:r>
              <a:rPr sz="2800" spc="-5" dirty="0">
                <a:latin typeface="Calibri"/>
                <a:cs typeface="Calibri"/>
              </a:rPr>
              <a:t>knowledge</a:t>
            </a:r>
            <a:r>
              <a:rPr sz="2800" spc="15" dirty="0">
                <a:latin typeface="Calibri"/>
                <a:cs typeface="Calibri"/>
              </a:rPr>
              <a:t> </a:t>
            </a:r>
            <a:r>
              <a:rPr sz="2800" spc="-10" dirty="0">
                <a:latin typeface="Calibri"/>
                <a:cs typeface="Calibri"/>
              </a:rPr>
              <a:t>base</a:t>
            </a:r>
            <a:r>
              <a:rPr sz="2800" spc="25"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lead</a:t>
            </a:r>
            <a:r>
              <a:rPr sz="2800" spc="25"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wrong</a:t>
            </a:r>
            <a:r>
              <a:rPr sz="2800" spc="5" dirty="0">
                <a:latin typeface="Calibri"/>
                <a:cs typeface="Calibri"/>
              </a:rPr>
              <a:t> </a:t>
            </a:r>
            <a:r>
              <a:rPr sz="2800" spc="-5" dirty="0">
                <a:latin typeface="Calibri"/>
                <a:cs typeface="Calibri"/>
              </a:rPr>
              <a:t>decision </a:t>
            </a:r>
            <a:r>
              <a:rPr sz="2800" spc="-620" dirty="0">
                <a:latin typeface="Calibri"/>
                <a:cs typeface="Calibri"/>
              </a:rPr>
              <a:t> </a:t>
            </a:r>
            <a:r>
              <a:rPr sz="2800" spc="-5" dirty="0">
                <a:latin typeface="Calibri"/>
                <a:cs typeface="Calibri"/>
              </a:rPr>
              <a:t>making</a:t>
            </a:r>
            <a:endParaRPr sz="2800">
              <a:latin typeface="Calibri"/>
              <a:cs typeface="Calibri"/>
            </a:endParaRPr>
          </a:p>
          <a:p>
            <a:pPr marL="241300" marR="433705" indent="-228600">
              <a:lnSpc>
                <a:spcPts val="3020"/>
              </a:lnSpc>
              <a:spcBef>
                <a:spcPts val="1019"/>
              </a:spcBef>
              <a:buFont typeface="Arial MT"/>
              <a:buChar char="•"/>
              <a:tabLst>
                <a:tab pos="241300" algn="l"/>
              </a:tabLst>
            </a:pPr>
            <a:r>
              <a:rPr sz="2800" spc="-15" dirty="0">
                <a:latin typeface="Calibri"/>
                <a:cs typeface="Calibri"/>
              </a:rPr>
              <a:t>Cant</a:t>
            </a:r>
            <a:r>
              <a:rPr sz="2800" spc="-10" dirty="0">
                <a:latin typeface="Calibri"/>
                <a:cs typeface="Calibri"/>
              </a:rPr>
              <a:t> </a:t>
            </a:r>
            <a:r>
              <a:rPr sz="2800" spc="-5" dirty="0">
                <a:latin typeface="Calibri"/>
                <a:cs typeface="Calibri"/>
              </a:rPr>
              <a:t>adopt</a:t>
            </a:r>
            <a:r>
              <a:rPr sz="2800" spc="25"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changing</a:t>
            </a:r>
            <a:r>
              <a:rPr sz="2800" spc="15" dirty="0">
                <a:latin typeface="Calibri"/>
                <a:cs typeface="Calibri"/>
              </a:rPr>
              <a:t> </a:t>
            </a:r>
            <a:r>
              <a:rPr sz="2800" spc="-15" dirty="0">
                <a:latin typeface="Calibri"/>
                <a:cs typeface="Calibri"/>
              </a:rPr>
              <a:t>environment,</a:t>
            </a:r>
            <a:r>
              <a:rPr sz="2800" spc="50" dirty="0">
                <a:latin typeface="Calibri"/>
                <a:cs typeface="Calibri"/>
              </a:rPr>
              <a:t> </a:t>
            </a:r>
            <a:r>
              <a:rPr sz="2800" spc="-10" dirty="0">
                <a:latin typeface="Calibri"/>
                <a:cs typeface="Calibri"/>
              </a:rPr>
              <a:t>unless</a:t>
            </a:r>
            <a:r>
              <a:rPr sz="2800" spc="30" dirty="0">
                <a:latin typeface="Calibri"/>
                <a:cs typeface="Calibri"/>
              </a:rPr>
              <a:t> </a:t>
            </a:r>
            <a:r>
              <a:rPr sz="2800" spc="-5" dirty="0">
                <a:latin typeface="Calibri"/>
                <a:cs typeface="Calibri"/>
              </a:rPr>
              <a:t>knowledge</a:t>
            </a:r>
            <a:r>
              <a:rPr sz="2800" spc="5" dirty="0">
                <a:latin typeface="Calibri"/>
                <a:cs typeface="Calibri"/>
              </a:rPr>
              <a:t> </a:t>
            </a:r>
            <a:r>
              <a:rPr sz="2800" spc="-10" dirty="0">
                <a:latin typeface="Calibri"/>
                <a:cs typeface="Calibri"/>
              </a:rPr>
              <a:t>base</a:t>
            </a:r>
            <a:r>
              <a:rPr sz="2800" spc="15" dirty="0">
                <a:latin typeface="Calibri"/>
                <a:cs typeface="Calibri"/>
              </a:rPr>
              <a:t> </a:t>
            </a:r>
            <a:r>
              <a:rPr sz="2800" spc="-5" dirty="0">
                <a:latin typeface="Calibri"/>
                <a:cs typeface="Calibri"/>
              </a:rPr>
              <a:t>is </a:t>
            </a:r>
            <a:r>
              <a:rPr sz="2800" spc="-615" dirty="0">
                <a:latin typeface="Calibri"/>
                <a:cs typeface="Calibri"/>
              </a:rPr>
              <a:t> </a:t>
            </a:r>
            <a:r>
              <a:rPr sz="2800" spc="-5" dirty="0">
                <a:latin typeface="Calibri"/>
                <a:cs typeface="Calibri"/>
              </a:rPr>
              <a:t>changed</a:t>
            </a:r>
            <a:endParaRPr sz="2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BA16C7-8CFD-4BB1-A10A-1BA92AFA14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762000"/>
            <a:ext cx="8763000" cy="5029200"/>
          </a:xfrm>
          <a:prstGeom prst="rect">
            <a:avLst/>
          </a:prstGeom>
        </p:spPr>
      </p:pic>
    </p:spTree>
    <p:extLst>
      <p:ext uri="{BB962C8B-B14F-4D97-AF65-F5344CB8AC3E}">
        <p14:creationId xmlns:p14="http://schemas.microsoft.com/office/powerpoint/2010/main" val="406027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4248"/>
            <a:ext cx="8317230"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20" dirty="0"/>
              <a:t> </a:t>
            </a:r>
            <a:r>
              <a:rPr sz="4400" spc="-30" dirty="0"/>
              <a:t>System:</a:t>
            </a:r>
            <a:r>
              <a:rPr sz="4400" spc="-45" dirty="0"/>
              <a:t> </a:t>
            </a:r>
            <a:r>
              <a:rPr sz="4400" spc="-10" dirty="0"/>
              <a:t>Example</a:t>
            </a:r>
            <a:r>
              <a:rPr sz="4400" spc="-60" dirty="0"/>
              <a:t> </a:t>
            </a:r>
            <a:r>
              <a:rPr sz="4400" spc="5" dirty="0">
                <a:latin typeface="Wingdings"/>
                <a:cs typeface="Wingdings"/>
              </a:rPr>
              <a:t></a:t>
            </a:r>
            <a:r>
              <a:rPr sz="4400" spc="-105" dirty="0">
                <a:latin typeface="Times New Roman"/>
                <a:cs typeface="Times New Roman"/>
              </a:rPr>
              <a:t> </a:t>
            </a:r>
            <a:r>
              <a:rPr sz="4400" dirty="0"/>
              <a:t>DENDRAL</a:t>
            </a:r>
            <a:endParaRPr sz="4400">
              <a:latin typeface="Times New Roman"/>
              <a:cs typeface="Times New Roman"/>
            </a:endParaRPr>
          </a:p>
        </p:txBody>
      </p:sp>
      <p:sp>
        <p:nvSpPr>
          <p:cNvPr id="3" name="object 3"/>
          <p:cNvSpPr txBox="1"/>
          <p:nvPr/>
        </p:nvSpPr>
        <p:spPr>
          <a:xfrm>
            <a:off x="916939" y="1717547"/>
            <a:ext cx="9511665" cy="4203065"/>
          </a:xfrm>
          <a:prstGeom prst="rect">
            <a:avLst/>
          </a:prstGeom>
        </p:spPr>
        <p:txBody>
          <a:bodyPr vert="horz" wrap="square" lIns="0" tIns="54610" rIns="0" bIns="0" rtlCol="0">
            <a:spAutoFit/>
          </a:bodyPr>
          <a:lstStyle/>
          <a:p>
            <a:pPr marL="241300" indent="-228600">
              <a:lnSpc>
                <a:spcPct val="100000"/>
              </a:lnSpc>
              <a:spcBef>
                <a:spcPts val="430"/>
              </a:spcBef>
              <a:buFont typeface="Arial MT"/>
              <a:buChar char="•"/>
              <a:tabLst>
                <a:tab pos="241300" algn="l"/>
              </a:tabLst>
            </a:pPr>
            <a:r>
              <a:rPr sz="2800" spc="-25" dirty="0">
                <a:latin typeface="Calibri"/>
                <a:cs typeface="Calibri"/>
              </a:rPr>
              <a:t>First</a:t>
            </a:r>
            <a:r>
              <a:rPr sz="2800" spc="20" dirty="0">
                <a:latin typeface="Calibri"/>
                <a:cs typeface="Calibri"/>
              </a:rPr>
              <a:t> </a:t>
            </a:r>
            <a:r>
              <a:rPr sz="2800" spc="-15" dirty="0">
                <a:latin typeface="Calibri"/>
                <a:cs typeface="Calibri"/>
              </a:rPr>
              <a:t>ES</a:t>
            </a:r>
            <a:r>
              <a:rPr sz="2800" spc="-5" dirty="0">
                <a:latin typeface="Calibri"/>
                <a:cs typeface="Calibri"/>
              </a:rPr>
              <a:t> </a:t>
            </a:r>
            <a:r>
              <a:rPr sz="2800" spc="-10" dirty="0">
                <a:latin typeface="Calibri"/>
                <a:cs typeface="Calibri"/>
              </a:rPr>
              <a:t>developed</a:t>
            </a:r>
            <a:r>
              <a:rPr sz="2800" spc="10" dirty="0">
                <a:latin typeface="Calibri"/>
                <a:cs typeface="Calibri"/>
              </a:rPr>
              <a:t> </a:t>
            </a:r>
            <a:r>
              <a:rPr sz="2800" spc="-5" dirty="0">
                <a:latin typeface="Calibri"/>
                <a:cs typeface="Calibri"/>
              </a:rPr>
              <a:t>in</a:t>
            </a:r>
            <a:r>
              <a:rPr sz="2800" spc="10" dirty="0">
                <a:latin typeface="Calibri"/>
                <a:cs typeface="Calibri"/>
              </a:rPr>
              <a:t> </a:t>
            </a:r>
            <a:r>
              <a:rPr sz="2800" spc="-15" dirty="0">
                <a:latin typeface="Calibri"/>
                <a:cs typeface="Calibri"/>
              </a:rPr>
              <a:t>late</a:t>
            </a:r>
            <a:r>
              <a:rPr sz="2800" dirty="0">
                <a:latin typeface="Calibri"/>
                <a:cs typeface="Calibri"/>
              </a:rPr>
              <a:t> </a:t>
            </a:r>
            <a:r>
              <a:rPr sz="2800" spc="-5" dirty="0">
                <a:latin typeface="Calibri"/>
                <a:cs typeface="Calibri"/>
              </a:rPr>
              <a:t>1960s</a:t>
            </a:r>
            <a:endParaRPr sz="2800">
              <a:latin typeface="Calibri"/>
              <a:cs typeface="Calibri"/>
            </a:endParaRPr>
          </a:p>
          <a:p>
            <a:pPr marL="241300" indent="-228600">
              <a:lnSpc>
                <a:spcPct val="100000"/>
              </a:lnSpc>
              <a:spcBef>
                <a:spcPts val="325"/>
              </a:spcBef>
              <a:buFont typeface="Arial MT"/>
              <a:buChar char="•"/>
              <a:tabLst>
                <a:tab pos="241300" algn="l"/>
              </a:tabLst>
            </a:pPr>
            <a:r>
              <a:rPr sz="2800" spc="-10" dirty="0">
                <a:latin typeface="Calibri"/>
                <a:cs typeface="Calibri"/>
              </a:rPr>
              <a:t>Designed</a:t>
            </a:r>
            <a:r>
              <a:rPr sz="2800" spc="20" dirty="0">
                <a:latin typeface="Calibri"/>
                <a:cs typeface="Calibri"/>
              </a:rPr>
              <a:t> </a:t>
            </a:r>
            <a:r>
              <a:rPr sz="2800" spc="-15" dirty="0">
                <a:latin typeface="Calibri"/>
                <a:cs typeface="Calibri"/>
              </a:rPr>
              <a:t>to</a:t>
            </a:r>
            <a:r>
              <a:rPr sz="2800" spc="5" dirty="0">
                <a:latin typeface="Calibri"/>
                <a:cs typeface="Calibri"/>
              </a:rPr>
              <a:t> </a:t>
            </a:r>
            <a:r>
              <a:rPr sz="2800" spc="-10" dirty="0">
                <a:latin typeface="Calibri"/>
                <a:cs typeface="Calibri"/>
              </a:rPr>
              <a:t>analyse</a:t>
            </a:r>
            <a:r>
              <a:rPr sz="2800" dirty="0">
                <a:latin typeface="Calibri"/>
                <a:cs typeface="Calibri"/>
              </a:rPr>
              <a:t> </a:t>
            </a:r>
            <a:r>
              <a:rPr sz="2800" spc="-5" dirty="0">
                <a:latin typeface="Calibri"/>
                <a:cs typeface="Calibri"/>
              </a:rPr>
              <a:t>mass</a:t>
            </a:r>
            <a:r>
              <a:rPr sz="2800" spc="25" dirty="0">
                <a:latin typeface="Calibri"/>
                <a:cs typeface="Calibri"/>
              </a:rPr>
              <a:t> </a:t>
            </a:r>
            <a:r>
              <a:rPr sz="2800" spc="-15" dirty="0">
                <a:latin typeface="Calibri"/>
                <a:cs typeface="Calibri"/>
              </a:rPr>
              <a:t>spectra</a:t>
            </a:r>
            <a:endParaRPr sz="2800">
              <a:latin typeface="Calibri"/>
              <a:cs typeface="Calibri"/>
            </a:endParaRPr>
          </a:p>
          <a:p>
            <a:pPr marL="241300" marR="26670" indent="-228600">
              <a:lnSpc>
                <a:spcPts val="2690"/>
              </a:lnSpc>
              <a:spcBef>
                <a:spcPts val="985"/>
              </a:spcBef>
              <a:buFont typeface="Arial MT"/>
              <a:buChar char="•"/>
              <a:tabLst>
                <a:tab pos="241300" algn="l"/>
              </a:tabLst>
            </a:pPr>
            <a:r>
              <a:rPr sz="2800" spc="-5" dirty="0">
                <a:latin typeface="Calibri"/>
                <a:cs typeface="Calibri"/>
              </a:rPr>
              <a:t>Based</a:t>
            </a:r>
            <a:r>
              <a:rPr sz="2800" spc="20" dirty="0">
                <a:latin typeface="Calibri"/>
                <a:cs typeface="Calibri"/>
              </a:rPr>
              <a:t> </a:t>
            </a:r>
            <a:r>
              <a:rPr sz="2800" spc="-5" dirty="0">
                <a:latin typeface="Calibri"/>
                <a:cs typeface="Calibri"/>
              </a:rPr>
              <a:t>on</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5" dirty="0">
                <a:latin typeface="Calibri"/>
                <a:cs typeface="Calibri"/>
              </a:rPr>
              <a:t>mass</a:t>
            </a:r>
            <a:r>
              <a:rPr sz="2800" spc="20"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fragments</a:t>
            </a:r>
            <a:r>
              <a:rPr sz="2800" spc="20" dirty="0">
                <a:latin typeface="Calibri"/>
                <a:cs typeface="Calibri"/>
              </a:rPr>
              <a:t> </a:t>
            </a:r>
            <a:r>
              <a:rPr sz="2800" spc="-10" dirty="0">
                <a:latin typeface="Calibri"/>
                <a:cs typeface="Calibri"/>
              </a:rPr>
              <a:t>seen</a:t>
            </a:r>
            <a:r>
              <a:rPr sz="2800" spc="2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spectra,</a:t>
            </a:r>
            <a:r>
              <a:rPr sz="2800" spc="25" dirty="0">
                <a:latin typeface="Calibri"/>
                <a:cs typeface="Calibri"/>
              </a:rPr>
              <a:t> </a:t>
            </a:r>
            <a:r>
              <a:rPr sz="2800" spc="-5" dirty="0">
                <a:latin typeface="Calibri"/>
                <a:cs typeface="Calibri"/>
              </a:rPr>
              <a:t>it</a:t>
            </a:r>
            <a:r>
              <a:rPr sz="2800" spc="25" dirty="0">
                <a:latin typeface="Calibri"/>
                <a:cs typeface="Calibri"/>
              </a:rPr>
              <a:t> </a:t>
            </a:r>
            <a:r>
              <a:rPr sz="2800" spc="-10" dirty="0">
                <a:latin typeface="Calibri"/>
                <a:cs typeface="Calibri"/>
              </a:rPr>
              <a:t>would</a:t>
            </a:r>
            <a:r>
              <a:rPr sz="2800" spc="15" dirty="0">
                <a:latin typeface="Calibri"/>
                <a:cs typeface="Calibri"/>
              </a:rPr>
              <a:t> </a:t>
            </a:r>
            <a:r>
              <a:rPr sz="2800" spc="-10" dirty="0">
                <a:latin typeface="Calibri"/>
                <a:cs typeface="Calibri"/>
              </a:rPr>
              <a:t>be </a:t>
            </a:r>
            <a:r>
              <a:rPr sz="2800" spc="-620" dirty="0">
                <a:latin typeface="Calibri"/>
                <a:cs typeface="Calibri"/>
              </a:rPr>
              <a:t> </a:t>
            </a:r>
            <a:r>
              <a:rPr sz="2800" spc="-10" dirty="0">
                <a:latin typeface="Calibri"/>
                <a:cs typeface="Calibri"/>
              </a:rPr>
              <a:t>possible</a:t>
            </a:r>
            <a:r>
              <a:rPr sz="2800" spc="40" dirty="0">
                <a:latin typeface="Calibri"/>
                <a:cs typeface="Calibri"/>
              </a:rPr>
              <a:t> </a:t>
            </a:r>
            <a:r>
              <a:rPr sz="2800" spc="-15" dirty="0">
                <a:latin typeface="Calibri"/>
                <a:cs typeface="Calibri"/>
              </a:rPr>
              <a:t>to</a:t>
            </a:r>
            <a:r>
              <a:rPr sz="2800" spc="5" dirty="0">
                <a:latin typeface="Calibri"/>
                <a:cs typeface="Calibri"/>
              </a:rPr>
              <a:t> </a:t>
            </a:r>
            <a:r>
              <a:rPr sz="2800" spc="-25" dirty="0">
                <a:latin typeface="Calibri"/>
                <a:cs typeface="Calibri"/>
              </a:rPr>
              <a:t>make</a:t>
            </a:r>
            <a:r>
              <a:rPr sz="2800" spc="5" dirty="0">
                <a:latin typeface="Calibri"/>
                <a:cs typeface="Calibri"/>
              </a:rPr>
              <a:t> </a:t>
            </a:r>
            <a:r>
              <a:rPr sz="2800" spc="-20" dirty="0">
                <a:latin typeface="Calibri"/>
                <a:cs typeface="Calibri"/>
              </a:rPr>
              <a:t>inference</a:t>
            </a:r>
            <a:r>
              <a:rPr sz="2800" spc="25" dirty="0">
                <a:latin typeface="Calibri"/>
                <a:cs typeface="Calibri"/>
              </a:rPr>
              <a:t> </a:t>
            </a:r>
            <a:r>
              <a:rPr sz="2800" spc="-5" dirty="0">
                <a:latin typeface="Calibri"/>
                <a:cs typeface="Calibri"/>
              </a:rPr>
              <a:t>as</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nature</a:t>
            </a:r>
            <a:r>
              <a:rPr sz="2800" spc="2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molecule</a:t>
            </a:r>
            <a:r>
              <a:rPr sz="2800" spc="15" dirty="0">
                <a:latin typeface="Calibri"/>
                <a:cs typeface="Calibri"/>
              </a:rPr>
              <a:t> </a:t>
            </a:r>
            <a:r>
              <a:rPr sz="2800" spc="-15" dirty="0">
                <a:latin typeface="Calibri"/>
                <a:cs typeface="Calibri"/>
              </a:rPr>
              <a:t>tested, </a:t>
            </a:r>
            <a:r>
              <a:rPr sz="2800" spc="-10" dirty="0">
                <a:latin typeface="Calibri"/>
                <a:cs typeface="Calibri"/>
              </a:rPr>
              <a:t> identifying</a:t>
            </a:r>
            <a:r>
              <a:rPr sz="2800" spc="25" dirty="0">
                <a:latin typeface="Calibri"/>
                <a:cs typeface="Calibri"/>
              </a:rPr>
              <a:t> </a:t>
            </a:r>
            <a:r>
              <a:rPr sz="2800" spc="-5" dirty="0">
                <a:latin typeface="Calibri"/>
                <a:cs typeface="Calibri"/>
              </a:rPr>
              <a:t>functional</a:t>
            </a:r>
            <a:r>
              <a:rPr sz="2800" spc="35" dirty="0">
                <a:latin typeface="Calibri"/>
                <a:cs typeface="Calibri"/>
              </a:rPr>
              <a:t> </a:t>
            </a:r>
            <a:r>
              <a:rPr sz="2800" spc="-15" dirty="0">
                <a:latin typeface="Calibri"/>
                <a:cs typeface="Calibri"/>
              </a:rPr>
              <a:t>groups</a:t>
            </a:r>
            <a:r>
              <a:rPr sz="2800" spc="25" dirty="0">
                <a:latin typeface="Calibri"/>
                <a:cs typeface="Calibri"/>
              </a:rPr>
              <a:t> </a:t>
            </a:r>
            <a:r>
              <a:rPr sz="2800" spc="-5" dirty="0">
                <a:latin typeface="Calibri"/>
                <a:cs typeface="Calibri"/>
              </a:rPr>
              <a:t>or</a:t>
            </a:r>
            <a:r>
              <a:rPr sz="2800" spc="5" dirty="0">
                <a:latin typeface="Calibri"/>
                <a:cs typeface="Calibri"/>
              </a:rPr>
              <a:t> </a:t>
            </a:r>
            <a:r>
              <a:rPr sz="2800" spc="-15" dirty="0">
                <a:latin typeface="Calibri"/>
                <a:cs typeface="Calibri"/>
              </a:rPr>
              <a:t>even</a:t>
            </a:r>
            <a:r>
              <a:rPr sz="2800" spc="5"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entire</a:t>
            </a:r>
            <a:r>
              <a:rPr sz="2800" spc="15" dirty="0">
                <a:latin typeface="Calibri"/>
                <a:cs typeface="Calibri"/>
              </a:rPr>
              <a:t> </a:t>
            </a:r>
            <a:r>
              <a:rPr sz="2800" spc="-5" dirty="0">
                <a:latin typeface="Calibri"/>
                <a:cs typeface="Calibri"/>
              </a:rPr>
              <a:t>molecule</a:t>
            </a:r>
            <a:endParaRPr sz="2800">
              <a:latin typeface="Calibri"/>
              <a:cs typeface="Calibri"/>
            </a:endParaRPr>
          </a:p>
          <a:p>
            <a:pPr marL="241300" marR="113030" indent="-228600">
              <a:lnSpc>
                <a:spcPct val="80000"/>
              </a:lnSpc>
              <a:spcBef>
                <a:spcPts val="1015"/>
              </a:spcBef>
              <a:buFont typeface="Arial MT"/>
              <a:buChar char="•"/>
              <a:tabLst>
                <a:tab pos="241300" algn="l"/>
              </a:tabLst>
            </a:pPr>
            <a:r>
              <a:rPr sz="2800" spc="-10" dirty="0">
                <a:latin typeface="Calibri"/>
                <a:cs typeface="Calibri"/>
              </a:rPr>
              <a:t>DENDRAL</a:t>
            </a:r>
            <a:r>
              <a:rPr sz="2800" spc="45" dirty="0">
                <a:latin typeface="Calibri"/>
                <a:cs typeface="Calibri"/>
              </a:rPr>
              <a:t> </a:t>
            </a:r>
            <a:r>
              <a:rPr sz="2800" spc="-10" dirty="0">
                <a:latin typeface="Calibri"/>
                <a:cs typeface="Calibri"/>
              </a:rPr>
              <a:t>used</a:t>
            </a:r>
            <a:r>
              <a:rPr sz="2800" spc="25" dirty="0">
                <a:latin typeface="Calibri"/>
                <a:cs typeface="Calibri"/>
              </a:rPr>
              <a:t> </a:t>
            </a:r>
            <a:r>
              <a:rPr sz="2800" spc="-10" dirty="0">
                <a:latin typeface="Calibri"/>
                <a:cs typeface="Calibri"/>
              </a:rPr>
              <a:t>heuristic</a:t>
            </a:r>
            <a:r>
              <a:rPr sz="2800" spc="45" dirty="0">
                <a:latin typeface="Calibri"/>
                <a:cs typeface="Calibri"/>
              </a:rPr>
              <a:t> </a:t>
            </a:r>
            <a:r>
              <a:rPr sz="2800" spc="-5" dirty="0">
                <a:latin typeface="Calibri"/>
                <a:cs typeface="Calibri"/>
              </a:rPr>
              <a:t>knowledge</a:t>
            </a:r>
            <a:r>
              <a:rPr sz="2800" spc="20" dirty="0">
                <a:latin typeface="Calibri"/>
                <a:cs typeface="Calibri"/>
              </a:rPr>
              <a:t> </a:t>
            </a:r>
            <a:r>
              <a:rPr sz="2800" spc="-10" dirty="0">
                <a:latin typeface="Calibri"/>
                <a:cs typeface="Calibri"/>
              </a:rPr>
              <a:t>obtained</a:t>
            </a:r>
            <a:r>
              <a:rPr sz="2800" spc="30" dirty="0">
                <a:latin typeface="Calibri"/>
                <a:cs typeface="Calibri"/>
              </a:rPr>
              <a:t> </a:t>
            </a:r>
            <a:r>
              <a:rPr sz="2800" spc="-20" dirty="0">
                <a:latin typeface="Calibri"/>
                <a:cs typeface="Calibri"/>
              </a:rPr>
              <a:t>from</a:t>
            </a:r>
            <a:r>
              <a:rPr sz="2800" spc="25" dirty="0">
                <a:latin typeface="Calibri"/>
                <a:cs typeface="Calibri"/>
              </a:rPr>
              <a:t> </a:t>
            </a:r>
            <a:r>
              <a:rPr sz="2800" spc="-15" dirty="0">
                <a:latin typeface="Calibri"/>
                <a:cs typeface="Calibri"/>
              </a:rPr>
              <a:t>experienced </a:t>
            </a:r>
            <a:r>
              <a:rPr sz="2800" spc="-620" dirty="0">
                <a:latin typeface="Calibri"/>
                <a:cs typeface="Calibri"/>
              </a:rPr>
              <a:t> </a:t>
            </a:r>
            <a:r>
              <a:rPr sz="2800" spc="-10" dirty="0">
                <a:latin typeface="Calibri"/>
                <a:cs typeface="Calibri"/>
              </a:rPr>
              <a:t>chemists</a:t>
            </a:r>
            <a:endParaRPr sz="2800">
              <a:latin typeface="Calibri"/>
              <a:cs typeface="Calibri"/>
            </a:endParaRPr>
          </a:p>
          <a:p>
            <a:pPr marL="241300" indent="-228600">
              <a:lnSpc>
                <a:spcPct val="100000"/>
              </a:lnSpc>
              <a:spcBef>
                <a:spcPts val="330"/>
              </a:spcBef>
              <a:buFont typeface="Arial MT"/>
              <a:buChar char="•"/>
              <a:tabLst>
                <a:tab pos="241300" algn="l"/>
              </a:tabLst>
            </a:pPr>
            <a:r>
              <a:rPr sz="2800" spc="-5" dirty="0">
                <a:latin typeface="Calibri"/>
                <a:cs typeface="Calibri"/>
              </a:rPr>
              <a:t>Uses</a:t>
            </a:r>
            <a:r>
              <a:rPr sz="2800" spc="10" dirty="0">
                <a:latin typeface="Calibri"/>
                <a:cs typeface="Calibri"/>
              </a:rPr>
              <a:t> </a:t>
            </a:r>
            <a:r>
              <a:rPr sz="2800" spc="-20" dirty="0">
                <a:latin typeface="Calibri"/>
                <a:cs typeface="Calibri"/>
              </a:rPr>
              <a:t>forward</a:t>
            </a:r>
            <a:r>
              <a:rPr sz="2800" spc="5" dirty="0">
                <a:latin typeface="Calibri"/>
                <a:cs typeface="Calibri"/>
              </a:rPr>
              <a:t> </a:t>
            </a:r>
            <a:r>
              <a:rPr sz="2800" spc="-5" dirty="0">
                <a:latin typeface="Calibri"/>
                <a:cs typeface="Calibri"/>
              </a:rPr>
              <a:t>chaining</a:t>
            </a:r>
            <a:r>
              <a:rPr sz="2800" spc="15" dirty="0">
                <a:latin typeface="Calibri"/>
                <a:cs typeface="Calibri"/>
              </a:rPr>
              <a:t> </a:t>
            </a:r>
            <a:r>
              <a:rPr sz="2800" spc="-25" dirty="0">
                <a:latin typeface="Calibri"/>
                <a:cs typeface="Calibri"/>
              </a:rPr>
              <a:t>for</a:t>
            </a:r>
            <a:r>
              <a:rPr sz="2800" dirty="0">
                <a:latin typeface="Calibri"/>
                <a:cs typeface="Calibri"/>
              </a:rPr>
              <a:t> </a:t>
            </a:r>
            <a:r>
              <a:rPr sz="2800" spc="-10" dirty="0">
                <a:latin typeface="Calibri"/>
                <a:cs typeface="Calibri"/>
              </a:rPr>
              <a:t>reasoning</a:t>
            </a:r>
            <a:endParaRPr sz="2800">
              <a:latin typeface="Calibri"/>
              <a:cs typeface="Calibri"/>
            </a:endParaRPr>
          </a:p>
          <a:p>
            <a:pPr marL="241300" marR="5080" indent="-228600">
              <a:lnSpc>
                <a:spcPct val="80000"/>
              </a:lnSpc>
              <a:spcBef>
                <a:spcPts val="1005"/>
              </a:spcBef>
              <a:buFont typeface="Arial MT"/>
              <a:buChar char="•"/>
              <a:tabLst>
                <a:tab pos="241300" algn="l"/>
              </a:tabLst>
            </a:pPr>
            <a:r>
              <a:rPr sz="2800" spc="-15" dirty="0">
                <a:latin typeface="Calibri"/>
                <a:cs typeface="Calibri"/>
              </a:rPr>
              <a:t>Discovered</a:t>
            </a:r>
            <a:r>
              <a:rPr sz="2800" spc="25" dirty="0">
                <a:latin typeface="Calibri"/>
                <a:cs typeface="Calibri"/>
              </a:rPr>
              <a:t> </a:t>
            </a:r>
            <a:r>
              <a:rPr sz="2800" spc="-10" dirty="0">
                <a:latin typeface="Calibri"/>
                <a:cs typeface="Calibri"/>
              </a:rPr>
              <a:t>number</a:t>
            </a:r>
            <a:r>
              <a:rPr sz="2800" spc="3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structures</a:t>
            </a:r>
            <a:r>
              <a:rPr sz="2800" spc="60" dirty="0">
                <a:latin typeface="Calibri"/>
                <a:cs typeface="Calibri"/>
              </a:rPr>
              <a:t> </a:t>
            </a:r>
            <a:r>
              <a:rPr sz="2800" spc="-10" dirty="0">
                <a:latin typeface="Calibri"/>
                <a:cs typeface="Calibri"/>
              </a:rPr>
              <a:t>previously</a:t>
            </a:r>
            <a:r>
              <a:rPr sz="2800" spc="25" dirty="0">
                <a:latin typeface="Calibri"/>
                <a:cs typeface="Calibri"/>
              </a:rPr>
              <a:t> </a:t>
            </a:r>
            <a:r>
              <a:rPr sz="2800" spc="-10" dirty="0">
                <a:latin typeface="Calibri"/>
                <a:cs typeface="Calibri"/>
              </a:rPr>
              <a:t>unknown</a:t>
            </a:r>
            <a:r>
              <a:rPr sz="2800" spc="40" dirty="0">
                <a:latin typeface="Calibri"/>
                <a:cs typeface="Calibri"/>
              </a:rPr>
              <a:t> </a:t>
            </a:r>
            <a:r>
              <a:rPr sz="2800" spc="-15" dirty="0">
                <a:latin typeface="Calibri"/>
                <a:cs typeface="Calibri"/>
              </a:rPr>
              <a:t>to</a:t>
            </a:r>
            <a:r>
              <a:rPr sz="2800" spc="10" dirty="0">
                <a:latin typeface="Calibri"/>
                <a:cs typeface="Calibri"/>
              </a:rPr>
              <a:t> </a:t>
            </a:r>
            <a:r>
              <a:rPr sz="2800" spc="-10" dirty="0">
                <a:latin typeface="Calibri"/>
                <a:cs typeface="Calibri"/>
              </a:rPr>
              <a:t>climate </a:t>
            </a:r>
            <a:r>
              <a:rPr sz="2800" spc="-620" dirty="0">
                <a:latin typeface="Calibri"/>
                <a:cs typeface="Calibri"/>
              </a:rPr>
              <a:t> </a:t>
            </a:r>
            <a:r>
              <a:rPr sz="2800" spc="-15" dirty="0">
                <a:latin typeface="Calibri"/>
                <a:cs typeface="Calibri"/>
              </a:rPr>
              <a:t>experts</a:t>
            </a:r>
            <a:endParaRPr sz="2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4248"/>
            <a:ext cx="7670165" cy="697230"/>
          </a:xfrm>
          <a:prstGeom prst="rect">
            <a:avLst/>
          </a:prstGeom>
        </p:spPr>
        <p:txBody>
          <a:bodyPr vert="horz" wrap="square" lIns="0" tIns="13335" rIns="0" bIns="0" rtlCol="0">
            <a:spAutoFit/>
          </a:bodyPr>
          <a:lstStyle/>
          <a:p>
            <a:pPr marL="12700">
              <a:lnSpc>
                <a:spcPct val="100000"/>
              </a:lnSpc>
              <a:spcBef>
                <a:spcPts val="105"/>
              </a:spcBef>
            </a:pPr>
            <a:r>
              <a:rPr sz="4400" dirty="0"/>
              <a:t>Expert</a:t>
            </a:r>
            <a:r>
              <a:rPr sz="4400" spc="-25" dirty="0"/>
              <a:t> </a:t>
            </a:r>
            <a:r>
              <a:rPr sz="4400" spc="-30" dirty="0"/>
              <a:t>System:</a:t>
            </a:r>
            <a:r>
              <a:rPr sz="4400" spc="-50" dirty="0"/>
              <a:t> </a:t>
            </a:r>
            <a:r>
              <a:rPr sz="4400" spc="-10" dirty="0"/>
              <a:t>Example</a:t>
            </a:r>
            <a:r>
              <a:rPr sz="4400" spc="-60" dirty="0"/>
              <a:t> </a:t>
            </a:r>
            <a:r>
              <a:rPr sz="4400" spc="5" dirty="0">
                <a:latin typeface="Wingdings"/>
                <a:cs typeface="Wingdings"/>
              </a:rPr>
              <a:t></a:t>
            </a:r>
            <a:r>
              <a:rPr sz="4400" spc="-110" dirty="0">
                <a:latin typeface="Times New Roman"/>
                <a:cs typeface="Times New Roman"/>
              </a:rPr>
              <a:t> </a:t>
            </a:r>
            <a:r>
              <a:rPr sz="4400" spc="-30" dirty="0"/>
              <a:t>MYCIN</a:t>
            </a:r>
            <a:endParaRPr sz="4400">
              <a:latin typeface="Times New Roman"/>
              <a:cs typeface="Times New Roman"/>
            </a:endParaRPr>
          </a:p>
        </p:txBody>
      </p:sp>
      <p:sp>
        <p:nvSpPr>
          <p:cNvPr id="3" name="object 3"/>
          <p:cNvSpPr txBox="1"/>
          <p:nvPr/>
        </p:nvSpPr>
        <p:spPr>
          <a:xfrm>
            <a:off x="916939" y="1717547"/>
            <a:ext cx="10063480" cy="4671060"/>
          </a:xfrm>
          <a:prstGeom prst="rect">
            <a:avLst/>
          </a:prstGeom>
        </p:spPr>
        <p:txBody>
          <a:bodyPr vert="horz" wrap="square" lIns="0" tIns="54610" rIns="0" bIns="0" rtlCol="0">
            <a:spAutoFit/>
          </a:bodyPr>
          <a:lstStyle/>
          <a:p>
            <a:pPr marL="241300" indent="-228600">
              <a:lnSpc>
                <a:spcPct val="100000"/>
              </a:lnSpc>
              <a:spcBef>
                <a:spcPts val="430"/>
              </a:spcBef>
              <a:buFont typeface="Arial MT"/>
              <a:buChar char="•"/>
              <a:tabLst>
                <a:tab pos="241300" algn="l"/>
              </a:tabLst>
            </a:pPr>
            <a:r>
              <a:rPr sz="2800" spc="-5" dirty="0">
                <a:latin typeface="Calibri"/>
                <a:cs typeface="Calibri"/>
              </a:rPr>
              <a:t>An</a:t>
            </a:r>
            <a:r>
              <a:rPr sz="2800" spc="5" dirty="0">
                <a:latin typeface="Calibri"/>
                <a:cs typeface="Calibri"/>
              </a:rPr>
              <a:t> </a:t>
            </a:r>
            <a:r>
              <a:rPr sz="2800" spc="-15" dirty="0">
                <a:latin typeface="Calibri"/>
                <a:cs typeface="Calibri"/>
              </a:rPr>
              <a:t>expert</a:t>
            </a:r>
            <a:r>
              <a:rPr sz="2800" spc="20" dirty="0">
                <a:latin typeface="Calibri"/>
                <a:cs typeface="Calibri"/>
              </a:rPr>
              <a:t> </a:t>
            </a:r>
            <a:r>
              <a:rPr sz="2800" spc="-25" dirty="0">
                <a:latin typeface="Calibri"/>
                <a:cs typeface="Calibri"/>
              </a:rPr>
              <a:t>system</a:t>
            </a:r>
            <a:r>
              <a:rPr sz="2800" spc="10" dirty="0">
                <a:latin typeface="Calibri"/>
                <a:cs typeface="Calibri"/>
              </a:rPr>
              <a:t> </a:t>
            </a:r>
            <a:r>
              <a:rPr sz="2800" spc="-25" dirty="0">
                <a:latin typeface="Calibri"/>
                <a:cs typeface="Calibri"/>
              </a:rPr>
              <a:t>for</a:t>
            </a:r>
            <a:r>
              <a:rPr sz="2800" spc="-10" dirty="0">
                <a:latin typeface="Calibri"/>
                <a:cs typeface="Calibri"/>
              </a:rPr>
              <a:t> treating </a:t>
            </a:r>
            <a:r>
              <a:rPr sz="2800" spc="-5" dirty="0">
                <a:latin typeface="Calibri"/>
                <a:cs typeface="Calibri"/>
              </a:rPr>
              <a:t>blood</a:t>
            </a:r>
            <a:r>
              <a:rPr sz="2800" spc="20" dirty="0">
                <a:latin typeface="Calibri"/>
                <a:cs typeface="Calibri"/>
              </a:rPr>
              <a:t> </a:t>
            </a:r>
            <a:r>
              <a:rPr sz="2800" spc="-10" dirty="0">
                <a:latin typeface="Calibri"/>
                <a:cs typeface="Calibri"/>
              </a:rPr>
              <a:t>infections</a:t>
            </a:r>
            <a:endParaRPr sz="2800">
              <a:latin typeface="Calibri"/>
              <a:cs typeface="Calibri"/>
            </a:endParaRPr>
          </a:p>
          <a:p>
            <a:pPr marL="241300" marR="847725" indent="-228600">
              <a:lnSpc>
                <a:spcPts val="2690"/>
              </a:lnSpc>
              <a:spcBef>
                <a:spcPts val="975"/>
              </a:spcBef>
              <a:buFont typeface="Arial MT"/>
              <a:buChar char="•"/>
              <a:tabLst>
                <a:tab pos="241300" algn="l"/>
              </a:tabLst>
            </a:pPr>
            <a:r>
              <a:rPr sz="2800" spc="-25" dirty="0">
                <a:latin typeface="Calibri"/>
                <a:cs typeface="Calibri"/>
              </a:rPr>
              <a:t>MYCIN</a:t>
            </a:r>
            <a:r>
              <a:rPr sz="2800" dirty="0">
                <a:latin typeface="Calibri"/>
                <a:cs typeface="Calibri"/>
              </a:rPr>
              <a:t> </a:t>
            </a:r>
            <a:r>
              <a:rPr sz="2800" spc="-10" dirty="0">
                <a:latin typeface="Calibri"/>
                <a:cs typeface="Calibri"/>
              </a:rPr>
              <a:t>would</a:t>
            </a:r>
            <a:r>
              <a:rPr sz="2800" spc="10" dirty="0">
                <a:latin typeface="Calibri"/>
                <a:cs typeface="Calibri"/>
              </a:rPr>
              <a:t> </a:t>
            </a:r>
            <a:r>
              <a:rPr sz="2800" spc="-15" dirty="0">
                <a:latin typeface="Calibri"/>
                <a:cs typeface="Calibri"/>
              </a:rPr>
              <a:t>attempt</a:t>
            </a:r>
            <a:r>
              <a:rPr sz="2800" spc="-10" dirty="0">
                <a:latin typeface="Calibri"/>
                <a:cs typeface="Calibri"/>
              </a:rPr>
              <a:t> to</a:t>
            </a:r>
            <a:r>
              <a:rPr sz="2800" spc="-5" dirty="0">
                <a:latin typeface="Calibri"/>
                <a:cs typeface="Calibri"/>
              </a:rPr>
              <a:t> diagnose</a:t>
            </a:r>
            <a:r>
              <a:rPr sz="2800" spc="10" dirty="0">
                <a:latin typeface="Calibri"/>
                <a:cs typeface="Calibri"/>
              </a:rPr>
              <a:t> </a:t>
            </a:r>
            <a:r>
              <a:rPr sz="2800" spc="-10" dirty="0">
                <a:latin typeface="Calibri"/>
                <a:cs typeface="Calibri"/>
              </a:rPr>
              <a:t>patients</a:t>
            </a:r>
            <a:r>
              <a:rPr sz="2800" spc="15" dirty="0">
                <a:latin typeface="Calibri"/>
                <a:cs typeface="Calibri"/>
              </a:rPr>
              <a:t> </a:t>
            </a:r>
            <a:r>
              <a:rPr sz="2800" spc="-5" dirty="0">
                <a:latin typeface="Calibri"/>
                <a:cs typeface="Calibri"/>
              </a:rPr>
              <a:t>based</a:t>
            </a:r>
            <a:r>
              <a:rPr sz="2800" spc="5" dirty="0">
                <a:latin typeface="Calibri"/>
                <a:cs typeface="Calibri"/>
              </a:rPr>
              <a:t> </a:t>
            </a:r>
            <a:r>
              <a:rPr sz="2800" spc="-5" dirty="0">
                <a:latin typeface="Calibri"/>
                <a:cs typeface="Calibri"/>
              </a:rPr>
              <a:t>on</a:t>
            </a:r>
            <a:r>
              <a:rPr sz="2800" spc="5" dirty="0">
                <a:latin typeface="Calibri"/>
                <a:cs typeface="Calibri"/>
              </a:rPr>
              <a:t> </a:t>
            </a:r>
            <a:r>
              <a:rPr sz="2800" spc="-10" dirty="0">
                <a:latin typeface="Calibri"/>
                <a:cs typeface="Calibri"/>
              </a:rPr>
              <a:t>reported </a:t>
            </a:r>
            <a:r>
              <a:rPr sz="2800" spc="-620" dirty="0">
                <a:latin typeface="Calibri"/>
                <a:cs typeface="Calibri"/>
              </a:rPr>
              <a:t> </a:t>
            </a:r>
            <a:r>
              <a:rPr sz="2800" spc="-20" dirty="0">
                <a:latin typeface="Calibri"/>
                <a:cs typeface="Calibri"/>
              </a:rPr>
              <a:t>symptoms</a:t>
            </a:r>
            <a:r>
              <a:rPr sz="2800" spc="35"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medical</a:t>
            </a:r>
            <a:r>
              <a:rPr sz="2800" spc="15" dirty="0">
                <a:latin typeface="Calibri"/>
                <a:cs typeface="Calibri"/>
              </a:rPr>
              <a:t> </a:t>
            </a:r>
            <a:r>
              <a:rPr sz="2800" spc="-20" dirty="0">
                <a:latin typeface="Calibri"/>
                <a:cs typeface="Calibri"/>
              </a:rPr>
              <a:t>test</a:t>
            </a:r>
            <a:r>
              <a:rPr sz="2800" spc="15" dirty="0">
                <a:latin typeface="Calibri"/>
                <a:cs typeface="Calibri"/>
              </a:rPr>
              <a:t> </a:t>
            </a:r>
            <a:r>
              <a:rPr sz="2800" spc="-10" dirty="0">
                <a:latin typeface="Calibri"/>
                <a:cs typeface="Calibri"/>
              </a:rPr>
              <a:t>results</a:t>
            </a:r>
            <a:endParaRPr sz="2800">
              <a:latin typeface="Calibri"/>
              <a:cs typeface="Calibri"/>
            </a:endParaRPr>
          </a:p>
          <a:p>
            <a:pPr marL="241300" indent="-228600">
              <a:lnSpc>
                <a:spcPct val="100000"/>
              </a:lnSpc>
              <a:spcBef>
                <a:spcPts val="355"/>
              </a:spcBef>
              <a:buFont typeface="Arial MT"/>
              <a:buChar char="•"/>
              <a:tabLst>
                <a:tab pos="241300" algn="l"/>
              </a:tabLst>
            </a:pPr>
            <a:r>
              <a:rPr sz="2800" spc="-5" dirty="0">
                <a:latin typeface="Calibri"/>
                <a:cs typeface="Calibri"/>
              </a:rPr>
              <a:t>Could</a:t>
            </a:r>
            <a:r>
              <a:rPr sz="2800" spc="20" dirty="0">
                <a:latin typeface="Calibri"/>
                <a:cs typeface="Calibri"/>
              </a:rPr>
              <a:t> </a:t>
            </a:r>
            <a:r>
              <a:rPr sz="2800" spc="-5" dirty="0">
                <a:latin typeface="Calibri"/>
                <a:cs typeface="Calibri"/>
              </a:rPr>
              <a:t>ask</a:t>
            </a:r>
            <a:r>
              <a:rPr sz="2800" spc="15" dirty="0">
                <a:latin typeface="Calibri"/>
                <a:cs typeface="Calibri"/>
              </a:rPr>
              <a:t> </a:t>
            </a:r>
            <a:r>
              <a:rPr sz="2800" spc="-5" dirty="0">
                <a:latin typeface="Calibri"/>
                <a:cs typeface="Calibri"/>
              </a:rPr>
              <a:t>some</a:t>
            </a:r>
            <a:r>
              <a:rPr sz="2800" spc="25" dirty="0">
                <a:latin typeface="Calibri"/>
                <a:cs typeface="Calibri"/>
              </a:rPr>
              <a:t> </a:t>
            </a:r>
            <a:r>
              <a:rPr sz="2800" spc="-15" dirty="0">
                <a:latin typeface="Calibri"/>
                <a:cs typeface="Calibri"/>
              </a:rPr>
              <a:t>more</a:t>
            </a:r>
            <a:r>
              <a:rPr sz="2800" spc="20" dirty="0">
                <a:latin typeface="Calibri"/>
                <a:cs typeface="Calibri"/>
              </a:rPr>
              <a:t> </a:t>
            </a:r>
            <a:r>
              <a:rPr sz="2800" spc="-15" dirty="0">
                <a:latin typeface="Calibri"/>
                <a:cs typeface="Calibri"/>
              </a:rPr>
              <a:t>information</a:t>
            </a:r>
            <a:r>
              <a:rPr sz="2800" spc="20" dirty="0">
                <a:latin typeface="Calibri"/>
                <a:cs typeface="Calibri"/>
              </a:rPr>
              <a:t> </a:t>
            </a:r>
            <a:r>
              <a:rPr sz="2800" spc="-5" dirty="0">
                <a:latin typeface="Calibri"/>
                <a:cs typeface="Calibri"/>
              </a:rPr>
              <a:t>and</a:t>
            </a:r>
            <a:r>
              <a:rPr sz="2800" spc="30" dirty="0">
                <a:latin typeface="Calibri"/>
                <a:cs typeface="Calibri"/>
              </a:rPr>
              <a:t> </a:t>
            </a:r>
            <a:r>
              <a:rPr sz="2800" spc="-5" dirty="0">
                <a:latin typeface="Calibri"/>
                <a:cs typeface="Calibri"/>
              </a:rPr>
              <a:t>lab</a:t>
            </a:r>
            <a:r>
              <a:rPr sz="2800" spc="5" dirty="0">
                <a:latin typeface="Calibri"/>
                <a:cs typeface="Calibri"/>
              </a:rPr>
              <a:t> </a:t>
            </a:r>
            <a:r>
              <a:rPr sz="2800" spc="-15" dirty="0">
                <a:latin typeface="Calibri"/>
                <a:cs typeface="Calibri"/>
              </a:rPr>
              <a:t>test</a:t>
            </a:r>
            <a:r>
              <a:rPr sz="2800" spc="25" dirty="0">
                <a:latin typeface="Calibri"/>
                <a:cs typeface="Calibri"/>
              </a:rPr>
              <a:t> </a:t>
            </a:r>
            <a:r>
              <a:rPr sz="2800" spc="-10" dirty="0">
                <a:latin typeface="Calibri"/>
                <a:cs typeface="Calibri"/>
              </a:rPr>
              <a:t>results</a:t>
            </a:r>
            <a:r>
              <a:rPr sz="2800" spc="2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diagnosis</a:t>
            </a:r>
            <a:endParaRPr sz="2800">
              <a:latin typeface="Calibri"/>
              <a:cs typeface="Calibri"/>
            </a:endParaRPr>
          </a:p>
          <a:p>
            <a:pPr marL="241300" marR="623570" indent="-228600">
              <a:lnSpc>
                <a:spcPct val="80000"/>
              </a:lnSpc>
              <a:spcBef>
                <a:spcPts val="1000"/>
              </a:spcBef>
              <a:buFont typeface="Arial MT"/>
              <a:buChar char="•"/>
              <a:tabLst>
                <a:tab pos="241300" algn="l"/>
              </a:tabLst>
            </a:pPr>
            <a:r>
              <a:rPr sz="2800" spc="-5" dirty="0">
                <a:latin typeface="Calibri"/>
                <a:cs typeface="Calibri"/>
              </a:rPr>
              <a:t>It</a:t>
            </a:r>
            <a:r>
              <a:rPr sz="2800" spc="10" dirty="0">
                <a:latin typeface="Calibri"/>
                <a:cs typeface="Calibri"/>
              </a:rPr>
              <a:t> </a:t>
            </a:r>
            <a:r>
              <a:rPr sz="2800" spc="-10" dirty="0">
                <a:latin typeface="Calibri"/>
                <a:cs typeface="Calibri"/>
              </a:rPr>
              <a:t>would</a:t>
            </a:r>
            <a:r>
              <a:rPr sz="2800" spc="10" dirty="0">
                <a:latin typeface="Calibri"/>
                <a:cs typeface="Calibri"/>
              </a:rPr>
              <a:t> </a:t>
            </a:r>
            <a:r>
              <a:rPr sz="2800" spc="-15" dirty="0">
                <a:latin typeface="Calibri"/>
                <a:cs typeface="Calibri"/>
              </a:rPr>
              <a:t>recommend</a:t>
            </a:r>
            <a:r>
              <a:rPr sz="2800" spc="35" dirty="0">
                <a:latin typeface="Calibri"/>
                <a:cs typeface="Calibri"/>
              </a:rPr>
              <a:t> </a:t>
            </a:r>
            <a:r>
              <a:rPr sz="2800" spc="-5" dirty="0">
                <a:latin typeface="Calibri"/>
                <a:cs typeface="Calibri"/>
              </a:rPr>
              <a:t>a</a:t>
            </a:r>
            <a:r>
              <a:rPr sz="2800" spc="10" dirty="0">
                <a:latin typeface="Calibri"/>
                <a:cs typeface="Calibri"/>
              </a:rPr>
              <a:t> </a:t>
            </a:r>
            <a:r>
              <a:rPr sz="2800" spc="-20" dirty="0">
                <a:latin typeface="Calibri"/>
                <a:cs typeface="Calibri"/>
              </a:rPr>
              <a:t>course</a:t>
            </a:r>
            <a:r>
              <a:rPr sz="2800" spc="2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treatment,</a:t>
            </a:r>
            <a:r>
              <a:rPr sz="2800" spc="15" dirty="0">
                <a:latin typeface="Calibri"/>
                <a:cs typeface="Calibri"/>
              </a:rPr>
              <a:t> </a:t>
            </a:r>
            <a:r>
              <a:rPr sz="2800" spc="-5" dirty="0">
                <a:latin typeface="Calibri"/>
                <a:cs typeface="Calibri"/>
              </a:rPr>
              <a:t>if</a:t>
            </a:r>
            <a:r>
              <a:rPr sz="2800" spc="5" dirty="0">
                <a:latin typeface="Calibri"/>
                <a:cs typeface="Calibri"/>
              </a:rPr>
              <a:t> </a:t>
            </a:r>
            <a:r>
              <a:rPr sz="2800" spc="-15" dirty="0">
                <a:latin typeface="Calibri"/>
                <a:cs typeface="Calibri"/>
              </a:rPr>
              <a:t>requested</a:t>
            </a:r>
            <a:r>
              <a:rPr sz="2800" spc="40" dirty="0">
                <a:latin typeface="Calibri"/>
                <a:cs typeface="Calibri"/>
              </a:rPr>
              <a:t> </a:t>
            </a:r>
            <a:r>
              <a:rPr sz="2800" spc="-25" dirty="0">
                <a:latin typeface="Calibri"/>
                <a:cs typeface="Calibri"/>
              </a:rPr>
              <a:t>MYCIN </a:t>
            </a:r>
            <a:r>
              <a:rPr sz="2800" spc="-615" dirty="0">
                <a:latin typeface="Calibri"/>
                <a:cs typeface="Calibri"/>
              </a:rPr>
              <a:t> </a:t>
            </a:r>
            <a:r>
              <a:rPr sz="2800" spc="-10" dirty="0">
                <a:latin typeface="Calibri"/>
                <a:cs typeface="Calibri"/>
              </a:rPr>
              <a:t>would</a:t>
            </a:r>
            <a:r>
              <a:rPr sz="2800" spc="10" dirty="0">
                <a:latin typeface="Calibri"/>
                <a:cs typeface="Calibri"/>
              </a:rPr>
              <a:t> </a:t>
            </a:r>
            <a:r>
              <a:rPr sz="2800" spc="-15" dirty="0">
                <a:latin typeface="Calibri"/>
                <a:cs typeface="Calibri"/>
              </a:rPr>
              <a:t>explain</a:t>
            </a:r>
            <a:r>
              <a:rPr sz="2800" spc="2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reasoning</a:t>
            </a:r>
            <a:r>
              <a:rPr sz="2800" spc="15" dirty="0">
                <a:latin typeface="Calibri"/>
                <a:cs typeface="Calibri"/>
              </a:rPr>
              <a:t> </a:t>
            </a:r>
            <a:r>
              <a:rPr sz="2800" spc="-10" dirty="0">
                <a:latin typeface="Calibri"/>
                <a:cs typeface="Calibri"/>
              </a:rPr>
              <a:t>that</a:t>
            </a:r>
            <a:r>
              <a:rPr sz="2800" spc="15" dirty="0">
                <a:latin typeface="Calibri"/>
                <a:cs typeface="Calibri"/>
              </a:rPr>
              <a:t> </a:t>
            </a:r>
            <a:r>
              <a:rPr sz="2800" spc="-5" dirty="0">
                <a:latin typeface="Calibri"/>
                <a:cs typeface="Calibri"/>
              </a:rPr>
              <a:t>lead</a:t>
            </a:r>
            <a:r>
              <a:rPr sz="2800" spc="5"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its</a:t>
            </a:r>
            <a:r>
              <a:rPr sz="2800" spc="15" dirty="0">
                <a:latin typeface="Calibri"/>
                <a:cs typeface="Calibri"/>
              </a:rPr>
              <a:t> </a:t>
            </a:r>
            <a:r>
              <a:rPr sz="2800" spc="-5" dirty="0">
                <a:latin typeface="Calibri"/>
                <a:cs typeface="Calibri"/>
              </a:rPr>
              <a:t>diagnosis</a:t>
            </a:r>
            <a:r>
              <a:rPr sz="2800" spc="20" dirty="0">
                <a:latin typeface="Calibri"/>
                <a:cs typeface="Calibri"/>
              </a:rPr>
              <a:t> </a:t>
            </a:r>
            <a:r>
              <a:rPr sz="2800" spc="-5" dirty="0">
                <a:latin typeface="Calibri"/>
                <a:cs typeface="Calibri"/>
              </a:rPr>
              <a:t>and </a:t>
            </a:r>
            <a:r>
              <a:rPr sz="2800" dirty="0">
                <a:latin typeface="Calibri"/>
                <a:cs typeface="Calibri"/>
              </a:rPr>
              <a:t> </a:t>
            </a:r>
            <a:r>
              <a:rPr sz="2800" spc="-10" dirty="0">
                <a:latin typeface="Calibri"/>
                <a:cs typeface="Calibri"/>
              </a:rPr>
              <a:t>recommendations</a:t>
            </a:r>
            <a:endParaRPr sz="2800">
              <a:latin typeface="Calibri"/>
              <a:cs typeface="Calibri"/>
            </a:endParaRPr>
          </a:p>
          <a:p>
            <a:pPr marL="241300" indent="-228600">
              <a:lnSpc>
                <a:spcPct val="100000"/>
              </a:lnSpc>
              <a:spcBef>
                <a:spcPts val="325"/>
              </a:spcBef>
              <a:buFont typeface="Arial MT"/>
              <a:buChar char="•"/>
              <a:tabLst>
                <a:tab pos="241300" algn="l"/>
              </a:tabLst>
            </a:pPr>
            <a:r>
              <a:rPr sz="2800" spc="-5" dirty="0">
                <a:latin typeface="Calibri"/>
                <a:cs typeface="Calibri"/>
              </a:rPr>
              <a:t>Uses</a:t>
            </a:r>
            <a:r>
              <a:rPr sz="2800" spc="10" dirty="0">
                <a:latin typeface="Calibri"/>
                <a:cs typeface="Calibri"/>
              </a:rPr>
              <a:t> </a:t>
            </a:r>
            <a:r>
              <a:rPr sz="2800" spc="-5" dirty="0">
                <a:latin typeface="Calibri"/>
                <a:cs typeface="Calibri"/>
              </a:rPr>
              <a:t>about</a:t>
            </a:r>
            <a:r>
              <a:rPr sz="2800" spc="15" dirty="0">
                <a:latin typeface="Calibri"/>
                <a:cs typeface="Calibri"/>
              </a:rPr>
              <a:t> </a:t>
            </a:r>
            <a:r>
              <a:rPr sz="2800" spc="-5" dirty="0">
                <a:latin typeface="Calibri"/>
                <a:cs typeface="Calibri"/>
              </a:rPr>
              <a:t>500</a:t>
            </a:r>
            <a:r>
              <a:rPr sz="2800" spc="25" dirty="0">
                <a:latin typeface="Calibri"/>
                <a:cs typeface="Calibri"/>
              </a:rPr>
              <a:t> </a:t>
            </a:r>
            <a:r>
              <a:rPr sz="2800" spc="-10" dirty="0">
                <a:latin typeface="Calibri"/>
                <a:cs typeface="Calibri"/>
              </a:rPr>
              <a:t>production</a:t>
            </a:r>
            <a:r>
              <a:rPr sz="2800" spc="40" dirty="0">
                <a:latin typeface="Calibri"/>
                <a:cs typeface="Calibri"/>
              </a:rPr>
              <a:t> </a:t>
            </a:r>
            <a:r>
              <a:rPr sz="2800" spc="-5" dirty="0">
                <a:latin typeface="Calibri"/>
                <a:cs typeface="Calibri"/>
              </a:rPr>
              <a:t>rules</a:t>
            </a:r>
            <a:endParaRPr sz="2800">
              <a:latin typeface="Calibri"/>
              <a:cs typeface="Calibri"/>
            </a:endParaRPr>
          </a:p>
          <a:p>
            <a:pPr marL="241300" marR="5080" indent="-228600">
              <a:lnSpc>
                <a:spcPct val="80000"/>
              </a:lnSpc>
              <a:spcBef>
                <a:spcPts val="1010"/>
              </a:spcBef>
              <a:buFont typeface="Arial MT"/>
              <a:buChar char="•"/>
              <a:tabLst>
                <a:tab pos="241300" algn="l"/>
              </a:tabLst>
            </a:pPr>
            <a:r>
              <a:rPr sz="2800" spc="-25" dirty="0">
                <a:latin typeface="Calibri"/>
                <a:cs typeface="Calibri"/>
              </a:rPr>
              <a:t>MYCIN</a:t>
            </a:r>
            <a:r>
              <a:rPr sz="2800" spc="10" dirty="0">
                <a:latin typeface="Calibri"/>
                <a:cs typeface="Calibri"/>
              </a:rPr>
              <a:t> </a:t>
            </a:r>
            <a:r>
              <a:rPr sz="2800" spc="-20" dirty="0">
                <a:latin typeface="Calibri"/>
                <a:cs typeface="Calibri"/>
              </a:rPr>
              <a:t>operated</a:t>
            </a:r>
            <a:r>
              <a:rPr sz="2800" spc="15" dirty="0">
                <a:latin typeface="Calibri"/>
                <a:cs typeface="Calibri"/>
              </a:rPr>
              <a:t> </a:t>
            </a:r>
            <a:r>
              <a:rPr sz="2800" spc="-15" dirty="0">
                <a:latin typeface="Calibri"/>
                <a:cs typeface="Calibri"/>
              </a:rPr>
              <a:t>at</a:t>
            </a:r>
            <a:r>
              <a:rPr sz="2800" dirty="0">
                <a:latin typeface="Calibri"/>
                <a:cs typeface="Calibri"/>
              </a:rPr>
              <a:t> </a:t>
            </a:r>
            <a:r>
              <a:rPr sz="2800" spc="-15" dirty="0">
                <a:latin typeface="Calibri"/>
                <a:cs typeface="Calibri"/>
              </a:rPr>
              <a:t>roughly</a:t>
            </a:r>
            <a:r>
              <a:rPr sz="2800" spc="25" dirty="0">
                <a:latin typeface="Calibri"/>
                <a:cs typeface="Calibri"/>
              </a:rPr>
              <a:t> </a:t>
            </a:r>
            <a:r>
              <a:rPr sz="2800" spc="-5" dirty="0">
                <a:latin typeface="Calibri"/>
                <a:cs typeface="Calibri"/>
              </a:rPr>
              <a:t>the</a:t>
            </a:r>
            <a:r>
              <a:rPr sz="2800" dirty="0">
                <a:latin typeface="Calibri"/>
                <a:cs typeface="Calibri"/>
              </a:rPr>
              <a:t> </a:t>
            </a:r>
            <a:r>
              <a:rPr sz="2800" spc="-5" dirty="0">
                <a:latin typeface="Calibri"/>
                <a:cs typeface="Calibri"/>
              </a:rPr>
              <a:t>same</a:t>
            </a:r>
            <a:r>
              <a:rPr sz="2800" spc="20" dirty="0">
                <a:latin typeface="Calibri"/>
                <a:cs typeface="Calibri"/>
              </a:rPr>
              <a:t> </a:t>
            </a:r>
            <a:r>
              <a:rPr sz="2800" spc="-10" dirty="0">
                <a:latin typeface="Calibri"/>
                <a:cs typeface="Calibri"/>
              </a:rPr>
              <a:t>level</a:t>
            </a:r>
            <a:r>
              <a:rPr sz="2800" dirty="0">
                <a:latin typeface="Calibri"/>
                <a:cs typeface="Calibri"/>
              </a:rPr>
              <a:t> </a:t>
            </a:r>
            <a:r>
              <a:rPr sz="2800" spc="-5" dirty="0">
                <a:latin typeface="Calibri"/>
                <a:cs typeface="Calibri"/>
              </a:rPr>
              <a:t>of </a:t>
            </a:r>
            <a:r>
              <a:rPr sz="2800" spc="-10" dirty="0">
                <a:latin typeface="Calibri"/>
                <a:cs typeface="Calibri"/>
              </a:rPr>
              <a:t>competence</a:t>
            </a:r>
            <a:r>
              <a:rPr sz="2800" spc="30" dirty="0">
                <a:latin typeface="Calibri"/>
                <a:cs typeface="Calibri"/>
              </a:rPr>
              <a:t> </a:t>
            </a:r>
            <a:r>
              <a:rPr sz="2800" spc="-5" dirty="0">
                <a:latin typeface="Calibri"/>
                <a:cs typeface="Calibri"/>
              </a:rPr>
              <a:t>as</a:t>
            </a:r>
            <a:r>
              <a:rPr sz="2800" spc="10" dirty="0">
                <a:latin typeface="Calibri"/>
                <a:cs typeface="Calibri"/>
              </a:rPr>
              <a:t> </a:t>
            </a:r>
            <a:r>
              <a:rPr sz="2800" spc="-10" dirty="0">
                <a:latin typeface="Calibri"/>
                <a:cs typeface="Calibri"/>
              </a:rPr>
              <a:t>human </a:t>
            </a:r>
            <a:r>
              <a:rPr sz="2800" spc="-620" dirty="0">
                <a:latin typeface="Calibri"/>
                <a:cs typeface="Calibri"/>
              </a:rPr>
              <a:t> </a:t>
            </a:r>
            <a:r>
              <a:rPr sz="2800" spc="-10" dirty="0">
                <a:latin typeface="Calibri"/>
                <a:cs typeface="Calibri"/>
              </a:rPr>
              <a:t>specialists</a:t>
            </a:r>
            <a:r>
              <a:rPr sz="2800" spc="30" dirty="0">
                <a:latin typeface="Calibri"/>
                <a:cs typeface="Calibri"/>
              </a:rPr>
              <a:t> </a:t>
            </a:r>
            <a:r>
              <a:rPr sz="2800" spc="-5" dirty="0">
                <a:latin typeface="Calibri"/>
                <a:cs typeface="Calibri"/>
              </a:rPr>
              <a:t>in</a:t>
            </a:r>
            <a:r>
              <a:rPr sz="2800" spc="10" dirty="0">
                <a:latin typeface="Calibri"/>
                <a:cs typeface="Calibri"/>
              </a:rPr>
              <a:t> </a:t>
            </a:r>
            <a:r>
              <a:rPr sz="2800" spc="-5" dirty="0">
                <a:latin typeface="Calibri"/>
                <a:cs typeface="Calibri"/>
              </a:rPr>
              <a:t>blood</a:t>
            </a:r>
            <a:r>
              <a:rPr sz="2800" spc="15" dirty="0">
                <a:latin typeface="Calibri"/>
                <a:cs typeface="Calibri"/>
              </a:rPr>
              <a:t> </a:t>
            </a:r>
            <a:r>
              <a:rPr sz="2800" spc="-10" dirty="0">
                <a:latin typeface="Calibri"/>
                <a:cs typeface="Calibri"/>
              </a:rPr>
              <a:t>infections</a:t>
            </a:r>
            <a:endParaRPr sz="2800">
              <a:latin typeface="Calibri"/>
              <a:cs typeface="Calibri"/>
            </a:endParaRPr>
          </a:p>
          <a:p>
            <a:pPr marL="241300" indent="-228600">
              <a:lnSpc>
                <a:spcPct val="100000"/>
              </a:lnSpc>
              <a:spcBef>
                <a:spcPts val="325"/>
              </a:spcBef>
              <a:buFont typeface="Arial MT"/>
              <a:buChar char="•"/>
              <a:tabLst>
                <a:tab pos="241300" algn="l"/>
              </a:tabLst>
            </a:pPr>
            <a:r>
              <a:rPr sz="2800" spc="-5" dirty="0">
                <a:latin typeface="Calibri"/>
                <a:cs typeface="Calibri"/>
              </a:rPr>
              <a:t>Uses</a:t>
            </a:r>
            <a:r>
              <a:rPr sz="2800" spc="10" dirty="0">
                <a:latin typeface="Calibri"/>
                <a:cs typeface="Calibri"/>
              </a:rPr>
              <a:t> </a:t>
            </a:r>
            <a:r>
              <a:rPr sz="2800" spc="-10" dirty="0">
                <a:latin typeface="Calibri"/>
                <a:cs typeface="Calibri"/>
              </a:rPr>
              <a:t>backward</a:t>
            </a:r>
            <a:r>
              <a:rPr sz="2800" dirty="0">
                <a:latin typeface="Calibri"/>
                <a:cs typeface="Calibri"/>
              </a:rPr>
              <a:t> </a:t>
            </a:r>
            <a:r>
              <a:rPr sz="2800" spc="-5" dirty="0">
                <a:latin typeface="Calibri"/>
                <a:cs typeface="Calibri"/>
              </a:rPr>
              <a:t>chaining</a:t>
            </a:r>
            <a:r>
              <a:rPr sz="2800" spc="20"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reasoning</a:t>
            </a:r>
            <a:endParaRPr sz="28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116359"/>
            <a:ext cx="6450965" cy="697230"/>
          </a:xfrm>
          <a:prstGeom prst="rect">
            <a:avLst/>
          </a:prstGeom>
        </p:spPr>
        <p:txBody>
          <a:bodyPr vert="horz" wrap="square" lIns="0" tIns="13335" rIns="0" bIns="0" rtlCol="0">
            <a:spAutoFit/>
          </a:bodyPr>
          <a:lstStyle/>
          <a:p>
            <a:pPr marL="12700">
              <a:lnSpc>
                <a:spcPct val="100000"/>
              </a:lnSpc>
              <a:spcBef>
                <a:spcPts val="105"/>
              </a:spcBef>
            </a:pPr>
            <a:r>
              <a:rPr sz="4400" spc="-20" dirty="0"/>
              <a:t>Natural</a:t>
            </a:r>
            <a:r>
              <a:rPr sz="4400" spc="-15" dirty="0"/>
              <a:t> </a:t>
            </a:r>
            <a:r>
              <a:rPr sz="4400" spc="-5" dirty="0"/>
              <a:t>Language</a:t>
            </a:r>
            <a:r>
              <a:rPr sz="4400" spc="-45" dirty="0"/>
              <a:t> </a:t>
            </a:r>
            <a:r>
              <a:rPr sz="4400" spc="-15" dirty="0"/>
              <a:t>Processing</a:t>
            </a:r>
            <a:endParaRPr sz="4400" dirty="0"/>
          </a:p>
        </p:txBody>
      </p:sp>
      <p:sp>
        <p:nvSpPr>
          <p:cNvPr id="3" name="object 3"/>
          <p:cNvSpPr txBox="1"/>
          <p:nvPr/>
        </p:nvSpPr>
        <p:spPr>
          <a:xfrm>
            <a:off x="457200" y="1066800"/>
            <a:ext cx="9560560" cy="5352106"/>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400" spc="-5" dirty="0">
                <a:latin typeface="Calibri"/>
                <a:cs typeface="Calibri"/>
              </a:rPr>
              <a:t>NLP</a:t>
            </a:r>
            <a:r>
              <a:rPr sz="2400" spc="20" dirty="0">
                <a:latin typeface="Calibri"/>
                <a:cs typeface="Calibri"/>
              </a:rPr>
              <a:t> </a:t>
            </a:r>
            <a:r>
              <a:rPr sz="2400" spc="-5" dirty="0">
                <a:latin typeface="Calibri"/>
                <a:cs typeface="Calibri"/>
              </a:rPr>
              <a:t>is</a:t>
            </a:r>
            <a:r>
              <a:rPr sz="2400" spc="15" dirty="0">
                <a:latin typeface="Calibri"/>
                <a:cs typeface="Calibri"/>
              </a:rPr>
              <a:t> </a:t>
            </a:r>
            <a:r>
              <a:rPr sz="2400" spc="-5" dirty="0">
                <a:latin typeface="Calibri"/>
                <a:cs typeface="Calibri"/>
              </a:rPr>
              <a:t>one</a:t>
            </a:r>
            <a:r>
              <a:rPr sz="2400" dirty="0">
                <a:latin typeface="Calibri"/>
                <a:cs typeface="Calibri"/>
              </a:rPr>
              <a:t> of </a:t>
            </a:r>
            <a:r>
              <a:rPr sz="2400" spc="-5" dirty="0">
                <a:latin typeface="Calibri"/>
                <a:cs typeface="Calibri"/>
              </a:rPr>
              <a:t>the</a:t>
            </a:r>
            <a:r>
              <a:rPr sz="2400" spc="20" dirty="0">
                <a:latin typeface="Calibri"/>
                <a:cs typeface="Calibri"/>
              </a:rPr>
              <a:t> </a:t>
            </a:r>
            <a:r>
              <a:rPr sz="2400" spc="-10" dirty="0">
                <a:latin typeface="Calibri"/>
                <a:cs typeface="Calibri"/>
              </a:rPr>
              <a:t>field</a:t>
            </a:r>
            <a:r>
              <a:rPr sz="2400" spc="10" dirty="0">
                <a:latin typeface="Calibri"/>
                <a:cs typeface="Calibri"/>
              </a:rPr>
              <a:t> </a:t>
            </a:r>
            <a:r>
              <a:rPr sz="2400" spc="-5" dirty="0">
                <a:latin typeface="Calibri"/>
                <a:cs typeface="Calibri"/>
              </a:rPr>
              <a:t>of</a:t>
            </a:r>
            <a:r>
              <a:rPr sz="2400" spc="10" dirty="0">
                <a:latin typeface="Calibri"/>
                <a:cs typeface="Calibri"/>
              </a:rPr>
              <a:t> </a:t>
            </a:r>
            <a:r>
              <a:rPr sz="2400" spc="-5" dirty="0">
                <a:latin typeface="Calibri"/>
                <a:cs typeface="Calibri"/>
              </a:rPr>
              <a:t>AI</a:t>
            </a:r>
            <a:r>
              <a:rPr sz="2400" spc="10" dirty="0">
                <a:latin typeface="Calibri"/>
                <a:cs typeface="Calibri"/>
              </a:rPr>
              <a:t> </a:t>
            </a:r>
            <a:r>
              <a:rPr sz="2400" spc="-10" dirty="0">
                <a:latin typeface="Calibri"/>
                <a:cs typeface="Calibri"/>
              </a:rPr>
              <a:t>that</a:t>
            </a:r>
            <a:r>
              <a:rPr sz="2400" dirty="0">
                <a:latin typeface="Calibri"/>
                <a:cs typeface="Calibri"/>
              </a:rPr>
              <a:t> </a:t>
            </a:r>
            <a:r>
              <a:rPr sz="2400" spc="-10" dirty="0">
                <a:latin typeface="Calibri"/>
                <a:cs typeface="Calibri"/>
              </a:rPr>
              <a:t>processes</a:t>
            </a:r>
            <a:r>
              <a:rPr sz="2400" spc="45" dirty="0">
                <a:latin typeface="Calibri"/>
                <a:cs typeface="Calibri"/>
              </a:rPr>
              <a:t> </a:t>
            </a:r>
            <a:r>
              <a:rPr sz="2400" spc="-5" dirty="0">
                <a:latin typeface="Calibri"/>
                <a:cs typeface="Calibri"/>
              </a:rPr>
              <a:t>or</a:t>
            </a:r>
            <a:r>
              <a:rPr sz="2400" dirty="0">
                <a:latin typeface="Calibri"/>
                <a:cs typeface="Calibri"/>
              </a:rPr>
              <a:t> </a:t>
            </a:r>
            <a:r>
              <a:rPr sz="2400" spc="-10" dirty="0">
                <a:latin typeface="Calibri"/>
                <a:cs typeface="Calibri"/>
              </a:rPr>
              <a:t>analyses</a:t>
            </a:r>
            <a:r>
              <a:rPr sz="2400" spc="20" dirty="0">
                <a:latin typeface="Calibri"/>
                <a:cs typeface="Calibri"/>
              </a:rPr>
              <a:t> </a:t>
            </a:r>
            <a:r>
              <a:rPr sz="2400" spc="-10" dirty="0">
                <a:latin typeface="Calibri"/>
                <a:cs typeface="Calibri"/>
              </a:rPr>
              <a:t>written</a:t>
            </a:r>
            <a:r>
              <a:rPr sz="2400" spc="5" dirty="0">
                <a:latin typeface="Calibri"/>
                <a:cs typeface="Calibri"/>
              </a:rPr>
              <a:t> </a:t>
            </a:r>
            <a:r>
              <a:rPr sz="2400" spc="-10" dirty="0">
                <a:latin typeface="Calibri"/>
                <a:cs typeface="Calibri"/>
              </a:rPr>
              <a:t>or </a:t>
            </a:r>
            <a:r>
              <a:rPr sz="2400" spc="-620" dirty="0">
                <a:latin typeface="Calibri"/>
                <a:cs typeface="Calibri"/>
              </a:rPr>
              <a:t> </a:t>
            </a:r>
            <a:r>
              <a:rPr sz="2400" spc="-20" dirty="0">
                <a:latin typeface="Calibri"/>
                <a:cs typeface="Calibri"/>
              </a:rPr>
              <a:t>spoken</a:t>
            </a:r>
            <a:r>
              <a:rPr sz="2400" spc="20" dirty="0">
                <a:latin typeface="Calibri"/>
                <a:cs typeface="Calibri"/>
              </a:rPr>
              <a:t> </a:t>
            </a:r>
            <a:r>
              <a:rPr sz="2400" spc="-5" dirty="0">
                <a:latin typeface="Calibri"/>
                <a:cs typeface="Calibri"/>
              </a:rPr>
              <a:t>language</a:t>
            </a:r>
            <a:endParaRPr lang="en-US" sz="2400" spc="-5" dirty="0">
              <a:latin typeface="Calibri"/>
              <a:cs typeface="Calibri"/>
            </a:endParaRPr>
          </a:p>
          <a:p>
            <a:pPr marL="241300" marR="5080" indent="-228600">
              <a:lnSpc>
                <a:spcPts val="3030"/>
              </a:lnSpc>
              <a:spcBef>
                <a:spcPts val="475"/>
              </a:spcBef>
              <a:buFont typeface="Arial MT"/>
              <a:buChar char="•"/>
              <a:tabLst>
                <a:tab pos="241300" algn="l"/>
              </a:tabLst>
            </a:pPr>
            <a:r>
              <a:rPr lang="en-US" sz="2400" dirty="0"/>
              <a:t>Natural Language Processing (NLP) refers to AI method of communicating with an intelligent systems using a natural language such as English.</a:t>
            </a:r>
          </a:p>
          <a:p>
            <a:pPr marL="241300" marR="5080" indent="-228600">
              <a:lnSpc>
                <a:spcPts val="3030"/>
              </a:lnSpc>
              <a:spcBef>
                <a:spcPts val="475"/>
              </a:spcBef>
              <a:buFont typeface="Arial MT"/>
              <a:buChar char="•"/>
              <a:tabLst>
                <a:tab pos="241300" algn="l"/>
              </a:tabLst>
            </a:pPr>
            <a:r>
              <a:rPr lang="en-US" sz="2400" dirty="0"/>
              <a:t>Processing of Natural Language is required when you want an intelligent system like robot to perform as per your instructions, when you want to hear decision from a dialogue based clinical expert system, etc.</a:t>
            </a:r>
          </a:p>
          <a:p>
            <a:pPr marL="241300" marR="5080" indent="-228600">
              <a:lnSpc>
                <a:spcPts val="3030"/>
              </a:lnSpc>
              <a:spcBef>
                <a:spcPts val="475"/>
              </a:spcBef>
              <a:buFont typeface="Arial MT"/>
              <a:buChar char="•"/>
              <a:tabLst>
                <a:tab pos="241300" algn="l"/>
              </a:tabLst>
            </a:pPr>
            <a:r>
              <a:rPr lang="en-US" sz="2400" dirty="0"/>
              <a:t>The field of NLP involves making computers to perform useful tasks with the natural languages humans use. </a:t>
            </a:r>
          </a:p>
          <a:p>
            <a:pPr marL="241300" marR="5080" indent="-228600">
              <a:lnSpc>
                <a:spcPts val="3030"/>
              </a:lnSpc>
              <a:spcBef>
                <a:spcPts val="475"/>
              </a:spcBef>
              <a:buFont typeface="Arial MT"/>
              <a:buChar char="•"/>
              <a:tabLst>
                <a:tab pos="241300" algn="l"/>
              </a:tabLst>
            </a:pPr>
            <a:r>
              <a:rPr lang="en-US" sz="2400" dirty="0"/>
              <a:t>The input and output of an NLP system can be −</a:t>
            </a:r>
          </a:p>
          <a:p>
            <a:pPr>
              <a:buFont typeface="Arial" panose="020B0604020202020204" pitchFamily="34" charset="0"/>
              <a:buChar char="•"/>
            </a:pPr>
            <a:r>
              <a:rPr lang="en-US" sz="2400" dirty="0"/>
              <a:t>Speech</a:t>
            </a:r>
          </a:p>
          <a:p>
            <a:pPr>
              <a:buFont typeface="Arial" panose="020B0604020202020204" pitchFamily="34" charset="0"/>
              <a:buChar char="•"/>
            </a:pPr>
            <a:r>
              <a:rPr lang="en-US" sz="2400" dirty="0"/>
              <a:t>Written Text</a:t>
            </a:r>
          </a:p>
          <a:p>
            <a:pPr marL="241300" marR="5080" indent="-228600">
              <a:lnSpc>
                <a:spcPts val="3030"/>
              </a:lnSpc>
              <a:spcBef>
                <a:spcPts val="475"/>
              </a:spcBef>
              <a:buFont typeface="Arial MT"/>
              <a:buChar char="•"/>
              <a:tabLst>
                <a:tab pos="241300" algn="l"/>
              </a:tabLst>
            </a:pPr>
            <a:endParaRPr sz="28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C1ADA3-A3E8-4B3F-9F4F-BD2977B9FC6E}"/>
              </a:ext>
            </a:extLst>
          </p:cNvPr>
          <p:cNvSpPr txBox="1"/>
          <p:nvPr/>
        </p:nvSpPr>
        <p:spPr>
          <a:xfrm>
            <a:off x="304800" y="457200"/>
            <a:ext cx="9906000" cy="6278642"/>
          </a:xfrm>
          <a:prstGeom prst="rect">
            <a:avLst/>
          </a:prstGeom>
          <a:noFill/>
        </p:spPr>
        <p:txBody>
          <a:bodyPr wrap="square">
            <a:spAutoFit/>
          </a:bodyPr>
          <a:lstStyle/>
          <a:p>
            <a:r>
              <a:rPr lang="en-US" sz="2400" b="1" dirty="0"/>
              <a:t>Components of NLP</a:t>
            </a:r>
          </a:p>
          <a:p>
            <a:endParaRPr lang="en-US" sz="2000" b="1" dirty="0"/>
          </a:p>
          <a:p>
            <a:r>
              <a:rPr lang="en-US" dirty="0"/>
              <a:t>There are two components of NLP as given −</a:t>
            </a:r>
          </a:p>
          <a:p>
            <a:endParaRPr lang="en-US" dirty="0"/>
          </a:p>
          <a:p>
            <a:r>
              <a:rPr lang="en-US" sz="2400" b="1" dirty="0"/>
              <a:t>Natural Language Understanding (NLU)</a:t>
            </a:r>
          </a:p>
          <a:p>
            <a:endParaRPr lang="en-US" sz="2000" b="1" dirty="0"/>
          </a:p>
          <a:p>
            <a:r>
              <a:rPr lang="en-US" dirty="0"/>
              <a:t>Understanding involves the following tasks −</a:t>
            </a:r>
          </a:p>
          <a:p>
            <a:endParaRPr lang="en-US" dirty="0"/>
          </a:p>
          <a:p>
            <a:pPr>
              <a:buFont typeface="Arial" panose="020B0604020202020204" pitchFamily="34" charset="0"/>
              <a:buChar char="•"/>
            </a:pPr>
            <a:r>
              <a:rPr lang="en-US" dirty="0"/>
              <a:t>Mapping the given input in natural language into useful representations.</a:t>
            </a:r>
          </a:p>
          <a:p>
            <a:pPr>
              <a:buFont typeface="Arial" panose="020B0604020202020204" pitchFamily="34" charset="0"/>
              <a:buChar char="•"/>
            </a:pPr>
            <a:r>
              <a:rPr lang="en-US" dirty="0"/>
              <a:t>Analyzing different aspects of the language.</a:t>
            </a:r>
          </a:p>
          <a:p>
            <a:pPr>
              <a:buFont typeface="Arial" panose="020B0604020202020204" pitchFamily="34" charset="0"/>
              <a:buChar char="•"/>
            </a:pPr>
            <a:endParaRPr lang="en-US" dirty="0"/>
          </a:p>
          <a:p>
            <a:r>
              <a:rPr lang="en-US" sz="2400" b="1" dirty="0"/>
              <a:t>Natural Language Generation (NLG)</a:t>
            </a:r>
          </a:p>
          <a:p>
            <a:endParaRPr lang="en-US" sz="2000" b="1" dirty="0"/>
          </a:p>
          <a:p>
            <a:r>
              <a:rPr lang="en-US" dirty="0"/>
              <a:t>It is the process of producing meaningful phrases and sentences in the form of natural language from some internal representation.</a:t>
            </a:r>
          </a:p>
          <a:p>
            <a:r>
              <a:rPr lang="en-US" dirty="0"/>
              <a:t>It involves −</a:t>
            </a:r>
          </a:p>
          <a:p>
            <a:endParaRPr lang="en-US" dirty="0"/>
          </a:p>
          <a:p>
            <a:pPr>
              <a:buFont typeface="Arial" panose="020B0604020202020204" pitchFamily="34" charset="0"/>
              <a:buChar char="•"/>
            </a:pPr>
            <a:r>
              <a:rPr lang="en-US" b="1" dirty="0"/>
              <a:t>Text planning</a:t>
            </a:r>
            <a:r>
              <a:rPr lang="en-US" dirty="0"/>
              <a:t> − It includes retrieving the relevant content from knowledge base.</a:t>
            </a:r>
          </a:p>
          <a:p>
            <a:pPr>
              <a:buFont typeface="Arial" panose="020B0604020202020204" pitchFamily="34" charset="0"/>
              <a:buChar char="•"/>
            </a:pPr>
            <a:r>
              <a:rPr lang="en-US" b="1" dirty="0"/>
              <a:t>Sentence planning</a:t>
            </a:r>
            <a:r>
              <a:rPr lang="en-US" dirty="0"/>
              <a:t> − It includes choosing required words, forming meaningful phrases, setting tone of the sentence.</a:t>
            </a:r>
          </a:p>
          <a:p>
            <a:pPr>
              <a:buFont typeface="Arial" panose="020B0604020202020204" pitchFamily="34" charset="0"/>
              <a:buChar char="•"/>
            </a:pPr>
            <a:r>
              <a:rPr lang="en-US" b="1" dirty="0"/>
              <a:t>Text Realization</a:t>
            </a:r>
            <a:r>
              <a:rPr lang="en-US" dirty="0"/>
              <a:t> − It is mapping sentence plan into sentence structure.</a:t>
            </a:r>
          </a:p>
        </p:txBody>
      </p:sp>
    </p:spTree>
    <p:extLst>
      <p:ext uri="{BB962C8B-B14F-4D97-AF65-F5344CB8AC3E}">
        <p14:creationId xmlns:p14="http://schemas.microsoft.com/office/powerpoint/2010/main" val="3266683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363595"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60" dirty="0"/>
              <a:t> </a:t>
            </a:r>
            <a:r>
              <a:rPr sz="4400" spc="-20" dirty="0"/>
              <a:t>Processes</a:t>
            </a:r>
            <a:endParaRPr sz="4400"/>
          </a:p>
        </p:txBody>
      </p:sp>
      <p:sp>
        <p:nvSpPr>
          <p:cNvPr id="3" name="object 3"/>
          <p:cNvSpPr txBox="1"/>
          <p:nvPr/>
        </p:nvSpPr>
        <p:spPr>
          <a:xfrm>
            <a:off x="1083563" y="1984248"/>
            <a:ext cx="2124710" cy="1420495"/>
          </a:xfrm>
          <a:prstGeom prst="rect">
            <a:avLst/>
          </a:prstGeom>
          <a:ln w="12191">
            <a:solidFill>
              <a:srgbClr val="000000"/>
            </a:solidFill>
          </a:ln>
        </p:spPr>
        <p:txBody>
          <a:bodyPr vert="horz" wrap="square" lIns="0" tIns="3175" rIns="0" bIns="0" rtlCol="0">
            <a:spAutoFit/>
          </a:bodyPr>
          <a:lstStyle/>
          <a:p>
            <a:pPr>
              <a:lnSpc>
                <a:spcPct val="100000"/>
              </a:lnSpc>
              <a:spcBef>
                <a:spcPts val="25"/>
              </a:spcBef>
            </a:pPr>
            <a:endParaRPr sz="2200">
              <a:latin typeface="Times New Roman"/>
              <a:cs typeface="Times New Roman"/>
            </a:endParaRPr>
          </a:p>
          <a:p>
            <a:pPr marL="452755" marR="351155" indent="-94615">
              <a:lnSpc>
                <a:spcPct val="100000"/>
              </a:lnSpc>
            </a:pPr>
            <a:r>
              <a:rPr sz="2400" spc="-5" dirty="0">
                <a:latin typeface="Calibri"/>
                <a:cs typeface="Calibri"/>
              </a:rPr>
              <a:t>Auditory</a:t>
            </a:r>
            <a:r>
              <a:rPr sz="2400" spc="-90" dirty="0">
                <a:latin typeface="Calibri"/>
                <a:cs typeface="Calibri"/>
              </a:rPr>
              <a:t> </a:t>
            </a:r>
            <a:r>
              <a:rPr sz="2400" spc="-5" dirty="0">
                <a:latin typeface="Calibri"/>
                <a:cs typeface="Calibri"/>
              </a:rPr>
              <a:t>or </a:t>
            </a:r>
            <a:r>
              <a:rPr sz="2400" spc="-530" dirty="0">
                <a:latin typeface="Calibri"/>
                <a:cs typeface="Calibri"/>
              </a:rPr>
              <a:t> </a:t>
            </a:r>
            <a:r>
              <a:rPr sz="2400" spc="-65" dirty="0">
                <a:latin typeface="Calibri"/>
                <a:cs typeface="Calibri"/>
              </a:rPr>
              <a:t>Test</a:t>
            </a:r>
            <a:r>
              <a:rPr sz="2400" spc="-35" dirty="0">
                <a:latin typeface="Calibri"/>
                <a:cs typeface="Calibri"/>
              </a:rPr>
              <a:t> </a:t>
            </a:r>
            <a:r>
              <a:rPr sz="2400" spc="-5" dirty="0">
                <a:latin typeface="Calibri"/>
                <a:cs typeface="Calibri"/>
              </a:rPr>
              <a:t>Input</a:t>
            </a:r>
            <a:endParaRPr sz="2400">
              <a:latin typeface="Calibri"/>
              <a:cs typeface="Calibri"/>
            </a:endParaRPr>
          </a:p>
        </p:txBody>
      </p:sp>
      <p:sp>
        <p:nvSpPr>
          <p:cNvPr id="4" name="object 4"/>
          <p:cNvSpPr txBox="1"/>
          <p:nvPr/>
        </p:nvSpPr>
        <p:spPr>
          <a:xfrm>
            <a:off x="4328159" y="4411979"/>
            <a:ext cx="2124710" cy="1422400"/>
          </a:xfrm>
          <a:prstGeom prst="rect">
            <a:avLst/>
          </a:prstGeom>
          <a:ln w="12192">
            <a:solidFill>
              <a:srgbClr val="000000"/>
            </a:solidFill>
          </a:ln>
        </p:spPr>
        <p:txBody>
          <a:bodyPr vert="horz" wrap="square" lIns="0" tIns="635" rIns="0" bIns="0" rtlCol="0">
            <a:spAutoFit/>
          </a:bodyPr>
          <a:lstStyle/>
          <a:p>
            <a:pPr>
              <a:lnSpc>
                <a:spcPct val="100000"/>
              </a:lnSpc>
              <a:spcBef>
                <a:spcPts val="5"/>
              </a:spcBef>
            </a:pPr>
            <a:endParaRPr sz="3250">
              <a:latin typeface="Times New Roman"/>
              <a:cs typeface="Times New Roman"/>
            </a:endParaRPr>
          </a:p>
          <a:p>
            <a:pPr marL="273685">
              <a:lnSpc>
                <a:spcPct val="100000"/>
              </a:lnSpc>
            </a:pPr>
            <a:r>
              <a:rPr sz="2800" spc="-15" dirty="0">
                <a:latin typeface="Calibri"/>
                <a:cs typeface="Calibri"/>
              </a:rPr>
              <a:t>Pragmatics</a:t>
            </a:r>
            <a:endParaRPr sz="2800">
              <a:latin typeface="Calibri"/>
              <a:cs typeface="Calibri"/>
            </a:endParaRPr>
          </a:p>
        </p:txBody>
      </p:sp>
      <p:sp>
        <p:nvSpPr>
          <p:cNvPr id="5" name="object 5"/>
          <p:cNvSpPr txBox="1"/>
          <p:nvPr/>
        </p:nvSpPr>
        <p:spPr>
          <a:xfrm>
            <a:off x="7572756" y="4411979"/>
            <a:ext cx="2124710" cy="1422400"/>
          </a:xfrm>
          <a:prstGeom prst="rect">
            <a:avLst/>
          </a:prstGeom>
          <a:ln w="12192">
            <a:solidFill>
              <a:srgbClr val="000000"/>
            </a:solidFill>
          </a:ln>
        </p:spPr>
        <p:txBody>
          <a:bodyPr vert="horz" wrap="square" lIns="0" tIns="262255" rIns="0" bIns="0" rtlCol="0">
            <a:spAutoFit/>
          </a:bodyPr>
          <a:lstStyle/>
          <a:p>
            <a:pPr marL="483234" marR="389890" indent="-83820">
              <a:lnSpc>
                <a:spcPct val="100000"/>
              </a:lnSpc>
              <a:spcBef>
                <a:spcPts val="2065"/>
              </a:spcBef>
            </a:pPr>
            <a:r>
              <a:rPr sz="2800" spc="-10" dirty="0">
                <a:latin typeface="Calibri"/>
                <a:cs typeface="Calibri"/>
              </a:rPr>
              <a:t>Sema</a:t>
            </a:r>
            <a:r>
              <a:rPr sz="2800" spc="-35" dirty="0">
                <a:latin typeface="Calibri"/>
                <a:cs typeface="Calibri"/>
              </a:rPr>
              <a:t>n</a:t>
            </a:r>
            <a:r>
              <a:rPr sz="2800" spc="-5" dirty="0">
                <a:latin typeface="Calibri"/>
                <a:cs typeface="Calibri"/>
              </a:rPr>
              <a:t>tic  </a:t>
            </a:r>
            <a:r>
              <a:rPr sz="2800" spc="-10" dirty="0">
                <a:latin typeface="Calibri"/>
                <a:cs typeface="Calibri"/>
              </a:rPr>
              <a:t>Analysis</a:t>
            </a:r>
            <a:endParaRPr sz="2800">
              <a:latin typeface="Calibri"/>
              <a:cs typeface="Calibri"/>
            </a:endParaRPr>
          </a:p>
        </p:txBody>
      </p:sp>
      <p:sp>
        <p:nvSpPr>
          <p:cNvPr id="6" name="object 6"/>
          <p:cNvSpPr txBox="1"/>
          <p:nvPr/>
        </p:nvSpPr>
        <p:spPr>
          <a:xfrm>
            <a:off x="7572756" y="1984248"/>
            <a:ext cx="2124710" cy="1420495"/>
          </a:xfrm>
          <a:prstGeom prst="rect">
            <a:avLst/>
          </a:prstGeom>
          <a:ln w="12192">
            <a:solidFill>
              <a:srgbClr val="000000"/>
            </a:solidFill>
          </a:ln>
        </p:spPr>
        <p:txBody>
          <a:bodyPr vert="horz" wrap="square" lIns="0" tIns="260350" rIns="0" bIns="0" rtlCol="0">
            <a:spAutoFit/>
          </a:bodyPr>
          <a:lstStyle/>
          <a:p>
            <a:pPr marL="483234" marR="473075" indent="111125">
              <a:lnSpc>
                <a:spcPct val="100000"/>
              </a:lnSpc>
              <a:spcBef>
                <a:spcPts val="2050"/>
              </a:spcBef>
            </a:pPr>
            <a:r>
              <a:rPr sz="2800" spc="-25" dirty="0">
                <a:latin typeface="Calibri"/>
                <a:cs typeface="Calibri"/>
              </a:rPr>
              <a:t>Syntax </a:t>
            </a:r>
            <a:r>
              <a:rPr sz="2800" spc="-20" dirty="0">
                <a:latin typeface="Calibri"/>
                <a:cs typeface="Calibri"/>
              </a:rPr>
              <a:t> </a:t>
            </a:r>
            <a:r>
              <a:rPr sz="2800" spc="-5" dirty="0">
                <a:latin typeface="Calibri"/>
                <a:cs typeface="Calibri"/>
              </a:rPr>
              <a:t>Anal</a:t>
            </a:r>
            <a:r>
              <a:rPr sz="2800" spc="-45" dirty="0">
                <a:latin typeface="Calibri"/>
                <a:cs typeface="Calibri"/>
              </a:rPr>
              <a:t>y</a:t>
            </a:r>
            <a:r>
              <a:rPr sz="2800" spc="-10" dirty="0">
                <a:latin typeface="Calibri"/>
                <a:cs typeface="Calibri"/>
              </a:rPr>
              <a:t>sis</a:t>
            </a:r>
            <a:endParaRPr sz="2800">
              <a:latin typeface="Calibri"/>
              <a:cs typeface="Calibri"/>
            </a:endParaRPr>
          </a:p>
        </p:txBody>
      </p:sp>
      <p:sp>
        <p:nvSpPr>
          <p:cNvPr id="7" name="object 7"/>
          <p:cNvSpPr txBox="1"/>
          <p:nvPr/>
        </p:nvSpPr>
        <p:spPr>
          <a:xfrm>
            <a:off x="4328159" y="1984248"/>
            <a:ext cx="2124710" cy="1420495"/>
          </a:xfrm>
          <a:prstGeom prst="rect">
            <a:avLst/>
          </a:prstGeom>
          <a:ln w="12192">
            <a:solidFill>
              <a:srgbClr val="000000"/>
            </a:solidFill>
          </a:ln>
        </p:spPr>
        <p:txBody>
          <a:bodyPr vert="horz" wrap="square" lIns="0" tIns="3810" rIns="0" bIns="0" rtlCol="0">
            <a:spAutoFit/>
          </a:bodyPr>
          <a:lstStyle/>
          <a:p>
            <a:pPr>
              <a:lnSpc>
                <a:spcPct val="100000"/>
              </a:lnSpc>
              <a:spcBef>
                <a:spcPts val="30"/>
              </a:spcBef>
            </a:pPr>
            <a:endParaRPr sz="3450">
              <a:latin typeface="Times New Roman"/>
              <a:cs typeface="Times New Roman"/>
            </a:endParaRPr>
          </a:p>
          <a:p>
            <a:pPr marL="200660">
              <a:lnSpc>
                <a:spcPct val="100000"/>
              </a:lnSpc>
            </a:pPr>
            <a:r>
              <a:rPr sz="2400" spc="-10" dirty="0">
                <a:latin typeface="Calibri"/>
                <a:cs typeface="Calibri"/>
              </a:rPr>
              <a:t>Segmentation</a:t>
            </a:r>
            <a:endParaRPr sz="2400">
              <a:latin typeface="Calibri"/>
              <a:cs typeface="Calibri"/>
            </a:endParaRPr>
          </a:p>
        </p:txBody>
      </p:sp>
      <p:sp>
        <p:nvSpPr>
          <p:cNvPr id="8" name="object 8"/>
          <p:cNvSpPr txBox="1"/>
          <p:nvPr/>
        </p:nvSpPr>
        <p:spPr>
          <a:xfrm>
            <a:off x="1570100" y="3549777"/>
            <a:ext cx="65722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Sou</a:t>
            </a:r>
            <a:r>
              <a:rPr sz="1800" spc="-25" dirty="0">
                <a:latin typeface="Calibri"/>
                <a:cs typeface="Calibri"/>
              </a:rPr>
              <a:t>r</a:t>
            </a:r>
            <a:r>
              <a:rPr sz="1800" spc="-10" dirty="0">
                <a:latin typeface="Calibri"/>
                <a:cs typeface="Calibri"/>
              </a:rPr>
              <a:t>c</a:t>
            </a:r>
            <a:r>
              <a:rPr sz="1800" dirty="0">
                <a:latin typeface="Calibri"/>
                <a:cs typeface="Calibri"/>
              </a:rPr>
              <a:t>e</a:t>
            </a:r>
            <a:endParaRPr sz="1800">
              <a:latin typeface="Calibri"/>
              <a:cs typeface="Calibri"/>
            </a:endParaRPr>
          </a:p>
        </p:txBody>
      </p:sp>
      <p:sp>
        <p:nvSpPr>
          <p:cNvPr id="9" name="object 9"/>
          <p:cNvSpPr txBox="1"/>
          <p:nvPr/>
        </p:nvSpPr>
        <p:spPr>
          <a:xfrm>
            <a:off x="4989067" y="1523822"/>
            <a:ext cx="70167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F</a:t>
            </a:r>
            <a:r>
              <a:rPr sz="1800" spc="-45" dirty="0">
                <a:latin typeface="Calibri"/>
                <a:cs typeface="Calibri"/>
              </a:rPr>
              <a:t>r</a:t>
            </a:r>
            <a:r>
              <a:rPr sz="1800" dirty="0">
                <a:latin typeface="Calibri"/>
                <a:cs typeface="Calibri"/>
              </a:rPr>
              <a:t>ames</a:t>
            </a:r>
            <a:endParaRPr sz="1800">
              <a:latin typeface="Calibri"/>
              <a:cs typeface="Calibri"/>
            </a:endParaRPr>
          </a:p>
        </p:txBody>
      </p:sp>
      <p:sp>
        <p:nvSpPr>
          <p:cNvPr id="10" name="object 10"/>
          <p:cNvSpPr txBox="1"/>
          <p:nvPr/>
        </p:nvSpPr>
        <p:spPr>
          <a:xfrm>
            <a:off x="7605776" y="1548765"/>
            <a:ext cx="20701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Structure</a:t>
            </a:r>
            <a:r>
              <a:rPr sz="1800" spc="-15" dirty="0">
                <a:latin typeface="Calibri"/>
                <a:cs typeface="Calibri"/>
              </a:rPr>
              <a:t> </a:t>
            </a:r>
            <a:r>
              <a:rPr sz="1800" spc="-5" dirty="0">
                <a:latin typeface="Calibri"/>
                <a:cs typeface="Calibri"/>
              </a:rPr>
              <a:t>of</a:t>
            </a:r>
            <a:r>
              <a:rPr sz="1800" spc="-20" dirty="0">
                <a:latin typeface="Calibri"/>
                <a:cs typeface="Calibri"/>
              </a:rPr>
              <a:t> </a:t>
            </a:r>
            <a:r>
              <a:rPr sz="1800" spc="-5" dirty="0">
                <a:latin typeface="Calibri"/>
                <a:cs typeface="Calibri"/>
              </a:rPr>
              <a:t>Language</a:t>
            </a:r>
            <a:endParaRPr sz="1800">
              <a:latin typeface="Calibri"/>
              <a:cs typeface="Calibri"/>
            </a:endParaRPr>
          </a:p>
        </p:txBody>
      </p:sp>
      <p:sp>
        <p:nvSpPr>
          <p:cNvPr id="11" name="object 11"/>
          <p:cNvSpPr txBox="1"/>
          <p:nvPr/>
        </p:nvSpPr>
        <p:spPr>
          <a:xfrm>
            <a:off x="7652766" y="6181140"/>
            <a:ext cx="202501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Meaning of</a:t>
            </a:r>
            <a:r>
              <a:rPr sz="1800" spc="-20" dirty="0">
                <a:latin typeface="Calibri"/>
                <a:cs typeface="Calibri"/>
              </a:rPr>
              <a:t> </a:t>
            </a:r>
            <a:r>
              <a:rPr sz="1800" spc="-5" dirty="0">
                <a:latin typeface="Calibri"/>
                <a:cs typeface="Calibri"/>
              </a:rPr>
              <a:t>Language</a:t>
            </a:r>
            <a:endParaRPr sz="1800">
              <a:latin typeface="Calibri"/>
              <a:cs typeface="Calibri"/>
            </a:endParaRPr>
          </a:p>
        </p:txBody>
      </p:sp>
      <p:sp>
        <p:nvSpPr>
          <p:cNvPr id="12" name="object 12"/>
          <p:cNvSpPr txBox="1"/>
          <p:nvPr/>
        </p:nvSpPr>
        <p:spPr>
          <a:xfrm>
            <a:off x="1982216" y="4647438"/>
            <a:ext cx="222313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a:cs typeface="Calibri"/>
              </a:rPr>
              <a:t>In</a:t>
            </a:r>
            <a:r>
              <a:rPr sz="1800" spc="-10" dirty="0">
                <a:latin typeface="Calibri"/>
                <a:cs typeface="Calibri"/>
              </a:rPr>
              <a:t> </a:t>
            </a:r>
            <a:r>
              <a:rPr sz="1800" spc="-5" dirty="0">
                <a:latin typeface="Calibri"/>
                <a:cs typeface="Calibri"/>
              </a:rPr>
              <a:t>which</a:t>
            </a:r>
            <a:r>
              <a:rPr sz="1800" spc="15" dirty="0">
                <a:latin typeface="Calibri"/>
                <a:cs typeface="Calibri"/>
              </a:rPr>
              <a:t> </a:t>
            </a:r>
            <a:r>
              <a:rPr sz="1800" spc="-25" dirty="0">
                <a:latin typeface="Calibri"/>
                <a:cs typeface="Calibri"/>
              </a:rPr>
              <a:t>way</a:t>
            </a:r>
            <a:r>
              <a:rPr sz="1800" dirty="0">
                <a:latin typeface="Calibri"/>
                <a:cs typeface="Calibri"/>
              </a:rPr>
              <a:t> </a:t>
            </a:r>
            <a:r>
              <a:rPr sz="1800" spc="-15" dirty="0">
                <a:latin typeface="Calibri"/>
                <a:cs typeface="Calibri"/>
              </a:rPr>
              <a:t>context </a:t>
            </a:r>
            <a:r>
              <a:rPr sz="1800" spc="-10" dirty="0">
                <a:latin typeface="Calibri"/>
                <a:cs typeface="Calibri"/>
              </a:rPr>
              <a:t> contributed to</a:t>
            </a:r>
            <a:r>
              <a:rPr sz="1800" spc="-40" dirty="0">
                <a:latin typeface="Calibri"/>
                <a:cs typeface="Calibri"/>
              </a:rPr>
              <a:t> </a:t>
            </a:r>
            <a:r>
              <a:rPr sz="1800" dirty="0">
                <a:latin typeface="Calibri"/>
                <a:cs typeface="Calibri"/>
              </a:rPr>
              <a:t>meaning</a:t>
            </a:r>
            <a:endParaRPr sz="1800">
              <a:latin typeface="Calibri"/>
              <a:cs typeface="Calibri"/>
            </a:endParaRPr>
          </a:p>
        </p:txBody>
      </p:sp>
      <p:sp>
        <p:nvSpPr>
          <p:cNvPr id="13" name="object 13"/>
          <p:cNvSpPr/>
          <p:nvPr/>
        </p:nvSpPr>
        <p:spPr>
          <a:xfrm>
            <a:off x="3208020" y="2656332"/>
            <a:ext cx="1120775" cy="76200"/>
          </a:xfrm>
          <a:custGeom>
            <a:avLst/>
            <a:gdLst/>
            <a:ahLst/>
            <a:cxnLst/>
            <a:rect l="l" t="t" r="r" b="b"/>
            <a:pathLst>
              <a:path w="1120775" h="76200">
                <a:moveTo>
                  <a:pt x="1044575" y="0"/>
                </a:moveTo>
                <a:lnTo>
                  <a:pt x="1044575" y="76200"/>
                </a:lnTo>
                <a:lnTo>
                  <a:pt x="1108075" y="44450"/>
                </a:lnTo>
                <a:lnTo>
                  <a:pt x="1057275" y="44450"/>
                </a:lnTo>
                <a:lnTo>
                  <a:pt x="1057275" y="31750"/>
                </a:lnTo>
                <a:lnTo>
                  <a:pt x="1108075" y="31750"/>
                </a:lnTo>
                <a:lnTo>
                  <a:pt x="1044575" y="0"/>
                </a:lnTo>
                <a:close/>
              </a:path>
              <a:path w="1120775" h="76200">
                <a:moveTo>
                  <a:pt x="1044575" y="31750"/>
                </a:moveTo>
                <a:lnTo>
                  <a:pt x="0" y="31750"/>
                </a:lnTo>
                <a:lnTo>
                  <a:pt x="0" y="44450"/>
                </a:lnTo>
                <a:lnTo>
                  <a:pt x="1044575" y="44450"/>
                </a:lnTo>
                <a:lnTo>
                  <a:pt x="1044575" y="31750"/>
                </a:lnTo>
                <a:close/>
              </a:path>
              <a:path w="1120775" h="76200">
                <a:moveTo>
                  <a:pt x="1108075" y="31750"/>
                </a:moveTo>
                <a:lnTo>
                  <a:pt x="1057275" y="31750"/>
                </a:lnTo>
                <a:lnTo>
                  <a:pt x="1057275" y="44450"/>
                </a:lnTo>
                <a:lnTo>
                  <a:pt x="1108075" y="44450"/>
                </a:lnTo>
                <a:lnTo>
                  <a:pt x="1120775" y="38100"/>
                </a:lnTo>
                <a:lnTo>
                  <a:pt x="1108075" y="31750"/>
                </a:lnTo>
                <a:close/>
              </a:path>
            </a:pathLst>
          </a:custGeom>
          <a:solidFill>
            <a:srgbClr val="000000"/>
          </a:solidFill>
        </p:spPr>
        <p:txBody>
          <a:bodyPr wrap="square" lIns="0" tIns="0" rIns="0" bIns="0" rtlCol="0"/>
          <a:lstStyle/>
          <a:p>
            <a:endParaRPr/>
          </a:p>
        </p:txBody>
      </p:sp>
      <p:sp>
        <p:nvSpPr>
          <p:cNvPr id="14" name="object 14"/>
          <p:cNvSpPr/>
          <p:nvPr/>
        </p:nvSpPr>
        <p:spPr>
          <a:xfrm>
            <a:off x="6452615" y="2656332"/>
            <a:ext cx="1120775" cy="76200"/>
          </a:xfrm>
          <a:custGeom>
            <a:avLst/>
            <a:gdLst/>
            <a:ahLst/>
            <a:cxnLst/>
            <a:rect l="l" t="t" r="r" b="b"/>
            <a:pathLst>
              <a:path w="1120775" h="76200">
                <a:moveTo>
                  <a:pt x="1044575" y="0"/>
                </a:moveTo>
                <a:lnTo>
                  <a:pt x="1044575" y="76200"/>
                </a:lnTo>
                <a:lnTo>
                  <a:pt x="1108075" y="44450"/>
                </a:lnTo>
                <a:lnTo>
                  <a:pt x="1057275" y="44450"/>
                </a:lnTo>
                <a:lnTo>
                  <a:pt x="1057275" y="31750"/>
                </a:lnTo>
                <a:lnTo>
                  <a:pt x="1108075" y="31750"/>
                </a:lnTo>
                <a:lnTo>
                  <a:pt x="1044575" y="0"/>
                </a:lnTo>
                <a:close/>
              </a:path>
              <a:path w="1120775" h="76200">
                <a:moveTo>
                  <a:pt x="1044575" y="31750"/>
                </a:moveTo>
                <a:lnTo>
                  <a:pt x="0" y="31750"/>
                </a:lnTo>
                <a:lnTo>
                  <a:pt x="0" y="44450"/>
                </a:lnTo>
                <a:lnTo>
                  <a:pt x="1044575" y="44450"/>
                </a:lnTo>
                <a:lnTo>
                  <a:pt x="1044575" y="31750"/>
                </a:lnTo>
                <a:close/>
              </a:path>
              <a:path w="1120775" h="76200">
                <a:moveTo>
                  <a:pt x="1108075" y="31750"/>
                </a:moveTo>
                <a:lnTo>
                  <a:pt x="1057275" y="31750"/>
                </a:lnTo>
                <a:lnTo>
                  <a:pt x="1057275" y="44450"/>
                </a:lnTo>
                <a:lnTo>
                  <a:pt x="1108075" y="44450"/>
                </a:lnTo>
                <a:lnTo>
                  <a:pt x="1120775" y="38100"/>
                </a:lnTo>
                <a:lnTo>
                  <a:pt x="1108075" y="31750"/>
                </a:lnTo>
                <a:close/>
              </a:path>
            </a:pathLst>
          </a:custGeom>
          <a:solidFill>
            <a:srgbClr val="000000"/>
          </a:solidFill>
        </p:spPr>
        <p:txBody>
          <a:bodyPr wrap="square" lIns="0" tIns="0" rIns="0" bIns="0" rtlCol="0"/>
          <a:lstStyle/>
          <a:p>
            <a:endParaRPr/>
          </a:p>
        </p:txBody>
      </p:sp>
      <p:sp>
        <p:nvSpPr>
          <p:cNvPr id="15" name="object 15"/>
          <p:cNvSpPr/>
          <p:nvPr/>
        </p:nvSpPr>
        <p:spPr>
          <a:xfrm>
            <a:off x="8596883" y="3404615"/>
            <a:ext cx="76200" cy="1008380"/>
          </a:xfrm>
          <a:custGeom>
            <a:avLst/>
            <a:gdLst/>
            <a:ahLst/>
            <a:cxnLst/>
            <a:rect l="l" t="t" r="r" b="b"/>
            <a:pathLst>
              <a:path w="76200" h="1008379">
                <a:moveTo>
                  <a:pt x="31750" y="931926"/>
                </a:moveTo>
                <a:lnTo>
                  <a:pt x="0" y="931926"/>
                </a:lnTo>
                <a:lnTo>
                  <a:pt x="38100" y="1008126"/>
                </a:lnTo>
                <a:lnTo>
                  <a:pt x="69850" y="944626"/>
                </a:lnTo>
                <a:lnTo>
                  <a:pt x="31750" y="944626"/>
                </a:lnTo>
                <a:lnTo>
                  <a:pt x="31750" y="931926"/>
                </a:lnTo>
                <a:close/>
              </a:path>
              <a:path w="76200" h="1008379">
                <a:moveTo>
                  <a:pt x="44450" y="0"/>
                </a:moveTo>
                <a:lnTo>
                  <a:pt x="31750" y="0"/>
                </a:lnTo>
                <a:lnTo>
                  <a:pt x="31750" y="944626"/>
                </a:lnTo>
                <a:lnTo>
                  <a:pt x="44450" y="944626"/>
                </a:lnTo>
                <a:lnTo>
                  <a:pt x="44450" y="0"/>
                </a:lnTo>
                <a:close/>
              </a:path>
              <a:path w="76200" h="1008379">
                <a:moveTo>
                  <a:pt x="76200" y="931926"/>
                </a:moveTo>
                <a:lnTo>
                  <a:pt x="44450" y="931926"/>
                </a:lnTo>
                <a:lnTo>
                  <a:pt x="44450" y="944626"/>
                </a:lnTo>
                <a:lnTo>
                  <a:pt x="69850" y="944626"/>
                </a:lnTo>
                <a:lnTo>
                  <a:pt x="76200" y="931926"/>
                </a:lnTo>
                <a:close/>
              </a:path>
            </a:pathLst>
          </a:custGeom>
          <a:solidFill>
            <a:srgbClr val="000000"/>
          </a:solidFill>
        </p:spPr>
        <p:txBody>
          <a:bodyPr wrap="square" lIns="0" tIns="0" rIns="0" bIns="0" rtlCol="0"/>
          <a:lstStyle/>
          <a:p>
            <a:endParaRPr/>
          </a:p>
        </p:txBody>
      </p:sp>
      <p:sp>
        <p:nvSpPr>
          <p:cNvPr id="16" name="object 16"/>
          <p:cNvSpPr/>
          <p:nvPr/>
        </p:nvSpPr>
        <p:spPr>
          <a:xfrm>
            <a:off x="6452615" y="5085588"/>
            <a:ext cx="1120775" cy="76200"/>
          </a:xfrm>
          <a:custGeom>
            <a:avLst/>
            <a:gdLst/>
            <a:ahLst/>
            <a:cxnLst/>
            <a:rect l="l" t="t" r="r" b="b"/>
            <a:pathLst>
              <a:path w="1120775" h="76200">
                <a:moveTo>
                  <a:pt x="76200" y="0"/>
                </a:moveTo>
                <a:lnTo>
                  <a:pt x="0" y="38100"/>
                </a:lnTo>
                <a:lnTo>
                  <a:pt x="76200" y="76200"/>
                </a:lnTo>
                <a:lnTo>
                  <a:pt x="76200" y="44450"/>
                </a:lnTo>
                <a:lnTo>
                  <a:pt x="63500" y="44450"/>
                </a:lnTo>
                <a:lnTo>
                  <a:pt x="63500" y="31750"/>
                </a:lnTo>
                <a:lnTo>
                  <a:pt x="76200" y="31750"/>
                </a:lnTo>
                <a:lnTo>
                  <a:pt x="76200" y="0"/>
                </a:lnTo>
                <a:close/>
              </a:path>
              <a:path w="1120775" h="76200">
                <a:moveTo>
                  <a:pt x="76200" y="31750"/>
                </a:moveTo>
                <a:lnTo>
                  <a:pt x="63500" y="31750"/>
                </a:lnTo>
                <a:lnTo>
                  <a:pt x="63500" y="44450"/>
                </a:lnTo>
                <a:lnTo>
                  <a:pt x="76200" y="44450"/>
                </a:lnTo>
                <a:lnTo>
                  <a:pt x="76200" y="31750"/>
                </a:lnTo>
                <a:close/>
              </a:path>
              <a:path w="1120775" h="76200">
                <a:moveTo>
                  <a:pt x="1120775" y="31750"/>
                </a:moveTo>
                <a:lnTo>
                  <a:pt x="76200" y="31750"/>
                </a:lnTo>
                <a:lnTo>
                  <a:pt x="76200" y="44450"/>
                </a:lnTo>
                <a:lnTo>
                  <a:pt x="1120775" y="44450"/>
                </a:lnTo>
                <a:lnTo>
                  <a:pt x="1120775" y="31750"/>
                </a:lnTo>
                <a:close/>
              </a:path>
            </a:pathLst>
          </a:custGeom>
          <a:solidFill>
            <a:srgbClr val="000000"/>
          </a:solidFill>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5312"/>
            <a:ext cx="5615305"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20" dirty="0"/>
              <a:t> </a:t>
            </a:r>
            <a:r>
              <a:rPr sz="4400" spc="-10" dirty="0"/>
              <a:t>Fundamental</a:t>
            </a:r>
            <a:r>
              <a:rPr sz="4400" spc="-15" dirty="0"/>
              <a:t> </a:t>
            </a:r>
            <a:r>
              <a:rPr sz="4400" spc="-5" dirty="0"/>
              <a:t>Issues</a:t>
            </a:r>
            <a:endParaRPr sz="4400" dirty="0"/>
          </a:p>
        </p:txBody>
      </p:sp>
      <p:sp>
        <p:nvSpPr>
          <p:cNvPr id="3" name="object 3"/>
          <p:cNvSpPr txBox="1"/>
          <p:nvPr/>
        </p:nvSpPr>
        <p:spPr>
          <a:xfrm>
            <a:off x="0" y="838200"/>
            <a:ext cx="12192000" cy="6109237"/>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10" dirty="0">
                <a:latin typeface="Calibri"/>
                <a:cs typeface="Calibri"/>
              </a:rPr>
              <a:t>Semantic</a:t>
            </a:r>
            <a:r>
              <a:rPr sz="2800" spc="15" dirty="0">
                <a:latin typeface="Calibri"/>
                <a:cs typeface="Calibri"/>
              </a:rPr>
              <a:t> </a:t>
            </a:r>
            <a:r>
              <a:rPr sz="2800" spc="-5" dirty="0">
                <a:latin typeface="Calibri"/>
                <a:cs typeface="Calibri"/>
              </a:rPr>
              <a:t>Issue:</a:t>
            </a:r>
            <a:r>
              <a:rPr sz="2800" spc="30" dirty="0">
                <a:latin typeface="Calibri"/>
                <a:cs typeface="Calibri"/>
              </a:rPr>
              <a:t> </a:t>
            </a:r>
            <a:r>
              <a:rPr sz="2800" spc="-35" dirty="0">
                <a:latin typeface="Calibri"/>
                <a:cs typeface="Calibri"/>
              </a:rPr>
              <a:t>Words</a:t>
            </a:r>
            <a:r>
              <a:rPr sz="2800" spc="25" dirty="0">
                <a:latin typeface="Calibri"/>
                <a:cs typeface="Calibri"/>
              </a:rPr>
              <a:t> </a:t>
            </a:r>
            <a:r>
              <a:rPr sz="2800" spc="-5" dirty="0">
                <a:latin typeface="Calibri"/>
                <a:cs typeface="Calibri"/>
              </a:rPr>
              <a:t>used</a:t>
            </a:r>
            <a:r>
              <a:rPr sz="2800" spc="20" dirty="0">
                <a:latin typeface="Calibri"/>
                <a:cs typeface="Calibri"/>
              </a:rPr>
              <a:t> </a:t>
            </a:r>
            <a:r>
              <a:rPr sz="2800" spc="-15" dirty="0">
                <a:latin typeface="Calibri"/>
                <a:cs typeface="Calibri"/>
              </a:rPr>
              <a:t>by</a:t>
            </a:r>
            <a:r>
              <a:rPr sz="2800" spc="15" dirty="0">
                <a:latin typeface="Calibri"/>
                <a:cs typeface="Calibri"/>
              </a:rPr>
              <a:t> </a:t>
            </a:r>
            <a:r>
              <a:rPr sz="2800" spc="-5" dirty="0">
                <a:latin typeface="Calibri"/>
                <a:cs typeface="Calibri"/>
              </a:rPr>
              <a:t>one</a:t>
            </a:r>
            <a:r>
              <a:rPr sz="2800" spc="15" dirty="0">
                <a:latin typeface="Calibri"/>
                <a:cs typeface="Calibri"/>
              </a:rPr>
              <a:t> </a:t>
            </a:r>
            <a:r>
              <a:rPr sz="2800" spc="-10" dirty="0">
                <a:latin typeface="Calibri"/>
                <a:cs typeface="Calibri"/>
              </a:rPr>
              <a:t>set</a:t>
            </a:r>
            <a:r>
              <a:rPr sz="2800" dirty="0">
                <a:latin typeface="Calibri"/>
                <a:cs typeface="Calibri"/>
              </a:rPr>
              <a:t> of</a:t>
            </a:r>
            <a:r>
              <a:rPr sz="2800" spc="-5" dirty="0">
                <a:latin typeface="Calibri"/>
                <a:cs typeface="Calibri"/>
              </a:rPr>
              <a:t> people</a:t>
            </a:r>
            <a:r>
              <a:rPr sz="2800" spc="10" dirty="0">
                <a:latin typeface="Calibri"/>
                <a:cs typeface="Calibri"/>
              </a:rPr>
              <a:t> </a:t>
            </a:r>
            <a:r>
              <a:rPr sz="2800" spc="-10" dirty="0">
                <a:latin typeface="Calibri"/>
                <a:cs typeface="Calibri"/>
              </a:rPr>
              <a:t>could</a:t>
            </a:r>
            <a:r>
              <a:rPr sz="2800" spc="20" dirty="0">
                <a:latin typeface="Calibri"/>
                <a:cs typeface="Calibri"/>
              </a:rPr>
              <a:t> </a:t>
            </a:r>
            <a:r>
              <a:rPr sz="2800" spc="-25" dirty="0">
                <a:latin typeface="Calibri"/>
                <a:cs typeface="Calibri"/>
              </a:rPr>
              <a:t>have</a:t>
            </a:r>
            <a:r>
              <a:rPr sz="2800" spc="20" dirty="0">
                <a:latin typeface="Calibri"/>
                <a:cs typeface="Calibri"/>
              </a:rPr>
              <a:t> </a:t>
            </a:r>
            <a:r>
              <a:rPr sz="2800" spc="-25" dirty="0">
                <a:latin typeface="Calibri"/>
                <a:cs typeface="Calibri"/>
              </a:rPr>
              <a:t>different </a:t>
            </a:r>
            <a:r>
              <a:rPr sz="2800" spc="-620" dirty="0">
                <a:latin typeface="Calibri"/>
                <a:cs typeface="Calibri"/>
              </a:rPr>
              <a:t> </a:t>
            </a:r>
            <a:r>
              <a:rPr sz="2800" spc="-5" dirty="0">
                <a:latin typeface="Calibri"/>
                <a:cs typeface="Calibri"/>
              </a:rPr>
              <a:t>meaning</a:t>
            </a:r>
            <a:r>
              <a:rPr sz="2800" spc="10" dirty="0">
                <a:latin typeface="Calibri"/>
                <a:cs typeface="Calibri"/>
              </a:rPr>
              <a:t> </a:t>
            </a:r>
            <a:r>
              <a:rPr sz="2800" spc="-25" dirty="0">
                <a:latin typeface="Calibri"/>
                <a:cs typeface="Calibri"/>
              </a:rPr>
              <a:t>for</a:t>
            </a:r>
            <a:r>
              <a:rPr sz="2800" spc="10" dirty="0">
                <a:latin typeface="Calibri"/>
                <a:cs typeface="Calibri"/>
              </a:rPr>
              <a:t> </a:t>
            </a:r>
            <a:r>
              <a:rPr sz="2800" spc="-25" dirty="0">
                <a:latin typeface="Calibri"/>
                <a:cs typeface="Calibri"/>
              </a:rPr>
              <a:t>different</a:t>
            </a:r>
            <a:r>
              <a:rPr sz="2800" spc="20" dirty="0">
                <a:latin typeface="Calibri"/>
                <a:cs typeface="Calibri"/>
              </a:rPr>
              <a:t> </a:t>
            </a:r>
            <a:r>
              <a:rPr sz="2800" spc="-10" dirty="0">
                <a:latin typeface="Calibri"/>
                <a:cs typeface="Calibri"/>
              </a:rPr>
              <a:t>set</a:t>
            </a:r>
            <a:r>
              <a:rPr sz="2800" spc="15"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people,</a:t>
            </a:r>
            <a:r>
              <a:rPr sz="2800" spc="25" dirty="0">
                <a:latin typeface="Calibri"/>
                <a:cs typeface="Calibri"/>
              </a:rPr>
              <a:t> </a:t>
            </a:r>
            <a:r>
              <a:rPr sz="2800" spc="-15" dirty="0">
                <a:latin typeface="Calibri"/>
                <a:cs typeface="Calibri"/>
              </a:rPr>
              <a:t>example:</a:t>
            </a:r>
            <a:r>
              <a:rPr sz="2800" spc="20" dirty="0">
                <a:latin typeface="Calibri"/>
                <a:cs typeface="Calibri"/>
              </a:rPr>
              <a:t> </a:t>
            </a:r>
            <a:r>
              <a:rPr sz="2800" spc="-15" dirty="0">
                <a:latin typeface="Calibri"/>
                <a:cs typeface="Calibri"/>
              </a:rPr>
              <a:t>“vegetable</a:t>
            </a:r>
            <a:r>
              <a:rPr sz="2800" spc="-5" dirty="0">
                <a:latin typeface="Calibri"/>
                <a:cs typeface="Calibri"/>
              </a:rPr>
              <a:t> is</a:t>
            </a:r>
            <a:r>
              <a:rPr sz="2800" spc="15" dirty="0">
                <a:latin typeface="Calibri"/>
                <a:cs typeface="Calibri"/>
              </a:rPr>
              <a:t> hot”</a:t>
            </a:r>
            <a:endParaRPr sz="2800" dirty="0">
              <a:latin typeface="Calibri"/>
              <a:cs typeface="Calibri"/>
            </a:endParaRPr>
          </a:p>
          <a:p>
            <a:pPr marL="241300" marR="520065" indent="-228600">
              <a:lnSpc>
                <a:spcPts val="3030"/>
              </a:lnSpc>
              <a:spcBef>
                <a:spcPts val="994"/>
              </a:spcBef>
              <a:buFont typeface="Arial MT"/>
              <a:buChar char="•"/>
              <a:tabLst>
                <a:tab pos="241300" algn="l"/>
              </a:tabLst>
            </a:pPr>
            <a:r>
              <a:rPr sz="2800" spc="-25" dirty="0">
                <a:latin typeface="Calibri"/>
                <a:cs typeface="Calibri"/>
              </a:rPr>
              <a:t>Syntax</a:t>
            </a:r>
            <a:r>
              <a:rPr sz="2800" spc="15" dirty="0">
                <a:latin typeface="Calibri"/>
                <a:cs typeface="Calibri"/>
              </a:rPr>
              <a:t> </a:t>
            </a:r>
            <a:r>
              <a:rPr sz="2800" spc="-5" dirty="0">
                <a:latin typeface="Calibri"/>
                <a:cs typeface="Calibri"/>
              </a:rPr>
              <a:t>Issue:</a:t>
            </a:r>
            <a:r>
              <a:rPr sz="2800" spc="25" dirty="0">
                <a:latin typeface="Calibri"/>
                <a:cs typeface="Calibri"/>
              </a:rPr>
              <a:t> </a:t>
            </a:r>
            <a:r>
              <a:rPr sz="2800" spc="-5" dirty="0">
                <a:latin typeface="Calibri"/>
                <a:cs typeface="Calibri"/>
              </a:rPr>
              <a:t>The </a:t>
            </a:r>
            <a:r>
              <a:rPr sz="2800" spc="-10" dirty="0">
                <a:latin typeface="Calibri"/>
                <a:cs typeface="Calibri"/>
              </a:rPr>
              <a:t>fundamental</a:t>
            </a:r>
            <a:r>
              <a:rPr sz="2800" spc="40" dirty="0">
                <a:latin typeface="Calibri"/>
                <a:cs typeface="Calibri"/>
              </a:rPr>
              <a:t> </a:t>
            </a:r>
            <a:r>
              <a:rPr sz="2800" spc="-10" dirty="0">
                <a:latin typeface="Calibri"/>
                <a:cs typeface="Calibri"/>
              </a:rPr>
              <a:t>structure</a:t>
            </a:r>
            <a:r>
              <a:rPr sz="2800" spc="4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sentence</a:t>
            </a:r>
            <a:r>
              <a:rPr sz="2800" spc="25" dirty="0">
                <a:latin typeface="Calibri"/>
                <a:cs typeface="Calibri"/>
              </a:rPr>
              <a:t> </a:t>
            </a:r>
            <a:r>
              <a:rPr sz="2800" spc="-5" dirty="0">
                <a:latin typeface="Calibri"/>
                <a:cs typeface="Calibri"/>
              </a:rPr>
              <a:t>itself</a:t>
            </a:r>
            <a:r>
              <a:rPr sz="2800" spc="15" dirty="0">
                <a:latin typeface="Calibri"/>
                <a:cs typeface="Calibri"/>
              </a:rPr>
              <a:t> </a:t>
            </a:r>
            <a:r>
              <a:rPr sz="2800" spc="-10" dirty="0">
                <a:latin typeface="Calibri"/>
                <a:cs typeface="Calibri"/>
              </a:rPr>
              <a:t>can </a:t>
            </a:r>
            <a:r>
              <a:rPr sz="2800" spc="-620" dirty="0">
                <a:latin typeface="Calibri"/>
                <a:cs typeface="Calibri"/>
              </a:rPr>
              <a:t> </a:t>
            </a:r>
            <a:r>
              <a:rPr sz="2800" spc="-10" dirty="0">
                <a:latin typeface="Calibri"/>
                <a:cs typeface="Calibri"/>
              </a:rPr>
              <a:t>give</a:t>
            </a:r>
            <a:r>
              <a:rPr sz="2800" dirty="0">
                <a:latin typeface="Calibri"/>
                <a:cs typeface="Calibri"/>
              </a:rPr>
              <a:t> </a:t>
            </a:r>
            <a:r>
              <a:rPr sz="2800" spc="-10" dirty="0">
                <a:latin typeface="Calibri"/>
                <a:cs typeface="Calibri"/>
              </a:rPr>
              <a:t>rise</a:t>
            </a:r>
            <a:r>
              <a:rPr sz="2800" spc="20"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ambiguities,</a:t>
            </a:r>
            <a:r>
              <a:rPr sz="2800" spc="25" dirty="0">
                <a:latin typeface="Calibri"/>
                <a:cs typeface="Calibri"/>
              </a:rPr>
              <a:t> </a:t>
            </a:r>
            <a:r>
              <a:rPr sz="2800" spc="-15" dirty="0">
                <a:latin typeface="Calibri"/>
                <a:cs typeface="Calibri"/>
              </a:rPr>
              <a:t>example:</a:t>
            </a:r>
            <a:r>
              <a:rPr sz="2800" spc="10" dirty="0">
                <a:latin typeface="Calibri"/>
                <a:cs typeface="Calibri"/>
              </a:rPr>
              <a:t> </a:t>
            </a:r>
            <a:r>
              <a:rPr sz="2800" spc="-5" dirty="0">
                <a:latin typeface="Calibri"/>
                <a:cs typeface="Calibri"/>
              </a:rPr>
              <a:t>“I</a:t>
            </a:r>
            <a:r>
              <a:rPr sz="2800" spc="10" dirty="0">
                <a:latin typeface="Calibri"/>
                <a:cs typeface="Calibri"/>
              </a:rPr>
              <a:t> </a:t>
            </a:r>
            <a:r>
              <a:rPr sz="2800" spc="-10" dirty="0">
                <a:latin typeface="Calibri"/>
                <a:cs typeface="Calibri"/>
              </a:rPr>
              <a:t>saw</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boy</a:t>
            </a:r>
            <a:r>
              <a:rPr sz="2800" spc="15"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park</a:t>
            </a:r>
            <a:r>
              <a:rPr sz="2800" spc="15" dirty="0">
                <a:latin typeface="Calibri"/>
                <a:cs typeface="Calibri"/>
              </a:rPr>
              <a:t> </a:t>
            </a:r>
            <a:r>
              <a:rPr sz="2800" spc="-5" dirty="0">
                <a:latin typeface="Calibri"/>
                <a:cs typeface="Calibri"/>
              </a:rPr>
              <a:t>with </a:t>
            </a:r>
            <a:r>
              <a:rPr sz="2800" dirty="0">
                <a:latin typeface="Calibri"/>
                <a:cs typeface="Calibri"/>
              </a:rPr>
              <a:t> </a:t>
            </a:r>
            <a:r>
              <a:rPr sz="2800" spc="-10" dirty="0">
                <a:latin typeface="Calibri"/>
                <a:cs typeface="Calibri"/>
              </a:rPr>
              <a:t>telescope”</a:t>
            </a:r>
            <a:endParaRPr lang="en-US" sz="2800" dirty="0">
              <a:latin typeface="Calibri"/>
              <a:cs typeface="Calibri"/>
            </a:endParaRPr>
          </a:p>
          <a:p>
            <a:pPr marL="241300" marR="520065" indent="-228600">
              <a:lnSpc>
                <a:spcPts val="3030"/>
              </a:lnSpc>
              <a:spcBef>
                <a:spcPts val="994"/>
              </a:spcBef>
              <a:buFont typeface="Arial MT"/>
              <a:buChar char="•"/>
              <a:tabLst>
                <a:tab pos="241300" algn="l"/>
              </a:tabLst>
            </a:pPr>
            <a:r>
              <a:rPr sz="2800" spc="-10" dirty="0">
                <a:latin typeface="Calibri"/>
                <a:cs typeface="Calibri"/>
              </a:rPr>
              <a:t>Semantic </a:t>
            </a:r>
            <a:r>
              <a:rPr sz="2800" spc="-5" dirty="0">
                <a:latin typeface="Calibri"/>
                <a:cs typeface="Calibri"/>
              </a:rPr>
              <a:t>Issue: </a:t>
            </a:r>
            <a:r>
              <a:rPr sz="2800" spc="-10" dirty="0">
                <a:latin typeface="Calibri"/>
                <a:cs typeface="Calibri"/>
              </a:rPr>
              <a:t>Extensive use </a:t>
            </a:r>
            <a:r>
              <a:rPr sz="2800" spc="-5" dirty="0">
                <a:latin typeface="Calibri"/>
                <a:cs typeface="Calibri"/>
              </a:rPr>
              <a:t>of </a:t>
            </a:r>
            <a:r>
              <a:rPr sz="2800" spc="-15" dirty="0">
                <a:latin typeface="Calibri"/>
                <a:cs typeface="Calibri"/>
              </a:rPr>
              <a:t>pronouns </a:t>
            </a:r>
            <a:r>
              <a:rPr sz="2800" spc="-10" dirty="0">
                <a:latin typeface="Calibri"/>
                <a:cs typeface="Calibri"/>
              </a:rPr>
              <a:t>increase </a:t>
            </a:r>
            <a:r>
              <a:rPr sz="2800" spc="-5" dirty="0">
                <a:latin typeface="Calibri"/>
                <a:cs typeface="Calibri"/>
              </a:rPr>
              <a:t>ambiguity </a:t>
            </a:r>
            <a:r>
              <a:rPr sz="2800" spc="-10" dirty="0">
                <a:latin typeface="Calibri"/>
                <a:cs typeface="Calibri"/>
              </a:rPr>
              <a:t>level, </a:t>
            </a:r>
            <a:r>
              <a:rPr sz="2800" spc="-620" dirty="0">
                <a:latin typeface="Calibri"/>
                <a:cs typeface="Calibri"/>
              </a:rPr>
              <a:t> </a:t>
            </a:r>
            <a:r>
              <a:rPr sz="2800" spc="-15" dirty="0">
                <a:latin typeface="Calibri"/>
                <a:cs typeface="Calibri"/>
              </a:rPr>
              <a:t>example: </a:t>
            </a:r>
            <a:r>
              <a:rPr sz="2800" spc="-10" dirty="0">
                <a:latin typeface="Calibri"/>
                <a:cs typeface="Calibri"/>
              </a:rPr>
              <a:t>“Ravi </a:t>
            </a:r>
            <a:r>
              <a:rPr sz="2800" spc="-15" dirty="0">
                <a:latin typeface="Calibri"/>
                <a:cs typeface="Calibri"/>
              </a:rPr>
              <a:t>went to </a:t>
            </a:r>
            <a:r>
              <a:rPr sz="2800" spc="-5" dirty="0">
                <a:latin typeface="Calibri"/>
                <a:cs typeface="Calibri"/>
              </a:rPr>
              <a:t>the </a:t>
            </a:r>
            <a:r>
              <a:rPr sz="2800" spc="-15" dirty="0">
                <a:latin typeface="Calibri"/>
                <a:cs typeface="Calibri"/>
              </a:rPr>
              <a:t>market, </a:t>
            </a:r>
            <a:r>
              <a:rPr sz="2800" spc="-5" dirty="0">
                <a:latin typeface="Calibri"/>
                <a:cs typeface="Calibri"/>
              </a:rPr>
              <a:t>he </a:t>
            </a:r>
            <a:r>
              <a:rPr sz="2800" spc="-20" dirty="0">
                <a:latin typeface="Calibri"/>
                <a:cs typeface="Calibri"/>
              </a:rPr>
              <a:t>found </a:t>
            </a:r>
            <a:r>
              <a:rPr sz="2800" spc="-5" dirty="0">
                <a:latin typeface="Calibri"/>
                <a:cs typeface="Calibri"/>
              </a:rPr>
              <a:t>his </a:t>
            </a:r>
            <a:r>
              <a:rPr sz="2800" spc="-25" dirty="0">
                <a:latin typeface="Calibri"/>
                <a:cs typeface="Calibri"/>
              </a:rPr>
              <a:t>favourite </a:t>
            </a:r>
            <a:r>
              <a:rPr sz="2800" spc="-20" dirty="0">
                <a:latin typeface="Calibri"/>
                <a:cs typeface="Calibri"/>
              </a:rPr>
              <a:t>brand </a:t>
            </a:r>
            <a:r>
              <a:rPr sz="2800" spc="-10" dirty="0">
                <a:latin typeface="Calibri"/>
                <a:cs typeface="Calibri"/>
              </a:rPr>
              <a:t>of </a:t>
            </a:r>
            <a:r>
              <a:rPr sz="2800" spc="-5" dirty="0">
                <a:latin typeface="Calibri"/>
                <a:cs typeface="Calibri"/>
              </a:rPr>
              <a:t> </a:t>
            </a:r>
            <a:r>
              <a:rPr sz="2800" spc="-15" dirty="0">
                <a:latin typeface="Calibri"/>
                <a:cs typeface="Calibri"/>
              </a:rPr>
              <a:t>tea</a:t>
            </a:r>
            <a:r>
              <a:rPr sz="2800" spc="5" dirty="0">
                <a:latin typeface="Calibri"/>
                <a:cs typeface="Calibri"/>
              </a:rPr>
              <a:t> </a:t>
            </a:r>
            <a:r>
              <a:rPr sz="2800" spc="-10" dirty="0">
                <a:latin typeface="Calibri"/>
                <a:cs typeface="Calibri"/>
              </a:rPr>
              <a:t>in</a:t>
            </a:r>
            <a:r>
              <a:rPr sz="2800" spc="10" dirty="0">
                <a:latin typeface="Calibri"/>
                <a:cs typeface="Calibri"/>
              </a:rPr>
              <a:t> </a:t>
            </a:r>
            <a:r>
              <a:rPr sz="2800" spc="-15" dirty="0">
                <a:latin typeface="Calibri"/>
                <a:cs typeface="Calibri"/>
              </a:rPr>
              <a:t>third</a:t>
            </a:r>
            <a:r>
              <a:rPr sz="2800" spc="20" dirty="0">
                <a:latin typeface="Calibri"/>
                <a:cs typeface="Calibri"/>
              </a:rPr>
              <a:t> </a:t>
            </a:r>
            <a:r>
              <a:rPr sz="2800" spc="-40" dirty="0">
                <a:latin typeface="Calibri"/>
                <a:cs typeface="Calibri"/>
              </a:rPr>
              <a:t>shelf.</a:t>
            </a:r>
            <a:r>
              <a:rPr sz="2800" spc="15" dirty="0">
                <a:latin typeface="Calibri"/>
                <a:cs typeface="Calibri"/>
              </a:rPr>
              <a:t> </a:t>
            </a:r>
            <a:r>
              <a:rPr sz="2800" spc="-5" dirty="0">
                <a:latin typeface="Calibri"/>
                <a:cs typeface="Calibri"/>
              </a:rPr>
              <a:t>He</a:t>
            </a:r>
            <a:r>
              <a:rPr sz="2800" spc="15" dirty="0">
                <a:latin typeface="Calibri"/>
                <a:cs typeface="Calibri"/>
              </a:rPr>
              <a:t> </a:t>
            </a:r>
            <a:r>
              <a:rPr sz="2800" spc="-10" dirty="0">
                <a:latin typeface="Calibri"/>
                <a:cs typeface="Calibri"/>
              </a:rPr>
              <a:t>paid</a:t>
            </a:r>
            <a:r>
              <a:rPr sz="2800" spc="20" dirty="0">
                <a:latin typeface="Calibri"/>
                <a:cs typeface="Calibri"/>
              </a:rPr>
              <a:t> </a:t>
            </a:r>
            <a:r>
              <a:rPr sz="2800" spc="-20" dirty="0">
                <a:latin typeface="Calibri"/>
                <a:cs typeface="Calibri"/>
              </a:rPr>
              <a:t>(for</a:t>
            </a:r>
            <a:r>
              <a:rPr sz="2800" spc="10" dirty="0">
                <a:latin typeface="Calibri"/>
                <a:cs typeface="Calibri"/>
              </a:rPr>
              <a:t> </a:t>
            </a:r>
            <a:r>
              <a:rPr sz="2800" spc="-5" dirty="0">
                <a:latin typeface="Calibri"/>
                <a:cs typeface="Calibri"/>
              </a:rPr>
              <a:t>it)</a:t>
            </a:r>
            <a:r>
              <a:rPr sz="2800" spc="10" dirty="0">
                <a:latin typeface="Calibri"/>
                <a:cs typeface="Calibri"/>
              </a:rPr>
              <a:t> </a:t>
            </a:r>
            <a:r>
              <a:rPr sz="2800" spc="-5" dirty="0">
                <a:latin typeface="Calibri"/>
                <a:cs typeface="Calibri"/>
              </a:rPr>
              <a:t>and</a:t>
            </a:r>
            <a:r>
              <a:rPr sz="2800" spc="15" dirty="0">
                <a:latin typeface="Calibri"/>
                <a:cs typeface="Calibri"/>
              </a:rPr>
              <a:t> </a:t>
            </a:r>
            <a:r>
              <a:rPr sz="2800" spc="-15" dirty="0" err="1">
                <a:latin typeface="Calibri"/>
                <a:cs typeface="Calibri"/>
              </a:rPr>
              <a:t>left.</a:t>
            </a:r>
            <a:r>
              <a:rPr lang="en-US" sz="2800" spc="-15" dirty="0" err="1">
                <a:latin typeface="Calibri"/>
                <a:cs typeface="Calibri"/>
              </a:rPr>
              <a:t>"</a:t>
            </a:r>
            <a:r>
              <a:rPr lang="en-US" sz="2800" b="1" dirty="0" err="1"/>
              <a:t>"He</a:t>
            </a:r>
            <a:r>
              <a:rPr lang="en-US" sz="2800" b="1" dirty="0"/>
              <a:t> found his favorite brand of tea":</a:t>
            </a:r>
            <a:endParaRPr lang="en-US" sz="2800" dirty="0"/>
          </a:p>
          <a:p>
            <a:pPr>
              <a:buFont typeface="Arial" panose="020B0604020202020204" pitchFamily="34" charset="0"/>
              <a:buChar char="•"/>
            </a:pPr>
            <a:r>
              <a:rPr lang="en-US" sz="2800" dirty="0"/>
              <a:t>Does "his" refer to Ravi, or could it refer to someone else mentioned earlier in the broader context?</a:t>
            </a:r>
          </a:p>
          <a:p>
            <a:r>
              <a:rPr lang="en-US" sz="2800" b="1" dirty="0"/>
              <a:t>"He paid (for it)":</a:t>
            </a:r>
            <a:endParaRPr lang="en-US" sz="2800" dirty="0"/>
          </a:p>
          <a:p>
            <a:pPr>
              <a:buFont typeface="Arial" panose="020B0604020202020204" pitchFamily="34" charset="0"/>
              <a:buChar char="•"/>
            </a:pPr>
            <a:r>
              <a:rPr lang="en-US" sz="2800" dirty="0"/>
              <a:t>"He" could ambiguously refer to Ravi or another male person previously mentioned.</a:t>
            </a:r>
          </a:p>
          <a:p>
            <a:pPr>
              <a:buFont typeface="Arial" panose="020B0604020202020204" pitchFamily="34" charset="0"/>
              <a:buChar char="•"/>
            </a:pPr>
            <a:r>
              <a:rPr lang="en-US" sz="2800" dirty="0"/>
              <a:t>"It" could ambiguously refer to the tea or another item from the market.</a:t>
            </a:r>
          </a:p>
          <a:p>
            <a:pPr marL="241300" marR="275590" indent="-228600" algn="just">
              <a:lnSpc>
                <a:spcPct val="90000"/>
              </a:lnSpc>
              <a:spcBef>
                <a:spcPts val="940"/>
              </a:spcBef>
              <a:buFont typeface="Arial MT"/>
              <a:buChar char="•"/>
              <a:tabLst>
                <a:tab pos="241300" algn="l"/>
              </a:tabLst>
            </a:pP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615305"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20" dirty="0"/>
              <a:t> </a:t>
            </a:r>
            <a:r>
              <a:rPr sz="4400" spc="-10" dirty="0"/>
              <a:t>Fundamental</a:t>
            </a:r>
            <a:r>
              <a:rPr sz="4400" spc="-15" dirty="0"/>
              <a:t> </a:t>
            </a:r>
            <a:r>
              <a:rPr sz="4400" spc="-5" dirty="0"/>
              <a:t>Issues</a:t>
            </a:r>
            <a:endParaRPr sz="4400"/>
          </a:p>
        </p:txBody>
      </p:sp>
      <p:sp>
        <p:nvSpPr>
          <p:cNvPr id="3" name="object 3"/>
          <p:cNvSpPr txBox="1"/>
          <p:nvPr/>
        </p:nvSpPr>
        <p:spPr>
          <a:xfrm>
            <a:off x="916939" y="1793189"/>
            <a:ext cx="10271125" cy="2117090"/>
          </a:xfrm>
          <a:prstGeom prst="rect">
            <a:avLst/>
          </a:prstGeom>
        </p:spPr>
        <p:txBody>
          <a:bodyPr vert="horz" wrap="square" lIns="0" tIns="55244" rIns="0" bIns="0" rtlCol="0">
            <a:spAutoFit/>
          </a:bodyPr>
          <a:lstStyle/>
          <a:p>
            <a:pPr marL="241300" marR="5080" indent="-228600">
              <a:lnSpc>
                <a:spcPct val="90000"/>
              </a:lnSpc>
              <a:spcBef>
                <a:spcPts val="434"/>
              </a:spcBef>
              <a:buFont typeface="Arial MT"/>
              <a:buChar char="•"/>
              <a:tabLst>
                <a:tab pos="241300" algn="l"/>
              </a:tabLst>
            </a:pPr>
            <a:r>
              <a:rPr sz="2800" spc="-25" dirty="0">
                <a:latin typeface="Calibri"/>
                <a:cs typeface="Calibri"/>
              </a:rPr>
              <a:t>Syntax</a:t>
            </a:r>
            <a:r>
              <a:rPr sz="2800" spc="25" dirty="0">
                <a:latin typeface="Calibri"/>
                <a:cs typeface="Calibri"/>
              </a:rPr>
              <a:t> </a:t>
            </a:r>
            <a:r>
              <a:rPr sz="2800" spc="-5" dirty="0">
                <a:latin typeface="Calibri"/>
                <a:cs typeface="Calibri"/>
              </a:rPr>
              <a:t>Issue:</a:t>
            </a:r>
            <a:r>
              <a:rPr sz="2800" spc="35" dirty="0">
                <a:latin typeface="Calibri"/>
                <a:cs typeface="Calibri"/>
              </a:rPr>
              <a:t> </a:t>
            </a:r>
            <a:r>
              <a:rPr sz="2800" spc="-10" dirty="0">
                <a:latin typeface="Calibri"/>
                <a:cs typeface="Calibri"/>
              </a:rPr>
              <a:t>Conjunctions</a:t>
            </a:r>
            <a:r>
              <a:rPr sz="2800" spc="75" dirty="0">
                <a:latin typeface="Calibri"/>
                <a:cs typeface="Calibri"/>
              </a:rPr>
              <a:t> </a:t>
            </a:r>
            <a:r>
              <a:rPr sz="2800" spc="-5" dirty="0">
                <a:latin typeface="Calibri"/>
                <a:cs typeface="Calibri"/>
              </a:rPr>
              <a:t>used</a:t>
            </a:r>
            <a:r>
              <a:rPr sz="2800" spc="25" dirty="0">
                <a:latin typeface="Calibri"/>
                <a:cs typeface="Calibri"/>
              </a:rPr>
              <a:t> </a:t>
            </a:r>
            <a:r>
              <a:rPr sz="2800" spc="-5" dirty="0">
                <a:latin typeface="Calibri"/>
                <a:cs typeface="Calibri"/>
              </a:rPr>
              <a:t>in</a:t>
            </a:r>
            <a:r>
              <a:rPr sz="2800" spc="20" dirty="0">
                <a:latin typeface="Calibri"/>
                <a:cs typeface="Calibri"/>
              </a:rPr>
              <a:t> </a:t>
            </a:r>
            <a:r>
              <a:rPr sz="2800" spc="-5" dirty="0">
                <a:latin typeface="Calibri"/>
                <a:cs typeface="Calibri"/>
              </a:rPr>
              <a:t>NL</a:t>
            </a:r>
            <a:r>
              <a:rPr sz="2800" spc="25" dirty="0">
                <a:latin typeface="Calibri"/>
                <a:cs typeface="Calibri"/>
              </a:rPr>
              <a:t> </a:t>
            </a:r>
            <a:r>
              <a:rPr sz="2800" spc="-20" dirty="0">
                <a:latin typeface="Calibri"/>
                <a:cs typeface="Calibri"/>
              </a:rPr>
              <a:t>avoid</a:t>
            </a:r>
            <a:r>
              <a:rPr sz="2800" spc="15" dirty="0">
                <a:latin typeface="Calibri"/>
                <a:cs typeface="Calibri"/>
              </a:rPr>
              <a:t> </a:t>
            </a:r>
            <a:r>
              <a:rPr sz="2800" spc="-10" dirty="0">
                <a:latin typeface="Calibri"/>
                <a:cs typeface="Calibri"/>
              </a:rPr>
              <a:t>repetition</a:t>
            </a:r>
            <a:r>
              <a:rPr sz="2800" spc="20" dirty="0">
                <a:latin typeface="Calibri"/>
                <a:cs typeface="Calibri"/>
              </a:rPr>
              <a:t> </a:t>
            </a:r>
            <a:r>
              <a:rPr sz="2800" spc="-5" dirty="0">
                <a:latin typeface="Calibri"/>
                <a:cs typeface="Calibri"/>
              </a:rPr>
              <a:t>of</a:t>
            </a:r>
            <a:r>
              <a:rPr sz="2800" spc="15" dirty="0">
                <a:latin typeface="Calibri"/>
                <a:cs typeface="Calibri"/>
              </a:rPr>
              <a:t> </a:t>
            </a:r>
            <a:r>
              <a:rPr sz="2800" spc="-15" dirty="0">
                <a:latin typeface="Calibri"/>
                <a:cs typeface="Calibri"/>
              </a:rPr>
              <a:t>phrases</a:t>
            </a:r>
            <a:r>
              <a:rPr sz="2800" spc="55" dirty="0">
                <a:latin typeface="Calibri"/>
                <a:cs typeface="Calibri"/>
              </a:rPr>
              <a:t> </a:t>
            </a:r>
            <a:r>
              <a:rPr sz="2800" spc="-5" dirty="0">
                <a:latin typeface="Calibri"/>
                <a:cs typeface="Calibri"/>
              </a:rPr>
              <a:t>also </a:t>
            </a:r>
            <a:r>
              <a:rPr sz="2800" spc="-620" dirty="0">
                <a:latin typeface="Calibri"/>
                <a:cs typeface="Calibri"/>
              </a:rPr>
              <a:t> </a:t>
            </a:r>
            <a:r>
              <a:rPr sz="2800" spc="-5" dirty="0">
                <a:latin typeface="Calibri"/>
                <a:cs typeface="Calibri"/>
              </a:rPr>
              <a:t>causing</a:t>
            </a:r>
            <a:r>
              <a:rPr sz="2800" spc="30" dirty="0">
                <a:latin typeface="Calibri"/>
                <a:cs typeface="Calibri"/>
              </a:rPr>
              <a:t> </a:t>
            </a:r>
            <a:r>
              <a:rPr sz="2800" spc="-5" dirty="0">
                <a:latin typeface="Calibri"/>
                <a:cs typeface="Calibri"/>
              </a:rPr>
              <a:t>NLP</a:t>
            </a:r>
            <a:r>
              <a:rPr sz="2800" spc="25" dirty="0">
                <a:latin typeface="Calibri"/>
                <a:cs typeface="Calibri"/>
              </a:rPr>
              <a:t> </a:t>
            </a:r>
            <a:r>
              <a:rPr sz="2800" spc="-15" dirty="0">
                <a:latin typeface="Calibri"/>
                <a:cs typeface="Calibri"/>
              </a:rPr>
              <a:t>Problems,</a:t>
            </a:r>
            <a:r>
              <a:rPr sz="2800" spc="35" dirty="0">
                <a:latin typeface="Calibri"/>
                <a:cs typeface="Calibri"/>
              </a:rPr>
              <a:t> </a:t>
            </a:r>
            <a:r>
              <a:rPr sz="2800" spc="-15" dirty="0">
                <a:latin typeface="Calibri"/>
                <a:cs typeface="Calibri"/>
              </a:rPr>
              <a:t>example:</a:t>
            </a:r>
            <a:r>
              <a:rPr sz="2800" spc="15" dirty="0">
                <a:latin typeface="Calibri"/>
                <a:cs typeface="Calibri"/>
              </a:rPr>
              <a:t> </a:t>
            </a:r>
            <a:r>
              <a:rPr sz="2800" dirty="0">
                <a:latin typeface="Calibri"/>
                <a:cs typeface="Calibri"/>
              </a:rPr>
              <a:t>“Ram</a:t>
            </a:r>
            <a:r>
              <a:rPr sz="2800" spc="-5" dirty="0">
                <a:latin typeface="Calibri"/>
                <a:cs typeface="Calibri"/>
              </a:rPr>
              <a:t> and</a:t>
            </a:r>
            <a:r>
              <a:rPr sz="2800" spc="-35" dirty="0">
                <a:latin typeface="Calibri"/>
                <a:cs typeface="Calibri"/>
              </a:rPr>
              <a:t> </a:t>
            </a:r>
            <a:r>
              <a:rPr sz="2800" spc="-30" dirty="0">
                <a:latin typeface="Calibri"/>
                <a:cs typeface="Calibri"/>
              </a:rPr>
              <a:t>Shyam</a:t>
            </a:r>
            <a:r>
              <a:rPr sz="2800" spc="15" dirty="0">
                <a:latin typeface="Calibri"/>
                <a:cs typeface="Calibri"/>
              </a:rPr>
              <a:t> </a:t>
            </a:r>
            <a:r>
              <a:rPr sz="2800" spc="-15" dirty="0">
                <a:latin typeface="Calibri"/>
                <a:cs typeface="Calibri"/>
              </a:rPr>
              <a:t>went</a:t>
            </a:r>
            <a:r>
              <a:rPr sz="2800" spc="-5" dirty="0">
                <a:latin typeface="Calibri"/>
                <a:cs typeface="Calibri"/>
              </a:rPr>
              <a:t> </a:t>
            </a:r>
            <a:r>
              <a:rPr sz="2800" spc="-15" dirty="0">
                <a:latin typeface="Calibri"/>
                <a:cs typeface="Calibri"/>
              </a:rPr>
              <a:t>to</a:t>
            </a:r>
            <a:r>
              <a:rPr sz="2800" spc="-5" dirty="0">
                <a:latin typeface="Calibri"/>
                <a:cs typeface="Calibri"/>
              </a:rPr>
              <a:t> a </a:t>
            </a:r>
            <a:r>
              <a:rPr sz="2800" dirty="0">
                <a:latin typeface="Calibri"/>
                <a:cs typeface="Calibri"/>
              </a:rPr>
              <a:t> </a:t>
            </a:r>
            <a:r>
              <a:rPr sz="2800" spc="-25" dirty="0">
                <a:latin typeface="Calibri"/>
                <a:cs typeface="Calibri"/>
              </a:rPr>
              <a:t>restaurant</a:t>
            </a:r>
            <a:r>
              <a:rPr sz="2800" spc="25" dirty="0">
                <a:latin typeface="Calibri"/>
                <a:cs typeface="Calibri"/>
              </a:rPr>
              <a:t> </a:t>
            </a:r>
            <a:r>
              <a:rPr sz="2800" spc="-5" dirty="0">
                <a:latin typeface="Calibri"/>
                <a:cs typeface="Calibri"/>
              </a:rPr>
              <a:t>while</a:t>
            </a:r>
            <a:r>
              <a:rPr sz="2800" spc="15" dirty="0">
                <a:latin typeface="Calibri"/>
                <a:cs typeface="Calibri"/>
              </a:rPr>
              <a:t> </a:t>
            </a:r>
            <a:r>
              <a:rPr sz="2800" dirty="0">
                <a:latin typeface="Calibri"/>
                <a:cs typeface="Calibri"/>
              </a:rPr>
              <a:t>Ram </a:t>
            </a:r>
            <a:r>
              <a:rPr sz="2800" spc="-5" dirty="0">
                <a:latin typeface="Calibri"/>
                <a:cs typeface="Calibri"/>
              </a:rPr>
              <a:t>had</a:t>
            </a:r>
            <a:r>
              <a:rPr sz="2800" spc="25" dirty="0">
                <a:latin typeface="Calibri"/>
                <a:cs typeface="Calibri"/>
              </a:rPr>
              <a:t> </a:t>
            </a:r>
            <a:r>
              <a:rPr sz="2800" spc="-5" dirty="0">
                <a:latin typeface="Calibri"/>
                <a:cs typeface="Calibri"/>
              </a:rPr>
              <a:t>a</a:t>
            </a:r>
            <a:r>
              <a:rPr sz="2800" dirty="0">
                <a:latin typeface="Calibri"/>
                <a:cs typeface="Calibri"/>
              </a:rPr>
              <a:t> </a:t>
            </a:r>
            <a:r>
              <a:rPr sz="2800" spc="-5" dirty="0">
                <a:latin typeface="Calibri"/>
                <a:cs typeface="Calibri"/>
              </a:rPr>
              <a:t>cup</a:t>
            </a:r>
            <a:r>
              <a:rPr sz="2800" spc="25" dirty="0">
                <a:latin typeface="Calibri"/>
                <a:cs typeface="Calibri"/>
              </a:rPr>
              <a:t> </a:t>
            </a:r>
            <a:r>
              <a:rPr sz="2800" spc="-5" dirty="0">
                <a:latin typeface="Calibri"/>
                <a:cs typeface="Calibri"/>
              </a:rPr>
              <a:t>of</a:t>
            </a:r>
            <a:r>
              <a:rPr sz="2800" spc="5" dirty="0">
                <a:latin typeface="Calibri"/>
                <a:cs typeface="Calibri"/>
              </a:rPr>
              <a:t> </a:t>
            </a:r>
            <a:r>
              <a:rPr sz="2800" spc="-25" dirty="0">
                <a:latin typeface="Calibri"/>
                <a:cs typeface="Calibri"/>
              </a:rPr>
              <a:t>coffee</a:t>
            </a:r>
            <a:r>
              <a:rPr sz="2800" spc="5" dirty="0">
                <a:latin typeface="Calibri"/>
                <a:cs typeface="Calibri"/>
              </a:rPr>
              <a:t> </a:t>
            </a:r>
            <a:r>
              <a:rPr sz="2800" spc="-5" dirty="0">
                <a:latin typeface="Calibri"/>
                <a:cs typeface="Calibri"/>
              </a:rPr>
              <a:t>and</a:t>
            </a:r>
            <a:r>
              <a:rPr sz="2800" spc="-55" dirty="0">
                <a:latin typeface="Calibri"/>
                <a:cs typeface="Calibri"/>
              </a:rPr>
              <a:t> </a:t>
            </a:r>
            <a:r>
              <a:rPr sz="2800" spc="-30" dirty="0">
                <a:latin typeface="Calibri"/>
                <a:cs typeface="Calibri"/>
              </a:rPr>
              <a:t>Shyam</a:t>
            </a:r>
            <a:r>
              <a:rPr sz="2800" spc="35" dirty="0">
                <a:latin typeface="Calibri"/>
                <a:cs typeface="Calibri"/>
              </a:rPr>
              <a:t> </a:t>
            </a:r>
            <a:r>
              <a:rPr sz="2800" spc="-10" dirty="0">
                <a:latin typeface="Calibri"/>
                <a:cs typeface="Calibri"/>
              </a:rPr>
              <a:t>had</a:t>
            </a:r>
            <a:r>
              <a:rPr sz="2800" spc="10" dirty="0">
                <a:latin typeface="Calibri"/>
                <a:cs typeface="Calibri"/>
              </a:rPr>
              <a:t> </a:t>
            </a:r>
            <a:r>
              <a:rPr sz="2800" spc="-15" dirty="0">
                <a:latin typeface="Calibri"/>
                <a:cs typeface="Calibri"/>
              </a:rPr>
              <a:t>tea</a:t>
            </a:r>
            <a:r>
              <a:rPr sz="2800" spc="5" dirty="0">
                <a:latin typeface="Calibri"/>
                <a:cs typeface="Calibri"/>
              </a:rPr>
              <a:t> </a:t>
            </a:r>
            <a:r>
              <a:rPr sz="2800" spc="-5" dirty="0">
                <a:latin typeface="Calibri"/>
                <a:cs typeface="Calibri"/>
              </a:rPr>
              <a:t>(a</a:t>
            </a:r>
            <a:r>
              <a:rPr sz="2800" spc="5" dirty="0">
                <a:latin typeface="Calibri"/>
                <a:cs typeface="Calibri"/>
              </a:rPr>
              <a:t> </a:t>
            </a:r>
            <a:r>
              <a:rPr sz="2800" spc="-5" dirty="0">
                <a:latin typeface="Calibri"/>
                <a:cs typeface="Calibri"/>
              </a:rPr>
              <a:t>cup </a:t>
            </a:r>
            <a:r>
              <a:rPr sz="2800" dirty="0">
                <a:latin typeface="Calibri"/>
                <a:cs typeface="Calibri"/>
              </a:rPr>
              <a:t> </a:t>
            </a:r>
            <a:r>
              <a:rPr sz="2800" spc="5" dirty="0">
                <a:latin typeface="Calibri"/>
                <a:cs typeface="Calibri"/>
              </a:rPr>
              <a:t>of)</a:t>
            </a:r>
            <a:endParaRPr lang="en-NP" sz="2800" spc="5" dirty="0">
              <a:latin typeface="Calibri"/>
              <a:cs typeface="Calibri"/>
            </a:endParaRPr>
          </a:p>
          <a:p>
            <a:pPr marL="241300" indent="-228600">
              <a:lnSpc>
                <a:spcPct val="100000"/>
              </a:lnSpc>
              <a:spcBef>
                <a:spcPts val="670"/>
              </a:spcBef>
              <a:buFont typeface="Arial MT"/>
              <a:buChar char="•"/>
              <a:tabLst>
                <a:tab pos="241300" algn="l"/>
              </a:tabLst>
            </a:pPr>
            <a:r>
              <a:rPr lang="en-US" sz="2800" spc="-10" dirty="0">
                <a:latin typeface="Calibri"/>
                <a:cs typeface="Calibri"/>
              </a:rPr>
              <a:t>Ellipsis</a:t>
            </a:r>
            <a:r>
              <a:rPr lang="en-US" sz="2800" spc="20" dirty="0">
                <a:latin typeface="Calibri"/>
                <a:cs typeface="Calibri"/>
              </a:rPr>
              <a:t> </a:t>
            </a:r>
            <a:r>
              <a:rPr lang="en-US" sz="2800" spc="-5" dirty="0">
                <a:latin typeface="Calibri"/>
                <a:cs typeface="Calibri"/>
              </a:rPr>
              <a:t>is</a:t>
            </a:r>
            <a:r>
              <a:rPr lang="en-US" sz="2800" spc="10" dirty="0">
                <a:latin typeface="Calibri"/>
                <a:cs typeface="Calibri"/>
              </a:rPr>
              <a:t> </a:t>
            </a:r>
            <a:r>
              <a:rPr lang="en-US" sz="2800" spc="-5" dirty="0">
                <a:latin typeface="Calibri"/>
                <a:cs typeface="Calibri"/>
              </a:rPr>
              <a:t>also</a:t>
            </a:r>
            <a:r>
              <a:rPr lang="en-US" sz="2800" spc="25" dirty="0">
                <a:latin typeface="Calibri"/>
                <a:cs typeface="Calibri"/>
              </a:rPr>
              <a:t> </a:t>
            </a:r>
            <a:r>
              <a:rPr lang="en-US" sz="2800" spc="-5" dirty="0">
                <a:latin typeface="Calibri"/>
                <a:cs typeface="Calibri"/>
              </a:rPr>
              <a:t>a major</a:t>
            </a:r>
            <a:r>
              <a:rPr lang="en-US" sz="2800" spc="15" dirty="0">
                <a:latin typeface="Calibri"/>
                <a:cs typeface="Calibri"/>
              </a:rPr>
              <a:t> </a:t>
            </a:r>
            <a:r>
              <a:rPr lang="en-US" sz="2800" spc="-5" dirty="0">
                <a:latin typeface="Calibri"/>
                <a:cs typeface="Calibri"/>
              </a:rPr>
              <a:t>issue</a:t>
            </a:r>
            <a:r>
              <a:rPr lang="en-US" sz="2800" spc="25" dirty="0">
                <a:latin typeface="Calibri"/>
                <a:cs typeface="Calibri"/>
              </a:rPr>
              <a:t> </a:t>
            </a:r>
            <a:r>
              <a:rPr lang="en-US" sz="2800" spc="-5" dirty="0">
                <a:latin typeface="Calibri"/>
                <a:cs typeface="Calibri"/>
              </a:rPr>
              <a:t>in</a:t>
            </a:r>
            <a:r>
              <a:rPr lang="en-US" sz="2800" spc="10" dirty="0">
                <a:latin typeface="Calibri"/>
                <a:cs typeface="Calibri"/>
              </a:rPr>
              <a:t> </a:t>
            </a:r>
            <a:r>
              <a:rPr lang="en-US" sz="2800" spc="-90" dirty="0">
                <a:latin typeface="Calibri"/>
                <a:cs typeface="Calibri"/>
              </a:rPr>
              <a:t>NLP,</a:t>
            </a:r>
            <a:r>
              <a:rPr lang="en-US" sz="2800" spc="30" dirty="0">
                <a:latin typeface="Calibri"/>
                <a:cs typeface="Calibri"/>
              </a:rPr>
              <a:t> </a:t>
            </a:r>
            <a:r>
              <a:rPr lang="en-US" sz="2800" spc="-15" dirty="0">
                <a:latin typeface="Calibri"/>
                <a:cs typeface="Calibri"/>
              </a:rPr>
              <a:t>example:</a:t>
            </a:r>
            <a:r>
              <a:rPr lang="en-US" sz="2800" spc="15" dirty="0">
                <a:latin typeface="Calibri"/>
                <a:cs typeface="Calibri"/>
              </a:rPr>
              <a:t> </a:t>
            </a:r>
            <a:r>
              <a:rPr lang="en-US" sz="2800" spc="-5" dirty="0">
                <a:latin typeface="Calibri"/>
                <a:cs typeface="Calibri"/>
              </a:rPr>
              <a:t>“I</a:t>
            </a:r>
            <a:r>
              <a:rPr lang="en-US" sz="2800" spc="10" dirty="0">
                <a:latin typeface="Calibri"/>
                <a:cs typeface="Calibri"/>
              </a:rPr>
              <a:t> </a:t>
            </a:r>
            <a:r>
              <a:rPr lang="en-US" sz="2800" spc="-5" dirty="0">
                <a:latin typeface="Calibri"/>
                <a:cs typeface="Calibri"/>
              </a:rPr>
              <a:t>know</a:t>
            </a:r>
            <a:r>
              <a:rPr lang="en-US" sz="2800" spc="15" dirty="0">
                <a:latin typeface="Calibri"/>
                <a:cs typeface="Calibri"/>
              </a:rPr>
              <a:t> </a:t>
            </a:r>
            <a:r>
              <a:rPr lang="en-US" sz="2800" spc="-55" dirty="0">
                <a:latin typeface="Calibri"/>
                <a:cs typeface="Calibri"/>
              </a:rPr>
              <a:t>SQL”</a:t>
            </a:r>
            <a:endParaRPr lang="en-US" sz="2800"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317615"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15" dirty="0"/>
              <a:t> </a:t>
            </a:r>
            <a:r>
              <a:rPr sz="4400" dirty="0"/>
              <a:t>NL</a:t>
            </a:r>
            <a:r>
              <a:rPr sz="4400" spc="-10" dirty="0"/>
              <a:t> Analysis</a:t>
            </a:r>
            <a:r>
              <a:rPr sz="4400" spc="-35" dirty="0"/>
              <a:t> </a:t>
            </a:r>
            <a:r>
              <a:rPr sz="4400" spc="-45" dirty="0"/>
              <a:t>Techniques</a:t>
            </a:r>
            <a:endParaRPr sz="4400"/>
          </a:p>
        </p:txBody>
      </p:sp>
      <p:sp>
        <p:nvSpPr>
          <p:cNvPr id="3" name="object 3"/>
          <p:cNvSpPr txBox="1"/>
          <p:nvPr/>
        </p:nvSpPr>
        <p:spPr>
          <a:xfrm>
            <a:off x="916939" y="1793189"/>
            <a:ext cx="9266555" cy="830356"/>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15" dirty="0">
                <a:latin typeface="Calibri"/>
                <a:cs typeface="Calibri"/>
              </a:rPr>
              <a:t>Keyboard</a:t>
            </a:r>
            <a:r>
              <a:rPr sz="2800" dirty="0">
                <a:latin typeface="Calibri"/>
                <a:cs typeface="Calibri"/>
              </a:rPr>
              <a:t> </a:t>
            </a:r>
            <a:r>
              <a:rPr sz="2800" spc="-10" dirty="0">
                <a:latin typeface="Calibri"/>
                <a:cs typeface="Calibri"/>
              </a:rPr>
              <a:t>Analysis</a:t>
            </a:r>
            <a:r>
              <a:rPr sz="2800" spc="35" dirty="0">
                <a:latin typeface="Calibri"/>
                <a:cs typeface="Calibri"/>
              </a:rPr>
              <a:t> </a:t>
            </a:r>
            <a:r>
              <a:rPr sz="2800" spc="-5" dirty="0">
                <a:latin typeface="Calibri"/>
                <a:cs typeface="Calibri"/>
              </a:rPr>
              <a:t>or</a:t>
            </a:r>
            <a:r>
              <a:rPr sz="2800" dirty="0">
                <a:latin typeface="Calibri"/>
                <a:cs typeface="Calibri"/>
              </a:rPr>
              <a:t> </a:t>
            </a:r>
            <a:r>
              <a:rPr sz="2800" spc="-25" dirty="0">
                <a:latin typeface="Calibri"/>
                <a:cs typeface="Calibri"/>
              </a:rPr>
              <a:t>Pattern</a:t>
            </a:r>
            <a:r>
              <a:rPr sz="2800" spc="15" dirty="0">
                <a:latin typeface="Calibri"/>
                <a:cs typeface="Calibri"/>
              </a:rPr>
              <a:t> </a:t>
            </a:r>
            <a:r>
              <a:rPr sz="2800" spc="-5" dirty="0">
                <a:latin typeface="Calibri"/>
                <a:cs typeface="Calibri"/>
              </a:rPr>
              <a:t>Matching,</a:t>
            </a:r>
            <a:r>
              <a:rPr sz="2800" spc="30" dirty="0">
                <a:latin typeface="Calibri"/>
                <a:cs typeface="Calibri"/>
              </a:rPr>
              <a:t> </a:t>
            </a:r>
            <a:r>
              <a:rPr sz="2800" spc="-10" dirty="0">
                <a:latin typeface="Calibri"/>
                <a:cs typeface="Calibri"/>
              </a:rPr>
              <a:t>Example:</a:t>
            </a:r>
            <a:r>
              <a:rPr sz="2800" spc="5" dirty="0">
                <a:latin typeface="Calibri"/>
                <a:cs typeface="Calibri"/>
              </a:rPr>
              <a:t>  </a:t>
            </a:r>
            <a:r>
              <a:rPr sz="2800" dirty="0">
                <a:latin typeface="Calibri"/>
                <a:cs typeface="Calibri"/>
              </a:rPr>
              <a:t>(acting </a:t>
            </a:r>
            <a:r>
              <a:rPr sz="2800" spc="-620" dirty="0">
                <a:latin typeface="Calibri"/>
                <a:cs typeface="Calibri"/>
              </a:rPr>
              <a:t> </a:t>
            </a:r>
            <a:r>
              <a:rPr sz="2800" spc="-10" dirty="0">
                <a:latin typeface="Calibri"/>
                <a:cs typeface="Calibri"/>
              </a:rPr>
              <a:t>humanly)</a:t>
            </a:r>
            <a:endParaRPr sz="2800"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204460"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30" dirty="0"/>
              <a:t> </a:t>
            </a:r>
            <a:r>
              <a:rPr sz="4400" spc="-20" dirty="0"/>
              <a:t>Keyboard</a:t>
            </a:r>
            <a:r>
              <a:rPr sz="4400" spc="-15" dirty="0"/>
              <a:t> </a:t>
            </a:r>
            <a:r>
              <a:rPr sz="4400" spc="-10" dirty="0"/>
              <a:t>Analysis</a:t>
            </a:r>
            <a:endParaRPr sz="4400"/>
          </a:p>
        </p:txBody>
      </p:sp>
      <p:sp>
        <p:nvSpPr>
          <p:cNvPr id="3" name="object 3"/>
          <p:cNvSpPr txBox="1"/>
          <p:nvPr/>
        </p:nvSpPr>
        <p:spPr>
          <a:xfrm>
            <a:off x="916939" y="1706841"/>
            <a:ext cx="7620634" cy="411797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Start</a:t>
            </a:r>
            <a:endParaRPr sz="280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Accept</a:t>
            </a:r>
            <a:r>
              <a:rPr sz="2800"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given</a:t>
            </a:r>
            <a:r>
              <a:rPr sz="2800" spc="-15" dirty="0">
                <a:latin typeface="Calibri"/>
                <a:cs typeface="Calibri"/>
              </a:rPr>
              <a:t> </a:t>
            </a:r>
            <a:r>
              <a:rPr sz="2800" spc="-10" dirty="0">
                <a:latin typeface="Calibri"/>
                <a:cs typeface="Calibri"/>
              </a:rPr>
              <a:t>sentence</a:t>
            </a:r>
            <a:endParaRPr sz="280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Scan</a:t>
            </a:r>
            <a:r>
              <a:rPr sz="2800" spc="10" dirty="0">
                <a:latin typeface="Calibri"/>
                <a:cs typeface="Calibri"/>
              </a:rPr>
              <a:t> </a:t>
            </a:r>
            <a:r>
              <a:rPr sz="2800" spc="-5" dirty="0">
                <a:latin typeface="Calibri"/>
                <a:cs typeface="Calibri"/>
              </a:rPr>
              <a:t>and</a:t>
            </a:r>
            <a:r>
              <a:rPr sz="2800" spc="5" dirty="0">
                <a:latin typeface="Calibri"/>
                <a:cs typeface="Calibri"/>
              </a:rPr>
              <a:t> </a:t>
            </a:r>
            <a:r>
              <a:rPr sz="2800" spc="-10" dirty="0">
                <a:latin typeface="Calibri"/>
                <a:cs typeface="Calibri"/>
              </a:rPr>
              <a:t>segment</a:t>
            </a:r>
            <a:r>
              <a:rPr sz="2800" spc="10"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sentence</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Identify</a:t>
            </a:r>
            <a:r>
              <a:rPr sz="2800" spc="-20" dirty="0">
                <a:latin typeface="Calibri"/>
                <a:cs typeface="Calibri"/>
              </a:rPr>
              <a:t> Keywords</a:t>
            </a:r>
            <a:endParaRPr sz="2800">
              <a:latin typeface="Calibri"/>
              <a:cs typeface="Calibri"/>
            </a:endParaRPr>
          </a:p>
          <a:p>
            <a:pPr marL="241300" indent="-228600">
              <a:lnSpc>
                <a:spcPct val="100000"/>
              </a:lnSpc>
              <a:spcBef>
                <a:spcPts val="670"/>
              </a:spcBef>
              <a:buFont typeface="Arial MT"/>
              <a:buChar char="•"/>
              <a:tabLst>
                <a:tab pos="241300" algn="l"/>
              </a:tabLst>
            </a:pPr>
            <a:r>
              <a:rPr sz="2800" spc="-5" dirty="0">
                <a:latin typeface="Calibri"/>
                <a:cs typeface="Calibri"/>
              </a:rPr>
              <a:t>If</a:t>
            </a:r>
            <a:r>
              <a:rPr sz="2800" dirty="0">
                <a:latin typeface="Calibri"/>
                <a:cs typeface="Calibri"/>
              </a:rPr>
              <a:t> </a:t>
            </a:r>
            <a:r>
              <a:rPr sz="2800" spc="-25" dirty="0">
                <a:latin typeface="Calibri"/>
                <a:cs typeface="Calibri"/>
              </a:rPr>
              <a:t>keywords</a:t>
            </a:r>
            <a:r>
              <a:rPr sz="2800" dirty="0">
                <a:latin typeface="Calibri"/>
                <a:cs typeface="Calibri"/>
              </a:rPr>
              <a:t> </a:t>
            </a:r>
            <a:r>
              <a:rPr sz="2800" spc="-15" dirty="0">
                <a:latin typeface="Calibri"/>
                <a:cs typeface="Calibri"/>
              </a:rPr>
              <a:t>present</a:t>
            </a:r>
            <a:r>
              <a:rPr sz="2800" spc="30" dirty="0">
                <a:latin typeface="Calibri"/>
                <a:cs typeface="Calibri"/>
              </a:rPr>
              <a:t> </a:t>
            </a:r>
            <a:r>
              <a:rPr sz="2800" dirty="0">
                <a:latin typeface="Calibri"/>
                <a:cs typeface="Calibri"/>
              </a:rPr>
              <a:t>check</a:t>
            </a:r>
            <a:r>
              <a:rPr sz="2800" spc="2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number</a:t>
            </a:r>
            <a:r>
              <a:rPr sz="2800" spc="35" dirty="0">
                <a:latin typeface="Calibri"/>
                <a:cs typeface="Calibri"/>
              </a:rPr>
              <a:t> </a:t>
            </a:r>
            <a:r>
              <a:rPr sz="2800" spc="-5" dirty="0">
                <a:latin typeface="Calibri"/>
                <a:cs typeface="Calibri"/>
              </a:rPr>
              <a:t>of</a:t>
            </a:r>
            <a:r>
              <a:rPr sz="2800" spc="15" dirty="0">
                <a:latin typeface="Calibri"/>
                <a:cs typeface="Calibri"/>
              </a:rPr>
              <a:t> </a:t>
            </a:r>
            <a:r>
              <a:rPr sz="2800" spc="-25" dirty="0">
                <a:latin typeface="Calibri"/>
                <a:cs typeface="Calibri"/>
              </a:rPr>
              <a:t>keywords</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If </a:t>
            </a:r>
            <a:r>
              <a:rPr sz="2800" spc="-20" dirty="0">
                <a:latin typeface="Calibri"/>
                <a:cs typeface="Calibri"/>
              </a:rPr>
              <a:t>yes</a:t>
            </a:r>
            <a:r>
              <a:rPr sz="2800" spc="15" dirty="0">
                <a:latin typeface="Calibri"/>
                <a:cs typeface="Calibri"/>
              </a:rPr>
              <a:t> </a:t>
            </a:r>
            <a:r>
              <a:rPr sz="2800" spc="-15" dirty="0">
                <a:latin typeface="Calibri"/>
                <a:cs typeface="Calibri"/>
              </a:rPr>
              <a:t>prioritize</a:t>
            </a:r>
            <a:r>
              <a:rPr sz="2800" spc="15" dirty="0">
                <a:latin typeface="Calibri"/>
                <a:cs typeface="Calibri"/>
              </a:rPr>
              <a:t> </a:t>
            </a:r>
            <a:r>
              <a:rPr sz="2800" spc="-5" dirty="0">
                <a:latin typeface="Calibri"/>
                <a:cs typeface="Calibri"/>
              </a:rPr>
              <a:t>them</a:t>
            </a:r>
            <a:r>
              <a:rPr sz="2800" spc="10" dirty="0">
                <a:latin typeface="Calibri"/>
                <a:cs typeface="Calibri"/>
              </a:rPr>
              <a:t> </a:t>
            </a:r>
            <a:r>
              <a:rPr sz="2800" spc="-5" dirty="0">
                <a:latin typeface="Calibri"/>
                <a:cs typeface="Calibri"/>
              </a:rPr>
              <a:t>then</a:t>
            </a:r>
            <a:r>
              <a:rPr sz="2800" spc="20" dirty="0">
                <a:latin typeface="Calibri"/>
                <a:cs typeface="Calibri"/>
              </a:rPr>
              <a:t> </a:t>
            </a:r>
            <a:r>
              <a:rPr sz="2800" spc="-10" dirty="0">
                <a:latin typeface="Calibri"/>
                <a:cs typeface="Calibri"/>
              </a:rPr>
              <a:t>give</a:t>
            </a:r>
            <a:r>
              <a:rPr sz="2800" dirty="0">
                <a:latin typeface="Calibri"/>
                <a:cs typeface="Calibri"/>
              </a:rPr>
              <a:t> </a:t>
            </a:r>
            <a:r>
              <a:rPr sz="2800" spc="-10" dirty="0">
                <a:latin typeface="Calibri"/>
                <a:cs typeface="Calibri"/>
              </a:rPr>
              <a:t>suitable</a:t>
            </a:r>
            <a:r>
              <a:rPr sz="2800" spc="20" dirty="0">
                <a:latin typeface="Calibri"/>
                <a:cs typeface="Calibri"/>
              </a:rPr>
              <a:t> </a:t>
            </a:r>
            <a:r>
              <a:rPr sz="2800" spc="-10" dirty="0">
                <a:latin typeface="Calibri"/>
                <a:cs typeface="Calibri"/>
              </a:rPr>
              <a:t>reply</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If no</a:t>
            </a:r>
            <a:r>
              <a:rPr sz="2800" spc="15" dirty="0">
                <a:latin typeface="Calibri"/>
                <a:cs typeface="Calibri"/>
              </a:rPr>
              <a:t> </a:t>
            </a:r>
            <a:r>
              <a:rPr sz="2800" spc="-25" dirty="0">
                <a:latin typeface="Calibri"/>
                <a:cs typeface="Calibri"/>
              </a:rPr>
              <a:t>keywords</a:t>
            </a:r>
            <a:r>
              <a:rPr sz="2800" spc="-5" dirty="0">
                <a:latin typeface="Calibri"/>
                <a:cs typeface="Calibri"/>
              </a:rPr>
              <a:t> </a:t>
            </a:r>
            <a:r>
              <a:rPr sz="2800" spc="-15" dirty="0">
                <a:latin typeface="Calibri"/>
                <a:cs typeface="Calibri"/>
              </a:rPr>
              <a:t>are</a:t>
            </a:r>
            <a:r>
              <a:rPr sz="2800" spc="5" dirty="0">
                <a:latin typeface="Calibri"/>
                <a:cs typeface="Calibri"/>
              </a:rPr>
              <a:t> </a:t>
            </a:r>
            <a:r>
              <a:rPr sz="2800" spc="-15" dirty="0">
                <a:latin typeface="Calibri"/>
                <a:cs typeface="Calibri"/>
              </a:rPr>
              <a:t>present</a:t>
            </a:r>
            <a:r>
              <a:rPr sz="2800" spc="30" dirty="0">
                <a:latin typeface="Calibri"/>
                <a:cs typeface="Calibri"/>
              </a:rPr>
              <a:t> </a:t>
            </a:r>
            <a:r>
              <a:rPr sz="2800" spc="-10" dirty="0">
                <a:latin typeface="Calibri"/>
                <a:cs typeface="Calibri"/>
              </a:rPr>
              <a:t>give</a:t>
            </a:r>
            <a:r>
              <a:rPr sz="2800" dirty="0">
                <a:latin typeface="Calibri"/>
                <a:cs typeface="Calibri"/>
              </a:rPr>
              <a:t> </a:t>
            </a:r>
            <a:r>
              <a:rPr sz="2800" spc="-5" dirty="0">
                <a:latin typeface="Calibri"/>
                <a:cs typeface="Calibri"/>
              </a:rPr>
              <a:t>a</a:t>
            </a:r>
            <a:r>
              <a:rPr sz="2800" spc="5" dirty="0">
                <a:latin typeface="Calibri"/>
                <a:cs typeface="Calibri"/>
              </a:rPr>
              <a:t> </a:t>
            </a:r>
            <a:r>
              <a:rPr sz="2800" spc="-15" dirty="0">
                <a:latin typeface="Calibri"/>
                <a:cs typeface="Calibri"/>
              </a:rPr>
              <a:t>random</a:t>
            </a:r>
            <a:r>
              <a:rPr sz="2800" spc="25" dirty="0">
                <a:latin typeface="Calibri"/>
                <a:cs typeface="Calibri"/>
              </a:rPr>
              <a:t> </a:t>
            </a:r>
            <a:r>
              <a:rPr sz="2800" spc="-10" dirty="0">
                <a:latin typeface="Calibri"/>
                <a:cs typeface="Calibri"/>
              </a:rPr>
              <a:t>reply</a:t>
            </a:r>
            <a:endParaRPr sz="2800">
              <a:latin typeface="Calibri"/>
              <a:cs typeface="Calibri"/>
            </a:endParaRPr>
          </a:p>
          <a:p>
            <a:pPr marL="241300" indent="-228600">
              <a:lnSpc>
                <a:spcPct val="100000"/>
              </a:lnSpc>
              <a:spcBef>
                <a:spcPts val="670"/>
              </a:spcBef>
              <a:buFont typeface="Arial MT"/>
              <a:buChar char="•"/>
              <a:tabLst>
                <a:tab pos="241300" algn="l"/>
              </a:tabLst>
            </a:pPr>
            <a:r>
              <a:rPr sz="2800" spc="-20" dirty="0">
                <a:latin typeface="Calibri"/>
                <a:cs typeface="Calibri"/>
              </a:rPr>
              <a:t>stop</a:t>
            </a:r>
            <a:endParaRPr sz="28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926830"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10" dirty="0"/>
              <a:t> </a:t>
            </a:r>
            <a:r>
              <a:rPr sz="4400" spc="-20" dirty="0"/>
              <a:t>Syntactic</a:t>
            </a:r>
            <a:r>
              <a:rPr sz="4400" dirty="0"/>
              <a:t> </a:t>
            </a:r>
            <a:r>
              <a:rPr sz="4400" spc="-10" dirty="0"/>
              <a:t>Driven</a:t>
            </a:r>
            <a:r>
              <a:rPr sz="4400" spc="-5" dirty="0"/>
              <a:t> </a:t>
            </a:r>
            <a:r>
              <a:rPr sz="4400" spc="-25" dirty="0"/>
              <a:t>Parsing</a:t>
            </a:r>
            <a:r>
              <a:rPr sz="4400" dirty="0"/>
              <a:t> </a:t>
            </a:r>
            <a:r>
              <a:rPr sz="4400" spc="-50" dirty="0"/>
              <a:t>Technique</a:t>
            </a:r>
            <a:endParaRPr sz="4400"/>
          </a:p>
        </p:txBody>
      </p:sp>
      <p:sp>
        <p:nvSpPr>
          <p:cNvPr id="3" name="object 3"/>
          <p:cNvSpPr txBox="1"/>
          <p:nvPr/>
        </p:nvSpPr>
        <p:spPr>
          <a:xfrm>
            <a:off x="916939" y="1793189"/>
            <a:ext cx="10201910" cy="3650615"/>
          </a:xfrm>
          <a:prstGeom prst="rect">
            <a:avLst/>
          </a:prstGeom>
        </p:spPr>
        <p:txBody>
          <a:bodyPr vert="horz" wrap="square" lIns="0" tIns="60325" rIns="0" bIns="0" rtlCol="0">
            <a:spAutoFit/>
          </a:bodyPr>
          <a:lstStyle/>
          <a:p>
            <a:pPr marL="241300" marR="572770" indent="-228600">
              <a:lnSpc>
                <a:spcPts val="3030"/>
              </a:lnSpc>
              <a:spcBef>
                <a:spcPts val="475"/>
              </a:spcBef>
              <a:buFont typeface="Arial MT"/>
              <a:buChar char="•"/>
              <a:tabLst>
                <a:tab pos="241300" algn="l"/>
              </a:tabLst>
            </a:pPr>
            <a:r>
              <a:rPr sz="2800" spc="-35" dirty="0">
                <a:latin typeface="Calibri"/>
                <a:cs typeface="Calibri"/>
              </a:rPr>
              <a:t>Words</a:t>
            </a:r>
            <a:r>
              <a:rPr sz="2800" spc="15" dirty="0">
                <a:latin typeface="Calibri"/>
                <a:cs typeface="Calibri"/>
              </a:rPr>
              <a:t> </a:t>
            </a:r>
            <a:r>
              <a:rPr sz="2800" spc="-10" dirty="0">
                <a:latin typeface="Calibri"/>
                <a:cs typeface="Calibri"/>
              </a:rPr>
              <a:t>can</a:t>
            </a:r>
            <a:r>
              <a:rPr sz="2800" spc="15" dirty="0">
                <a:latin typeface="Calibri"/>
                <a:cs typeface="Calibri"/>
              </a:rPr>
              <a:t> </a:t>
            </a:r>
            <a:r>
              <a:rPr sz="2800" spc="-5" dirty="0">
                <a:latin typeface="Calibri"/>
                <a:cs typeface="Calibri"/>
              </a:rPr>
              <a:t>fit </a:t>
            </a:r>
            <a:r>
              <a:rPr sz="2800" spc="-10" dirty="0">
                <a:latin typeface="Calibri"/>
                <a:cs typeface="Calibri"/>
              </a:rPr>
              <a:t>together</a:t>
            </a:r>
            <a:r>
              <a:rPr sz="2800" spc="-5" dirty="0">
                <a:latin typeface="Calibri"/>
                <a:cs typeface="Calibri"/>
              </a:rPr>
              <a:t> </a:t>
            </a:r>
            <a:r>
              <a:rPr sz="2800" spc="-15" dirty="0">
                <a:latin typeface="Calibri"/>
                <a:cs typeface="Calibri"/>
              </a:rPr>
              <a:t>to</a:t>
            </a:r>
            <a:r>
              <a:rPr sz="2800" spc="-5" dirty="0">
                <a:latin typeface="Calibri"/>
                <a:cs typeface="Calibri"/>
              </a:rPr>
              <a:t> </a:t>
            </a:r>
            <a:r>
              <a:rPr sz="2800" spc="-20" dirty="0">
                <a:latin typeface="Calibri"/>
                <a:cs typeface="Calibri"/>
              </a:rPr>
              <a:t>form</a:t>
            </a:r>
            <a:r>
              <a:rPr sz="2800" spc="10" dirty="0">
                <a:latin typeface="Calibri"/>
                <a:cs typeface="Calibri"/>
              </a:rPr>
              <a:t> </a:t>
            </a:r>
            <a:r>
              <a:rPr sz="2800" spc="-5" dirty="0">
                <a:latin typeface="Calibri"/>
                <a:cs typeface="Calibri"/>
              </a:rPr>
              <a:t>higher</a:t>
            </a:r>
            <a:r>
              <a:rPr sz="2800" dirty="0">
                <a:latin typeface="Calibri"/>
                <a:cs typeface="Calibri"/>
              </a:rPr>
              <a:t> </a:t>
            </a:r>
            <a:r>
              <a:rPr sz="2800" spc="-10" dirty="0">
                <a:latin typeface="Calibri"/>
                <a:cs typeface="Calibri"/>
              </a:rPr>
              <a:t>level</a:t>
            </a:r>
            <a:r>
              <a:rPr sz="2800" dirty="0">
                <a:latin typeface="Calibri"/>
                <a:cs typeface="Calibri"/>
              </a:rPr>
              <a:t> </a:t>
            </a:r>
            <a:r>
              <a:rPr sz="2800" spc="-5" dirty="0">
                <a:latin typeface="Calibri"/>
                <a:cs typeface="Calibri"/>
              </a:rPr>
              <a:t>units</a:t>
            </a:r>
            <a:r>
              <a:rPr sz="2800" spc="35" dirty="0">
                <a:latin typeface="Calibri"/>
                <a:cs typeface="Calibri"/>
              </a:rPr>
              <a:t> </a:t>
            </a:r>
            <a:r>
              <a:rPr sz="2800" spc="-5" dirty="0">
                <a:latin typeface="Calibri"/>
                <a:cs typeface="Calibri"/>
              </a:rPr>
              <a:t>such</a:t>
            </a:r>
            <a:r>
              <a:rPr sz="2800" spc="25" dirty="0">
                <a:latin typeface="Calibri"/>
                <a:cs typeface="Calibri"/>
              </a:rPr>
              <a:t> </a:t>
            </a:r>
            <a:r>
              <a:rPr sz="2800" spc="-5" dirty="0">
                <a:latin typeface="Calibri"/>
                <a:cs typeface="Calibri"/>
              </a:rPr>
              <a:t>as</a:t>
            </a:r>
            <a:r>
              <a:rPr sz="2800" spc="20" dirty="0">
                <a:latin typeface="Calibri"/>
                <a:cs typeface="Calibri"/>
              </a:rPr>
              <a:t> </a:t>
            </a:r>
            <a:r>
              <a:rPr sz="2800" spc="-15" dirty="0">
                <a:latin typeface="Calibri"/>
                <a:cs typeface="Calibri"/>
              </a:rPr>
              <a:t>phrases, </a:t>
            </a:r>
            <a:r>
              <a:rPr sz="2800" spc="-620" dirty="0">
                <a:latin typeface="Calibri"/>
                <a:cs typeface="Calibri"/>
              </a:rPr>
              <a:t> </a:t>
            </a:r>
            <a:r>
              <a:rPr sz="2800" spc="-5" dirty="0">
                <a:latin typeface="Calibri"/>
                <a:cs typeface="Calibri"/>
              </a:rPr>
              <a:t>clauses</a:t>
            </a:r>
            <a:r>
              <a:rPr sz="2800" spc="20"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sentences</a:t>
            </a:r>
            <a:endParaRPr sz="2800">
              <a:latin typeface="Calibri"/>
              <a:cs typeface="Calibri"/>
            </a:endParaRPr>
          </a:p>
          <a:p>
            <a:pPr marL="241300" marR="963930" indent="-228600">
              <a:lnSpc>
                <a:spcPts val="3020"/>
              </a:lnSpc>
              <a:spcBef>
                <a:spcPts val="1005"/>
              </a:spcBef>
              <a:buFont typeface="Arial MT"/>
              <a:buChar char="•"/>
              <a:tabLst>
                <a:tab pos="241300" algn="l"/>
              </a:tabLst>
            </a:pPr>
            <a:r>
              <a:rPr sz="2800" spc="-15" dirty="0">
                <a:latin typeface="Calibri"/>
                <a:cs typeface="Calibri"/>
              </a:rPr>
              <a:t>Interpretation</a:t>
            </a:r>
            <a:r>
              <a:rPr sz="2800" spc="1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larger</a:t>
            </a:r>
            <a:r>
              <a:rPr sz="2800" dirty="0">
                <a:latin typeface="Calibri"/>
                <a:cs typeface="Calibri"/>
              </a:rPr>
              <a:t> </a:t>
            </a:r>
            <a:r>
              <a:rPr sz="2800" spc="-15" dirty="0">
                <a:latin typeface="Calibri"/>
                <a:cs typeface="Calibri"/>
              </a:rPr>
              <a:t>groups</a:t>
            </a:r>
            <a:r>
              <a:rPr sz="2800" spc="25"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words</a:t>
            </a:r>
            <a:r>
              <a:rPr sz="2800" spc="10" dirty="0">
                <a:latin typeface="Calibri"/>
                <a:cs typeface="Calibri"/>
              </a:rPr>
              <a:t> </a:t>
            </a:r>
            <a:r>
              <a:rPr sz="2800" spc="-15" dirty="0">
                <a:latin typeface="Calibri"/>
                <a:cs typeface="Calibri"/>
              </a:rPr>
              <a:t>are</a:t>
            </a:r>
            <a:r>
              <a:rPr sz="2800" spc="5" dirty="0">
                <a:latin typeface="Calibri"/>
                <a:cs typeface="Calibri"/>
              </a:rPr>
              <a:t> </a:t>
            </a:r>
            <a:r>
              <a:rPr sz="2800" spc="-10" dirty="0">
                <a:latin typeface="Calibri"/>
                <a:cs typeface="Calibri"/>
              </a:rPr>
              <a:t>built</a:t>
            </a:r>
            <a:r>
              <a:rPr sz="2800" spc="25" dirty="0">
                <a:latin typeface="Calibri"/>
                <a:cs typeface="Calibri"/>
              </a:rPr>
              <a:t> </a:t>
            </a:r>
            <a:r>
              <a:rPr sz="2800" spc="-5" dirty="0">
                <a:latin typeface="Calibri"/>
                <a:cs typeface="Calibri"/>
              </a:rPr>
              <a:t>up</a:t>
            </a:r>
            <a:r>
              <a:rPr sz="2800" spc="25" dirty="0">
                <a:latin typeface="Calibri"/>
                <a:cs typeface="Calibri"/>
              </a:rPr>
              <a:t> </a:t>
            </a:r>
            <a:r>
              <a:rPr sz="2800" spc="-10" dirty="0">
                <a:latin typeface="Calibri"/>
                <a:cs typeface="Calibri"/>
              </a:rPr>
              <a:t>out</a:t>
            </a:r>
            <a:r>
              <a:rPr sz="2800" spc="15"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 </a:t>
            </a:r>
            <a:r>
              <a:rPr sz="2800" spc="-615" dirty="0">
                <a:latin typeface="Calibri"/>
                <a:cs typeface="Calibri"/>
              </a:rPr>
              <a:t> </a:t>
            </a:r>
            <a:r>
              <a:rPr sz="2800" spc="-15" dirty="0">
                <a:latin typeface="Calibri"/>
                <a:cs typeface="Calibri"/>
              </a:rPr>
              <a:t>interpretation</a:t>
            </a:r>
            <a:r>
              <a:rPr sz="2800" spc="2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their</a:t>
            </a:r>
            <a:r>
              <a:rPr sz="2800" spc="5" dirty="0">
                <a:latin typeface="Calibri"/>
                <a:cs typeface="Calibri"/>
              </a:rPr>
              <a:t> </a:t>
            </a:r>
            <a:r>
              <a:rPr sz="2800" spc="-15" dirty="0">
                <a:latin typeface="Calibri"/>
                <a:cs typeface="Calibri"/>
              </a:rPr>
              <a:t>syntactic</a:t>
            </a:r>
            <a:r>
              <a:rPr sz="2800" spc="20" dirty="0">
                <a:latin typeface="Calibri"/>
                <a:cs typeface="Calibri"/>
              </a:rPr>
              <a:t> </a:t>
            </a:r>
            <a:r>
              <a:rPr sz="2800" spc="-10" dirty="0">
                <a:latin typeface="Calibri"/>
                <a:cs typeface="Calibri"/>
              </a:rPr>
              <a:t>constituent</a:t>
            </a:r>
            <a:r>
              <a:rPr sz="2800" spc="50" dirty="0">
                <a:latin typeface="Calibri"/>
                <a:cs typeface="Calibri"/>
              </a:rPr>
              <a:t> </a:t>
            </a:r>
            <a:r>
              <a:rPr sz="2800" spc="-15" dirty="0">
                <a:latin typeface="Calibri"/>
                <a:cs typeface="Calibri"/>
              </a:rPr>
              <a:t>words</a:t>
            </a:r>
            <a:r>
              <a:rPr sz="2800" spc="10" dirty="0">
                <a:latin typeface="Calibri"/>
                <a:cs typeface="Calibri"/>
              </a:rPr>
              <a:t> </a:t>
            </a:r>
            <a:r>
              <a:rPr sz="2800" spc="-5" dirty="0">
                <a:latin typeface="Calibri"/>
                <a:cs typeface="Calibri"/>
              </a:rPr>
              <a:t>or </a:t>
            </a:r>
            <a:r>
              <a:rPr sz="2800" spc="-15" dirty="0">
                <a:latin typeface="Calibri"/>
                <a:cs typeface="Calibri"/>
              </a:rPr>
              <a:t>phrases</a:t>
            </a:r>
            <a:endParaRPr sz="2800">
              <a:latin typeface="Calibri"/>
              <a:cs typeface="Calibri"/>
            </a:endParaRPr>
          </a:p>
          <a:p>
            <a:pPr marL="241300" indent="-228600">
              <a:lnSpc>
                <a:spcPct val="100000"/>
              </a:lnSpc>
              <a:spcBef>
                <a:spcPts val="620"/>
              </a:spcBef>
              <a:buFont typeface="Arial MT"/>
              <a:buChar char="•"/>
              <a:tabLst>
                <a:tab pos="241300" algn="l"/>
              </a:tabLst>
            </a:pPr>
            <a:r>
              <a:rPr sz="2800" spc="-15" dirty="0">
                <a:latin typeface="Calibri"/>
                <a:cs typeface="Calibri"/>
              </a:rPr>
              <a:t>Interpretation</a:t>
            </a:r>
            <a:r>
              <a:rPr sz="2800" spc="1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input</a:t>
            </a:r>
            <a:r>
              <a:rPr sz="2800" spc="40"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done</a:t>
            </a:r>
            <a:r>
              <a:rPr sz="2800" spc="15" dirty="0">
                <a:latin typeface="Calibri"/>
                <a:cs typeface="Calibri"/>
              </a:rPr>
              <a:t> </a:t>
            </a:r>
            <a:r>
              <a:rPr sz="2800" spc="-5" dirty="0">
                <a:latin typeface="Calibri"/>
                <a:cs typeface="Calibri"/>
              </a:rPr>
              <a:t>as</a:t>
            </a:r>
            <a:r>
              <a:rPr sz="2800" spc="20" dirty="0">
                <a:latin typeface="Calibri"/>
                <a:cs typeface="Calibri"/>
              </a:rPr>
              <a:t> </a:t>
            </a:r>
            <a:r>
              <a:rPr sz="2800" spc="-5" dirty="0">
                <a:latin typeface="Calibri"/>
                <a:cs typeface="Calibri"/>
              </a:rPr>
              <a:t>whole</a:t>
            </a:r>
            <a:endParaRPr sz="2800">
              <a:latin typeface="Calibri"/>
              <a:cs typeface="Calibri"/>
            </a:endParaRPr>
          </a:p>
          <a:p>
            <a:pPr marL="241300" marR="5080" indent="-228600">
              <a:lnSpc>
                <a:spcPts val="3030"/>
              </a:lnSpc>
              <a:spcBef>
                <a:spcPts val="1040"/>
              </a:spcBef>
              <a:buFont typeface="Arial MT"/>
              <a:buChar char="•"/>
              <a:tabLst>
                <a:tab pos="241300" algn="l"/>
              </a:tabLst>
            </a:pPr>
            <a:r>
              <a:rPr sz="2800" spc="-10" dirty="0">
                <a:latin typeface="Calibri"/>
                <a:cs typeface="Calibri"/>
              </a:rPr>
              <a:t>Obtained</a:t>
            </a:r>
            <a:r>
              <a:rPr sz="2800" spc="25" dirty="0">
                <a:latin typeface="Calibri"/>
                <a:cs typeface="Calibri"/>
              </a:rPr>
              <a:t> </a:t>
            </a:r>
            <a:r>
              <a:rPr sz="2800" spc="-15" dirty="0">
                <a:latin typeface="Calibri"/>
                <a:cs typeface="Calibri"/>
              </a:rPr>
              <a:t>by</a:t>
            </a:r>
            <a:r>
              <a:rPr sz="2800" spc="30" dirty="0">
                <a:latin typeface="Calibri"/>
                <a:cs typeface="Calibri"/>
              </a:rPr>
              <a:t> </a:t>
            </a:r>
            <a:r>
              <a:rPr sz="2800" spc="-10" dirty="0">
                <a:latin typeface="Calibri"/>
                <a:cs typeface="Calibri"/>
              </a:rPr>
              <a:t>application</a:t>
            </a:r>
            <a:r>
              <a:rPr sz="2800" spc="25" dirty="0">
                <a:latin typeface="Calibri"/>
                <a:cs typeface="Calibri"/>
              </a:rPr>
              <a:t> </a:t>
            </a:r>
            <a:r>
              <a:rPr sz="2800" spc="-5" dirty="0">
                <a:latin typeface="Calibri"/>
                <a:cs typeface="Calibri"/>
              </a:rPr>
              <a:t>of</a:t>
            </a:r>
            <a:r>
              <a:rPr sz="2800" spc="15" dirty="0">
                <a:latin typeface="Calibri"/>
                <a:cs typeface="Calibri"/>
              </a:rPr>
              <a:t> </a:t>
            </a:r>
            <a:r>
              <a:rPr sz="2800" spc="-10" dirty="0">
                <a:latin typeface="Calibri"/>
                <a:cs typeface="Calibri"/>
              </a:rPr>
              <a:t>grammar</a:t>
            </a:r>
            <a:r>
              <a:rPr sz="2800" spc="5" dirty="0">
                <a:latin typeface="Calibri"/>
                <a:cs typeface="Calibri"/>
              </a:rPr>
              <a:t> </a:t>
            </a:r>
            <a:r>
              <a:rPr sz="2800" spc="-10" dirty="0">
                <a:latin typeface="Calibri"/>
                <a:cs typeface="Calibri"/>
              </a:rPr>
              <a:t>(determines</a:t>
            </a:r>
            <a:r>
              <a:rPr sz="2800" spc="25" dirty="0">
                <a:latin typeface="Calibri"/>
                <a:cs typeface="Calibri"/>
              </a:rPr>
              <a:t> </a:t>
            </a:r>
            <a:r>
              <a:rPr sz="2800" spc="-5" dirty="0">
                <a:latin typeface="Calibri"/>
                <a:cs typeface="Calibri"/>
              </a:rPr>
              <a:t>what</a:t>
            </a:r>
            <a:r>
              <a:rPr sz="2800" dirty="0">
                <a:latin typeface="Calibri"/>
                <a:cs typeface="Calibri"/>
              </a:rPr>
              <a:t> </a:t>
            </a:r>
            <a:r>
              <a:rPr sz="2800" spc="-10" dirty="0">
                <a:latin typeface="Calibri"/>
                <a:cs typeface="Calibri"/>
              </a:rPr>
              <a:t>sentences</a:t>
            </a:r>
            <a:r>
              <a:rPr sz="2800" spc="45" dirty="0">
                <a:latin typeface="Calibri"/>
                <a:cs typeface="Calibri"/>
              </a:rPr>
              <a:t> </a:t>
            </a:r>
            <a:r>
              <a:rPr sz="2800" spc="-15" dirty="0">
                <a:latin typeface="Calibri"/>
                <a:cs typeface="Calibri"/>
              </a:rPr>
              <a:t>are </a:t>
            </a:r>
            <a:r>
              <a:rPr sz="2800" spc="-620" dirty="0">
                <a:latin typeface="Calibri"/>
                <a:cs typeface="Calibri"/>
              </a:rPr>
              <a:t> </a:t>
            </a:r>
            <a:r>
              <a:rPr sz="2800" spc="-15" dirty="0">
                <a:latin typeface="Calibri"/>
                <a:cs typeface="Calibri"/>
              </a:rPr>
              <a:t>legal</a:t>
            </a:r>
            <a:r>
              <a:rPr sz="2800" spc="-25" dirty="0">
                <a:latin typeface="Calibri"/>
                <a:cs typeface="Calibri"/>
              </a:rPr>
              <a:t> </a:t>
            </a:r>
            <a:r>
              <a:rPr sz="2800" spc="-5" dirty="0">
                <a:latin typeface="Calibri"/>
                <a:cs typeface="Calibri"/>
              </a:rPr>
              <a:t>in</a:t>
            </a:r>
            <a:r>
              <a:rPr sz="2800" spc="20" dirty="0">
                <a:latin typeface="Calibri"/>
                <a:cs typeface="Calibri"/>
              </a:rPr>
              <a:t> </a:t>
            </a:r>
            <a:r>
              <a:rPr sz="2800" spc="-5" dirty="0">
                <a:latin typeface="Calibri"/>
                <a:cs typeface="Calibri"/>
              </a:rPr>
              <a:t>the</a:t>
            </a:r>
            <a:r>
              <a:rPr sz="2800" dirty="0">
                <a:latin typeface="Calibri"/>
                <a:cs typeface="Calibri"/>
              </a:rPr>
              <a:t> </a:t>
            </a:r>
            <a:r>
              <a:rPr sz="2800" spc="-5" dirty="0">
                <a:latin typeface="Calibri"/>
                <a:cs typeface="Calibri"/>
              </a:rPr>
              <a:t>language</a:t>
            </a:r>
            <a:r>
              <a:rPr sz="2800" spc="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being</a:t>
            </a:r>
            <a:r>
              <a:rPr sz="2800" spc="10" dirty="0">
                <a:latin typeface="Calibri"/>
                <a:cs typeface="Calibri"/>
              </a:rPr>
              <a:t> </a:t>
            </a:r>
            <a:r>
              <a:rPr sz="2800" spc="-15" dirty="0">
                <a:latin typeface="Calibri"/>
                <a:cs typeface="Calibri"/>
              </a:rPr>
              <a:t>parsed)</a:t>
            </a:r>
            <a:endParaRPr sz="280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It</a:t>
            </a:r>
            <a:r>
              <a:rPr sz="2800" spc="5" dirty="0">
                <a:latin typeface="Calibri"/>
                <a:cs typeface="Calibri"/>
              </a:rPr>
              <a:t> </a:t>
            </a:r>
            <a:r>
              <a:rPr sz="2800" spc="-20" dirty="0">
                <a:latin typeface="Calibri"/>
                <a:cs typeface="Calibri"/>
              </a:rPr>
              <a:t>involves</a:t>
            </a:r>
            <a:r>
              <a:rPr sz="2800" spc="20" dirty="0">
                <a:latin typeface="Calibri"/>
                <a:cs typeface="Calibri"/>
              </a:rPr>
              <a:t> </a:t>
            </a:r>
            <a:r>
              <a:rPr sz="2800" spc="-10" dirty="0">
                <a:latin typeface="Calibri"/>
                <a:cs typeface="Calibri"/>
              </a:rPr>
              <a:t>processing</a:t>
            </a:r>
            <a:r>
              <a:rPr sz="2800" spc="4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speech,</a:t>
            </a:r>
            <a:r>
              <a:rPr sz="2800" spc="20" dirty="0">
                <a:latin typeface="Calibri"/>
                <a:cs typeface="Calibri"/>
              </a:rPr>
              <a:t> </a:t>
            </a:r>
            <a:r>
              <a:rPr sz="2800" spc="-10" dirty="0">
                <a:latin typeface="Calibri"/>
                <a:cs typeface="Calibri"/>
              </a:rPr>
              <a:t>grammar</a:t>
            </a:r>
            <a:r>
              <a:rPr sz="2800" dirty="0">
                <a:latin typeface="Calibri"/>
                <a:cs typeface="Calibri"/>
              </a:rPr>
              <a:t> </a:t>
            </a:r>
            <a:r>
              <a:rPr sz="2800" spc="-5" dirty="0">
                <a:latin typeface="Calibri"/>
                <a:cs typeface="Calibri"/>
              </a:rPr>
              <a:t>and</a:t>
            </a:r>
            <a:r>
              <a:rPr sz="2800" spc="5" dirty="0">
                <a:latin typeface="Calibri"/>
                <a:cs typeface="Calibri"/>
              </a:rPr>
              <a:t> </a:t>
            </a:r>
            <a:r>
              <a:rPr sz="2800" spc="-5" dirty="0">
                <a:latin typeface="Calibri"/>
                <a:cs typeface="Calibri"/>
              </a:rPr>
              <a:t>meaning</a:t>
            </a:r>
            <a:endParaRPr sz="28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913504" cy="697230"/>
          </a:xfrm>
          <a:prstGeom prst="rect">
            <a:avLst/>
          </a:prstGeom>
        </p:spPr>
        <p:txBody>
          <a:bodyPr vert="horz" wrap="square" lIns="0" tIns="13335" rIns="0" bIns="0" rtlCol="0">
            <a:spAutoFit/>
          </a:bodyPr>
          <a:lstStyle/>
          <a:p>
            <a:pPr marL="12700">
              <a:lnSpc>
                <a:spcPct val="100000"/>
              </a:lnSpc>
              <a:spcBef>
                <a:spcPts val="105"/>
              </a:spcBef>
            </a:pPr>
            <a:r>
              <a:rPr sz="4400" spc="-5" dirty="0"/>
              <a:t>NLP:</a:t>
            </a:r>
            <a:r>
              <a:rPr sz="4400" spc="-55" dirty="0"/>
              <a:t> </a:t>
            </a:r>
            <a:r>
              <a:rPr sz="4400" spc="-10" dirty="0"/>
              <a:t>Applications</a:t>
            </a:r>
            <a:endParaRPr sz="4400"/>
          </a:p>
        </p:txBody>
      </p:sp>
      <p:sp>
        <p:nvSpPr>
          <p:cNvPr id="3" name="object 3"/>
          <p:cNvSpPr txBox="1"/>
          <p:nvPr/>
        </p:nvSpPr>
        <p:spPr>
          <a:xfrm>
            <a:off x="916939" y="1706841"/>
            <a:ext cx="7320280" cy="2584450"/>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25" dirty="0">
                <a:latin typeface="Calibri"/>
                <a:cs typeface="Calibri"/>
              </a:rPr>
              <a:t>To</a:t>
            </a:r>
            <a:r>
              <a:rPr sz="2800" spc="-25" dirty="0">
                <a:latin typeface="Calibri"/>
                <a:cs typeface="Calibri"/>
              </a:rPr>
              <a:t> </a:t>
            </a:r>
            <a:r>
              <a:rPr sz="2800" spc="-15" dirty="0">
                <a:latin typeface="Calibri"/>
                <a:cs typeface="Calibri"/>
              </a:rPr>
              <a:t>interface</a:t>
            </a:r>
            <a:r>
              <a:rPr sz="2800" spc="-20" dirty="0">
                <a:latin typeface="Calibri"/>
                <a:cs typeface="Calibri"/>
              </a:rPr>
              <a:t> </a:t>
            </a:r>
            <a:r>
              <a:rPr sz="2800" spc="-10" dirty="0">
                <a:latin typeface="Calibri"/>
                <a:cs typeface="Calibri"/>
              </a:rPr>
              <a:t>database</a:t>
            </a:r>
            <a:endParaRPr sz="280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Classifying</a:t>
            </a:r>
            <a:r>
              <a:rPr sz="2800" spc="15" dirty="0">
                <a:latin typeface="Calibri"/>
                <a:cs typeface="Calibri"/>
              </a:rPr>
              <a:t> </a:t>
            </a:r>
            <a:r>
              <a:rPr sz="2800" spc="-5" dirty="0">
                <a:latin typeface="Calibri"/>
                <a:cs typeface="Calibri"/>
              </a:rPr>
              <a:t>and</a:t>
            </a:r>
            <a:r>
              <a:rPr sz="2800" spc="10" dirty="0">
                <a:latin typeface="Calibri"/>
                <a:cs typeface="Calibri"/>
              </a:rPr>
              <a:t> </a:t>
            </a:r>
            <a:r>
              <a:rPr sz="2800" spc="-10" dirty="0">
                <a:latin typeface="Calibri"/>
                <a:cs typeface="Calibri"/>
              </a:rPr>
              <a:t>retrieving</a:t>
            </a:r>
            <a:r>
              <a:rPr sz="2800" spc="-5" dirty="0">
                <a:latin typeface="Calibri"/>
                <a:cs typeface="Calibri"/>
              </a:rPr>
              <a:t> </a:t>
            </a:r>
            <a:r>
              <a:rPr sz="2800" spc="-10" dirty="0">
                <a:latin typeface="Calibri"/>
                <a:cs typeface="Calibri"/>
              </a:rPr>
              <a:t>documents</a:t>
            </a:r>
            <a:r>
              <a:rPr sz="2800" spc="50" dirty="0">
                <a:latin typeface="Calibri"/>
                <a:cs typeface="Calibri"/>
              </a:rPr>
              <a:t> </a:t>
            </a:r>
            <a:r>
              <a:rPr sz="2800" spc="-15" dirty="0">
                <a:latin typeface="Calibri"/>
                <a:cs typeface="Calibri"/>
              </a:rPr>
              <a:t>by</a:t>
            </a:r>
            <a:r>
              <a:rPr sz="2800" spc="5" dirty="0">
                <a:latin typeface="Calibri"/>
                <a:cs typeface="Calibri"/>
              </a:rPr>
              <a:t> </a:t>
            </a:r>
            <a:r>
              <a:rPr sz="2800" spc="-15" dirty="0">
                <a:latin typeface="Calibri"/>
                <a:cs typeface="Calibri"/>
              </a:rPr>
              <a:t>contents</a:t>
            </a:r>
            <a:endParaRPr sz="280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Explanation</a:t>
            </a:r>
            <a:r>
              <a:rPr sz="2800" spc="30" dirty="0">
                <a:latin typeface="Calibri"/>
                <a:cs typeface="Calibri"/>
              </a:rPr>
              <a:t> </a:t>
            </a:r>
            <a:r>
              <a:rPr sz="2800" spc="-15" dirty="0">
                <a:latin typeface="Calibri"/>
                <a:cs typeface="Calibri"/>
              </a:rPr>
              <a:t>generation</a:t>
            </a:r>
            <a:r>
              <a:rPr sz="2800" dirty="0">
                <a:latin typeface="Calibri"/>
                <a:cs typeface="Calibri"/>
              </a:rPr>
              <a:t> </a:t>
            </a:r>
            <a:r>
              <a:rPr sz="2800" spc="-25" dirty="0">
                <a:latin typeface="Calibri"/>
                <a:cs typeface="Calibri"/>
              </a:rPr>
              <a:t>for</a:t>
            </a:r>
            <a:r>
              <a:rPr sz="2800" spc="10" dirty="0">
                <a:latin typeface="Calibri"/>
                <a:cs typeface="Calibri"/>
              </a:rPr>
              <a:t> </a:t>
            </a:r>
            <a:r>
              <a:rPr sz="2800" spc="-15" dirty="0">
                <a:latin typeface="Calibri"/>
                <a:cs typeface="Calibri"/>
              </a:rPr>
              <a:t>expert</a:t>
            </a:r>
            <a:r>
              <a:rPr sz="2800" spc="20" dirty="0">
                <a:latin typeface="Calibri"/>
                <a:cs typeface="Calibri"/>
              </a:rPr>
              <a:t> </a:t>
            </a:r>
            <a:r>
              <a:rPr sz="2800" spc="-30" dirty="0">
                <a:latin typeface="Calibri"/>
                <a:cs typeface="Calibri"/>
              </a:rPr>
              <a:t>system</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Machine</a:t>
            </a:r>
            <a:r>
              <a:rPr sz="2800" spc="-15" dirty="0">
                <a:latin typeface="Calibri"/>
                <a:cs typeface="Calibri"/>
              </a:rPr>
              <a:t> </a:t>
            </a:r>
            <a:r>
              <a:rPr sz="2800" spc="-10" dirty="0">
                <a:latin typeface="Calibri"/>
                <a:cs typeface="Calibri"/>
              </a:rPr>
              <a:t>translation</a:t>
            </a:r>
            <a:endParaRPr sz="2800">
              <a:latin typeface="Calibri"/>
              <a:cs typeface="Calibri"/>
            </a:endParaRPr>
          </a:p>
          <a:p>
            <a:pPr marL="241300" indent="-228600">
              <a:lnSpc>
                <a:spcPct val="100000"/>
              </a:lnSpc>
              <a:spcBef>
                <a:spcPts val="670"/>
              </a:spcBef>
              <a:buFont typeface="Arial MT"/>
              <a:buChar char="•"/>
              <a:tabLst>
                <a:tab pos="241300" algn="l"/>
              </a:tabLst>
            </a:pPr>
            <a:r>
              <a:rPr sz="2800" spc="-10" dirty="0">
                <a:latin typeface="Calibri"/>
                <a:cs typeface="Calibri"/>
              </a:rPr>
              <a:t>Advanced</a:t>
            </a:r>
            <a:r>
              <a:rPr sz="2800" spc="20" dirty="0">
                <a:latin typeface="Calibri"/>
                <a:cs typeface="Calibri"/>
              </a:rPr>
              <a:t> </a:t>
            </a:r>
            <a:r>
              <a:rPr sz="2800" spc="-20" dirty="0">
                <a:latin typeface="Calibri"/>
                <a:cs typeface="Calibri"/>
              </a:rPr>
              <a:t>word</a:t>
            </a:r>
            <a:r>
              <a:rPr sz="2800" spc="10" dirty="0">
                <a:latin typeface="Calibri"/>
                <a:cs typeface="Calibri"/>
              </a:rPr>
              <a:t> </a:t>
            </a:r>
            <a:r>
              <a:rPr sz="2800" spc="-10" dirty="0">
                <a:latin typeface="Calibri"/>
                <a:cs typeface="Calibri"/>
              </a:rPr>
              <a:t>processing</a:t>
            </a:r>
            <a:r>
              <a:rPr sz="2800" spc="25" dirty="0">
                <a:latin typeface="Calibri"/>
                <a:cs typeface="Calibri"/>
              </a:rPr>
              <a:t> </a:t>
            </a:r>
            <a:r>
              <a:rPr sz="2800" spc="-10" dirty="0">
                <a:latin typeface="Calibri"/>
                <a:cs typeface="Calibri"/>
              </a:rPr>
              <a:t>tools</a:t>
            </a:r>
            <a:endParaRPr sz="28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074661" cy="690574"/>
          </a:xfrm>
          <a:prstGeom prst="rect">
            <a:avLst/>
          </a:prstGeom>
        </p:spPr>
        <p:txBody>
          <a:bodyPr vert="horz" wrap="square" lIns="0" tIns="13335" rIns="0" bIns="0" rtlCol="0">
            <a:spAutoFit/>
          </a:bodyPr>
          <a:lstStyle/>
          <a:p>
            <a:pPr marL="12700">
              <a:lnSpc>
                <a:spcPct val="100000"/>
              </a:lnSpc>
              <a:spcBef>
                <a:spcPts val="105"/>
              </a:spcBef>
            </a:pPr>
            <a:r>
              <a:rPr sz="4400" b="1" dirty="0"/>
              <a:t>Machine</a:t>
            </a:r>
            <a:r>
              <a:rPr sz="4400" b="1" spc="-55" dirty="0"/>
              <a:t> </a:t>
            </a:r>
            <a:r>
              <a:rPr lang="en-US" sz="4400" b="1" spc="-5" dirty="0"/>
              <a:t>/Computer Vision</a:t>
            </a:r>
            <a:endParaRPr sz="4400" b="1" dirty="0"/>
          </a:p>
        </p:txBody>
      </p:sp>
      <p:sp>
        <p:nvSpPr>
          <p:cNvPr id="5" name="TextBox 4">
            <a:extLst>
              <a:ext uri="{FF2B5EF4-FFF2-40B4-BE49-F238E27FC236}">
                <a16:creationId xmlns:a16="http://schemas.microsoft.com/office/drawing/2014/main" id="{ED76745E-E460-4076-A06D-C70454BAE5ED}"/>
              </a:ext>
            </a:extLst>
          </p:cNvPr>
          <p:cNvSpPr txBox="1"/>
          <p:nvPr/>
        </p:nvSpPr>
        <p:spPr>
          <a:xfrm>
            <a:off x="916939" y="1300250"/>
            <a:ext cx="10950208" cy="5632311"/>
          </a:xfrm>
          <a:prstGeom prst="rect">
            <a:avLst/>
          </a:prstGeom>
          <a:noFill/>
        </p:spPr>
        <p:txBody>
          <a:bodyPr wrap="square">
            <a:spAutoFit/>
          </a:bodyPr>
          <a:lstStyle/>
          <a:p>
            <a:pPr marL="342900" indent="-342900">
              <a:buFont typeface="Arial" panose="020B0604020202020204" pitchFamily="34" charset="0"/>
              <a:buChar char="•"/>
            </a:pPr>
            <a:r>
              <a:rPr lang="en-US" sz="2400" dirty="0"/>
              <a:t>Computer vision is concerned with modeling and replicating human vision using computer software and hardware. </a:t>
            </a:r>
          </a:p>
          <a:p>
            <a:pPr marL="342900" indent="-342900">
              <a:buFont typeface="Arial" panose="020B0604020202020204" pitchFamily="34" charset="0"/>
              <a:buChar char="•"/>
            </a:pPr>
            <a:r>
              <a:rPr lang="en-US" sz="2400" dirty="0"/>
              <a:t>Formally if we define computer vision then its definition would be that computer vision is a discipline that studies how to reconstruct, interrupt and understand a 3d scene from its 2d images in terms of the properties of the structure present in scene.</a:t>
            </a:r>
          </a:p>
          <a:p>
            <a:pPr marL="342900" indent="-342900">
              <a:buFont typeface="Arial" panose="020B0604020202020204" pitchFamily="34" charset="0"/>
              <a:buChar char="•"/>
            </a:pPr>
            <a:r>
              <a:rPr lang="en-US" sz="2400" dirty="0"/>
              <a:t>It needs knowledge from the following fields in order to understand and stimulate the operation of human vision system.</a:t>
            </a:r>
          </a:p>
          <a:p>
            <a:pPr marL="342900" indent="-342900">
              <a:buFont typeface="Arial" panose="020B0604020202020204" pitchFamily="34" charset="0"/>
              <a:buChar char="•"/>
            </a:pPr>
            <a:endParaRPr lang="en-US" sz="2400" dirty="0"/>
          </a:p>
          <a:p>
            <a:pPr>
              <a:buFont typeface="Arial" panose="020B0604020202020204" pitchFamily="34" charset="0"/>
              <a:buChar char="•"/>
            </a:pPr>
            <a:r>
              <a:rPr lang="en-US" sz="2400" dirty="0"/>
              <a:t>Computer Science</a:t>
            </a:r>
          </a:p>
          <a:p>
            <a:pPr>
              <a:buFont typeface="Arial" panose="020B0604020202020204" pitchFamily="34" charset="0"/>
              <a:buChar char="•"/>
            </a:pPr>
            <a:r>
              <a:rPr lang="en-US" sz="2400" dirty="0"/>
              <a:t>Electrical Engineering</a:t>
            </a:r>
          </a:p>
          <a:p>
            <a:pPr>
              <a:buFont typeface="Arial" panose="020B0604020202020204" pitchFamily="34" charset="0"/>
              <a:buChar char="•"/>
            </a:pPr>
            <a:r>
              <a:rPr lang="en-US" sz="2400" dirty="0"/>
              <a:t>Mathematics</a:t>
            </a:r>
          </a:p>
          <a:p>
            <a:pPr>
              <a:buFont typeface="Arial" panose="020B0604020202020204" pitchFamily="34" charset="0"/>
              <a:buChar char="•"/>
            </a:pPr>
            <a:r>
              <a:rPr lang="en-US" sz="2400" dirty="0"/>
              <a:t>Physiology</a:t>
            </a:r>
          </a:p>
          <a:p>
            <a:pPr>
              <a:buFont typeface="Arial" panose="020B0604020202020204" pitchFamily="34" charset="0"/>
              <a:buChar char="•"/>
            </a:pPr>
            <a:r>
              <a:rPr lang="en-US" sz="2400" dirty="0"/>
              <a:t>Biology</a:t>
            </a:r>
          </a:p>
          <a:p>
            <a:pPr>
              <a:buFont typeface="Arial" panose="020B0604020202020204" pitchFamily="34" charset="0"/>
              <a:buChar char="•"/>
            </a:pPr>
            <a:r>
              <a:rPr lang="en-US" sz="2400" dirty="0"/>
              <a:t>Cognitive Science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16FD7D-41F8-4573-B4AA-8481CE258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1"/>
            <a:ext cx="9601200" cy="5638800"/>
          </a:xfrm>
          <a:prstGeom prst="rect">
            <a:avLst/>
          </a:prstGeom>
        </p:spPr>
      </p:pic>
    </p:spTree>
    <p:extLst>
      <p:ext uri="{BB962C8B-B14F-4D97-AF65-F5344CB8AC3E}">
        <p14:creationId xmlns:p14="http://schemas.microsoft.com/office/powerpoint/2010/main" val="3215368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98B285-21B4-4CD5-A621-035D7B4EDCEE}"/>
              </a:ext>
            </a:extLst>
          </p:cNvPr>
          <p:cNvSpPr txBox="1"/>
          <p:nvPr/>
        </p:nvSpPr>
        <p:spPr>
          <a:xfrm>
            <a:off x="533400" y="152400"/>
            <a:ext cx="10896600" cy="2246769"/>
          </a:xfrm>
          <a:prstGeom prst="rect">
            <a:avLst/>
          </a:prstGeom>
          <a:noFill/>
        </p:spPr>
        <p:txBody>
          <a:bodyPr wrap="square">
            <a:spAutoFit/>
          </a:bodyPr>
          <a:lstStyle/>
          <a:p>
            <a:r>
              <a:rPr lang="en-US" sz="2000" b="1" dirty="0"/>
              <a:t>Related Fields</a:t>
            </a:r>
          </a:p>
          <a:p>
            <a:endParaRPr lang="en-US" sz="2000" b="1" dirty="0"/>
          </a:p>
          <a:p>
            <a:r>
              <a:rPr lang="en-US" sz="2000" dirty="0"/>
              <a:t>Computer Vision overlaps significantly with the following fields:</a:t>
            </a:r>
          </a:p>
          <a:p>
            <a:endParaRPr lang="en-US" sz="2000" dirty="0"/>
          </a:p>
          <a:p>
            <a:r>
              <a:rPr lang="en-US" sz="2000" b="1" dirty="0"/>
              <a:t>Image Processing: </a:t>
            </a:r>
            <a:r>
              <a:rPr lang="en-US" sz="2000" dirty="0"/>
              <a:t>it focuses on image manipulation.</a:t>
            </a:r>
          </a:p>
          <a:p>
            <a:r>
              <a:rPr lang="en-US" sz="2000" b="1" dirty="0"/>
              <a:t>Pattern Recognition:</a:t>
            </a:r>
            <a:r>
              <a:rPr lang="en-US" sz="2000" dirty="0"/>
              <a:t> it studies various techniques to classify patterns.</a:t>
            </a:r>
          </a:p>
          <a:p>
            <a:r>
              <a:rPr lang="en-US" sz="2000" b="1" dirty="0"/>
              <a:t>Photogrammetry: </a:t>
            </a:r>
            <a:r>
              <a:rPr lang="en-US" sz="2000" dirty="0"/>
              <a:t>it is concerned with obtaining accurate measurements from images.</a:t>
            </a:r>
          </a:p>
        </p:txBody>
      </p:sp>
      <p:sp>
        <p:nvSpPr>
          <p:cNvPr id="9" name="TextBox 8">
            <a:extLst>
              <a:ext uri="{FF2B5EF4-FFF2-40B4-BE49-F238E27FC236}">
                <a16:creationId xmlns:a16="http://schemas.microsoft.com/office/drawing/2014/main" id="{70C64FE6-2C5B-4658-9A30-C3358A9FEAB9}"/>
              </a:ext>
            </a:extLst>
          </p:cNvPr>
          <p:cNvSpPr txBox="1"/>
          <p:nvPr/>
        </p:nvSpPr>
        <p:spPr>
          <a:xfrm>
            <a:off x="533400" y="2667000"/>
            <a:ext cx="9829800" cy="3785652"/>
          </a:xfrm>
          <a:prstGeom prst="rect">
            <a:avLst/>
          </a:prstGeom>
          <a:noFill/>
        </p:spPr>
        <p:txBody>
          <a:bodyPr wrap="square">
            <a:spAutoFit/>
          </a:bodyPr>
          <a:lstStyle/>
          <a:p>
            <a:r>
              <a:rPr lang="en-US" sz="2000" b="1" dirty="0"/>
              <a:t>Example Applications</a:t>
            </a:r>
          </a:p>
          <a:p>
            <a:endParaRPr lang="en-US" sz="2000" b="1" dirty="0"/>
          </a:p>
          <a:p>
            <a:pPr>
              <a:buFont typeface="Arial" panose="020B0604020202020204" pitchFamily="34" charset="0"/>
              <a:buChar char="•"/>
            </a:pPr>
            <a:r>
              <a:rPr lang="en-US" sz="2000" b="1" dirty="0"/>
              <a:t>Robotics</a:t>
            </a:r>
            <a:r>
              <a:rPr lang="en-US" sz="2000" dirty="0"/>
              <a:t>(Navigation, Obstacle Avoidance, Human Robot Interaction)</a:t>
            </a:r>
          </a:p>
          <a:p>
            <a:pPr>
              <a:buFont typeface="Arial" panose="020B0604020202020204" pitchFamily="34" charset="0"/>
              <a:buChar char="•"/>
            </a:pPr>
            <a:endParaRPr lang="en-US" sz="2000" dirty="0"/>
          </a:p>
          <a:p>
            <a:pPr>
              <a:buFont typeface="Arial" panose="020B0604020202020204" pitchFamily="34" charset="0"/>
              <a:buChar char="•"/>
            </a:pPr>
            <a:r>
              <a:rPr lang="en-US" sz="2000" b="1" dirty="0"/>
              <a:t>Medicine</a:t>
            </a:r>
            <a:r>
              <a:rPr lang="en-US" sz="2000" dirty="0"/>
              <a:t>(Classification and Detection, MRI or Ultrasound etc. )</a:t>
            </a:r>
          </a:p>
          <a:p>
            <a:pPr>
              <a:buFont typeface="Arial" panose="020B0604020202020204" pitchFamily="34" charset="0"/>
              <a:buChar char="•"/>
            </a:pPr>
            <a:endParaRPr lang="en-US" sz="2000" dirty="0"/>
          </a:p>
          <a:p>
            <a:pPr>
              <a:buFont typeface="Arial" panose="020B0604020202020204" pitchFamily="34" charset="0"/>
              <a:buChar char="•"/>
            </a:pPr>
            <a:r>
              <a:rPr lang="en-US" sz="2000" b="1" dirty="0"/>
              <a:t>Security</a:t>
            </a:r>
            <a:r>
              <a:rPr lang="en-US" sz="2000" dirty="0"/>
              <a:t>(Biometric, Surveillance detection, etc.)</a:t>
            </a:r>
          </a:p>
          <a:p>
            <a:pPr>
              <a:buFont typeface="Arial" panose="020B0604020202020204" pitchFamily="34" charset="0"/>
              <a:buChar char="•"/>
            </a:pPr>
            <a:endParaRPr lang="en-US" sz="2000" dirty="0"/>
          </a:p>
          <a:p>
            <a:pPr>
              <a:buFont typeface="Arial" panose="020B0604020202020204" pitchFamily="34" charset="0"/>
              <a:buChar char="•"/>
            </a:pPr>
            <a:r>
              <a:rPr lang="en-US" sz="2000" b="1" dirty="0"/>
              <a:t>Transportation</a:t>
            </a:r>
            <a:r>
              <a:rPr lang="en-US" sz="2000" dirty="0"/>
              <a:t>(Autonomous Vehicle, Driver vigilance monitoring etc.)</a:t>
            </a:r>
          </a:p>
          <a:p>
            <a:pPr>
              <a:buFont typeface="Arial" panose="020B0604020202020204" pitchFamily="34" charset="0"/>
              <a:buChar char="•"/>
            </a:pPr>
            <a:endParaRPr lang="en-US" sz="2000" dirty="0"/>
          </a:p>
          <a:p>
            <a:pPr>
              <a:buFont typeface="Arial" panose="020B0604020202020204" pitchFamily="34" charset="0"/>
              <a:buChar char="•"/>
            </a:pPr>
            <a:r>
              <a:rPr lang="en-US" sz="2000" b="1" dirty="0"/>
              <a:t>Industrial Automation</a:t>
            </a:r>
            <a:r>
              <a:rPr lang="en-US" sz="2000" dirty="0"/>
              <a:t>(Defect detection, Barcode and package label reading, Document understanding(e.g. OCR), Object sorting etc.)</a:t>
            </a:r>
          </a:p>
        </p:txBody>
      </p:sp>
    </p:spTree>
    <p:extLst>
      <p:ext uri="{BB962C8B-B14F-4D97-AF65-F5344CB8AC3E}">
        <p14:creationId xmlns:p14="http://schemas.microsoft.com/office/powerpoint/2010/main" val="875495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554345" cy="697230"/>
          </a:xfrm>
          <a:prstGeom prst="rect">
            <a:avLst/>
          </a:prstGeom>
        </p:spPr>
        <p:txBody>
          <a:bodyPr vert="horz" wrap="square" lIns="0" tIns="13335" rIns="0" bIns="0" rtlCol="0">
            <a:spAutoFit/>
          </a:bodyPr>
          <a:lstStyle/>
          <a:p>
            <a:pPr marL="12700">
              <a:lnSpc>
                <a:spcPct val="100000"/>
              </a:lnSpc>
              <a:spcBef>
                <a:spcPts val="105"/>
              </a:spcBef>
            </a:pPr>
            <a:r>
              <a:rPr sz="4400" spc="-5" dirty="0"/>
              <a:t>Artificial</a:t>
            </a:r>
            <a:r>
              <a:rPr sz="4400" spc="-30" dirty="0"/>
              <a:t> </a:t>
            </a:r>
            <a:r>
              <a:rPr sz="4400" spc="-15" dirty="0"/>
              <a:t>Neural Network</a:t>
            </a:r>
            <a:endParaRPr sz="4400"/>
          </a:p>
        </p:txBody>
      </p:sp>
      <p:sp>
        <p:nvSpPr>
          <p:cNvPr id="3" name="object 3"/>
          <p:cNvSpPr txBox="1"/>
          <p:nvPr/>
        </p:nvSpPr>
        <p:spPr>
          <a:xfrm>
            <a:off x="916939" y="1793189"/>
            <a:ext cx="10154920" cy="4249752"/>
          </a:xfrm>
          <a:prstGeom prst="rect">
            <a:avLst/>
          </a:prstGeom>
        </p:spPr>
        <p:txBody>
          <a:bodyPr vert="horz" wrap="square" lIns="0" tIns="55244" rIns="0" bIns="0" rtlCol="0">
            <a:spAutoFit/>
          </a:bodyPr>
          <a:lstStyle/>
          <a:p>
            <a:pPr marL="241300" marR="19685" indent="-228600">
              <a:lnSpc>
                <a:spcPct val="90000"/>
              </a:lnSpc>
              <a:spcBef>
                <a:spcPts val="434"/>
              </a:spcBef>
              <a:buFont typeface="Arial MT"/>
              <a:buChar char="•"/>
              <a:tabLst>
                <a:tab pos="241300" algn="l"/>
              </a:tabLst>
            </a:pPr>
            <a:r>
              <a:rPr lang="en-US" sz="2400" dirty="0"/>
              <a:t>Neural networks, also known as artificial neural networks (ANNs) or simulated neural networks (SNNs), are a subset of </a:t>
            </a:r>
            <a:r>
              <a:rPr lang="en-US" sz="2400" dirty="0">
                <a:hlinkClick r:id="rId2"/>
              </a:rPr>
              <a:t>machine learning</a:t>
            </a:r>
            <a:r>
              <a:rPr lang="en-US" sz="2400" dirty="0"/>
              <a:t> and are at the heart of </a:t>
            </a:r>
            <a:r>
              <a:rPr lang="en-US" sz="2400" dirty="0">
                <a:hlinkClick r:id="rId3"/>
              </a:rPr>
              <a:t>deep learning</a:t>
            </a:r>
            <a:r>
              <a:rPr lang="en-US" sz="2400" dirty="0"/>
              <a:t> algorithms. </a:t>
            </a:r>
          </a:p>
          <a:p>
            <a:pPr marL="241300" marR="19685" indent="-228600">
              <a:lnSpc>
                <a:spcPct val="90000"/>
              </a:lnSpc>
              <a:spcBef>
                <a:spcPts val="434"/>
              </a:spcBef>
              <a:buFont typeface="Arial MT"/>
              <a:buChar char="•"/>
              <a:tabLst>
                <a:tab pos="241300" algn="l"/>
              </a:tabLst>
            </a:pPr>
            <a:r>
              <a:rPr lang="en-US" sz="2400" dirty="0"/>
              <a:t>Their name and structure are inspired by the human brain, mimicking the way that biological neurons signal to one another.</a:t>
            </a:r>
          </a:p>
          <a:p>
            <a:pPr marL="241300" marR="19685" indent="-228600">
              <a:lnSpc>
                <a:spcPct val="90000"/>
              </a:lnSpc>
              <a:spcBef>
                <a:spcPts val="434"/>
              </a:spcBef>
              <a:buFont typeface="Arial MT"/>
              <a:buChar char="•"/>
              <a:tabLst>
                <a:tab pos="241300" algn="l"/>
              </a:tabLst>
            </a:pPr>
            <a:r>
              <a:rPr lang="en-US" sz="2400" dirty="0"/>
              <a:t>Artificial neural networks (ANNs) are comprised of a node layers, containing an input layer, one or more hidden layers, and an output layer. </a:t>
            </a:r>
          </a:p>
          <a:p>
            <a:pPr marL="241300" marR="19685" indent="-228600">
              <a:lnSpc>
                <a:spcPct val="90000"/>
              </a:lnSpc>
              <a:spcBef>
                <a:spcPts val="434"/>
              </a:spcBef>
              <a:buFont typeface="Arial MT"/>
              <a:buChar char="•"/>
              <a:tabLst>
                <a:tab pos="241300" algn="l"/>
              </a:tabLst>
            </a:pPr>
            <a:r>
              <a:rPr lang="en-US" sz="2400" dirty="0"/>
              <a:t>Each node, or artificial neuron, connects to another and has an associated weight and threshold. </a:t>
            </a:r>
          </a:p>
          <a:p>
            <a:pPr marL="241300" marR="19685" indent="-228600">
              <a:lnSpc>
                <a:spcPct val="90000"/>
              </a:lnSpc>
              <a:spcBef>
                <a:spcPts val="434"/>
              </a:spcBef>
              <a:buFont typeface="Arial MT"/>
              <a:buChar char="•"/>
              <a:tabLst>
                <a:tab pos="241300" algn="l"/>
              </a:tabLst>
            </a:pPr>
            <a:r>
              <a:rPr lang="en-US" sz="2400" dirty="0"/>
              <a:t>If the output of any individual node is above the specified threshold value, that node is activated, sending data to the next layer of the network. Otherwise, no data is passed along to the next layer of the network.</a:t>
            </a:r>
            <a:endParaRPr sz="2400" dirty="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609600" y="1752600"/>
            <a:ext cx="10361295" cy="3010440"/>
          </a:xfrm>
          <a:prstGeom prst="rect">
            <a:avLst/>
          </a:prstGeom>
        </p:spPr>
        <p:txBody>
          <a:bodyPr vert="horz" wrap="square" lIns="0" tIns="60325" rIns="0" bIns="0" rtlCol="0">
            <a:spAutoFit/>
          </a:bodyPr>
          <a:lstStyle/>
          <a:p>
            <a:pPr marL="241300" marR="537845" indent="-228600">
              <a:lnSpc>
                <a:spcPts val="3020"/>
              </a:lnSpc>
              <a:spcBef>
                <a:spcPts val="1005"/>
              </a:spcBef>
              <a:buFont typeface="Arial MT"/>
              <a:buChar char="•"/>
              <a:tabLst>
                <a:tab pos="241300" algn="l"/>
              </a:tabLst>
            </a:pPr>
            <a:r>
              <a:rPr sz="2800" spc="-5" dirty="0">
                <a:latin typeface="Calibri"/>
                <a:cs typeface="Calibri"/>
              </a:rPr>
              <a:t>The </a:t>
            </a:r>
            <a:r>
              <a:rPr sz="2800" spc="-15" dirty="0">
                <a:latin typeface="Calibri"/>
                <a:cs typeface="Calibri"/>
              </a:rPr>
              <a:t>brain</a:t>
            </a:r>
            <a:r>
              <a:rPr sz="2800" spc="30" dirty="0">
                <a:latin typeface="Calibri"/>
                <a:cs typeface="Calibri"/>
              </a:rPr>
              <a:t> </a:t>
            </a:r>
            <a:r>
              <a:rPr sz="2800" spc="-15" dirty="0">
                <a:latin typeface="Calibri"/>
                <a:cs typeface="Calibri"/>
              </a:rPr>
              <a:t>consists</a:t>
            </a:r>
            <a:r>
              <a:rPr sz="2800" spc="6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a </a:t>
            </a:r>
            <a:r>
              <a:rPr sz="2800" spc="-10" dirty="0">
                <a:latin typeface="Calibri"/>
                <a:cs typeface="Calibri"/>
              </a:rPr>
              <a:t>densely</a:t>
            </a:r>
            <a:r>
              <a:rPr sz="2800" spc="35" dirty="0">
                <a:latin typeface="Calibri"/>
                <a:cs typeface="Calibri"/>
              </a:rPr>
              <a:t> </a:t>
            </a:r>
            <a:r>
              <a:rPr sz="2800" spc="-15" dirty="0">
                <a:latin typeface="Calibri"/>
                <a:cs typeface="Calibri"/>
              </a:rPr>
              <a:t>interconnected</a:t>
            </a:r>
            <a:r>
              <a:rPr sz="2800" spc="20" dirty="0">
                <a:latin typeface="Calibri"/>
                <a:cs typeface="Calibri"/>
              </a:rPr>
              <a:t> </a:t>
            </a:r>
            <a:r>
              <a:rPr sz="2800" spc="-10" dirty="0">
                <a:latin typeface="Calibri"/>
                <a:cs typeface="Calibri"/>
              </a:rPr>
              <a:t>set</a:t>
            </a:r>
            <a:r>
              <a:rPr sz="2800" spc="-5" dirty="0">
                <a:latin typeface="Calibri"/>
                <a:cs typeface="Calibri"/>
              </a:rPr>
              <a:t> </a:t>
            </a:r>
            <a:r>
              <a:rPr sz="2800" dirty="0">
                <a:latin typeface="Calibri"/>
                <a:cs typeface="Calibri"/>
              </a:rPr>
              <a:t>of </a:t>
            </a:r>
            <a:r>
              <a:rPr sz="2800" spc="-5" dirty="0">
                <a:latin typeface="Calibri"/>
                <a:cs typeface="Calibri"/>
              </a:rPr>
              <a:t>nerve</a:t>
            </a:r>
            <a:r>
              <a:rPr sz="2800" spc="20" dirty="0">
                <a:latin typeface="Calibri"/>
                <a:cs typeface="Calibri"/>
              </a:rPr>
              <a:t> </a:t>
            </a:r>
            <a:r>
              <a:rPr sz="2800" spc="-5" dirty="0">
                <a:latin typeface="Calibri"/>
                <a:cs typeface="Calibri"/>
              </a:rPr>
              <a:t>cells</a:t>
            </a:r>
            <a:r>
              <a:rPr sz="2800" spc="20" dirty="0">
                <a:latin typeface="Calibri"/>
                <a:cs typeface="Calibri"/>
              </a:rPr>
              <a:t> </a:t>
            </a:r>
            <a:r>
              <a:rPr sz="2800" spc="-10" dirty="0">
                <a:latin typeface="Calibri"/>
                <a:cs typeface="Calibri"/>
              </a:rPr>
              <a:t>or </a:t>
            </a:r>
            <a:r>
              <a:rPr sz="2800" spc="-620" dirty="0">
                <a:latin typeface="Calibri"/>
                <a:cs typeface="Calibri"/>
              </a:rPr>
              <a:t> </a:t>
            </a:r>
            <a:r>
              <a:rPr sz="2800" spc="-5" dirty="0">
                <a:latin typeface="Calibri"/>
                <a:cs typeface="Calibri"/>
              </a:rPr>
              <a:t>basic</a:t>
            </a:r>
            <a:r>
              <a:rPr sz="2800" spc="15" dirty="0">
                <a:latin typeface="Calibri"/>
                <a:cs typeface="Calibri"/>
              </a:rPr>
              <a:t> </a:t>
            </a:r>
            <a:r>
              <a:rPr sz="2800" spc="-15" dirty="0">
                <a:latin typeface="Calibri"/>
                <a:cs typeface="Calibri"/>
              </a:rPr>
              <a:t>information</a:t>
            </a:r>
            <a:r>
              <a:rPr sz="2800" spc="20" dirty="0">
                <a:latin typeface="Calibri"/>
                <a:cs typeface="Calibri"/>
              </a:rPr>
              <a:t> </a:t>
            </a:r>
            <a:r>
              <a:rPr sz="2800" spc="-10" dirty="0">
                <a:latin typeface="Calibri"/>
                <a:cs typeface="Calibri"/>
              </a:rPr>
              <a:t>processing</a:t>
            </a:r>
            <a:r>
              <a:rPr sz="2800" spc="35" dirty="0">
                <a:latin typeface="Calibri"/>
                <a:cs typeface="Calibri"/>
              </a:rPr>
              <a:t> </a:t>
            </a:r>
            <a:r>
              <a:rPr sz="2800" spc="-10" dirty="0">
                <a:latin typeface="Calibri"/>
                <a:cs typeface="Calibri"/>
              </a:rPr>
              <a:t>unit</a:t>
            </a:r>
            <a:r>
              <a:rPr sz="2800" spc="25" dirty="0">
                <a:latin typeface="Calibri"/>
                <a:cs typeface="Calibri"/>
              </a:rPr>
              <a:t> </a:t>
            </a:r>
            <a:r>
              <a:rPr sz="2800" spc="-5" dirty="0">
                <a:latin typeface="Calibri"/>
                <a:cs typeface="Calibri"/>
              </a:rPr>
              <a:t>called </a:t>
            </a:r>
            <a:r>
              <a:rPr sz="2800" spc="-15" dirty="0">
                <a:latin typeface="Calibri"/>
                <a:cs typeface="Calibri"/>
              </a:rPr>
              <a:t>neurons</a:t>
            </a:r>
            <a:endParaRPr sz="2800" dirty="0">
              <a:latin typeface="Calibri"/>
              <a:cs typeface="Calibri"/>
            </a:endParaRPr>
          </a:p>
          <a:p>
            <a:pPr marL="241300" marR="5080" indent="-228600">
              <a:lnSpc>
                <a:spcPts val="3020"/>
              </a:lnSpc>
              <a:spcBef>
                <a:spcPts val="1005"/>
              </a:spcBef>
              <a:buFont typeface="Arial MT"/>
              <a:buChar char="•"/>
              <a:tabLst>
                <a:tab pos="241300" algn="l"/>
              </a:tabLst>
            </a:pPr>
            <a:r>
              <a:rPr sz="2800" spc="-5" dirty="0">
                <a:latin typeface="Calibri"/>
                <a:cs typeface="Calibri"/>
              </a:rPr>
              <a:t>The</a:t>
            </a:r>
            <a:r>
              <a:rPr sz="2800" dirty="0">
                <a:latin typeface="Calibri"/>
                <a:cs typeface="Calibri"/>
              </a:rPr>
              <a:t> </a:t>
            </a:r>
            <a:r>
              <a:rPr sz="2800" spc="-5" dirty="0">
                <a:latin typeface="Calibri"/>
                <a:cs typeface="Calibri"/>
              </a:rPr>
              <a:t>human</a:t>
            </a:r>
            <a:r>
              <a:rPr sz="2800" spc="40" dirty="0">
                <a:latin typeface="Calibri"/>
                <a:cs typeface="Calibri"/>
              </a:rPr>
              <a:t> </a:t>
            </a:r>
            <a:r>
              <a:rPr sz="2800" spc="-20" dirty="0">
                <a:latin typeface="Calibri"/>
                <a:cs typeface="Calibri"/>
              </a:rPr>
              <a:t>brain</a:t>
            </a:r>
            <a:r>
              <a:rPr sz="2800" spc="30" dirty="0">
                <a:latin typeface="Calibri"/>
                <a:cs typeface="Calibri"/>
              </a:rPr>
              <a:t> </a:t>
            </a:r>
            <a:r>
              <a:rPr sz="2800" spc="-15" dirty="0">
                <a:latin typeface="Calibri"/>
                <a:cs typeface="Calibri"/>
              </a:rPr>
              <a:t>incorporates</a:t>
            </a:r>
            <a:r>
              <a:rPr sz="2800" spc="35" dirty="0">
                <a:latin typeface="Calibri"/>
                <a:cs typeface="Calibri"/>
              </a:rPr>
              <a:t> </a:t>
            </a:r>
            <a:r>
              <a:rPr sz="2800" spc="-10" dirty="0">
                <a:latin typeface="Calibri"/>
                <a:cs typeface="Calibri"/>
              </a:rPr>
              <a:t>nearly</a:t>
            </a:r>
            <a:r>
              <a:rPr sz="2800" spc="15" dirty="0">
                <a:latin typeface="Calibri"/>
                <a:cs typeface="Calibri"/>
              </a:rPr>
              <a:t> </a:t>
            </a:r>
            <a:r>
              <a:rPr sz="2800" spc="-5" dirty="0">
                <a:latin typeface="Calibri"/>
                <a:cs typeface="Calibri"/>
              </a:rPr>
              <a:t>10</a:t>
            </a:r>
            <a:r>
              <a:rPr sz="2800" spc="25" dirty="0">
                <a:latin typeface="Calibri"/>
                <a:cs typeface="Calibri"/>
              </a:rPr>
              <a:t> </a:t>
            </a:r>
            <a:r>
              <a:rPr sz="2800" spc="-10" dirty="0">
                <a:latin typeface="Calibri"/>
                <a:cs typeface="Calibri"/>
              </a:rPr>
              <a:t>billion</a:t>
            </a:r>
            <a:r>
              <a:rPr sz="2800" spc="40" dirty="0">
                <a:latin typeface="Calibri"/>
                <a:cs typeface="Calibri"/>
              </a:rPr>
              <a:t> </a:t>
            </a:r>
            <a:r>
              <a:rPr sz="2800" spc="-15" dirty="0">
                <a:latin typeface="Calibri"/>
                <a:cs typeface="Calibri"/>
              </a:rPr>
              <a:t>neurons</a:t>
            </a:r>
            <a:r>
              <a:rPr sz="2800" spc="45" dirty="0">
                <a:latin typeface="Calibri"/>
                <a:cs typeface="Calibri"/>
              </a:rPr>
              <a:t> </a:t>
            </a:r>
            <a:r>
              <a:rPr sz="2800" spc="-5" dirty="0">
                <a:latin typeface="Calibri"/>
                <a:cs typeface="Calibri"/>
              </a:rPr>
              <a:t>and</a:t>
            </a:r>
            <a:r>
              <a:rPr sz="2800" spc="30" dirty="0">
                <a:latin typeface="Calibri"/>
                <a:cs typeface="Calibri"/>
              </a:rPr>
              <a:t> </a:t>
            </a:r>
            <a:r>
              <a:rPr sz="2800" spc="-5" dirty="0">
                <a:latin typeface="Calibri"/>
                <a:cs typeface="Calibri"/>
              </a:rPr>
              <a:t>60</a:t>
            </a:r>
            <a:r>
              <a:rPr sz="2800" spc="20" dirty="0">
                <a:latin typeface="Calibri"/>
                <a:cs typeface="Calibri"/>
              </a:rPr>
              <a:t> </a:t>
            </a:r>
            <a:r>
              <a:rPr sz="2800" spc="-10" dirty="0">
                <a:latin typeface="Calibri"/>
                <a:cs typeface="Calibri"/>
              </a:rPr>
              <a:t>trillion </a:t>
            </a:r>
            <a:r>
              <a:rPr sz="2800" spc="-615" dirty="0">
                <a:latin typeface="Calibri"/>
                <a:cs typeface="Calibri"/>
              </a:rPr>
              <a:t> </a:t>
            </a:r>
            <a:r>
              <a:rPr sz="2800" spc="-5" dirty="0">
                <a:latin typeface="Calibri"/>
                <a:cs typeface="Calibri"/>
              </a:rPr>
              <a:t>connections</a:t>
            </a:r>
            <a:r>
              <a:rPr sz="2800" spc="35" dirty="0">
                <a:latin typeface="Calibri"/>
                <a:cs typeface="Calibri"/>
              </a:rPr>
              <a:t> </a:t>
            </a:r>
            <a:r>
              <a:rPr sz="2800" spc="-5" dirty="0">
                <a:latin typeface="Calibri"/>
                <a:cs typeface="Calibri"/>
              </a:rPr>
              <a:t>called</a:t>
            </a:r>
            <a:r>
              <a:rPr sz="2800" spc="10" dirty="0">
                <a:latin typeface="Calibri"/>
                <a:cs typeface="Calibri"/>
              </a:rPr>
              <a:t> </a:t>
            </a:r>
            <a:r>
              <a:rPr sz="2800" spc="-15" dirty="0">
                <a:latin typeface="Calibri"/>
                <a:cs typeface="Calibri"/>
              </a:rPr>
              <a:t>synapses</a:t>
            </a:r>
            <a:r>
              <a:rPr sz="2800" spc="40" dirty="0">
                <a:latin typeface="Calibri"/>
                <a:cs typeface="Calibri"/>
              </a:rPr>
              <a:t> </a:t>
            </a:r>
            <a:r>
              <a:rPr sz="2800" spc="-10" dirty="0">
                <a:latin typeface="Calibri"/>
                <a:cs typeface="Calibri"/>
              </a:rPr>
              <a:t>between</a:t>
            </a:r>
            <a:r>
              <a:rPr sz="2800" spc="5" dirty="0">
                <a:latin typeface="Calibri"/>
                <a:cs typeface="Calibri"/>
              </a:rPr>
              <a:t> </a:t>
            </a:r>
            <a:r>
              <a:rPr sz="2800" spc="-5" dirty="0">
                <a:latin typeface="Calibri"/>
                <a:cs typeface="Calibri"/>
              </a:rPr>
              <a:t>them</a:t>
            </a:r>
            <a:endParaRPr sz="2800" dirty="0">
              <a:latin typeface="Calibri"/>
              <a:cs typeface="Calibri"/>
            </a:endParaRPr>
          </a:p>
          <a:p>
            <a:pPr marL="241300" marR="386715" indent="-228600">
              <a:lnSpc>
                <a:spcPts val="3020"/>
              </a:lnSpc>
              <a:spcBef>
                <a:spcPts val="1010"/>
              </a:spcBef>
              <a:buFont typeface="Arial MT"/>
              <a:buChar char="•"/>
              <a:tabLst>
                <a:tab pos="241300" algn="l"/>
              </a:tabLst>
            </a:pPr>
            <a:r>
              <a:rPr sz="2800" spc="-15" dirty="0">
                <a:latin typeface="Calibri"/>
                <a:cs typeface="Calibri"/>
              </a:rPr>
              <a:t>By</a:t>
            </a:r>
            <a:r>
              <a:rPr sz="2800" spc="5" dirty="0">
                <a:latin typeface="Calibri"/>
                <a:cs typeface="Calibri"/>
              </a:rPr>
              <a:t> </a:t>
            </a:r>
            <a:r>
              <a:rPr sz="2800" spc="-10" dirty="0">
                <a:latin typeface="Calibri"/>
                <a:cs typeface="Calibri"/>
              </a:rPr>
              <a:t>using</a:t>
            </a:r>
            <a:r>
              <a:rPr sz="2800" spc="25" dirty="0">
                <a:latin typeface="Calibri"/>
                <a:cs typeface="Calibri"/>
              </a:rPr>
              <a:t> </a:t>
            </a:r>
            <a:r>
              <a:rPr sz="2800" spc="-5" dirty="0">
                <a:latin typeface="Calibri"/>
                <a:cs typeface="Calibri"/>
              </a:rPr>
              <a:t>multiple</a:t>
            </a:r>
            <a:r>
              <a:rPr sz="2800" spc="40" dirty="0">
                <a:latin typeface="Calibri"/>
                <a:cs typeface="Calibri"/>
              </a:rPr>
              <a:t> </a:t>
            </a:r>
            <a:r>
              <a:rPr sz="2800" spc="-15" dirty="0">
                <a:latin typeface="Calibri"/>
                <a:cs typeface="Calibri"/>
              </a:rPr>
              <a:t>neurons</a:t>
            </a:r>
            <a:r>
              <a:rPr sz="2800" spc="45" dirty="0">
                <a:latin typeface="Calibri"/>
                <a:cs typeface="Calibri"/>
              </a:rPr>
              <a:t> </a:t>
            </a:r>
            <a:r>
              <a:rPr sz="2800" spc="-25" dirty="0">
                <a:latin typeface="Calibri"/>
                <a:cs typeface="Calibri"/>
              </a:rPr>
              <a:t>simultaneously,</a:t>
            </a:r>
            <a:r>
              <a:rPr sz="2800" spc="75"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brain</a:t>
            </a:r>
            <a:r>
              <a:rPr sz="2800" spc="35" dirty="0">
                <a:latin typeface="Calibri"/>
                <a:cs typeface="Calibri"/>
              </a:rPr>
              <a:t> </a:t>
            </a:r>
            <a:r>
              <a:rPr sz="2800" spc="-10" dirty="0">
                <a:latin typeface="Calibri"/>
                <a:cs typeface="Calibri"/>
              </a:rPr>
              <a:t>can</a:t>
            </a:r>
            <a:r>
              <a:rPr sz="2800" spc="25" dirty="0">
                <a:latin typeface="Calibri"/>
                <a:cs typeface="Calibri"/>
              </a:rPr>
              <a:t> </a:t>
            </a:r>
            <a:r>
              <a:rPr sz="2800" spc="-15" dirty="0">
                <a:latin typeface="Calibri"/>
                <a:cs typeface="Calibri"/>
              </a:rPr>
              <a:t>perform</a:t>
            </a:r>
            <a:r>
              <a:rPr sz="2800" spc="25" dirty="0">
                <a:latin typeface="Calibri"/>
                <a:cs typeface="Calibri"/>
              </a:rPr>
              <a:t> </a:t>
            </a:r>
            <a:r>
              <a:rPr sz="2800" spc="-5" dirty="0">
                <a:latin typeface="Calibri"/>
                <a:cs typeface="Calibri"/>
              </a:rPr>
              <a:t>its </a:t>
            </a:r>
            <a:r>
              <a:rPr sz="2800" spc="-620" dirty="0">
                <a:latin typeface="Calibri"/>
                <a:cs typeface="Calibri"/>
              </a:rPr>
              <a:t> </a:t>
            </a:r>
            <a:r>
              <a:rPr sz="2800" spc="-10" dirty="0">
                <a:latin typeface="Calibri"/>
                <a:cs typeface="Calibri"/>
              </a:rPr>
              <a:t>function</a:t>
            </a:r>
            <a:r>
              <a:rPr sz="2800" spc="45" dirty="0">
                <a:latin typeface="Calibri"/>
                <a:cs typeface="Calibri"/>
              </a:rPr>
              <a:t> </a:t>
            </a:r>
            <a:r>
              <a:rPr sz="2800" spc="-5" dirty="0">
                <a:latin typeface="Calibri"/>
                <a:cs typeface="Calibri"/>
              </a:rPr>
              <a:t>much</a:t>
            </a:r>
            <a:r>
              <a:rPr sz="2800" spc="30" dirty="0">
                <a:latin typeface="Calibri"/>
                <a:cs typeface="Calibri"/>
              </a:rPr>
              <a:t> </a:t>
            </a:r>
            <a:r>
              <a:rPr sz="2800" spc="-25" dirty="0">
                <a:latin typeface="Calibri"/>
                <a:cs typeface="Calibri"/>
              </a:rPr>
              <a:t>faster</a:t>
            </a:r>
            <a:r>
              <a:rPr sz="2800" spc="15" dirty="0">
                <a:latin typeface="Calibri"/>
                <a:cs typeface="Calibri"/>
              </a:rPr>
              <a:t> </a:t>
            </a:r>
            <a:r>
              <a:rPr sz="2800" spc="-5" dirty="0">
                <a:latin typeface="Calibri"/>
                <a:cs typeface="Calibri"/>
              </a:rPr>
              <a:t>than</a:t>
            </a:r>
            <a:r>
              <a:rPr sz="2800" spc="25" dirty="0">
                <a:latin typeface="Calibri"/>
                <a:cs typeface="Calibri"/>
              </a:rPr>
              <a:t> </a:t>
            </a:r>
            <a:r>
              <a:rPr sz="2800" spc="-5" dirty="0">
                <a:latin typeface="Calibri"/>
                <a:cs typeface="Calibri"/>
              </a:rPr>
              <a:t>the</a:t>
            </a:r>
            <a:r>
              <a:rPr sz="2800" spc="15" dirty="0">
                <a:latin typeface="Calibri"/>
                <a:cs typeface="Calibri"/>
              </a:rPr>
              <a:t> </a:t>
            </a:r>
            <a:r>
              <a:rPr sz="2800" spc="-25" dirty="0">
                <a:latin typeface="Calibri"/>
                <a:cs typeface="Calibri"/>
              </a:rPr>
              <a:t>fastest</a:t>
            </a:r>
            <a:r>
              <a:rPr sz="2800" spc="15" dirty="0">
                <a:latin typeface="Calibri"/>
                <a:cs typeface="Calibri"/>
              </a:rPr>
              <a:t> </a:t>
            </a:r>
            <a:r>
              <a:rPr sz="2800" spc="-15" dirty="0">
                <a:latin typeface="Calibri"/>
                <a:cs typeface="Calibri"/>
              </a:rPr>
              <a:t>computers</a:t>
            </a:r>
            <a:r>
              <a:rPr sz="2800" spc="45" dirty="0">
                <a:latin typeface="Calibri"/>
                <a:cs typeface="Calibri"/>
              </a:rPr>
              <a:t> </a:t>
            </a:r>
            <a:r>
              <a:rPr sz="2800" spc="-5" dirty="0">
                <a:latin typeface="Calibri"/>
                <a:cs typeface="Calibri"/>
              </a:rPr>
              <a:t>in</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existence </a:t>
            </a:r>
            <a:r>
              <a:rPr sz="2800" spc="-10" dirty="0">
                <a:latin typeface="Calibri"/>
                <a:cs typeface="Calibri"/>
              </a:rPr>
              <a:t> </a:t>
            </a:r>
            <a:r>
              <a:rPr sz="2800" spc="-20" dirty="0">
                <a:latin typeface="Calibri"/>
                <a:cs typeface="Calibri"/>
              </a:rPr>
              <a:t>today</a:t>
            </a:r>
            <a:endParaRPr sz="2800"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C8E19C-F4A0-484A-AF98-8796542A5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590" y="0"/>
            <a:ext cx="9652819" cy="6858000"/>
          </a:xfrm>
          <a:prstGeom prst="rect">
            <a:avLst/>
          </a:prstGeom>
        </p:spPr>
      </p:pic>
    </p:spTree>
    <p:extLst>
      <p:ext uri="{BB962C8B-B14F-4D97-AF65-F5344CB8AC3E}">
        <p14:creationId xmlns:p14="http://schemas.microsoft.com/office/powerpoint/2010/main" val="3620889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39BF0F-5AE3-4EFF-BCF4-A11059A0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457200"/>
            <a:ext cx="9067800" cy="6172200"/>
          </a:xfrm>
          <a:prstGeom prst="rect">
            <a:avLst/>
          </a:prstGeom>
        </p:spPr>
      </p:pic>
    </p:spTree>
    <p:extLst>
      <p:ext uri="{BB962C8B-B14F-4D97-AF65-F5344CB8AC3E}">
        <p14:creationId xmlns:p14="http://schemas.microsoft.com/office/powerpoint/2010/main" val="332980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62000" y="914400"/>
            <a:ext cx="10222230" cy="4290695"/>
          </a:xfrm>
          <a:prstGeom prst="rect">
            <a:avLst/>
          </a:prstGeom>
        </p:spPr>
        <p:txBody>
          <a:bodyPr vert="horz" wrap="square" lIns="0" tIns="60325" rIns="0" bIns="0" rtlCol="0">
            <a:spAutoFit/>
          </a:bodyPr>
          <a:lstStyle/>
          <a:p>
            <a:pPr marL="241300" marR="1168400" indent="-228600">
              <a:lnSpc>
                <a:spcPts val="3030"/>
              </a:lnSpc>
              <a:spcBef>
                <a:spcPts val="475"/>
              </a:spcBef>
              <a:buFont typeface="Arial MT"/>
              <a:buChar char="•"/>
              <a:tabLst>
                <a:tab pos="241300" algn="l"/>
              </a:tabLst>
            </a:pPr>
            <a:r>
              <a:rPr sz="2800" spc="-10" dirty="0">
                <a:latin typeface="Calibri"/>
                <a:cs typeface="Calibri"/>
              </a:rPr>
              <a:t>Each </a:t>
            </a:r>
            <a:r>
              <a:rPr sz="2800" spc="-15" dirty="0">
                <a:latin typeface="Calibri"/>
                <a:cs typeface="Calibri"/>
              </a:rPr>
              <a:t>neuron</a:t>
            </a:r>
            <a:r>
              <a:rPr sz="2800" spc="35" dirty="0">
                <a:latin typeface="Calibri"/>
                <a:cs typeface="Calibri"/>
              </a:rPr>
              <a:t> </a:t>
            </a:r>
            <a:r>
              <a:rPr sz="2800" spc="-5" dirty="0">
                <a:latin typeface="Calibri"/>
                <a:cs typeface="Calibri"/>
              </a:rPr>
              <a:t>has</a:t>
            </a:r>
            <a:r>
              <a:rPr sz="2800" spc="15"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very</a:t>
            </a:r>
            <a:r>
              <a:rPr sz="2800" dirty="0">
                <a:latin typeface="Calibri"/>
                <a:cs typeface="Calibri"/>
              </a:rPr>
              <a:t> </a:t>
            </a:r>
            <a:r>
              <a:rPr sz="2800" spc="-5" dirty="0">
                <a:latin typeface="Calibri"/>
                <a:cs typeface="Calibri"/>
              </a:rPr>
              <a:t>simple</a:t>
            </a:r>
            <a:r>
              <a:rPr sz="2800" spc="20" dirty="0">
                <a:latin typeface="Calibri"/>
                <a:cs typeface="Calibri"/>
              </a:rPr>
              <a:t> </a:t>
            </a:r>
            <a:r>
              <a:rPr sz="2800" spc="-10" dirty="0">
                <a:latin typeface="Calibri"/>
                <a:cs typeface="Calibri"/>
              </a:rPr>
              <a:t>structure,</a:t>
            </a:r>
            <a:r>
              <a:rPr sz="2800" spc="50" dirty="0">
                <a:latin typeface="Calibri"/>
                <a:cs typeface="Calibri"/>
              </a:rPr>
              <a:t> </a:t>
            </a:r>
            <a:r>
              <a:rPr sz="2800" spc="-5" dirty="0">
                <a:latin typeface="Calibri"/>
                <a:cs typeface="Calibri"/>
              </a:rPr>
              <a:t>but</a:t>
            </a:r>
            <a:r>
              <a:rPr sz="2800" spc="15" dirty="0">
                <a:latin typeface="Calibri"/>
                <a:cs typeface="Calibri"/>
              </a:rPr>
              <a:t> </a:t>
            </a:r>
            <a:r>
              <a:rPr sz="2800" spc="-5" dirty="0">
                <a:latin typeface="Calibri"/>
                <a:cs typeface="Calibri"/>
              </a:rPr>
              <a:t>an</a:t>
            </a:r>
            <a:r>
              <a:rPr sz="2800" spc="5" dirty="0">
                <a:latin typeface="Calibri"/>
                <a:cs typeface="Calibri"/>
              </a:rPr>
              <a:t> </a:t>
            </a:r>
            <a:r>
              <a:rPr sz="2800" spc="-15" dirty="0">
                <a:latin typeface="Calibri"/>
                <a:cs typeface="Calibri"/>
              </a:rPr>
              <a:t>army</a:t>
            </a:r>
            <a:r>
              <a:rPr sz="280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such </a:t>
            </a:r>
            <a:r>
              <a:rPr sz="2800" spc="-615" dirty="0">
                <a:latin typeface="Calibri"/>
                <a:cs typeface="Calibri"/>
              </a:rPr>
              <a:t> </a:t>
            </a:r>
            <a:r>
              <a:rPr sz="2800" spc="-5" dirty="0">
                <a:latin typeface="Calibri"/>
                <a:cs typeface="Calibri"/>
              </a:rPr>
              <a:t>elements</a:t>
            </a:r>
            <a:r>
              <a:rPr sz="2800" spc="15" dirty="0">
                <a:latin typeface="Calibri"/>
                <a:cs typeface="Calibri"/>
              </a:rPr>
              <a:t> </a:t>
            </a:r>
            <a:r>
              <a:rPr sz="2800" spc="-15" dirty="0">
                <a:latin typeface="Calibri"/>
                <a:cs typeface="Calibri"/>
              </a:rPr>
              <a:t>constitutes</a:t>
            </a:r>
            <a:r>
              <a:rPr sz="2800" spc="40"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tremendous</a:t>
            </a:r>
            <a:r>
              <a:rPr sz="2800" spc="50" dirty="0">
                <a:latin typeface="Calibri"/>
                <a:cs typeface="Calibri"/>
              </a:rPr>
              <a:t> </a:t>
            </a:r>
            <a:r>
              <a:rPr sz="2800" spc="-10" dirty="0">
                <a:latin typeface="Calibri"/>
                <a:cs typeface="Calibri"/>
              </a:rPr>
              <a:t>processing</a:t>
            </a:r>
            <a:r>
              <a:rPr sz="2800" spc="40" dirty="0">
                <a:latin typeface="Calibri"/>
                <a:cs typeface="Calibri"/>
              </a:rPr>
              <a:t> </a:t>
            </a:r>
            <a:r>
              <a:rPr sz="2800" spc="-10" dirty="0">
                <a:latin typeface="Calibri"/>
                <a:cs typeface="Calibri"/>
              </a:rPr>
              <a:t>power</a:t>
            </a:r>
            <a:endParaRPr sz="2800" dirty="0">
              <a:latin typeface="Calibri"/>
              <a:cs typeface="Calibri"/>
            </a:endParaRPr>
          </a:p>
          <a:p>
            <a:pPr marL="241300" marR="5080" indent="-228600">
              <a:lnSpc>
                <a:spcPts val="3030"/>
              </a:lnSpc>
              <a:spcBef>
                <a:spcPts val="994"/>
              </a:spcBef>
              <a:buFont typeface="Arial MT"/>
              <a:buChar char="•"/>
              <a:tabLst>
                <a:tab pos="241300" algn="l"/>
              </a:tabLst>
            </a:pPr>
            <a:r>
              <a:rPr sz="2800" spc="-5" dirty="0">
                <a:latin typeface="Calibri"/>
                <a:cs typeface="Calibri"/>
              </a:rPr>
              <a:t>A</a:t>
            </a:r>
            <a:r>
              <a:rPr sz="2800" spc="20" dirty="0">
                <a:latin typeface="Calibri"/>
                <a:cs typeface="Calibri"/>
              </a:rPr>
              <a:t> </a:t>
            </a:r>
            <a:r>
              <a:rPr sz="2800" spc="-15" dirty="0">
                <a:latin typeface="Calibri"/>
                <a:cs typeface="Calibri"/>
              </a:rPr>
              <a:t>neuron</a:t>
            </a:r>
            <a:r>
              <a:rPr sz="2800" spc="25" dirty="0">
                <a:latin typeface="Calibri"/>
                <a:cs typeface="Calibri"/>
              </a:rPr>
              <a:t> </a:t>
            </a:r>
            <a:r>
              <a:rPr sz="2800" spc="-15" dirty="0">
                <a:latin typeface="Calibri"/>
                <a:cs typeface="Calibri"/>
              </a:rPr>
              <a:t>consist</a:t>
            </a:r>
            <a:r>
              <a:rPr sz="2800" spc="4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a</a:t>
            </a:r>
            <a:r>
              <a:rPr sz="2800" spc="10" dirty="0">
                <a:latin typeface="Calibri"/>
                <a:cs typeface="Calibri"/>
              </a:rPr>
              <a:t> </a:t>
            </a:r>
            <a:r>
              <a:rPr sz="2800" spc="-5" dirty="0">
                <a:latin typeface="Calibri"/>
                <a:cs typeface="Calibri"/>
              </a:rPr>
              <a:t>cell</a:t>
            </a:r>
            <a:r>
              <a:rPr sz="2800" spc="-10" dirty="0">
                <a:latin typeface="Calibri"/>
                <a:cs typeface="Calibri"/>
              </a:rPr>
              <a:t> </a:t>
            </a:r>
            <a:r>
              <a:rPr sz="2800" spc="-5" dirty="0">
                <a:latin typeface="Calibri"/>
                <a:cs typeface="Calibri"/>
              </a:rPr>
              <a:t>body</a:t>
            </a:r>
            <a:r>
              <a:rPr sz="2800" spc="20" dirty="0">
                <a:latin typeface="Calibri"/>
                <a:cs typeface="Calibri"/>
              </a:rPr>
              <a:t> </a:t>
            </a:r>
            <a:r>
              <a:rPr sz="2800" spc="-5" dirty="0">
                <a:latin typeface="Calibri"/>
                <a:cs typeface="Calibri"/>
              </a:rPr>
              <a:t>called soma,</a:t>
            </a:r>
            <a:r>
              <a:rPr sz="2800" spc="20"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number</a:t>
            </a:r>
            <a:r>
              <a:rPr sz="2800" spc="3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fibres</a:t>
            </a:r>
            <a:r>
              <a:rPr sz="2800" spc="20" dirty="0">
                <a:latin typeface="Calibri"/>
                <a:cs typeface="Calibri"/>
              </a:rPr>
              <a:t> </a:t>
            </a:r>
            <a:r>
              <a:rPr sz="2800" spc="-5" dirty="0">
                <a:latin typeface="Calibri"/>
                <a:cs typeface="Calibri"/>
              </a:rPr>
              <a:t>called </a:t>
            </a:r>
            <a:r>
              <a:rPr sz="2800" spc="-615" dirty="0">
                <a:latin typeface="Calibri"/>
                <a:cs typeface="Calibri"/>
              </a:rPr>
              <a:t> </a:t>
            </a:r>
            <a:r>
              <a:rPr sz="2800" spc="-10" dirty="0">
                <a:latin typeface="Calibri"/>
                <a:cs typeface="Calibri"/>
              </a:rPr>
              <a:t>dendrites,</a:t>
            </a:r>
            <a:r>
              <a:rPr sz="2800" spc="40"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single</a:t>
            </a:r>
            <a:r>
              <a:rPr sz="2800" spc="20" dirty="0">
                <a:latin typeface="Calibri"/>
                <a:cs typeface="Calibri"/>
              </a:rPr>
              <a:t> </a:t>
            </a:r>
            <a:r>
              <a:rPr sz="2800" spc="-5" dirty="0">
                <a:latin typeface="Calibri"/>
                <a:cs typeface="Calibri"/>
              </a:rPr>
              <a:t>long</a:t>
            </a:r>
            <a:r>
              <a:rPr sz="2800" dirty="0">
                <a:latin typeface="Calibri"/>
                <a:cs typeface="Calibri"/>
              </a:rPr>
              <a:t> </a:t>
            </a:r>
            <a:r>
              <a:rPr sz="2800" spc="-15" dirty="0">
                <a:latin typeface="Calibri"/>
                <a:cs typeface="Calibri"/>
              </a:rPr>
              <a:t>fibre</a:t>
            </a:r>
            <a:r>
              <a:rPr sz="2800" spc="15" dirty="0">
                <a:latin typeface="Calibri"/>
                <a:cs typeface="Calibri"/>
              </a:rPr>
              <a:t> </a:t>
            </a:r>
            <a:r>
              <a:rPr sz="2800" spc="-5" dirty="0">
                <a:latin typeface="Calibri"/>
                <a:cs typeface="Calibri"/>
              </a:rPr>
              <a:t>called</a:t>
            </a:r>
            <a:r>
              <a:rPr sz="2800" dirty="0">
                <a:latin typeface="Calibri"/>
                <a:cs typeface="Calibri"/>
              </a:rPr>
              <a:t> </a:t>
            </a:r>
            <a:r>
              <a:rPr sz="2800" spc="-30" dirty="0">
                <a:latin typeface="Calibri"/>
                <a:cs typeface="Calibri"/>
              </a:rPr>
              <a:t>axon</a:t>
            </a:r>
            <a:r>
              <a:rPr sz="2800" spc="-5" dirty="0">
                <a:latin typeface="Calibri"/>
                <a:cs typeface="Calibri"/>
              </a:rPr>
              <a:t> </a:t>
            </a:r>
            <a:r>
              <a:rPr sz="2800" dirty="0">
                <a:latin typeface="Calibri"/>
                <a:cs typeface="Calibri"/>
              </a:rPr>
              <a:t>and</a:t>
            </a:r>
            <a:r>
              <a:rPr sz="2800" spc="15" dirty="0">
                <a:latin typeface="Calibri"/>
                <a:cs typeface="Calibri"/>
              </a:rPr>
              <a:t> </a:t>
            </a:r>
            <a:r>
              <a:rPr sz="2800" spc="-10" dirty="0">
                <a:latin typeface="Calibri"/>
                <a:cs typeface="Calibri"/>
              </a:rPr>
              <a:t>connective</a:t>
            </a:r>
            <a:r>
              <a:rPr sz="2800" spc="20" dirty="0">
                <a:latin typeface="Calibri"/>
                <a:cs typeface="Calibri"/>
              </a:rPr>
              <a:t> </a:t>
            </a:r>
            <a:r>
              <a:rPr sz="2800" spc="-5" dirty="0">
                <a:latin typeface="Calibri"/>
                <a:cs typeface="Calibri"/>
              </a:rPr>
              <a:t>called </a:t>
            </a:r>
            <a:r>
              <a:rPr sz="2800" dirty="0">
                <a:latin typeface="Calibri"/>
                <a:cs typeface="Calibri"/>
              </a:rPr>
              <a:t> </a:t>
            </a:r>
            <a:r>
              <a:rPr sz="2800" spc="-15" dirty="0">
                <a:latin typeface="Calibri"/>
                <a:cs typeface="Calibri"/>
              </a:rPr>
              <a:t>synapse</a:t>
            </a:r>
            <a:endParaRPr sz="2800" dirty="0">
              <a:latin typeface="Calibri"/>
              <a:cs typeface="Calibri"/>
            </a:endParaRPr>
          </a:p>
          <a:p>
            <a:pPr marL="241300" marR="167640" indent="-228600">
              <a:lnSpc>
                <a:spcPct val="90000"/>
              </a:lnSpc>
              <a:spcBef>
                <a:spcPts val="940"/>
              </a:spcBef>
              <a:buFont typeface="Arial MT"/>
              <a:buChar char="•"/>
              <a:tabLst>
                <a:tab pos="241300" algn="l"/>
              </a:tabLst>
            </a:pPr>
            <a:r>
              <a:rPr sz="2800" spc="-5" dirty="0">
                <a:latin typeface="Calibri"/>
                <a:cs typeface="Calibri"/>
              </a:rPr>
              <a:t>An</a:t>
            </a:r>
            <a:r>
              <a:rPr sz="2800" spc="20" dirty="0">
                <a:latin typeface="Calibri"/>
                <a:cs typeface="Calibri"/>
              </a:rPr>
              <a:t> </a:t>
            </a:r>
            <a:r>
              <a:rPr sz="2800" spc="-5" dirty="0">
                <a:latin typeface="Calibri"/>
                <a:cs typeface="Calibri"/>
              </a:rPr>
              <a:t>ANN</a:t>
            </a:r>
            <a:r>
              <a:rPr sz="2800" spc="40" dirty="0">
                <a:latin typeface="Calibri"/>
                <a:cs typeface="Calibri"/>
              </a:rPr>
              <a:t> </a:t>
            </a:r>
            <a:r>
              <a:rPr sz="2800" spc="-10" dirty="0">
                <a:latin typeface="Calibri"/>
                <a:cs typeface="Calibri"/>
              </a:rPr>
              <a:t>work</a:t>
            </a:r>
            <a:r>
              <a:rPr sz="2800" spc="10" dirty="0">
                <a:latin typeface="Calibri"/>
                <a:cs typeface="Calibri"/>
              </a:rPr>
              <a:t> </a:t>
            </a:r>
            <a:r>
              <a:rPr sz="2800" spc="-5" dirty="0">
                <a:latin typeface="Calibri"/>
                <a:cs typeface="Calibri"/>
              </a:rPr>
              <a:t>in</a:t>
            </a:r>
            <a:r>
              <a:rPr sz="2800" spc="15" dirty="0">
                <a:latin typeface="Calibri"/>
                <a:cs typeface="Calibri"/>
              </a:rPr>
              <a:t> </a:t>
            </a:r>
            <a:r>
              <a:rPr sz="2800" spc="-10" dirty="0">
                <a:latin typeface="Calibri"/>
                <a:cs typeface="Calibri"/>
              </a:rPr>
              <a:t>similar</a:t>
            </a:r>
            <a:r>
              <a:rPr sz="2800" spc="40" dirty="0">
                <a:latin typeface="Calibri"/>
                <a:cs typeface="Calibri"/>
              </a:rPr>
              <a:t> </a:t>
            </a:r>
            <a:r>
              <a:rPr sz="2800" spc="-15" dirty="0">
                <a:latin typeface="Calibri"/>
                <a:cs typeface="Calibri"/>
              </a:rPr>
              <a:t>fashion</a:t>
            </a:r>
            <a:r>
              <a:rPr sz="2800" spc="35" dirty="0">
                <a:latin typeface="Calibri"/>
                <a:cs typeface="Calibri"/>
              </a:rPr>
              <a:t> </a:t>
            </a:r>
            <a:r>
              <a:rPr sz="2800" spc="-5" dirty="0">
                <a:latin typeface="Calibri"/>
                <a:cs typeface="Calibri"/>
              </a:rPr>
              <a:t>as</a:t>
            </a:r>
            <a:r>
              <a:rPr sz="2800" spc="15" dirty="0">
                <a:latin typeface="Calibri"/>
                <a:cs typeface="Calibri"/>
              </a:rPr>
              <a:t> </a:t>
            </a:r>
            <a:r>
              <a:rPr sz="2800" spc="-5" dirty="0">
                <a:latin typeface="Calibri"/>
                <a:cs typeface="Calibri"/>
              </a:rPr>
              <a:t>the</a:t>
            </a:r>
            <a:r>
              <a:rPr sz="2800" spc="20" dirty="0">
                <a:latin typeface="Calibri"/>
                <a:cs typeface="Calibri"/>
              </a:rPr>
              <a:t> </a:t>
            </a:r>
            <a:r>
              <a:rPr sz="2800" spc="-20" dirty="0">
                <a:latin typeface="Calibri"/>
                <a:cs typeface="Calibri"/>
              </a:rPr>
              <a:t>natural</a:t>
            </a:r>
            <a:r>
              <a:rPr sz="2800" spc="35" dirty="0">
                <a:latin typeface="Calibri"/>
                <a:cs typeface="Calibri"/>
              </a:rPr>
              <a:t> </a:t>
            </a:r>
            <a:r>
              <a:rPr sz="2800" spc="-15" dirty="0">
                <a:latin typeface="Calibri"/>
                <a:cs typeface="Calibri"/>
              </a:rPr>
              <a:t>neuron</a:t>
            </a:r>
            <a:r>
              <a:rPr sz="2800" spc="30" dirty="0">
                <a:latin typeface="Calibri"/>
                <a:cs typeface="Calibri"/>
              </a:rPr>
              <a:t> </a:t>
            </a:r>
            <a:r>
              <a:rPr sz="2800" spc="-15" dirty="0">
                <a:latin typeface="Calibri"/>
                <a:cs typeface="Calibri"/>
              </a:rPr>
              <a:t>works,</a:t>
            </a:r>
            <a:r>
              <a:rPr sz="2800" spc="20" dirty="0">
                <a:latin typeface="Calibri"/>
                <a:cs typeface="Calibri"/>
              </a:rPr>
              <a:t> </a:t>
            </a:r>
            <a:r>
              <a:rPr sz="2800" spc="-5" dirty="0">
                <a:latin typeface="Calibri"/>
                <a:cs typeface="Calibri"/>
              </a:rPr>
              <a:t>i.e.</a:t>
            </a:r>
            <a:r>
              <a:rPr sz="2800" spc="25" dirty="0">
                <a:latin typeface="Calibri"/>
                <a:cs typeface="Calibri"/>
              </a:rPr>
              <a:t> </a:t>
            </a:r>
            <a:r>
              <a:rPr sz="2800" spc="-5" dirty="0">
                <a:latin typeface="Calibri"/>
                <a:cs typeface="Calibri"/>
              </a:rPr>
              <a:t>it</a:t>
            </a:r>
            <a:r>
              <a:rPr sz="2800" spc="5" dirty="0">
                <a:latin typeface="Calibri"/>
                <a:cs typeface="Calibri"/>
              </a:rPr>
              <a:t> </a:t>
            </a:r>
            <a:r>
              <a:rPr sz="2800" spc="-5" dirty="0">
                <a:latin typeface="Calibri"/>
                <a:cs typeface="Calibri"/>
              </a:rPr>
              <a:t>is </a:t>
            </a:r>
            <a:r>
              <a:rPr sz="2800" spc="-615" dirty="0">
                <a:latin typeface="Calibri"/>
                <a:cs typeface="Calibri"/>
              </a:rPr>
              <a:t> </a:t>
            </a:r>
            <a:r>
              <a:rPr sz="2800" spc="-10" dirty="0">
                <a:latin typeface="Calibri"/>
                <a:cs typeface="Calibri"/>
              </a:rPr>
              <a:t>trained</a:t>
            </a:r>
            <a:r>
              <a:rPr sz="2800" spc="20" dirty="0">
                <a:latin typeface="Calibri"/>
                <a:cs typeface="Calibri"/>
              </a:rPr>
              <a:t> </a:t>
            </a:r>
            <a:r>
              <a:rPr sz="2800" spc="-5" dirty="0">
                <a:latin typeface="Calibri"/>
                <a:cs typeface="Calibri"/>
              </a:rPr>
              <a:t>with</a:t>
            </a:r>
            <a:r>
              <a:rPr sz="2800" spc="15" dirty="0">
                <a:latin typeface="Calibri"/>
                <a:cs typeface="Calibri"/>
              </a:rPr>
              <a:t> </a:t>
            </a:r>
            <a:r>
              <a:rPr sz="2800" spc="-10" dirty="0">
                <a:latin typeface="Calibri"/>
                <a:cs typeface="Calibri"/>
              </a:rPr>
              <a:t>set</a:t>
            </a:r>
            <a:r>
              <a:rPr sz="2800" spc="-5" dirty="0">
                <a:latin typeface="Calibri"/>
                <a:cs typeface="Calibri"/>
              </a:rPr>
              <a:t> </a:t>
            </a:r>
            <a:r>
              <a:rPr sz="2800" dirty="0">
                <a:latin typeface="Calibri"/>
                <a:cs typeface="Calibri"/>
              </a:rPr>
              <a:t>of </a:t>
            </a:r>
            <a:r>
              <a:rPr sz="2800" spc="-20" dirty="0">
                <a:latin typeface="Calibri"/>
                <a:cs typeface="Calibri"/>
              </a:rPr>
              <a:t>data</a:t>
            </a:r>
            <a:r>
              <a:rPr sz="2800" spc="5" dirty="0">
                <a:latin typeface="Calibri"/>
                <a:cs typeface="Calibri"/>
              </a:rPr>
              <a:t> </a:t>
            </a:r>
            <a:r>
              <a:rPr sz="2800" spc="-20" dirty="0">
                <a:latin typeface="Calibri"/>
                <a:cs typeface="Calibri"/>
              </a:rPr>
              <a:t>from</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20" dirty="0">
                <a:latin typeface="Calibri"/>
                <a:cs typeface="Calibri"/>
              </a:rPr>
              <a:t>environment</a:t>
            </a:r>
            <a:r>
              <a:rPr sz="2800" spc="35" dirty="0">
                <a:latin typeface="Calibri"/>
                <a:cs typeface="Calibri"/>
              </a:rPr>
              <a:t> </a:t>
            </a:r>
            <a:r>
              <a:rPr sz="2800" spc="-5" dirty="0">
                <a:latin typeface="Calibri"/>
                <a:cs typeface="Calibri"/>
              </a:rPr>
              <a:t>under</a:t>
            </a:r>
            <a:r>
              <a:rPr sz="2800" spc="30"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it</a:t>
            </a:r>
            <a:r>
              <a:rPr sz="2800" spc="15" dirty="0">
                <a:latin typeface="Calibri"/>
                <a:cs typeface="Calibri"/>
              </a:rPr>
              <a:t> </a:t>
            </a:r>
            <a:r>
              <a:rPr sz="2800" spc="-5" dirty="0">
                <a:latin typeface="Calibri"/>
                <a:cs typeface="Calibri"/>
              </a:rPr>
              <a:t>is </a:t>
            </a:r>
            <a:r>
              <a:rPr sz="2800" dirty="0">
                <a:latin typeface="Calibri"/>
                <a:cs typeface="Calibri"/>
              </a:rPr>
              <a:t> </a:t>
            </a:r>
            <a:r>
              <a:rPr sz="2800" spc="-10" dirty="0">
                <a:latin typeface="Calibri"/>
                <a:cs typeface="Calibri"/>
              </a:rPr>
              <a:t>suppose</a:t>
            </a:r>
            <a:r>
              <a:rPr sz="2800" spc="45"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work</a:t>
            </a:r>
            <a:endParaRPr sz="2800" dirty="0">
              <a:latin typeface="Calibri"/>
              <a:cs typeface="Calibri"/>
            </a:endParaRPr>
          </a:p>
          <a:p>
            <a:pPr marL="241300" marR="166370" indent="-228600">
              <a:lnSpc>
                <a:spcPts val="3020"/>
              </a:lnSpc>
              <a:spcBef>
                <a:spcPts val="1045"/>
              </a:spcBef>
              <a:buFont typeface="Arial MT"/>
              <a:buChar char="•"/>
              <a:tabLst>
                <a:tab pos="241300" algn="l"/>
              </a:tabLst>
            </a:pPr>
            <a:r>
              <a:rPr sz="2800" spc="-5" dirty="0">
                <a:latin typeface="Calibri"/>
                <a:cs typeface="Calibri"/>
              </a:rPr>
              <a:t>NN</a:t>
            </a:r>
            <a:r>
              <a:rPr sz="2800" spc="2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a</a:t>
            </a:r>
            <a:r>
              <a:rPr sz="2800" spc="15" dirty="0">
                <a:latin typeface="Calibri"/>
                <a:cs typeface="Calibri"/>
              </a:rPr>
              <a:t> </a:t>
            </a:r>
            <a:r>
              <a:rPr sz="2800" spc="-10" dirty="0">
                <a:latin typeface="Calibri"/>
                <a:cs typeface="Calibri"/>
              </a:rPr>
              <a:t>mathematical</a:t>
            </a:r>
            <a:r>
              <a:rPr sz="2800" spc="5" dirty="0">
                <a:latin typeface="Calibri"/>
                <a:cs typeface="Calibri"/>
              </a:rPr>
              <a:t> </a:t>
            </a:r>
            <a:r>
              <a:rPr sz="2800" spc="-5" dirty="0">
                <a:latin typeface="Calibri"/>
                <a:cs typeface="Calibri"/>
              </a:rPr>
              <a:t>model</a:t>
            </a:r>
            <a:r>
              <a:rPr sz="2800" spc="20"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information</a:t>
            </a:r>
            <a:r>
              <a:rPr sz="2800" spc="30" dirty="0">
                <a:latin typeface="Calibri"/>
                <a:cs typeface="Calibri"/>
              </a:rPr>
              <a:t> </a:t>
            </a:r>
            <a:r>
              <a:rPr sz="2800" spc="-10" dirty="0">
                <a:latin typeface="Calibri"/>
                <a:cs typeface="Calibri"/>
              </a:rPr>
              <a:t>processing</a:t>
            </a:r>
            <a:r>
              <a:rPr sz="2800" spc="35" dirty="0">
                <a:latin typeface="Calibri"/>
                <a:cs typeface="Calibri"/>
              </a:rPr>
              <a:t> </a:t>
            </a:r>
            <a:r>
              <a:rPr sz="2800" spc="-5" dirty="0">
                <a:latin typeface="Calibri"/>
                <a:cs typeface="Calibri"/>
              </a:rPr>
              <a:t>analogous</a:t>
            </a:r>
            <a:r>
              <a:rPr sz="2800" spc="35" dirty="0">
                <a:latin typeface="Calibri"/>
                <a:cs typeface="Calibri"/>
              </a:rPr>
              <a:t> </a:t>
            </a:r>
            <a:r>
              <a:rPr sz="2800" spc="-15" dirty="0">
                <a:latin typeface="Calibri"/>
                <a:cs typeface="Calibri"/>
              </a:rPr>
              <a:t>to </a:t>
            </a:r>
            <a:r>
              <a:rPr sz="2800" spc="-620" dirty="0">
                <a:latin typeface="Calibri"/>
                <a:cs typeface="Calibri"/>
              </a:rPr>
              <a:t> </a:t>
            </a:r>
            <a:r>
              <a:rPr sz="2800" spc="-5" dirty="0">
                <a:latin typeface="Calibri"/>
                <a:cs typeface="Calibri"/>
              </a:rPr>
              <a:t>human</a:t>
            </a:r>
            <a:r>
              <a:rPr sz="2800" spc="25" dirty="0">
                <a:latin typeface="Calibri"/>
                <a:cs typeface="Calibri"/>
              </a:rPr>
              <a:t> </a:t>
            </a:r>
            <a:r>
              <a:rPr sz="2800" spc="-20" dirty="0">
                <a:latin typeface="Calibri"/>
                <a:cs typeface="Calibri"/>
              </a:rPr>
              <a:t>brain</a:t>
            </a:r>
            <a:endParaRPr sz="2800" dirty="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007610" cy="697230"/>
          </a:xfrm>
          <a:prstGeom prst="rect">
            <a:avLst/>
          </a:prstGeom>
        </p:spPr>
        <p:txBody>
          <a:bodyPr vert="horz" wrap="square" lIns="0" tIns="13335" rIns="0" bIns="0" rtlCol="0">
            <a:spAutoFit/>
          </a:bodyPr>
          <a:lstStyle/>
          <a:p>
            <a:pPr marL="12700">
              <a:lnSpc>
                <a:spcPct val="100000"/>
              </a:lnSpc>
              <a:spcBef>
                <a:spcPts val="105"/>
              </a:spcBef>
            </a:pPr>
            <a:r>
              <a:rPr sz="4400" spc="-15" dirty="0"/>
              <a:t>Neural Network:</a:t>
            </a:r>
            <a:r>
              <a:rPr sz="4400" spc="-20" dirty="0"/>
              <a:t> Brain</a:t>
            </a:r>
            <a:endParaRPr sz="4400"/>
          </a:p>
        </p:txBody>
      </p:sp>
      <p:pic>
        <p:nvPicPr>
          <p:cNvPr id="3" name="object 3"/>
          <p:cNvPicPr/>
          <p:nvPr/>
        </p:nvPicPr>
        <p:blipFill>
          <a:blip r:embed="rId2" cstate="print"/>
          <a:stretch>
            <a:fillRect/>
          </a:stretch>
        </p:blipFill>
        <p:spPr>
          <a:xfrm>
            <a:off x="229347" y="2051143"/>
            <a:ext cx="5657114" cy="4083033"/>
          </a:xfrm>
          <a:prstGeom prst="rect">
            <a:avLst/>
          </a:prstGeom>
        </p:spPr>
      </p:pic>
      <p:sp>
        <p:nvSpPr>
          <p:cNvPr id="4" name="object 4"/>
          <p:cNvSpPr txBox="1"/>
          <p:nvPr/>
        </p:nvSpPr>
        <p:spPr>
          <a:xfrm>
            <a:off x="6251828" y="1759661"/>
            <a:ext cx="4994910" cy="4374515"/>
          </a:xfrm>
          <a:prstGeom prst="rect">
            <a:avLst/>
          </a:prstGeom>
        </p:spPr>
        <p:txBody>
          <a:bodyPr vert="horz" wrap="square" lIns="0" tIns="94615" rIns="0" bIns="0" rtlCol="0">
            <a:spAutoFit/>
          </a:bodyPr>
          <a:lstStyle/>
          <a:p>
            <a:pPr marL="241300" marR="137795" indent="-228600">
              <a:lnSpc>
                <a:spcPts val="2690"/>
              </a:lnSpc>
              <a:spcBef>
                <a:spcPts val="745"/>
              </a:spcBef>
              <a:buFont typeface="Arial MT"/>
              <a:buChar char="•"/>
              <a:tabLst>
                <a:tab pos="241300" algn="l"/>
              </a:tabLst>
            </a:pPr>
            <a:r>
              <a:rPr sz="2800" spc="-15" dirty="0">
                <a:latin typeface="Calibri"/>
                <a:cs typeface="Calibri"/>
              </a:rPr>
              <a:t>Neuron:</a:t>
            </a:r>
            <a:r>
              <a:rPr sz="2800" spc="20" dirty="0">
                <a:latin typeface="Calibri"/>
                <a:cs typeface="Calibri"/>
              </a:rPr>
              <a:t> </a:t>
            </a:r>
            <a:r>
              <a:rPr sz="2800" spc="-15" dirty="0">
                <a:latin typeface="Calibri"/>
                <a:cs typeface="Calibri"/>
              </a:rPr>
              <a:t>fundamental</a:t>
            </a:r>
            <a:r>
              <a:rPr sz="2800" spc="5" dirty="0">
                <a:latin typeface="Calibri"/>
                <a:cs typeface="Calibri"/>
              </a:rPr>
              <a:t> </a:t>
            </a:r>
            <a:r>
              <a:rPr sz="2800" spc="-5" dirty="0">
                <a:latin typeface="Calibri"/>
                <a:cs typeface="Calibri"/>
              </a:rPr>
              <a:t>function </a:t>
            </a:r>
            <a:r>
              <a:rPr sz="2800" dirty="0">
                <a:latin typeface="Calibri"/>
                <a:cs typeface="Calibri"/>
              </a:rPr>
              <a:t> </a:t>
            </a:r>
            <a:r>
              <a:rPr sz="2800" spc="-10" dirty="0">
                <a:latin typeface="Calibri"/>
                <a:cs typeface="Calibri"/>
              </a:rPr>
              <a:t>unit</a:t>
            </a:r>
            <a:r>
              <a:rPr sz="2800" spc="10" dirty="0">
                <a:latin typeface="Calibri"/>
                <a:cs typeface="Calibri"/>
              </a:rPr>
              <a:t> </a:t>
            </a:r>
            <a:r>
              <a:rPr sz="2800" spc="-5" dirty="0">
                <a:latin typeface="Calibri"/>
                <a:cs typeface="Calibri"/>
              </a:rPr>
              <a:t>of</a:t>
            </a:r>
            <a:r>
              <a:rPr sz="2800" spc="-10" dirty="0">
                <a:latin typeface="Calibri"/>
                <a:cs typeface="Calibri"/>
              </a:rPr>
              <a:t> </a:t>
            </a:r>
            <a:r>
              <a:rPr sz="2800" dirty="0">
                <a:latin typeface="Calibri"/>
                <a:cs typeface="Calibri"/>
              </a:rPr>
              <a:t>all</a:t>
            </a:r>
            <a:r>
              <a:rPr sz="2800" spc="-20" dirty="0">
                <a:latin typeface="Calibri"/>
                <a:cs typeface="Calibri"/>
              </a:rPr>
              <a:t> </a:t>
            </a:r>
            <a:r>
              <a:rPr sz="2800" spc="-10" dirty="0">
                <a:latin typeface="Calibri"/>
                <a:cs typeface="Calibri"/>
              </a:rPr>
              <a:t>nervous</a:t>
            </a:r>
            <a:r>
              <a:rPr sz="2800" spc="20" dirty="0">
                <a:latin typeface="Calibri"/>
                <a:cs typeface="Calibri"/>
              </a:rPr>
              <a:t> </a:t>
            </a:r>
            <a:r>
              <a:rPr sz="2800" spc="-30" dirty="0">
                <a:latin typeface="Calibri"/>
                <a:cs typeface="Calibri"/>
              </a:rPr>
              <a:t>system</a:t>
            </a:r>
            <a:r>
              <a:rPr sz="2800" spc="5" dirty="0">
                <a:latin typeface="Calibri"/>
                <a:cs typeface="Calibri"/>
              </a:rPr>
              <a:t> </a:t>
            </a:r>
            <a:r>
              <a:rPr sz="2800" spc="-10" dirty="0">
                <a:latin typeface="Calibri"/>
                <a:cs typeface="Calibri"/>
              </a:rPr>
              <a:t>tissue</a:t>
            </a:r>
            <a:endParaRPr sz="2800">
              <a:latin typeface="Calibri"/>
              <a:cs typeface="Calibri"/>
            </a:endParaRPr>
          </a:p>
          <a:p>
            <a:pPr marL="241300" indent="-228600">
              <a:lnSpc>
                <a:spcPct val="100000"/>
              </a:lnSpc>
              <a:spcBef>
                <a:spcPts val="345"/>
              </a:spcBef>
              <a:buFont typeface="Arial MT"/>
              <a:buChar char="•"/>
              <a:tabLst>
                <a:tab pos="241300" algn="l"/>
              </a:tabLst>
            </a:pPr>
            <a:r>
              <a:rPr sz="2800" spc="-10" dirty="0">
                <a:latin typeface="Calibri"/>
                <a:cs typeface="Calibri"/>
              </a:rPr>
              <a:t>Soma:</a:t>
            </a:r>
            <a:r>
              <a:rPr sz="2800" spc="10" dirty="0">
                <a:latin typeface="Calibri"/>
                <a:cs typeface="Calibri"/>
              </a:rPr>
              <a:t> </a:t>
            </a:r>
            <a:r>
              <a:rPr sz="2800" spc="-5" dirty="0">
                <a:latin typeface="Calibri"/>
                <a:cs typeface="Calibri"/>
              </a:rPr>
              <a:t>cell</a:t>
            </a:r>
            <a:r>
              <a:rPr sz="2800" spc="-10" dirty="0">
                <a:latin typeface="Calibri"/>
                <a:cs typeface="Calibri"/>
              </a:rPr>
              <a:t> </a:t>
            </a:r>
            <a:r>
              <a:rPr sz="2800" spc="-50" dirty="0">
                <a:latin typeface="Calibri"/>
                <a:cs typeface="Calibri"/>
              </a:rPr>
              <a:t>body,</a:t>
            </a:r>
            <a:r>
              <a:rPr sz="2800" spc="40" dirty="0">
                <a:latin typeface="Calibri"/>
                <a:cs typeface="Calibri"/>
              </a:rPr>
              <a:t> </a:t>
            </a:r>
            <a:r>
              <a:rPr sz="2800" spc="-20" dirty="0">
                <a:latin typeface="Calibri"/>
                <a:cs typeface="Calibri"/>
              </a:rPr>
              <a:t>contain</a:t>
            </a:r>
            <a:r>
              <a:rPr sz="2800" spc="5" dirty="0">
                <a:latin typeface="Calibri"/>
                <a:cs typeface="Calibri"/>
              </a:rPr>
              <a:t> </a:t>
            </a:r>
            <a:r>
              <a:rPr sz="2800" spc="-10" dirty="0">
                <a:latin typeface="Calibri"/>
                <a:cs typeface="Calibri"/>
              </a:rPr>
              <a:t>nucleus</a:t>
            </a:r>
            <a:endParaRPr sz="2800">
              <a:latin typeface="Calibri"/>
              <a:cs typeface="Calibri"/>
            </a:endParaRPr>
          </a:p>
          <a:p>
            <a:pPr marL="241300" marR="410845" indent="-228600">
              <a:lnSpc>
                <a:spcPts val="2690"/>
              </a:lnSpc>
              <a:spcBef>
                <a:spcPts val="985"/>
              </a:spcBef>
              <a:buFont typeface="Arial MT"/>
              <a:buChar char="•"/>
              <a:tabLst>
                <a:tab pos="241300" algn="l"/>
              </a:tabLst>
            </a:pPr>
            <a:r>
              <a:rPr sz="2800" spc="-10" dirty="0">
                <a:latin typeface="Calibri"/>
                <a:cs typeface="Calibri"/>
              </a:rPr>
              <a:t>Dendrites:</a:t>
            </a:r>
            <a:r>
              <a:rPr sz="2800" spc="15" dirty="0">
                <a:latin typeface="Calibri"/>
                <a:cs typeface="Calibri"/>
              </a:rPr>
              <a:t> </a:t>
            </a:r>
            <a:r>
              <a:rPr sz="2800" spc="-5" dirty="0">
                <a:latin typeface="Calibri"/>
                <a:cs typeface="Calibri"/>
              </a:rPr>
              <a:t>a</a:t>
            </a:r>
            <a:r>
              <a:rPr sz="2800" spc="-10" dirty="0">
                <a:latin typeface="Calibri"/>
                <a:cs typeface="Calibri"/>
              </a:rPr>
              <a:t> number</a:t>
            </a:r>
            <a:r>
              <a:rPr sz="2800" spc="25"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fibres, </a:t>
            </a:r>
            <a:r>
              <a:rPr sz="2800" spc="-620" dirty="0">
                <a:latin typeface="Calibri"/>
                <a:cs typeface="Calibri"/>
              </a:rPr>
              <a:t> </a:t>
            </a:r>
            <a:r>
              <a:rPr sz="2800" spc="-10" dirty="0">
                <a:latin typeface="Calibri"/>
                <a:cs typeface="Calibri"/>
              </a:rPr>
              <a:t>input</a:t>
            </a:r>
            <a:endParaRPr sz="2800">
              <a:latin typeface="Calibri"/>
              <a:cs typeface="Calibri"/>
            </a:endParaRPr>
          </a:p>
          <a:p>
            <a:pPr marL="241300" marR="834390" indent="-228600">
              <a:lnSpc>
                <a:spcPct val="80000"/>
              </a:lnSpc>
              <a:spcBef>
                <a:spcPts val="1019"/>
              </a:spcBef>
              <a:buFont typeface="Arial MT"/>
              <a:buChar char="•"/>
              <a:tabLst>
                <a:tab pos="241300" algn="l"/>
              </a:tabLst>
            </a:pPr>
            <a:r>
              <a:rPr sz="2800" spc="-20" dirty="0">
                <a:latin typeface="Calibri"/>
                <a:cs typeface="Calibri"/>
              </a:rPr>
              <a:t>Axon:</a:t>
            </a:r>
            <a:r>
              <a:rPr sz="2800" dirty="0">
                <a:latin typeface="Calibri"/>
                <a:cs typeface="Calibri"/>
              </a:rPr>
              <a:t> </a:t>
            </a:r>
            <a:r>
              <a:rPr sz="2800" spc="-10" dirty="0">
                <a:latin typeface="Calibri"/>
                <a:cs typeface="Calibri"/>
              </a:rPr>
              <a:t>single</a:t>
            </a:r>
            <a:r>
              <a:rPr sz="2800" spc="-5" dirty="0">
                <a:latin typeface="Calibri"/>
                <a:cs typeface="Calibri"/>
              </a:rPr>
              <a:t> long</a:t>
            </a:r>
            <a:r>
              <a:rPr sz="2800" spc="-10" dirty="0">
                <a:latin typeface="Calibri"/>
                <a:cs typeface="Calibri"/>
              </a:rPr>
              <a:t> </a:t>
            </a:r>
            <a:r>
              <a:rPr sz="2800" spc="-15" dirty="0">
                <a:latin typeface="Calibri"/>
                <a:cs typeface="Calibri"/>
              </a:rPr>
              <a:t>fibre</a:t>
            </a:r>
            <a:r>
              <a:rPr sz="2800" spc="5" dirty="0">
                <a:latin typeface="Calibri"/>
                <a:cs typeface="Calibri"/>
              </a:rPr>
              <a:t> </a:t>
            </a:r>
            <a:r>
              <a:rPr sz="2800" spc="-5" dirty="0">
                <a:latin typeface="Calibri"/>
                <a:cs typeface="Calibri"/>
              </a:rPr>
              <a:t>with </a:t>
            </a:r>
            <a:r>
              <a:rPr sz="2800" spc="-620" dirty="0">
                <a:latin typeface="Calibri"/>
                <a:cs typeface="Calibri"/>
              </a:rPr>
              <a:t> </a:t>
            </a:r>
            <a:r>
              <a:rPr sz="2800" spc="-15" dirty="0">
                <a:latin typeface="Calibri"/>
                <a:cs typeface="Calibri"/>
              </a:rPr>
              <a:t>many</a:t>
            </a:r>
            <a:r>
              <a:rPr sz="2800" spc="-10" dirty="0">
                <a:latin typeface="Calibri"/>
                <a:cs typeface="Calibri"/>
              </a:rPr>
              <a:t> branches,</a:t>
            </a:r>
            <a:r>
              <a:rPr sz="2800" spc="10" dirty="0">
                <a:latin typeface="Calibri"/>
                <a:cs typeface="Calibri"/>
              </a:rPr>
              <a:t> </a:t>
            </a:r>
            <a:r>
              <a:rPr sz="2800" spc="-10" dirty="0">
                <a:latin typeface="Calibri"/>
                <a:cs typeface="Calibri"/>
              </a:rPr>
              <a:t>output</a:t>
            </a:r>
            <a:endParaRPr sz="2800">
              <a:latin typeface="Calibri"/>
              <a:cs typeface="Calibri"/>
            </a:endParaRPr>
          </a:p>
          <a:p>
            <a:pPr marL="241300" marR="5080" indent="-228600">
              <a:lnSpc>
                <a:spcPct val="80000"/>
              </a:lnSpc>
              <a:spcBef>
                <a:spcPts val="1000"/>
              </a:spcBef>
              <a:buFont typeface="Arial MT"/>
              <a:buChar char="•"/>
              <a:tabLst>
                <a:tab pos="241300" algn="l"/>
              </a:tabLst>
            </a:pPr>
            <a:r>
              <a:rPr sz="2800" spc="-15" dirty="0">
                <a:latin typeface="Calibri"/>
                <a:cs typeface="Calibri"/>
              </a:rPr>
              <a:t>Synapse:</a:t>
            </a:r>
            <a:r>
              <a:rPr sz="2800" spc="20" dirty="0">
                <a:latin typeface="Calibri"/>
                <a:cs typeface="Calibri"/>
              </a:rPr>
              <a:t> </a:t>
            </a:r>
            <a:r>
              <a:rPr sz="2800" spc="-10" dirty="0">
                <a:latin typeface="Calibri"/>
                <a:cs typeface="Calibri"/>
              </a:rPr>
              <a:t>junction</a:t>
            </a:r>
            <a:r>
              <a:rPr sz="2800" spc="20" dirty="0">
                <a:latin typeface="Calibri"/>
                <a:cs typeface="Calibri"/>
              </a:rPr>
              <a:t> </a:t>
            </a:r>
            <a:r>
              <a:rPr sz="2800" spc="-5" dirty="0">
                <a:latin typeface="Calibri"/>
                <a:cs typeface="Calibri"/>
              </a:rPr>
              <a:t>of</a:t>
            </a:r>
            <a:r>
              <a:rPr sz="2800" spc="-10" dirty="0">
                <a:latin typeface="Calibri"/>
                <a:cs typeface="Calibri"/>
              </a:rPr>
              <a:t> dendrites </a:t>
            </a:r>
            <a:r>
              <a:rPr sz="2800" spc="-5" dirty="0">
                <a:latin typeface="Calibri"/>
                <a:cs typeface="Calibri"/>
              </a:rPr>
              <a:t> and</a:t>
            </a:r>
            <a:r>
              <a:rPr sz="2800" spc="5" dirty="0">
                <a:latin typeface="Calibri"/>
                <a:cs typeface="Calibri"/>
              </a:rPr>
              <a:t> </a:t>
            </a:r>
            <a:r>
              <a:rPr sz="2800" spc="-25" dirty="0">
                <a:latin typeface="Calibri"/>
                <a:cs typeface="Calibri"/>
              </a:rPr>
              <a:t>axon,</a:t>
            </a:r>
            <a:r>
              <a:rPr sz="2800" spc="5" dirty="0">
                <a:latin typeface="Calibri"/>
                <a:cs typeface="Calibri"/>
              </a:rPr>
              <a:t> </a:t>
            </a:r>
            <a:r>
              <a:rPr sz="2800" spc="-5" dirty="0">
                <a:latin typeface="Calibri"/>
                <a:cs typeface="Calibri"/>
              </a:rPr>
              <a:t>each</a:t>
            </a:r>
            <a:r>
              <a:rPr sz="2800" spc="-10" dirty="0">
                <a:latin typeface="Calibri"/>
                <a:cs typeface="Calibri"/>
              </a:rPr>
              <a:t> </a:t>
            </a:r>
            <a:r>
              <a:rPr sz="2800" spc="-20" dirty="0">
                <a:latin typeface="Calibri"/>
                <a:cs typeface="Calibri"/>
              </a:rPr>
              <a:t>neuron</a:t>
            </a:r>
            <a:r>
              <a:rPr sz="2800" spc="30" dirty="0">
                <a:latin typeface="Calibri"/>
                <a:cs typeface="Calibri"/>
              </a:rPr>
              <a:t> </a:t>
            </a:r>
            <a:r>
              <a:rPr sz="2800" spc="-25" dirty="0">
                <a:latin typeface="Calibri"/>
                <a:cs typeface="Calibri"/>
              </a:rPr>
              <a:t>form </a:t>
            </a:r>
            <a:r>
              <a:rPr sz="2800" spc="-20" dirty="0">
                <a:latin typeface="Calibri"/>
                <a:cs typeface="Calibri"/>
              </a:rPr>
              <a:t> </a:t>
            </a:r>
            <a:r>
              <a:rPr sz="2800" spc="-15" dirty="0">
                <a:latin typeface="Calibri"/>
                <a:cs typeface="Calibri"/>
              </a:rPr>
              <a:t>synapse</a:t>
            </a:r>
            <a:r>
              <a:rPr sz="2800" spc="10" dirty="0">
                <a:latin typeface="Calibri"/>
                <a:cs typeface="Calibri"/>
              </a:rPr>
              <a:t> </a:t>
            </a:r>
            <a:r>
              <a:rPr sz="2800" spc="-5" dirty="0">
                <a:latin typeface="Calibri"/>
                <a:cs typeface="Calibri"/>
              </a:rPr>
              <a:t>with 10</a:t>
            </a:r>
            <a:r>
              <a:rPr sz="2800" spc="10" dirty="0">
                <a:latin typeface="Calibri"/>
                <a:cs typeface="Calibri"/>
              </a:rPr>
              <a:t> </a:t>
            </a:r>
            <a:r>
              <a:rPr sz="2800" spc="-20" dirty="0">
                <a:latin typeface="Calibri"/>
                <a:cs typeface="Calibri"/>
              </a:rPr>
              <a:t>to</a:t>
            </a:r>
            <a:r>
              <a:rPr sz="2800" spc="-10" dirty="0">
                <a:latin typeface="Calibri"/>
                <a:cs typeface="Calibri"/>
              </a:rPr>
              <a:t> </a:t>
            </a:r>
            <a:r>
              <a:rPr sz="2800" spc="-5" dirty="0">
                <a:latin typeface="Calibri"/>
                <a:cs typeface="Calibri"/>
              </a:rPr>
              <a:t>100000</a:t>
            </a:r>
            <a:r>
              <a:rPr sz="2800" spc="45" dirty="0">
                <a:latin typeface="Calibri"/>
                <a:cs typeface="Calibri"/>
              </a:rPr>
              <a:t> </a:t>
            </a:r>
            <a:r>
              <a:rPr sz="2800" spc="-10" dirty="0">
                <a:latin typeface="Calibri"/>
                <a:cs typeface="Calibri"/>
              </a:rPr>
              <a:t>other </a:t>
            </a:r>
            <a:r>
              <a:rPr sz="2800" spc="-620" dirty="0">
                <a:latin typeface="Calibri"/>
                <a:cs typeface="Calibri"/>
              </a:rPr>
              <a:t> </a:t>
            </a:r>
            <a:r>
              <a:rPr sz="2800" spc="-15" dirty="0">
                <a:latin typeface="Calibri"/>
                <a:cs typeface="Calibri"/>
              </a:rPr>
              <a:t>neurons</a:t>
            </a:r>
            <a:endParaRPr sz="28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0257790" cy="697230"/>
          </a:xfrm>
          <a:prstGeom prst="rect">
            <a:avLst/>
          </a:prstGeom>
        </p:spPr>
        <p:txBody>
          <a:bodyPr vert="horz" wrap="square" lIns="0" tIns="13335" rIns="0" bIns="0" rtlCol="0">
            <a:spAutoFit/>
          </a:bodyPr>
          <a:lstStyle/>
          <a:p>
            <a:pPr marL="12700">
              <a:lnSpc>
                <a:spcPct val="100000"/>
              </a:lnSpc>
              <a:spcBef>
                <a:spcPts val="105"/>
              </a:spcBef>
            </a:pPr>
            <a:r>
              <a:rPr sz="4400" spc="-5" dirty="0"/>
              <a:t>Artificial</a:t>
            </a:r>
            <a:r>
              <a:rPr sz="4400" spc="-10" dirty="0"/>
              <a:t> </a:t>
            </a:r>
            <a:r>
              <a:rPr sz="4400" spc="-15" dirty="0"/>
              <a:t>Neural</a:t>
            </a:r>
            <a:r>
              <a:rPr sz="4400" dirty="0"/>
              <a:t> </a:t>
            </a:r>
            <a:r>
              <a:rPr sz="4400" spc="-15" dirty="0"/>
              <a:t>Network:</a:t>
            </a:r>
            <a:r>
              <a:rPr sz="4400" spc="-5" dirty="0"/>
              <a:t> </a:t>
            </a:r>
            <a:r>
              <a:rPr sz="4400" spc="-40" dirty="0"/>
              <a:t>Typical</a:t>
            </a:r>
            <a:r>
              <a:rPr sz="4400" spc="10" dirty="0"/>
              <a:t> </a:t>
            </a:r>
            <a:r>
              <a:rPr sz="4400" spc="-15" dirty="0"/>
              <a:t>Architecture</a:t>
            </a:r>
            <a:endParaRPr sz="4400" dirty="0"/>
          </a:p>
        </p:txBody>
      </p:sp>
      <p:pic>
        <p:nvPicPr>
          <p:cNvPr id="3" name="object 3"/>
          <p:cNvPicPr/>
          <p:nvPr/>
        </p:nvPicPr>
        <p:blipFill>
          <a:blip r:embed="rId2" cstate="print"/>
          <a:stretch>
            <a:fillRect/>
          </a:stretch>
        </p:blipFill>
        <p:spPr>
          <a:xfrm>
            <a:off x="1809648" y="2012886"/>
            <a:ext cx="8536833" cy="398083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014980"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55" dirty="0"/>
              <a:t> </a:t>
            </a:r>
            <a:r>
              <a:rPr sz="4400" spc="-20" dirty="0"/>
              <a:t>Neuron</a:t>
            </a:r>
            <a:endParaRPr sz="4400"/>
          </a:p>
        </p:txBody>
      </p:sp>
      <p:pic>
        <p:nvPicPr>
          <p:cNvPr id="3" name="object 3"/>
          <p:cNvPicPr/>
          <p:nvPr/>
        </p:nvPicPr>
        <p:blipFill>
          <a:blip r:embed="rId2" cstate="print"/>
          <a:stretch>
            <a:fillRect/>
          </a:stretch>
        </p:blipFill>
        <p:spPr>
          <a:xfrm>
            <a:off x="441785" y="2746983"/>
            <a:ext cx="5673395" cy="2387372"/>
          </a:xfrm>
          <a:prstGeom prst="rect">
            <a:avLst/>
          </a:prstGeom>
        </p:spPr>
      </p:pic>
      <p:sp>
        <p:nvSpPr>
          <p:cNvPr id="4" name="object 4"/>
          <p:cNvSpPr txBox="1"/>
          <p:nvPr/>
        </p:nvSpPr>
        <p:spPr>
          <a:xfrm>
            <a:off x="6251828" y="1793189"/>
            <a:ext cx="5809615" cy="2501265"/>
          </a:xfrm>
          <a:prstGeom prst="rect">
            <a:avLst/>
          </a:prstGeom>
        </p:spPr>
        <p:txBody>
          <a:bodyPr vert="horz" wrap="square" lIns="0" tIns="55244" rIns="0" bIns="0" rtlCol="0">
            <a:spAutoFit/>
          </a:bodyPr>
          <a:lstStyle/>
          <a:p>
            <a:pPr marL="241300" marR="5080" indent="-228600">
              <a:lnSpc>
                <a:spcPct val="90000"/>
              </a:lnSpc>
              <a:spcBef>
                <a:spcPts val="434"/>
              </a:spcBef>
              <a:buFont typeface="Arial MT"/>
              <a:buChar char="•"/>
              <a:tabLst>
                <a:tab pos="241300" algn="l"/>
              </a:tabLst>
            </a:pPr>
            <a:r>
              <a:rPr sz="2800" spc="-5" dirty="0">
                <a:latin typeface="Calibri"/>
                <a:cs typeface="Calibri"/>
              </a:rPr>
              <a:t>The</a:t>
            </a:r>
            <a:r>
              <a:rPr sz="2800" spc="-10" dirty="0">
                <a:latin typeface="Calibri"/>
                <a:cs typeface="Calibri"/>
              </a:rPr>
              <a:t> </a:t>
            </a:r>
            <a:r>
              <a:rPr sz="2800" spc="-15" dirty="0">
                <a:latin typeface="Calibri"/>
                <a:cs typeface="Calibri"/>
              </a:rPr>
              <a:t>neuron</a:t>
            </a:r>
            <a:r>
              <a:rPr sz="2800" spc="30" dirty="0">
                <a:latin typeface="Calibri"/>
                <a:cs typeface="Calibri"/>
              </a:rPr>
              <a:t> </a:t>
            </a:r>
            <a:r>
              <a:rPr sz="2800" spc="-15" dirty="0">
                <a:latin typeface="Calibri"/>
                <a:cs typeface="Calibri"/>
              </a:rPr>
              <a:t>computes</a:t>
            </a:r>
            <a:r>
              <a:rPr sz="2800" spc="15" dirty="0">
                <a:latin typeface="Calibri"/>
                <a:cs typeface="Calibri"/>
              </a:rPr>
              <a:t> </a:t>
            </a:r>
            <a:r>
              <a:rPr sz="2800" spc="-5" dirty="0">
                <a:latin typeface="Calibri"/>
                <a:cs typeface="Calibri"/>
              </a:rPr>
              <a:t>the </a:t>
            </a:r>
            <a:r>
              <a:rPr sz="2800" spc="-15" dirty="0">
                <a:latin typeface="Calibri"/>
                <a:cs typeface="Calibri"/>
              </a:rPr>
              <a:t>weighted </a:t>
            </a:r>
            <a:r>
              <a:rPr sz="2800" spc="-10" dirty="0">
                <a:latin typeface="Calibri"/>
                <a:cs typeface="Calibri"/>
              </a:rPr>
              <a:t> sum</a:t>
            </a:r>
            <a:r>
              <a:rPr sz="2800" spc="10" dirty="0">
                <a:latin typeface="Calibri"/>
                <a:cs typeface="Calibri"/>
              </a:rPr>
              <a:t> </a:t>
            </a:r>
            <a:r>
              <a:rPr sz="2800" spc="-5" dirty="0">
                <a:latin typeface="Calibri"/>
                <a:cs typeface="Calibri"/>
              </a:rPr>
              <a:t>of input</a:t>
            </a:r>
            <a:r>
              <a:rPr sz="2800" spc="25" dirty="0">
                <a:latin typeface="Calibri"/>
                <a:cs typeface="Calibri"/>
              </a:rPr>
              <a:t> </a:t>
            </a:r>
            <a:r>
              <a:rPr sz="2800" spc="-10" dirty="0">
                <a:latin typeface="Calibri"/>
                <a:cs typeface="Calibri"/>
              </a:rPr>
              <a:t>signals</a:t>
            </a:r>
            <a:r>
              <a:rPr sz="2800" spc="20" dirty="0">
                <a:latin typeface="Calibri"/>
                <a:cs typeface="Calibri"/>
              </a:rPr>
              <a:t> </a:t>
            </a:r>
            <a:r>
              <a:rPr sz="2800" spc="-5" dirty="0">
                <a:latin typeface="Calibri"/>
                <a:cs typeface="Calibri"/>
              </a:rPr>
              <a:t>and</a:t>
            </a:r>
            <a:r>
              <a:rPr sz="2800" spc="10" dirty="0">
                <a:latin typeface="Calibri"/>
                <a:cs typeface="Calibri"/>
              </a:rPr>
              <a:t> </a:t>
            </a:r>
            <a:r>
              <a:rPr sz="2800" spc="-15" dirty="0">
                <a:latin typeface="Calibri"/>
                <a:cs typeface="Calibri"/>
              </a:rPr>
              <a:t>compares</a:t>
            </a:r>
            <a:r>
              <a:rPr sz="2800" spc="5" dirty="0">
                <a:latin typeface="Calibri"/>
                <a:cs typeface="Calibri"/>
              </a:rPr>
              <a:t> </a:t>
            </a:r>
            <a:r>
              <a:rPr sz="2800" spc="-5" dirty="0">
                <a:latin typeface="Calibri"/>
                <a:cs typeface="Calibri"/>
              </a:rPr>
              <a:t>the </a:t>
            </a:r>
            <a:r>
              <a:rPr sz="2800" spc="-615" dirty="0">
                <a:latin typeface="Calibri"/>
                <a:cs typeface="Calibri"/>
              </a:rPr>
              <a:t> </a:t>
            </a:r>
            <a:r>
              <a:rPr sz="2800" spc="-15" dirty="0">
                <a:latin typeface="Calibri"/>
                <a:cs typeface="Calibri"/>
              </a:rPr>
              <a:t>result</a:t>
            </a:r>
            <a:r>
              <a:rPr sz="2800" spc="15" dirty="0">
                <a:latin typeface="Calibri"/>
                <a:cs typeface="Calibri"/>
              </a:rPr>
              <a:t> </a:t>
            </a:r>
            <a:r>
              <a:rPr sz="2800" spc="-5" dirty="0">
                <a:latin typeface="Calibri"/>
                <a:cs typeface="Calibri"/>
              </a:rPr>
              <a:t>with</a:t>
            </a:r>
            <a:r>
              <a:rPr sz="2800" spc="5" dirty="0">
                <a:latin typeface="Calibri"/>
                <a:cs typeface="Calibri"/>
              </a:rPr>
              <a:t> </a:t>
            </a:r>
            <a:r>
              <a:rPr sz="2800" spc="-5" dirty="0">
                <a:latin typeface="Calibri"/>
                <a:cs typeface="Calibri"/>
              </a:rPr>
              <a:t>a</a:t>
            </a:r>
            <a:r>
              <a:rPr sz="2800" spc="-10" dirty="0">
                <a:latin typeface="Calibri"/>
                <a:cs typeface="Calibri"/>
              </a:rPr>
              <a:t> threshold</a:t>
            </a:r>
            <a:r>
              <a:rPr sz="2800" spc="40" dirty="0">
                <a:latin typeface="Calibri"/>
                <a:cs typeface="Calibri"/>
              </a:rPr>
              <a:t> </a:t>
            </a:r>
            <a:r>
              <a:rPr sz="2800" spc="-10" dirty="0">
                <a:latin typeface="Calibri"/>
                <a:cs typeface="Calibri"/>
              </a:rPr>
              <a:t>value</a:t>
            </a:r>
            <a:endParaRPr sz="2800">
              <a:latin typeface="Calibri"/>
              <a:cs typeface="Calibri"/>
            </a:endParaRPr>
          </a:p>
          <a:p>
            <a:pPr marL="241300" marR="88900" indent="-228600">
              <a:lnSpc>
                <a:spcPts val="3030"/>
              </a:lnSpc>
              <a:spcBef>
                <a:spcPts val="1045"/>
              </a:spcBef>
              <a:buFont typeface="Arial MT"/>
              <a:buChar char="•"/>
              <a:tabLst>
                <a:tab pos="241300" algn="l"/>
              </a:tabLst>
            </a:pPr>
            <a:r>
              <a:rPr sz="2800" spc="-5" dirty="0">
                <a:latin typeface="Calibri"/>
                <a:cs typeface="Calibri"/>
              </a:rPr>
              <a:t>If</a:t>
            </a:r>
            <a:r>
              <a:rPr sz="2800" spc="-10" dirty="0">
                <a:latin typeface="Calibri"/>
                <a:cs typeface="Calibri"/>
              </a:rPr>
              <a:t> the</a:t>
            </a:r>
            <a:r>
              <a:rPr sz="2800" dirty="0">
                <a:latin typeface="Calibri"/>
                <a:cs typeface="Calibri"/>
              </a:rPr>
              <a:t> </a:t>
            </a:r>
            <a:r>
              <a:rPr sz="2800" spc="-15" dirty="0">
                <a:latin typeface="Calibri"/>
                <a:cs typeface="Calibri"/>
              </a:rPr>
              <a:t>net</a:t>
            </a:r>
            <a:r>
              <a:rPr sz="2800" spc="10" dirty="0">
                <a:latin typeface="Calibri"/>
                <a:cs typeface="Calibri"/>
              </a:rPr>
              <a:t> </a:t>
            </a:r>
            <a:r>
              <a:rPr sz="2800" spc="-10" dirty="0">
                <a:latin typeface="Calibri"/>
                <a:cs typeface="Calibri"/>
              </a:rPr>
              <a:t>output</a:t>
            </a:r>
            <a:r>
              <a:rPr sz="2800" spc="25"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less</a:t>
            </a:r>
            <a:r>
              <a:rPr sz="2800" spc="5" dirty="0">
                <a:latin typeface="Calibri"/>
                <a:cs typeface="Calibri"/>
              </a:rPr>
              <a:t> </a:t>
            </a:r>
            <a:r>
              <a:rPr sz="2800" spc="-5" dirty="0">
                <a:latin typeface="Calibri"/>
                <a:cs typeface="Calibri"/>
              </a:rPr>
              <a:t>than the </a:t>
            </a:r>
            <a:r>
              <a:rPr sz="2800" dirty="0">
                <a:latin typeface="Calibri"/>
                <a:cs typeface="Calibri"/>
              </a:rPr>
              <a:t> </a:t>
            </a:r>
            <a:r>
              <a:rPr sz="2800" spc="-10" dirty="0">
                <a:latin typeface="Calibri"/>
                <a:cs typeface="Calibri"/>
              </a:rPr>
              <a:t>threshold</a:t>
            </a:r>
            <a:r>
              <a:rPr sz="2800" spc="25"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neuron</a:t>
            </a:r>
            <a:r>
              <a:rPr sz="2800" spc="30" dirty="0">
                <a:latin typeface="Calibri"/>
                <a:cs typeface="Calibri"/>
              </a:rPr>
              <a:t> </a:t>
            </a:r>
            <a:r>
              <a:rPr sz="2800" spc="-10" dirty="0">
                <a:latin typeface="Calibri"/>
                <a:cs typeface="Calibri"/>
              </a:rPr>
              <a:t>output</a:t>
            </a:r>
            <a:r>
              <a:rPr sz="2800" spc="3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-1</a:t>
            </a:r>
            <a:r>
              <a:rPr sz="2800" spc="25" dirty="0">
                <a:latin typeface="Calibri"/>
                <a:cs typeface="Calibri"/>
              </a:rPr>
              <a:t> </a:t>
            </a:r>
            <a:r>
              <a:rPr sz="2800" spc="-5" dirty="0">
                <a:latin typeface="Calibri"/>
                <a:cs typeface="Calibri"/>
              </a:rPr>
              <a:t>else</a:t>
            </a:r>
            <a:endParaRPr sz="2800">
              <a:latin typeface="Calibri"/>
              <a:cs typeface="Calibri"/>
            </a:endParaRPr>
          </a:p>
          <a:p>
            <a:pPr marL="241300">
              <a:lnSpc>
                <a:spcPts val="2975"/>
              </a:lnSpc>
            </a:pPr>
            <a:r>
              <a:rPr sz="2800" spc="-10" dirty="0">
                <a:latin typeface="Calibri"/>
                <a:cs typeface="Calibri"/>
              </a:rPr>
              <a:t>+1</a:t>
            </a:r>
            <a:endParaRPr sz="2800">
              <a:latin typeface="Calibri"/>
              <a:cs typeface="Calibri"/>
            </a:endParaRPr>
          </a:p>
        </p:txBody>
      </p:sp>
      <p:sp>
        <p:nvSpPr>
          <p:cNvPr id="5" name="object 5"/>
          <p:cNvSpPr txBox="1"/>
          <p:nvPr/>
        </p:nvSpPr>
        <p:spPr>
          <a:xfrm>
            <a:off x="7816977" y="4679441"/>
            <a:ext cx="401320" cy="292735"/>
          </a:xfrm>
          <a:prstGeom prst="rect">
            <a:avLst/>
          </a:prstGeom>
        </p:spPr>
        <p:txBody>
          <a:bodyPr vert="horz" wrap="square" lIns="0" tIns="12700" rIns="0" bIns="0" rtlCol="0">
            <a:spAutoFit/>
          </a:bodyPr>
          <a:lstStyle/>
          <a:p>
            <a:pPr marL="12700">
              <a:lnSpc>
                <a:spcPct val="100000"/>
              </a:lnSpc>
              <a:spcBef>
                <a:spcPts val="100"/>
              </a:spcBef>
            </a:pPr>
            <a:r>
              <a:rPr sz="1750" spc="229" dirty="0">
                <a:latin typeface="Cambria Math"/>
                <a:cs typeface="Cambria Math"/>
              </a:rPr>
              <a:t>𝑖</a:t>
            </a:r>
            <a:r>
              <a:rPr sz="1750" spc="-30" dirty="0">
                <a:latin typeface="Cambria Math"/>
                <a:cs typeface="Cambria Math"/>
              </a:rPr>
              <a:t>=</a:t>
            </a:r>
            <a:r>
              <a:rPr sz="1750" spc="40" dirty="0">
                <a:latin typeface="Cambria Math"/>
                <a:cs typeface="Cambria Math"/>
              </a:rPr>
              <a:t>1</a:t>
            </a:r>
            <a:endParaRPr sz="1750">
              <a:latin typeface="Cambria Math"/>
              <a:cs typeface="Cambria Math"/>
            </a:endParaRPr>
          </a:p>
        </p:txBody>
      </p:sp>
      <p:sp>
        <p:nvSpPr>
          <p:cNvPr id="6" name="object 6"/>
          <p:cNvSpPr txBox="1"/>
          <p:nvPr/>
        </p:nvSpPr>
        <p:spPr>
          <a:xfrm>
            <a:off x="6226428" y="4470653"/>
            <a:ext cx="1786255" cy="452120"/>
          </a:xfrm>
          <a:prstGeom prst="rect">
            <a:avLst/>
          </a:prstGeom>
        </p:spPr>
        <p:txBody>
          <a:bodyPr vert="horz" wrap="square" lIns="0" tIns="12065" rIns="0" bIns="0" rtlCol="0">
            <a:spAutoFit/>
          </a:bodyPr>
          <a:lstStyle/>
          <a:p>
            <a:pPr marL="266700" indent="-228600">
              <a:lnSpc>
                <a:spcPct val="100000"/>
              </a:lnSpc>
              <a:spcBef>
                <a:spcPts val="95"/>
              </a:spcBef>
              <a:buFont typeface="Arial MT"/>
              <a:buChar char="•"/>
              <a:tabLst>
                <a:tab pos="266700" algn="l"/>
              </a:tabLst>
            </a:pPr>
            <a:r>
              <a:rPr sz="2800" spc="-5" dirty="0">
                <a:latin typeface="Calibri"/>
                <a:cs typeface="Calibri"/>
              </a:rPr>
              <a:t>i.e.</a:t>
            </a:r>
            <a:r>
              <a:rPr sz="2800" spc="-20" dirty="0">
                <a:latin typeface="Calibri"/>
                <a:cs typeface="Calibri"/>
              </a:rPr>
              <a:t> </a:t>
            </a:r>
            <a:r>
              <a:rPr sz="2400" dirty="0">
                <a:latin typeface="Cambria Math"/>
                <a:cs typeface="Cambria Math"/>
              </a:rPr>
              <a:t>𝑋</a:t>
            </a:r>
            <a:r>
              <a:rPr sz="2400" spc="165" dirty="0">
                <a:latin typeface="Cambria Math"/>
                <a:cs typeface="Cambria Math"/>
              </a:rPr>
              <a:t> </a:t>
            </a:r>
            <a:r>
              <a:rPr sz="2400" dirty="0">
                <a:latin typeface="Cambria Math"/>
                <a:cs typeface="Cambria Math"/>
              </a:rPr>
              <a:t>=</a:t>
            </a:r>
            <a:r>
              <a:rPr sz="2400" spc="114" dirty="0">
                <a:latin typeface="Cambria Math"/>
                <a:cs typeface="Cambria Math"/>
              </a:rPr>
              <a:t> </a:t>
            </a:r>
            <a:r>
              <a:rPr sz="3600" spc="97" baseline="2314" dirty="0">
                <a:latin typeface="Cambria Math"/>
                <a:cs typeface="Cambria Math"/>
              </a:rPr>
              <a:t>∑</a:t>
            </a:r>
            <a:r>
              <a:rPr sz="2625" spc="97" baseline="30158" dirty="0">
                <a:latin typeface="Cambria Math"/>
                <a:cs typeface="Cambria Math"/>
              </a:rPr>
              <a:t>𝑛</a:t>
            </a:r>
            <a:endParaRPr sz="2625" baseline="30158">
              <a:latin typeface="Cambria Math"/>
              <a:cs typeface="Cambria Math"/>
            </a:endParaRPr>
          </a:p>
        </p:txBody>
      </p:sp>
      <p:sp>
        <p:nvSpPr>
          <p:cNvPr id="7" name="object 7"/>
          <p:cNvSpPr txBox="1"/>
          <p:nvPr/>
        </p:nvSpPr>
        <p:spPr>
          <a:xfrm>
            <a:off x="8400668" y="4665726"/>
            <a:ext cx="417830" cy="292735"/>
          </a:xfrm>
          <a:prstGeom prst="rect">
            <a:avLst/>
          </a:prstGeom>
        </p:spPr>
        <p:txBody>
          <a:bodyPr vert="horz" wrap="square" lIns="0" tIns="12700" rIns="0" bIns="0" rtlCol="0">
            <a:spAutoFit/>
          </a:bodyPr>
          <a:lstStyle/>
          <a:p>
            <a:pPr marL="12700">
              <a:lnSpc>
                <a:spcPct val="100000"/>
              </a:lnSpc>
              <a:spcBef>
                <a:spcPts val="100"/>
              </a:spcBef>
              <a:tabLst>
                <a:tab pos="326390" algn="l"/>
              </a:tabLst>
            </a:pPr>
            <a:r>
              <a:rPr sz="1750" spc="185" dirty="0">
                <a:latin typeface="Cambria Math"/>
                <a:cs typeface="Cambria Math"/>
              </a:rPr>
              <a:t>𝑖	𝑖</a:t>
            </a:r>
            <a:endParaRPr sz="1750">
              <a:latin typeface="Cambria Math"/>
              <a:cs typeface="Cambria Math"/>
            </a:endParaRPr>
          </a:p>
        </p:txBody>
      </p:sp>
      <p:sp>
        <p:nvSpPr>
          <p:cNvPr id="8" name="object 8"/>
          <p:cNvSpPr txBox="1"/>
          <p:nvPr/>
        </p:nvSpPr>
        <p:spPr>
          <a:xfrm>
            <a:off x="8242172" y="4520945"/>
            <a:ext cx="121412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𝑥</a:t>
            </a:r>
            <a:r>
              <a:rPr sz="2400" spc="220" dirty="0">
                <a:latin typeface="Cambria Math"/>
                <a:cs typeface="Cambria Math"/>
              </a:rPr>
              <a:t> </a:t>
            </a:r>
            <a:r>
              <a:rPr sz="2400" dirty="0">
                <a:latin typeface="Cambria Math"/>
                <a:cs typeface="Cambria Math"/>
              </a:rPr>
              <a:t>𝑤</a:t>
            </a:r>
            <a:r>
              <a:rPr sz="2400" spc="170" dirty="0">
                <a:latin typeface="Cambria Math"/>
                <a:cs typeface="Cambria Math"/>
              </a:rPr>
              <a:t> </a:t>
            </a:r>
            <a:r>
              <a:rPr sz="2400" dirty="0">
                <a:latin typeface="Cambria Math"/>
                <a:cs typeface="Cambria Math"/>
              </a:rPr>
              <a:t>,</a:t>
            </a:r>
            <a:r>
              <a:rPr sz="2400" spc="-135" dirty="0">
                <a:latin typeface="Cambria Math"/>
                <a:cs typeface="Cambria Math"/>
              </a:rPr>
              <a:t> </a:t>
            </a:r>
            <a:r>
              <a:rPr sz="2400" dirty="0">
                <a:latin typeface="Cambria Math"/>
                <a:cs typeface="Cambria Math"/>
              </a:rPr>
              <a:t>𝑌</a:t>
            </a:r>
            <a:r>
              <a:rPr sz="2400" spc="195" dirty="0">
                <a:latin typeface="Cambria Math"/>
                <a:cs typeface="Cambria Math"/>
              </a:rPr>
              <a:t> </a:t>
            </a:r>
            <a:r>
              <a:rPr sz="2400" dirty="0">
                <a:latin typeface="Cambria Math"/>
                <a:cs typeface="Cambria Math"/>
              </a:rPr>
              <a:t>=</a:t>
            </a:r>
            <a:endParaRPr sz="2400">
              <a:latin typeface="Cambria Math"/>
              <a:cs typeface="Cambria Math"/>
            </a:endParaRPr>
          </a:p>
        </p:txBody>
      </p:sp>
      <p:sp>
        <p:nvSpPr>
          <p:cNvPr id="9" name="object 9"/>
          <p:cNvSpPr/>
          <p:nvPr/>
        </p:nvSpPr>
        <p:spPr>
          <a:xfrm>
            <a:off x="9536176" y="4446270"/>
            <a:ext cx="1801495" cy="607695"/>
          </a:xfrm>
          <a:custGeom>
            <a:avLst/>
            <a:gdLst/>
            <a:ahLst/>
            <a:cxnLst/>
            <a:rect l="l" t="t" r="r" b="b"/>
            <a:pathLst>
              <a:path w="1801495" h="607695">
                <a:moveTo>
                  <a:pt x="1703070" y="0"/>
                </a:moveTo>
                <a:lnTo>
                  <a:pt x="1703070" y="12699"/>
                </a:lnTo>
                <a:lnTo>
                  <a:pt x="1712976" y="15507"/>
                </a:lnTo>
                <a:lnTo>
                  <a:pt x="1722310" y="20875"/>
                </a:lnTo>
                <a:lnTo>
                  <a:pt x="1746172" y="52577"/>
                </a:lnTo>
                <a:lnTo>
                  <a:pt x="1755013" y="112013"/>
                </a:lnTo>
                <a:lnTo>
                  <a:pt x="1754891" y="117586"/>
                </a:lnTo>
                <a:lnTo>
                  <a:pt x="1750504" y="155559"/>
                </a:lnTo>
                <a:lnTo>
                  <a:pt x="1744930" y="185933"/>
                </a:lnTo>
                <a:lnTo>
                  <a:pt x="1743249" y="195087"/>
                </a:lnTo>
                <a:lnTo>
                  <a:pt x="1741830" y="203217"/>
                </a:lnTo>
                <a:lnTo>
                  <a:pt x="1740662" y="210311"/>
                </a:lnTo>
                <a:lnTo>
                  <a:pt x="1739392" y="218947"/>
                </a:lnTo>
                <a:lnTo>
                  <a:pt x="1738629" y="225043"/>
                </a:lnTo>
                <a:lnTo>
                  <a:pt x="1738629" y="228218"/>
                </a:lnTo>
                <a:lnTo>
                  <a:pt x="1744218" y="269239"/>
                </a:lnTo>
                <a:lnTo>
                  <a:pt x="1769109" y="299338"/>
                </a:lnTo>
                <a:lnTo>
                  <a:pt x="1775841" y="302386"/>
                </a:lnTo>
                <a:lnTo>
                  <a:pt x="1775841" y="305053"/>
                </a:lnTo>
                <a:lnTo>
                  <a:pt x="1747032" y="332327"/>
                </a:lnTo>
                <a:lnTo>
                  <a:pt x="1738768" y="372149"/>
                </a:lnTo>
                <a:lnTo>
                  <a:pt x="1738629" y="379221"/>
                </a:lnTo>
                <a:lnTo>
                  <a:pt x="1738629" y="382396"/>
                </a:lnTo>
                <a:lnTo>
                  <a:pt x="1744930" y="421507"/>
                </a:lnTo>
                <a:lnTo>
                  <a:pt x="1746884" y="431672"/>
                </a:lnTo>
                <a:lnTo>
                  <a:pt x="1748837" y="442152"/>
                </a:lnTo>
                <a:lnTo>
                  <a:pt x="1754520" y="483615"/>
                </a:lnTo>
                <a:lnTo>
                  <a:pt x="1755013" y="495426"/>
                </a:lnTo>
                <a:lnTo>
                  <a:pt x="1754034" y="518406"/>
                </a:lnTo>
                <a:lnTo>
                  <a:pt x="1739265" y="568197"/>
                </a:lnTo>
                <a:lnTo>
                  <a:pt x="1703070" y="594613"/>
                </a:lnTo>
                <a:lnTo>
                  <a:pt x="1703070" y="607440"/>
                </a:lnTo>
                <a:lnTo>
                  <a:pt x="1746503" y="587831"/>
                </a:lnTo>
                <a:lnTo>
                  <a:pt x="1769598" y="557367"/>
                </a:lnTo>
                <a:lnTo>
                  <a:pt x="1781686" y="511163"/>
                </a:lnTo>
                <a:lnTo>
                  <a:pt x="1783206" y="481964"/>
                </a:lnTo>
                <a:lnTo>
                  <a:pt x="1782661" y="469104"/>
                </a:lnTo>
                <a:lnTo>
                  <a:pt x="1781032" y="454136"/>
                </a:lnTo>
                <a:lnTo>
                  <a:pt x="1778331" y="437048"/>
                </a:lnTo>
                <a:lnTo>
                  <a:pt x="1774571" y="417829"/>
                </a:lnTo>
                <a:lnTo>
                  <a:pt x="1770757" y="399282"/>
                </a:lnTo>
                <a:lnTo>
                  <a:pt x="1768062" y="383841"/>
                </a:lnTo>
                <a:lnTo>
                  <a:pt x="1766462" y="371520"/>
                </a:lnTo>
                <a:lnTo>
                  <a:pt x="1765934" y="362330"/>
                </a:lnTo>
                <a:lnTo>
                  <a:pt x="1766552" y="350996"/>
                </a:lnTo>
                <a:lnTo>
                  <a:pt x="1787112" y="314785"/>
                </a:lnTo>
                <a:lnTo>
                  <a:pt x="1800987" y="310768"/>
                </a:lnTo>
                <a:lnTo>
                  <a:pt x="1800987" y="296671"/>
                </a:lnTo>
                <a:lnTo>
                  <a:pt x="1768395" y="266652"/>
                </a:lnTo>
                <a:lnTo>
                  <a:pt x="1765934" y="245109"/>
                </a:lnTo>
                <a:lnTo>
                  <a:pt x="1766462" y="235920"/>
                </a:lnTo>
                <a:lnTo>
                  <a:pt x="1768062" y="223599"/>
                </a:lnTo>
                <a:lnTo>
                  <a:pt x="1770757" y="208158"/>
                </a:lnTo>
                <a:lnTo>
                  <a:pt x="1774571" y="189610"/>
                </a:lnTo>
                <a:lnTo>
                  <a:pt x="1778331" y="170392"/>
                </a:lnTo>
                <a:lnTo>
                  <a:pt x="1781032" y="153304"/>
                </a:lnTo>
                <a:lnTo>
                  <a:pt x="1782662" y="138302"/>
                </a:lnTo>
                <a:lnTo>
                  <a:pt x="1783206" y="125475"/>
                </a:lnTo>
                <a:lnTo>
                  <a:pt x="1781686" y="96331"/>
                </a:lnTo>
                <a:lnTo>
                  <a:pt x="1769598" y="50091"/>
                </a:lnTo>
                <a:lnTo>
                  <a:pt x="1746504" y="19591"/>
                </a:lnTo>
                <a:lnTo>
                  <a:pt x="1718500" y="3069"/>
                </a:lnTo>
                <a:lnTo>
                  <a:pt x="1703070" y="0"/>
                </a:lnTo>
                <a:close/>
              </a:path>
              <a:path w="1801495" h="607695">
                <a:moveTo>
                  <a:pt x="97917" y="0"/>
                </a:moveTo>
                <a:lnTo>
                  <a:pt x="54482" y="19663"/>
                </a:lnTo>
                <a:lnTo>
                  <a:pt x="31408" y="50073"/>
                </a:lnTo>
                <a:lnTo>
                  <a:pt x="19407" y="96277"/>
                </a:lnTo>
                <a:lnTo>
                  <a:pt x="17906" y="125475"/>
                </a:lnTo>
                <a:lnTo>
                  <a:pt x="18444" y="138302"/>
                </a:lnTo>
                <a:lnTo>
                  <a:pt x="20018" y="153098"/>
                </a:lnTo>
                <a:lnTo>
                  <a:pt x="22675" y="170195"/>
                </a:lnTo>
                <a:lnTo>
                  <a:pt x="26416" y="189483"/>
                </a:lnTo>
                <a:lnTo>
                  <a:pt x="30229" y="208248"/>
                </a:lnTo>
                <a:lnTo>
                  <a:pt x="32924" y="223773"/>
                </a:lnTo>
                <a:lnTo>
                  <a:pt x="34524" y="236061"/>
                </a:lnTo>
                <a:lnTo>
                  <a:pt x="35051" y="245109"/>
                </a:lnTo>
                <a:lnTo>
                  <a:pt x="34434" y="256516"/>
                </a:lnTo>
                <a:lnTo>
                  <a:pt x="13970" y="292655"/>
                </a:lnTo>
                <a:lnTo>
                  <a:pt x="0" y="296671"/>
                </a:lnTo>
                <a:lnTo>
                  <a:pt x="0" y="310768"/>
                </a:lnTo>
                <a:lnTo>
                  <a:pt x="32591" y="340883"/>
                </a:lnTo>
                <a:lnTo>
                  <a:pt x="35051" y="362330"/>
                </a:lnTo>
                <a:lnTo>
                  <a:pt x="34524" y="371379"/>
                </a:lnTo>
                <a:lnTo>
                  <a:pt x="32924" y="383666"/>
                </a:lnTo>
                <a:lnTo>
                  <a:pt x="30229" y="399192"/>
                </a:lnTo>
                <a:lnTo>
                  <a:pt x="26416" y="417956"/>
                </a:lnTo>
                <a:lnTo>
                  <a:pt x="22675" y="437245"/>
                </a:lnTo>
                <a:lnTo>
                  <a:pt x="20018" y="454342"/>
                </a:lnTo>
                <a:lnTo>
                  <a:pt x="18432" y="469249"/>
                </a:lnTo>
                <a:lnTo>
                  <a:pt x="17906" y="481964"/>
                </a:lnTo>
                <a:lnTo>
                  <a:pt x="19407" y="511163"/>
                </a:lnTo>
                <a:lnTo>
                  <a:pt x="31408" y="557367"/>
                </a:lnTo>
                <a:lnTo>
                  <a:pt x="54482" y="587777"/>
                </a:lnTo>
                <a:lnTo>
                  <a:pt x="97917" y="607440"/>
                </a:lnTo>
                <a:lnTo>
                  <a:pt x="97917" y="594613"/>
                </a:lnTo>
                <a:lnTo>
                  <a:pt x="88010" y="591950"/>
                </a:lnTo>
                <a:lnTo>
                  <a:pt x="78676" y="586644"/>
                </a:lnTo>
                <a:lnTo>
                  <a:pt x="54814" y="554791"/>
                </a:lnTo>
                <a:lnTo>
                  <a:pt x="45974" y="495426"/>
                </a:lnTo>
                <a:lnTo>
                  <a:pt x="46476" y="483592"/>
                </a:lnTo>
                <a:lnTo>
                  <a:pt x="47990" y="469042"/>
                </a:lnTo>
                <a:lnTo>
                  <a:pt x="50528" y="451778"/>
                </a:lnTo>
                <a:lnTo>
                  <a:pt x="54101" y="431799"/>
                </a:lnTo>
                <a:lnTo>
                  <a:pt x="57695" y="412440"/>
                </a:lnTo>
                <a:lnTo>
                  <a:pt x="60277" y="397224"/>
                </a:lnTo>
                <a:lnTo>
                  <a:pt x="61835" y="386151"/>
                </a:lnTo>
                <a:lnTo>
                  <a:pt x="62356" y="379221"/>
                </a:lnTo>
                <a:lnTo>
                  <a:pt x="61813" y="365339"/>
                </a:lnTo>
                <a:lnTo>
                  <a:pt x="48827" y="323502"/>
                </a:lnTo>
                <a:lnTo>
                  <a:pt x="25146" y="305053"/>
                </a:lnTo>
                <a:lnTo>
                  <a:pt x="25146" y="302386"/>
                </a:lnTo>
                <a:lnTo>
                  <a:pt x="53848" y="275462"/>
                </a:lnTo>
                <a:lnTo>
                  <a:pt x="62356" y="228218"/>
                </a:lnTo>
                <a:lnTo>
                  <a:pt x="61835" y="221289"/>
                </a:lnTo>
                <a:lnTo>
                  <a:pt x="60277" y="210216"/>
                </a:lnTo>
                <a:lnTo>
                  <a:pt x="57695" y="195000"/>
                </a:lnTo>
                <a:lnTo>
                  <a:pt x="54101" y="175640"/>
                </a:lnTo>
                <a:lnTo>
                  <a:pt x="50528" y="155590"/>
                </a:lnTo>
                <a:lnTo>
                  <a:pt x="47978" y="138191"/>
                </a:lnTo>
                <a:lnTo>
                  <a:pt x="46476" y="123777"/>
                </a:lnTo>
                <a:lnTo>
                  <a:pt x="45974" y="112013"/>
                </a:lnTo>
                <a:lnTo>
                  <a:pt x="46952" y="89034"/>
                </a:lnTo>
                <a:lnTo>
                  <a:pt x="61722" y="39242"/>
                </a:lnTo>
                <a:lnTo>
                  <a:pt x="97917" y="12699"/>
                </a:lnTo>
                <a:lnTo>
                  <a:pt x="97917" y="0"/>
                </a:lnTo>
                <a:close/>
              </a:path>
            </a:pathLst>
          </a:custGeom>
          <a:solidFill>
            <a:srgbClr val="000000"/>
          </a:solidFill>
        </p:spPr>
        <p:txBody>
          <a:bodyPr wrap="square" lIns="0" tIns="0" rIns="0" bIns="0" rtlCol="0"/>
          <a:lstStyle/>
          <a:p>
            <a:endParaRPr/>
          </a:p>
        </p:txBody>
      </p:sp>
      <p:sp>
        <p:nvSpPr>
          <p:cNvPr id="10" name="object 10"/>
          <p:cNvSpPr txBox="1"/>
          <p:nvPr/>
        </p:nvSpPr>
        <p:spPr>
          <a:xfrm>
            <a:off x="9632442" y="4317568"/>
            <a:ext cx="1602740" cy="77025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+1</a:t>
            </a:r>
            <a:r>
              <a:rPr sz="2400" spc="-20" dirty="0">
                <a:latin typeface="Cambria Math"/>
                <a:cs typeface="Cambria Math"/>
              </a:rPr>
              <a:t> </a:t>
            </a:r>
            <a:r>
              <a:rPr sz="2400" spc="-5" dirty="0">
                <a:latin typeface="Cambria Math"/>
                <a:cs typeface="Cambria Math"/>
              </a:rPr>
              <a:t>𝑖𝑓</a:t>
            </a:r>
            <a:r>
              <a:rPr sz="2400" spc="50" dirty="0">
                <a:latin typeface="Cambria Math"/>
                <a:cs typeface="Cambria Math"/>
              </a:rPr>
              <a:t> </a:t>
            </a:r>
            <a:r>
              <a:rPr sz="2400" dirty="0">
                <a:latin typeface="Cambria Math"/>
                <a:cs typeface="Cambria Math"/>
              </a:rPr>
              <a:t>𝑋</a:t>
            </a:r>
            <a:r>
              <a:rPr sz="2400" spc="160" dirty="0">
                <a:latin typeface="Cambria Math"/>
                <a:cs typeface="Cambria Math"/>
              </a:rPr>
              <a:t> </a:t>
            </a:r>
            <a:r>
              <a:rPr sz="2400" dirty="0">
                <a:latin typeface="Cambria Math"/>
                <a:cs typeface="Cambria Math"/>
              </a:rPr>
              <a:t>&gt;</a:t>
            </a:r>
            <a:r>
              <a:rPr sz="2400" spc="114" dirty="0">
                <a:latin typeface="Cambria Math"/>
                <a:cs typeface="Cambria Math"/>
              </a:rPr>
              <a:t> </a:t>
            </a:r>
            <a:r>
              <a:rPr sz="2400" dirty="0">
                <a:latin typeface="Cambria Math"/>
                <a:cs typeface="Cambria Math"/>
              </a:rPr>
              <a:t>𝜃</a:t>
            </a:r>
            <a:endParaRPr sz="2400">
              <a:latin typeface="Cambria Math"/>
              <a:cs typeface="Cambria Math"/>
            </a:endParaRPr>
          </a:p>
          <a:p>
            <a:pPr marL="12700">
              <a:lnSpc>
                <a:spcPct val="100000"/>
              </a:lnSpc>
              <a:spcBef>
                <a:spcPts val="100"/>
              </a:spcBef>
            </a:pPr>
            <a:r>
              <a:rPr sz="2400" spc="-5" dirty="0">
                <a:latin typeface="Cambria Math"/>
                <a:cs typeface="Cambria Math"/>
              </a:rPr>
              <a:t>−1</a:t>
            </a:r>
            <a:r>
              <a:rPr sz="2400" spc="-20" dirty="0">
                <a:latin typeface="Cambria Math"/>
                <a:cs typeface="Cambria Math"/>
              </a:rPr>
              <a:t> </a:t>
            </a:r>
            <a:r>
              <a:rPr sz="2400" spc="-5" dirty="0">
                <a:latin typeface="Cambria Math"/>
                <a:cs typeface="Cambria Math"/>
              </a:rPr>
              <a:t>𝑖𝑓</a:t>
            </a:r>
            <a:r>
              <a:rPr sz="2400" spc="45" dirty="0">
                <a:latin typeface="Cambria Math"/>
                <a:cs typeface="Cambria Math"/>
              </a:rPr>
              <a:t> </a:t>
            </a:r>
            <a:r>
              <a:rPr sz="2400" dirty="0">
                <a:latin typeface="Cambria Math"/>
                <a:cs typeface="Cambria Math"/>
              </a:rPr>
              <a:t>𝑋</a:t>
            </a:r>
            <a:r>
              <a:rPr sz="2400" spc="165" dirty="0">
                <a:latin typeface="Cambria Math"/>
                <a:cs typeface="Cambria Math"/>
              </a:rPr>
              <a:t> </a:t>
            </a:r>
            <a:r>
              <a:rPr sz="2400" dirty="0">
                <a:latin typeface="Cambria Math"/>
                <a:cs typeface="Cambria Math"/>
              </a:rPr>
              <a:t>≤</a:t>
            </a:r>
            <a:r>
              <a:rPr sz="2400" spc="125" dirty="0">
                <a:latin typeface="Cambria Math"/>
                <a:cs typeface="Cambria Math"/>
              </a:rPr>
              <a:t> </a:t>
            </a:r>
            <a:r>
              <a:rPr sz="2400" dirty="0">
                <a:latin typeface="Cambria Math"/>
                <a:cs typeface="Cambria Math"/>
              </a:rPr>
              <a:t>𝜃</a:t>
            </a:r>
            <a:endParaRPr sz="2400">
              <a:latin typeface="Cambria Math"/>
              <a:cs typeface="Cambria Math"/>
            </a:endParaRPr>
          </a:p>
        </p:txBody>
      </p:sp>
      <p:sp>
        <p:nvSpPr>
          <p:cNvPr id="11" name="object 11"/>
          <p:cNvSpPr txBox="1"/>
          <p:nvPr/>
        </p:nvSpPr>
        <p:spPr>
          <a:xfrm>
            <a:off x="6251828" y="5112258"/>
            <a:ext cx="5764530" cy="835660"/>
          </a:xfrm>
          <a:prstGeom prst="rect">
            <a:avLst/>
          </a:prstGeom>
        </p:spPr>
        <p:txBody>
          <a:bodyPr vert="horz" wrap="square" lIns="0" tIns="60960" rIns="0" bIns="0" rtlCol="0">
            <a:spAutoFit/>
          </a:bodyPr>
          <a:lstStyle/>
          <a:p>
            <a:pPr marL="241300" marR="5080" indent="-228600">
              <a:lnSpc>
                <a:spcPts val="3020"/>
              </a:lnSpc>
              <a:spcBef>
                <a:spcPts val="480"/>
              </a:spcBef>
              <a:buFont typeface="Arial MT"/>
              <a:buChar char="•"/>
              <a:tabLst>
                <a:tab pos="241300" algn="l"/>
                <a:tab pos="1466215" algn="l"/>
              </a:tabLst>
            </a:pPr>
            <a:r>
              <a:rPr sz="2800" spc="-15" dirty="0">
                <a:latin typeface="Calibri"/>
                <a:cs typeface="Calibri"/>
              </a:rPr>
              <a:t>Where,	</a:t>
            </a:r>
            <a:r>
              <a:rPr sz="2800" spc="-5" dirty="0">
                <a:latin typeface="Calibri"/>
                <a:cs typeface="Calibri"/>
              </a:rPr>
              <a:t>Θ</a:t>
            </a:r>
            <a:r>
              <a:rPr sz="2800" spc="-15" dirty="0">
                <a:latin typeface="Calibri"/>
                <a:cs typeface="Calibri"/>
              </a:rPr>
              <a:t> </a:t>
            </a:r>
            <a:r>
              <a:rPr sz="2800" spc="-5" dirty="0">
                <a:latin typeface="Calibri"/>
                <a:cs typeface="Calibri"/>
              </a:rPr>
              <a:t>is</a:t>
            </a:r>
            <a:r>
              <a:rPr sz="2800" spc="-10" dirty="0">
                <a:latin typeface="Calibri"/>
                <a:cs typeface="Calibri"/>
              </a:rPr>
              <a:t> threshold</a:t>
            </a:r>
            <a:r>
              <a:rPr sz="2800" spc="30" dirty="0">
                <a:latin typeface="Calibri"/>
                <a:cs typeface="Calibri"/>
              </a:rPr>
              <a:t> </a:t>
            </a:r>
            <a:r>
              <a:rPr sz="2800" spc="-10" dirty="0">
                <a:latin typeface="Calibri"/>
                <a:cs typeface="Calibri"/>
              </a:rPr>
              <a:t>value</a:t>
            </a:r>
            <a:r>
              <a:rPr sz="2800" spc="-15" dirty="0">
                <a:latin typeface="Calibri"/>
                <a:cs typeface="Calibri"/>
              </a:rPr>
              <a:t> </a:t>
            </a:r>
            <a:r>
              <a:rPr sz="2800" spc="-25" dirty="0">
                <a:latin typeface="Calibri"/>
                <a:cs typeface="Calibri"/>
              </a:rPr>
              <a:t>for</a:t>
            </a:r>
            <a:r>
              <a:rPr sz="2800" spc="-15" dirty="0">
                <a:latin typeface="Calibri"/>
                <a:cs typeface="Calibri"/>
              </a:rPr>
              <a:t> </a:t>
            </a:r>
            <a:r>
              <a:rPr sz="2800" spc="-5" dirty="0">
                <a:latin typeface="Calibri"/>
                <a:cs typeface="Calibri"/>
              </a:rPr>
              <a:t>which </a:t>
            </a:r>
            <a:r>
              <a:rPr sz="2800" spc="-620" dirty="0">
                <a:latin typeface="Calibri"/>
                <a:cs typeface="Calibri"/>
              </a:rPr>
              <a:t> </a:t>
            </a:r>
            <a:r>
              <a:rPr sz="2800" spc="-10" dirty="0">
                <a:latin typeface="Calibri"/>
                <a:cs typeface="Calibri"/>
              </a:rPr>
              <a:t>sign</a:t>
            </a:r>
            <a:r>
              <a:rPr sz="2800" dirty="0">
                <a:latin typeface="Calibri"/>
                <a:cs typeface="Calibri"/>
              </a:rPr>
              <a:t> </a:t>
            </a:r>
            <a:r>
              <a:rPr sz="2800" spc="-10" dirty="0">
                <a:latin typeface="Calibri"/>
                <a:cs typeface="Calibri"/>
              </a:rPr>
              <a:t>activation</a:t>
            </a:r>
            <a:r>
              <a:rPr sz="2800" spc="-5" dirty="0">
                <a:latin typeface="Calibri"/>
                <a:cs typeface="Calibri"/>
              </a:rPr>
              <a:t> function</a:t>
            </a:r>
            <a:r>
              <a:rPr sz="2800" spc="20"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used</a:t>
            </a:r>
            <a:endParaRPr sz="2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25D576-E376-4967-8874-21AC3D0A2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361522"/>
            <a:ext cx="9372600" cy="3981878"/>
          </a:xfrm>
          <a:prstGeom prst="rect">
            <a:avLst/>
          </a:prstGeom>
        </p:spPr>
      </p:pic>
      <p:sp>
        <p:nvSpPr>
          <p:cNvPr id="6" name="Rectangle 1">
            <a:extLst>
              <a:ext uri="{FF2B5EF4-FFF2-40B4-BE49-F238E27FC236}">
                <a16:creationId xmlns:a16="http://schemas.microsoft.com/office/drawing/2014/main" id="{647E91C0-D801-4663-A5A9-49C17501D396}"/>
              </a:ext>
            </a:extLst>
          </p:cNvPr>
          <p:cNvSpPr>
            <a:spLocks noChangeArrowheads="1"/>
          </p:cNvSpPr>
          <p:nvPr/>
        </p:nvSpPr>
        <p:spPr bwMode="auto">
          <a:xfrm>
            <a:off x="1447800" y="4514673"/>
            <a:ext cx="10347705"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For the above general model of artificial neural network, the net input can be calculated as follows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chemeClr val="tx1"/>
                </a:solidFill>
                <a:effectLst/>
                <a:latin typeface="MathJax_Math"/>
              </a:rPr>
              <a:t>yin</a:t>
            </a:r>
            <a:r>
              <a:rPr kumimoji="0" lang="en-US" altLang="en-US" sz="2000" b="1" i="0" u="none" strike="noStrike" cap="none" normalizeH="0" baseline="0" dirty="0">
                <a:ln>
                  <a:noFill/>
                </a:ln>
                <a:solidFill>
                  <a:schemeClr val="tx1"/>
                </a:solidFill>
                <a:effectLst/>
                <a:latin typeface="MathJax_Main"/>
              </a:rPr>
              <a:t>=</a:t>
            </a:r>
            <a:r>
              <a:rPr kumimoji="0" lang="en-US" altLang="en-US" sz="2000" b="1" i="1" u="none" strike="noStrike" cap="none" normalizeH="0" baseline="0" dirty="0">
                <a:ln>
                  <a:noFill/>
                </a:ln>
                <a:solidFill>
                  <a:schemeClr val="tx1"/>
                </a:solidFill>
                <a:effectLst/>
                <a:latin typeface="MathJax_Math"/>
              </a:rPr>
              <a:t>x</a:t>
            </a:r>
            <a:r>
              <a:rPr kumimoji="0" lang="en-US" altLang="en-US" sz="2000" b="1" i="0" u="none" strike="noStrike" cap="none" normalizeH="0" baseline="0" dirty="0">
                <a:ln>
                  <a:noFill/>
                </a:ln>
                <a:solidFill>
                  <a:schemeClr val="tx1"/>
                </a:solidFill>
                <a:effectLst/>
                <a:latin typeface="MathJax_Main"/>
              </a:rPr>
              <a:t>1.</a:t>
            </a:r>
            <a:r>
              <a:rPr kumimoji="0" lang="en-US" altLang="en-US" sz="2000" b="1" i="1" u="none" strike="noStrike" cap="none" normalizeH="0" baseline="0" dirty="0">
                <a:ln>
                  <a:noFill/>
                </a:ln>
                <a:solidFill>
                  <a:schemeClr val="tx1"/>
                </a:solidFill>
                <a:effectLst/>
                <a:latin typeface="MathJax_Math"/>
              </a:rPr>
              <a:t>w</a:t>
            </a:r>
            <a:r>
              <a:rPr kumimoji="0" lang="en-US" altLang="en-US" sz="2000" b="1" i="0" u="none" strike="noStrike" cap="none" normalizeH="0" baseline="0" dirty="0">
                <a:ln>
                  <a:noFill/>
                </a:ln>
                <a:solidFill>
                  <a:schemeClr val="tx1"/>
                </a:solidFill>
                <a:effectLst/>
                <a:latin typeface="MathJax_Main"/>
              </a:rPr>
              <a:t>1+</a:t>
            </a:r>
            <a:r>
              <a:rPr kumimoji="0" lang="en-US" altLang="en-US" sz="2000" b="1" i="1" u="none" strike="noStrike" cap="none" normalizeH="0" baseline="0" dirty="0">
                <a:ln>
                  <a:noFill/>
                </a:ln>
                <a:solidFill>
                  <a:schemeClr val="tx1"/>
                </a:solidFill>
                <a:effectLst/>
                <a:latin typeface="MathJax_Math"/>
              </a:rPr>
              <a:t>x</a:t>
            </a:r>
            <a:r>
              <a:rPr kumimoji="0" lang="en-US" altLang="en-US" sz="2000" b="1" i="0" u="none" strike="noStrike" cap="none" normalizeH="0" baseline="0" dirty="0">
                <a:ln>
                  <a:noFill/>
                </a:ln>
                <a:solidFill>
                  <a:schemeClr val="tx1"/>
                </a:solidFill>
                <a:effectLst/>
                <a:latin typeface="MathJax_Main"/>
              </a:rPr>
              <a:t>2.</a:t>
            </a:r>
            <a:r>
              <a:rPr kumimoji="0" lang="en-US" altLang="en-US" sz="2000" b="1" i="1" u="none" strike="noStrike" cap="none" normalizeH="0" baseline="0" dirty="0">
                <a:ln>
                  <a:noFill/>
                </a:ln>
                <a:solidFill>
                  <a:schemeClr val="tx1"/>
                </a:solidFill>
                <a:effectLst/>
                <a:latin typeface="MathJax_Math"/>
              </a:rPr>
              <a:t>w</a:t>
            </a:r>
            <a:r>
              <a:rPr kumimoji="0" lang="en-US" altLang="en-US" sz="2000" b="1" i="0" u="none" strike="noStrike" cap="none" normalizeH="0" baseline="0" dirty="0">
                <a:ln>
                  <a:noFill/>
                </a:ln>
                <a:solidFill>
                  <a:schemeClr val="tx1"/>
                </a:solidFill>
                <a:effectLst/>
                <a:latin typeface="MathJax_Main"/>
              </a:rPr>
              <a:t>2+</a:t>
            </a:r>
            <a:r>
              <a:rPr kumimoji="0" lang="en-US" altLang="en-US" sz="2000" b="1" i="1" u="none" strike="noStrike" cap="none" normalizeH="0" baseline="0" dirty="0">
                <a:ln>
                  <a:noFill/>
                </a:ln>
                <a:solidFill>
                  <a:schemeClr val="tx1"/>
                </a:solidFill>
                <a:effectLst/>
                <a:latin typeface="MathJax_Math"/>
              </a:rPr>
              <a:t>x</a:t>
            </a:r>
            <a:r>
              <a:rPr kumimoji="0" lang="en-US" altLang="en-US" sz="2000" b="1" i="0" u="none" strike="noStrike" cap="none" normalizeH="0" baseline="0" dirty="0">
                <a:ln>
                  <a:noFill/>
                </a:ln>
                <a:solidFill>
                  <a:schemeClr val="tx1"/>
                </a:solidFill>
                <a:effectLst/>
                <a:latin typeface="MathJax_Main"/>
              </a:rPr>
              <a:t>3.</a:t>
            </a:r>
            <a:r>
              <a:rPr kumimoji="0" lang="en-US" altLang="en-US" sz="2000" b="1" i="1" u="none" strike="noStrike" cap="none" normalizeH="0" baseline="0" dirty="0">
                <a:ln>
                  <a:noFill/>
                </a:ln>
                <a:solidFill>
                  <a:schemeClr val="tx1"/>
                </a:solidFill>
                <a:effectLst/>
                <a:latin typeface="MathJax_Math"/>
              </a:rPr>
              <a:t>w</a:t>
            </a:r>
            <a:r>
              <a:rPr kumimoji="0" lang="en-US" altLang="en-US" sz="2000" b="1" i="0" u="none" strike="noStrike" cap="none" normalizeH="0" baseline="0" dirty="0">
                <a:ln>
                  <a:noFill/>
                </a:ln>
                <a:solidFill>
                  <a:schemeClr val="tx1"/>
                </a:solidFill>
                <a:effectLst/>
                <a:latin typeface="MathJax_Main"/>
              </a:rPr>
              <a:t>3…</a:t>
            </a:r>
            <a:r>
              <a:rPr kumimoji="0" lang="en-US" altLang="en-US" sz="2000" b="1" i="1" u="none" strike="noStrike" cap="none" normalizeH="0" baseline="0" dirty="0" err="1">
                <a:ln>
                  <a:noFill/>
                </a:ln>
                <a:solidFill>
                  <a:schemeClr val="tx1"/>
                </a:solidFill>
                <a:effectLst/>
                <a:latin typeface="MathJax_Math"/>
              </a:rPr>
              <a:t>xm</a:t>
            </a:r>
            <a:r>
              <a:rPr kumimoji="0" lang="en-US" altLang="en-US" sz="2000" b="1" i="0" u="none" strike="noStrike" cap="none" normalizeH="0" baseline="0" dirty="0" err="1">
                <a:ln>
                  <a:noFill/>
                </a:ln>
                <a:solidFill>
                  <a:schemeClr val="tx1"/>
                </a:solidFill>
                <a:effectLst/>
                <a:latin typeface="MathJax_Main"/>
              </a:rPr>
              <a:t>.</a:t>
            </a:r>
            <a:r>
              <a:rPr kumimoji="0" lang="en-US" altLang="en-US" sz="2000" b="1" i="1" u="none" strike="noStrike" cap="none" normalizeH="0" baseline="0" dirty="0" err="1">
                <a:ln>
                  <a:noFill/>
                </a:ln>
                <a:solidFill>
                  <a:schemeClr val="tx1"/>
                </a:solidFill>
                <a:effectLst/>
                <a:latin typeface="MathJax_Math"/>
              </a:rPr>
              <a:t>wm</a:t>
            </a:r>
            <a:endParaRPr kumimoji="0" lang="en-US" altLang="en-US" sz="2000" b="1" i="1" u="none" strike="noStrike" cap="none" normalizeH="0" baseline="0" dirty="0">
              <a:ln>
                <a:noFill/>
              </a:ln>
              <a:solidFill>
                <a:schemeClr val="tx1"/>
              </a:solidFill>
              <a:effectLst/>
              <a:latin typeface="MathJax_Math"/>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i.e., Net input </a:t>
            </a:r>
            <a:r>
              <a:rPr kumimoji="0" lang="en-US" altLang="en-US" sz="2000" b="1" i="1" u="none" strike="noStrike" cap="none" normalizeH="0" baseline="0" dirty="0">
                <a:ln>
                  <a:noFill/>
                </a:ln>
                <a:solidFill>
                  <a:schemeClr val="tx1"/>
                </a:solidFill>
                <a:effectLst/>
                <a:latin typeface="MathJax_Math"/>
              </a:rPr>
              <a:t>yin</a:t>
            </a:r>
            <a:r>
              <a:rPr kumimoji="0" lang="en-US" altLang="en-US" sz="2000" b="1" i="0" u="none" strike="noStrike" cap="none" normalizeH="0" baseline="0" dirty="0">
                <a:ln>
                  <a:noFill/>
                </a:ln>
                <a:solidFill>
                  <a:schemeClr val="tx1"/>
                </a:solidFill>
                <a:effectLst/>
                <a:latin typeface="MathJax_Main"/>
              </a:rPr>
              <a:t>=</a:t>
            </a:r>
            <a:r>
              <a:rPr kumimoji="0" lang="en-US" altLang="en-US" sz="2000" b="1" i="0" u="none" strike="noStrike" cap="none" normalizeH="0" baseline="0" dirty="0">
                <a:ln>
                  <a:noFill/>
                </a:ln>
                <a:solidFill>
                  <a:schemeClr val="tx1"/>
                </a:solidFill>
                <a:effectLst/>
                <a:latin typeface="MathJax_Size1"/>
              </a:rPr>
              <a:t>∑</a:t>
            </a:r>
            <a:r>
              <a:rPr kumimoji="0" lang="en-US" altLang="en-US" sz="2000" b="1" i="1" u="none" strike="noStrike" cap="none" normalizeH="0" baseline="0" dirty="0" err="1">
                <a:ln>
                  <a:noFill/>
                </a:ln>
                <a:solidFill>
                  <a:schemeClr val="tx1"/>
                </a:solidFill>
                <a:effectLst/>
                <a:latin typeface="MathJax_Math"/>
              </a:rPr>
              <a:t>mixi</a:t>
            </a:r>
            <a:r>
              <a:rPr kumimoji="0" lang="en-US" altLang="en-US" sz="2000" b="1" i="0" u="none" strike="noStrike" cap="none" normalizeH="0" baseline="0" dirty="0" err="1">
                <a:ln>
                  <a:noFill/>
                </a:ln>
                <a:solidFill>
                  <a:schemeClr val="tx1"/>
                </a:solidFill>
                <a:effectLst/>
                <a:latin typeface="MathJax_Main"/>
              </a:rPr>
              <a:t>.</a:t>
            </a:r>
            <a:r>
              <a:rPr kumimoji="0" lang="en-US" altLang="en-US" sz="2000" b="1" i="1" u="none" strike="noStrike" cap="none" normalizeH="0" baseline="0" dirty="0" err="1">
                <a:ln>
                  <a:noFill/>
                </a:ln>
                <a:solidFill>
                  <a:schemeClr val="tx1"/>
                </a:solidFill>
                <a:effectLst/>
                <a:latin typeface="MathJax_Math"/>
              </a:rPr>
              <a:t>wi</a:t>
            </a:r>
            <a:endParaRPr kumimoji="0" lang="en-US" altLang="en-US" sz="2000" b="1" i="1" u="none" strike="noStrike" cap="none" normalizeH="0" baseline="0" dirty="0">
              <a:ln>
                <a:noFill/>
              </a:ln>
              <a:solidFill>
                <a:schemeClr val="tx1"/>
              </a:solidFill>
              <a:effectLst/>
              <a:latin typeface="MathJax_Math"/>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output can be calculated by applying the activation function over the net input.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chemeClr val="tx1"/>
                </a:solidFill>
                <a:effectLst/>
                <a:latin typeface="MathJax_Math"/>
              </a:rPr>
              <a:t>Y</a:t>
            </a:r>
            <a:r>
              <a:rPr kumimoji="0" lang="en-US" altLang="en-US" sz="2000" b="1" i="0" u="none" strike="noStrike" cap="none" normalizeH="0" baseline="0" dirty="0">
                <a:ln>
                  <a:noFill/>
                </a:ln>
                <a:solidFill>
                  <a:schemeClr val="tx1"/>
                </a:solidFill>
                <a:effectLst/>
                <a:latin typeface="MathJax_Main"/>
              </a:rPr>
              <a:t>=</a:t>
            </a:r>
            <a:r>
              <a:rPr kumimoji="0" lang="en-US" altLang="en-US" sz="2000" b="1" i="1" u="none" strike="noStrike" cap="none" normalizeH="0" baseline="0" dirty="0">
                <a:ln>
                  <a:noFill/>
                </a:ln>
                <a:solidFill>
                  <a:schemeClr val="tx1"/>
                </a:solidFill>
                <a:effectLst/>
                <a:latin typeface="MathJax_Math"/>
              </a:rPr>
              <a:t>F</a:t>
            </a:r>
            <a:r>
              <a:rPr kumimoji="0" lang="en-US" altLang="en-US" sz="2000" b="1" i="0" u="none" strike="noStrike" cap="none" normalizeH="0" baseline="0" dirty="0">
                <a:ln>
                  <a:noFill/>
                </a:ln>
                <a:solidFill>
                  <a:schemeClr val="tx1"/>
                </a:solidFill>
                <a:effectLst/>
                <a:latin typeface="MathJax_Main"/>
              </a:rPr>
              <a:t>(</a:t>
            </a:r>
            <a:r>
              <a:rPr kumimoji="0" lang="en-US" altLang="en-US" sz="2000" b="1" i="1" u="none" strike="noStrike" cap="none" normalizeH="0" baseline="0" dirty="0">
                <a:ln>
                  <a:noFill/>
                </a:ln>
                <a:solidFill>
                  <a:schemeClr val="tx1"/>
                </a:solidFill>
                <a:effectLst/>
                <a:latin typeface="MathJax_Math"/>
              </a:rPr>
              <a:t>yin</a:t>
            </a:r>
            <a:r>
              <a:rPr kumimoji="0" lang="en-US" altLang="en-US" sz="2000" b="1" i="0" u="none" strike="noStrike" cap="none" normalizeH="0" baseline="0" dirty="0">
                <a:ln>
                  <a:noFill/>
                </a:ln>
                <a:solidFill>
                  <a:schemeClr val="tx1"/>
                </a:solidFill>
                <a:effectLst/>
                <a:latin typeface="MathJax_Main"/>
              </a:rPr>
              <a:t>)</a:t>
            </a:r>
            <a:endParaRPr kumimoji="0" lang="en-US" altLang="en-US" sz="20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37967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54C26A-AB41-42CF-B5F0-E44930E6C084}"/>
              </a:ext>
            </a:extLst>
          </p:cNvPr>
          <p:cNvSpPr txBox="1"/>
          <p:nvPr/>
        </p:nvSpPr>
        <p:spPr>
          <a:xfrm>
            <a:off x="533400" y="1064740"/>
            <a:ext cx="11353800" cy="5262979"/>
          </a:xfrm>
          <a:prstGeom prst="rect">
            <a:avLst/>
          </a:prstGeom>
          <a:noFill/>
        </p:spPr>
        <p:txBody>
          <a:bodyPr wrap="square">
            <a:spAutoFit/>
          </a:bodyPr>
          <a:lstStyle/>
          <a:p>
            <a:pPr marL="342900" indent="-342900">
              <a:buFont typeface="Arial" panose="020B0604020202020204" pitchFamily="34" charset="0"/>
              <a:buChar char="•"/>
            </a:pPr>
            <a:r>
              <a:rPr lang="en-US" sz="2400" dirty="0"/>
              <a:t>It may be defined as the extra force or effort applied over the input to obtain an exact output. </a:t>
            </a:r>
          </a:p>
          <a:p>
            <a:pPr marL="342900" indent="-342900">
              <a:buFont typeface="Arial" panose="020B0604020202020204" pitchFamily="34" charset="0"/>
              <a:buChar char="•"/>
            </a:pPr>
            <a:r>
              <a:rPr lang="en-US" sz="2400" dirty="0"/>
              <a:t>In ANN, we can also apply activation functions over the input to get the exact output. </a:t>
            </a:r>
          </a:p>
          <a:p>
            <a:pPr marL="342900" indent="-342900">
              <a:buFont typeface="Arial" panose="020B0604020202020204" pitchFamily="34" charset="0"/>
              <a:buChar char="•"/>
            </a:pPr>
            <a:r>
              <a:rPr lang="en-US" sz="2400" dirty="0"/>
              <a:t>Activation function decides, whether a neuron should be activated or not by calculating weighted sum and further adding bias with it. </a:t>
            </a:r>
          </a:p>
          <a:p>
            <a:pPr marL="342900" indent="-342900">
              <a:buFont typeface="Arial" panose="020B0604020202020204" pitchFamily="34" charset="0"/>
              <a:buChar char="•"/>
            </a:pPr>
            <a:r>
              <a:rPr lang="en-US" sz="2400" dirty="0"/>
              <a:t>The purpose of the activation function is to </a:t>
            </a:r>
            <a:r>
              <a:rPr lang="en-US" sz="2400" b="1" dirty="0"/>
              <a:t>introduce non-linearity</a:t>
            </a:r>
            <a:r>
              <a:rPr lang="en-US" sz="2400" dirty="0"/>
              <a:t> into the output of a neuron.</a:t>
            </a:r>
          </a:p>
          <a:p>
            <a:pPr marL="342900" indent="-342900">
              <a:buFont typeface="Arial" panose="020B0604020202020204" pitchFamily="34" charset="0"/>
              <a:buChar char="•"/>
            </a:pPr>
            <a:r>
              <a:rPr lang="en-US" sz="2400" dirty="0"/>
              <a:t>We know, neural network has neurons that work in correspondence of </a:t>
            </a:r>
            <a:r>
              <a:rPr lang="en-US" sz="2400" i="1" dirty="0"/>
              <a:t>weight, bias</a:t>
            </a:r>
            <a:r>
              <a:rPr lang="en-US" sz="2400" dirty="0"/>
              <a:t> and their respective activation function.</a:t>
            </a:r>
          </a:p>
          <a:p>
            <a:pPr marL="342900" indent="-342900">
              <a:buFont typeface="Arial" panose="020B0604020202020204" pitchFamily="34" charset="0"/>
              <a:buChar char="•"/>
            </a:pPr>
            <a:r>
              <a:rPr lang="en-US" sz="2400" dirty="0"/>
              <a:t> In a neural network, we would update the weights and biases of the neurons on the basis of the error at the output.</a:t>
            </a:r>
          </a:p>
          <a:p>
            <a:pPr marL="342900" indent="-342900">
              <a:buFont typeface="Arial" panose="020B0604020202020204" pitchFamily="34" charset="0"/>
              <a:buChar char="•"/>
            </a:pPr>
            <a:r>
              <a:rPr lang="en-US" sz="2400" dirty="0"/>
              <a:t> This process is known as </a:t>
            </a:r>
            <a:r>
              <a:rPr lang="en-US" sz="2400" i="1" dirty="0"/>
              <a:t>back-propagation</a:t>
            </a:r>
            <a:r>
              <a:rPr lang="en-US" sz="2400" dirty="0"/>
              <a:t>. </a:t>
            </a:r>
          </a:p>
          <a:p>
            <a:pPr marL="342900" indent="-342900">
              <a:buFont typeface="Arial" panose="020B0604020202020204" pitchFamily="34" charset="0"/>
              <a:buChar char="•"/>
            </a:pPr>
            <a:r>
              <a:rPr lang="en-US" sz="2400" dirty="0"/>
              <a:t>Activation functions make the back-propagation possible since the gradients are supplied along with the error to update the weights and biases.</a:t>
            </a:r>
          </a:p>
        </p:txBody>
      </p:sp>
      <p:sp>
        <p:nvSpPr>
          <p:cNvPr id="5" name="TextBox 4">
            <a:extLst>
              <a:ext uri="{FF2B5EF4-FFF2-40B4-BE49-F238E27FC236}">
                <a16:creationId xmlns:a16="http://schemas.microsoft.com/office/drawing/2014/main" id="{C450F92A-2388-4353-A085-1950BD324CCD}"/>
              </a:ext>
            </a:extLst>
          </p:cNvPr>
          <p:cNvSpPr txBox="1"/>
          <p:nvPr/>
        </p:nvSpPr>
        <p:spPr>
          <a:xfrm>
            <a:off x="685800" y="235089"/>
            <a:ext cx="4191000" cy="523220"/>
          </a:xfrm>
          <a:prstGeom prst="rect">
            <a:avLst/>
          </a:prstGeom>
          <a:noFill/>
        </p:spPr>
        <p:txBody>
          <a:bodyPr wrap="square">
            <a:spAutoFit/>
          </a:bodyPr>
          <a:lstStyle/>
          <a:p>
            <a:r>
              <a:rPr lang="en-US" sz="2800" b="1" dirty="0"/>
              <a:t>Activation Functions</a:t>
            </a:r>
          </a:p>
        </p:txBody>
      </p:sp>
    </p:spTree>
    <p:extLst>
      <p:ext uri="{BB962C8B-B14F-4D97-AF65-F5344CB8AC3E}">
        <p14:creationId xmlns:p14="http://schemas.microsoft.com/office/powerpoint/2010/main" val="2732063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6FF00F-B5FB-4217-A17F-055CEC3386F6}"/>
              </a:ext>
            </a:extLst>
          </p:cNvPr>
          <p:cNvSpPr txBox="1"/>
          <p:nvPr/>
        </p:nvSpPr>
        <p:spPr>
          <a:xfrm>
            <a:off x="457200" y="889844"/>
            <a:ext cx="11353800" cy="5663089"/>
          </a:xfrm>
          <a:prstGeom prst="rect">
            <a:avLst/>
          </a:prstGeom>
          <a:noFill/>
        </p:spPr>
        <p:txBody>
          <a:bodyPr wrap="square">
            <a:spAutoFit/>
          </a:bodyPr>
          <a:lstStyle/>
          <a:p>
            <a:r>
              <a:rPr lang="en-US" sz="2400" b="1" dirty="0"/>
              <a:t>VARIANTS OF ACTIVATION FUNCTION :-</a:t>
            </a:r>
          </a:p>
          <a:p>
            <a:endParaRPr lang="en-US" dirty="0"/>
          </a:p>
          <a:p>
            <a:r>
              <a:rPr lang="en-US" sz="2000" b="1" dirty="0"/>
              <a:t>1). Linear Function :-</a:t>
            </a:r>
          </a:p>
          <a:p>
            <a:endParaRPr lang="en-US" sz="2000" dirty="0"/>
          </a:p>
          <a:p>
            <a:r>
              <a:rPr lang="en-US" sz="2000" b="1" dirty="0"/>
              <a:t>Equation : </a:t>
            </a:r>
            <a:r>
              <a:rPr lang="en-US" sz="2000" dirty="0"/>
              <a:t>Linear function has the equation similar to as of a straight line i.e. </a:t>
            </a:r>
            <a:r>
              <a:rPr lang="en-US" sz="2000" b="1" dirty="0"/>
              <a:t>y = ax</a:t>
            </a:r>
            <a:endParaRPr lang="en-US" sz="2000" dirty="0"/>
          </a:p>
          <a:p>
            <a:r>
              <a:rPr lang="en-US" sz="2000" dirty="0"/>
              <a:t>No matter how many layers we have, if all are linear in nature, the final activation function of last layer is nothing but just a linear function of the input of first layer.</a:t>
            </a:r>
          </a:p>
          <a:p>
            <a:pPr>
              <a:buFont typeface="Arial" panose="020B0604020202020204" pitchFamily="34" charset="0"/>
              <a:buChar char="•"/>
            </a:pPr>
            <a:endParaRPr lang="en-US" sz="2000" dirty="0"/>
          </a:p>
          <a:p>
            <a:r>
              <a:rPr lang="en-US" sz="2000" b="1" dirty="0"/>
              <a:t>Range :</a:t>
            </a:r>
            <a:r>
              <a:rPr lang="en-US" sz="2000" dirty="0"/>
              <a:t> -inf to +inf</a:t>
            </a:r>
          </a:p>
          <a:p>
            <a:pPr>
              <a:buFont typeface="Arial" panose="020B0604020202020204" pitchFamily="34" charset="0"/>
              <a:buChar char="•"/>
            </a:pPr>
            <a:endParaRPr lang="en-US" sz="2000" dirty="0"/>
          </a:p>
          <a:p>
            <a:r>
              <a:rPr lang="en-US" sz="2000" b="1" dirty="0"/>
              <a:t>Uses : </a:t>
            </a:r>
            <a:r>
              <a:rPr lang="en-US" sz="2000" dirty="0"/>
              <a:t>Linear activation function is used at just one place i.e. output layer.</a:t>
            </a:r>
          </a:p>
          <a:p>
            <a:pPr>
              <a:buFont typeface="Arial" panose="020B0604020202020204" pitchFamily="34" charset="0"/>
              <a:buChar char="•"/>
            </a:pPr>
            <a:endParaRPr lang="en-US" sz="2000" dirty="0"/>
          </a:p>
          <a:p>
            <a:r>
              <a:rPr lang="en-US" sz="2000" b="1" dirty="0"/>
              <a:t>Issues : </a:t>
            </a:r>
            <a:r>
              <a:rPr lang="en-US" sz="2000" dirty="0"/>
              <a:t>If we will differentiate linear function to bring non-linearity, result will no more depend on </a:t>
            </a:r>
            <a:r>
              <a:rPr lang="en-US" sz="2000" i="1" dirty="0"/>
              <a:t>input “x”</a:t>
            </a:r>
            <a:r>
              <a:rPr lang="en-US" sz="2000" dirty="0"/>
              <a:t> and function will become constant, it won’t introduce any ground-breaking behavior to our algorithm.</a:t>
            </a:r>
          </a:p>
          <a:p>
            <a:pPr>
              <a:buFont typeface="Arial" panose="020B0604020202020204" pitchFamily="34" charset="0"/>
              <a:buChar char="•"/>
            </a:pPr>
            <a:endParaRPr lang="en-US" sz="2000" dirty="0"/>
          </a:p>
          <a:p>
            <a:r>
              <a:rPr lang="en-US" sz="2000" b="1" dirty="0"/>
              <a:t>For example :</a:t>
            </a:r>
            <a:r>
              <a:rPr lang="en-US" sz="2000" dirty="0"/>
              <a:t> Calculation of price of a house is a regression problem. House price may have any big/small value, so we can apply linear activation at output layer. Even in this case neural net must have any non-linear function at hidden layers.</a:t>
            </a:r>
          </a:p>
        </p:txBody>
      </p:sp>
    </p:spTree>
    <p:extLst>
      <p:ext uri="{BB962C8B-B14F-4D97-AF65-F5344CB8AC3E}">
        <p14:creationId xmlns:p14="http://schemas.microsoft.com/office/powerpoint/2010/main" val="2267775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5563C6-6160-4A73-9298-1059C11CC3AC}"/>
              </a:ext>
            </a:extLst>
          </p:cNvPr>
          <p:cNvSpPr txBox="1"/>
          <p:nvPr/>
        </p:nvSpPr>
        <p:spPr>
          <a:xfrm>
            <a:off x="304800" y="566678"/>
            <a:ext cx="11430000" cy="4678204"/>
          </a:xfrm>
          <a:prstGeom prst="rect">
            <a:avLst/>
          </a:prstGeom>
          <a:noFill/>
        </p:spPr>
        <p:txBody>
          <a:bodyPr wrap="square">
            <a:spAutoFit/>
          </a:bodyPr>
          <a:lstStyle/>
          <a:p>
            <a:r>
              <a:rPr lang="en-US" sz="2000" b="1" dirty="0"/>
              <a:t>2). Sigmoid Function :-</a:t>
            </a:r>
          </a:p>
          <a:p>
            <a:endParaRPr lang="en-US" dirty="0"/>
          </a:p>
          <a:p>
            <a:r>
              <a:rPr lang="en-US" sz="2000" dirty="0"/>
              <a:t>It is a function which is plotted as </a:t>
            </a:r>
            <a:r>
              <a:rPr lang="en-US" sz="2000" b="1" dirty="0"/>
              <a:t>‘S’</a:t>
            </a:r>
            <a:r>
              <a:rPr lang="en-US" sz="2000" dirty="0"/>
              <a:t> shaped graph.</a:t>
            </a:r>
          </a:p>
          <a:p>
            <a:pPr>
              <a:buFont typeface="Arial" panose="020B0604020202020204" pitchFamily="34" charset="0"/>
              <a:buChar char="•"/>
            </a:pPr>
            <a:endParaRPr lang="en-US" sz="2000" dirty="0"/>
          </a:p>
          <a:p>
            <a:r>
              <a:rPr lang="en-US" sz="2000" b="1" dirty="0"/>
              <a:t>Equation :</a:t>
            </a:r>
            <a:br>
              <a:rPr lang="en-US" sz="2000" dirty="0"/>
            </a:br>
            <a:r>
              <a:rPr lang="en-US" sz="2000" dirty="0"/>
              <a:t>A = 1/(1 + e</a:t>
            </a:r>
            <a:r>
              <a:rPr lang="en-US" sz="2000" baseline="30000" dirty="0"/>
              <a:t>-x</a:t>
            </a:r>
            <a:r>
              <a:rPr lang="en-US" sz="2000" dirty="0"/>
              <a:t>)</a:t>
            </a:r>
          </a:p>
          <a:p>
            <a:endParaRPr lang="en-US" sz="2000" dirty="0"/>
          </a:p>
          <a:p>
            <a:r>
              <a:rPr lang="en-US" sz="2000" b="1" dirty="0"/>
              <a:t>Nature :</a:t>
            </a:r>
            <a:r>
              <a:rPr lang="en-US" sz="2000" dirty="0"/>
              <a:t> Non-linear. Notice that X values lies between -2 to 2, Y values are very steep. This means, small changes in x would also bring about large changes in the value of Y.</a:t>
            </a:r>
          </a:p>
          <a:p>
            <a:endParaRPr lang="en-US" sz="2000" dirty="0"/>
          </a:p>
          <a:p>
            <a:r>
              <a:rPr lang="en-US" sz="2000" b="1" dirty="0"/>
              <a:t>Value Range : </a:t>
            </a:r>
            <a:r>
              <a:rPr lang="en-US" sz="2000" dirty="0"/>
              <a:t>0 to 1</a:t>
            </a:r>
          </a:p>
          <a:p>
            <a:endParaRPr lang="en-US" sz="2000" dirty="0"/>
          </a:p>
          <a:p>
            <a:r>
              <a:rPr lang="en-US" sz="2000" b="1" dirty="0"/>
              <a:t>Uses : </a:t>
            </a:r>
            <a:r>
              <a:rPr lang="en-US" sz="2000" dirty="0"/>
              <a:t>Usually used in output layer of a binary classification, where result is either 0 or 1, as value for sigmoid function lies between 0 and 1 only so, result can be predicted easily to be </a:t>
            </a:r>
            <a:r>
              <a:rPr lang="en-US" sz="2000" b="1" i="1" dirty="0"/>
              <a:t>1</a:t>
            </a:r>
            <a:r>
              <a:rPr lang="en-US" sz="2000" dirty="0"/>
              <a:t> if value is greater than </a:t>
            </a:r>
            <a:r>
              <a:rPr lang="en-US" sz="2000" b="1" dirty="0"/>
              <a:t>0.5</a:t>
            </a:r>
            <a:r>
              <a:rPr lang="en-US" sz="2000" dirty="0"/>
              <a:t> and </a:t>
            </a:r>
            <a:r>
              <a:rPr lang="en-US" sz="2000" b="1" i="1" dirty="0"/>
              <a:t>0</a:t>
            </a:r>
            <a:r>
              <a:rPr lang="en-US" sz="2000" dirty="0"/>
              <a:t> otherwise.</a:t>
            </a:r>
          </a:p>
        </p:txBody>
      </p:sp>
    </p:spTree>
    <p:extLst>
      <p:ext uri="{BB962C8B-B14F-4D97-AF65-F5344CB8AC3E}">
        <p14:creationId xmlns:p14="http://schemas.microsoft.com/office/powerpoint/2010/main" val="1971957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26020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10" dirty="0"/>
              <a:t> </a:t>
            </a:r>
            <a:r>
              <a:rPr sz="4400" spc="-35" dirty="0"/>
              <a:t>Different</a:t>
            </a:r>
            <a:r>
              <a:rPr sz="4400" spc="-20" dirty="0"/>
              <a:t> </a:t>
            </a:r>
            <a:r>
              <a:rPr sz="4400" spc="-10" dirty="0"/>
              <a:t>Activation</a:t>
            </a:r>
            <a:r>
              <a:rPr sz="4400" spc="5" dirty="0"/>
              <a:t> </a:t>
            </a:r>
            <a:r>
              <a:rPr sz="4400" dirty="0"/>
              <a:t>Functions Used</a:t>
            </a:r>
            <a:endParaRPr sz="4400"/>
          </a:p>
        </p:txBody>
      </p:sp>
      <p:pic>
        <p:nvPicPr>
          <p:cNvPr id="3" name="object 3"/>
          <p:cNvPicPr/>
          <p:nvPr/>
        </p:nvPicPr>
        <p:blipFill>
          <a:blip r:embed="rId2" cstate="print"/>
          <a:stretch>
            <a:fillRect/>
          </a:stretch>
        </p:blipFill>
        <p:spPr>
          <a:xfrm>
            <a:off x="292698" y="2899642"/>
            <a:ext cx="7198332" cy="2726302"/>
          </a:xfrm>
          <a:prstGeom prst="rect">
            <a:avLst/>
          </a:prstGeom>
        </p:spPr>
      </p:pic>
      <p:sp>
        <p:nvSpPr>
          <p:cNvPr id="4" name="object 4"/>
          <p:cNvSpPr txBox="1"/>
          <p:nvPr/>
        </p:nvSpPr>
        <p:spPr>
          <a:xfrm>
            <a:off x="7634096" y="1793189"/>
            <a:ext cx="2183765" cy="452120"/>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800" spc="-10" dirty="0">
                <a:latin typeface="Calibri"/>
                <a:cs typeface="Calibri"/>
              </a:rPr>
              <a:t>Step</a:t>
            </a:r>
            <a:r>
              <a:rPr sz="2800" spc="-70" dirty="0">
                <a:latin typeface="Calibri"/>
                <a:cs typeface="Calibri"/>
              </a:rPr>
              <a:t> </a:t>
            </a:r>
            <a:r>
              <a:rPr sz="2800" spc="-5" dirty="0">
                <a:latin typeface="Calibri"/>
                <a:cs typeface="Calibri"/>
              </a:rPr>
              <a:t>function</a:t>
            </a:r>
            <a:endParaRPr sz="2800" dirty="0">
              <a:latin typeface="Calibri"/>
              <a:cs typeface="Calibri"/>
            </a:endParaRPr>
          </a:p>
        </p:txBody>
      </p:sp>
      <p:sp>
        <p:nvSpPr>
          <p:cNvPr id="5" name="object 5"/>
          <p:cNvSpPr/>
          <p:nvPr/>
        </p:nvSpPr>
        <p:spPr>
          <a:xfrm>
            <a:off x="8766682" y="2465070"/>
            <a:ext cx="432434" cy="328930"/>
          </a:xfrm>
          <a:custGeom>
            <a:avLst/>
            <a:gdLst/>
            <a:ahLst/>
            <a:cxnLst/>
            <a:rect l="l" t="t" r="r" b="b"/>
            <a:pathLst>
              <a:path w="432434" h="328930">
                <a:moveTo>
                  <a:pt x="327533" y="0"/>
                </a:moveTo>
                <a:lnTo>
                  <a:pt x="322834" y="13334"/>
                </a:lnTo>
                <a:lnTo>
                  <a:pt x="341884" y="21597"/>
                </a:lnTo>
                <a:lnTo>
                  <a:pt x="358267" y="33051"/>
                </a:lnTo>
                <a:lnTo>
                  <a:pt x="383032" y="65531"/>
                </a:lnTo>
                <a:lnTo>
                  <a:pt x="397605" y="109219"/>
                </a:lnTo>
                <a:lnTo>
                  <a:pt x="402463" y="162813"/>
                </a:lnTo>
                <a:lnTo>
                  <a:pt x="401228" y="191845"/>
                </a:lnTo>
                <a:lnTo>
                  <a:pt x="391425" y="241859"/>
                </a:lnTo>
                <a:lnTo>
                  <a:pt x="371883" y="280965"/>
                </a:lnTo>
                <a:lnTo>
                  <a:pt x="342078" y="307306"/>
                </a:lnTo>
                <a:lnTo>
                  <a:pt x="323342" y="315594"/>
                </a:lnTo>
                <a:lnTo>
                  <a:pt x="327533" y="328929"/>
                </a:lnTo>
                <a:lnTo>
                  <a:pt x="372364" y="307895"/>
                </a:lnTo>
                <a:lnTo>
                  <a:pt x="405384" y="271525"/>
                </a:lnTo>
                <a:lnTo>
                  <a:pt x="425672" y="222678"/>
                </a:lnTo>
                <a:lnTo>
                  <a:pt x="432435" y="164591"/>
                </a:lnTo>
                <a:lnTo>
                  <a:pt x="430742" y="134417"/>
                </a:lnTo>
                <a:lnTo>
                  <a:pt x="417165" y="80974"/>
                </a:lnTo>
                <a:lnTo>
                  <a:pt x="390255" y="37468"/>
                </a:lnTo>
                <a:lnTo>
                  <a:pt x="351393" y="8616"/>
                </a:lnTo>
                <a:lnTo>
                  <a:pt x="327533" y="0"/>
                </a:lnTo>
                <a:close/>
              </a:path>
              <a:path w="432434" h="328930">
                <a:moveTo>
                  <a:pt x="104901" y="0"/>
                </a:moveTo>
                <a:lnTo>
                  <a:pt x="60118" y="21113"/>
                </a:lnTo>
                <a:lnTo>
                  <a:pt x="27050" y="57657"/>
                </a:lnTo>
                <a:lnTo>
                  <a:pt x="6762" y="106552"/>
                </a:lnTo>
                <a:lnTo>
                  <a:pt x="0" y="164591"/>
                </a:lnTo>
                <a:lnTo>
                  <a:pt x="1690" y="194784"/>
                </a:lnTo>
                <a:lnTo>
                  <a:pt x="15216" y="248263"/>
                </a:lnTo>
                <a:lnTo>
                  <a:pt x="42054" y="291621"/>
                </a:lnTo>
                <a:lnTo>
                  <a:pt x="80968" y="320335"/>
                </a:lnTo>
                <a:lnTo>
                  <a:pt x="104901" y="328929"/>
                </a:lnTo>
                <a:lnTo>
                  <a:pt x="109093" y="315594"/>
                </a:lnTo>
                <a:lnTo>
                  <a:pt x="90302" y="307306"/>
                </a:lnTo>
                <a:lnTo>
                  <a:pt x="74120" y="295767"/>
                </a:lnTo>
                <a:lnTo>
                  <a:pt x="49530" y="262889"/>
                </a:lnTo>
                <a:lnTo>
                  <a:pt x="34845" y="218186"/>
                </a:lnTo>
                <a:lnTo>
                  <a:pt x="29972" y="162813"/>
                </a:lnTo>
                <a:lnTo>
                  <a:pt x="31188" y="134790"/>
                </a:lnTo>
                <a:lnTo>
                  <a:pt x="40955" y="86125"/>
                </a:lnTo>
                <a:lnTo>
                  <a:pt x="60577" y="47696"/>
                </a:lnTo>
                <a:lnTo>
                  <a:pt x="90624" y="21597"/>
                </a:lnTo>
                <a:lnTo>
                  <a:pt x="109600" y="13334"/>
                </a:lnTo>
                <a:lnTo>
                  <a:pt x="104901" y="0"/>
                </a:lnTo>
                <a:close/>
              </a:path>
            </a:pathLst>
          </a:custGeom>
          <a:solidFill>
            <a:srgbClr val="000000"/>
          </a:solidFill>
        </p:spPr>
        <p:txBody>
          <a:bodyPr wrap="square" lIns="0" tIns="0" rIns="0" bIns="0" rtlCol="0"/>
          <a:lstStyle/>
          <a:p>
            <a:endParaRPr/>
          </a:p>
        </p:txBody>
      </p:sp>
      <p:sp>
        <p:nvSpPr>
          <p:cNvPr id="6" name="object 6"/>
          <p:cNvSpPr txBox="1"/>
          <p:nvPr/>
        </p:nvSpPr>
        <p:spPr>
          <a:xfrm>
            <a:off x="8519541" y="2363850"/>
            <a:ext cx="567055" cy="452120"/>
          </a:xfrm>
          <a:prstGeom prst="rect">
            <a:avLst/>
          </a:prstGeom>
        </p:spPr>
        <p:txBody>
          <a:bodyPr vert="horz" wrap="square" lIns="0" tIns="12065" rIns="0" bIns="0" rtlCol="0">
            <a:spAutoFit/>
          </a:bodyPr>
          <a:lstStyle/>
          <a:p>
            <a:pPr marL="12700">
              <a:lnSpc>
                <a:spcPct val="100000"/>
              </a:lnSpc>
              <a:spcBef>
                <a:spcPts val="95"/>
              </a:spcBef>
              <a:tabLst>
                <a:tab pos="364490" algn="l"/>
              </a:tabLst>
            </a:pPr>
            <a:r>
              <a:rPr sz="2800" spc="-5" dirty="0">
                <a:latin typeface="Cambria Math"/>
                <a:cs typeface="Cambria Math"/>
              </a:rPr>
              <a:t>𝑦	𝑥</a:t>
            </a:r>
            <a:endParaRPr sz="2800">
              <a:latin typeface="Cambria Math"/>
              <a:cs typeface="Cambria Math"/>
            </a:endParaRPr>
          </a:p>
        </p:txBody>
      </p:sp>
      <p:sp>
        <p:nvSpPr>
          <p:cNvPr id="7" name="object 7"/>
          <p:cNvSpPr txBox="1"/>
          <p:nvPr/>
        </p:nvSpPr>
        <p:spPr>
          <a:xfrm>
            <a:off x="9292717" y="2127630"/>
            <a:ext cx="1934845" cy="452120"/>
          </a:xfrm>
          <a:prstGeom prst="rect">
            <a:avLst/>
          </a:prstGeom>
        </p:spPr>
        <p:txBody>
          <a:bodyPr vert="horz" wrap="square" lIns="0" tIns="12065" rIns="0" bIns="0" rtlCol="0">
            <a:spAutoFit/>
          </a:bodyPr>
          <a:lstStyle/>
          <a:p>
            <a:pPr marL="38100">
              <a:lnSpc>
                <a:spcPct val="100000"/>
              </a:lnSpc>
              <a:spcBef>
                <a:spcPts val="95"/>
              </a:spcBef>
            </a:pPr>
            <a:r>
              <a:rPr sz="4200" spc="-7" baseline="-36706" dirty="0">
                <a:latin typeface="Cambria Math"/>
                <a:cs typeface="Cambria Math"/>
              </a:rPr>
              <a:t>=</a:t>
            </a:r>
            <a:r>
              <a:rPr sz="4200" spc="427" baseline="-36706" dirty="0">
                <a:latin typeface="Cambria Math"/>
                <a:cs typeface="Cambria Math"/>
              </a:rPr>
              <a:t> </a:t>
            </a:r>
            <a:r>
              <a:rPr sz="2800" spc="-5" dirty="0">
                <a:latin typeface="Cambria Math"/>
                <a:cs typeface="Cambria Math"/>
              </a:rPr>
              <a:t>1</a:t>
            </a:r>
            <a:r>
              <a:rPr sz="2800" spc="-15" dirty="0">
                <a:latin typeface="Cambria Math"/>
                <a:cs typeface="Cambria Math"/>
              </a:rPr>
              <a:t> </a:t>
            </a:r>
            <a:r>
              <a:rPr sz="2800" spc="-5" dirty="0">
                <a:latin typeface="Cambria Math"/>
                <a:cs typeface="Cambria Math"/>
              </a:rPr>
              <a:t>𝑖𝑓</a:t>
            </a:r>
            <a:r>
              <a:rPr sz="2800" spc="60" dirty="0">
                <a:latin typeface="Cambria Math"/>
                <a:cs typeface="Cambria Math"/>
              </a:rPr>
              <a:t> </a:t>
            </a:r>
            <a:r>
              <a:rPr sz="2800" spc="-5" dirty="0">
                <a:latin typeface="Cambria Math"/>
                <a:cs typeface="Cambria Math"/>
              </a:rPr>
              <a:t>𝑥</a:t>
            </a:r>
            <a:r>
              <a:rPr sz="2800" spc="229" dirty="0">
                <a:latin typeface="Cambria Math"/>
                <a:cs typeface="Cambria Math"/>
              </a:rPr>
              <a:t> </a:t>
            </a:r>
            <a:r>
              <a:rPr sz="2800" spc="-5" dirty="0">
                <a:latin typeface="Cambria Math"/>
                <a:cs typeface="Cambria Math"/>
              </a:rPr>
              <a:t>≥</a:t>
            </a:r>
            <a:r>
              <a:rPr sz="2800" spc="150" dirty="0">
                <a:latin typeface="Cambria Math"/>
                <a:cs typeface="Cambria Math"/>
              </a:rPr>
              <a:t> </a:t>
            </a:r>
            <a:r>
              <a:rPr sz="2800" spc="-5" dirty="0">
                <a:latin typeface="Cambria Math"/>
                <a:cs typeface="Cambria Math"/>
              </a:rPr>
              <a:t>𝑡</a:t>
            </a:r>
            <a:endParaRPr sz="2800">
              <a:latin typeface="Cambria Math"/>
              <a:cs typeface="Cambria Math"/>
            </a:endParaRPr>
          </a:p>
        </p:txBody>
      </p:sp>
      <p:sp>
        <p:nvSpPr>
          <p:cNvPr id="8" name="object 8"/>
          <p:cNvSpPr txBox="1"/>
          <p:nvPr/>
        </p:nvSpPr>
        <p:spPr>
          <a:xfrm>
            <a:off x="9682353" y="2568067"/>
            <a:ext cx="153797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mbria Math"/>
                <a:cs typeface="Cambria Math"/>
              </a:rPr>
              <a:t>0</a:t>
            </a:r>
            <a:r>
              <a:rPr sz="2800" spc="-25" dirty="0">
                <a:latin typeface="Cambria Math"/>
                <a:cs typeface="Cambria Math"/>
              </a:rPr>
              <a:t> </a:t>
            </a:r>
            <a:r>
              <a:rPr sz="2800" spc="-5" dirty="0">
                <a:latin typeface="Cambria Math"/>
                <a:cs typeface="Cambria Math"/>
              </a:rPr>
              <a:t>𝑖𝑓</a:t>
            </a:r>
            <a:r>
              <a:rPr sz="2800" spc="55" dirty="0">
                <a:latin typeface="Cambria Math"/>
                <a:cs typeface="Cambria Math"/>
              </a:rPr>
              <a:t> </a:t>
            </a:r>
            <a:r>
              <a:rPr sz="2800" spc="-5" dirty="0">
                <a:latin typeface="Cambria Math"/>
                <a:cs typeface="Cambria Math"/>
              </a:rPr>
              <a:t>𝑋</a:t>
            </a:r>
            <a:r>
              <a:rPr sz="2800" spc="195" dirty="0">
                <a:latin typeface="Cambria Math"/>
                <a:cs typeface="Cambria Math"/>
              </a:rPr>
              <a:t> </a:t>
            </a:r>
            <a:r>
              <a:rPr sz="2800" spc="-5" dirty="0">
                <a:latin typeface="Cambria Math"/>
                <a:cs typeface="Cambria Math"/>
              </a:rPr>
              <a:t>&lt;</a:t>
            </a:r>
            <a:r>
              <a:rPr sz="2800" spc="145" dirty="0">
                <a:latin typeface="Cambria Math"/>
                <a:cs typeface="Cambria Math"/>
              </a:rPr>
              <a:t> </a:t>
            </a:r>
            <a:r>
              <a:rPr sz="2800" spc="-5" dirty="0">
                <a:latin typeface="Cambria Math"/>
                <a:cs typeface="Cambria Math"/>
              </a:rPr>
              <a:t>𝑡</a:t>
            </a:r>
            <a:endParaRPr sz="2800">
              <a:latin typeface="Cambria Math"/>
              <a:cs typeface="Cambria Math"/>
            </a:endParaRPr>
          </a:p>
        </p:txBody>
      </p:sp>
      <p:sp>
        <p:nvSpPr>
          <p:cNvPr id="9" name="object 9"/>
          <p:cNvSpPr/>
          <p:nvPr/>
        </p:nvSpPr>
        <p:spPr>
          <a:xfrm>
            <a:off x="8629522" y="3713226"/>
            <a:ext cx="432434" cy="328930"/>
          </a:xfrm>
          <a:custGeom>
            <a:avLst/>
            <a:gdLst/>
            <a:ahLst/>
            <a:cxnLst/>
            <a:rect l="l" t="t" r="r" b="b"/>
            <a:pathLst>
              <a:path w="432434" h="328929">
                <a:moveTo>
                  <a:pt x="327532" y="0"/>
                </a:moveTo>
                <a:lnTo>
                  <a:pt x="322833" y="13335"/>
                </a:lnTo>
                <a:lnTo>
                  <a:pt x="341883" y="21597"/>
                </a:lnTo>
                <a:lnTo>
                  <a:pt x="358266" y="33051"/>
                </a:lnTo>
                <a:lnTo>
                  <a:pt x="383031" y="65531"/>
                </a:lnTo>
                <a:lnTo>
                  <a:pt x="397605" y="109219"/>
                </a:lnTo>
                <a:lnTo>
                  <a:pt x="402462" y="162813"/>
                </a:lnTo>
                <a:lnTo>
                  <a:pt x="401228" y="191845"/>
                </a:lnTo>
                <a:lnTo>
                  <a:pt x="391425" y="241859"/>
                </a:lnTo>
                <a:lnTo>
                  <a:pt x="371883" y="280965"/>
                </a:lnTo>
                <a:lnTo>
                  <a:pt x="342078" y="307306"/>
                </a:lnTo>
                <a:lnTo>
                  <a:pt x="323342" y="315594"/>
                </a:lnTo>
                <a:lnTo>
                  <a:pt x="327532" y="328930"/>
                </a:lnTo>
                <a:lnTo>
                  <a:pt x="372364" y="307895"/>
                </a:lnTo>
                <a:lnTo>
                  <a:pt x="405383" y="271525"/>
                </a:lnTo>
                <a:lnTo>
                  <a:pt x="425672" y="222678"/>
                </a:lnTo>
                <a:lnTo>
                  <a:pt x="432434" y="164592"/>
                </a:lnTo>
                <a:lnTo>
                  <a:pt x="430742" y="134417"/>
                </a:lnTo>
                <a:lnTo>
                  <a:pt x="417165" y="80974"/>
                </a:lnTo>
                <a:lnTo>
                  <a:pt x="390255" y="37468"/>
                </a:lnTo>
                <a:lnTo>
                  <a:pt x="351393" y="8616"/>
                </a:lnTo>
                <a:lnTo>
                  <a:pt x="327532" y="0"/>
                </a:lnTo>
                <a:close/>
              </a:path>
              <a:path w="432434" h="328929">
                <a:moveTo>
                  <a:pt x="104901" y="0"/>
                </a:moveTo>
                <a:lnTo>
                  <a:pt x="60118" y="21113"/>
                </a:lnTo>
                <a:lnTo>
                  <a:pt x="27050" y="57657"/>
                </a:lnTo>
                <a:lnTo>
                  <a:pt x="6762" y="106553"/>
                </a:lnTo>
                <a:lnTo>
                  <a:pt x="0" y="164592"/>
                </a:lnTo>
                <a:lnTo>
                  <a:pt x="1690" y="194784"/>
                </a:lnTo>
                <a:lnTo>
                  <a:pt x="15216" y="248263"/>
                </a:lnTo>
                <a:lnTo>
                  <a:pt x="42054" y="291621"/>
                </a:lnTo>
                <a:lnTo>
                  <a:pt x="80968" y="320335"/>
                </a:lnTo>
                <a:lnTo>
                  <a:pt x="104901" y="328930"/>
                </a:lnTo>
                <a:lnTo>
                  <a:pt x="109093" y="315594"/>
                </a:lnTo>
                <a:lnTo>
                  <a:pt x="90302" y="307306"/>
                </a:lnTo>
                <a:lnTo>
                  <a:pt x="74120" y="295767"/>
                </a:lnTo>
                <a:lnTo>
                  <a:pt x="49529" y="262890"/>
                </a:lnTo>
                <a:lnTo>
                  <a:pt x="34845" y="218185"/>
                </a:lnTo>
                <a:lnTo>
                  <a:pt x="29972" y="162813"/>
                </a:lnTo>
                <a:lnTo>
                  <a:pt x="31188" y="134790"/>
                </a:lnTo>
                <a:lnTo>
                  <a:pt x="40955" y="86125"/>
                </a:lnTo>
                <a:lnTo>
                  <a:pt x="60577" y="47696"/>
                </a:lnTo>
                <a:lnTo>
                  <a:pt x="90624" y="21597"/>
                </a:lnTo>
                <a:lnTo>
                  <a:pt x="109600" y="13335"/>
                </a:lnTo>
                <a:lnTo>
                  <a:pt x="104901" y="0"/>
                </a:lnTo>
                <a:close/>
              </a:path>
            </a:pathLst>
          </a:custGeom>
          <a:solidFill>
            <a:srgbClr val="000000"/>
          </a:solidFill>
        </p:spPr>
        <p:txBody>
          <a:bodyPr wrap="square" lIns="0" tIns="0" rIns="0" bIns="0" rtlCol="0"/>
          <a:lstStyle/>
          <a:p>
            <a:endParaRPr/>
          </a:p>
        </p:txBody>
      </p:sp>
      <p:sp>
        <p:nvSpPr>
          <p:cNvPr id="10" name="object 10"/>
          <p:cNvSpPr txBox="1"/>
          <p:nvPr/>
        </p:nvSpPr>
        <p:spPr>
          <a:xfrm>
            <a:off x="8382381" y="3612260"/>
            <a:ext cx="1087755" cy="452120"/>
          </a:xfrm>
          <a:prstGeom prst="rect">
            <a:avLst/>
          </a:prstGeom>
        </p:spPr>
        <p:txBody>
          <a:bodyPr vert="horz" wrap="square" lIns="0" tIns="12065" rIns="0" bIns="0" rtlCol="0">
            <a:spAutoFit/>
          </a:bodyPr>
          <a:lstStyle/>
          <a:p>
            <a:pPr marL="12700">
              <a:lnSpc>
                <a:spcPct val="100000"/>
              </a:lnSpc>
              <a:spcBef>
                <a:spcPts val="95"/>
              </a:spcBef>
              <a:tabLst>
                <a:tab pos="364490" algn="l"/>
                <a:tab pos="809625" algn="l"/>
              </a:tabLst>
            </a:pPr>
            <a:r>
              <a:rPr sz="2800" spc="-5" dirty="0">
                <a:latin typeface="Cambria Math"/>
                <a:cs typeface="Cambria Math"/>
              </a:rPr>
              <a:t>𝑦	𝑥	=</a:t>
            </a:r>
            <a:endParaRPr sz="2800">
              <a:latin typeface="Cambria Math"/>
              <a:cs typeface="Cambria Math"/>
            </a:endParaRPr>
          </a:p>
        </p:txBody>
      </p:sp>
      <p:sp>
        <p:nvSpPr>
          <p:cNvPr id="11" name="object 11"/>
          <p:cNvSpPr txBox="1"/>
          <p:nvPr/>
        </p:nvSpPr>
        <p:spPr>
          <a:xfrm>
            <a:off x="7634096" y="3043250"/>
            <a:ext cx="3599815" cy="784860"/>
          </a:xfrm>
          <a:prstGeom prst="rect">
            <a:avLst/>
          </a:prstGeom>
        </p:spPr>
        <p:txBody>
          <a:bodyPr vert="horz" wrap="square" lIns="0" tIns="12065" rIns="0" bIns="0" rtlCol="0">
            <a:spAutoFit/>
          </a:bodyPr>
          <a:lstStyle/>
          <a:p>
            <a:pPr marL="241300" indent="-228600">
              <a:lnSpc>
                <a:spcPts val="2990"/>
              </a:lnSpc>
              <a:spcBef>
                <a:spcPts val="95"/>
              </a:spcBef>
              <a:buFont typeface="Arial MT"/>
              <a:buChar char="•"/>
              <a:tabLst>
                <a:tab pos="241300" algn="l"/>
              </a:tabLst>
            </a:pPr>
            <a:r>
              <a:rPr sz="2800" spc="-5" dirty="0">
                <a:latin typeface="Calibri"/>
                <a:cs typeface="Calibri"/>
              </a:rPr>
              <a:t>Sign</a:t>
            </a:r>
            <a:r>
              <a:rPr sz="2800" spc="-40" dirty="0">
                <a:latin typeface="Calibri"/>
                <a:cs typeface="Calibri"/>
              </a:rPr>
              <a:t> </a:t>
            </a:r>
            <a:r>
              <a:rPr sz="2800" spc="-5" dirty="0">
                <a:latin typeface="Calibri"/>
                <a:cs typeface="Calibri"/>
              </a:rPr>
              <a:t>function</a:t>
            </a:r>
            <a:endParaRPr sz="2800">
              <a:latin typeface="Calibri"/>
              <a:cs typeface="Calibri"/>
            </a:endParaRPr>
          </a:p>
          <a:p>
            <a:pPr marL="2054225">
              <a:lnSpc>
                <a:spcPts val="2990"/>
              </a:lnSpc>
            </a:pPr>
            <a:r>
              <a:rPr sz="2800" spc="-5" dirty="0">
                <a:latin typeface="Cambria Math"/>
                <a:cs typeface="Cambria Math"/>
              </a:rPr>
              <a:t>1</a:t>
            </a:r>
            <a:r>
              <a:rPr sz="2800" spc="-25" dirty="0">
                <a:latin typeface="Cambria Math"/>
                <a:cs typeface="Cambria Math"/>
              </a:rPr>
              <a:t> </a:t>
            </a:r>
            <a:r>
              <a:rPr sz="2800" spc="-5" dirty="0">
                <a:latin typeface="Cambria Math"/>
                <a:cs typeface="Cambria Math"/>
              </a:rPr>
              <a:t>𝑖𝑓</a:t>
            </a:r>
            <a:r>
              <a:rPr sz="2800" spc="55" dirty="0">
                <a:latin typeface="Cambria Math"/>
                <a:cs typeface="Cambria Math"/>
              </a:rPr>
              <a:t> </a:t>
            </a:r>
            <a:r>
              <a:rPr sz="2800" spc="-5" dirty="0">
                <a:latin typeface="Cambria Math"/>
                <a:cs typeface="Cambria Math"/>
              </a:rPr>
              <a:t>𝑥</a:t>
            </a:r>
            <a:r>
              <a:rPr sz="2800" spc="225" dirty="0">
                <a:latin typeface="Cambria Math"/>
                <a:cs typeface="Cambria Math"/>
              </a:rPr>
              <a:t> </a:t>
            </a:r>
            <a:r>
              <a:rPr sz="2800" spc="-5" dirty="0">
                <a:latin typeface="Cambria Math"/>
                <a:cs typeface="Cambria Math"/>
              </a:rPr>
              <a:t>≥</a:t>
            </a:r>
            <a:r>
              <a:rPr sz="2800" spc="145" dirty="0">
                <a:latin typeface="Cambria Math"/>
                <a:cs typeface="Cambria Math"/>
              </a:rPr>
              <a:t> </a:t>
            </a:r>
            <a:r>
              <a:rPr sz="2800" spc="-5" dirty="0">
                <a:latin typeface="Cambria Math"/>
                <a:cs typeface="Cambria Math"/>
              </a:rPr>
              <a:t>0</a:t>
            </a:r>
            <a:endParaRPr sz="2800">
              <a:latin typeface="Cambria Math"/>
              <a:cs typeface="Cambria Math"/>
            </a:endParaRPr>
          </a:p>
        </p:txBody>
      </p:sp>
      <p:sp>
        <p:nvSpPr>
          <p:cNvPr id="12" name="object 12"/>
          <p:cNvSpPr txBox="1"/>
          <p:nvPr/>
        </p:nvSpPr>
        <p:spPr>
          <a:xfrm>
            <a:off x="9543668" y="3816477"/>
            <a:ext cx="182308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mbria Math"/>
                <a:cs typeface="Cambria Math"/>
              </a:rPr>
              <a:t>−1</a:t>
            </a:r>
            <a:r>
              <a:rPr sz="2800" spc="-25" dirty="0">
                <a:latin typeface="Cambria Math"/>
                <a:cs typeface="Cambria Math"/>
              </a:rPr>
              <a:t> </a:t>
            </a:r>
            <a:r>
              <a:rPr sz="2800" spc="-5" dirty="0">
                <a:latin typeface="Cambria Math"/>
                <a:cs typeface="Cambria Math"/>
              </a:rPr>
              <a:t>𝑖𝑓</a:t>
            </a:r>
            <a:r>
              <a:rPr sz="2800" spc="60" dirty="0">
                <a:latin typeface="Cambria Math"/>
                <a:cs typeface="Cambria Math"/>
              </a:rPr>
              <a:t> </a:t>
            </a:r>
            <a:r>
              <a:rPr sz="2800" spc="-5" dirty="0">
                <a:latin typeface="Cambria Math"/>
                <a:cs typeface="Cambria Math"/>
              </a:rPr>
              <a:t>𝑥</a:t>
            </a:r>
            <a:r>
              <a:rPr sz="2800" spc="220" dirty="0">
                <a:latin typeface="Cambria Math"/>
                <a:cs typeface="Cambria Math"/>
              </a:rPr>
              <a:t> </a:t>
            </a:r>
            <a:r>
              <a:rPr sz="2800" spc="-5" dirty="0">
                <a:latin typeface="Cambria Math"/>
                <a:cs typeface="Cambria Math"/>
              </a:rPr>
              <a:t>&lt;</a:t>
            </a:r>
            <a:r>
              <a:rPr sz="2800" spc="145" dirty="0">
                <a:latin typeface="Cambria Math"/>
                <a:cs typeface="Cambria Math"/>
              </a:rPr>
              <a:t> </a:t>
            </a:r>
            <a:r>
              <a:rPr sz="2800" spc="-5" dirty="0">
                <a:latin typeface="Cambria Math"/>
                <a:cs typeface="Cambria Math"/>
              </a:rPr>
              <a:t>0</a:t>
            </a:r>
            <a:endParaRPr sz="2800">
              <a:latin typeface="Cambria Math"/>
              <a:cs typeface="Cambria Math"/>
            </a:endParaRPr>
          </a:p>
        </p:txBody>
      </p:sp>
      <p:sp>
        <p:nvSpPr>
          <p:cNvPr id="13" name="object 13"/>
          <p:cNvSpPr txBox="1"/>
          <p:nvPr/>
        </p:nvSpPr>
        <p:spPr>
          <a:xfrm>
            <a:off x="7634096" y="4291660"/>
            <a:ext cx="2689860" cy="452120"/>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800" spc="-10" dirty="0">
                <a:latin typeface="Calibri"/>
                <a:cs typeface="Calibri"/>
              </a:rPr>
              <a:t>Sigmoid</a:t>
            </a:r>
            <a:r>
              <a:rPr sz="2800" spc="-55" dirty="0">
                <a:latin typeface="Calibri"/>
                <a:cs typeface="Calibri"/>
              </a:rPr>
              <a:t> </a:t>
            </a:r>
            <a:r>
              <a:rPr sz="2800" spc="-5" dirty="0">
                <a:latin typeface="Calibri"/>
                <a:cs typeface="Calibri"/>
              </a:rPr>
              <a:t>function</a:t>
            </a:r>
            <a:endParaRPr sz="2800">
              <a:latin typeface="Calibri"/>
              <a:cs typeface="Calibri"/>
            </a:endParaRPr>
          </a:p>
        </p:txBody>
      </p:sp>
      <p:sp>
        <p:nvSpPr>
          <p:cNvPr id="14" name="object 14"/>
          <p:cNvSpPr/>
          <p:nvPr/>
        </p:nvSpPr>
        <p:spPr>
          <a:xfrm>
            <a:off x="8937370" y="4987290"/>
            <a:ext cx="432434" cy="328930"/>
          </a:xfrm>
          <a:custGeom>
            <a:avLst/>
            <a:gdLst/>
            <a:ahLst/>
            <a:cxnLst/>
            <a:rect l="l" t="t" r="r" b="b"/>
            <a:pathLst>
              <a:path w="432434" h="328929">
                <a:moveTo>
                  <a:pt x="327532" y="0"/>
                </a:moveTo>
                <a:lnTo>
                  <a:pt x="322833" y="13335"/>
                </a:lnTo>
                <a:lnTo>
                  <a:pt x="341883" y="21597"/>
                </a:lnTo>
                <a:lnTo>
                  <a:pt x="358266" y="33051"/>
                </a:lnTo>
                <a:lnTo>
                  <a:pt x="383031" y="65532"/>
                </a:lnTo>
                <a:lnTo>
                  <a:pt x="397605" y="109219"/>
                </a:lnTo>
                <a:lnTo>
                  <a:pt x="402462" y="162814"/>
                </a:lnTo>
                <a:lnTo>
                  <a:pt x="401228" y="191845"/>
                </a:lnTo>
                <a:lnTo>
                  <a:pt x="391425" y="241859"/>
                </a:lnTo>
                <a:lnTo>
                  <a:pt x="371883" y="280965"/>
                </a:lnTo>
                <a:lnTo>
                  <a:pt x="342078" y="307306"/>
                </a:lnTo>
                <a:lnTo>
                  <a:pt x="323342" y="315595"/>
                </a:lnTo>
                <a:lnTo>
                  <a:pt x="327532" y="328930"/>
                </a:lnTo>
                <a:lnTo>
                  <a:pt x="372364" y="307895"/>
                </a:lnTo>
                <a:lnTo>
                  <a:pt x="405383" y="271526"/>
                </a:lnTo>
                <a:lnTo>
                  <a:pt x="425672" y="222678"/>
                </a:lnTo>
                <a:lnTo>
                  <a:pt x="432434" y="164592"/>
                </a:lnTo>
                <a:lnTo>
                  <a:pt x="430742" y="134417"/>
                </a:lnTo>
                <a:lnTo>
                  <a:pt x="417165" y="80974"/>
                </a:lnTo>
                <a:lnTo>
                  <a:pt x="390255" y="37468"/>
                </a:lnTo>
                <a:lnTo>
                  <a:pt x="351393" y="8616"/>
                </a:lnTo>
                <a:lnTo>
                  <a:pt x="327532" y="0"/>
                </a:lnTo>
                <a:close/>
              </a:path>
              <a:path w="432434" h="328929">
                <a:moveTo>
                  <a:pt x="104901" y="0"/>
                </a:moveTo>
                <a:lnTo>
                  <a:pt x="60118" y="21113"/>
                </a:lnTo>
                <a:lnTo>
                  <a:pt x="27050" y="57658"/>
                </a:lnTo>
                <a:lnTo>
                  <a:pt x="6762" y="106553"/>
                </a:lnTo>
                <a:lnTo>
                  <a:pt x="0" y="164592"/>
                </a:lnTo>
                <a:lnTo>
                  <a:pt x="1690" y="194784"/>
                </a:lnTo>
                <a:lnTo>
                  <a:pt x="15216" y="248263"/>
                </a:lnTo>
                <a:lnTo>
                  <a:pt x="42054" y="291621"/>
                </a:lnTo>
                <a:lnTo>
                  <a:pt x="80968" y="320335"/>
                </a:lnTo>
                <a:lnTo>
                  <a:pt x="104901" y="328930"/>
                </a:lnTo>
                <a:lnTo>
                  <a:pt x="109093" y="315595"/>
                </a:lnTo>
                <a:lnTo>
                  <a:pt x="90302" y="307306"/>
                </a:lnTo>
                <a:lnTo>
                  <a:pt x="74120" y="295767"/>
                </a:lnTo>
                <a:lnTo>
                  <a:pt x="49529" y="262890"/>
                </a:lnTo>
                <a:lnTo>
                  <a:pt x="34845" y="218186"/>
                </a:lnTo>
                <a:lnTo>
                  <a:pt x="29972" y="162814"/>
                </a:lnTo>
                <a:lnTo>
                  <a:pt x="31188" y="134790"/>
                </a:lnTo>
                <a:lnTo>
                  <a:pt x="40955" y="86125"/>
                </a:lnTo>
                <a:lnTo>
                  <a:pt x="60577" y="47696"/>
                </a:lnTo>
                <a:lnTo>
                  <a:pt x="90624" y="21597"/>
                </a:lnTo>
                <a:lnTo>
                  <a:pt x="109600" y="13335"/>
                </a:lnTo>
                <a:lnTo>
                  <a:pt x="104901" y="0"/>
                </a:lnTo>
                <a:close/>
              </a:path>
            </a:pathLst>
          </a:custGeom>
          <a:solidFill>
            <a:srgbClr val="000000"/>
          </a:solidFill>
        </p:spPr>
        <p:txBody>
          <a:bodyPr wrap="square" lIns="0" tIns="0" rIns="0" bIns="0" rtlCol="0"/>
          <a:lstStyle/>
          <a:p>
            <a:endParaRPr/>
          </a:p>
        </p:txBody>
      </p:sp>
      <p:sp>
        <p:nvSpPr>
          <p:cNvPr id="15" name="object 15"/>
          <p:cNvSpPr txBox="1"/>
          <p:nvPr/>
        </p:nvSpPr>
        <p:spPr>
          <a:xfrm>
            <a:off x="8690229" y="4886705"/>
            <a:ext cx="567055" cy="452120"/>
          </a:xfrm>
          <a:prstGeom prst="rect">
            <a:avLst/>
          </a:prstGeom>
        </p:spPr>
        <p:txBody>
          <a:bodyPr vert="horz" wrap="square" lIns="0" tIns="12065" rIns="0" bIns="0" rtlCol="0">
            <a:spAutoFit/>
          </a:bodyPr>
          <a:lstStyle/>
          <a:p>
            <a:pPr marL="12700">
              <a:lnSpc>
                <a:spcPct val="100000"/>
              </a:lnSpc>
              <a:spcBef>
                <a:spcPts val="95"/>
              </a:spcBef>
              <a:tabLst>
                <a:tab pos="364490" algn="l"/>
              </a:tabLst>
            </a:pPr>
            <a:r>
              <a:rPr sz="2800" spc="-5" dirty="0">
                <a:latin typeface="Cambria Math"/>
                <a:cs typeface="Cambria Math"/>
              </a:rPr>
              <a:t>𝑦	𝑥</a:t>
            </a:r>
            <a:endParaRPr sz="2800">
              <a:latin typeface="Cambria Math"/>
              <a:cs typeface="Cambria Math"/>
            </a:endParaRPr>
          </a:p>
        </p:txBody>
      </p:sp>
      <p:sp>
        <p:nvSpPr>
          <p:cNvPr id="16" name="object 16"/>
          <p:cNvSpPr/>
          <p:nvPr/>
        </p:nvSpPr>
        <p:spPr>
          <a:xfrm>
            <a:off x="9864725" y="5140325"/>
            <a:ext cx="1179830" cy="22860"/>
          </a:xfrm>
          <a:custGeom>
            <a:avLst/>
            <a:gdLst/>
            <a:ahLst/>
            <a:cxnLst/>
            <a:rect l="l" t="t" r="r" b="b"/>
            <a:pathLst>
              <a:path w="1179829" h="22860">
                <a:moveTo>
                  <a:pt x="1179576" y="0"/>
                </a:moveTo>
                <a:lnTo>
                  <a:pt x="0" y="0"/>
                </a:lnTo>
                <a:lnTo>
                  <a:pt x="0" y="22860"/>
                </a:lnTo>
                <a:lnTo>
                  <a:pt x="1179576" y="22860"/>
                </a:lnTo>
                <a:lnTo>
                  <a:pt x="1179576" y="0"/>
                </a:lnTo>
                <a:close/>
              </a:path>
            </a:pathLst>
          </a:custGeom>
          <a:solidFill>
            <a:srgbClr val="000000"/>
          </a:solidFill>
        </p:spPr>
        <p:txBody>
          <a:bodyPr wrap="square" lIns="0" tIns="0" rIns="0" bIns="0" rtlCol="0"/>
          <a:lstStyle/>
          <a:p>
            <a:endParaRPr/>
          </a:p>
        </p:txBody>
      </p:sp>
      <p:sp>
        <p:nvSpPr>
          <p:cNvPr id="17" name="object 17"/>
          <p:cNvSpPr txBox="1"/>
          <p:nvPr/>
        </p:nvSpPr>
        <p:spPr>
          <a:xfrm>
            <a:off x="10344150" y="461848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mbria Math"/>
                <a:cs typeface="Cambria Math"/>
              </a:rPr>
              <a:t>1</a:t>
            </a:r>
            <a:endParaRPr sz="2800">
              <a:latin typeface="Cambria Math"/>
              <a:cs typeface="Cambria Math"/>
            </a:endParaRPr>
          </a:p>
        </p:txBody>
      </p:sp>
      <p:sp>
        <p:nvSpPr>
          <p:cNvPr id="18" name="object 18"/>
          <p:cNvSpPr txBox="1"/>
          <p:nvPr/>
        </p:nvSpPr>
        <p:spPr>
          <a:xfrm>
            <a:off x="9463405" y="4886705"/>
            <a:ext cx="1598295" cy="689610"/>
          </a:xfrm>
          <a:prstGeom prst="rect">
            <a:avLst/>
          </a:prstGeom>
        </p:spPr>
        <p:txBody>
          <a:bodyPr vert="horz" wrap="square" lIns="0" tIns="12065" rIns="0" bIns="0" rtlCol="0">
            <a:spAutoFit/>
          </a:bodyPr>
          <a:lstStyle/>
          <a:p>
            <a:pPr marL="38100">
              <a:lnSpc>
                <a:spcPts val="2615"/>
              </a:lnSpc>
              <a:spcBef>
                <a:spcPts val="95"/>
              </a:spcBef>
            </a:pPr>
            <a:r>
              <a:rPr sz="2800" spc="-5" dirty="0">
                <a:latin typeface="Cambria Math"/>
                <a:cs typeface="Cambria Math"/>
              </a:rPr>
              <a:t>=</a:t>
            </a:r>
            <a:endParaRPr sz="2800">
              <a:latin typeface="Cambria Math"/>
              <a:cs typeface="Cambria Math"/>
            </a:endParaRPr>
          </a:p>
          <a:p>
            <a:pPr marL="402590">
              <a:lnSpc>
                <a:spcPts val="2615"/>
              </a:lnSpc>
            </a:pPr>
            <a:r>
              <a:rPr sz="2800" spc="-5" dirty="0">
                <a:latin typeface="Cambria Math"/>
                <a:cs typeface="Cambria Math"/>
              </a:rPr>
              <a:t>1</a:t>
            </a:r>
            <a:r>
              <a:rPr sz="2800" spc="-35" dirty="0">
                <a:latin typeface="Cambria Math"/>
                <a:cs typeface="Cambria Math"/>
              </a:rPr>
              <a:t> </a:t>
            </a:r>
            <a:r>
              <a:rPr sz="2800" spc="-5" dirty="0">
                <a:latin typeface="Cambria Math"/>
                <a:cs typeface="Cambria Math"/>
              </a:rPr>
              <a:t>+</a:t>
            </a:r>
            <a:r>
              <a:rPr sz="2800" spc="-50" dirty="0">
                <a:latin typeface="Cambria Math"/>
                <a:cs typeface="Cambria Math"/>
              </a:rPr>
              <a:t> </a:t>
            </a:r>
            <a:r>
              <a:rPr sz="2800" spc="75" dirty="0">
                <a:latin typeface="Cambria Math"/>
                <a:cs typeface="Cambria Math"/>
              </a:rPr>
              <a:t>𝑒</a:t>
            </a:r>
            <a:r>
              <a:rPr sz="3075" spc="112" baseline="23035" dirty="0">
                <a:latin typeface="Cambria Math"/>
                <a:cs typeface="Cambria Math"/>
              </a:rPr>
              <a:t>−𝑥</a:t>
            </a:r>
            <a:endParaRPr sz="3075" baseline="23035">
              <a:latin typeface="Cambria Math"/>
              <a:cs typeface="Cambria Math"/>
            </a:endParaRPr>
          </a:p>
        </p:txBody>
      </p:sp>
      <p:sp>
        <p:nvSpPr>
          <p:cNvPr id="19" name="object 19"/>
          <p:cNvSpPr/>
          <p:nvPr/>
        </p:nvSpPr>
        <p:spPr>
          <a:xfrm>
            <a:off x="10456798" y="5631967"/>
            <a:ext cx="432434" cy="328930"/>
          </a:xfrm>
          <a:custGeom>
            <a:avLst/>
            <a:gdLst/>
            <a:ahLst/>
            <a:cxnLst/>
            <a:rect l="l" t="t" r="r" b="b"/>
            <a:pathLst>
              <a:path w="432434" h="328929">
                <a:moveTo>
                  <a:pt x="327532" y="0"/>
                </a:moveTo>
                <a:lnTo>
                  <a:pt x="322833" y="13360"/>
                </a:lnTo>
                <a:lnTo>
                  <a:pt x="341883" y="21618"/>
                </a:lnTo>
                <a:lnTo>
                  <a:pt x="358266" y="33054"/>
                </a:lnTo>
                <a:lnTo>
                  <a:pt x="383031" y="65455"/>
                </a:lnTo>
                <a:lnTo>
                  <a:pt x="397605" y="109172"/>
                </a:lnTo>
                <a:lnTo>
                  <a:pt x="402462" y="162814"/>
                </a:lnTo>
                <a:lnTo>
                  <a:pt x="401228" y="191819"/>
                </a:lnTo>
                <a:lnTo>
                  <a:pt x="391425" y="241839"/>
                </a:lnTo>
                <a:lnTo>
                  <a:pt x="371883" y="280906"/>
                </a:lnTo>
                <a:lnTo>
                  <a:pt x="342078" y="307266"/>
                </a:lnTo>
                <a:lnTo>
                  <a:pt x="323342" y="315569"/>
                </a:lnTo>
                <a:lnTo>
                  <a:pt x="327532" y="328917"/>
                </a:lnTo>
                <a:lnTo>
                  <a:pt x="372364" y="307868"/>
                </a:lnTo>
                <a:lnTo>
                  <a:pt x="405383" y="271437"/>
                </a:lnTo>
                <a:lnTo>
                  <a:pt x="425672" y="222651"/>
                </a:lnTo>
                <a:lnTo>
                  <a:pt x="432434" y="164541"/>
                </a:lnTo>
                <a:lnTo>
                  <a:pt x="430742" y="134392"/>
                </a:lnTo>
                <a:lnTo>
                  <a:pt x="417165" y="80948"/>
                </a:lnTo>
                <a:lnTo>
                  <a:pt x="390255" y="37438"/>
                </a:lnTo>
                <a:lnTo>
                  <a:pt x="351393" y="8610"/>
                </a:lnTo>
                <a:lnTo>
                  <a:pt x="327532" y="0"/>
                </a:lnTo>
                <a:close/>
              </a:path>
              <a:path w="432434" h="328929">
                <a:moveTo>
                  <a:pt x="104901" y="0"/>
                </a:moveTo>
                <a:lnTo>
                  <a:pt x="60118" y="21089"/>
                </a:lnTo>
                <a:lnTo>
                  <a:pt x="27050" y="57658"/>
                </a:lnTo>
                <a:lnTo>
                  <a:pt x="6762" y="106527"/>
                </a:lnTo>
                <a:lnTo>
                  <a:pt x="0" y="164541"/>
                </a:lnTo>
                <a:lnTo>
                  <a:pt x="1690" y="194761"/>
                </a:lnTo>
                <a:lnTo>
                  <a:pt x="15216" y="248210"/>
                </a:lnTo>
                <a:lnTo>
                  <a:pt x="42054" y="291575"/>
                </a:lnTo>
                <a:lnTo>
                  <a:pt x="80968" y="320316"/>
                </a:lnTo>
                <a:lnTo>
                  <a:pt x="104901" y="328917"/>
                </a:lnTo>
                <a:lnTo>
                  <a:pt x="109093" y="315569"/>
                </a:lnTo>
                <a:lnTo>
                  <a:pt x="90302" y="307266"/>
                </a:lnTo>
                <a:lnTo>
                  <a:pt x="74120" y="295711"/>
                </a:lnTo>
                <a:lnTo>
                  <a:pt x="49529" y="262851"/>
                </a:lnTo>
                <a:lnTo>
                  <a:pt x="34845" y="218162"/>
                </a:lnTo>
                <a:lnTo>
                  <a:pt x="29972" y="162814"/>
                </a:lnTo>
                <a:lnTo>
                  <a:pt x="31188" y="134753"/>
                </a:lnTo>
                <a:lnTo>
                  <a:pt x="40955" y="86072"/>
                </a:lnTo>
                <a:lnTo>
                  <a:pt x="60577" y="47668"/>
                </a:lnTo>
                <a:lnTo>
                  <a:pt x="90624" y="21618"/>
                </a:lnTo>
                <a:lnTo>
                  <a:pt x="109600" y="13360"/>
                </a:lnTo>
                <a:lnTo>
                  <a:pt x="104901" y="0"/>
                </a:lnTo>
                <a:close/>
              </a:path>
            </a:pathLst>
          </a:custGeom>
          <a:solidFill>
            <a:srgbClr val="000000"/>
          </a:solidFill>
        </p:spPr>
        <p:txBody>
          <a:bodyPr wrap="square" lIns="0" tIns="0" rIns="0" bIns="0" rtlCol="0"/>
          <a:lstStyle/>
          <a:p>
            <a:endParaRPr/>
          </a:p>
        </p:txBody>
      </p:sp>
      <p:sp>
        <p:nvSpPr>
          <p:cNvPr id="20" name="object 20"/>
          <p:cNvSpPr txBox="1"/>
          <p:nvPr/>
        </p:nvSpPr>
        <p:spPr>
          <a:xfrm>
            <a:off x="7634096" y="5531002"/>
            <a:ext cx="3952240" cy="452120"/>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 pos="2940050" algn="l"/>
                <a:tab pos="3385185" algn="l"/>
              </a:tabLst>
            </a:pPr>
            <a:r>
              <a:rPr sz="2800" spc="-5" dirty="0">
                <a:latin typeface="Calibri"/>
                <a:cs typeface="Calibri"/>
              </a:rPr>
              <a:t>Linear</a:t>
            </a:r>
            <a:r>
              <a:rPr sz="2800" dirty="0">
                <a:latin typeface="Calibri"/>
                <a:cs typeface="Calibri"/>
              </a:rPr>
              <a:t> </a:t>
            </a:r>
            <a:r>
              <a:rPr sz="2800" spc="-5" dirty="0">
                <a:latin typeface="Calibri"/>
                <a:cs typeface="Calibri"/>
              </a:rPr>
              <a:t>function,</a:t>
            </a:r>
            <a:r>
              <a:rPr sz="2800" spc="40" dirty="0">
                <a:latin typeface="Calibri"/>
                <a:cs typeface="Calibri"/>
              </a:rPr>
              <a:t> </a:t>
            </a:r>
            <a:r>
              <a:rPr sz="2800" spc="-5" dirty="0">
                <a:latin typeface="Cambria Math"/>
                <a:cs typeface="Cambria Math"/>
              </a:rPr>
              <a:t>𝑦	𝑥	=</a:t>
            </a:r>
            <a:r>
              <a:rPr sz="2800" spc="80" dirty="0">
                <a:latin typeface="Cambria Math"/>
                <a:cs typeface="Cambria Math"/>
              </a:rPr>
              <a:t> </a:t>
            </a:r>
            <a:r>
              <a:rPr sz="2800" spc="-5" dirty="0">
                <a:latin typeface="Cambria Math"/>
                <a:cs typeface="Cambria Math"/>
              </a:rPr>
              <a:t>𝑥</a:t>
            </a:r>
            <a:endParaRPr sz="2800">
              <a:latin typeface="Cambria Math"/>
              <a:cs typeface="Cambria Math"/>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6453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80" dirty="0"/>
              <a:t> </a:t>
            </a:r>
            <a:r>
              <a:rPr sz="4400" spc="-20" dirty="0"/>
              <a:t>Features</a:t>
            </a:r>
            <a:endParaRPr sz="4400"/>
          </a:p>
        </p:txBody>
      </p:sp>
      <p:sp>
        <p:nvSpPr>
          <p:cNvPr id="3" name="object 3"/>
          <p:cNvSpPr txBox="1"/>
          <p:nvPr/>
        </p:nvSpPr>
        <p:spPr>
          <a:xfrm>
            <a:off x="916939" y="1706841"/>
            <a:ext cx="9103360" cy="284035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It</a:t>
            </a:r>
            <a:r>
              <a:rPr sz="2800" spc="5" dirty="0">
                <a:latin typeface="Calibri"/>
                <a:cs typeface="Calibri"/>
              </a:rPr>
              <a:t> </a:t>
            </a:r>
            <a:r>
              <a:rPr sz="2800" spc="-10" dirty="0">
                <a:latin typeface="Calibri"/>
                <a:cs typeface="Calibri"/>
              </a:rPr>
              <a:t>can</a:t>
            </a:r>
            <a:r>
              <a:rPr sz="2800" spc="5" dirty="0">
                <a:latin typeface="Calibri"/>
                <a:cs typeface="Calibri"/>
              </a:rPr>
              <a:t> </a:t>
            </a:r>
            <a:r>
              <a:rPr sz="2800" spc="-15" dirty="0">
                <a:latin typeface="Calibri"/>
                <a:cs typeface="Calibri"/>
              </a:rPr>
              <a:t>perform</a:t>
            </a:r>
            <a:r>
              <a:rPr sz="2800" spc="25" dirty="0">
                <a:latin typeface="Calibri"/>
                <a:cs typeface="Calibri"/>
              </a:rPr>
              <a:t> </a:t>
            </a:r>
            <a:r>
              <a:rPr sz="2800" spc="-15" dirty="0">
                <a:latin typeface="Calibri"/>
                <a:cs typeface="Calibri"/>
              </a:rPr>
              <a:t>tasks</a:t>
            </a:r>
            <a:r>
              <a:rPr sz="2800" spc="10" dirty="0">
                <a:latin typeface="Calibri"/>
                <a:cs typeface="Calibri"/>
              </a:rPr>
              <a:t> </a:t>
            </a:r>
            <a:r>
              <a:rPr sz="2800" spc="-10" dirty="0">
                <a:latin typeface="Calibri"/>
                <a:cs typeface="Calibri"/>
              </a:rPr>
              <a:t>that</a:t>
            </a:r>
            <a:r>
              <a:rPr sz="2800" spc="-5" dirty="0">
                <a:latin typeface="Calibri"/>
                <a:cs typeface="Calibri"/>
              </a:rPr>
              <a:t> a</a:t>
            </a:r>
            <a:r>
              <a:rPr sz="2800" spc="10" dirty="0">
                <a:latin typeface="Calibri"/>
                <a:cs typeface="Calibri"/>
              </a:rPr>
              <a:t> </a:t>
            </a:r>
            <a:r>
              <a:rPr sz="2800" spc="-5" dirty="0">
                <a:latin typeface="Calibri"/>
                <a:cs typeface="Calibri"/>
              </a:rPr>
              <a:t>linear</a:t>
            </a:r>
            <a:r>
              <a:rPr sz="2800" spc="10" dirty="0">
                <a:latin typeface="Calibri"/>
                <a:cs typeface="Calibri"/>
              </a:rPr>
              <a:t> </a:t>
            </a:r>
            <a:r>
              <a:rPr sz="2800" spc="-20" dirty="0">
                <a:latin typeface="Calibri"/>
                <a:cs typeface="Calibri"/>
              </a:rPr>
              <a:t>program</a:t>
            </a:r>
            <a:r>
              <a:rPr sz="2800" spc="15" dirty="0">
                <a:latin typeface="Calibri"/>
                <a:cs typeface="Calibri"/>
              </a:rPr>
              <a:t> </a:t>
            </a:r>
            <a:r>
              <a:rPr sz="2800" spc="-10" dirty="0">
                <a:latin typeface="Calibri"/>
                <a:cs typeface="Calibri"/>
              </a:rPr>
              <a:t>can</a:t>
            </a:r>
            <a:r>
              <a:rPr sz="2800" spc="5" dirty="0">
                <a:latin typeface="Calibri"/>
                <a:cs typeface="Calibri"/>
              </a:rPr>
              <a:t> </a:t>
            </a:r>
            <a:r>
              <a:rPr sz="2800" spc="-5" dirty="0">
                <a:latin typeface="Calibri"/>
                <a:cs typeface="Calibri"/>
              </a:rPr>
              <a:t>not</a:t>
            </a:r>
            <a:r>
              <a:rPr sz="2800" spc="25" dirty="0">
                <a:latin typeface="Calibri"/>
                <a:cs typeface="Calibri"/>
              </a:rPr>
              <a:t> </a:t>
            </a:r>
            <a:r>
              <a:rPr sz="2800" spc="-15" dirty="0">
                <a:latin typeface="Calibri"/>
                <a:cs typeface="Calibri"/>
              </a:rPr>
              <a:t>perform</a:t>
            </a:r>
            <a:endParaRPr sz="2800">
              <a:latin typeface="Calibri"/>
              <a:cs typeface="Calibri"/>
            </a:endParaRPr>
          </a:p>
          <a:p>
            <a:pPr marL="241300" marR="5080" indent="-228600">
              <a:lnSpc>
                <a:spcPts val="3020"/>
              </a:lnSpc>
              <a:spcBef>
                <a:spcPts val="1060"/>
              </a:spcBef>
              <a:buFont typeface="Arial MT"/>
              <a:buChar char="•"/>
              <a:tabLst>
                <a:tab pos="241300" algn="l"/>
              </a:tabLst>
            </a:pPr>
            <a:r>
              <a:rPr sz="2800" spc="-5" dirty="0">
                <a:latin typeface="Calibri"/>
                <a:cs typeface="Calibri"/>
              </a:rPr>
              <a:t>When</a:t>
            </a:r>
            <a:r>
              <a:rPr sz="2800" spc="25"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element</a:t>
            </a:r>
            <a:r>
              <a:rPr sz="2800" spc="2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20" dirty="0">
                <a:latin typeface="Calibri"/>
                <a:cs typeface="Calibri"/>
              </a:rPr>
              <a:t> </a:t>
            </a:r>
            <a:r>
              <a:rPr sz="2800" spc="-5" dirty="0">
                <a:latin typeface="Calibri"/>
                <a:cs typeface="Calibri"/>
              </a:rPr>
              <a:t>NN</a:t>
            </a:r>
            <a:r>
              <a:rPr sz="2800" spc="25" dirty="0">
                <a:latin typeface="Calibri"/>
                <a:cs typeface="Calibri"/>
              </a:rPr>
              <a:t> </a:t>
            </a:r>
            <a:r>
              <a:rPr sz="2800" spc="-15" dirty="0">
                <a:latin typeface="Calibri"/>
                <a:cs typeface="Calibri"/>
              </a:rPr>
              <a:t>fails,</a:t>
            </a:r>
            <a:r>
              <a:rPr sz="2800" spc="15" dirty="0">
                <a:latin typeface="Calibri"/>
                <a:cs typeface="Calibri"/>
              </a:rPr>
              <a:t> </a:t>
            </a:r>
            <a:r>
              <a:rPr sz="2800" spc="-5" dirty="0">
                <a:latin typeface="Calibri"/>
                <a:cs typeface="Calibri"/>
              </a:rPr>
              <a:t>it</a:t>
            </a:r>
            <a:r>
              <a:rPr sz="2800" spc="5" dirty="0">
                <a:latin typeface="Calibri"/>
                <a:cs typeface="Calibri"/>
              </a:rPr>
              <a:t> </a:t>
            </a:r>
            <a:r>
              <a:rPr sz="2800" spc="-10" dirty="0">
                <a:latin typeface="Calibri"/>
                <a:cs typeface="Calibri"/>
              </a:rPr>
              <a:t>can</a:t>
            </a:r>
            <a:r>
              <a:rPr sz="2800" spc="25" dirty="0">
                <a:latin typeface="Calibri"/>
                <a:cs typeface="Calibri"/>
              </a:rPr>
              <a:t> </a:t>
            </a:r>
            <a:r>
              <a:rPr sz="2800" spc="-10" dirty="0">
                <a:latin typeface="Calibri"/>
                <a:cs typeface="Calibri"/>
              </a:rPr>
              <a:t>continue</a:t>
            </a:r>
            <a:r>
              <a:rPr sz="2800" spc="25" dirty="0">
                <a:latin typeface="Calibri"/>
                <a:cs typeface="Calibri"/>
              </a:rPr>
              <a:t> </a:t>
            </a:r>
            <a:r>
              <a:rPr sz="2800" spc="-5" dirty="0">
                <a:latin typeface="Calibri"/>
                <a:cs typeface="Calibri"/>
              </a:rPr>
              <a:t>without</a:t>
            </a:r>
            <a:r>
              <a:rPr sz="2800" spc="35" dirty="0">
                <a:latin typeface="Calibri"/>
                <a:cs typeface="Calibri"/>
              </a:rPr>
              <a:t> </a:t>
            </a:r>
            <a:r>
              <a:rPr sz="2800" spc="-20" dirty="0">
                <a:latin typeface="Calibri"/>
                <a:cs typeface="Calibri"/>
              </a:rPr>
              <a:t>any </a:t>
            </a:r>
            <a:r>
              <a:rPr sz="2800" spc="-615" dirty="0">
                <a:latin typeface="Calibri"/>
                <a:cs typeface="Calibri"/>
              </a:rPr>
              <a:t> </a:t>
            </a:r>
            <a:r>
              <a:rPr sz="2800" spc="-15" dirty="0">
                <a:latin typeface="Calibri"/>
                <a:cs typeface="Calibri"/>
              </a:rPr>
              <a:t>problem</a:t>
            </a:r>
            <a:r>
              <a:rPr sz="2800" spc="35" dirty="0">
                <a:latin typeface="Calibri"/>
                <a:cs typeface="Calibri"/>
              </a:rPr>
              <a:t> </a:t>
            </a:r>
            <a:r>
              <a:rPr sz="2800" spc="-15" dirty="0">
                <a:latin typeface="Calibri"/>
                <a:cs typeface="Calibri"/>
              </a:rPr>
              <a:t>by</a:t>
            </a:r>
            <a:r>
              <a:rPr sz="2800" spc="15" dirty="0">
                <a:latin typeface="Calibri"/>
                <a:cs typeface="Calibri"/>
              </a:rPr>
              <a:t> </a:t>
            </a:r>
            <a:r>
              <a:rPr sz="2800" spc="-5" dirty="0">
                <a:latin typeface="Calibri"/>
                <a:cs typeface="Calibri"/>
              </a:rPr>
              <a:t>their</a:t>
            </a:r>
            <a:r>
              <a:rPr sz="2800" spc="15" dirty="0">
                <a:latin typeface="Calibri"/>
                <a:cs typeface="Calibri"/>
              </a:rPr>
              <a:t> </a:t>
            </a:r>
            <a:r>
              <a:rPr sz="2800" spc="-15" dirty="0">
                <a:latin typeface="Calibri"/>
                <a:cs typeface="Calibri"/>
              </a:rPr>
              <a:t>parallel</a:t>
            </a:r>
            <a:r>
              <a:rPr sz="2800" dirty="0">
                <a:latin typeface="Calibri"/>
                <a:cs typeface="Calibri"/>
              </a:rPr>
              <a:t> </a:t>
            </a:r>
            <a:r>
              <a:rPr sz="2800" spc="-15" dirty="0">
                <a:latin typeface="Calibri"/>
                <a:cs typeface="Calibri"/>
              </a:rPr>
              <a:t>nature</a:t>
            </a:r>
            <a:r>
              <a:rPr sz="2800" spc="20" dirty="0">
                <a:latin typeface="Calibri"/>
                <a:cs typeface="Calibri"/>
              </a:rPr>
              <a:t> </a:t>
            </a:r>
            <a:r>
              <a:rPr sz="2800" spc="-10" dirty="0">
                <a:latin typeface="Calibri"/>
                <a:cs typeface="Calibri"/>
              </a:rPr>
              <a:t>because</a:t>
            </a:r>
            <a:r>
              <a:rPr sz="2800" spc="3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their</a:t>
            </a:r>
            <a:r>
              <a:rPr sz="2800" spc="15" dirty="0">
                <a:latin typeface="Calibri"/>
                <a:cs typeface="Calibri"/>
              </a:rPr>
              <a:t> </a:t>
            </a:r>
            <a:r>
              <a:rPr sz="2800" spc="-10" dirty="0">
                <a:latin typeface="Calibri"/>
                <a:cs typeface="Calibri"/>
              </a:rPr>
              <a:t>distributive </a:t>
            </a:r>
            <a:r>
              <a:rPr sz="2800" spc="-5" dirty="0">
                <a:latin typeface="Calibri"/>
                <a:cs typeface="Calibri"/>
              </a:rPr>
              <a:t> </a:t>
            </a:r>
            <a:r>
              <a:rPr sz="2800" spc="-15" dirty="0">
                <a:latin typeface="Calibri"/>
                <a:cs typeface="Calibri"/>
              </a:rPr>
              <a:t>information</a:t>
            </a:r>
            <a:r>
              <a:rPr sz="2800" spc="15" dirty="0">
                <a:latin typeface="Calibri"/>
                <a:cs typeface="Calibri"/>
              </a:rPr>
              <a:t> </a:t>
            </a:r>
            <a:r>
              <a:rPr sz="2800" spc="-15" dirty="0">
                <a:latin typeface="Calibri"/>
                <a:cs typeface="Calibri"/>
              </a:rPr>
              <a:t>nature</a:t>
            </a:r>
            <a:endParaRPr sz="2800">
              <a:latin typeface="Calibri"/>
              <a:cs typeface="Calibri"/>
            </a:endParaRPr>
          </a:p>
          <a:p>
            <a:pPr marL="241300" indent="-228600">
              <a:lnSpc>
                <a:spcPct val="100000"/>
              </a:lnSpc>
              <a:spcBef>
                <a:spcPts val="625"/>
              </a:spcBef>
              <a:buFont typeface="Arial MT"/>
              <a:buChar char="•"/>
              <a:tabLst>
                <a:tab pos="241300" algn="l"/>
              </a:tabLst>
            </a:pPr>
            <a:r>
              <a:rPr sz="2800" spc="-5" dirty="0">
                <a:latin typeface="Calibri"/>
                <a:cs typeface="Calibri"/>
              </a:rPr>
              <a:t>A</a:t>
            </a:r>
            <a:r>
              <a:rPr sz="2800" spc="20" dirty="0">
                <a:latin typeface="Calibri"/>
                <a:cs typeface="Calibri"/>
              </a:rPr>
              <a:t> </a:t>
            </a:r>
            <a:r>
              <a:rPr sz="2800" spc="-5" dirty="0">
                <a:latin typeface="Calibri"/>
                <a:cs typeface="Calibri"/>
              </a:rPr>
              <a:t>NN</a:t>
            </a:r>
            <a:r>
              <a:rPr sz="2800" spc="20" dirty="0">
                <a:latin typeface="Calibri"/>
                <a:cs typeface="Calibri"/>
              </a:rPr>
              <a:t> </a:t>
            </a:r>
            <a:r>
              <a:rPr sz="2800" spc="-5" dirty="0">
                <a:latin typeface="Calibri"/>
                <a:cs typeface="Calibri"/>
              </a:rPr>
              <a:t>learns</a:t>
            </a:r>
            <a:r>
              <a:rPr sz="2800" spc="20"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does</a:t>
            </a:r>
            <a:r>
              <a:rPr sz="2800" spc="30" dirty="0">
                <a:latin typeface="Calibri"/>
                <a:cs typeface="Calibri"/>
              </a:rPr>
              <a:t> </a:t>
            </a:r>
            <a:r>
              <a:rPr sz="2800" spc="-10" dirty="0">
                <a:latin typeface="Calibri"/>
                <a:cs typeface="Calibri"/>
              </a:rPr>
              <a:t>not</a:t>
            </a:r>
            <a:r>
              <a:rPr sz="2800" spc="15" dirty="0">
                <a:latin typeface="Calibri"/>
                <a:cs typeface="Calibri"/>
              </a:rPr>
              <a:t> </a:t>
            </a:r>
            <a:r>
              <a:rPr sz="2800" spc="-10" dirty="0">
                <a:latin typeface="Calibri"/>
                <a:cs typeface="Calibri"/>
              </a:rPr>
              <a:t>need</a:t>
            </a:r>
            <a:r>
              <a:rPr sz="2800" spc="10"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be </a:t>
            </a:r>
            <a:r>
              <a:rPr sz="2800" spc="-15" dirty="0">
                <a:latin typeface="Calibri"/>
                <a:cs typeface="Calibri"/>
              </a:rPr>
              <a:t>reprogrammed</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Has</a:t>
            </a:r>
            <a:r>
              <a:rPr sz="2800" spc="15" dirty="0">
                <a:latin typeface="Calibri"/>
                <a:cs typeface="Calibri"/>
              </a:rPr>
              <a:t> </a:t>
            </a:r>
            <a:r>
              <a:rPr sz="2800" spc="-10" dirty="0">
                <a:latin typeface="Calibri"/>
                <a:cs typeface="Calibri"/>
              </a:rPr>
              <a:t>capabilities</a:t>
            </a:r>
            <a:r>
              <a:rPr sz="2800" spc="25"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massive</a:t>
            </a:r>
            <a:r>
              <a:rPr sz="2800" spc="15" dirty="0">
                <a:latin typeface="Calibri"/>
                <a:cs typeface="Calibri"/>
              </a:rPr>
              <a:t> </a:t>
            </a:r>
            <a:r>
              <a:rPr sz="2800" spc="-10" dirty="0">
                <a:latin typeface="Calibri"/>
                <a:cs typeface="Calibri"/>
              </a:rPr>
              <a:t>parallel</a:t>
            </a:r>
            <a:r>
              <a:rPr sz="2800" spc="-5" dirty="0">
                <a:latin typeface="Calibri"/>
                <a:cs typeface="Calibri"/>
              </a:rPr>
              <a:t> </a:t>
            </a:r>
            <a:r>
              <a:rPr sz="2800" spc="-10" dirty="0">
                <a:latin typeface="Calibri"/>
                <a:cs typeface="Calibri"/>
              </a:rPr>
              <a:t>processing</a:t>
            </a:r>
            <a:endParaRPr sz="28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070090"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15" dirty="0"/>
              <a:t> Steps</a:t>
            </a:r>
            <a:r>
              <a:rPr sz="4400" spc="-5" dirty="0"/>
              <a:t> </a:t>
            </a:r>
            <a:r>
              <a:rPr sz="4400" dirty="0"/>
              <a:t>in</a:t>
            </a:r>
            <a:r>
              <a:rPr sz="4400" spc="-10" dirty="0"/>
              <a:t> </a:t>
            </a:r>
            <a:r>
              <a:rPr sz="4400" dirty="0"/>
              <a:t>NN</a:t>
            </a:r>
            <a:r>
              <a:rPr sz="4400" spc="-10" dirty="0"/>
              <a:t> </a:t>
            </a:r>
            <a:r>
              <a:rPr sz="4400" spc="-15" dirty="0"/>
              <a:t>Development</a:t>
            </a:r>
            <a:endParaRPr sz="4400"/>
          </a:p>
        </p:txBody>
      </p:sp>
      <p:sp>
        <p:nvSpPr>
          <p:cNvPr id="3" name="object 3"/>
          <p:cNvSpPr txBox="1"/>
          <p:nvPr/>
        </p:nvSpPr>
        <p:spPr>
          <a:xfrm>
            <a:off x="916939" y="1706841"/>
            <a:ext cx="6477635" cy="3094990"/>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Define</a:t>
            </a:r>
            <a:r>
              <a:rPr sz="2800" spc="-30" dirty="0">
                <a:latin typeface="Calibri"/>
                <a:cs typeface="Calibri"/>
              </a:rPr>
              <a:t> </a:t>
            </a:r>
            <a:r>
              <a:rPr sz="2800" spc="-15" dirty="0">
                <a:latin typeface="Calibri"/>
                <a:cs typeface="Calibri"/>
              </a:rPr>
              <a:t>Problem</a:t>
            </a:r>
            <a:endParaRPr sz="2800">
              <a:latin typeface="Calibri"/>
              <a:cs typeface="Calibri"/>
            </a:endParaRPr>
          </a:p>
          <a:p>
            <a:pPr marL="241300" indent="-228600">
              <a:lnSpc>
                <a:spcPct val="100000"/>
              </a:lnSpc>
              <a:spcBef>
                <a:spcPts val="675"/>
              </a:spcBef>
              <a:buFont typeface="Arial MT"/>
              <a:buChar char="•"/>
              <a:tabLst>
                <a:tab pos="241300" algn="l"/>
              </a:tabLst>
            </a:pPr>
            <a:r>
              <a:rPr sz="2800" spc="-20" dirty="0">
                <a:latin typeface="Calibri"/>
                <a:cs typeface="Calibri"/>
              </a:rPr>
              <a:t>Data</a:t>
            </a:r>
            <a:r>
              <a:rPr sz="2800" spc="15" dirty="0">
                <a:latin typeface="Calibri"/>
                <a:cs typeface="Calibri"/>
              </a:rPr>
              <a:t> </a:t>
            </a:r>
            <a:r>
              <a:rPr sz="2800" spc="-5" dirty="0">
                <a:latin typeface="Calibri"/>
                <a:cs typeface="Calibri"/>
              </a:rPr>
              <a:t>Selection,</a:t>
            </a:r>
            <a:r>
              <a:rPr sz="2800" spc="20" dirty="0">
                <a:latin typeface="Calibri"/>
                <a:cs typeface="Calibri"/>
              </a:rPr>
              <a:t> </a:t>
            </a:r>
            <a:r>
              <a:rPr sz="2800" spc="-15" dirty="0">
                <a:latin typeface="Calibri"/>
                <a:cs typeface="Calibri"/>
              </a:rPr>
              <a:t>Preparation,</a:t>
            </a:r>
            <a:r>
              <a:rPr sz="2800" spc="30" dirty="0">
                <a:latin typeface="Calibri"/>
                <a:cs typeface="Calibri"/>
              </a:rPr>
              <a:t> </a:t>
            </a:r>
            <a:r>
              <a:rPr sz="2800" spc="-20" dirty="0">
                <a:latin typeface="Calibri"/>
                <a:cs typeface="Calibri"/>
              </a:rPr>
              <a:t>Pre-processing</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Select</a:t>
            </a:r>
            <a:r>
              <a:rPr sz="2800" spc="-15"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Learning</a:t>
            </a:r>
            <a:r>
              <a:rPr sz="2800" spc="10" dirty="0">
                <a:latin typeface="Calibri"/>
                <a:cs typeface="Calibri"/>
              </a:rPr>
              <a:t> </a:t>
            </a:r>
            <a:r>
              <a:rPr sz="2800" spc="-10" dirty="0">
                <a:latin typeface="Calibri"/>
                <a:cs typeface="Calibri"/>
              </a:rPr>
              <a:t>Algorithm</a:t>
            </a:r>
            <a:endParaRPr sz="2800">
              <a:latin typeface="Calibri"/>
              <a:cs typeface="Calibri"/>
            </a:endParaRPr>
          </a:p>
          <a:p>
            <a:pPr marL="241300" indent="-228600">
              <a:lnSpc>
                <a:spcPct val="100000"/>
              </a:lnSpc>
              <a:spcBef>
                <a:spcPts val="665"/>
              </a:spcBef>
              <a:buFont typeface="Arial MT"/>
              <a:buChar char="•"/>
              <a:tabLst>
                <a:tab pos="241300" algn="l"/>
              </a:tabLst>
            </a:pPr>
            <a:r>
              <a:rPr sz="2800" spc="-50" dirty="0">
                <a:latin typeface="Calibri"/>
                <a:cs typeface="Calibri"/>
              </a:rPr>
              <a:t>Train</a:t>
            </a:r>
            <a:r>
              <a:rPr sz="2800" spc="-10"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Network</a:t>
            </a:r>
            <a:r>
              <a:rPr sz="2800" spc="10" dirty="0">
                <a:latin typeface="Calibri"/>
                <a:cs typeface="Calibri"/>
              </a:rPr>
              <a:t> </a:t>
            </a:r>
            <a:r>
              <a:rPr sz="2800" spc="-5" dirty="0">
                <a:latin typeface="Calibri"/>
                <a:cs typeface="Calibri"/>
              </a:rPr>
              <a:t>with</a:t>
            </a:r>
            <a:r>
              <a:rPr sz="2800" spc="10" dirty="0">
                <a:latin typeface="Calibri"/>
                <a:cs typeface="Calibri"/>
              </a:rPr>
              <a:t> </a:t>
            </a:r>
            <a:r>
              <a:rPr sz="2800" spc="-10" dirty="0">
                <a:latin typeface="Calibri"/>
                <a:cs typeface="Calibri"/>
              </a:rPr>
              <a:t>training</a:t>
            </a:r>
            <a:r>
              <a:rPr sz="2800" spc="10" dirty="0">
                <a:latin typeface="Calibri"/>
                <a:cs typeface="Calibri"/>
              </a:rPr>
              <a:t> </a:t>
            </a:r>
            <a:r>
              <a:rPr sz="2800" spc="-20" dirty="0">
                <a:latin typeface="Calibri"/>
                <a:cs typeface="Calibri"/>
              </a:rPr>
              <a:t>Data</a:t>
            </a:r>
            <a:endParaRPr sz="2800">
              <a:latin typeface="Calibri"/>
              <a:cs typeface="Calibri"/>
            </a:endParaRPr>
          </a:p>
          <a:p>
            <a:pPr marL="241300" indent="-228600">
              <a:lnSpc>
                <a:spcPct val="100000"/>
              </a:lnSpc>
              <a:spcBef>
                <a:spcPts val="670"/>
              </a:spcBef>
              <a:buFont typeface="Arial MT"/>
              <a:buChar char="•"/>
              <a:tabLst>
                <a:tab pos="241300" algn="l"/>
              </a:tabLst>
            </a:pPr>
            <a:r>
              <a:rPr sz="2800" spc="-75" dirty="0">
                <a:latin typeface="Calibri"/>
                <a:cs typeface="Calibri"/>
              </a:rPr>
              <a:t>Test</a:t>
            </a:r>
            <a:r>
              <a:rPr sz="2800" spc="10" dirty="0">
                <a:latin typeface="Calibri"/>
                <a:cs typeface="Calibri"/>
              </a:rPr>
              <a:t> </a:t>
            </a:r>
            <a:r>
              <a:rPr sz="2800" spc="-5" dirty="0">
                <a:latin typeface="Calibri"/>
                <a:cs typeface="Calibri"/>
              </a:rPr>
              <a:t>the </a:t>
            </a:r>
            <a:r>
              <a:rPr sz="2800" spc="-10" dirty="0">
                <a:latin typeface="Calibri"/>
                <a:cs typeface="Calibri"/>
              </a:rPr>
              <a:t>Network</a:t>
            </a:r>
            <a:r>
              <a:rPr sz="2800" spc="10" dirty="0">
                <a:latin typeface="Calibri"/>
                <a:cs typeface="Calibri"/>
              </a:rPr>
              <a:t> </a:t>
            </a:r>
            <a:r>
              <a:rPr sz="2800" spc="-5" dirty="0">
                <a:latin typeface="Calibri"/>
                <a:cs typeface="Calibri"/>
              </a:rPr>
              <a:t>with</a:t>
            </a:r>
            <a:r>
              <a:rPr sz="2800" spc="15" dirty="0">
                <a:latin typeface="Calibri"/>
                <a:cs typeface="Calibri"/>
              </a:rPr>
              <a:t> </a:t>
            </a:r>
            <a:r>
              <a:rPr sz="2800" spc="-20" dirty="0">
                <a:latin typeface="Calibri"/>
                <a:cs typeface="Calibri"/>
              </a:rPr>
              <a:t>test</a:t>
            </a:r>
            <a:r>
              <a:rPr sz="2800" spc="10" dirty="0">
                <a:latin typeface="Calibri"/>
                <a:cs typeface="Calibri"/>
              </a:rPr>
              <a:t> </a:t>
            </a:r>
            <a:r>
              <a:rPr sz="2800" spc="-20" dirty="0">
                <a:latin typeface="Calibri"/>
                <a:cs typeface="Calibri"/>
              </a:rPr>
              <a:t>Data</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Run</a:t>
            </a:r>
            <a:r>
              <a:rPr sz="2800" spc="10"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Neural</a:t>
            </a:r>
            <a:r>
              <a:rPr sz="2800" spc="15" dirty="0">
                <a:latin typeface="Calibri"/>
                <a:cs typeface="Calibri"/>
              </a:rPr>
              <a:t> </a:t>
            </a:r>
            <a:r>
              <a:rPr sz="2800" spc="-10" dirty="0">
                <a:latin typeface="Calibri"/>
                <a:cs typeface="Calibri"/>
              </a:rPr>
              <a:t>Network</a:t>
            </a:r>
            <a:endParaRPr sz="28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066540"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50" dirty="0"/>
              <a:t> </a:t>
            </a:r>
            <a:r>
              <a:rPr sz="4400" spc="-10" dirty="0"/>
              <a:t>Applications</a:t>
            </a:r>
            <a:endParaRPr sz="4400"/>
          </a:p>
        </p:txBody>
      </p:sp>
      <p:sp>
        <p:nvSpPr>
          <p:cNvPr id="3" name="object 3"/>
          <p:cNvSpPr txBox="1"/>
          <p:nvPr/>
        </p:nvSpPr>
        <p:spPr>
          <a:xfrm>
            <a:off x="916939" y="1706841"/>
            <a:ext cx="3106420" cy="156146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Image</a:t>
            </a:r>
            <a:r>
              <a:rPr sz="2800" spc="-45" dirty="0">
                <a:latin typeface="Calibri"/>
                <a:cs typeface="Calibri"/>
              </a:rPr>
              <a:t> </a:t>
            </a:r>
            <a:r>
              <a:rPr sz="2800" spc="-10" dirty="0">
                <a:latin typeface="Calibri"/>
                <a:cs typeface="Calibri"/>
              </a:rPr>
              <a:t>Processing</a:t>
            </a:r>
            <a:endParaRPr sz="2800">
              <a:latin typeface="Calibri"/>
              <a:cs typeface="Calibri"/>
            </a:endParaRPr>
          </a:p>
          <a:p>
            <a:pPr marL="241300" indent="-228600">
              <a:lnSpc>
                <a:spcPct val="100000"/>
              </a:lnSpc>
              <a:spcBef>
                <a:spcPts val="675"/>
              </a:spcBef>
              <a:buFont typeface="Arial MT"/>
              <a:buChar char="•"/>
              <a:tabLst>
                <a:tab pos="241300" algn="l"/>
              </a:tabLst>
            </a:pPr>
            <a:r>
              <a:rPr sz="2800" spc="-25" dirty="0">
                <a:latin typeface="Calibri"/>
                <a:cs typeface="Calibri"/>
              </a:rPr>
              <a:t>Pattern</a:t>
            </a:r>
            <a:r>
              <a:rPr sz="2800" spc="-65" dirty="0">
                <a:latin typeface="Calibri"/>
                <a:cs typeface="Calibri"/>
              </a:rPr>
              <a:t> </a:t>
            </a:r>
            <a:r>
              <a:rPr sz="2800" spc="-10" dirty="0">
                <a:latin typeface="Calibri"/>
                <a:cs typeface="Calibri"/>
              </a:rPr>
              <a:t>Recognition</a:t>
            </a:r>
            <a:endParaRPr sz="280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Expert</a:t>
            </a:r>
            <a:r>
              <a:rPr sz="2800" spc="-20" dirty="0">
                <a:latin typeface="Calibri"/>
                <a:cs typeface="Calibri"/>
              </a:rPr>
              <a:t> Systems</a:t>
            </a:r>
            <a:endParaRPr sz="28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89851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20" dirty="0"/>
              <a:t> </a:t>
            </a:r>
            <a:r>
              <a:rPr sz="4400" dirty="0"/>
              <a:t>Learning</a:t>
            </a:r>
            <a:r>
              <a:rPr sz="4400" spc="-35" dirty="0"/>
              <a:t> </a:t>
            </a:r>
            <a:r>
              <a:rPr sz="4400" spc="-45" dirty="0"/>
              <a:t>Techniques</a:t>
            </a:r>
            <a:endParaRPr sz="4400"/>
          </a:p>
        </p:txBody>
      </p:sp>
      <p:sp>
        <p:nvSpPr>
          <p:cNvPr id="3" name="object 3"/>
          <p:cNvSpPr txBox="1"/>
          <p:nvPr/>
        </p:nvSpPr>
        <p:spPr>
          <a:xfrm>
            <a:off x="916939" y="1706841"/>
            <a:ext cx="3560445" cy="105092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Supervised</a:t>
            </a:r>
            <a:r>
              <a:rPr sz="2800" spc="15" dirty="0">
                <a:latin typeface="Calibri"/>
                <a:cs typeface="Calibri"/>
              </a:rPr>
              <a:t> </a:t>
            </a:r>
            <a:r>
              <a:rPr sz="2800" spc="-5" dirty="0">
                <a:latin typeface="Calibri"/>
                <a:cs typeface="Calibri"/>
              </a:rPr>
              <a:t>Learning</a:t>
            </a:r>
            <a:endParaRPr sz="2800">
              <a:latin typeface="Calibri"/>
              <a:cs typeface="Calibri"/>
            </a:endParaRPr>
          </a:p>
          <a:p>
            <a:pPr marL="241300" indent="-228600">
              <a:lnSpc>
                <a:spcPct val="100000"/>
              </a:lnSpc>
              <a:spcBef>
                <a:spcPts val="675"/>
              </a:spcBef>
              <a:buFont typeface="Arial MT"/>
              <a:buChar char="•"/>
              <a:tabLst>
                <a:tab pos="241300" algn="l"/>
              </a:tabLst>
            </a:pPr>
            <a:r>
              <a:rPr sz="2800" dirty="0">
                <a:latin typeface="Calibri"/>
                <a:cs typeface="Calibri"/>
              </a:rPr>
              <a:t>Unsupervised</a:t>
            </a:r>
            <a:r>
              <a:rPr sz="2800" spc="-15" dirty="0">
                <a:latin typeface="Calibri"/>
                <a:cs typeface="Calibri"/>
              </a:rPr>
              <a:t> </a:t>
            </a:r>
            <a:r>
              <a:rPr sz="2800" spc="-5" dirty="0">
                <a:latin typeface="Calibri"/>
                <a:cs typeface="Calibri"/>
              </a:rPr>
              <a:t>Learning</a:t>
            </a:r>
            <a:endParaRPr sz="28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850890"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20" dirty="0"/>
              <a:t> </a:t>
            </a:r>
            <a:r>
              <a:rPr sz="4400" spc="5" dirty="0"/>
              <a:t>Supervised</a:t>
            </a:r>
            <a:r>
              <a:rPr sz="4400" spc="-35" dirty="0"/>
              <a:t> </a:t>
            </a:r>
            <a:r>
              <a:rPr sz="4400" dirty="0"/>
              <a:t>Learning</a:t>
            </a:r>
            <a:endParaRPr sz="4400"/>
          </a:p>
        </p:txBody>
      </p:sp>
      <p:sp>
        <p:nvSpPr>
          <p:cNvPr id="3" name="object 3"/>
          <p:cNvSpPr txBox="1"/>
          <p:nvPr/>
        </p:nvSpPr>
        <p:spPr>
          <a:xfrm>
            <a:off x="916939" y="1706841"/>
            <a:ext cx="10212070" cy="450532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Network</a:t>
            </a:r>
            <a:r>
              <a:rPr sz="2800" spc="10"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trained</a:t>
            </a:r>
            <a:r>
              <a:rPr sz="2800" spc="10" dirty="0">
                <a:latin typeface="Calibri"/>
                <a:cs typeface="Calibri"/>
              </a:rPr>
              <a:t> </a:t>
            </a:r>
            <a:r>
              <a:rPr sz="2800" spc="-15" dirty="0">
                <a:latin typeface="Calibri"/>
                <a:cs typeface="Calibri"/>
              </a:rPr>
              <a:t>by</a:t>
            </a:r>
            <a:r>
              <a:rPr sz="2800" spc="15" dirty="0">
                <a:latin typeface="Calibri"/>
                <a:cs typeface="Calibri"/>
              </a:rPr>
              <a:t> </a:t>
            </a:r>
            <a:r>
              <a:rPr sz="2800" spc="-15" dirty="0">
                <a:latin typeface="Calibri"/>
                <a:cs typeface="Calibri"/>
              </a:rPr>
              <a:t>providing</a:t>
            </a:r>
            <a:r>
              <a:rPr sz="2800" spc="35" dirty="0">
                <a:latin typeface="Calibri"/>
                <a:cs typeface="Calibri"/>
              </a:rPr>
              <a:t> </a:t>
            </a:r>
            <a:r>
              <a:rPr sz="2800" spc="-5" dirty="0">
                <a:latin typeface="Calibri"/>
                <a:cs typeface="Calibri"/>
              </a:rPr>
              <a:t>with</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inputs</a:t>
            </a:r>
            <a:r>
              <a:rPr sz="2800" spc="50"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outputs</a:t>
            </a:r>
            <a:r>
              <a:rPr sz="2800" spc="50" dirty="0">
                <a:latin typeface="Calibri"/>
                <a:cs typeface="Calibri"/>
              </a:rPr>
              <a:t> </a:t>
            </a:r>
            <a:r>
              <a:rPr sz="2800" spc="-15" dirty="0">
                <a:latin typeface="Calibri"/>
                <a:cs typeface="Calibri"/>
              </a:rPr>
              <a:t>patterns</a:t>
            </a:r>
            <a:endParaRPr sz="2800">
              <a:latin typeface="Calibri"/>
              <a:cs typeface="Calibri"/>
            </a:endParaRPr>
          </a:p>
          <a:p>
            <a:pPr marL="241300" marR="473709" indent="-228600">
              <a:lnSpc>
                <a:spcPts val="3020"/>
              </a:lnSpc>
              <a:spcBef>
                <a:spcPts val="1060"/>
              </a:spcBef>
              <a:buFont typeface="Arial MT"/>
              <a:buChar char="•"/>
              <a:tabLst>
                <a:tab pos="241300" algn="l"/>
              </a:tabLst>
            </a:pPr>
            <a:r>
              <a:rPr sz="2800" spc="-5" dirty="0">
                <a:latin typeface="Calibri"/>
                <a:cs typeface="Calibri"/>
              </a:rPr>
              <a:t>These</a:t>
            </a:r>
            <a:r>
              <a:rPr sz="2800" spc="5" dirty="0">
                <a:latin typeface="Calibri"/>
                <a:cs typeface="Calibri"/>
              </a:rPr>
              <a:t> </a:t>
            </a:r>
            <a:r>
              <a:rPr sz="2800" spc="-5" dirty="0">
                <a:latin typeface="Calibri"/>
                <a:cs typeface="Calibri"/>
              </a:rPr>
              <a:t>I/O</a:t>
            </a:r>
            <a:r>
              <a:rPr sz="2800" spc="15" dirty="0">
                <a:latin typeface="Calibri"/>
                <a:cs typeface="Calibri"/>
              </a:rPr>
              <a:t> </a:t>
            </a:r>
            <a:r>
              <a:rPr sz="2800" spc="-15" dirty="0">
                <a:latin typeface="Calibri"/>
                <a:cs typeface="Calibri"/>
              </a:rPr>
              <a:t>pairs</a:t>
            </a:r>
            <a:r>
              <a:rPr sz="2800" spc="20" dirty="0">
                <a:latin typeface="Calibri"/>
                <a:cs typeface="Calibri"/>
              </a:rPr>
              <a:t> </a:t>
            </a:r>
            <a:r>
              <a:rPr sz="2800" spc="-10" dirty="0">
                <a:latin typeface="Calibri"/>
                <a:cs typeface="Calibri"/>
              </a:rPr>
              <a:t>can</a:t>
            </a:r>
            <a:r>
              <a:rPr sz="2800" spc="25" dirty="0">
                <a:latin typeface="Calibri"/>
                <a:cs typeface="Calibri"/>
              </a:rPr>
              <a:t> </a:t>
            </a:r>
            <a:r>
              <a:rPr sz="2800" spc="-5" dirty="0">
                <a:latin typeface="Calibri"/>
                <a:cs typeface="Calibri"/>
              </a:rPr>
              <a:t>be</a:t>
            </a:r>
            <a:r>
              <a:rPr sz="2800" spc="10" dirty="0">
                <a:latin typeface="Calibri"/>
                <a:cs typeface="Calibri"/>
              </a:rPr>
              <a:t> </a:t>
            </a:r>
            <a:r>
              <a:rPr sz="2800" spc="-15" dirty="0">
                <a:latin typeface="Calibri"/>
                <a:cs typeface="Calibri"/>
              </a:rPr>
              <a:t>provided</a:t>
            </a:r>
            <a:r>
              <a:rPr sz="2800" spc="40" dirty="0">
                <a:latin typeface="Calibri"/>
                <a:cs typeface="Calibri"/>
              </a:rPr>
              <a:t> </a:t>
            </a:r>
            <a:r>
              <a:rPr sz="2800" spc="-10" dirty="0">
                <a:latin typeface="Calibri"/>
                <a:cs typeface="Calibri"/>
              </a:rPr>
              <a:t>externally</a:t>
            </a:r>
            <a:r>
              <a:rPr sz="2800" spc="5" dirty="0">
                <a:latin typeface="Calibri"/>
                <a:cs typeface="Calibri"/>
              </a:rPr>
              <a:t> </a:t>
            </a:r>
            <a:r>
              <a:rPr sz="2800" spc="-5" dirty="0">
                <a:latin typeface="Calibri"/>
                <a:cs typeface="Calibri"/>
              </a:rPr>
              <a:t>or</a:t>
            </a:r>
            <a:r>
              <a:rPr sz="2800" spc="5" dirty="0">
                <a:latin typeface="Calibri"/>
                <a:cs typeface="Calibri"/>
              </a:rPr>
              <a:t> </a:t>
            </a:r>
            <a:r>
              <a:rPr sz="2800" spc="-15" dirty="0">
                <a:latin typeface="Calibri"/>
                <a:cs typeface="Calibri"/>
              </a:rPr>
              <a:t>by</a:t>
            </a:r>
            <a:r>
              <a:rPr sz="2800" spc="10" dirty="0">
                <a:latin typeface="Calibri"/>
                <a:cs typeface="Calibri"/>
              </a:rPr>
              <a:t> </a:t>
            </a:r>
            <a:r>
              <a:rPr sz="2800" spc="-5" dirty="0">
                <a:latin typeface="Calibri"/>
                <a:cs typeface="Calibri"/>
              </a:rPr>
              <a:t>the</a:t>
            </a:r>
            <a:r>
              <a:rPr sz="2800" spc="20" dirty="0">
                <a:latin typeface="Calibri"/>
                <a:cs typeface="Calibri"/>
              </a:rPr>
              <a:t> </a:t>
            </a:r>
            <a:r>
              <a:rPr sz="2800" spc="-30" dirty="0">
                <a:latin typeface="Calibri"/>
                <a:cs typeface="Calibri"/>
              </a:rPr>
              <a:t>system</a:t>
            </a:r>
            <a:r>
              <a:rPr sz="2800" spc="35" dirty="0">
                <a:latin typeface="Calibri"/>
                <a:cs typeface="Calibri"/>
              </a:rPr>
              <a:t> </a:t>
            </a:r>
            <a:r>
              <a:rPr sz="2800" spc="-5" dirty="0">
                <a:latin typeface="Calibri"/>
                <a:cs typeface="Calibri"/>
              </a:rPr>
              <a:t>which </a:t>
            </a:r>
            <a:r>
              <a:rPr sz="2800" spc="-620" dirty="0">
                <a:latin typeface="Calibri"/>
                <a:cs typeface="Calibri"/>
              </a:rPr>
              <a:t> </a:t>
            </a:r>
            <a:r>
              <a:rPr sz="2800" spc="-15" dirty="0">
                <a:latin typeface="Calibri"/>
                <a:cs typeface="Calibri"/>
              </a:rPr>
              <a:t>contains</a:t>
            </a:r>
            <a:r>
              <a:rPr sz="2800" spc="2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NN</a:t>
            </a:r>
            <a:endParaRPr sz="2800">
              <a:latin typeface="Calibri"/>
              <a:cs typeface="Calibri"/>
            </a:endParaRPr>
          </a:p>
          <a:p>
            <a:pPr marL="241300" marR="5080" indent="-228600">
              <a:lnSpc>
                <a:spcPts val="3030"/>
              </a:lnSpc>
              <a:spcBef>
                <a:spcPts val="994"/>
              </a:spcBef>
              <a:buFont typeface="Arial MT"/>
              <a:buChar char="•"/>
              <a:tabLst>
                <a:tab pos="241300" algn="l"/>
              </a:tabLst>
            </a:pPr>
            <a:r>
              <a:rPr sz="2800" spc="-5" dirty="0">
                <a:latin typeface="Calibri"/>
                <a:cs typeface="Calibri"/>
              </a:rPr>
              <a:t>A</a:t>
            </a:r>
            <a:r>
              <a:rPr sz="2800" spc="15" dirty="0">
                <a:latin typeface="Calibri"/>
                <a:cs typeface="Calibri"/>
              </a:rPr>
              <a:t> </a:t>
            </a:r>
            <a:r>
              <a:rPr sz="2800" spc="-5" dirty="0">
                <a:latin typeface="Calibri"/>
                <a:cs typeface="Calibri"/>
              </a:rPr>
              <a:t>supervised</a:t>
            </a:r>
            <a:r>
              <a:rPr sz="2800" spc="50" dirty="0">
                <a:latin typeface="Calibri"/>
                <a:cs typeface="Calibri"/>
              </a:rPr>
              <a:t> </a:t>
            </a:r>
            <a:r>
              <a:rPr sz="2800" spc="-5" dirty="0">
                <a:latin typeface="Calibri"/>
                <a:cs typeface="Calibri"/>
              </a:rPr>
              <a:t>learning</a:t>
            </a:r>
            <a:r>
              <a:rPr sz="2800" spc="10" dirty="0">
                <a:latin typeface="Calibri"/>
                <a:cs typeface="Calibri"/>
              </a:rPr>
              <a:t> </a:t>
            </a:r>
            <a:r>
              <a:rPr sz="2800" spc="-10" dirty="0">
                <a:latin typeface="Calibri"/>
                <a:cs typeface="Calibri"/>
              </a:rPr>
              <a:t>algorithm</a:t>
            </a:r>
            <a:r>
              <a:rPr sz="2800" spc="10" dirty="0">
                <a:latin typeface="Calibri"/>
                <a:cs typeface="Calibri"/>
              </a:rPr>
              <a:t> </a:t>
            </a:r>
            <a:r>
              <a:rPr sz="2800" spc="-10" dirty="0">
                <a:latin typeface="Calibri"/>
                <a:cs typeface="Calibri"/>
              </a:rPr>
              <a:t>analyses</a:t>
            </a:r>
            <a:r>
              <a:rPr sz="2800" spc="20"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training</a:t>
            </a:r>
            <a:r>
              <a:rPr sz="2800" spc="25" dirty="0">
                <a:latin typeface="Calibri"/>
                <a:cs typeface="Calibri"/>
              </a:rPr>
              <a:t> </a:t>
            </a:r>
            <a:r>
              <a:rPr sz="2800" spc="-20" dirty="0">
                <a:latin typeface="Calibri"/>
                <a:cs typeface="Calibri"/>
              </a:rPr>
              <a:t>data</a:t>
            </a:r>
            <a:r>
              <a:rPr sz="2800" spc="25" dirty="0">
                <a:latin typeface="Calibri"/>
                <a:cs typeface="Calibri"/>
              </a:rPr>
              <a:t> </a:t>
            </a:r>
            <a:r>
              <a:rPr sz="2800" spc="-5" dirty="0">
                <a:latin typeface="Calibri"/>
                <a:cs typeface="Calibri"/>
              </a:rPr>
              <a:t>and </a:t>
            </a:r>
            <a:r>
              <a:rPr sz="2800" dirty="0">
                <a:latin typeface="Calibri"/>
                <a:cs typeface="Calibri"/>
              </a:rPr>
              <a:t> </a:t>
            </a:r>
            <a:r>
              <a:rPr sz="2800" spc="-15" dirty="0">
                <a:latin typeface="Calibri"/>
                <a:cs typeface="Calibri"/>
              </a:rPr>
              <a:t>produces</a:t>
            </a:r>
            <a:r>
              <a:rPr sz="2800" spc="60" dirty="0">
                <a:latin typeface="Calibri"/>
                <a:cs typeface="Calibri"/>
              </a:rPr>
              <a:t> </a:t>
            </a:r>
            <a:r>
              <a:rPr sz="2800" spc="-5" dirty="0">
                <a:latin typeface="Calibri"/>
                <a:cs typeface="Calibri"/>
              </a:rPr>
              <a:t>an</a:t>
            </a:r>
            <a:r>
              <a:rPr sz="2800" spc="15" dirty="0">
                <a:latin typeface="Calibri"/>
                <a:cs typeface="Calibri"/>
              </a:rPr>
              <a:t> </a:t>
            </a:r>
            <a:r>
              <a:rPr sz="2800" spc="-20" dirty="0">
                <a:latin typeface="Calibri"/>
                <a:cs typeface="Calibri"/>
              </a:rPr>
              <a:t>inferred</a:t>
            </a:r>
            <a:r>
              <a:rPr sz="2800" spc="25" dirty="0">
                <a:latin typeface="Calibri"/>
                <a:cs typeface="Calibri"/>
              </a:rPr>
              <a:t> </a:t>
            </a:r>
            <a:r>
              <a:rPr sz="2800" spc="-10" dirty="0">
                <a:latin typeface="Calibri"/>
                <a:cs typeface="Calibri"/>
              </a:rPr>
              <a:t>function</a:t>
            </a:r>
            <a:r>
              <a:rPr sz="2800" spc="50" dirty="0">
                <a:latin typeface="Calibri"/>
                <a:cs typeface="Calibri"/>
              </a:rPr>
              <a:t> </a:t>
            </a:r>
            <a:r>
              <a:rPr sz="2800" spc="-5" dirty="0">
                <a:latin typeface="Calibri"/>
                <a:cs typeface="Calibri"/>
              </a:rPr>
              <a:t>which</a:t>
            </a:r>
            <a:r>
              <a:rPr sz="2800" spc="30" dirty="0">
                <a:latin typeface="Calibri"/>
                <a:cs typeface="Calibri"/>
              </a:rPr>
              <a:t> </a:t>
            </a:r>
            <a:r>
              <a:rPr sz="2800" spc="-5" dirty="0">
                <a:latin typeface="Calibri"/>
                <a:cs typeface="Calibri"/>
              </a:rPr>
              <a:t>is</a:t>
            </a:r>
            <a:r>
              <a:rPr sz="2800" spc="20" dirty="0">
                <a:latin typeface="Calibri"/>
                <a:cs typeface="Calibri"/>
              </a:rPr>
              <a:t> </a:t>
            </a:r>
            <a:r>
              <a:rPr sz="2800" spc="-5" dirty="0">
                <a:latin typeface="Calibri"/>
                <a:cs typeface="Calibri"/>
              </a:rPr>
              <a:t>called</a:t>
            </a:r>
            <a:r>
              <a:rPr sz="2800" dirty="0">
                <a:latin typeface="Calibri"/>
                <a:cs typeface="Calibri"/>
              </a:rPr>
              <a:t> </a:t>
            </a:r>
            <a:r>
              <a:rPr sz="2800" spc="-5" dirty="0">
                <a:latin typeface="Calibri"/>
                <a:cs typeface="Calibri"/>
              </a:rPr>
              <a:t>a</a:t>
            </a:r>
            <a:r>
              <a:rPr sz="2800" spc="15" dirty="0">
                <a:latin typeface="Calibri"/>
                <a:cs typeface="Calibri"/>
              </a:rPr>
              <a:t> </a:t>
            </a:r>
            <a:r>
              <a:rPr sz="2800" spc="-5" dirty="0">
                <a:latin typeface="Calibri"/>
                <a:cs typeface="Calibri"/>
              </a:rPr>
              <a:t>classifier</a:t>
            </a:r>
            <a:r>
              <a:rPr sz="2800" spc="20" dirty="0">
                <a:latin typeface="Calibri"/>
                <a:cs typeface="Calibri"/>
              </a:rPr>
              <a:t> </a:t>
            </a:r>
            <a:r>
              <a:rPr sz="2800" spc="-5" dirty="0">
                <a:latin typeface="Calibri"/>
                <a:cs typeface="Calibri"/>
              </a:rPr>
              <a:t>if</a:t>
            </a:r>
            <a:r>
              <a:rPr sz="2800" spc="10" dirty="0">
                <a:latin typeface="Calibri"/>
                <a:cs typeface="Calibri"/>
              </a:rPr>
              <a:t> </a:t>
            </a:r>
            <a:r>
              <a:rPr sz="2800" spc="-5" dirty="0">
                <a:latin typeface="Calibri"/>
                <a:cs typeface="Calibri"/>
              </a:rPr>
              <a:t>the</a:t>
            </a:r>
            <a:r>
              <a:rPr sz="2800" spc="30" dirty="0">
                <a:latin typeface="Calibri"/>
                <a:cs typeface="Calibri"/>
              </a:rPr>
              <a:t> </a:t>
            </a:r>
            <a:r>
              <a:rPr sz="2800" spc="-10" dirty="0">
                <a:latin typeface="Calibri"/>
                <a:cs typeface="Calibri"/>
              </a:rPr>
              <a:t>output </a:t>
            </a:r>
            <a:r>
              <a:rPr sz="2800" spc="-620" dirty="0">
                <a:latin typeface="Calibri"/>
                <a:cs typeface="Calibri"/>
              </a:rPr>
              <a:t> </a:t>
            </a:r>
            <a:r>
              <a:rPr sz="2800" spc="-5" dirty="0">
                <a:latin typeface="Calibri"/>
                <a:cs typeface="Calibri"/>
              </a:rPr>
              <a:t>is</a:t>
            </a:r>
            <a:r>
              <a:rPr sz="2800" spc="10" dirty="0">
                <a:latin typeface="Calibri"/>
                <a:cs typeface="Calibri"/>
              </a:rPr>
              <a:t> </a:t>
            </a:r>
            <a:r>
              <a:rPr sz="2800" spc="-15" dirty="0">
                <a:latin typeface="Calibri"/>
                <a:cs typeface="Calibri"/>
              </a:rPr>
              <a:t>discrete</a:t>
            </a:r>
            <a:r>
              <a:rPr sz="2800" spc="10" dirty="0">
                <a:latin typeface="Calibri"/>
                <a:cs typeface="Calibri"/>
              </a:rPr>
              <a:t> </a:t>
            </a:r>
            <a:r>
              <a:rPr sz="2800" spc="-5" dirty="0">
                <a:latin typeface="Calibri"/>
                <a:cs typeface="Calibri"/>
              </a:rPr>
              <a:t>or</a:t>
            </a:r>
            <a:r>
              <a:rPr sz="2800" spc="15"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regressive</a:t>
            </a:r>
            <a:r>
              <a:rPr sz="2800" spc="10" dirty="0">
                <a:latin typeface="Calibri"/>
                <a:cs typeface="Calibri"/>
              </a:rPr>
              <a:t> </a:t>
            </a:r>
            <a:r>
              <a:rPr sz="2800" spc="-10" dirty="0">
                <a:latin typeface="Calibri"/>
                <a:cs typeface="Calibri"/>
              </a:rPr>
              <a:t>function</a:t>
            </a:r>
            <a:r>
              <a:rPr sz="2800" spc="45" dirty="0">
                <a:latin typeface="Calibri"/>
                <a:cs typeface="Calibri"/>
              </a:rPr>
              <a:t> </a:t>
            </a:r>
            <a:r>
              <a:rPr sz="2800" spc="-5" dirty="0">
                <a:latin typeface="Calibri"/>
                <a:cs typeface="Calibri"/>
              </a:rPr>
              <a:t>if</a:t>
            </a:r>
            <a:r>
              <a:rPr sz="2800" spc="5" dirty="0">
                <a:latin typeface="Calibri"/>
                <a:cs typeface="Calibri"/>
              </a:rPr>
              <a:t> </a:t>
            </a:r>
            <a:r>
              <a:rPr sz="2800" spc="-5" dirty="0">
                <a:latin typeface="Calibri"/>
                <a:cs typeface="Calibri"/>
              </a:rPr>
              <a:t>the</a:t>
            </a:r>
            <a:r>
              <a:rPr sz="2800" spc="25" dirty="0">
                <a:latin typeface="Calibri"/>
                <a:cs typeface="Calibri"/>
              </a:rPr>
              <a:t> </a:t>
            </a:r>
            <a:r>
              <a:rPr sz="2800" spc="-10" dirty="0">
                <a:latin typeface="Calibri"/>
                <a:cs typeface="Calibri"/>
              </a:rPr>
              <a:t>output</a:t>
            </a:r>
            <a:r>
              <a:rPr sz="2800" spc="40"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continuous</a:t>
            </a:r>
            <a:endParaRPr sz="2800">
              <a:latin typeface="Calibri"/>
              <a:cs typeface="Calibri"/>
            </a:endParaRPr>
          </a:p>
          <a:p>
            <a:pPr marL="241300" marR="340360" indent="-228600" algn="just">
              <a:lnSpc>
                <a:spcPts val="3020"/>
              </a:lnSpc>
              <a:spcBef>
                <a:spcPts val="995"/>
              </a:spcBef>
              <a:buFont typeface="Arial MT"/>
              <a:buChar char="•"/>
              <a:tabLst>
                <a:tab pos="241300" algn="l"/>
              </a:tabLst>
            </a:pPr>
            <a:r>
              <a:rPr sz="2800" spc="-5" dirty="0">
                <a:latin typeface="Calibri"/>
                <a:cs typeface="Calibri"/>
              </a:rPr>
              <a:t>Wide </a:t>
            </a:r>
            <a:r>
              <a:rPr sz="2800" spc="-20" dirty="0">
                <a:latin typeface="Calibri"/>
                <a:cs typeface="Calibri"/>
              </a:rPr>
              <a:t>range </a:t>
            </a:r>
            <a:r>
              <a:rPr sz="2800" spc="-5" dirty="0">
                <a:latin typeface="Calibri"/>
                <a:cs typeface="Calibri"/>
              </a:rPr>
              <a:t>of supervised learning </a:t>
            </a:r>
            <a:r>
              <a:rPr sz="2800" spc="-10" dirty="0">
                <a:latin typeface="Calibri"/>
                <a:cs typeface="Calibri"/>
              </a:rPr>
              <a:t>algorithms </a:t>
            </a:r>
            <a:r>
              <a:rPr sz="2800" spc="-15" dirty="0">
                <a:latin typeface="Calibri"/>
                <a:cs typeface="Calibri"/>
              </a:rPr>
              <a:t>are available </a:t>
            </a:r>
            <a:r>
              <a:rPr sz="2800" dirty="0">
                <a:latin typeface="Calibri"/>
                <a:cs typeface="Calibri"/>
              </a:rPr>
              <a:t>with </a:t>
            </a:r>
            <a:r>
              <a:rPr sz="2800" spc="-5" dirty="0">
                <a:latin typeface="Calibri"/>
                <a:cs typeface="Calibri"/>
              </a:rPr>
              <a:t>its </a:t>
            </a:r>
            <a:r>
              <a:rPr sz="2800" spc="-620" dirty="0">
                <a:latin typeface="Calibri"/>
                <a:cs typeface="Calibri"/>
              </a:rPr>
              <a:t> </a:t>
            </a:r>
            <a:r>
              <a:rPr sz="2800" spc="-15" dirty="0">
                <a:latin typeface="Calibri"/>
                <a:cs typeface="Calibri"/>
              </a:rPr>
              <a:t>strengths </a:t>
            </a:r>
            <a:r>
              <a:rPr sz="2800" spc="-5" dirty="0">
                <a:latin typeface="Calibri"/>
                <a:cs typeface="Calibri"/>
              </a:rPr>
              <a:t>and weaknesses </a:t>
            </a:r>
            <a:r>
              <a:rPr sz="2800" spc="-10" dirty="0">
                <a:latin typeface="Calibri"/>
                <a:cs typeface="Calibri"/>
              </a:rPr>
              <a:t>but there </a:t>
            </a:r>
            <a:r>
              <a:rPr sz="2800" spc="-5" dirty="0">
                <a:latin typeface="Calibri"/>
                <a:cs typeface="Calibri"/>
              </a:rPr>
              <a:t>is no </a:t>
            </a:r>
            <a:r>
              <a:rPr sz="2800" spc="-10" dirty="0">
                <a:latin typeface="Calibri"/>
                <a:cs typeface="Calibri"/>
              </a:rPr>
              <a:t>single </a:t>
            </a:r>
            <a:r>
              <a:rPr sz="2800" spc="-5" dirty="0">
                <a:latin typeface="Calibri"/>
                <a:cs typeface="Calibri"/>
              </a:rPr>
              <a:t>learning </a:t>
            </a:r>
            <a:r>
              <a:rPr sz="2800" spc="-10" dirty="0">
                <a:latin typeface="Calibri"/>
                <a:cs typeface="Calibri"/>
              </a:rPr>
              <a:t>algorithm </a:t>
            </a:r>
            <a:r>
              <a:rPr sz="2800" spc="-620" dirty="0">
                <a:latin typeface="Calibri"/>
                <a:cs typeface="Calibri"/>
              </a:rPr>
              <a:t> </a:t>
            </a:r>
            <a:r>
              <a:rPr sz="2800" spc="-10" dirty="0">
                <a:latin typeface="Calibri"/>
                <a:cs typeface="Calibri"/>
              </a:rPr>
              <a:t>that</a:t>
            </a:r>
            <a:r>
              <a:rPr sz="2800" spc="15" dirty="0">
                <a:latin typeface="Calibri"/>
                <a:cs typeface="Calibri"/>
              </a:rPr>
              <a:t> </a:t>
            </a:r>
            <a:r>
              <a:rPr sz="2800" spc="-15" dirty="0">
                <a:latin typeface="Calibri"/>
                <a:cs typeface="Calibri"/>
              </a:rPr>
              <a:t>works</a:t>
            </a:r>
            <a:r>
              <a:rPr sz="2800" spc="-5" dirty="0">
                <a:latin typeface="Calibri"/>
                <a:cs typeface="Calibri"/>
              </a:rPr>
              <a:t> </a:t>
            </a:r>
            <a:r>
              <a:rPr sz="2800" spc="-15" dirty="0">
                <a:latin typeface="Calibri"/>
                <a:cs typeface="Calibri"/>
              </a:rPr>
              <a:t>best</a:t>
            </a:r>
            <a:r>
              <a:rPr sz="2800" spc="25" dirty="0">
                <a:latin typeface="Calibri"/>
                <a:cs typeface="Calibri"/>
              </a:rPr>
              <a:t> </a:t>
            </a:r>
            <a:r>
              <a:rPr sz="2800" spc="-5" dirty="0">
                <a:latin typeface="Calibri"/>
                <a:cs typeface="Calibri"/>
              </a:rPr>
              <a:t>on</a:t>
            </a:r>
            <a:r>
              <a:rPr sz="2800" spc="15" dirty="0">
                <a:latin typeface="Calibri"/>
                <a:cs typeface="Calibri"/>
              </a:rPr>
              <a:t> </a:t>
            </a:r>
            <a:r>
              <a:rPr sz="2800" spc="-5" dirty="0">
                <a:latin typeface="Calibri"/>
                <a:cs typeface="Calibri"/>
              </a:rPr>
              <a:t>all supervised</a:t>
            </a:r>
            <a:r>
              <a:rPr sz="2800" spc="45" dirty="0">
                <a:latin typeface="Calibri"/>
                <a:cs typeface="Calibri"/>
              </a:rPr>
              <a:t> </a:t>
            </a:r>
            <a:r>
              <a:rPr sz="2800" spc="-5" dirty="0">
                <a:latin typeface="Calibri"/>
                <a:cs typeface="Calibri"/>
              </a:rPr>
              <a:t>learning</a:t>
            </a:r>
            <a:r>
              <a:rPr sz="2800" spc="15" dirty="0">
                <a:latin typeface="Calibri"/>
                <a:cs typeface="Calibri"/>
              </a:rPr>
              <a:t> </a:t>
            </a:r>
            <a:r>
              <a:rPr sz="2800" spc="-15" dirty="0">
                <a:latin typeface="Calibri"/>
                <a:cs typeface="Calibri"/>
              </a:rPr>
              <a:t>problems</a:t>
            </a:r>
            <a:endParaRPr sz="2800">
              <a:latin typeface="Calibri"/>
              <a:cs typeface="Calibri"/>
            </a:endParaRPr>
          </a:p>
          <a:p>
            <a:pPr marL="241300" indent="-228600" algn="just">
              <a:lnSpc>
                <a:spcPct val="100000"/>
              </a:lnSpc>
              <a:spcBef>
                <a:spcPts val="635"/>
              </a:spcBef>
              <a:buFont typeface="Arial MT"/>
              <a:buChar char="•"/>
              <a:tabLst>
                <a:tab pos="241300" algn="l"/>
              </a:tabLst>
            </a:pPr>
            <a:r>
              <a:rPr sz="2800" spc="-10" dirty="0">
                <a:latin typeface="Calibri"/>
                <a:cs typeface="Calibri"/>
              </a:rPr>
              <a:t>Example:</a:t>
            </a:r>
            <a:r>
              <a:rPr sz="2800" spc="5" dirty="0">
                <a:latin typeface="Calibri"/>
                <a:cs typeface="Calibri"/>
              </a:rPr>
              <a:t> </a:t>
            </a:r>
            <a:r>
              <a:rPr sz="2800" spc="-5" dirty="0">
                <a:latin typeface="Calibri"/>
                <a:cs typeface="Calibri"/>
              </a:rPr>
              <a:t>Back</a:t>
            </a:r>
            <a:r>
              <a:rPr sz="2800" dirty="0">
                <a:latin typeface="Calibri"/>
                <a:cs typeface="Calibri"/>
              </a:rPr>
              <a:t> </a:t>
            </a:r>
            <a:r>
              <a:rPr sz="2800" spc="-15" dirty="0">
                <a:latin typeface="Calibri"/>
                <a:cs typeface="Calibri"/>
              </a:rPr>
              <a:t>Propagation</a:t>
            </a:r>
            <a:r>
              <a:rPr sz="2800" spc="20" dirty="0">
                <a:latin typeface="Calibri"/>
                <a:cs typeface="Calibri"/>
              </a:rPr>
              <a:t> </a:t>
            </a:r>
            <a:r>
              <a:rPr sz="2800" spc="-35" dirty="0">
                <a:latin typeface="Calibri"/>
                <a:cs typeface="Calibri"/>
              </a:rPr>
              <a:t>Technique</a:t>
            </a:r>
            <a:endParaRPr sz="28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45985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25" dirty="0"/>
              <a:t> </a:t>
            </a:r>
            <a:r>
              <a:rPr sz="4400" spc="5" dirty="0"/>
              <a:t>Unsupervised</a:t>
            </a:r>
            <a:r>
              <a:rPr sz="4400" spc="-40" dirty="0"/>
              <a:t> </a:t>
            </a:r>
            <a:r>
              <a:rPr sz="4400" dirty="0"/>
              <a:t>Learning</a:t>
            </a:r>
            <a:endParaRPr sz="4400"/>
          </a:p>
        </p:txBody>
      </p:sp>
      <p:sp>
        <p:nvSpPr>
          <p:cNvPr id="3" name="object 3"/>
          <p:cNvSpPr txBox="1"/>
          <p:nvPr/>
        </p:nvSpPr>
        <p:spPr>
          <a:xfrm>
            <a:off x="916939" y="1793189"/>
            <a:ext cx="10358120" cy="4803140"/>
          </a:xfrm>
          <a:prstGeom prst="rect">
            <a:avLst/>
          </a:prstGeom>
        </p:spPr>
        <p:txBody>
          <a:bodyPr vert="horz" wrap="square" lIns="0" tIns="60325" rIns="0" bIns="0" rtlCol="0">
            <a:spAutoFit/>
          </a:bodyPr>
          <a:lstStyle/>
          <a:p>
            <a:pPr marL="241300" marR="740410" indent="-228600">
              <a:lnSpc>
                <a:spcPts val="3030"/>
              </a:lnSpc>
              <a:spcBef>
                <a:spcPts val="475"/>
              </a:spcBef>
              <a:buFont typeface="Arial MT"/>
              <a:buChar char="•"/>
              <a:tabLst>
                <a:tab pos="241300" algn="l"/>
              </a:tabLst>
            </a:pPr>
            <a:r>
              <a:rPr sz="2800" spc="-5" dirty="0">
                <a:latin typeface="Calibri"/>
                <a:cs typeface="Calibri"/>
              </a:rPr>
              <a:t>In</a:t>
            </a:r>
            <a:r>
              <a:rPr sz="2800" spc="5" dirty="0">
                <a:latin typeface="Calibri"/>
                <a:cs typeface="Calibri"/>
              </a:rPr>
              <a:t> </a:t>
            </a:r>
            <a:r>
              <a:rPr sz="2800" spc="-20" dirty="0">
                <a:latin typeface="Calibri"/>
                <a:cs typeface="Calibri"/>
              </a:rPr>
              <a:t>contrast</a:t>
            </a:r>
            <a:r>
              <a:rPr sz="2800" spc="30" dirty="0">
                <a:latin typeface="Calibri"/>
                <a:cs typeface="Calibri"/>
              </a:rPr>
              <a:t> </a:t>
            </a:r>
            <a:r>
              <a:rPr sz="2800" spc="-5" dirty="0">
                <a:latin typeface="Calibri"/>
                <a:cs typeface="Calibri"/>
              </a:rPr>
              <a:t>with</a:t>
            </a:r>
            <a:r>
              <a:rPr sz="2800" spc="15" dirty="0">
                <a:latin typeface="Calibri"/>
                <a:cs typeface="Calibri"/>
              </a:rPr>
              <a:t> </a:t>
            </a:r>
            <a:r>
              <a:rPr sz="2800" spc="-5" dirty="0">
                <a:latin typeface="Calibri"/>
                <a:cs typeface="Calibri"/>
              </a:rPr>
              <a:t>supervised</a:t>
            </a:r>
            <a:r>
              <a:rPr sz="2800" spc="60" dirty="0">
                <a:latin typeface="Calibri"/>
                <a:cs typeface="Calibri"/>
              </a:rPr>
              <a:t> </a:t>
            </a:r>
            <a:r>
              <a:rPr sz="2800" spc="-5" dirty="0">
                <a:latin typeface="Calibri"/>
                <a:cs typeface="Calibri"/>
              </a:rPr>
              <a:t>learning</a:t>
            </a:r>
            <a:r>
              <a:rPr sz="2800" spc="15" dirty="0">
                <a:latin typeface="Calibri"/>
                <a:cs typeface="Calibri"/>
              </a:rPr>
              <a:t> </a:t>
            </a:r>
            <a:r>
              <a:rPr sz="2800" spc="-10" dirty="0">
                <a:latin typeface="Calibri"/>
                <a:cs typeface="Calibri"/>
              </a:rPr>
              <a:t>there</a:t>
            </a:r>
            <a:r>
              <a:rPr sz="2800" dirty="0">
                <a:latin typeface="Calibri"/>
                <a:cs typeface="Calibri"/>
              </a:rPr>
              <a:t> </a:t>
            </a:r>
            <a:r>
              <a:rPr sz="2800" spc="-15" dirty="0">
                <a:latin typeface="Calibri"/>
                <a:cs typeface="Calibri"/>
              </a:rPr>
              <a:t>are</a:t>
            </a:r>
            <a:r>
              <a:rPr sz="2800" spc="5" dirty="0">
                <a:latin typeface="Calibri"/>
                <a:cs typeface="Calibri"/>
              </a:rPr>
              <a:t> </a:t>
            </a:r>
            <a:r>
              <a:rPr sz="2800" spc="-5" dirty="0">
                <a:latin typeface="Calibri"/>
                <a:cs typeface="Calibri"/>
              </a:rPr>
              <a:t>no</a:t>
            </a:r>
            <a:r>
              <a:rPr sz="2800" spc="10" dirty="0">
                <a:latin typeface="Calibri"/>
                <a:cs typeface="Calibri"/>
              </a:rPr>
              <a:t> </a:t>
            </a:r>
            <a:r>
              <a:rPr sz="2800" spc="-15" dirty="0">
                <a:latin typeface="Calibri"/>
                <a:cs typeface="Calibri"/>
              </a:rPr>
              <a:t>explicit</a:t>
            </a:r>
            <a:r>
              <a:rPr sz="2800" spc="35" dirty="0">
                <a:latin typeface="Calibri"/>
                <a:cs typeface="Calibri"/>
              </a:rPr>
              <a:t> </a:t>
            </a:r>
            <a:r>
              <a:rPr sz="2800" spc="-20" dirty="0">
                <a:latin typeface="Calibri"/>
                <a:cs typeface="Calibri"/>
              </a:rPr>
              <a:t>target </a:t>
            </a:r>
            <a:r>
              <a:rPr sz="2800" spc="-15" dirty="0">
                <a:latin typeface="Calibri"/>
                <a:cs typeface="Calibri"/>
              </a:rPr>
              <a:t> </a:t>
            </a:r>
            <a:r>
              <a:rPr sz="2800" spc="-10" dirty="0">
                <a:latin typeface="Calibri"/>
                <a:cs typeface="Calibri"/>
              </a:rPr>
              <a:t>outputs</a:t>
            </a:r>
            <a:r>
              <a:rPr sz="2800" spc="60" dirty="0">
                <a:latin typeface="Calibri"/>
                <a:cs typeface="Calibri"/>
              </a:rPr>
              <a:t> </a:t>
            </a:r>
            <a:r>
              <a:rPr sz="2800" spc="-5" dirty="0">
                <a:latin typeface="Calibri"/>
                <a:cs typeface="Calibri"/>
              </a:rPr>
              <a:t>or</a:t>
            </a:r>
            <a:r>
              <a:rPr sz="2800" spc="15" dirty="0">
                <a:latin typeface="Calibri"/>
                <a:cs typeface="Calibri"/>
              </a:rPr>
              <a:t> </a:t>
            </a:r>
            <a:r>
              <a:rPr sz="2800" spc="-20" dirty="0">
                <a:latin typeface="Calibri"/>
                <a:cs typeface="Calibri"/>
              </a:rPr>
              <a:t>environmental</a:t>
            </a:r>
            <a:r>
              <a:rPr sz="2800" spc="50" dirty="0">
                <a:latin typeface="Calibri"/>
                <a:cs typeface="Calibri"/>
              </a:rPr>
              <a:t> </a:t>
            </a:r>
            <a:r>
              <a:rPr sz="2800" spc="-10" dirty="0">
                <a:latin typeface="Calibri"/>
                <a:cs typeface="Calibri"/>
              </a:rPr>
              <a:t>evaluations</a:t>
            </a:r>
            <a:r>
              <a:rPr sz="2800" spc="30" dirty="0">
                <a:latin typeface="Calibri"/>
                <a:cs typeface="Calibri"/>
              </a:rPr>
              <a:t> </a:t>
            </a:r>
            <a:r>
              <a:rPr sz="2800" spc="-10" dirty="0">
                <a:latin typeface="Calibri"/>
                <a:cs typeface="Calibri"/>
              </a:rPr>
              <a:t>associated</a:t>
            </a:r>
            <a:r>
              <a:rPr sz="2800" spc="25" dirty="0">
                <a:latin typeface="Calibri"/>
                <a:cs typeface="Calibri"/>
              </a:rPr>
              <a:t> </a:t>
            </a:r>
            <a:r>
              <a:rPr sz="2800" spc="-5" dirty="0">
                <a:latin typeface="Calibri"/>
                <a:cs typeface="Calibri"/>
              </a:rPr>
              <a:t>with</a:t>
            </a:r>
            <a:r>
              <a:rPr sz="2800" spc="15" dirty="0">
                <a:latin typeface="Calibri"/>
                <a:cs typeface="Calibri"/>
              </a:rPr>
              <a:t> </a:t>
            </a:r>
            <a:r>
              <a:rPr sz="2800" spc="-5" dirty="0">
                <a:latin typeface="Calibri"/>
                <a:cs typeface="Calibri"/>
              </a:rPr>
              <a:t>each</a:t>
            </a:r>
            <a:r>
              <a:rPr sz="2800" spc="30" dirty="0">
                <a:latin typeface="Calibri"/>
                <a:cs typeface="Calibri"/>
              </a:rPr>
              <a:t> </a:t>
            </a:r>
            <a:r>
              <a:rPr sz="2800" spc="-5" dirty="0">
                <a:latin typeface="Calibri"/>
                <a:cs typeface="Calibri"/>
              </a:rPr>
              <a:t>input</a:t>
            </a:r>
            <a:endParaRPr sz="2800">
              <a:latin typeface="Calibri"/>
              <a:cs typeface="Calibri"/>
            </a:endParaRPr>
          </a:p>
          <a:p>
            <a:pPr marL="241300" marR="97790" indent="-228600">
              <a:lnSpc>
                <a:spcPts val="3030"/>
              </a:lnSpc>
              <a:spcBef>
                <a:spcPts val="994"/>
              </a:spcBef>
              <a:buFont typeface="Arial MT"/>
              <a:buChar char="•"/>
              <a:tabLst>
                <a:tab pos="241300" algn="l"/>
              </a:tabLst>
            </a:pPr>
            <a:r>
              <a:rPr sz="2800" dirty="0">
                <a:latin typeface="Calibri"/>
                <a:cs typeface="Calibri"/>
              </a:rPr>
              <a:t>Unsupervised</a:t>
            </a:r>
            <a:r>
              <a:rPr sz="2800" spc="55" dirty="0">
                <a:latin typeface="Calibri"/>
                <a:cs typeface="Calibri"/>
              </a:rPr>
              <a:t> </a:t>
            </a:r>
            <a:r>
              <a:rPr sz="2800" spc="-5" dirty="0">
                <a:latin typeface="Calibri"/>
                <a:cs typeface="Calibri"/>
              </a:rPr>
              <a:t>learning</a:t>
            </a:r>
            <a:r>
              <a:rPr sz="2800" spc="15" dirty="0">
                <a:latin typeface="Calibri"/>
                <a:cs typeface="Calibri"/>
              </a:rPr>
              <a:t> </a:t>
            </a:r>
            <a:r>
              <a:rPr sz="2800" spc="-10" dirty="0">
                <a:latin typeface="Calibri"/>
                <a:cs typeface="Calibri"/>
              </a:rPr>
              <a:t>studies</a:t>
            </a:r>
            <a:r>
              <a:rPr sz="2800" spc="50" dirty="0">
                <a:latin typeface="Calibri"/>
                <a:cs typeface="Calibri"/>
              </a:rPr>
              <a:t> </a:t>
            </a:r>
            <a:r>
              <a:rPr sz="2800" spc="-10" dirty="0">
                <a:latin typeface="Calibri"/>
                <a:cs typeface="Calibri"/>
              </a:rPr>
              <a:t>how</a:t>
            </a:r>
            <a:r>
              <a:rPr sz="2800" spc="10" dirty="0">
                <a:latin typeface="Calibri"/>
                <a:cs typeface="Calibri"/>
              </a:rPr>
              <a:t> </a:t>
            </a:r>
            <a:r>
              <a:rPr sz="2800" spc="-25" dirty="0">
                <a:latin typeface="Calibri"/>
                <a:cs typeface="Calibri"/>
              </a:rPr>
              <a:t>systems</a:t>
            </a:r>
            <a:r>
              <a:rPr sz="2800" spc="30" dirty="0">
                <a:latin typeface="Calibri"/>
                <a:cs typeface="Calibri"/>
              </a:rPr>
              <a:t> </a:t>
            </a:r>
            <a:r>
              <a:rPr sz="2800" spc="-10" dirty="0">
                <a:latin typeface="Calibri"/>
                <a:cs typeface="Calibri"/>
              </a:rPr>
              <a:t>can</a:t>
            </a:r>
            <a:r>
              <a:rPr sz="2800" spc="25" dirty="0">
                <a:latin typeface="Calibri"/>
                <a:cs typeface="Calibri"/>
              </a:rPr>
              <a:t> </a:t>
            </a:r>
            <a:r>
              <a:rPr sz="2800" spc="-5" dirty="0">
                <a:latin typeface="Calibri"/>
                <a:cs typeface="Calibri"/>
              </a:rPr>
              <a:t>learn</a:t>
            </a:r>
            <a:r>
              <a:rPr sz="2800" dirty="0">
                <a:latin typeface="Calibri"/>
                <a:cs typeface="Calibri"/>
              </a:rPr>
              <a:t> </a:t>
            </a:r>
            <a:r>
              <a:rPr sz="2800" spc="-10" dirty="0">
                <a:latin typeface="Calibri"/>
                <a:cs typeface="Calibri"/>
              </a:rPr>
              <a:t>to</a:t>
            </a:r>
            <a:r>
              <a:rPr sz="2800" spc="5" dirty="0">
                <a:latin typeface="Calibri"/>
                <a:cs typeface="Calibri"/>
              </a:rPr>
              <a:t> </a:t>
            </a:r>
            <a:r>
              <a:rPr sz="2800" spc="-15" dirty="0">
                <a:latin typeface="Calibri"/>
                <a:cs typeface="Calibri"/>
              </a:rPr>
              <a:t>represent </a:t>
            </a:r>
            <a:r>
              <a:rPr sz="2800" spc="-10" dirty="0">
                <a:latin typeface="Calibri"/>
                <a:cs typeface="Calibri"/>
              </a:rPr>
              <a:t> particular</a:t>
            </a:r>
            <a:r>
              <a:rPr sz="2800" spc="30" dirty="0">
                <a:latin typeface="Calibri"/>
                <a:cs typeface="Calibri"/>
              </a:rPr>
              <a:t> </a:t>
            </a:r>
            <a:r>
              <a:rPr sz="2800" spc="-5" dirty="0">
                <a:latin typeface="Calibri"/>
                <a:cs typeface="Calibri"/>
              </a:rPr>
              <a:t>input</a:t>
            </a:r>
            <a:r>
              <a:rPr sz="2800" spc="40" dirty="0">
                <a:latin typeface="Calibri"/>
                <a:cs typeface="Calibri"/>
              </a:rPr>
              <a:t> </a:t>
            </a:r>
            <a:r>
              <a:rPr sz="2800" spc="-15" dirty="0">
                <a:latin typeface="Calibri"/>
                <a:cs typeface="Calibri"/>
              </a:rPr>
              <a:t>patterns</a:t>
            </a:r>
            <a:r>
              <a:rPr sz="2800" spc="20" dirty="0">
                <a:latin typeface="Calibri"/>
                <a:cs typeface="Calibri"/>
              </a:rPr>
              <a:t> </a:t>
            </a:r>
            <a:r>
              <a:rPr sz="2800" spc="-5" dirty="0">
                <a:latin typeface="Calibri"/>
                <a:cs typeface="Calibri"/>
              </a:rPr>
              <a:t>in</a:t>
            </a:r>
            <a:r>
              <a:rPr sz="2800" spc="20" dirty="0">
                <a:latin typeface="Calibri"/>
                <a:cs typeface="Calibri"/>
              </a:rPr>
              <a:t> </a:t>
            </a:r>
            <a:r>
              <a:rPr sz="2800" spc="-5" dirty="0">
                <a:latin typeface="Calibri"/>
                <a:cs typeface="Calibri"/>
              </a:rPr>
              <a:t>a</a:t>
            </a:r>
            <a:r>
              <a:rPr sz="2800" spc="15" dirty="0">
                <a:latin typeface="Calibri"/>
                <a:cs typeface="Calibri"/>
              </a:rPr>
              <a:t> </a:t>
            </a:r>
            <a:r>
              <a:rPr sz="2800" spc="-30" dirty="0">
                <a:latin typeface="Calibri"/>
                <a:cs typeface="Calibri"/>
              </a:rPr>
              <a:t>way</a:t>
            </a:r>
            <a:r>
              <a:rPr sz="2800" dirty="0">
                <a:latin typeface="Calibri"/>
                <a:cs typeface="Calibri"/>
              </a:rPr>
              <a:t> </a:t>
            </a:r>
            <a:r>
              <a:rPr sz="2800" spc="-10" dirty="0">
                <a:latin typeface="Calibri"/>
                <a:cs typeface="Calibri"/>
              </a:rPr>
              <a:t>that</a:t>
            </a:r>
            <a:r>
              <a:rPr sz="2800" spc="25" dirty="0">
                <a:latin typeface="Calibri"/>
                <a:cs typeface="Calibri"/>
              </a:rPr>
              <a:t> </a:t>
            </a:r>
            <a:r>
              <a:rPr sz="2800" spc="-15" dirty="0">
                <a:latin typeface="Calibri"/>
                <a:cs typeface="Calibri"/>
              </a:rPr>
              <a:t>reflects</a:t>
            </a:r>
            <a:r>
              <a:rPr sz="2800" spc="15" dirty="0">
                <a:latin typeface="Calibri"/>
                <a:cs typeface="Calibri"/>
              </a:rPr>
              <a:t> </a:t>
            </a:r>
            <a:r>
              <a:rPr sz="2800" spc="-5" dirty="0">
                <a:latin typeface="Calibri"/>
                <a:cs typeface="Calibri"/>
              </a:rPr>
              <a:t>the</a:t>
            </a:r>
            <a:r>
              <a:rPr sz="2800" spc="20" dirty="0">
                <a:latin typeface="Calibri"/>
                <a:cs typeface="Calibri"/>
              </a:rPr>
              <a:t> </a:t>
            </a:r>
            <a:r>
              <a:rPr sz="2800" spc="-20" dirty="0">
                <a:latin typeface="Calibri"/>
                <a:cs typeface="Calibri"/>
              </a:rPr>
              <a:t>statistical</a:t>
            </a:r>
            <a:r>
              <a:rPr sz="2800" spc="35" dirty="0">
                <a:latin typeface="Calibri"/>
                <a:cs typeface="Calibri"/>
              </a:rPr>
              <a:t> </a:t>
            </a:r>
            <a:r>
              <a:rPr sz="2800" spc="-10" dirty="0">
                <a:latin typeface="Calibri"/>
                <a:cs typeface="Calibri"/>
              </a:rPr>
              <a:t>structure </a:t>
            </a:r>
            <a:r>
              <a:rPr sz="2800" spc="-620" dirty="0">
                <a:latin typeface="Calibri"/>
                <a:cs typeface="Calibri"/>
              </a:rPr>
              <a:t> </a:t>
            </a:r>
            <a:r>
              <a:rPr sz="2800" spc="-5" dirty="0">
                <a:latin typeface="Calibri"/>
                <a:cs typeface="Calibri"/>
              </a:rPr>
              <a:t>of</a:t>
            </a:r>
            <a:r>
              <a:rPr sz="2800" dirty="0">
                <a:latin typeface="Calibri"/>
                <a:cs typeface="Calibri"/>
              </a:rPr>
              <a:t> </a:t>
            </a:r>
            <a:r>
              <a:rPr sz="2800" spc="-20" dirty="0">
                <a:latin typeface="Calibri"/>
                <a:cs typeface="Calibri"/>
              </a:rPr>
              <a:t>overall</a:t>
            </a:r>
            <a:r>
              <a:rPr sz="2800" spc="-5" dirty="0">
                <a:latin typeface="Calibri"/>
                <a:cs typeface="Calibri"/>
              </a:rPr>
              <a:t> </a:t>
            </a:r>
            <a:r>
              <a:rPr sz="2800" spc="-10" dirty="0">
                <a:latin typeface="Calibri"/>
                <a:cs typeface="Calibri"/>
              </a:rPr>
              <a:t>collection</a:t>
            </a:r>
            <a:r>
              <a:rPr sz="2800" spc="15" dirty="0">
                <a:latin typeface="Calibri"/>
                <a:cs typeface="Calibri"/>
              </a:rPr>
              <a:t> </a:t>
            </a:r>
            <a:r>
              <a:rPr sz="2800" spc="-5" dirty="0">
                <a:latin typeface="Calibri"/>
                <a:cs typeface="Calibri"/>
              </a:rPr>
              <a:t>of input</a:t>
            </a:r>
            <a:r>
              <a:rPr sz="2800" spc="45" dirty="0">
                <a:latin typeface="Calibri"/>
                <a:cs typeface="Calibri"/>
              </a:rPr>
              <a:t> </a:t>
            </a:r>
            <a:r>
              <a:rPr sz="2800" spc="-15" dirty="0">
                <a:latin typeface="Calibri"/>
                <a:cs typeface="Calibri"/>
              </a:rPr>
              <a:t>patterns</a:t>
            </a:r>
            <a:endParaRPr sz="2800">
              <a:latin typeface="Calibri"/>
              <a:cs typeface="Calibri"/>
            </a:endParaRPr>
          </a:p>
          <a:p>
            <a:pPr marL="241300" marR="545465" indent="-228600">
              <a:lnSpc>
                <a:spcPct val="90000"/>
              </a:lnSpc>
              <a:spcBef>
                <a:spcPts val="940"/>
              </a:spcBef>
              <a:buFont typeface="Arial MT"/>
              <a:buChar char="•"/>
              <a:tabLst>
                <a:tab pos="241300" algn="l"/>
              </a:tabLst>
            </a:pPr>
            <a:r>
              <a:rPr sz="2800" dirty="0">
                <a:latin typeface="Calibri"/>
                <a:cs typeface="Calibri"/>
              </a:rPr>
              <a:t>Unsupervised</a:t>
            </a:r>
            <a:r>
              <a:rPr sz="2800" spc="55" dirty="0">
                <a:latin typeface="Calibri"/>
                <a:cs typeface="Calibri"/>
              </a:rPr>
              <a:t> </a:t>
            </a:r>
            <a:r>
              <a:rPr sz="2800" spc="-5" dirty="0">
                <a:latin typeface="Calibri"/>
                <a:cs typeface="Calibri"/>
              </a:rPr>
              <a:t>learning</a:t>
            </a:r>
            <a:r>
              <a:rPr sz="2800" spc="15" dirty="0">
                <a:latin typeface="Calibri"/>
                <a:cs typeface="Calibri"/>
              </a:rPr>
              <a:t> </a:t>
            </a:r>
            <a:r>
              <a:rPr sz="2800" spc="-10" dirty="0">
                <a:latin typeface="Calibri"/>
                <a:cs typeface="Calibri"/>
              </a:rPr>
              <a:t>can</a:t>
            </a:r>
            <a:r>
              <a:rPr sz="2800" spc="20" dirty="0">
                <a:latin typeface="Calibri"/>
                <a:cs typeface="Calibri"/>
              </a:rPr>
              <a:t> </a:t>
            </a:r>
            <a:r>
              <a:rPr sz="2800" spc="-5" dirty="0">
                <a:latin typeface="Calibri"/>
                <a:cs typeface="Calibri"/>
              </a:rPr>
              <a:t>be</a:t>
            </a:r>
            <a:r>
              <a:rPr sz="2800" dirty="0">
                <a:latin typeface="Calibri"/>
                <a:cs typeface="Calibri"/>
              </a:rPr>
              <a:t> </a:t>
            </a:r>
            <a:r>
              <a:rPr sz="2800" spc="-10" dirty="0">
                <a:latin typeface="Calibri"/>
                <a:cs typeface="Calibri"/>
              </a:rPr>
              <a:t>thought</a:t>
            </a:r>
            <a:r>
              <a:rPr sz="2800" spc="40" dirty="0">
                <a:latin typeface="Calibri"/>
                <a:cs typeface="Calibri"/>
              </a:rPr>
              <a:t> </a:t>
            </a:r>
            <a:r>
              <a:rPr sz="2800" spc="-5" dirty="0">
                <a:latin typeface="Calibri"/>
                <a:cs typeface="Calibri"/>
              </a:rPr>
              <a:t>of as</a:t>
            </a:r>
            <a:r>
              <a:rPr sz="2800" spc="25" dirty="0">
                <a:latin typeface="Calibri"/>
                <a:cs typeface="Calibri"/>
              </a:rPr>
              <a:t> </a:t>
            </a:r>
            <a:r>
              <a:rPr sz="2800" spc="-10" dirty="0">
                <a:latin typeface="Calibri"/>
                <a:cs typeface="Calibri"/>
              </a:rPr>
              <a:t>finding</a:t>
            </a:r>
            <a:r>
              <a:rPr sz="2800" spc="25" dirty="0">
                <a:latin typeface="Calibri"/>
                <a:cs typeface="Calibri"/>
              </a:rPr>
              <a:t> </a:t>
            </a:r>
            <a:r>
              <a:rPr sz="2800" spc="-15" dirty="0">
                <a:latin typeface="Calibri"/>
                <a:cs typeface="Calibri"/>
              </a:rPr>
              <a:t>patterns</a:t>
            </a:r>
            <a:r>
              <a:rPr sz="2800" spc="15"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the </a:t>
            </a:r>
            <a:r>
              <a:rPr sz="2800" spc="-620" dirty="0">
                <a:latin typeface="Calibri"/>
                <a:cs typeface="Calibri"/>
              </a:rPr>
              <a:t> </a:t>
            </a:r>
            <a:r>
              <a:rPr sz="2800" spc="-20" dirty="0">
                <a:latin typeface="Calibri"/>
                <a:cs typeface="Calibri"/>
              </a:rPr>
              <a:t>data</a:t>
            </a:r>
            <a:r>
              <a:rPr sz="2800" spc="5" dirty="0">
                <a:latin typeface="Calibri"/>
                <a:cs typeface="Calibri"/>
              </a:rPr>
              <a:t> </a:t>
            </a:r>
            <a:r>
              <a:rPr sz="2800" spc="-10" dirty="0">
                <a:latin typeface="Calibri"/>
                <a:cs typeface="Calibri"/>
              </a:rPr>
              <a:t>above</a:t>
            </a:r>
            <a:r>
              <a:rPr sz="2800" dirty="0">
                <a:latin typeface="Calibri"/>
                <a:cs typeface="Calibri"/>
              </a:rPr>
              <a:t> and</a:t>
            </a:r>
            <a:r>
              <a:rPr sz="2800" spc="5" dirty="0">
                <a:latin typeface="Calibri"/>
                <a:cs typeface="Calibri"/>
              </a:rPr>
              <a:t> </a:t>
            </a:r>
            <a:r>
              <a:rPr sz="2800" spc="-15" dirty="0">
                <a:latin typeface="Calibri"/>
                <a:cs typeface="Calibri"/>
              </a:rPr>
              <a:t>beyond</a:t>
            </a:r>
            <a:r>
              <a:rPr sz="2800" spc="30" dirty="0">
                <a:latin typeface="Calibri"/>
                <a:cs typeface="Calibri"/>
              </a:rPr>
              <a:t> </a:t>
            </a:r>
            <a:r>
              <a:rPr sz="2800" spc="-5" dirty="0">
                <a:latin typeface="Calibri"/>
                <a:cs typeface="Calibri"/>
              </a:rPr>
              <a:t>what </a:t>
            </a:r>
            <a:r>
              <a:rPr sz="2800" spc="-10" dirty="0">
                <a:latin typeface="Calibri"/>
                <a:cs typeface="Calibri"/>
              </a:rPr>
              <a:t>would</a:t>
            </a:r>
            <a:r>
              <a:rPr sz="2800" spc="5" dirty="0">
                <a:latin typeface="Calibri"/>
                <a:cs typeface="Calibri"/>
              </a:rPr>
              <a:t> </a:t>
            </a:r>
            <a:r>
              <a:rPr sz="2800" spc="-5" dirty="0">
                <a:latin typeface="Calibri"/>
                <a:cs typeface="Calibri"/>
              </a:rPr>
              <a:t>be</a:t>
            </a:r>
            <a:r>
              <a:rPr sz="2800" spc="10" dirty="0">
                <a:latin typeface="Calibri"/>
                <a:cs typeface="Calibri"/>
              </a:rPr>
              <a:t> </a:t>
            </a:r>
            <a:r>
              <a:rPr sz="2800" spc="-15" dirty="0">
                <a:latin typeface="Calibri"/>
                <a:cs typeface="Calibri"/>
              </a:rPr>
              <a:t>considered</a:t>
            </a:r>
            <a:r>
              <a:rPr sz="2800" spc="40" dirty="0">
                <a:latin typeface="Calibri"/>
                <a:cs typeface="Calibri"/>
              </a:rPr>
              <a:t> </a:t>
            </a:r>
            <a:r>
              <a:rPr sz="2800" spc="-5" dirty="0">
                <a:latin typeface="Calibri"/>
                <a:cs typeface="Calibri"/>
              </a:rPr>
              <a:t>as</a:t>
            </a:r>
            <a:r>
              <a:rPr sz="2800" spc="5" dirty="0">
                <a:latin typeface="Calibri"/>
                <a:cs typeface="Calibri"/>
              </a:rPr>
              <a:t> </a:t>
            </a:r>
            <a:r>
              <a:rPr sz="2800" spc="-20" dirty="0">
                <a:latin typeface="Calibri"/>
                <a:cs typeface="Calibri"/>
              </a:rPr>
              <a:t>pure </a:t>
            </a:r>
            <a:r>
              <a:rPr sz="2800" spc="-15" dirty="0">
                <a:latin typeface="Calibri"/>
                <a:cs typeface="Calibri"/>
              </a:rPr>
              <a:t> </a:t>
            </a:r>
            <a:r>
              <a:rPr sz="2800" spc="-10" dirty="0">
                <a:latin typeface="Calibri"/>
                <a:cs typeface="Calibri"/>
              </a:rPr>
              <a:t>unstructured</a:t>
            </a:r>
            <a:r>
              <a:rPr sz="2800" spc="50" dirty="0">
                <a:latin typeface="Calibri"/>
                <a:cs typeface="Calibri"/>
              </a:rPr>
              <a:t> </a:t>
            </a:r>
            <a:r>
              <a:rPr sz="2800" spc="-10" dirty="0">
                <a:latin typeface="Calibri"/>
                <a:cs typeface="Calibri"/>
              </a:rPr>
              <a:t>noise</a:t>
            </a:r>
            <a:endParaRPr sz="2800">
              <a:latin typeface="Calibri"/>
              <a:cs typeface="Calibri"/>
            </a:endParaRPr>
          </a:p>
          <a:p>
            <a:pPr marL="241300" indent="-228600">
              <a:lnSpc>
                <a:spcPct val="100000"/>
              </a:lnSpc>
              <a:spcBef>
                <a:spcPts val="660"/>
              </a:spcBef>
              <a:buFont typeface="Arial MT"/>
              <a:buChar char="•"/>
              <a:tabLst>
                <a:tab pos="241300" algn="l"/>
              </a:tabLst>
            </a:pPr>
            <a:r>
              <a:rPr sz="2800" spc="-15" dirty="0">
                <a:latin typeface="Calibri"/>
                <a:cs typeface="Calibri"/>
              </a:rPr>
              <a:t>Simplest</a:t>
            </a:r>
            <a:r>
              <a:rPr sz="2800" spc="30" dirty="0">
                <a:latin typeface="Calibri"/>
                <a:cs typeface="Calibri"/>
              </a:rPr>
              <a:t> </a:t>
            </a:r>
            <a:r>
              <a:rPr sz="2800" spc="-15" dirty="0">
                <a:latin typeface="Calibri"/>
                <a:cs typeface="Calibri"/>
              </a:rPr>
              <a:t>example</a:t>
            </a:r>
            <a:r>
              <a:rPr sz="2800" spc="-5" dirty="0">
                <a:latin typeface="Calibri"/>
                <a:cs typeface="Calibri"/>
              </a:rPr>
              <a:t> is</a:t>
            </a:r>
            <a:r>
              <a:rPr sz="2800" spc="5" dirty="0">
                <a:latin typeface="Calibri"/>
                <a:cs typeface="Calibri"/>
              </a:rPr>
              <a:t> </a:t>
            </a:r>
            <a:r>
              <a:rPr sz="2800" spc="-10" dirty="0">
                <a:latin typeface="Calibri"/>
                <a:cs typeface="Calibri"/>
              </a:rPr>
              <a:t>clustering</a:t>
            </a:r>
            <a:endParaRPr sz="2800">
              <a:latin typeface="Calibri"/>
              <a:cs typeface="Calibri"/>
            </a:endParaRPr>
          </a:p>
          <a:p>
            <a:pPr marL="241300" marR="5080" indent="-228600">
              <a:lnSpc>
                <a:spcPts val="3020"/>
              </a:lnSpc>
              <a:spcBef>
                <a:spcPts val="1060"/>
              </a:spcBef>
              <a:buFont typeface="Arial MT"/>
              <a:buChar char="•"/>
              <a:tabLst>
                <a:tab pos="241300" algn="l"/>
              </a:tabLst>
            </a:pPr>
            <a:r>
              <a:rPr sz="2800" spc="-5" dirty="0">
                <a:latin typeface="Calibri"/>
                <a:cs typeface="Calibri"/>
              </a:rPr>
              <a:t>In</a:t>
            </a:r>
            <a:r>
              <a:rPr sz="2800" spc="10" dirty="0">
                <a:latin typeface="Calibri"/>
                <a:cs typeface="Calibri"/>
              </a:rPr>
              <a:t> </a:t>
            </a:r>
            <a:r>
              <a:rPr sz="2800" spc="-5" dirty="0">
                <a:latin typeface="Calibri"/>
                <a:cs typeface="Calibri"/>
              </a:rPr>
              <a:t>NN</a:t>
            </a:r>
            <a:r>
              <a:rPr sz="2800" spc="40" dirty="0">
                <a:latin typeface="Calibri"/>
                <a:cs typeface="Calibri"/>
              </a:rPr>
              <a:t> </a:t>
            </a:r>
            <a:r>
              <a:rPr sz="2800" spc="-5" dirty="0">
                <a:latin typeface="Calibri"/>
                <a:cs typeface="Calibri"/>
              </a:rPr>
              <a:t>model</a:t>
            </a:r>
            <a:r>
              <a:rPr sz="2800" spc="25" dirty="0">
                <a:latin typeface="Calibri"/>
                <a:cs typeface="Calibri"/>
              </a:rPr>
              <a:t> </a:t>
            </a:r>
            <a:r>
              <a:rPr sz="2800" spc="-10" dirty="0">
                <a:latin typeface="Calibri"/>
                <a:cs typeface="Calibri"/>
              </a:rPr>
              <a:t>other</a:t>
            </a:r>
            <a:r>
              <a:rPr sz="2800" spc="25" dirty="0">
                <a:latin typeface="Calibri"/>
                <a:cs typeface="Calibri"/>
              </a:rPr>
              <a:t> </a:t>
            </a:r>
            <a:r>
              <a:rPr sz="2800" spc="-10" dirty="0">
                <a:latin typeface="Calibri"/>
                <a:cs typeface="Calibri"/>
              </a:rPr>
              <a:t>commonly</a:t>
            </a:r>
            <a:r>
              <a:rPr sz="2800" spc="20" dirty="0">
                <a:latin typeface="Calibri"/>
                <a:cs typeface="Calibri"/>
              </a:rPr>
              <a:t> </a:t>
            </a:r>
            <a:r>
              <a:rPr sz="2800" spc="-10" dirty="0">
                <a:latin typeface="Calibri"/>
                <a:cs typeface="Calibri"/>
              </a:rPr>
              <a:t>used</a:t>
            </a:r>
            <a:r>
              <a:rPr sz="2800" spc="30" dirty="0">
                <a:latin typeface="Calibri"/>
                <a:cs typeface="Calibri"/>
              </a:rPr>
              <a:t> </a:t>
            </a:r>
            <a:r>
              <a:rPr sz="2800" spc="-10" dirty="0">
                <a:latin typeface="Calibri"/>
                <a:cs typeface="Calibri"/>
              </a:rPr>
              <a:t>algorithms</a:t>
            </a:r>
            <a:r>
              <a:rPr sz="2800" spc="30" dirty="0">
                <a:latin typeface="Calibri"/>
                <a:cs typeface="Calibri"/>
              </a:rPr>
              <a:t> </a:t>
            </a:r>
            <a:r>
              <a:rPr sz="2800" spc="-15" dirty="0">
                <a:latin typeface="Calibri"/>
                <a:cs typeface="Calibri"/>
              </a:rPr>
              <a:t>are</a:t>
            </a:r>
            <a:r>
              <a:rPr sz="2800" spc="10" dirty="0">
                <a:latin typeface="Calibri"/>
                <a:cs typeface="Calibri"/>
              </a:rPr>
              <a:t> </a:t>
            </a:r>
            <a:r>
              <a:rPr sz="2800" spc="-10" dirty="0">
                <a:latin typeface="Calibri"/>
                <a:cs typeface="Calibri"/>
              </a:rPr>
              <a:t>self</a:t>
            </a:r>
            <a:r>
              <a:rPr sz="2800" spc="15" dirty="0">
                <a:latin typeface="Calibri"/>
                <a:cs typeface="Calibri"/>
              </a:rPr>
              <a:t> </a:t>
            </a:r>
            <a:r>
              <a:rPr sz="2800" spc="-15" dirty="0">
                <a:latin typeface="Calibri"/>
                <a:cs typeface="Calibri"/>
              </a:rPr>
              <a:t>organizing</a:t>
            </a:r>
            <a:r>
              <a:rPr sz="2800" spc="10" dirty="0">
                <a:latin typeface="Calibri"/>
                <a:cs typeface="Calibri"/>
              </a:rPr>
              <a:t> </a:t>
            </a:r>
            <a:r>
              <a:rPr sz="2800" spc="-5" dirty="0">
                <a:latin typeface="Calibri"/>
                <a:cs typeface="Calibri"/>
              </a:rPr>
              <a:t>map </a:t>
            </a:r>
            <a:r>
              <a:rPr sz="2800" spc="-620"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adaptive</a:t>
            </a:r>
            <a:r>
              <a:rPr sz="2800" spc="10" dirty="0">
                <a:latin typeface="Calibri"/>
                <a:cs typeface="Calibri"/>
              </a:rPr>
              <a:t> </a:t>
            </a:r>
            <a:r>
              <a:rPr sz="2800" spc="-10" dirty="0">
                <a:latin typeface="Calibri"/>
                <a:cs typeface="Calibri"/>
              </a:rPr>
              <a:t>resonance</a:t>
            </a:r>
            <a:r>
              <a:rPr sz="2800" spc="20" dirty="0">
                <a:latin typeface="Calibri"/>
                <a:cs typeface="Calibri"/>
              </a:rPr>
              <a:t> </a:t>
            </a:r>
            <a:r>
              <a:rPr sz="2800" spc="-5" dirty="0">
                <a:latin typeface="Calibri"/>
                <a:cs typeface="Calibri"/>
              </a:rPr>
              <a:t>theory</a:t>
            </a:r>
            <a:endParaRPr sz="2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39610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30" dirty="0"/>
              <a:t> </a:t>
            </a:r>
            <a:r>
              <a:rPr sz="4400" dirty="0"/>
              <a:t>Learning</a:t>
            </a:r>
            <a:r>
              <a:rPr sz="4400" spc="-45" dirty="0"/>
              <a:t> </a:t>
            </a:r>
            <a:r>
              <a:rPr sz="4400" spc="-25" dirty="0"/>
              <a:t>Rate</a:t>
            </a:r>
            <a:endParaRPr sz="4400" dirty="0"/>
          </a:p>
        </p:txBody>
      </p:sp>
      <p:sp>
        <p:nvSpPr>
          <p:cNvPr id="3" name="object 3"/>
          <p:cNvSpPr txBox="1"/>
          <p:nvPr/>
        </p:nvSpPr>
        <p:spPr>
          <a:xfrm>
            <a:off x="916939" y="1887717"/>
            <a:ext cx="11275061" cy="4741683"/>
          </a:xfrm>
          <a:prstGeom prst="rect">
            <a:avLst/>
          </a:prstGeom>
        </p:spPr>
        <p:txBody>
          <a:bodyPr vert="horz" wrap="square" lIns="0" tIns="60325" rIns="0" bIns="0" rtlCol="0">
            <a:spAutoFit/>
          </a:bodyPr>
          <a:lstStyle/>
          <a:p>
            <a:pPr marL="241300" marR="546100" indent="-228600">
              <a:lnSpc>
                <a:spcPts val="3030"/>
              </a:lnSpc>
              <a:spcBef>
                <a:spcPts val="475"/>
              </a:spcBef>
              <a:buFont typeface="Arial MT"/>
              <a:buChar char="•"/>
              <a:tabLst>
                <a:tab pos="241300" algn="l"/>
              </a:tabLst>
            </a:pPr>
            <a:r>
              <a:rPr lang="en-US" sz="2800" dirty="0"/>
              <a:t>During ANN learning, to change the input/output behavior, we need to adjust the weights. </a:t>
            </a:r>
          </a:p>
          <a:p>
            <a:pPr marL="241300" marR="546100" indent="-228600">
              <a:lnSpc>
                <a:spcPts val="3030"/>
              </a:lnSpc>
              <a:spcBef>
                <a:spcPts val="475"/>
              </a:spcBef>
              <a:buFont typeface="Arial MT"/>
              <a:buChar char="•"/>
              <a:tabLst>
                <a:tab pos="241300" algn="l"/>
              </a:tabLst>
            </a:pPr>
            <a:r>
              <a:rPr lang="en-US" sz="2800" dirty="0"/>
              <a:t>Hence, a method is required with the help of which the weights can be modified. </a:t>
            </a:r>
          </a:p>
          <a:p>
            <a:pPr marL="241300" marR="546100" indent="-228600">
              <a:lnSpc>
                <a:spcPts val="3030"/>
              </a:lnSpc>
              <a:spcBef>
                <a:spcPts val="475"/>
              </a:spcBef>
              <a:buFont typeface="Arial MT"/>
              <a:buChar char="•"/>
              <a:tabLst>
                <a:tab pos="241300" algn="l"/>
              </a:tabLst>
            </a:pPr>
            <a:r>
              <a:rPr lang="en-US" sz="2800" dirty="0"/>
              <a:t>These methods are called Learning rules, which are simply algorithms or equations.</a:t>
            </a:r>
            <a:endParaRPr lang="en-US" sz="2800" spc="-5" dirty="0">
              <a:latin typeface="Calibri"/>
              <a:cs typeface="Calibri"/>
            </a:endParaRPr>
          </a:p>
          <a:p>
            <a:pPr marL="241300" marR="546100" indent="-228600">
              <a:lnSpc>
                <a:spcPts val="3030"/>
              </a:lnSpc>
              <a:spcBef>
                <a:spcPts val="475"/>
              </a:spcBef>
              <a:buFont typeface="Arial MT"/>
              <a:buChar char="•"/>
              <a:tabLst>
                <a:tab pos="241300" algn="l"/>
              </a:tabLst>
            </a:pPr>
            <a:r>
              <a:rPr sz="2800" spc="-5" dirty="0">
                <a:latin typeface="Calibri"/>
                <a:cs typeface="Calibri"/>
              </a:rPr>
              <a:t>It</a:t>
            </a:r>
            <a:r>
              <a:rPr sz="2800" spc="10"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a</a:t>
            </a:r>
            <a:r>
              <a:rPr sz="2800" spc="15" dirty="0">
                <a:latin typeface="Calibri"/>
                <a:cs typeface="Calibri"/>
              </a:rPr>
              <a:t> </a:t>
            </a:r>
            <a:r>
              <a:rPr sz="2800" spc="-20" dirty="0">
                <a:latin typeface="Calibri"/>
                <a:cs typeface="Calibri"/>
              </a:rPr>
              <a:t>constant</a:t>
            </a:r>
            <a:r>
              <a:rPr sz="2800" spc="4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algorithm</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a</a:t>
            </a:r>
            <a:r>
              <a:rPr sz="2800" dirty="0">
                <a:latin typeface="Calibri"/>
                <a:cs typeface="Calibri"/>
              </a:rPr>
              <a:t> </a:t>
            </a:r>
            <a:r>
              <a:rPr sz="2800" spc="-5" dirty="0">
                <a:latin typeface="Calibri"/>
                <a:cs typeface="Calibri"/>
              </a:rPr>
              <a:t>NN</a:t>
            </a:r>
            <a:r>
              <a:rPr sz="2800" spc="30" dirty="0">
                <a:latin typeface="Calibri"/>
                <a:cs typeface="Calibri"/>
              </a:rPr>
              <a:t> </a:t>
            </a:r>
            <a:r>
              <a:rPr sz="2800" spc="-10" dirty="0">
                <a:latin typeface="Calibri"/>
                <a:cs typeface="Calibri"/>
              </a:rPr>
              <a:t>that</a:t>
            </a:r>
            <a:r>
              <a:rPr sz="2800" dirty="0">
                <a:latin typeface="Calibri"/>
                <a:cs typeface="Calibri"/>
              </a:rPr>
              <a:t> </a:t>
            </a:r>
            <a:r>
              <a:rPr sz="2800" spc="-15" dirty="0">
                <a:latin typeface="Calibri"/>
                <a:cs typeface="Calibri"/>
              </a:rPr>
              <a:t>affects</a:t>
            </a:r>
            <a:r>
              <a:rPr sz="280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speed</a:t>
            </a:r>
            <a:r>
              <a:rPr sz="2800" spc="25" dirty="0">
                <a:latin typeface="Calibri"/>
                <a:cs typeface="Calibri"/>
              </a:rPr>
              <a:t> </a:t>
            </a:r>
            <a:r>
              <a:rPr sz="2800" spc="-10" dirty="0">
                <a:latin typeface="Calibri"/>
                <a:cs typeface="Calibri"/>
              </a:rPr>
              <a:t>of </a:t>
            </a:r>
            <a:r>
              <a:rPr sz="2800" spc="-620" dirty="0">
                <a:latin typeface="Calibri"/>
                <a:cs typeface="Calibri"/>
              </a:rPr>
              <a:t> </a:t>
            </a:r>
            <a:r>
              <a:rPr sz="2800" spc="-5" dirty="0">
                <a:latin typeface="Calibri"/>
                <a:cs typeface="Calibri"/>
              </a:rPr>
              <a:t>learning</a:t>
            </a:r>
            <a:endParaRPr sz="2800" dirty="0">
              <a:latin typeface="Calibri"/>
              <a:cs typeface="Calibri"/>
            </a:endParaRPr>
          </a:p>
          <a:p>
            <a:pPr marL="241300" marR="5080" indent="-228600">
              <a:lnSpc>
                <a:spcPts val="3020"/>
              </a:lnSpc>
              <a:spcBef>
                <a:spcPts val="1005"/>
              </a:spcBef>
              <a:buFont typeface="Arial MT"/>
              <a:buChar char="•"/>
              <a:tabLst>
                <a:tab pos="241300" algn="l"/>
              </a:tabLst>
            </a:pPr>
            <a:r>
              <a:rPr sz="2800" spc="-5" dirty="0">
                <a:latin typeface="Calibri"/>
                <a:cs typeface="Calibri"/>
              </a:rPr>
              <a:t>It</a:t>
            </a:r>
            <a:r>
              <a:rPr sz="2800" spc="1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a</a:t>
            </a:r>
            <a:r>
              <a:rPr sz="2800" spc="10" dirty="0">
                <a:latin typeface="Calibri"/>
                <a:cs typeface="Calibri"/>
              </a:rPr>
              <a:t> </a:t>
            </a:r>
            <a:r>
              <a:rPr sz="2800" spc="-20" dirty="0">
                <a:latin typeface="Calibri"/>
                <a:cs typeface="Calibri"/>
              </a:rPr>
              <a:t>control</a:t>
            </a:r>
            <a:r>
              <a:rPr sz="2800" spc="30" dirty="0">
                <a:latin typeface="Calibri"/>
                <a:cs typeface="Calibri"/>
              </a:rPr>
              <a:t> </a:t>
            </a:r>
            <a:r>
              <a:rPr sz="2800" spc="-15" dirty="0">
                <a:latin typeface="Calibri"/>
                <a:cs typeface="Calibri"/>
              </a:rPr>
              <a:t>parameter</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some</a:t>
            </a:r>
            <a:r>
              <a:rPr sz="2800" spc="25" dirty="0">
                <a:latin typeface="Calibri"/>
                <a:cs typeface="Calibri"/>
              </a:rPr>
              <a:t> </a:t>
            </a:r>
            <a:r>
              <a:rPr sz="2800" spc="-10" dirty="0">
                <a:latin typeface="Calibri"/>
                <a:cs typeface="Calibri"/>
              </a:rPr>
              <a:t>training</a:t>
            </a:r>
            <a:r>
              <a:rPr sz="2800" spc="30" dirty="0">
                <a:latin typeface="Calibri"/>
                <a:cs typeface="Calibri"/>
              </a:rPr>
              <a:t> </a:t>
            </a:r>
            <a:r>
              <a:rPr sz="2800" spc="-10" dirty="0">
                <a:latin typeface="Calibri"/>
                <a:cs typeface="Calibri"/>
              </a:rPr>
              <a:t>algorithms,</a:t>
            </a:r>
            <a:r>
              <a:rPr sz="2800" spc="30" dirty="0">
                <a:latin typeface="Calibri"/>
                <a:cs typeface="Calibri"/>
              </a:rPr>
              <a:t> </a:t>
            </a:r>
            <a:r>
              <a:rPr sz="2800" spc="-5" dirty="0">
                <a:latin typeface="Calibri"/>
                <a:cs typeface="Calibri"/>
              </a:rPr>
              <a:t>which</a:t>
            </a:r>
            <a:r>
              <a:rPr sz="2800" spc="25" dirty="0">
                <a:latin typeface="Calibri"/>
                <a:cs typeface="Calibri"/>
              </a:rPr>
              <a:t> </a:t>
            </a:r>
            <a:r>
              <a:rPr sz="2800" spc="-20" dirty="0">
                <a:latin typeface="Calibri"/>
                <a:cs typeface="Calibri"/>
              </a:rPr>
              <a:t>controls </a:t>
            </a:r>
            <a:r>
              <a:rPr sz="2800" spc="-620" dirty="0">
                <a:latin typeface="Calibri"/>
                <a:cs typeface="Calibri"/>
              </a:rPr>
              <a:t> </a:t>
            </a:r>
            <a:r>
              <a:rPr sz="2800" spc="-5" dirty="0">
                <a:latin typeface="Calibri"/>
                <a:cs typeface="Calibri"/>
              </a:rPr>
              <a:t>the</a:t>
            </a:r>
            <a:r>
              <a:rPr sz="2800" spc="10" dirty="0">
                <a:latin typeface="Calibri"/>
                <a:cs typeface="Calibri"/>
              </a:rPr>
              <a:t> </a:t>
            </a:r>
            <a:r>
              <a:rPr sz="2800" spc="-20" dirty="0">
                <a:latin typeface="Calibri"/>
                <a:cs typeface="Calibri"/>
              </a:rPr>
              <a:t>step</a:t>
            </a:r>
            <a:r>
              <a:rPr sz="2800" spc="15" dirty="0">
                <a:latin typeface="Calibri"/>
                <a:cs typeface="Calibri"/>
              </a:rPr>
              <a:t> </a:t>
            </a:r>
            <a:r>
              <a:rPr sz="2800" spc="-20" dirty="0">
                <a:latin typeface="Calibri"/>
                <a:cs typeface="Calibri"/>
              </a:rPr>
              <a:t>size</a:t>
            </a:r>
            <a:r>
              <a:rPr sz="2800" dirty="0">
                <a:latin typeface="Calibri"/>
                <a:cs typeface="Calibri"/>
              </a:rPr>
              <a:t> </a:t>
            </a:r>
            <a:r>
              <a:rPr sz="2800" spc="-5" dirty="0">
                <a:latin typeface="Calibri"/>
                <a:cs typeface="Calibri"/>
              </a:rPr>
              <a:t>when</a:t>
            </a:r>
            <a:r>
              <a:rPr sz="2800" spc="5" dirty="0">
                <a:latin typeface="Calibri"/>
                <a:cs typeface="Calibri"/>
              </a:rPr>
              <a:t> </a:t>
            </a:r>
            <a:r>
              <a:rPr sz="2800" spc="-10" dirty="0">
                <a:latin typeface="Calibri"/>
                <a:cs typeface="Calibri"/>
              </a:rPr>
              <a:t>weights</a:t>
            </a:r>
            <a:r>
              <a:rPr sz="2800" spc="15" dirty="0">
                <a:latin typeface="Calibri"/>
                <a:cs typeface="Calibri"/>
              </a:rPr>
              <a:t> </a:t>
            </a:r>
            <a:r>
              <a:rPr sz="2800" spc="-15" dirty="0">
                <a:latin typeface="Calibri"/>
                <a:cs typeface="Calibri"/>
              </a:rPr>
              <a:t>are</a:t>
            </a:r>
            <a:r>
              <a:rPr sz="2800" dirty="0">
                <a:latin typeface="Calibri"/>
                <a:cs typeface="Calibri"/>
              </a:rPr>
              <a:t> </a:t>
            </a:r>
            <a:r>
              <a:rPr sz="2800" spc="-15" dirty="0">
                <a:latin typeface="Calibri"/>
                <a:cs typeface="Calibri"/>
              </a:rPr>
              <a:t>iteratively</a:t>
            </a:r>
            <a:r>
              <a:rPr sz="2800" spc="-10" dirty="0">
                <a:latin typeface="Calibri"/>
                <a:cs typeface="Calibri"/>
              </a:rPr>
              <a:t> </a:t>
            </a:r>
            <a:r>
              <a:rPr sz="2800" spc="-15" dirty="0">
                <a:latin typeface="Calibri"/>
                <a:cs typeface="Calibri"/>
              </a:rPr>
              <a:t>adjusted</a:t>
            </a:r>
            <a:endParaRPr sz="2800" dirty="0">
              <a:latin typeface="Calibri"/>
              <a:cs typeface="Calibri"/>
            </a:endParaRPr>
          </a:p>
          <a:p>
            <a:pPr marL="241300" marR="550545" indent="-228600">
              <a:lnSpc>
                <a:spcPts val="3020"/>
              </a:lnSpc>
              <a:spcBef>
                <a:spcPts val="1005"/>
              </a:spcBef>
              <a:buFont typeface="Arial MT"/>
              <a:buChar char="•"/>
              <a:tabLst>
                <a:tab pos="241300" algn="l"/>
              </a:tabLst>
            </a:pPr>
            <a:r>
              <a:rPr sz="2800" spc="-5" dirty="0">
                <a:latin typeface="Calibri"/>
                <a:cs typeface="Calibri"/>
              </a:rPr>
              <a:t>The</a:t>
            </a:r>
            <a:r>
              <a:rPr sz="2800" dirty="0">
                <a:latin typeface="Calibri"/>
                <a:cs typeface="Calibri"/>
              </a:rPr>
              <a:t> </a:t>
            </a:r>
            <a:r>
              <a:rPr sz="2800" spc="-15" dirty="0">
                <a:latin typeface="Calibri"/>
                <a:cs typeface="Calibri"/>
              </a:rPr>
              <a:t>performance</a:t>
            </a:r>
            <a:r>
              <a:rPr sz="2800" spc="35" dirty="0">
                <a:latin typeface="Calibri"/>
                <a:cs typeface="Calibri"/>
              </a:rPr>
              <a:t> </a:t>
            </a:r>
            <a:r>
              <a:rPr sz="2800" spc="-5" dirty="0">
                <a:latin typeface="Calibri"/>
                <a:cs typeface="Calibri"/>
              </a:rPr>
              <a:t>of</a:t>
            </a:r>
            <a:r>
              <a:rPr sz="2800" spc="1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algorithm</a:t>
            </a:r>
            <a:r>
              <a:rPr sz="2800" spc="30"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very</a:t>
            </a:r>
            <a:r>
              <a:rPr sz="2800" spc="10" dirty="0">
                <a:latin typeface="Calibri"/>
                <a:cs typeface="Calibri"/>
              </a:rPr>
              <a:t> </a:t>
            </a:r>
            <a:r>
              <a:rPr sz="2800" spc="-10" dirty="0">
                <a:latin typeface="Calibri"/>
                <a:cs typeface="Calibri"/>
              </a:rPr>
              <a:t>sensitive</a:t>
            </a:r>
            <a:r>
              <a:rPr sz="2800" spc="35" dirty="0">
                <a:latin typeface="Calibri"/>
                <a:cs typeface="Calibri"/>
              </a:rPr>
              <a:t> </a:t>
            </a:r>
            <a:r>
              <a:rPr sz="2800" spc="-15" dirty="0">
                <a:latin typeface="Calibri"/>
                <a:cs typeface="Calibri"/>
              </a:rPr>
              <a:t>to</a:t>
            </a:r>
            <a:r>
              <a:rPr sz="2800" spc="15"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proper </a:t>
            </a:r>
            <a:r>
              <a:rPr sz="2800" spc="-620" dirty="0">
                <a:latin typeface="Calibri"/>
                <a:cs typeface="Calibri"/>
              </a:rPr>
              <a:t> </a:t>
            </a:r>
            <a:r>
              <a:rPr sz="2800" spc="-10" dirty="0">
                <a:latin typeface="Calibri"/>
                <a:cs typeface="Calibri"/>
              </a:rPr>
              <a:t>setting</a:t>
            </a:r>
            <a:r>
              <a:rPr sz="2800" spc="10" dirty="0">
                <a:latin typeface="Calibri"/>
                <a:cs typeface="Calibri"/>
              </a:rPr>
              <a:t> </a:t>
            </a:r>
            <a:r>
              <a:rPr sz="2800" spc="-5" dirty="0">
                <a:latin typeface="Calibri"/>
                <a:cs typeface="Calibri"/>
              </a:rPr>
              <a:t>of the</a:t>
            </a:r>
            <a:r>
              <a:rPr sz="2800" spc="15" dirty="0">
                <a:latin typeface="Calibri"/>
                <a:cs typeface="Calibri"/>
              </a:rPr>
              <a:t> </a:t>
            </a:r>
            <a:r>
              <a:rPr sz="2800" spc="-5" dirty="0">
                <a:latin typeface="Calibri"/>
                <a:cs typeface="Calibri"/>
              </a:rPr>
              <a:t>learning</a:t>
            </a:r>
            <a:r>
              <a:rPr sz="2800" spc="15" dirty="0">
                <a:latin typeface="Calibri"/>
                <a:cs typeface="Calibri"/>
              </a:rPr>
              <a:t> </a:t>
            </a:r>
            <a:r>
              <a:rPr sz="2800" spc="-30" dirty="0">
                <a:latin typeface="Calibri"/>
                <a:cs typeface="Calibri"/>
              </a:rPr>
              <a:t>rate</a:t>
            </a:r>
            <a:endParaRPr sz="2800" dirty="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39610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30" dirty="0"/>
              <a:t> </a:t>
            </a:r>
            <a:r>
              <a:rPr sz="4400" dirty="0"/>
              <a:t>Learning</a:t>
            </a:r>
            <a:r>
              <a:rPr sz="4400" spc="-45" dirty="0"/>
              <a:t> </a:t>
            </a:r>
            <a:r>
              <a:rPr sz="4400" spc="-25" dirty="0"/>
              <a:t>Rate</a:t>
            </a:r>
            <a:endParaRPr sz="4400"/>
          </a:p>
        </p:txBody>
      </p:sp>
      <p:sp>
        <p:nvSpPr>
          <p:cNvPr id="3" name="object 3"/>
          <p:cNvSpPr txBox="1"/>
          <p:nvPr/>
        </p:nvSpPr>
        <p:spPr>
          <a:xfrm>
            <a:off x="916939" y="1793189"/>
            <a:ext cx="10287635" cy="3453637"/>
          </a:xfrm>
          <a:prstGeom prst="rect">
            <a:avLst/>
          </a:prstGeom>
        </p:spPr>
        <p:txBody>
          <a:bodyPr vert="horz" wrap="square" lIns="0" tIns="55244" rIns="0" bIns="0" rtlCol="0">
            <a:spAutoFit/>
          </a:bodyPr>
          <a:lstStyle/>
          <a:p>
            <a:pPr marL="241300" marR="558800" indent="-228600">
              <a:lnSpc>
                <a:spcPct val="90000"/>
              </a:lnSpc>
              <a:spcBef>
                <a:spcPts val="434"/>
              </a:spcBef>
              <a:buFont typeface="Arial MT"/>
              <a:buChar char="•"/>
              <a:tabLst>
                <a:tab pos="241300" algn="l"/>
              </a:tabLst>
            </a:pPr>
            <a:endParaRPr lang="en-US" sz="2800" spc="-5" dirty="0">
              <a:latin typeface="Calibri"/>
              <a:cs typeface="Calibri"/>
            </a:endParaRPr>
          </a:p>
          <a:p>
            <a:pPr marL="241300" marR="558800" indent="-228600">
              <a:lnSpc>
                <a:spcPct val="90000"/>
              </a:lnSpc>
              <a:spcBef>
                <a:spcPts val="434"/>
              </a:spcBef>
              <a:buFont typeface="Arial MT"/>
              <a:buChar char="•"/>
              <a:tabLst>
                <a:tab pos="241300" algn="l"/>
              </a:tabLst>
            </a:pPr>
            <a:r>
              <a:rPr sz="2800" spc="-5" dirty="0">
                <a:latin typeface="Calibri"/>
                <a:cs typeface="Calibri"/>
              </a:rPr>
              <a:t>If</a:t>
            </a:r>
            <a:r>
              <a:rPr sz="280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learning</a:t>
            </a:r>
            <a:r>
              <a:rPr sz="2800" spc="15" dirty="0">
                <a:latin typeface="Calibri"/>
                <a:cs typeface="Calibri"/>
              </a:rPr>
              <a:t> </a:t>
            </a:r>
            <a:r>
              <a:rPr sz="2800" spc="-30" dirty="0">
                <a:latin typeface="Calibri"/>
                <a:cs typeface="Calibri"/>
              </a:rPr>
              <a:t>rate</a:t>
            </a:r>
            <a:r>
              <a:rPr sz="2800" spc="5" dirty="0">
                <a:latin typeface="Calibri"/>
                <a:cs typeface="Calibri"/>
              </a:rPr>
              <a:t> </a:t>
            </a:r>
            <a:r>
              <a:rPr sz="2800" spc="-10" dirty="0">
                <a:latin typeface="Calibri"/>
                <a:cs typeface="Calibri"/>
              </a:rPr>
              <a:t>is</a:t>
            </a:r>
            <a:r>
              <a:rPr sz="2800" spc="15" dirty="0">
                <a:latin typeface="Calibri"/>
                <a:cs typeface="Calibri"/>
              </a:rPr>
              <a:t> </a:t>
            </a:r>
            <a:r>
              <a:rPr sz="2800" spc="-10" dirty="0">
                <a:latin typeface="Calibri"/>
                <a:cs typeface="Calibri"/>
              </a:rPr>
              <a:t>set</a:t>
            </a:r>
            <a:r>
              <a:rPr sz="2800" dirty="0">
                <a:latin typeface="Calibri"/>
                <a:cs typeface="Calibri"/>
              </a:rPr>
              <a:t> </a:t>
            </a:r>
            <a:r>
              <a:rPr sz="2800" spc="-10" dirty="0">
                <a:latin typeface="Calibri"/>
                <a:cs typeface="Calibri"/>
              </a:rPr>
              <a:t>too</a:t>
            </a:r>
            <a:r>
              <a:rPr sz="2800" spc="10" dirty="0">
                <a:latin typeface="Calibri"/>
                <a:cs typeface="Calibri"/>
              </a:rPr>
              <a:t> </a:t>
            </a:r>
            <a:r>
              <a:rPr sz="2800" spc="-5" dirty="0">
                <a:latin typeface="Calibri"/>
                <a:cs typeface="Calibri"/>
              </a:rPr>
              <a:t>high,</a:t>
            </a:r>
            <a:r>
              <a:rPr sz="2800" spc="2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algorithm</a:t>
            </a:r>
            <a:r>
              <a:rPr sz="2800" spc="10" dirty="0">
                <a:latin typeface="Calibri"/>
                <a:cs typeface="Calibri"/>
              </a:rPr>
              <a:t> </a:t>
            </a:r>
            <a:r>
              <a:rPr sz="2800" spc="-20" dirty="0">
                <a:latin typeface="Calibri"/>
                <a:cs typeface="Calibri"/>
              </a:rPr>
              <a:t>may</a:t>
            </a:r>
            <a:r>
              <a:rPr sz="2800" spc="10" dirty="0">
                <a:latin typeface="Calibri"/>
                <a:cs typeface="Calibri"/>
              </a:rPr>
              <a:t> </a:t>
            </a:r>
            <a:r>
              <a:rPr sz="2800" spc="-10" dirty="0">
                <a:latin typeface="Calibri"/>
                <a:cs typeface="Calibri"/>
              </a:rPr>
              <a:t>oscillate</a:t>
            </a:r>
            <a:r>
              <a:rPr sz="2800" spc="5" dirty="0">
                <a:latin typeface="Calibri"/>
                <a:cs typeface="Calibri"/>
              </a:rPr>
              <a:t> </a:t>
            </a:r>
            <a:r>
              <a:rPr sz="2800" spc="-5" dirty="0">
                <a:latin typeface="Calibri"/>
                <a:cs typeface="Calibri"/>
              </a:rPr>
              <a:t>and </a:t>
            </a:r>
            <a:r>
              <a:rPr sz="2800" spc="-620" dirty="0">
                <a:latin typeface="Calibri"/>
                <a:cs typeface="Calibri"/>
              </a:rPr>
              <a:t> </a:t>
            </a:r>
            <a:r>
              <a:rPr sz="2800" spc="-10" dirty="0">
                <a:latin typeface="Calibri"/>
                <a:cs typeface="Calibri"/>
              </a:rPr>
              <a:t>become</a:t>
            </a:r>
            <a:r>
              <a:rPr sz="2800" spc="15" dirty="0">
                <a:latin typeface="Calibri"/>
                <a:cs typeface="Calibri"/>
              </a:rPr>
              <a:t> </a:t>
            </a:r>
            <a:r>
              <a:rPr sz="2800" spc="-15" dirty="0">
                <a:latin typeface="Calibri"/>
                <a:cs typeface="Calibri"/>
              </a:rPr>
              <a:t>unstable</a:t>
            </a:r>
            <a:r>
              <a:rPr sz="2800" spc="40" dirty="0">
                <a:latin typeface="Calibri"/>
                <a:cs typeface="Calibri"/>
              </a:rPr>
              <a:t> </a:t>
            </a:r>
            <a:r>
              <a:rPr sz="2800" spc="-10" dirty="0">
                <a:latin typeface="Calibri"/>
                <a:cs typeface="Calibri"/>
              </a:rPr>
              <a:t>whereas</a:t>
            </a:r>
            <a:r>
              <a:rPr sz="2800" dirty="0">
                <a:latin typeface="Calibri"/>
                <a:cs typeface="Calibri"/>
              </a:rPr>
              <a:t> </a:t>
            </a:r>
            <a:r>
              <a:rPr sz="2800" spc="-5" dirty="0">
                <a:latin typeface="Calibri"/>
                <a:cs typeface="Calibri"/>
              </a:rPr>
              <a:t>if</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learning</a:t>
            </a:r>
            <a:r>
              <a:rPr sz="2800" spc="20" dirty="0">
                <a:latin typeface="Calibri"/>
                <a:cs typeface="Calibri"/>
              </a:rPr>
              <a:t> </a:t>
            </a:r>
            <a:r>
              <a:rPr sz="2800" spc="-30" dirty="0">
                <a:latin typeface="Calibri"/>
                <a:cs typeface="Calibri"/>
              </a:rPr>
              <a:t>rate</a:t>
            </a:r>
            <a:r>
              <a:rPr sz="2800" dirty="0">
                <a:latin typeface="Calibri"/>
                <a:cs typeface="Calibri"/>
              </a:rPr>
              <a:t> </a:t>
            </a:r>
            <a:r>
              <a:rPr sz="2800" spc="-5" dirty="0">
                <a:latin typeface="Calibri"/>
                <a:cs typeface="Calibri"/>
              </a:rPr>
              <a:t>is</a:t>
            </a:r>
            <a:r>
              <a:rPr sz="2800" spc="15" dirty="0">
                <a:latin typeface="Calibri"/>
                <a:cs typeface="Calibri"/>
              </a:rPr>
              <a:t> </a:t>
            </a:r>
            <a:r>
              <a:rPr sz="2800" spc="-15" dirty="0">
                <a:latin typeface="Calibri"/>
                <a:cs typeface="Calibri"/>
              </a:rPr>
              <a:t>too</a:t>
            </a:r>
            <a:r>
              <a:rPr sz="2800" spc="5" dirty="0">
                <a:latin typeface="Calibri"/>
                <a:cs typeface="Calibri"/>
              </a:rPr>
              <a:t> </a:t>
            </a:r>
            <a:r>
              <a:rPr sz="2800" spc="-5" dirty="0">
                <a:latin typeface="Calibri"/>
                <a:cs typeface="Calibri"/>
              </a:rPr>
              <a:t>small,</a:t>
            </a:r>
            <a:r>
              <a:rPr sz="2800" spc="15"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algorithm</a:t>
            </a:r>
            <a:r>
              <a:rPr sz="2800" spc="10" dirty="0">
                <a:latin typeface="Calibri"/>
                <a:cs typeface="Calibri"/>
              </a:rPr>
              <a:t> </a:t>
            </a:r>
            <a:r>
              <a:rPr sz="2800" spc="-5" dirty="0">
                <a:latin typeface="Calibri"/>
                <a:cs typeface="Calibri"/>
              </a:rPr>
              <a:t>will </a:t>
            </a:r>
            <a:r>
              <a:rPr sz="2800" spc="-35" dirty="0">
                <a:latin typeface="Calibri"/>
                <a:cs typeface="Calibri"/>
              </a:rPr>
              <a:t>take</a:t>
            </a:r>
            <a:r>
              <a:rPr sz="2800" spc="5" dirty="0">
                <a:latin typeface="Calibri"/>
                <a:cs typeface="Calibri"/>
              </a:rPr>
              <a:t> </a:t>
            </a:r>
            <a:r>
              <a:rPr sz="2800" spc="-15" dirty="0">
                <a:latin typeface="Calibri"/>
                <a:cs typeface="Calibri"/>
              </a:rPr>
              <a:t>too</a:t>
            </a:r>
            <a:r>
              <a:rPr sz="2800" spc="5" dirty="0">
                <a:latin typeface="Calibri"/>
                <a:cs typeface="Calibri"/>
              </a:rPr>
              <a:t> </a:t>
            </a:r>
            <a:r>
              <a:rPr sz="2800" spc="-5" dirty="0">
                <a:latin typeface="Calibri"/>
                <a:cs typeface="Calibri"/>
              </a:rPr>
              <a:t>long</a:t>
            </a:r>
            <a:r>
              <a:rPr sz="2800" spc="5" dirty="0">
                <a:latin typeface="Calibri"/>
                <a:cs typeface="Calibri"/>
              </a:rPr>
              <a:t> </a:t>
            </a:r>
            <a:r>
              <a:rPr sz="2800" spc="-15" dirty="0">
                <a:latin typeface="Calibri"/>
                <a:cs typeface="Calibri"/>
              </a:rPr>
              <a:t>to</a:t>
            </a:r>
            <a:r>
              <a:rPr sz="2800" spc="5" dirty="0">
                <a:latin typeface="Calibri"/>
                <a:cs typeface="Calibri"/>
              </a:rPr>
              <a:t> </a:t>
            </a:r>
            <a:r>
              <a:rPr sz="2800" spc="-25" dirty="0">
                <a:latin typeface="Calibri"/>
                <a:cs typeface="Calibri"/>
              </a:rPr>
              <a:t>converge</a:t>
            </a:r>
            <a:endParaRPr sz="2800" dirty="0">
              <a:latin typeface="Calibri"/>
              <a:cs typeface="Calibri"/>
            </a:endParaRPr>
          </a:p>
          <a:p>
            <a:pPr marL="241300" marR="5080" indent="-228600">
              <a:lnSpc>
                <a:spcPts val="3030"/>
              </a:lnSpc>
              <a:spcBef>
                <a:spcPts val="1045"/>
              </a:spcBef>
              <a:buFont typeface="Arial MT"/>
              <a:buChar char="•"/>
              <a:tabLst>
                <a:tab pos="241300" algn="l"/>
              </a:tabLst>
            </a:pPr>
            <a:r>
              <a:rPr sz="2800" spc="-5" dirty="0">
                <a:latin typeface="Calibri"/>
                <a:cs typeface="Calibri"/>
              </a:rPr>
              <a:t>It</a:t>
            </a:r>
            <a:r>
              <a:rPr sz="2800" spc="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not</a:t>
            </a:r>
            <a:r>
              <a:rPr sz="2800" spc="25" dirty="0">
                <a:latin typeface="Calibri"/>
                <a:cs typeface="Calibri"/>
              </a:rPr>
              <a:t> </a:t>
            </a:r>
            <a:r>
              <a:rPr sz="2800" spc="-10" dirty="0">
                <a:latin typeface="Calibri"/>
                <a:cs typeface="Calibri"/>
              </a:rPr>
              <a:t>practically</a:t>
            </a:r>
            <a:r>
              <a:rPr sz="2800" spc="10" dirty="0">
                <a:latin typeface="Calibri"/>
                <a:cs typeface="Calibri"/>
              </a:rPr>
              <a:t> </a:t>
            </a:r>
            <a:r>
              <a:rPr sz="2800" spc="-10" dirty="0">
                <a:latin typeface="Calibri"/>
                <a:cs typeface="Calibri"/>
              </a:rPr>
              <a:t>significant</a:t>
            </a:r>
            <a:r>
              <a:rPr sz="2800" spc="15" dirty="0">
                <a:latin typeface="Calibri"/>
                <a:cs typeface="Calibri"/>
              </a:rPr>
              <a:t> </a:t>
            </a:r>
            <a:r>
              <a:rPr sz="2800" spc="-15" dirty="0">
                <a:latin typeface="Calibri"/>
                <a:cs typeface="Calibri"/>
              </a:rPr>
              <a:t>to</a:t>
            </a:r>
            <a:r>
              <a:rPr sz="2800" spc="5" dirty="0">
                <a:latin typeface="Calibri"/>
                <a:cs typeface="Calibri"/>
              </a:rPr>
              <a:t> </a:t>
            </a:r>
            <a:r>
              <a:rPr sz="2800" spc="-10" dirty="0">
                <a:latin typeface="Calibri"/>
                <a:cs typeface="Calibri"/>
              </a:rPr>
              <a:t>determine</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optimal</a:t>
            </a:r>
            <a:r>
              <a:rPr sz="2800" spc="10" dirty="0">
                <a:latin typeface="Calibri"/>
                <a:cs typeface="Calibri"/>
              </a:rPr>
              <a:t> </a:t>
            </a:r>
            <a:r>
              <a:rPr sz="2800" spc="-10" dirty="0">
                <a:latin typeface="Calibri"/>
                <a:cs typeface="Calibri"/>
              </a:rPr>
              <a:t>setting</a:t>
            </a:r>
            <a:r>
              <a:rPr sz="2800" spc="15" dirty="0">
                <a:latin typeface="Calibri"/>
                <a:cs typeface="Calibri"/>
              </a:rPr>
              <a:t> </a:t>
            </a:r>
            <a:r>
              <a:rPr sz="2800" spc="-25" dirty="0">
                <a:latin typeface="Calibri"/>
                <a:cs typeface="Calibri"/>
              </a:rPr>
              <a:t>for</a:t>
            </a:r>
            <a:r>
              <a:rPr sz="2800" spc="-5" dirty="0">
                <a:latin typeface="Calibri"/>
                <a:cs typeface="Calibri"/>
              </a:rPr>
              <a:t> the </a:t>
            </a:r>
            <a:r>
              <a:rPr sz="2800" spc="-615" dirty="0">
                <a:latin typeface="Calibri"/>
                <a:cs typeface="Calibri"/>
              </a:rPr>
              <a:t> </a:t>
            </a:r>
            <a:r>
              <a:rPr sz="2800" spc="-5" dirty="0">
                <a:latin typeface="Calibri"/>
                <a:cs typeface="Calibri"/>
              </a:rPr>
              <a:t>learning</a:t>
            </a:r>
            <a:r>
              <a:rPr sz="2800" spc="10" dirty="0">
                <a:latin typeface="Calibri"/>
                <a:cs typeface="Calibri"/>
              </a:rPr>
              <a:t> </a:t>
            </a:r>
            <a:r>
              <a:rPr sz="2800" spc="-30" dirty="0">
                <a:latin typeface="Calibri"/>
                <a:cs typeface="Calibri"/>
              </a:rPr>
              <a:t>rate</a:t>
            </a:r>
            <a:r>
              <a:rPr sz="2800" dirty="0">
                <a:latin typeface="Calibri"/>
                <a:cs typeface="Calibri"/>
              </a:rPr>
              <a:t> </a:t>
            </a:r>
            <a:r>
              <a:rPr sz="2800" spc="-25" dirty="0">
                <a:latin typeface="Calibri"/>
                <a:cs typeface="Calibri"/>
              </a:rPr>
              <a:t>before</a:t>
            </a:r>
            <a:r>
              <a:rPr sz="2800" spc="5" dirty="0">
                <a:latin typeface="Calibri"/>
                <a:cs typeface="Calibri"/>
              </a:rPr>
              <a:t> </a:t>
            </a:r>
            <a:r>
              <a:rPr sz="2800" spc="-10" dirty="0">
                <a:latin typeface="Calibri"/>
                <a:cs typeface="Calibri"/>
              </a:rPr>
              <a:t>training</a:t>
            </a:r>
            <a:endParaRPr sz="2800" dirty="0">
              <a:latin typeface="Calibri"/>
              <a:cs typeface="Calibri"/>
            </a:endParaRPr>
          </a:p>
          <a:p>
            <a:pPr marL="241300" marR="648335" indent="-228600">
              <a:lnSpc>
                <a:spcPts val="3020"/>
              </a:lnSpc>
              <a:spcBef>
                <a:spcPts val="994"/>
              </a:spcBef>
              <a:buFont typeface="Arial MT"/>
              <a:buChar char="•"/>
              <a:tabLst>
                <a:tab pos="241300" algn="l"/>
              </a:tabLst>
            </a:pPr>
            <a:r>
              <a:rPr sz="2800" spc="-5" dirty="0">
                <a:latin typeface="Calibri"/>
                <a:cs typeface="Calibri"/>
              </a:rPr>
              <a:t>In</a:t>
            </a:r>
            <a:r>
              <a:rPr sz="2800" spc="5" dirty="0">
                <a:latin typeface="Calibri"/>
                <a:cs typeface="Calibri"/>
              </a:rPr>
              <a:t> </a:t>
            </a:r>
            <a:r>
              <a:rPr sz="2800" spc="-15" dirty="0">
                <a:latin typeface="Calibri"/>
                <a:cs typeface="Calibri"/>
              </a:rPr>
              <a:t>most</a:t>
            </a:r>
            <a:r>
              <a:rPr sz="2800" spc="3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20" dirty="0">
                <a:latin typeface="Calibri"/>
                <a:cs typeface="Calibri"/>
              </a:rPr>
              <a:t> </a:t>
            </a:r>
            <a:r>
              <a:rPr sz="2800" spc="-5" dirty="0">
                <a:latin typeface="Calibri"/>
                <a:cs typeface="Calibri"/>
              </a:rPr>
              <a:t>cases the</a:t>
            </a:r>
            <a:r>
              <a:rPr sz="2800" spc="15" dirty="0">
                <a:latin typeface="Calibri"/>
                <a:cs typeface="Calibri"/>
              </a:rPr>
              <a:t> </a:t>
            </a:r>
            <a:r>
              <a:rPr sz="2800" spc="-5" dirty="0">
                <a:latin typeface="Calibri"/>
                <a:cs typeface="Calibri"/>
              </a:rPr>
              <a:t>optimal</a:t>
            </a:r>
            <a:r>
              <a:rPr sz="2800" spc="20" dirty="0">
                <a:latin typeface="Calibri"/>
                <a:cs typeface="Calibri"/>
              </a:rPr>
              <a:t> </a:t>
            </a:r>
            <a:r>
              <a:rPr sz="2800" spc="-5" dirty="0">
                <a:latin typeface="Calibri"/>
                <a:cs typeface="Calibri"/>
              </a:rPr>
              <a:t>learning</a:t>
            </a:r>
            <a:r>
              <a:rPr sz="2800" spc="20" dirty="0">
                <a:latin typeface="Calibri"/>
                <a:cs typeface="Calibri"/>
              </a:rPr>
              <a:t> </a:t>
            </a:r>
            <a:r>
              <a:rPr sz="2800" spc="-30" dirty="0">
                <a:latin typeface="Calibri"/>
                <a:cs typeface="Calibri"/>
              </a:rPr>
              <a:t>rate</a:t>
            </a:r>
            <a:r>
              <a:rPr sz="2800" spc="5" dirty="0">
                <a:latin typeface="Calibri"/>
                <a:cs typeface="Calibri"/>
              </a:rPr>
              <a:t> </a:t>
            </a:r>
            <a:r>
              <a:rPr sz="2800" spc="-10" dirty="0">
                <a:latin typeface="Calibri"/>
                <a:cs typeface="Calibri"/>
              </a:rPr>
              <a:t>changes</a:t>
            </a:r>
            <a:r>
              <a:rPr sz="2800" spc="20" dirty="0">
                <a:latin typeface="Calibri"/>
                <a:cs typeface="Calibri"/>
              </a:rPr>
              <a:t> </a:t>
            </a:r>
            <a:r>
              <a:rPr sz="2800" spc="-10" dirty="0">
                <a:latin typeface="Calibri"/>
                <a:cs typeface="Calibri"/>
              </a:rPr>
              <a:t>during</a:t>
            </a:r>
            <a:r>
              <a:rPr sz="2800" spc="45" dirty="0">
                <a:latin typeface="Calibri"/>
                <a:cs typeface="Calibri"/>
              </a:rPr>
              <a:t> </a:t>
            </a:r>
            <a:r>
              <a:rPr sz="2800" spc="-5" dirty="0">
                <a:latin typeface="Calibri"/>
                <a:cs typeface="Calibri"/>
              </a:rPr>
              <a:t>the </a:t>
            </a:r>
            <a:r>
              <a:rPr sz="2800" spc="-615" dirty="0">
                <a:latin typeface="Calibri"/>
                <a:cs typeface="Calibri"/>
              </a:rPr>
              <a:t> </a:t>
            </a:r>
            <a:r>
              <a:rPr sz="2800" spc="-15" dirty="0">
                <a:latin typeface="Calibri"/>
                <a:cs typeface="Calibri"/>
              </a:rPr>
              <a:t>training</a:t>
            </a:r>
            <a:r>
              <a:rPr sz="2800" spc="25" dirty="0">
                <a:latin typeface="Calibri"/>
                <a:cs typeface="Calibri"/>
              </a:rPr>
              <a:t> </a:t>
            </a:r>
            <a:r>
              <a:rPr sz="2800" spc="-10" dirty="0">
                <a:latin typeface="Calibri"/>
                <a:cs typeface="Calibri"/>
              </a:rPr>
              <a:t>process</a:t>
            </a:r>
            <a:endParaRPr sz="2800" dirty="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811270"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50" dirty="0"/>
              <a:t> </a:t>
            </a:r>
            <a:r>
              <a:rPr sz="4400" spc="-30" dirty="0"/>
              <a:t>Perceptron</a:t>
            </a:r>
            <a:endParaRPr sz="4400"/>
          </a:p>
        </p:txBody>
      </p:sp>
      <p:pic>
        <p:nvPicPr>
          <p:cNvPr id="3" name="object 3"/>
          <p:cNvPicPr/>
          <p:nvPr/>
        </p:nvPicPr>
        <p:blipFill>
          <a:blip r:embed="rId2" cstate="print"/>
          <a:stretch>
            <a:fillRect/>
          </a:stretch>
        </p:blipFill>
        <p:spPr>
          <a:xfrm>
            <a:off x="1066652" y="1805305"/>
            <a:ext cx="4095596" cy="4021324"/>
          </a:xfrm>
          <a:prstGeom prst="rect">
            <a:avLst/>
          </a:prstGeom>
        </p:spPr>
      </p:pic>
      <p:sp>
        <p:nvSpPr>
          <p:cNvPr id="4" name="object 4"/>
          <p:cNvSpPr txBox="1"/>
          <p:nvPr/>
        </p:nvSpPr>
        <p:spPr>
          <a:xfrm>
            <a:off x="6213728" y="1793189"/>
            <a:ext cx="5069205" cy="3941445"/>
          </a:xfrm>
          <a:prstGeom prst="rect">
            <a:avLst/>
          </a:prstGeom>
        </p:spPr>
        <p:txBody>
          <a:bodyPr vert="horz" wrap="square" lIns="0" tIns="55244" rIns="0" bIns="0" rtlCol="0">
            <a:spAutoFit/>
          </a:bodyPr>
          <a:lstStyle/>
          <a:p>
            <a:pPr marL="279400" marR="43180" indent="-228600">
              <a:lnSpc>
                <a:spcPct val="90000"/>
              </a:lnSpc>
              <a:spcBef>
                <a:spcPts val="434"/>
              </a:spcBef>
              <a:buFont typeface="Arial MT"/>
              <a:buChar char="•"/>
              <a:tabLst>
                <a:tab pos="279400" algn="l"/>
              </a:tabLst>
            </a:pPr>
            <a:r>
              <a:rPr sz="2800" spc="-5" dirty="0">
                <a:latin typeface="Calibri"/>
                <a:cs typeface="Calibri"/>
              </a:rPr>
              <a:t>A</a:t>
            </a:r>
            <a:r>
              <a:rPr sz="2800" spc="5" dirty="0">
                <a:latin typeface="Calibri"/>
                <a:cs typeface="Calibri"/>
              </a:rPr>
              <a:t> </a:t>
            </a:r>
            <a:r>
              <a:rPr sz="2800" spc="-15" dirty="0">
                <a:latin typeface="Calibri"/>
                <a:cs typeface="Calibri"/>
              </a:rPr>
              <a:t>perceptron</a:t>
            </a:r>
            <a:r>
              <a:rPr sz="2800" spc="1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simplest</a:t>
            </a:r>
            <a:r>
              <a:rPr sz="2800" spc="35" dirty="0">
                <a:latin typeface="Calibri"/>
                <a:cs typeface="Calibri"/>
              </a:rPr>
              <a:t> </a:t>
            </a:r>
            <a:r>
              <a:rPr sz="2800" spc="-10" dirty="0">
                <a:latin typeface="Calibri"/>
                <a:cs typeface="Calibri"/>
              </a:rPr>
              <a:t>kind </a:t>
            </a:r>
            <a:r>
              <a:rPr sz="2800" spc="-620" dirty="0">
                <a:latin typeface="Calibri"/>
                <a:cs typeface="Calibri"/>
              </a:rPr>
              <a:t> </a:t>
            </a:r>
            <a:r>
              <a:rPr sz="2800" spc="-5" dirty="0">
                <a:latin typeface="Calibri"/>
                <a:cs typeface="Calibri"/>
              </a:rPr>
              <a:t>of</a:t>
            </a:r>
            <a:r>
              <a:rPr sz="2800" spc="-10" dirty="0">
                <a:latin typeface="Calibri"/>
                <a:cs typeface="Calibri"/>
              </a:rPr>
              <a:t> </a:t>
            </a:r>
            <a:r>
              <a:rPr sz="2800" spc="-20" dirty="0">
                <a:latin typeface="Calibri"/>
                <a:cs typeface="Calibri"/>
              </a:rPr>
              <a:t>feed</a:t>
            </a:r>
            <a:r>
              <a:rPr sz="2800" spc="-5" dirty="0">
                <a:latin typeface="Calibri"/>
                <a:cs typeface="Calibri"/>
              </a:rPr>
              <a:t> </a:t>
            </a:r>
            <a:r>
              <a:rPr sz="2800" spc="-25" dirty="0">
                <a:latin typeface="Calibri"/>
                <a:cs typeface="Calibri"/>
              </a:rPr>
              <a:t>forward</a:t>
            </a:r>
            <a:r>
              <a:rPr sz="2800" spc="5" dirty="0">
                <a:latin typeface="Calibri"/>
                <a:cs typeface="Calibri"/>
              </a:rPr>
              <a:t> </a:t>
            </a:r>
            <a:r>
              <a:rPr sz="2800" spc="-20" dirty="0">
                <a:latin typeface="Calibri"/>
                <a:cs typeface="Calibri"/>
              </a:rPr>
              <a:t>neural</a:t>
            </a:r>
            <a:r>
              <a:rPr sz="2800" spc="15" dirty="0">
                <a:latin typeface="Calibri"/>
                <a:cs typeface="Calibri"/>
              </a:rPr>
              <a:t> </a:t>
            </a:r>
            <a:r>
              <a:rPr sz="2800" spc="-15" dirty="0">
                <a:latin typeface="Calibri"/>
                <a:cs typeface="Calibri"/>
              </a:rPr>
              <a:t>network </a:t>
            </a:r>
            <a:r>
              <a:rPr sz="2800" spc="-10" dirty="0">
                <a:latin typeface="Calibri"/>
                <a:cs typeface="Calibri"/>
              </a:rPr>
              <a:t> </a:t>
            </a:r>
            <a:r>
              <a:rPr sz="2800" spc="-25" dirty="0">
                <a:latin typeface="Calibri"/>
                <a:cs typeface="Calibri"/>
              </a:rPr>
              <a:t>invented</a:t>
            </a:r>
            <a:r>
              <a:rPr sz="2800" spc="15" dirty="0">
                <a:latin typeface="Calibri"/>
                <a:cs typeface="Calibri"/>
              </a:rPr>
              <a:t> </a:t>
            </a:r>
            <a:r>
              <a:rPr sz="2800" spc="-15" dirty="0">
                <a:latin typeface="Calibri"/>
                <a:cs typeface="Calibri"/>
              </a:rPr>
              <a:t>by</a:t>
            </a:r>
            <a:r>
              <a:rPr sz="2800" spc="5" dirty="0">
                <a:latin typeface="Calibri"/>
                <a:cs typeface="Calibri"/>
              </a:rPr>
              <a:t> </a:t>
            </a:r>
            <a:r>
              <a:rPr sz="2800" spc="-20" dirty="0">
                <a:latin typeface="Calibri"/>
                <a:cs typeface="Calibri"/>
              </a:rPr>
              <a:t>Frank</a:t>
            </a:r>
            <a:r>
              <a:rPr sz="2800" spc="10" dirty="0">
                <a:latin typeface="Calibri"/>
                <a:cs typeface="Calibri"/>
              </a:rPr>
              <a:t> </a:t>
            </a:r>
            <a:r>
              <a:rPr sz="2800" spc="-20" dirty="0">
                <a:latin typeface="Calibri"/>
                <a:cs typeface="Calibri"/>
              </a:rPr>
              <a:t>Rosenblatt</a:t>
            </a:r>
            <a:endParaRPr sz="2800">
              <a:latin typeface="Calibri"/>
              <a:cs typeface="Calibri"/>
            </a:endParaRPr>
          </a:p>
          <a:p>
            <a:pPr marL="279400" indent="-228600">
              <a:lnSpc>
                <a:spcPct val="100000"/>
              </a:lnSpc>
              <a:spcBef>
                <a:spcPts val="670"/>
              </a:spcBef>
              <a:buFont typeface="Arial MT"/>
              <a:buChar char="•"/>
              <a:tabLst>
                <a:tab pos="279400" algn="l"/>
              </a:tabLst>
            </a:pPr>
            <a:r>
              <a:rPr sz="2800" spc="-5" dirty="0">
                <a:latin typeface="Calibri"/>
                <a:cs typeface="Calibri"/>
              </a:rPr>
              <a:t>Its</a:t>
            </a:r>
            <a:r>
              <a:rPr sz="2800" spc="-15" dirty="0">
                <a:latin typeface="Calibri"/>
                <a:cs typeface="Calibri"/>
              </a:rPr>
              <a:t> </a:t>
            </a:r>
            <a:r>
              <a:rPr sz="2800" spc="-10" dirty="0">
                <a:latin typeface="Calibri"/>
                <a:cs typeface="Calibri"/>
              </a:rPr>
              <a:t>output</a:t>
            </a:r>
            <a:r>
              <a:rPr sz="2800" spc="25" dirty="0">
                <a:latin typeface="Calibri"/>
                <a:cs typeface="Calibri"/>
              </a:rPr>
              <a:t> </a:t>
            </a:r>
            <a:r>
              <a:rPr sz="2800" spc="-5" dirty="0">
                <a:latin typeface="Calibri"/>
                <a:cs typeface="Calibri"/>
              </a:rPr>
              <a:t>is </a:t>
            </a:r>
            <a:r>
              <a:rPr sz="2800" spc="-10" dirty="0">
                <a:latin typeface="Calibri"/>
                <a:cs typeface="Calibri"/>
              </a:rPr>
              <a:t>given </a:t>
            </a:r>
            <a:r>
              <a:rPr sz="2800" spc="-15" dirty="0">
                <a:latin typeface="Calibri"/>
                <a:cs typeface="Calibri"/>
              </a:rPr>
              <a:t>by</a:t>
            </a:r>
            <a:endParaRPr sz="2800">
              <a:latin typeface="Calibri"/>
              <a:cs typeface="Calibri"/>
            </a:endParaRPr>
          </a:p>
          <a:p>
            <a:pPr marL="32384" algn="ctr">
              <a:lnSpc>
                <a:spcPct val="100000"/>
              </a:lnSpc>
              <a:spcBef>
                <a:spcPts val="1335"/>
              </a:spcBef>
            </a:pPr>
            <a:r>
              <a:rPr sz="2800" spc="-5" dirty="0">
                <a:latin typeface="Cambria Math"/>
                <a:cs typeface="Cambria Math"/>
              </a:rPr>
              <a:t>𝑌</a:t>
            </a:r>
            <a:r>
              <a:rPr sz="2800" spc="229" dirty="0">
                <a:latin typeface="Cambria Math"/>
                <a:cs typeface="Cambria Math"/>
              </a:rPr>
              <a:t> </a:t>
            </a:r>
            <a:r>
              <a:rPr sz="2800" spc="-5" dirty="0">
                <a:latin typeface="Cambria Math"/>
                <a:cs typeface="Cambria Math"/>
              </a:rPr>
              <a:t>=</a:t>
            </a:r>
            <a:r>
              <a:rPr sz="2800" spc="160" dirty="0">
                <a:latin typeface="Cambria Math"/>
                <a:cs typeface="Cambria Math"/>
              </a:rPr>
              <a:t> </a:t>
            </a:r>
            <a:r>
              <a:rPr sz="2800" spc="-10" dirty="0">
                <a:latin typeface="Cambria Math"/>
                <a:cs typeface="Cambria Math"/>
              </a:rPr>
              <a:t>𝑆𝑡𝑒</a:t>
            </a:r>
            <a:r>
              <a:rPr sz="2800" spc="35" dirty="0">
                <a:latin typeface="Cambria Math"/>
                <a:cs typeface="Cambria Math"/>
              </a:rPr>
              <a:t>𝑝</a:t>
            </a:r>
            <a:r>
              <a:rPr sz="2800" dirty="0">
                <a:latin typeface="Cambria Math"/>
                <a:cs typeface="Cambria Math"/>
              </a:rPr>
              <a:t>(</a:t>
            </a:r>
            <a:r>
              <a:rPr sz="2800" spc="1720" dirty="0">
                <a:latin typeface="Cambria Math"/>
                <a:cs typeface="Cambria Math"/>
              </a:rPr>
              <a:t>∑</a:t>
            </a:r>
            <a:r>
              <a:rPr sz="2800" spc="-150" dirty="0">
                <a:latin typeface="Cambria Math"/>
                <a:cs typeface="Cambria Math"/>
              </a:rPr>
              <a:t> </a:t>
            </a:r>
            <a:r>
              <a:rPr sz="2800" spc="-105" dirty="0">
                <a:latin typeface="Cambria Math"/>
                <a:cs typeface="Cambria Math"/>
              </a:rPr>
              <a:t>𝑤</a:t>
            </a:r>
            <a:r>
              <a:rPr sz="3075" spc="600" baseline="-16260" dirty="0">
                <a:latin typeface="Cambria Math"/>
                <a:cs typeface="Cambria Math"/>
              </a:rPr>
              <a:t>𝑖</a:t>
            </a:r>
            <a:r>
              <a:rPr sz="2800" spc="-30" dirty="0">
                <a:latin typeface="Cambria Math"/>
                <a:cs typeface="Cambria Math"/>
              </a:rPr>
              <a:t>𝑥</a:t>
            </a:r>
            <a:r>
              <a:rPr sz="3075" spc="577" baseline="-16260" dirty="0">
                <a:latin typeface="Cambria Math"/>
                <a:cs typeface="Cambria Math"/>
              </a:rPr>
              <a:t>𝑖</a:t>
            </a:r>
            <a:r>
              <a:rPr sz="2800" spc="-5" dirty="0">
                <a:latin typeface="Cambria Math"/>
                <a:cs typeface="Cambria Math"/>
              </a:rPr>
              <a:t>)</a:t>
            </a:r>
            <a:endParaRPr sz="2800">
              <a:latin typeface="Cambria Math"/>
              <a:cs typeface="Cambria Math"/>
            </a:endParaRPr>
          </a:p>
          <a:p>
            <a:pPr>
              <a:lnSpc>
                <a:spcPct val="100000"/>
              </a:lnSpc>
              <a:spcBef>
                <a:spcPts val="40"/>
              </a:spcBef>
            </a:pPr>
            <a:endParaRPr sz="3100">
              <a:latin typeface="Cambria Math"/>
              <a:cs typeface="Cambria Math"/>
            </a:endParaRPr>
          </a:p>
          <a:p>
            <a:pPr marL="279400" marR="1010919" indent="-228600">
              <a:lnSpc>
                <a:spcPts val="3020"/>
              </a:lnSpc>
              <a:buFont typeface="Arial MT"/>
              <a:buChar char="•"/>
              <a:tabLst>
                <a:tab pos="279400" algn="l"/>
              </a:tabLst>
            </a:pPr>
            <a:r>
              <a:rPr sz="2800" spc="-5" dirty="0">
                <a:latin typeface="Calibri"/>
                <a:cs typeface="Calibri"/>
              </a:rPr>
              <a:t>It</a:t>
            </a:r>
            <a:r>
              <a:rPr sz="2800" spc="-15" dirty="0">
                <a:latin typeface="Calibri"/>
                <a:cs typeface="Calibri"/>
              </a:rPr>
              <a:t> </a:t>
            </a:r>
            <a:r>
              <a:rPr sz="2800" spc="-10" dirty="0">
                <a:latin typeface="Calibri"/>
                <a:cs typeface="Calibri"/>
              </a:rPr>
              <a:t>can </a:t>
            </a:r>
            <a:r>
              <a:rPr sz="2800" spc="-5" dirty="0">
                <a:latin typeface="Calibri"/>
                <a:cs typeface="Calibri"/>
              </a:rPr>
              <a:t>learn</a:t>
            </a:r>
            <a:r>
              <a:rPr sz="2800" spc="5" dirty="0">
                <a:latin typeface="Calibri"/>
                <a:cs typeface="Calibri"/>
              </a:rPr>
              <a:t> </a:t>
            </a:r>
            <a:r>
              <a:rPr sz="2800" spc="-20" dirty="0">
                <a:latin typeface="Calibri"/>
                <a:cs typeface="Calibri"/>
              </a:rPr>
              <a:t>any</a:t>
            </a:r>
            <a:r>
              <a:rPr sz="2800" spc="-5" dirty="0">
                <a:latin typeface="Calibri"/>
                <a:cs typeface="Calibri"/>
              </a:rPr>
              <a:t> linearly </a:t>
            </a:r>
            <a:r>
              <a:rPr sz="2800" dirty="0">
                <a:latin typeface="Calibri"/>
                <a:cs typeface="Calibri"/>
              </a:rPr>
              <a:t> </a:t>
            </a:r>
            <a:r>
              <a:rPr sz="2800" spc="-15" dirty="0">
                <a:latin typeface="Calibri"/>
                <a:cs typeface="Calibri"/>
              </a:rPr>
              <a:t>separable</a:t>
            </a:r>
            <a:r>
              <a:rPr sz="2800" spc="-20" dirty="0">
                <a:latin typeface="Calibri"/>
                <a:cs typeface="Calibri"/>
              </a:rPr>
              <a:t> </a:t>
            </a:r>
            <a:r>
              <a:rPr sz="2800" spc="-5" dirty="0">
                <a:latin typeface="Calibri"/>
                <a:cs typeface="Calibri"/>
              </a:rPr>
              <a:t>functions,</a:t>
            </a:r>
            <a:r>
              <a:rPr sz="2800" spc="20" dirty="0">
                <a:latin typeface="Calibri"/>
                <a:cs typeface="Calibri"/>
              </a:rPr>
              <a:t> </a:t>
            </a:r>
            <a:r>
              <a:rPr sz="2800" spc="-10" dirty="0">
                <a:latin typeface="Calibri"/>
                <a:cs typeface="Calibri"/>
              </a:rPr>
              <a:t>given </a:t>
            </a:r>
            <a:r>
              <a:rPr sz="2800" spc="-620" dirty="0">
                <a:latin typeface="Calibri"/>
                <a:cs typeface="Calibri"/>
              </a:rPr>
              <a:t> </a:t>
            </a:r>
            <a:r>
              <a:rPr sz="2800" spc="-5" dirty="0">
                <a:latin typeface="Calibri"/>
                <a:cs typeface="Calibri"/>
              </a:rPr>
              <a:t>enough</a:t>
            </a:r>
            <a:r>
              <a:rPr sz="2800" spc="15" dirty="0">
                <a:latin typeface="Calibri"/>
                <a:cs typeface="Calibri"/>
              </a:rPr>
              <a:t> </a:t>
            </a:r>
            <a:r>
              <a:rPr sz="2800" spc="-15" dirty="0">
                <a:latin typeface="Calibri"/>
                <a:cs typeface="Calibri"/>
              </a:rPr>
              <a:t>training</a:t>
            </a:r>
            <a:endParaRPr sz="280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60768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35" dirty="0"/>
              <a:t> </a:t>
            </a:r>
            <a:r>
              <a:rPr sz="4400" dirty="0"/>
              <a:t>Learning</a:t>
            </a:r>
            <a:r>
              <a:rPr sz="4400" spc="-45" dirty="0"/>
              <a:t> </a:t>
            </a:r>
            <a:r>
              <a:rPr sz="4400" spc="-5" dirty="0"/>
              <a:t>Algorithm</a:t>
            </a:r>
            <a:endParaRPr sz="4400"/>
          </a:p>
        </p:txBody>
      </p:sp>
      <p:sp>
        <p:nvSpPr>
          <p:cNvPr id="3" name="object 3"/>
          <p:cNvSpPr txBox="1">
            <a:spLocks noGrp="1"/>
          </p:cNvSpPr>
          <p:nvPr>
            <p:ph type="body" idx="1"/>
          </p:nvPr>
        </p:nvSpPr>
        <p:spPr>
          <a:prstGeom prst="rect">
            <a:avLst/>
          </a:prstGeom>
        </p:spPr>
        <p:txBody>
          <a:bodyPr vert="horz" wrap="square" lIns="0" tIns="98425" rIns="0" bIns="0" rtlCol="0">
            <a:spAutoFit/>
          </a:bodyPr>
          <a:lstStyle/>
          <a:p>
            <a:pPr marL="527685" indent="-515620">
              <a:lnSpc>
                <a:spcPct val="100000"/>
              </a:lnSpc>
              <a:spcBef>
                <a:spcPts val="775"/>
              </a:spcBef>
              <a:buAutoNum type="arabicPeriod"/>
              <a:tabLst>
                <a:tab pos="527685" algn="l"/>
                <a:tab pos="528320" algn="l"/>
              </a:tabLst>
            </a:pPr>
            <a:r>
              <a:rPr spc="-15" dirty="0"/>
              <a:t>Initialize</a:t>
            </a:r>
            <a:r>
              <a:rPr spc="-20" dirty="0"/>
              <a:t> </a:t>
            </a:r>
            <a:r>
              <a:rPr spc="-10" dirty="0"/>
              <a:t>weights</a:t>
            </a:r>
            <a:r>
              <a:rPr spc="-5" dirty="0"/>
              <a:t> and</a:t>
            </a:r>
            <a:r>
              <a:rPr dirty="0"/>
              <a:t> </a:t>
            </a:r>
            <a:r>
              <a:rPr spc="-10" dirty="0"/>
              <a:t>threshold</a:t>
            </a:r>
          </a:p>
          <a:p>
            <a:pPr marL="527685" indent="-515620">
              <a:lnSpc>
                <a:spcPct val="100000"/>
              </a:lnSpc>
              <a:spcBef>
                <a:spcPts val="675"/>
              </a:spcBef>
              <a:buAutoNum type="arabicPeriod"/>
              <a:tabLst>
                <a:tab pos="527685" algn="l"/>
                <a:tab pos="528320" algn="l"/>
              </a:tabLst>
            </a:pPr>
            <a:r>
              <a:rPr spc="-15" dirty="0"/>
              <a:t>Present</a:t>
            </a:r>
            <a:r>
              <a:rPr spc="15" dirty="0"/>
              <a:t> </a:t>
            </a:r>
            <a:r>
              <a:rPr spc="-10" dirty="0"/>
              <a:t>input</a:t>
            </a:r>
            <a:r>
              <a:rPr spc="20" dirty="0"/>
              <a:t> </a:t>
            </a:r>
            <a:r>
              <a:rPr spc="-5" dirty="0"/>
              <a:t>and</a:t>
            </a:r>
            <a:r>
              <a:rPr spc="5" dirty="0"/>
              <a:t> </a:t>
            </a:r>
            <a:r>
              <a:rPr spc="-15" dirty="0"/>
              <a:t>desired</a:t>
            </a:r>
            <a:r>
              <a:rPr spc="25" dirty="0"/>
              <a:t> </a:t>
            </a:r>
            <a:r>
              <a:rPr spc="-10" dirty="0"/>
              <a:t>output</a:t>
            </a:r>
          </a:p>
          <a:p>
            <a:pPr marL="527685" indent="-515620">
              <a:lnSpc>
                <a:spcPct val="100000"/>
              </a:lnSpc>
              <a:spcBef>
                <a:spcPts val="660"/>
              </a:spcBef>
              <a:buAutoNum type="arabicPeriod"/>
              <a:tabLst>
                <a:tab pos="527685" algn="l"/>
                <a:tab pos="528320" algn="l"/>
              </a:tabLst>
            </a:pPr>
            <a:r>
              <a:rPr spc="-15" dirty="0"/>
              <a:t>Calculate</a:t>
            </a:r>
            <a:r>
              <a:rPr spc="-10" dirty="0"/>
              <a:t> the</a:t>
            </a:r>
            <a:r>
              <a:rPr spc="-5" dirty="0"/>
              <a:t> </a:t>
            </a:r>
            <a:r>
              <a:rPr spc="-10" dirty="0"/>
              <a:t>output</a:t>
            </a:r>
            <a:r>
              <a:rPr spc="30" dirty="0"/>
              <a:t> </a:t>
            </a:r>
            <a:r>
              <a:rPr spc="-5" dirty="0"/>
              <a:t>as,</a:t>
            </a:r>
          </a:p>
        </p:txBody>
      </p:sp>
      <p:sp>
        <p:nvSpPr>
          <p:cNvPr id="4" name="object 4"/>
          <p:cNvSpPr txBox="1"/>
          <p:nvPr/>
        </p:nvSpPr>
        <p:spPr>
          <a:xfrm>
            <a:off x="6117463" y="3099638"/>
            <a:ext cx="194310" cy="337185"/>
          </a:xfrm>
          <a:prstGeom prst="rect">
            <a:avLst/>
          </a:prstGeom>
        </p:spPr>
        <p:txBody>
          <a:bodyPr vert="horz" wrap="square" lIns="0" tIns="11430" rIns="0" bIns="0" rtlCol="0">
            <a:spAutoFit/>
          </a:bodyPr>
          <a:lstStyle/>
          <a:p>
            <a:pPr marL="12700">
              <a:lnSpc>
                <a:spcPct val="100000"/>
              </a:lnSpc>
              <a:spcBef>
                <a:spcPts val="90"/>
              </a:spcBef>
            </a:pPr>
            <a:r>
              <a:rPr sz="2050" spc="260" dirty="0">
                <a:latin typeface="Cambria Math"/>
                <a:cs typeface="Cambria Math"/>
              </a:rPr>
              <a:t>𝑛</a:t>
            </a:r>
            <a:endParaRPr sz="2050">
              <a:latin typeface="Cambria Math"/>
              <a:cs typeface="Cambria Math"/>
            </a:endParaRPr>
          </a:p>
        </p:txBody>
      </p:sp>
      <p:sp>
        <p:nvSpPr>
          <p:cNvPr id="5" name="object 5"/>
          <p:cNvSpPr/>
          <p:nvPr/>
        </p:nvSpPr>
        <p:spPr>
          <a:xfrm>
            <a:off x="3725417" y="4862321"/>
            <a:ext cx="972185" cy="328930"/>
          </a:xfrm>
          <a:custGeom>
            <a:avLst/>
            <a:gdLst/>
            <a:ahLst/>
            <a:cxnLst/>
            <a:rect l="l" t="t" r="r" b="b"/>
            <a:pathLst>
              <a:path w="972185" h="328929">
                <a:moveTo>
                  <a:pt x="867029" y="0"/>
                </a:moveTo>
                <a:lnTo>
                  <a:pt x="862330" y="13334"/>
                </a:lnTo>
                <a:lnTo>
                  <a:pt x="881380" y="21597"/>
                </a:lnTo>
                <a:lnTo>
                  <a:pt x="897763" y="33051"/>
                </a:lnTo>
                <a:lnTo>
                  <a:pt x="922528" y="65531"/>
                </a:lnTo>
                <a:lnTo>
                  <a:pt x="937101" y="109219"/>
                </a:lnTo>
                <a:lnTo>
                  <a:pt x="941959" y="162813"/>
                </a:lnTo>
                <a:lnTo>
                  <a:pt x="940724" y="191845"/>
                </a:lnTo>
                <a:lnTo>
                  <a:pt x="930921" y="241859"/>
                </a:lnTo>
                <a:lnTo>
                  <a:pt x="911379" y="280965"/>
                </a:lnTo>
                <a:lnTo>
                  <a:pt x="881574" y="307306"/>
                </a:lnTo>
                <a:lnTo>
                  <a:pt x="862838" y="315594"/>
                </a:lnTo>
                <a:lnTo>
                  <a:pt x="867029" y="328929"/>
                </a:lnTo>
                <a:lnTo>
                  <a:pt x="911860" y="307895"/>
                </a:lnTo>
                <a:lnTo>
                  <a:pt x="944880" y="271525"/>
                </a:lnTo>
                <a:lnTo>
                  <a:pt x="965168" y="222678"/>
                </a:lnTo>
                <a:lnTo>
                  <a:pt x="971931" y="164591"/>
                </a:lnTo>
                <a:lnTo>
                  <a:pt x="970220" y="134417"/>
                </a:lnTo>
                <a:lnTo>
                  <a:pt x="956607" y="80974"/>
                </a:lnTo>
                <a:lnTo>
                  <a:pt x="929751" y="37468"/>
                </a:lnTo>
                <a:lnTo>
                  <a:pt x="890889" y="8616"/>
                </a:lnTo>
                <a:lnTo>
                  <a:pt x="867029" y="0"/>
                </a:lnTo>
                <a:close/>
              </a:path>
              <a:path w="972185" h="328929">
                <a:moveTo>
                  <a:pt x="104902" y="0"/>
                </a:moveTo>
                <a:lnTo>
                  <a:pt x="60118" y="21113"/>
                </a:lnTo>
                <a:lnTo>
                  <a:pt x="27051" y="57657"/>
                </a:lnTo>
                <a:lnTo>
                  <a:pt x="6762" y="106552"/>
                </a:lnTo>
                <a:lnTo>
                  <a:pt x="0" y="164591"/>
                </a:lnTo>
                <a:lnTo>
                  <a:pt x="1690" y="194784"/>
                </a:lnTo>
                <a:lnTo>
                  <a:pt x="15216" y="248263"/>
                </a:lnTo>
                <a:lnTo>
                  <a:pt x="42054" y="291621"/>
                </a:lnTo>
                <a:lnTo>
                  <a:pt x="80968" y="320335"/>
                </a:lnTo>
                <a:lnTo>
                  <a:pt x="104902" y="328929"/>
                </a:lnTo>
                <a:lnTo>
                  <a:pt x="108966" y="315594"/>
                </a:lnTo>
                <a:lnTo>
                  <a:pt x="90249" y="307306"/>
                </a:lnTo>
                <a:lnTo>
                  <a:pt x="74104" y="295767"/>
                </a:lnTo>
                <a:lnTo>
                  <a:pt x="49530" y="262889"/>
                </a:lnTo>
                <a:lnTo>
                  <a:pt x="34845" y="218185"/>
                </a:lnTo>
                <a:lnTo>
                  <a:pt x="29972" y="162813"/>
                </a:lnTo>
                <a:lnTo>
                  <a:pt x="31188" y="134790"/>
                </a:lnTo>
                <a:lnTo>
                  <a:pt x="40955" y="86125"/>
                </a:lnTo>
                <a:lnTo>
                  <a:pt x="60577" y="47696"/>
                </a:lnTo>
                <a:lnTo>
                  <a:pt x="90624" y="21597"/>
                </a:lnTo>
                <a:lnTo>
                  <a:pt x="109601" y="13334"/>
                </a:lnTo>
                <a:lnTo>
                  <a:pt x="104902" y="0"/>
                </a:lnTo>
                <a:close/>
              </a:path>
            </a:pathLst>
          </a:custGeom>
          <a:solidFill>
            <a:srgbClr val="000000"/>
          </a:solidFill>
        </p:spPr>
        <p:txBody>
          <a:bodyPr wrap="square" lIns="0" tIns="0" rIns="0" bIns="0" rtlCol="0"/>
          <a:lstStyle/>
          <a:p>
            <a:endParaRPr/>
          </a:p>
        </p:txBody>
      </p:sp>
      <p:sp>
        <p:nvSpPr>
          <p:cNvPr id="6" name="object 6"/>
          <p:cNvSpPr/>
          <p:nvPr/>
        </p:nvSpPr>
        <p:spPr>
          <a:xfrm>
            <a:off x="5589270" y="4862321"/>
            <a:ext cx="381000" cy="328930"/>
          </a:xfrm>
          <a:custGeom>
            <a:avLst/>
            <a:gdLst/>
            <a:ahLst/>
            <a:cxnLst/>
            <a:rect l="l" t="t" r="r" b="b"/>
            <a:pathLst>
              <a:path w="381000" h="328929">
                <a:moveTo>
                  <a:pt x="275716" y="0"/>
                </a:moveTo>
                <a:lnTo>
                  <a:pt x="271017" y="13334"/>
                </a:lnTo>
                <a:lnTo>
                  <a:pt x="290067" y="21597"/>
                </a:lnTo>
                <a:lnTo>
                  <a:pt x="306450" y="33051"/>
                </a:lnTo>
                <a:lnTo>
                  <a:pt x="331215" y="65531"/>
                </a:lnTo>
                <a:lnTo>
                  <a:pt x="345789" y="109219"/>
                </a:lnTo>
                <a:lnTo>
                  <a:pt x="350646" y="162813"/>
                </a:lnTo>
                <a:lnTo>
                  <a:pt x="349412" y="191845"/>
                </a:lnTo>
                <a:lnTo>
                  <a:pt x="339609" y="241859"/>
                </a:lnTo>
                <a:lnTo>
                  <a:pt x="320067" y="280965"/>
                </a:lnTo>
                <a:lnTo>
                  <a:pt x="290262" y="307306"/>
                </a:lnTo>
                <a:lnTo>
                  <a:pt x="271525" y="315594"/>
                </a:lnTo>
                <a:lnTo>
                  <a:pt x="275716" y="328929"/>
                </a:lnTo>
                <a:lnTo>
                  <a:pt x="320547" y="307895"/>
                </a:lnTo>
                <a:lnTo>
                  <a:pt x="353567" y="271525"/>
                </a:lnTo>
                <a:lnTo>
                  <a:pt x="373856" y="222678"/>
                </a:lnTo>
                <a:lnTo>
                  <a:pt x="380618" y="164591"/>
                </a:lnTo>
                <a:lnTo>
                  <a:pt x="378908" y="134417"/>
                </a:lnTo>
                <a:lnTo>
                  <a:pt x="365295" y="80974"/>
                </a:lnTo>
                <a:lnTo>
                  <a:pt x="338439" y="37468"/>
                </a:lnTo>
                <a:lnTo>
                  <a:pt x="299577" y="8616"/>
                </a:lnTo>
                <a:lnTo>
                  <a:pt x="275716" y="0"/>
                </a:lnTo>
                <a:close/>
              </a:path>
              <a:path w="381000" h="328929">
                <a:moveTo>
                  <a:pt x="104901" y="0"/>
                </a:moveTo>
                <a:lnTo>
                  <a:pt x="60118" y="21113"/>
                </a:lnTo>
                <a:lnTo>
                  <a:pt x="27050" y="57657"/>
                </a:lnTo>
                <a:lnTo>
                  <a:pt x="6762" y="106552"/>
                </a:lnTo>
                <a:lnTo>
                  <a:pt x="0" y="164591"/>
                </a:lnTo>
                <a:lnTo>
                  <a:pt x="1690" y="194784"/>
                </a:lnTo>
                <a:lnTo>
                  <a:pt x="15216" y="248263"/>
                </a:lnTo>
                <a:lnTo>
                  <a:pt x="42054" y="291621"/>
                </a:lnTo>
                <a:lnTo>
                  <a:pt x="80968" y="320335"/>
                </a:lnTo>
                <a:lnTo>
                  <a:pt x="104901" y="328929"/>
                </a:lnTo>
                <a:lnTo>
                  <a:pt x="108965" y="315594"/>
                </a:lnTo>
                <a:lnTo>
                  <a:pt x="90249" y="307306"/>
                </a:lnTo>
                <a:lnTo>
                  <a:pt x="74104" y="295767"/>
                </a:lnTo>
                <a:lnTo>
                  <a:pt x="49529" y="262889"/>
                </a:lnTo>
                <a:lnTo>
                  <a:pt x="34845" y="218185"/>
                </a:lnTo>
                <a:lnTo>
                  <a:pt x="29971" y="162813"/>
                </a:lnTo>
                <a:lnTo>
                  <a:pt x="31188" y="134790"/>
                </a:lnTo>
                <a:lnTo>
                  <a:pt x="40955" y="86125"/>
                </a:lnTo>
                <a:lnTo>
                  <a:pt x="60577" y="47696"/>
                </a:lnTo>
                <a:lnTo>
                  <a:pt x="90624" y="21597"/>
                </a:lnTo>
                <a:lnTo>
                  <a:pt x="109600" y="13334"/>
                </a:lnTo>
                <a:lnTo>
                  <a:pt x="104901" y="0"/>
                </a:lnTo>
                <a:close/>
              </a:path>
            </a:pathLst>
          </a:custGeom>
          <a:solidFill>
            <a:srgbClr val="000000"/>
          </a:solidFill>
        </p:spPr>
        <p:txBody>
          <a:bodyPr wrap="square" lIns="0" tIns="0" rIns="0" bIns="0" rtlCol="0"/>
          <a:lstStyle/>
          <a:p>
            <a:endParaRPr/>
          </a:p>
        </p:txBody>
      </p:sp>
      <p:sp>
        <p:nvSpPr>
          <p:cNvPr id="7" name="object 7"/>
          <p:cNvSpPr/>
          <p:nvPr/>
        </p:nvSpPr>
        <p:spPr>
          <a:xfrm>
            <a:off x="6677406" y="4862321"/>
            <a:ext cx="1280160" cy="328930"/>
          </a:xfrm>
          <a:custGeom>
            <a:avLst/>
            <a:gdLst/>
            <a:ahLst/>
            <a:cxnLst/>
            <a:rect l="l" t="t" r="r" b="b"/>
            <a:pathLst>
              <a:path w="1280159" h="328929">
                <a:moveTo>
                  <a:pt x="1174877" y="0"/>
                </a:moveTo>
                <a:lnTo>
                  <a:pt x="1170177" y="13334"/>
                </a:lnTo>
                <a:lnTo>
                  <a:pt x="1189227" y="21597"/>
                </a:lnTo>
                <a:lnTo>
                  <a:pt x="1205610" y="33051"/>
                </a:lnTo>
                <a:lnTo>
                  <a:pt x="1230376" y="65531"/>
                </a:lnTo>
                <a:lnTo>
                  <a:pt x="1244949" y="109219"/>
                </a:lnTo>
                <a:lnTo>
                  <a:pt x="1249807" y="162813"/>
                </a:lnTo>
                <a:lnTo>
                  <a:pt x="1248572" y="191845"/>
                </a:lnTo>
                <a:lnTo>
                  <a:pt x="1238769" y="241859"/>
                </a:lnTo>
                <a:lnTo>
                  <a:pt x="1219227" y="280965"/>
                </a:lnTo>
                <a:lnTo>
                  <a:pt x="1189422" y="307306"/>
                </a:lnTo>
                <a:lnTo>
                  <a:pt x="1170686" y="315594"/>
                </a:lnTo>
                <a:lnTo>
                  <a:pt x="1174877" y="328929"/>
                </a:lnTo>
                <a:lnTo>
                  <a:pt x="1219708" y="307895"/>
                </a:lnTo>
                <a:lnTo>
                  <a:pt x="1252727" y="271525"/>
                </a:lnTo>
                <a:lnTo>
                  <a:pt x="1273016" y="222678"/>
                </a:lnTo>
                <a:lnTo>
                  <a:pt x="1279778" y="164591"/>
                </a:lnTo>
                <a:lnTo>
                  <a:pt x="1278068" y="134417"/>
                </a:lnTo>
                <a:lnTo>
                  <a:pt x="1264455" y="80974"/>
                </a:lnTo>
                <a:lnTo>
                  <a:pt x="1237599" y="37468"/>
                </a:lnTo>
                <a:lnTo>
                  <a:pt x="1198737" y="8616"/>
                </a:lnTo>
                <a:lnTo>
                  <a:pt x="1174877" y="0"/>
                </a:lnTo>
                <a:close/>
              </a:path>
              <a:path w="1280159" h="328929">
                <a:moveTo>
                  <a:pt x="104901" y="0"/>
                </a:moveTo>
                <a:lnTo>
                  <a:pt x="60118" y="21113"/>
                </a:lnTo>
                <a:lnTo>
                  <a:pt x="27050" y="57657"/>
                </a:lnTo>
                <a:lnTo>
                  <a:pt x="6762" y="106552"/>
                </a:lnTo>
                <a:lnTo>
                  <a:pt x="0" y="164591"/>
                </a:lnTo>
                <a:lnTo>
                  <a:pt x="1690" y="194784"/>
                </a:lnTo>
                <a:lnTo>
                  <a:pt x="15216" y="248263"/>
                </a:lnTo>
                <a:lnTo>
                  <a:pt x="42054" y="291621"/>
                </a:lnTo>
                <a:lnTo>
                  <a:pt x="80968" y="320335"/>
                </a:lnTo>
                <a:lnTo>
                  <a:pt x="104901" y="328929"/>
                </a:lnTo>
                <a:lnTo>
                  <a:pt x="108966" y="315594"/>
                </a:lnTo>
                <a:lnTo>
                  <a:pt x="90249" y="307306"/>
                </a:lnTo>
                <a:lnTo>
                  <a:pt x="74104" y="295767"/>
                </a:lnTo>
                <a:lnTo>
                  <a:pt x="49529" y="262889"/>
                </a:lnTo>
                <a:lnTo>
                  <a:pt x="34845" y="218185"/>
                </a:lnTo>
                <a:lnTo>
                  <a:pt x="29972" y="162813"/>
                </a:lnTo>
                <a:lnTo>
                  <a:pt x="31188" y="134790"/>
                </a:lnTo>
                <a:lnTo>
                  <a:pt x="40955" y="86125"/>
                </a:lnTo>
                <a:lnTo>
                  <a:pt x="60577" y="47696"/>
                </a:lnTo>
                <a:lnTo>
                  <a:pt x="90624" y="21597"/>
                </a:lnTo>
                <a:lnTo>
                  <a:pt x="109600" y="13334"/>
                </a:lnTo>
                <a:lnTo>
                  <a:pt x="104901" y="0"/>
                </a:lnTo>
                <a:close/>
              </a:path>
            </a:pathLst>
          </a:custGeom>
          <a:solidFill>
            <a:srgbClr val="000000"/>
          </a:solidFill>
        </p:spPr>
        <p:txBody>
          <a:bodyPr wrap="square" lIns="0" tIns="0" rIns="0" bIns="0" rtlCol="0"/>
          <a:lstStyle/>
          <a:p>
            <a:endParaRPr/>
          </a:p>
        </p:txBody>
      </p:sp>
      <p:sp>
        <p:nvSpPr>
          <p:cNvPr id="8" name="object 8"/>
          <p:cNvSpPr txBox="1"/>
          <p:nvPr/>
        </p:nvSpPr>
        <p:spPr>
          <a:xfrm>
            <a:off x="878839" y="3365075"/>
            <a:ext cx="10295255" cy="2743200"/>
          </a:xfrm>
          <a:prstGeom prst="rect">
            <a:avLst/>
          </a:prstGeom>
        </p:spPr>
        <p:txBody>
          <a:bodyPr vert="horz" wrap="square" lIns="0" tIns="179705" rIns="0" bIns="0" rtlCol="0">
            <a:spAutoFit/>
          </a:bodyPr>
          <a:lstStyle/>
          <a:p>
            <a:pPr marL="128270" algn="ctr">
              <a:lnSpc>
                <a:spcPct val="100000"/>
              </a:lnSpc>
              <a:spcBef>
                <a:spcPts val="1415"/>
              </a:spcBef>
            </a:pPr>
            <a:r>
              <a:rPr sz="2800" spc="-5" dirty="0">
                <a:latin typeface="Cambria Math"/>
                <a:cs typeface="Cambria Math"/>
              </a:rPr>
              <a:t>𝑂𝑢𝑡𝑝𝑢𝑡</a:t>
            </a:r>
            <a:r>
              <a:rPr sz="2800" spc="225" dirty="0">
                <a:latin typeface="Cambria Math"/>
                <a:cs typeface="Cambria Math"/>
              </a:rPr>
              <a:t> </a:t>
            </a:r>
            <a:r>
              <a:rPr sz="2800" spc="-5" dirty="0">
                <a:latin typeface="Cambria Math"/>
                <a:cs typeface="Cambria Math"/>
              </a:rPr>
              <a:t>=</a:t>
            </a:r>
            <a:r>
              <a:rPr sz="2800" spc="135" dirty="0">
                <a:latin typeface="Cambria Math"/>
                <a:cs typeface="Cambria Math"/>
              </a:rPr>
              <a:t> </a:t>
            </a:r>
            <a:r>
              <a:rPr sz="2800" spc="1720" dirty="0">
                <a:latin typeface="Cambria Math"/>
                <a:cs typeface="Cambria Math"/>
              </a:rPr>
              <a:t>∑</a:t>
            </a:r>
            <a:r>
              <a:rPr sz="2800" spc="-145" dirty="0">
                <a:latin typeface="Cambria Math"/>
                <a:cs typeface="Cambria Math"/>
              </a:rPr>
              <a:t> </a:t>
            </a:r>
            <a:r>
              <a:rPr sz="2800" spc="45" dirty="0">
                <a:latin typeface="Cambria Math"/>
                <a:cs typeface="Cambria Math"/>
              </a:rPr>
              <a:t>𝑤</a:t>
            </a:r>
            <a:r>
              <a:rPr sz="3075" spc="67" baseline="-16260" dirty="0">
                <a:latin typeface="Cambria Math"/>
                <a:cs typeface="Cambria Math"/>
              </a:rPr>
              <a:t>𝑖</a:t>
            </a:r>
            <a:r>
              <a:rPr sz="2800" spc="45" dirty="0">
                <a:latin typeface="Cambria Math"/>
                <a:cs typeface="Cambria Math"/>
              </a:rPr>
              <a:t>𝑥</a:t>
            </a:r>
            <a:r>
              <a:rPr sz="3075" spc="67" baseline="-16260" dirty="0">
                <a:latin typeface="Cambria Math"/>
                <a:cs typeface="Cambria Math"/>
              </a:rPr>
              <a:t>𝑖</a:t>
            </a:r>
            <a:r>
              <a:rPr sz="3075" spc="494" baseline="-16260" dirty="0">
                <a:latin typeface="Cambria Math"/>
                <a:cs typeface="Cambria Math"/>
              </a:rPr>
              <a:t> </a:t>
            </a:r>
            <a:r>
              <a:rPr sz="2800" spc="-5" dirty="0">
                <a:latin typeface="Cambria Math"/>
                <a:cs typeface="Cambria Math"/>
              </a:rPr>
              <a:t>− 𝜃</a:t>
            </a:r>
            <a:endParaRPr sz="2800">
              <a:latin typeface="Cambria Math"/>
              <a:cs typeface="Cambria Math"/>
            </a:endParaRPr>
          </a:p>
          <a:p>
            <a:pPr marL="378460" algn="ctr">
              <a:lnSpc>
                <a:spcPts val="2390"/>
              </a:lnSpc>
              <a:spcBef>
                <a:spcPts val="955"/>
              </a:spcBef>
            </a:pPr>
            <a:r>
              <a:rPr sz="2050" spc="45" dirty="0">
                <a:latin typeface="Cambria Math"/>
                <a:cs typeface="Cambria Math"/>
              </a:rPr>
              <a:t>𝑖=1</a:t>
            </a:r>
            <a:endParaRPr sz="2050">
              <a:latin typeface="Cambria Math"/>
              <a:cs typeface="Cambria Math"/>
            </a:endParaRPr>
          </a:p>
          <a:p>
            <a:pPr marL="50800">
              <a:lnSpc>
                <a:spcPts val="3130"/>
              </a:lnSpc>
              <a:tabLst>
                <a:tab pos="565785" algn="l"/>
              </a:tabLst>
            </a:pPr>
            <a:r>
              <a:rPr sz="2800" spc="-5" dirty="0">
                <a:latin typeface="Calibri"/>
                <a:cs typeface="Calibri"/>
              </a:rPr>
              <a:t>4.	Adapt</a:t>
            </a:r>
            <a:r>
              <a:rPr sz="2800" dirty="0">
                <a:latin typeface="Calibri"/>
                <a:cs typeface="Calibri"/>
              </a:rPr>
              <a:t> </a:t>
            </a:r>
            <a:r>
              <a:rPr sz="2800" spc="-15" dirty="0">
                <a:latin typeface="Calibri"/>
                <a:cs typeface="Calibri"/>
              </a:rPr>
              <a:t>weight</a:t>
            </a:r>
            <a:r>
              <a:rPr sz="2800" spc="-20" dirty="0">
                <a:latin typeface="Calibri"/>
                <a:cs typeface="Calibri"/>
              </a:rPr>
              <a:t> </a:t>
            </a:r>
            <a:r>
              <a:rPr sz="2800" spc="-5" dirty="0">
                <a:latin typeface="Calibri"/>
                <a:cs typeface="Calibri"/>
              </a:rPr>
              <a:t>as,</a:t>
            </a:r>
            <a:endParaRPr sz="2800">
              <a:latin typeface="Calibri"/>
              <a:cs typeface="Calibri"/>
            </a:endParaRPr>
          </a:p>
          <a:p>
            <a:pPr marL="137795" algn="ctr">
              <a:lnSpc>
                <a:spcPts val="3200"/>
              </a:lnSpc>
              <a:tabLst>
                <a:tab pos="652145" algn="l"/>
                <a:tab pos="1638300" algn="l"/>
                <a:tab pos="2514600" algn="l"/>
                <a:tab pos="2887980" algn="l"/>
                <a:tab pos="3604260" algn="l"/>
                <a:tab pos="4797425" algn="l"/>
              </a:tabLst>
            </a:pPr>
            <a:r>
              <a:rPr sz="2800" spc="-105" dirty="0">
                <a:latin typeface="Cambria Math"/>
                <a:cs typeface="Cambria Math"/>
              </a:rPr>
              <a:t>𝑤</a:t>
            </a:r>
            <a:r>
              <a:rPr sz="3075" spc="307" baseline="-16260" dirty="0">
                <a:latin typeface="Cambria Math"/>
                <a:cs typeface="Cambria Math"/>
              </a:rPr>
              <a:t>𝑖</a:t>
            </a:r>
            <a:r>
              <a:rPr sz="3075" baseline="-16260" dirty="0">
                <a:latin typeface="Cambria Math"/>
                <a:cs typeface="Cambria Math"/>
              </a:rPr>
              <a:t>	</a:t>
            </a:r>
            <a:r>
              <a:rPr sz="2800" spc="-5" dirty="0">
                <a:latin typeface="Cambria Math"/>
                <a:cs typeface="Cambria Math"/>
              </a:rPr>
              <a:t>t +</a:t>
            </a:r>
            <a:r>
              <a:rPr sz="2800" spc="5" dirty="0">
                <a:latin typeface="Cambria Math"/>
                <a:cs typeface="Cambria Math"/>
              </a:rPr>
              <a:t> </a:t>
            </a:r>
            <a:r>
              <a:rPr sz="2800" spc="-5" dirty="0">
                <a:latin typeface="Cambria Math"/>
                <a:cs typeface="Cambria Math"/>
              </a:rPr>
              <a:t>1</a:t>
            </a:r>
            <a:r>
              <a:rPr sz="2800" dirty="0">
                <a:latin typeface="Cambria Math"/>
                <a:cs typeface="Cambria Math"/>
              </a:rPr>
              <a:t>	</a:t>
            </a:r>
            <a:r>
              <a:rPr sz="2800" spc="-5" dirty="0">
                <a:latin typeface="Cambria Math"/>
                <a:cs typeface="Cambria Math"/>
              </a:rPr>
              <a:t>=</a:t>
            </a:r>
            <a:r>
              <a:rPr sz="2800" spc="160" dirty="0">
                <a:latin typeface="Cambria Math"/>
                <a:cs typeface="Cambria Math"/>
              </a:rPr>
              <a:t> </a:t>
            </a:r>
            <a:r>
              <a:rPr sz="2800" spc="-105" dirty="0">
                <a:latin typeface="Cambria Math"/>
                <a:cs typeface="Cambria Math"/>
              </a:rPr>
              <a:t>𝑤</a:t>
            </a:r>
            <a:r>
              <a:rPr sz="3075" spc="307" baseline="-16260" dirty="0">
                <a:latin typeface="Cambria Math"/>
                <a:cs typeface="Cambria Math"/>
              </a:rPr>
              <a:t>𝑖</a:t>
            </a:r>
            <a:r>
              <a:rPr sz="3075" baseline="-16260" dirty="0">
                <a:latin typeface="Cambria Math"/>
                <a:cs typeface="Cambria Math"/>
              </a:rPr>
              <a:t>	</a:t>
            </a:r>
            <a:r>
              <a:rPr sz="2800" spc="-5" dirty="0">
                <a:latin typeface="Cambria Math"/>
                <a:cs typeface="Cambria Math"/>
              </a:rPr>
              <a:t>𝑡</a:t>
            </a:r>
            <a:r>
              <a:rPr sz="2800" dirty="0">
                <a:latin typeface="Cambria Math"/>
                <a:cs typeface="Cambria Math"/>
              </a:rPr>
              <a:t>	</a:t>
            </a:r>
            <a:r>
              <a:rPr sz="2800" spc="-5" dirty="0">
                <a:latin typeface="Cambria Math"/>
                <a:cs typeface="Cambria Math"/>
              </a:rPr>
              <a:t>+</a:t>
            </a:r>
            <a:r>
              <a:rPr sz="2800" spc="5" dirty="0">
                <a:latin typeface="Cambria Math"/>
                <a:cs typeface="Cambria Math"/>
              </a:rPr>
              <a:t> </a:t>
            </a:r>
            <a:r>
              <a:rPr sz="2800" spc="-5" dirty="0">
                <a:latin typeface="Cambria Math"/>
                <a:cs typeface="Cambria Math"/>
              </a:rPr>
              <a:t>𝛼</a:t>
            </a:r>
            <a:r>
              <a:rPr sz="2800" dirty="0">
                <a:latin typeface="Cambria Math"/>
                <a:cs typeface="Cambria Math"/>
              </a:rPr>
              <a:t>	</a:t>
            </a:r>
            <a:r>
              <a:rPr sz="2800" spc="-10" dirty="0">
                <a:latin typeface="Cambria Math"/>
                <a:cs typeface="Cambria Math"/>
              </a:rPr>
              <a:t>𝑑</a:t>
            </a:r>
            <a:r>
              <a:rPr sz="3075" spc="307" baseline="-16260" dirty="0">
                <a:latin typeface="Cambria Math"/>
                <a:cs typeface="Cambria Math"/>
              </a:rPr>
              <a:t>𝑖</a:t>
            </a:r>
            <a:r>
              <a:rPr sz="3075" baseline="-16260" dirty="0">
                <a:latin typeface="Cambria Math"/>
                <a:cs typeface="Cambria Math"/>
              </a:rPr>
              <a:t> </a:t>
            </a:r>
            <a:r>
              <a:rPr sz="3075" spc="-142" baseline="-16260" dirty="0">
                <a:latin typeface="Cambria Math"/>
                <a:cs typeface="Cambria Math"/>
              </a:rPr>
              <a:t> </a:t>
            </a:r>
            <a:r>
              <a:rPr sz="2800" spc="-5" dirty="0">
                <a:latin typeface="Cambria Math"/>
                <a:cs typeface="Cambria Math"/>
              </a:rPr>
              <a:t>−</a:t>
            </a:r>
            <a:r>
              <a:rPr sz="2800" spc="5" dirty="0">
                <a:latin typeface="Cambria Math"/>
                <a:cs typeface="Cambria Math"/>
              </a:rPr>
              <a:t> </a:t>
            </a:r>
            <a:r>
              <a:rPr sz="2800" spc="-95" dirty="0">
                <a:latin typeface="Cambria Math"/>
                <a:cs typeface="Cambria Math"/>
              </a:rPr>
              <a:t>𝑦</a:t>
            </a:r>
            <a:r>
              <a:rPr sz="3075" spc="307" baseline="-16260" dirty="0">
                <a:latin typeface="Cambria Math"/>
                <a:cs typeface="Cambria Math"/>
              </a:rPr>
              <a:t>𝑖</a:t>
            </a:r>
            <a:r>
              <a:rPr sz="3075" baseline="-16260" dirty="0">
                <a:latin typeface="Cambria Math"/>
                <a:cs typeface="Cambria Math"/>
              </a:rPr>
              <a:t>	</a:t>
            </a:r>
            <a:r>
              <a:rPr sz="2800" spc="-5" dirty="0">
                <a:latin typeface="Cambria Math"/>
                <a:cs typeface="Cambria Math"/>
              </a:rPr>
              <a:t>.</a:t>
            </a:r>
            <a:r>
              <a:rPr sz="2800" spc="-160" dirty="0">
                <a:latin typeface="Cambria Math"/>
                <a:cs typeface="Cambria Math"/>
              </a:rPr>
              <a:t> </a:t>
            </a:r>
            <a:r>
              <a:rPr sz="2800" spc="-30" dirty="0">
                <a:latin typeface="Cambria Math"/>
                <a:cs typeface="Cambria Math"/>
              </a:rPr>
              <a:t>𝑥</a:t>
            </a:r>
            <a:r>
              <a:rPr sz="3075" spc="600" baseline="-16260" dirty="0">
                <a:latin typeface="Cambria Math"/>
                <a:cs typeface="Cambria Math"/>
              </a:rPr>
              <a:t>𝑖</a:t>
            </a:r>
            <a:r>
              <a:rPr sz="2800" spc="-5" dirty="0">
                <a:latin typeface="Cambria Math"/>
                <a:cs typeface="Cambria Math"/>
              </a:rPr>
              <a:t>(</a:t>
            </a:r>
            <a:r>
              <a:rPr sz="2800" spc="40" dirty="0">
                <a:latin typeface="Cambria Math"/>
                <a:cs typeface="Cambria Math"/>
              </a:rPr>
              <a:t>𝑡</a:t>
            </a:r>
            <a:r>
              <a:rPr sz="2800" spc="-5" dirty="0">
                <a:latin typeface="Cambria Math"/>
                <a:cs typeface="Cambria Math"/>
              </a:rPr>
              <a:t>)</a:t>
            </a:r>
            <a:endParaRPr sz="2800">
              <a:latin typeface="Cambria Math"/>
              <a:cs typeface="Cambria Math"/>
            </a:endParaRPr>
          </a:p>
          <a:p>
            <a:pPr marL="50800" marR="43180">
              <a:lnSpc>
                <a:spcPts val="3020"/>
              </a:lnSpc>
              <a:spcBef>
                <a:spcPts val="1045"/>
              </a:spcBef>
            </a:pPr>
            <a:r>
              <a:rPr sz="2800" spc="-15" dirty="0">
                <a:latin typeface="Calibri"/>
                <a:cs typeface="Calibri"/>
              </a:rPr>
              <a:t>Where </a:t>
            </a:r>
            <a:r>
              <a:rPr sz="2800" spc="-5" dirty="0">
                <a:latin typeface="Calibri"/>
                <a:cs typeface="Calibri"/>
              </a:rPr>
              <a:t>α is learning </a:t>
            </a:r>
            <a:r>
              <a:rPr sz="2800" spc="-25" dirty="0">
                <a:latin typeface="Calibri"/>
                <a:cs typeface="Calibri"/>
              </a:rPr>
              <a:t>rate, </a:t>
            </a:r>
            <a:r>
              <a:rPr sz="2800" spc="-5" dirty="0">
                <a:latin typeface="Calibri"/>
                <a:cs typeface="Calibri"/>
              </a:rPr>
              <a:t>d</a:t>
            </a:r>
            <a:r>
              <a:rPr sz="2775" spc="-7" baseline="-21021" dirty="0">
                <a:latin typeface="Calibri"/>
                <a:cs typeface="Calibri"/>
              </a:rPr>
              <a:t>i</a:t>
            </a:r>
            <a:r>
              <a:rPr sz="2775" baseline="-21021" dirty="0">
                <a:latin typeface="Calibri"/>
                <a:cs typeface="Calibri"/>
              </a:rPr>
              <a:t> </a:t>
            </a:r>
            <a:r>
              <a:rPr sz="2800" spc="-5" dirty="0">
                <a:latin typeface="Calibri"/>
                <a:cs typeface="Calibri"/>
              </a:rPr>
              <a:t>is </a:t>
            </a:r>
            <a:r>
              <a:rPr sz="2800" spc="-15" dirty="0">
                <a:latin typeface="Calibri"/>
                <a:cs typeface="Calibri"/>
              </a:rPr>
              <a:t>desired </a:t>
            </a:r>
            <a:r>
              <a:rPr sz="2800" spc="-10" dirty="0">
                <a:latin typeface="Calibri"/>
                <a:cs typeface="Calibri"/>
              </a:rPr>
              <a:t>output, </a:t>
            </a:r>
            <a:r>
              <a:rPr sz="2800" spc="-5" dirty="0">
                <a:latin typeface="Calibri"/>
                <a:cs typeface="Calibri"/>
              </a:rPr>
              <a:t>y</a:t>
            </a:r>
            <a:r>
              <a:rPr sz="2775" spc="-7" baseline="-21021" dirty="0">
                <a:latin typeface="Calibri"/>
                <a:cs typeface="Calibri"/>
              </a:rPr>
              <a:t>i</a:t>
            </a:r>
            <a:r>
              <a:rPr sz="2775" baseline="-21021" dirty="0">
                <a:latin typeface="Calibri"/>
                <a:cs typeface="Calibri"/>
              </a:rPr>
              <a:t> </a:t>
            </a:r>
            <a:r>
              <a:rPr sz="2800" spc="-5" dirty="0">
                <a:latin typeface="Calibri"/>
                <a:cs typeface="Calibri"/>
              </a:rPr>
              <a:t>is </a:t>
            </a:r>
            <a:r>
              <a:rPr sz="2800" spc="-10" dirty="0">
                <a:latin typeface="Calibri"/>
                <a:cs typeface="Calibri"/>
              </a:rPr>
              <a:t>observed output </a:t>
            </a:r>
            <a:r>
              <a:rPr sz="2800" spc="-5" dirty="0">
                <a:latin typeface="Calibri"/>
                <a:cs typeface="Calibri"/>
              </a:rPr>
              <a:t>and </a:t>
            </a:r>
            <a:r>
              <a:rPr sz="2800" spc="-620" dirty="0">
                <a:latin typeface="Calibri"/>
                <a:cs typeface="Calibri"/>
              </a:rPr>
              <a:t> </a:t>
            </a:r>
            <a:r>
              <a:rPr sz="2800" dirty="0">
                <a:latin typeface="Calibri"/>
                <a:cs typeface="Calibri"/>
              </a:rPr>
              <a:t>x</a:t>
            </a:r>
            <a:r>
              <a:rPr sz="2775" baseline="-21021" dirty="0">
                <a:latin typeface="Calibri"/>
                <a:cs typeface="Calibri"/>
              </a:rPr>
              <a:t>i</a:t>
            </a:r>
            <a:r>
              <a:rPr sz="2775" spc="322" baseline="-21021"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input</a:t>
            </a:r>
            <a:r>
              <a:rPr sz="2800" spc="45" dirty="0">
                <a:latin typeface="Calibri"/>
                <a:cs typeface="Calibri"/>
              </a:rPr>
              <a:t> </a:t>
            </a:r>
            <a:r>
              <a:rPr sz="2800" spc="-5" dirty="0">
                <a:latin typeface="Calibri"/>
                <a:cs typeface="Calibri"/>
              </a:rPr>
              <a:t>and</a:t>
            </a:r>
            <a:r>
              <a:rPr sz="2800" spc="5" dirty="0">
                <a:latin typeface="Calibri"/>
                <a:cs typeface="Calibri"/>
              </a:rPr>
              <a:t> </a:t>
            </a:r>
            <a:r>
              <a:rPr sz="2800" spc="-5" dirty="0">
                <a:latin typeface="Calibri"/>
                <a:cs typeface="Calibri"/>
              </a:rPr>
              <a:t>d</a:t>
            </a:r>
            <a:r>
              <a:rPr sz="2775" spc="-7" baseline="-21021" dirty="0">
                <a:latin typeface="Calibri"/>
                <a:cs typeface="Calibri"/>
              </a:rPr>
              <a:t>i</a:t>
            </a:r>
            <a:r>
              <a:rPr sz="2800" spc="-5" dirty="0">
                <a:latin typeface="Calibri"/>
                <a:cs typeface="Calibri"/>
              </a:rPr>
              <a:t>=e</a:t>
            </a:r>
            <a:r>
              <a:rPr sz="2775" spc="-7" baseline="-21021" dirty="0">
                <a:latin typeface="Calibri"/>
                <a:cs typeface="Calibri"/>
              </a:rPr>
              <a:t>i</a:t>
            </a:r>
            <a:r>
              <a:rPr sz="2800" spc="-5" dirty="0">
                <a:latin typeface="Calibri"/>
                <a:cs typeface="Calibri"/>
              </a:rPr>
              <a:t>(t)</a:t>
            </a:r>
            <a:endParaRPr sz="28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27113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20" dirty="0"/>
              <a:t> </a:t>
            </a:r>
            <a:r>
              <a:rPr sz="4400" spc="-5" dirty="0"/>
              <a:t>Hebbian</a:t>
            </a:r>
            <a:r>
              <a:rPr sz="4400" spc="-10" dirty="0"/>
              <a:t> </a:t>
            </a:r>
            <a:r>
              <a:rPr sz="4400" dirty="0"/>
              <a:t>Learning</a:t>
            </a:r>
            <a:endParaRPr sz="4400"/>
          </a:p>
        </p:txBody>
      </p:sp>
      <p:sp>
        <p:nvSpPr>
          <p:cNvPr id="3" name="object 3"/>
          <p:cNvSpPr txBox="1"/>
          <p:nvPr/>
        </p:nvSpPr>
        <p:spPr>
          <a:xfrm>
            <a:off x="916939" y="1793189"/>
            <a:ext cx="9558655" cy="2753995"/>
          </a:xfrm>
          <a:prstGeom prst="rect">
            <a:avLst/>
          </a:prstGeom>
        </p:spPr>
        <p:txBody>
          <a:bodyPr vert="horz" wrap="square" lIns="0" tIns="60325" rIns="0" bIns="0" rtlCol="0">
            <a:spAutoFit/>
          </a:bodyPr>
          <a:lstStyle/>
          <a:p>
            <a:pPr marL="241300" marR="1105535" indent="-228600">
              <a:lnSpc>
                <a:spcPts val="3030"/>
              </a:lnSpc>
              <a:spcBef>
                <a:spcPts val="475"/>
              </a:spcBef>
              <a:buFont typeface="Arial MT"/>
              <a:buChar char="•"/>
              <a:tabLst>
                <a:tab pos="241300" algn="l"/>
              </a:tabLst>
            </a:pPr>
            <a:r>
              <a:rPr sz="2800" spc="-5" dirty="0">
                <a:latin typeface="Calibri"/>
                <a:cs typeface="Calibri"/>
              </a:rPr>
              <a:t>The</a:t>
            </a:r>
            <a:r>
              <a:rPr sz="2800" spc="5" dirty="0">
                <a:latin typeface="Calibri"/>
                <a:cs typeface="Calibri"/>
              </a:rPr>
              <a:t> </a:t>
            </a:r>
            <a:r>
              <a:rPr sz="2800" spc="-15" dirty="0">
                <a:latin typeface="Calibri"/>
                <a:cs typeface="Calibri"/>
              </a:rPr>
              <a:t>operation</a:t>
            </a:r>
            <a:r>
              <a:rPr sz="2800" spc="2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a</a:t>
            </a:r>
            <a:r>
              <a:rPr sz="2800" dirty="0">
                <a:latin typeface="Calibri"/>
                <a:cs typeface="Calibri"/>
              </a:rPr>
              <a:t> </a:t>
            </a:r>
            <a:r>
              <a:rPr sz="2800" spc="-5" dirty="0">
                <a:latin typeface="Calibri"/>
                <a:cs typeface="Calibri"/>
              </a:rPr>
              <a:t>NN</a:t>
            </a:r>
            <a:r>
              <a:rPr sz="2800" spc="15"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determined</a:t>
            </a:r>
            <a:r>
              <a:rPr sz="2800" spc="30" dirty="0">
                <a:latin typeface="Calibri"/>
                <a:cs typeface="Calibri"/>
              </a:rPr>
              <a:t> </a:t>
            </a:r>
            <a:r>
              <a:rPr sz="2800" spc="-15" dirty="0">
                <a:latin typeface="Calibri"/>
                <a:cs typeface="Calibri"/>
              </a:rPr>
              <a:t>by</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values</a:t>
            </a:r>
            <a:r>
              <a:rPr sz="2800" spc="1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 </a:t>
            </a:r>
            <a:r>
              <a:rPr sz="2800" spc="-620" dirty="0">
                <a:latin typeface="Calibri"/>
                <a:cs typeface="Calibri"/>
              </a:rPr>
              <a:t> </a:t>
            </a:r>
            <a:r>
              <a:rPr sz="2800" spc="-15" dirty="0">
                <a:latin typeface="Calibri"/>
                <a:cs typeface="Calibri"/>
              </a:rPr>
              <a:t>interconnection</a:t>
            </a:r>
            <a:r>
              <a:rPr sz="2800" spc="30" dirty="0">
                <a:latin typeface="Calibri"/>
                <a:cs typeface="Calibri"/>
              </a:rPr>
              <a:t> </a:t>
            </a:r>
            <a:r>
              <a:rPr sz="2800" spc="-10" dirty="0">
                <a:latin typeface="Calibri"/>
                <a:cs typeface="Calibri"/>
              </a:rPr>
              <a:t>weights</a:t>
            </a:r>
            <a:endParaRPr sz="2800">
              <a:latin typeface="Calibri"/>
              <a:cs typeface="Calibri"/>
            </a:endParaRPr>
          </a:p>
          <a:p>
            <a:pPr marL="241300" marR="5080" indent="-228600">
              <a:lnSpc>
                <a:spcPts val="3020"/>
              </a:lnSpc>
              <a:spcBef>
                <a:spcPts val="1005"/>
              </a:spcBef>
              <a:buFont typeface="Arial MT"/>
              <a:buChar char="•"/>
              <a:tabLst>
                <a:tab pos="241300" algn="l"/>
              </a:tabLst>
            </a:pPr>
            <a:r>
              <a:rPr sz="2800" spc="-15" dirty="0">
                <a:latin typeface="Calibri"/>
                <a:cs typeface="Calibri"/>
              </a:rPr>
              <a:t>There</a:t>
            </a:r>
            <a:r>
              <a:rPr sz="2800" spc="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no</a:t>
            </a:r>
            <a:r>
              <a:rPr sz="2800" spc="20" dirty="0">
                <a:latin typeface="Calibri"/>
                <a:cs typeface="Calibri"/>
              </a:rPr>
              <a:t> </a:t>
            </a:r>
            <a:r>
              <a:rPr sz="2800" spc="-10" dirty="0">
                <a:latin typeface="Calibri"/>
                <a:cs typeface="Calibri"/>
              </a:rPr>
              <a:t>algorithm</a:t>
            </a:r>
            <a:r>
              <a:rPr sz="2800" spc="10" dirty="0">
                <a:latin typeface="Calibri"/>
                <a:cs typeface="Calibri"/>
              </a:rPr>
              <a:t> </a:t>
            </a:r>
            <a:r>
              <a:rPr sz="2800" spc="-10" dirty="0">
                <a:latin typeface="Calibri"/>
                <a:cs typeface="Calibri"/>
              </a:rPr>
              <a:t>that</a:t>
            </a:r>
            <a:r>
              <a:rPr sz="2800" spc="20" dirty="0">
                <a:latin typeface="Calibri"/>
                <a:cs typeface="Calibri"/>
              </a:rPr>
              <a:t> </a:t>
            </a:r>
            <a:r>
              <a:rPr sz="2800" spc="-10" dirty="0">
                <a:latin typeface="Calibri"/>
                <a:cs typeface="Calibri"/>
              </a:rPr>
              <a:t>determines</a:t>
            </a:r>
            <a:r>
              <a:rPr sz="2800" spc="20" dirty="0">
                <a:latin typeface="Calibri"/>
                <a:cs typeface="Calibri"/>
              </a:rPr>
              <a:t> </a:t>
            </a:r>
            <a:r>
              <a:rPr sz="2800" spc="-10" dirty="0">
                <a:latin typeface="Calibri"/>
                <a:cs typeface="Calibri"/>
              </a:rPr>
              <a:t>how</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weight</a:t>
            </a:r>
            <a:r>
              <a:rPr sz="2800" dirty="0">
                <a:latin typeface="Calibri"/>
                <a:cs typeface="Calibri"/>
              </a:rPr>
              <a:t> </a:t>
            </a:r>
            <a:r>
              <a:rPr sz="2800" spc="-5" dirty="0">
                <a:latin typeface="Calibri"/>
                <a:cs typeface="Calibri"/>
              </a:rPr>
              <a:t>should</a:t>
            </a:r>
            <a:r>
              <a:rPr sz="2800" spc="30" dirty="0">
                <a:latin typeface="Calibri"/>
                <a:cs typeface="Calibri"/>
              </a:rPr>
              <a:t> </a:t>
            </a:r>
            <a:r>
              <a:rPr sz="2800" spc="-10" dirty="0">
                <a:latin typeface="Calibri"/>
                <a:cs typeface="Calibri"/>
              </a:rPr>
              <a:t>be </a:t>
            </a:r>
            <a:r>
              <a:rPr sz="2800" spc="-615" dirty="0">
                <a:latin typeface="Calibri"/>
                <a:cs typeface="Calibri"/>
              </a:rPr>
              <a:t> </a:t>
            </a:r>
            <a:r>
              <a:rPr sz="2800" spc="-5" dirty="0">
                <a:latin typeface="Calibri"/>
                <a:cs typeface="Calibri"/>
              </a:rPr>
              <a:t>assigned</a:t>
            </a:r>
            <a:r>
              <a:rPr sz="2800" spc="25" dirty="0">
                <a:latin typeface="Calibri"/>
                <a:cs typeface="Calibri"/>
              </a:rPr>
              <a:t> </a:t>
            </a:r>
            <a:r>
              <a:rPr sz="2800" spc="-5" dirty="0">
                <a:latin typeface="Calibri"/>
                <a:cs typeface="Calibri"/>
              </a:rPr>
              <a:t>in</a:t>
            </a:r>
            <a:r>
              <a:rPr sz="2800" spc="10" dirty="0">
                <a:latin typeface="Calibri"/>
                <a:cs typeface="Calibri"/>
              </a:rPr>
              <a:t> </a:t>
            </a:r>
            <a:r>
              <a:rPr sz="2800" spc="-15" dirty="0">
                <a:latin typeface="Calibri"/>
                <a:cs typeface="Calibri"/>
              </a:rPr>
              <a:t>order</a:t>
            </a:r>
            <a:r>
              <a:rPr sz="2800" spc="5"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solve</a:t>
            </a:r>
            <a:r>
              <a:rPr sz="2800" dirty="0">
                <a:latin typeface="Calibri"/>
                <a:cs typeface="Calibri"/>
              </a:rPr>
              <a:t> </a:t>
            </a:r>
            <a:r>
              <a:rPr sz="2800" spc="-5" dirty="0">
                <a:latin typeface="Calibri"/>
                <a:cs typeface="Calibri"/>
              </a:rPr>
              <a:t>a</a:t>
            </a:r>
            <a:r>
              <a:rPr sz="2800" spc="10" dirty="0">
                <a:latin typeface="Calibri"/>
                <a:cs typeface="Calibri"/>
              </a:rPr>
              <a:t> </a:t>
            </a:r>
            <a:r>
              <a:rPr sz="2800" spc="-5" dirty="0">
                <a:latin typeface="Calibri"/>
                <a:cs typeface="Calibri"/>
              </a:rPr>
              <a:t>specific</a:t>
            </a:r>
            <a:r>
              <a:rPr sz="2800" spc="20" dirty="0">
                <a:latin typeface="Calibri"/>
                <a:cs typeface="Calibri"/>
              </a:rPr>
              <a:t> </a:t>
            </a:r>
            <a:r>
              <a:rPr sz="2800" spc="-15" dirty="0">
                <a:latin typeface="Calibri"/>
                <a:cs typeface="Calibri"/>
              </a:rPr>
              <a:t>problem</a:t>
            </a:r>
            <a:endParaRPr sz="280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Hence</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weights</a:t>
            </a:r>
            <a:r>
              <a:rPr sz="2800" dirty="0">
                <a:latin typeface="Calibri"/>
                <a:cs typeface="Calibri"/>
              </a:rPr>
              <a:t> </a:t>
            </a:r>
            <a:r>
              <a:rPr sz="2800" spc="-15" dirty="0">
                <a:latin typeface="Calibri"/>
                <a:cs typeface="Calibri"/>
              </a:rPr>
              <a:t>are</a:t>
            </a:r>
            <a:r>
              <a:rPr sz="2800" spc="5" dirty="0">
                <a:latin typeface="Calibri"/>
                <a:cs typeface="Calibri"/>
              </a:rPr>
              <a:t> </a:t>
            </a:r>
            <a:r>
              <a:rPr sz="2800" spc="-10" dirty="0">
                <a:latin typeface="Calibri"/>
                <a:cs typeface="Calibri"/>
              </a:rPr>
              <a:t>determined</a:t>
            </a:r>
            <a:r>
              <a:rPr sz="2800" spc="20" dirty="0">
                <a:latin typeface="Calibri"/>
                <a:cs typeface="Calibri"/>
              </a:rPr>
              <a:t> </a:t>
            </a:r>
            <a:r>
              <a:rPr sz="2800" spc="-15" dirty="0">
                <a:latin typeface="Calibri"/>
                <a:cs typeface="Calibri"/>
              </a:rPr>
              <a:t>by</a:t>
            </a:r>
            <a:r>
              <a:rPr sz="2800" spc="10" dirty="0">
                <a:latin typeface="Calibri"/>
                <a:cs typeface="Calibri"/>
              </a:rPr>
              <a:t> </a:t>
            </a:r>
            <a:r>
              <a:rPr sz="2800" spc="-5" dirty="0">
                <a:latin typeface="Calibri"/>
                <a:cs typeface="Calibri"/>
              </a:rPr>
              <a:t>a learning</a:t>
            </a:r>
            <a:r>
              <a:rPr sz="2800" spc="15" dirty="0">
                <a:latin typeface="Calibri"/>
                <a:cs typeface="Calibri"/>
              </a:rPr>
              <a:t> </a:t>
            </a:r>
            <a:r>
              <a:rPr sz="2800" spc="-10" dirty="0">
                <a:latin typeface="Calibri"/>
                <a:cs typeface="Calibri"/>
              </a:rPr>
              <a:t>process</a:t>
            </a:r>
            <a:endParaRPr sz="280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Hebbian</a:t>
            </a:r>
            <a:r>
              <a:rPr sz="2800" spc="20" dirty="0">
                <a:latin typeface="Calibri"/>
                <a:cs typeface="Calibri"/>
              </a:rPr>
              <a:t> </a:t>
            </a:r>
            <a:r>
              <a:rPr sz="2800" spc="-5" dirty="0">
                <a:latin typeface="Calibri"/>
                <a:cs typeface="Calibri"/>
              </a:rPr>
              <a:t>learning</a:t>
            </a:r>
            <a:r>
              <a:rPr sz="280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one</a:t>
            </a:r>
            <a:r>
              <a:rPr sz="2800" spc="-10" dirty="0">
                <a:latin typeface="Calibri"/>
                <a:cs typeface="Calibri"/>
              </a:rPr>
              <a:t> </a:t>
            </a:r>
            <a:r>
              <a:rPr sz="2800" spc="-5" dirty="0">
                <a:latin typeface="Calibri"/>
                <a:cs typeface="Calibri"/>
              </a:rPr>
              <a:t>of the</a:t>
            </a:r>
            <a:r>
              <a:rPr sz="2800" dirty="0">
                <a:latin typeface="Calibri"/>
                <a:cs typeface="Calibri"/>
              </a:rPr>
              <a:t> </a:t>
            </a:r>
            <a:r>
              <a:rPr sz="2800" spc="-10" dirty="0">
                <a:latin typeface="Calibri"/>
                <a:cs typeface="Calibri"/>
              </a:rPr>
              <a:t>same</a:t>
            </a:r>
            <a:endParaRPr sz="28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19620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35" dirty="0"/>
              <a:t> </a:t>
            </a:r>
            <a:r>
              <a:rPr sz="4400" spc="-50" dirty="0"/>
              <a:t>Hebb’s</a:t>
            </a:r>
            <a:r>
              <a:rPr sz="4400" spc="-35" dirty="0"/>
              <a:t> </a:t>
            </a:r>
            <a:r>
              <a:rPr sz="4400" spc="-5" dirty="0"/>
              <a:t>Algorithm</a:t>
            </a:r>
            <a:endParaRPr sz="4400"/>
          </a:p>
        </p:txBody>
      </p:sp>
      <p:sp>
        <p:nvSpPr>
          <p:cNvPr id="3" name="object 3"/>
          <p:cNvSpPr txBox="1"/>
          <p:nvPr/>
        </p:nvSpPr>
        <p:spPr>
          <a:xfrm>
            <a:off x="878839" y="1706841"/>
            <a:ext cx="10378440" cy="2968625"/>
          </a:xfrm>
          <a:prstGeom prst="rect">
            <a:avLst/>
          </a:prstGeom>
        </p:spPr>
        <p:txBody>
          <a:bodyPr vert="horz" wrap="square" lIns="0" tIns="98425" rIns="0" bIns="0" rtlCol="0">
            <a:spAutoFit/>
          </a:bodyPr>
          <a:lstStyle/>
          <a:p>
            <a:pPr marL="565785" indent="-515620">
              <a:lnSpc>
                <a:spcPct val="100000"/>
              </a:lnSpc>
              <a:spcBef>
                <a:spcPts val="775"/>
              </a:spcBef>
              <a:buAutoNum type="arabicPeriod"/>
              <a:tabLst>
                <a:tab pos="565785" algn="l"/>
                <a:tab pos="566420" algn="l"/>
              </a:tabLst>
            </a:pPr>
            <a:r>
              <a:rPr sz="2800" spc="-15" dirty="0">
                <a:latin typeface="Calibri"/>
                <a:cs typeface="Calibri"/>
              </a:rPr>
              <a:t>Initialize</a:t>
            </a:r>
            <a:r>
              <a:rPr sz="2800" spc="-20" dirty="0">
                <a:latin typeface="Calibri"/>
                <a:cs typeface="Calibri"/>
              </a:rPr>
              <a:t> </a:t>
            </a:r>
            <a:r>
              <a:rPr sz="2800" spc="-5" dirty="0">
                <a:latin typeface="Calibri"/>
                <a:cs typeface="Calibri"/>
              </a:rPr>
              <a:t>all</a:t>
            </a:r>
            <a:r>
              <a:rPr sz="2800" spc="-20" dirty="0">
                <a:latin typeface="Calibri"/>
                <a:cs typeface="Calibri"/>
              </a:rPr>
              <a:t> </a:t>
            </a:r>
            <a:r>
              <a:rPr sz="2800" spc="-10" dirty="0">
                <a:latin typeface="Calibri"/>
                <a:cs typeface="Calibri"/>
              </a:rPr>
              <a:t>weights</a:t>
            </a:r>
            <a:r>
              <a:rPr sz="2800" dirty="0">
                <a:latin typeface="Calibri"/>
                <a:cs typeface="Calibri"/>
              </a:rPr>
              <a:t> </a:t>
            </a:r>
            <a:r>
              <a:rPr sz="2800" spc="-20" dirty="0">
                <a:latin typeface="Calibri"/>
                <a:cs typeface="Calibri"/>
              </a:rPr>
              <a:t>to</a:t>
            </a:r>
            <a:r>
              <a:rPr sz="2800" spc="-10" dirty="0">
                <a:latin typeface="Calibri"/>
                <a:cs typeface="Calibri"/>
              </a:rPr>
              <a:t> </a:t>
            </a:r>
            <a:r>
              <a:rPr sz="2800" spc="-5" dirty="0">
                <a:latin typeface="Calibri"/>
                <a:cs typeface="Calibri"/>
              </a:rPr>
              <a:t>0</a:t>
            </a:r>
            <a:endParaRPr sz="2800">
              <a:latin typeface="Calibri"/>
              <a:cs typeface="Calibri"/>
            </a:endParaRPr>
          </a:p>
          <a:p>
            <a:pPr marL="565785" marR="55880" indent="-515620">
              <a:lnSpc>
                <a:spcPts val="3020"/>
              </a:lnSpc>
              <a:spcBef>
                <a:spcPts val="1060"/>
              </a:spcBef>
              <a:buAutoNum type="arabicPeriod"/>
              <a:tabLst>
                <a:tab pos="565785" algn="l"/>
                <a:tab pos="566420" algn="l"/>
              </a:tabLst>
            </a:pPr>
            <a:r>
              <a:rPr sz="2800" spc="-10" dirty="0">
                <a:latin typeface="Calibri"/>
                <a:cs typeface="Calibri"/>
              </a:rPr>
              <a:t>Given</a:t>
            </a:r>
            <a:r>
              <a:rPr sz="2800" spc="5"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training</a:t>
            </a:r>
            <a:r>
              <a:rPr sz="2800" spc="20" dirty="0">
                <a:latin typeface="Calibri"/>
                <a:cs typeface="Calibri"/>
              </a:rPr>
              <a:t> </a:t>
            </a:r>
            <a:r>
              <a:rPr sz="2800" spc="-10" dirty="0">
                <a:latin typeface="Calibri"/>
                <a:cs typeface="Calibri"/>
              </a:rPr>
              <a:t>input,</a:t>
            </a:r>
            <a:r>
              <a:rPr sz="2800" spc="40" dirty="0">
                <a:latin typeface="Calibri"/>
                <a:cs typeface="Calibri"/>
              </a:rPr>
              <a:t> </a:t>
            </a:r>
            <a:r>
              <a:rPr sz="2800" spc="-5" dirty="0">
                <a:latin typeface="Calibri"/>
                <a:cs typeface="Calibri"/>
              </a:rPr>
              <a:t>s,</a:t>
            </a:r>
            <a:r>
              <a:rPr sz="2800" spc="5" dirty="0">
                <a:latin typeface="Calibri"/>
                <a:cs typeface="Calibri"/>
              </a:rPr>
              <a:t> </a:t>
            </a:r>
            <a:r>
              <a:rPr sz="2800" spc="-5" dirty="0">
                <a:latin typeface="Calibri"/>
                <a:cs typeface="Calibri"/>
              </a:rPr>
              <a:t>with</a:t>
            </a:r>
            <a:r>
              <a:rPr sz="2800" spc="10" dirty="0">
                <a:latin typeface="Calibri"/>
                <a:cs typeface="Calibri"/>
              </a:rPr>
              <a:t> </a:t>
            </a:r>
            <a:r>
              <a:rPr sz="2800" spc="-5" dirty="0">
                <a:latin typeface="Calibri"/>
                <a:cs typeface="Calibri"/>
              </a:rPr>
              <a:t>its</a:t>
            </a:r>
            <a:r>
              <a:rPr sz="2800" spc="5" dirty="0">
                <a:latin typeface="Calibri"/>
                <a:cs typeface="Calibri"/>
              </a:rPr>
              <a:t> </a:t>
            </a:r>
            <a:r>
              <a:rPr sz="2800" spc="-20" dirty="0">
                <a:latin typeface="Calibri"/>
                <a:cs typeface="Calibri"/>
              </a:rPr>
              <a:t>target</a:t>
            </a:r>
            <a:r>
              <a:rPr sz="2800" spc="-5" dirty="0">
                <a:latin typeface="Calibri"/>
                <a:cs typeface="Calibri"/>
              </a:rPr>
              <a:t> </a:t>
            </a:r>
            <a:r>
              <a:rPr sz="2800" spc="-10" dirty="0">
                <a:latin typeface="Calibri"/>
                <a:cs typeface="Calibri"/>
              </a:rPr>
              <a:t>output,</a:t>
            </a:r>
            <a:r>
              <a:rPr sz="2800" spc="40" dirty="0">
                <a:latin typeface="Calibri"/>
                <a:cs typeface="Calibri"/>
              </a:rPr>
              <a:t> </a:t>
            </a:r>
            <a:r>
              <a:rPr sz="2800" spc="-5" dirty="0">
                <a:latin typeface="Calibri"/>
                <a:cs typeface="Calibri"/>
              </a:rPr>
              <a:t>t,</a:t>
            </a:r>
            <a:r>
              <a:rPr sz="2800" dirty="0">
                <a:latin typeface="Calibri"/>
                <a:cs typeface="Calibri"/>
              </a:rPr>
              <a:t> </a:t>
            </a:r>
            <a:r>
              <a:rPr sz="2800" spc="-10" dirty="0">
                <a:latin typeface="Calibri"/>
                <a:cs typeface="Calibri"/>
              </a:rPr>
              <a:t>set</a:t>
            </a:r>
            <a:r>
              <a:rPr sz="2800" spc="1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activations </a:t>
            </a:r>
            <a:r>
              <a:rPr sz="2800" spc="-62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input</a:t>
            </a:r>
            <a:r>
              <a:rPr sz="2800" spc="30" dirty="0">
                <a:latin typeface="Calibri"/>
                <a:cs typeface="Calibri"/>
              </a:rPr>
              <a:t> </a:t>
            </a:r>
            <a:r>
              <a:rPr sz="2800" spc="-10" dirty="0">
                <a:latin typeface="Calibri"/>
                <a:cs typeface="Calibri"/>
              </a:rPr>
              <a:t>units</a:t>
            </a:r>
            <a:r>
              <a:rPr sz="2800" spc="35" dirty="0">
                <a:latin typeface="Calibri"/>
                <a:cs typeface="Calibri"/>
              </a:rPr>
              <a:t> </a:t>
            </a:r>
            <a:r>
              <a:rPr sz="2800" dirty="0">
                <a:latin typeface="Calibri"/>
                <a:cs typeface="Calibri"/>
              </a:rPr>
              <a:t>x</a:t>
            </a:r>
            <a:r>
              <a:rPr sz="2775" baseline="-21021" dirty="0">
                <a:latin typeface="Calibri"/>
                <a:cs typeface="Calibri"/>
              </a:rPr>
              <a:t>i</a:t>
            </a:r>
            <a:r>
              <a:rPr sz="2800" dirty="0">
                <a:latin typeface="Calibri"/>
                <a:cs typeface="Calibri"/>
              </a:rPr>
              <a:t>=s</a:t>
            </a:r>
            <a:r>
              <a:rPr sz="2775" baseline="-21021" dirty="0">
                <a:latin typeface="Calibri"/>
                <a:cs typeface="Calibri"/>
              </a:rPr>
              <a:t>i</a:t>
            </a:r>
            <a:endParaRPr sz="2775" baseline="-21021">
              <a:latin typeface="Calibri"/>
              <a:cs typeface="Calibri"/>
            </a:endParaRPr>
          </a:p>
          <a:p>
            <a:pPr marL="565785" indent="-515620">
              <a:lnSpc>
                <a:spcPct val="100000"/>
              </a:lnSpc>
              <a:spcBef>
                <a:spcPts val="620"/>
              </a:spcBef>
              <a:buAutoNum type="arabicPeriod"/>
              <a:tabLst>
                <a:tab pos="565785" algn="l"/>
                <a:tab pos="566420" algn="l"/>
              </a:tabLst>
            </a:pPr>
            <a:r>
              <a:rPr sz="2800" spc="-10" dirty="0">
                <a:latin typeface="Calibri"/>
                <a:cs typeface="Calibri"/>
              </a:rPr>
              <a:t>Set</a:t>
            </a:r>
            <a:r>
              <a:rPr sz="2800" spc="-5" dirty="0">
                <a:latin typeface="Calibri"/>
                <a:cs typeface="Calibri"/>
              </a:rPr>
              <a:t> the</a:t>
            </a:r>
            <a:r>
              <a:rPr sz="2800" spc="10" dirty="0">
                <a:latin typeface="Calibri"/>
                <a:cs typeface="Calibri"/>
              </a:rPr>
              <a:t> </a:t>
            </a:r>
            <a:r>
              <a:rPr sz="2800" spc="-10" dirty="0">
                <a:latin typeface="Calibri"/>
                <a:cs typeface="Calibri"/>
              </a:rPr>
              <a:t>activation</a:t>
            </a:r>
            <a:r>
              <a:rPr sz="2800" spc="-5" dirty="0">
                <a:latin typeface="Calibri"/>
                <a:cs typeface="Calibri"/>
              </a:rPr>
              <a:t> of</a:t>
            </a:r>
            <a:r>
              <a:rPr sz="2800" dirty="0">
                <a:latin typeface="Calibri"/>
                <a:cs typeface="Calibri"/>
              </a:rPr>
              <a:t> </a:t>
            </a:r>
            <a:r>
              <a:rPr sz="2800" spc="-5" dirty="0">
                <a:latin typeface="Calibri"/>
                <a:cs typeface="Calibri"/>
              </a:rPr>
              <a:t>the </a:t>
            </a:r>
            <a:r>
              <a:rPr sz="2800" spc="-10" dirty="0">
                <a:latin typeface="Calibri"/>
                <a:cs typeface="Calibri"/>
              </a:rPr>
              <a:t>output</a:t>
            </a:r>
            <a:r>
              <a:rPr sz="2800" spc="30" dirty="0">
                <a:latin typeface="Calibri"/>
                <a:cs typeface="Calibri"/>
              </a:rPr>
              <a:t> </a:t>
            </a:r>
            <a:r>
              <a:rPr sz="2800" spc="-10" dirty="0">
                <a:latin typeface="Calibri"/>
                <a:cs typeface="Calibri"/>
              </a:rPr>
              <a:t>unit</a:t>
            </a:r>
            <a:r>
              <a:rPr sz="2800" spc="3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the</a:t>
            </a:r>
            <a:r>
              <a:rPr sz="2800" spc="5" dirty="0">
                <a:latin typeface="Calibri"/>
                <a:cs typeface="Calibri"/>
              </a:rPr>
              <a:t> </a:t>
            </a:r>
            <a:r>
              <a:rPr sz="2800" spc="-25" dirty="0">
                <a:latin typeface="Calibri"/>
                <a:cs typeface="Calibri"/>
              </a:rPr>
              <a:t>target</a:t>
            </a:r>
            <a:r>
              <a:rPr sz="2800" spc="-15" dirty="0">
                <a:latin typeface="Calibri"/>
                <a:cs typeface="Calibri"/>
              </a:rPr>
              <a:t> </a:t>
            </a:r>
            <a:r>
              <a:rPr sz="2800" spc="-10" dirty="0">
                <a:latin typeface="Calibri"/>
                <a:cs typeface="Calibri"/>
              </a:rPr>
              <a:t>value,</a:t>
            </a:r>
            <a:r>
              <a:rPr sz="2800" spc="15" dirty="0">
                <a:latin typeface="Calibri"/>
                <a:cs typeface="Calibri"/>
              </a:rPr>
              <a:t> </a:t>
            </a:r>
            <a:r>
              <a:rPr sz="2800" spc="-5" dirty="0">
                <a:latin typeface="Calibri"/>
                <a:cs typeface="Calibri"/>
              </a:rPr>
              <a:t>y=t</a:t>
            </a:r>
            <a:endParaRPr sz="2800">
              <a:latin typeface="Calibri"/>
              <a:cs typeface="Calibri"/>
            </a:endParaRPr>
          </a:p>
          <a:p>
            <a:pPr marL="565785" indent="-515620">
              <a:lnSpc>
                <a:spcPct val="100000"/>
              </a:lnSpc>
              <a:spcBef>
                <a:spcPts val="665"/>
              </a:spcBef>
              <a:buAutoNum type="arabicPeriod"/>
              <a:tabLst>
                <a:tab pos="565785" algn="l"/>
                <a:tab pos="566420" algn="l"/>
              </a:tabLst>
            </a:pPr>
            <a:r>
              <a:rPr sz="2800" spc="-10" dirty="0">
                <a:latin typeface="Calibri"/>
                <a:cs typeface="Calibri"/>
              </a:rPr>
              <a:t>Adjust</a:t>
            </a:r>
            <a:r>
              <a:rPr sz="2800" spc="35"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weights </a:t>
            </a:r>
            <a:r>
              <a:rPr sz="2800" spc="-5" dirty="0">
                <a:latin typeface="Calibri"/>
                <a:cs typeface="Calibri"/>
              </a:rPr>
              <a:t>:</a:t>
            </a:r>
            <a:r>
              <a:rPr sz="2800" spc="5" dirty="0">
                <a:latin typeface="Calibri"/>
                <a:cs typeface="Calibri"/>
              </a:rPr>
              <a:t> </a:t>
            </a:r>
            <a:r>
              <a:rPr sz="2800" spc="-5" dirty="0">
                <a:latin typeface="Calibri"/>
                <a:cs typeface="Calibri"/>
              </a:rPr>
              <a:t>wi(new)=</a:t>
            </a:r>
            <a:r>
              <a:rPr sz="2800" dirty="0">
                <a:latin typeface="Calibri"/>
                <a:cs typeface="Calibri"/>
              </a:rPr>
              <a:t> </a:t>
            </a:r>
            <a:r>
              <a:rPr sz="2800" spc="-5" dirty="0">
                <a:latin typeface="Calibri"/>
                <a:cs typeface="Calibri"/>
              </a:rPr>
              <a:t>w</a:t>
            </a:r>
            <a:r>
              <a:rPr sz="2775" spc="-7" baseline="-21021" dirty="0">
                <a:latin typeface="Calibri"/>
                <a:cs typeface="Calibri"/>
              </a:rPr>
              <a:t>i</a:t>
            </a:r>
            <a:r>
              <a:rPr sz="2800" spc="-5" dirty="0">
                <a:latin typeface="Calibri"/>
                <a:cs typeface="Calibri"/>
              </a:rPr>
              <a:t>(old)+x</a:t>
            </a:r>
            <a:r>
              <a:rPr sz="2775" spc="-7" baseline="-21021" dirty="0">
                <a:latin typeface="Calibri"/>
                <a:cs typeface="Calibri"/>
              </a:rPr>
              <a:t>i</a:t>
            </a:r>
            <a:r>
              <a:rPr sz="2800" spc="-5" dirty="0">
                <a:latin typeface="Calibri"/>
                <a:cs typeface="Calibri"/>
              </a:rPr>
              <a:t>y</a:t>
            </a:r>
            <a:endParaRPr sz="2800">
              <a:latin typeface="Calibri"/>
              <a:cs typeface="Calibri"/>
            </a:endParaRPr>
          </a:p>
          <a:p>
            <a:pPr marL="565785" indent="-515620">
              <a:lnSpc>
                <a:spcPct val="100000"/>
              </a:lnSpc>
              <a:spcBef>
                <a:spcPts val="670"/>
              </a:spcBef>
              <a:buAutoNum type="arabicPeriod"/>
              <a:tabLst>
                <a:tab pos="565785" algn="l"/>
                <a:tab pos="566420" algn="l"/>
              </a:tabLst>
            </a:pPr>
            <a:r>
              <a:rPr sz="2800" spc="-10" dirty="0">
                <a:latin typeface="Calibri"/>
                <a:cs typeface="Calibri"/>
              </a:rPr>
              <a:t>Adjust</a:t>
            </a:r>
            <a:r>
              <a:rPr sz="2800" spc="3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bias:</a:t>
            </a:r>
            <a:r>
              <a:rPr sz="2800" spc="-10" dirty="0">
                <a:latin typeface="Calibri"/>
                <a:cs typeface="Calibri"/>
              </a:rPr>
              <a:t> </a:t>
            </a:r>
            <a:r>
              <a:rPr sz="2800" spc="-5" dirty="0">
                <a:latin typeface="Calibri"/>
                <a:cs typeface="Calibri"/>
              </a:rPr>
              <a:t>b(new)=b(old)+y</a:t>
            </a:r>
            <a:endParaRPr sz="28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88428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10" dirty="0"/>
              <a:t> </a:t>
            </a:r>
            <a:r>
              <a:rPr sz="4400" spc="-5" dirty="0"/>
              <a:t>Back</a:t>
            </a:r>
            <a:r>
              <a:rPr sz="4400" spc="-10" dirty="0"/>
              <a:t> </a:t>
            </a:r>
            <a:r>
              <a:rPr sz="4400" spc="-25" dirty="0"/>
              <a:t>Propagation</a:t>
            </a:r>
            <a:r>
              <a:rPr sz="4400" spc="5" dirty="0"/>
              <a:t> </a:t>
            </a:r>
            <a:r>
              <a:rPr sz="4400" spc="-15" dirty="0"/>
              <a:t>Neural</a:t>
            </a:r>
            <a:r>
              <a:rPr sz="4400" spc="-5" dirty="0"/>
              <a:t> </a:t>
            </a:r>
            <a:r>
              <a:rPr sz="4400" spc="-15" dirty="0"/>
              <a:t>Network</a:t>
            </a:r>
            <a:endParaRPr sz="4400"/>
          </a:p>
        </p:txBody>
      </p:sp>
      <p:sp>
        <p:nvSpPr>
          <p:cNvPr id="3" name="object 3"/>
          <p:cNvSpPr txBox="1"/>
          <p:nvPr/>
        </p:nvSpPr>
        <p:spPr>
          <a:xfrm>
            <a:off x="916939" y="1736801"/>
            <a:ext cx="10106025" cy="4119718"/>
          </a:xfrm>
          <a:prstGeom prst="rect">
            <a:avLst/>
          </a:prstGeom>
        </p:spPr>
        <p:txBody>
          <a:bodyPr vert="horz" wrap="square" lIns="0" tIns="13335" rIns="0" bIns="0" rtlCol="0">
            <a:spAutoFit/>
          </a:bodyPr>
          <a:lstStyle/>
          <a:p>
            <a:pPr marL="342900" indent="-342900">
              <a:buFont typeface="Arial" panose="020B0604020202020204" pitchFamily="34" charset="0"/>
              <a:buChar char="•"/>
            </a:pPr>
            <a:r>
              <a:rPr lang="en-US" sz="2400" b="1" dirty="0"/>
              <a:t>Backpropagation</a:t>
            </a:r>
            <a:r>
              <a:rPr lang="en-US" sz="2400" dirty="0"/>
              <a:t> is the essence of neural network training. </a:t>
            </a:r>
          </a:p>
          <a:p>
            <a:pPr marL="342900" indent="-342900">
              <a:buFont typeface="Arial" panose="020B0604020202020204" pitchFamily="34" charset="0"/>
              <a:buChar char="•"/>
            </a:pPr>
            <a:r>
              <a:rPr lang="en-US" sz="2400" dirty="0"/>
              <a:t>It is the method of fine-tuning the weights of a neural network based on the error rate obtained in the previous epoch (i.e., iteration). </a:t>
            </a:r>
          </a:p>
          <a:p>
            <a:pPr marL="342900" indent="-342900">
              <a:buFont typeface="Arial" panose="020B0604020202020204" pitchFamily="34" charset="0"/>
              <a:buChar char="•"/>
            </a:pPr>
            <a:r>
              <a:rPr lang="en-US" sz="2400" dirty="0"/>
              <a:t>Proper tuning of the weights allows you to reduce error rates and make the model reliable by increasing its generalization.</a:t>
            </a:r>
          </a:p>
          <a:p>
            <a:pPr marL="342900" indent="-342900">
              <a:buFont typeface="Arial" panose="020B0604020202020204" pitchFamily="34" charset="0"/>
              <a:buChar char="•"/>
            </a:pPr>
            <a:r>
              <a:rPr lang="en-US" sz="2400" dirty="0"/>
              <a:t>Backpropagation in neural network is a short form for “backward propagation of errors.” </a:t>
            </a:r>
          </a:p>
          <a:p>
            <a:pPr marL="342900" indent="-342900">
              <a:buFont typeface="Arial" panose="020B0604020202020204" pitchFamily="34" charset="0"/>
              <a:buChar char="•"/>
            </a:pPr>
            <a:r>
              <a:rPr lang="en-US" sz="2400" dirty="0"/>
              <a:t>It is a standard method of training artificial neural networks. </a:t>
            </a:r>
          </a:p>
          <a:p>
            <a:pPr marL="342900" indent="-342900">
              <a:buFont typeface="Arial" panose="020B0604020202020204" pitchFamily="34" charset="0"/>
              <a:buChar char="•"/>
            </a:pPr>
            <a:r>
              <a:rPr lang="en-US" sz="2400" dirty="0"/>
              <a:t>This method helps calculate the gradient of a loss function with respect to all the weights in the network.</a:t>
            </a:r>
          </a:p>
          <a:p>
            <a:pPr marL="241300" indent="-228600">
              <a:lnSpc>
                <a:spcPct val="100000"/>
              </a:lnSpc>
              <a:spcBef>
                <a:spcPts val="105"/>
              </a:spcBef>
              <a:buFont typeface="Arial MT"/>
              <a:buChar char="•"/>
              <a:tabLst>
                <a:tab pos="241300" algn="l"/>
              </a:tabLst>
            </a:pPr>
            <a:endParaRPr sz="2600" dirty="0">
              <a:latin typeface="Calibri"/>
              <a:cs typeface="Calibri"/>
            </a:endParaRPr>
          </a:p>
        </p:txBody>
      </p:sp>
    </p:spTree>
    <p:extLst>
      <p:ext uri="{BB962C8B-B14F-4D97-AF65-F5344CB8AC3E}">
        <p14:creationId xmlns:p14="http://schemas.microsoft.com/office/powerpoint/2010/main" val="23036088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884285" cy="697230"/>
          </a:xfrm>
          <a:prstGeom prst="rect">
            <a:avLst/>
          </a:prstGeom>
        </p:spPr>
        <p:txBody>
          <a:bodyPr vert="horz" wrap="square" lIns="0" tIns="13335" rIns="0" bIns="0" rtlCol="0">
            <a:spAutoFit/>
          </a:bodyPr>
          <a:lstStyle/>
          <a:p>
            <a:pPr marL="12700">
              <a:lnSpc>
                <a:spcPct val="100000"/>
              </a:lnSpc>
              <a:spcBef>
                <a:spcPts val="105"/>
              </a:spcBef>
            </a:pPr>
            <a:r>
              <a:rPr sz="4400" spc="-5" dirty="0"/>
              <a:t>ANN:</a:t>
            </a:r>
            <a:r>
              <a:rPr sz="4400" spc="-10" dirty="0"/>
              <a:t> </a:t>
            </a:r>
            <a:r>
              <a:rPr sz="4400" spc="-5" dirty="0"/>
              <a:t>Back</a:t>
            </a:r>
            <a:r>
              <a:rPr sz="4400" spc="-10" dirty="0"/>
              <a:t> </a:t>
            </a:r>
            <a:r>
              <a:rPr sz="4400" spc="-25" dirty="0"/>
              <a:t>Propagation</a:t>
            </a:r>
            <a:r>
              <a:rPr sz="4400" spc="5" dirty="0"/>
              <a:t> </a:t>
            </a:r>
            <a:r>
              <a:rPr sz="4400" spc="-15" dirty="0"/>
              <a:t>Neural</a:t>
            </a:r>
            <a:r>
              <a:rPr sz="4400" spc="-5" dirty="0"/>
              <a:t> </a:t>
            </a:r>
            <a:r>
              <a:rPr sz="4400" spc="-15" dirty="0"/>
              <a:t>Network</a:t>
            </a:r>
            <a:endParaRPr sz="4400"/>
          </a:p>
        </p:txBody>
      </p:sp>
      <p:sp>
        <p:nvSpPr>
          <p:cNvPr id="3" name="object 3"/>
          <p:cNvSpPr txBox="1"/>
          <p:nvPr/>
        </p:nvSpPr>
        <p:spPr>
          <a:xfrm>
            <a:off x="916939" y="1736801"/>
            <a:ext cx="10106025" cy="4236720"/>
          </a:xfrm>
          <a:prstGeom prst="rect">
            <a:avLst/>
          </a:prstGeom>
        </p:spPr>
        <p:txBody>
          <a:bodyPr vert="horz" wrap="square" lIns="0" tIns="13335" rIns="0" bIns="0" rtlCol="0">
            <a:spAutoFit/>
          </a:bodyPr>
          <a:lstStyle/>
          <a:p>
            <a:pPr marL="241300" indent="-228600">
              <a:lnSpc>
                <a:spcPct val="100000"/>
              </a:lnSpc>
              <a:spcBef>
                <a:spcPts val="105"/>
              </a:spcBef>
              <a:buFont typeface="Arial MT"/>
              <a:buChar char="•"/>
              <a:tabLst>
                <a:tab pos="241300" algn="l"/>
              </a:tabLst>
            </a:pPr>
            <a:r>
              <a:rPr sz="2600" dirty="0">
                <a:latin typeface="Calibri"/>
                <a:cs typeface="Calibri"/>
              </a:rPr>
              <a:t>It</a:t>
            </a:r>
            <a:r>
              <a:rPr sz="2600" spc="-5" dirty="0">
                <a:latin typeface="Calibri"/>
                <a:cs typeface="Calibri"/>
              </a:rPr>
              <a:t> </a:t>
            </a:r>
            <a:r>
              <a:rPr sz="2600" dirty="0">
                <a:latin typeface="Calibri"/>
                <a:cs typeface="Calibri"/>
              </a:rPr>
              <a:t>is</a:t>
            </a:r>
            <a:r>
              <a:rPr sz="2600" spc="-10" dirty="0">
                <a:latin typeface="Calibri"/>
                <a:cs typeface="Calibri"/>
              </a:rPr>
              <a:t> </a:t>
            </a:r>
            <a:r>
              <a:rPr sz="2600" dirty="0">
                <a:latin typeface="Calibri"/>
                <a:cs typeface="Calibri"/>
              </a:rPr>
              <a:t>a learning</a:t>
            </a:r>
            <a:r>
              <a:rPr sz="2600" spc="-15" dirty="0">
                <a:latin typeface="Calibri"/>
                <a:cs typeface="Calibri"/>
              </a:rPr>
              <a:t> </a:t>
            </a:r>
            <a:r>
              <a:rPr sz="2600" dirty="0">
                <a:latin typeface="Calibri"/>
                <a:cs typeface="Calibri"/>
              </a:rPr>
              <a:t>rule </a:t>
            </a:r>
            <a:r>
              <a:rPr sz="2600" spc="-10" dirty="0">
                <a:latin typeface="Calibri"/>
                <a:cs typeface="Calibri"/>
              </a:rPr>
              <a:t>to</a:t>
            </a:r>
            <a:r>
              <a:rPr sz="2600" spc="-5" dirty="0">
                <a:latin typeface="Calibri"/>
                <a:cs typeface="Calibri"/>
              </a:rPr>
              <a:t> multi</a:t>
            </a:r>
            <a:r>
              <a:rPr sz="2600" dirty="0">
                <a:latin typeface="Calibri"/>
                <a:cs typeface="Calibri"/>
              </a:rPr>
              <a:t> </a:t>
            </a:r>
            <a:r>
              <a:rPr sz="2600" spc="-20" dirty="0">
                <a:latin typeface="Calibri"/>
                <a:cs typeface="Calibri"/>
              </a:rPr>
              <a:t>layer</a:t>
            </a:r>
            <a:r>
              <a:rPr sz="2600" spc="-5" dirty="0">
                <a:latin typeface="Calibri"/>
                <a:cs typeface="Calibri"/>
              </a:rPr>
              <a:t> </a:t>
            </a:r>
            <a:r>
              <a:rPr sz="2600" spc="-10" dirty="0">
                <a:latin typeface="Calibri"/>
                <a:cs typeface="Calibri"/>
              </a:rPr>
              <a:t>network</a:t>
            </a:r>
            <a:endParaRPr sz="2600" dirty="0">
              <a:latin typeface="Calibri"/>
              <a:cs typeface="Calibri"/>
            </a:endParaRPr>
          </a:p>
          <a:p>
            <a:pPr marL="241300" indent="-228600">
              <a:lnSpc>
                <a:spcPct val="100000"/>
              </a:lnSpc>
              <a:spcBef>
                <a:spcPts val="65"/>
              </a:spcBef>
              <a:buFont typeface="Arial MT"/>
              <a:buChar char="•"/>
              <a:tabLst>
                <a:tab pos="241300" algn="l"/>
              </a:tabLst>
            </a:pPr>
            <a:r>
              <a:rPr sz="2600" dirty="0">
                <a:latin typeface="Calibri"/>
                <a:cs typeface="Calibri"/>
              </a:rPr>
              <a:t>In</a:t>
            </a:r>
            <a:r>
              <a:rPr sz="2600" spc="-5" dirty="0">
                <a:latin typeface="Calibri"/>
                <a:cs typeface="Calibri"/>
              </a:rPr>
              <a:t> </a:t>
            </a:r>
            <a:r>
              <a:rPr sz="2600" dirty="0">
                <a:latin typeface="Calibri"/>
                <a:cs typeface="Calibri"/>
              </a:rPr>
              <a:t>a back</a:t>
            </a:r>
            <a:r>
              <a:rPr sz="2600" spc="-5" dirty="0">
                <a:latin typeface="Calibri"/>
                <a:cs typeface="Calibri"/>
              </a:rPr>
              <a:t> </a:t>
            </a:r>
            <a:r>
              <a:rPr sz="2600" spc="-10" dirty="0">
                <a:latin typeface="Calibri"/>
                <a:cs typeface="Calibri"/>
              </a:rPr>
              <a:t>propagation</a:t>
            </a:r>
            <a:r>
              <a:rPr sz="2600" spc="5" dirty="0">
                <a:latin typeface="Calibri"/>
                <a:cs typeface="Calibri"/>
              </a:rPr>
              <a:t> </a:t>
            </a:r>
            <a:r>
              <a:rPr sz="2600" dirty="0">
                <a:latin typeface="Calibri"/>
                <a:cs typeface="Calibri"/>
              </a:rPr>
              <a:t>NN,</a:t>
            </a:r>
            <a:r>
              <a:rPr sz="2600" spc="-10" dirty="0">
                <a:latin typeface="Calibri"/>
                <a:cs typeface="Calibri"/>
              </a:rPr>
              <a:t> </a:t>
            </a:r>
            <a:r>
              <a:rPr sz="2600" dirty="0">
                <a:latin typeface="Calibri"/>
                <a:cs typeface="Calibri"/>
              </a:rPr>
              <a:t>the</a:t>
            </a:r>
            <a:r>
              <a:rPr sz="2600" spc="-10" dirty="0">
                <a:latin typeface="Calibri"/>
                <a:cs typeface="Calibri"/>
              </a:rPr>
              <a:t> </a:t>
            </a:r>
            <a:r>
              <a:rPr sz="2600" dirty="0">
                <a:latin typeface="Calibri"/>
                <a:cs typeface="Calibri"/>
              </a:rPr>
              <a:t>learning</a:t>
            </a:r>
            <a:r>
              <a:rPr sz="2600" spc="-20" dirty="0">
                <a:latin typeface="Calibri"/>
                <a:cs typeface="Calibri"/>
              </a:rPr>
              <a:t> </a:t>
            </a:r>
            <a:r>
              <a:rPr sz="2600" spc="-5" dirty="0">
                <a:latin typeface="Calibri"/>
                <a:cs typeface="Calibri"/>
              </a:rPr>
              <a:t>algorithm has</a:t>
            </a:r>
            <a:r>
              <a:rPr sz="2600" spc="-10" dirty="0">
                <a:latin typeface="Calibri"/>
                <a:cs typeface="Calibri"/>
              </a:rPr>
              <a:t> </a:t>
            </a:r>
            <a:r>
              <a:rPr sz="2600" spc="-5" dirty="0">
                <a:latin typeface="Calibri"/>
                <a:cs typeface="Calibri"/>
              </a:rPr>
              <a:t>two</a:t>
            </a:r>
            <a:r>
              <a:rPr sz="2600" spc="5" dirty="0">
                <a:latin typeface="Calibri"/>
                <a:cs typeface="Calibri"/>
              </a:rPr>
              <a:t> </a:t>
            </a:r>
            <a:r>
              <a:rPr sz="2600" spc="-5" dirty="0">
                <a:latin typeface="Calibri"/>
                <a:cs typeface="Calibri"/>
              </a:rPr>
              <a:t>phases</a:t>
            </a:r>
            <a:endParaRPr sz="2600" dirty="0">
              <a:latin typeface="Calibri"/>
              <a:cs typeface="Calibri"/>
            </a:endParaRPr>
          </a:p>
          <a:p>
            <a:pPr marL="241300" indent="-228600">
              <a:lnSpc>
                <a:spcPct val="100000"/>
              </a:lnSpc>
              <a:spcBef>
                <a:spcPts val="60"/>
              </a:spcBef>
              <a:buFont typeface="Arial MT"/>
              <a:buChar char="•"/>
              <a:tabLst>
                <a:tab pos="241300" algn="l"/>
              </a:tabLst>
            </a:pPr>
            <a:r>
              <a:rPr sz="2600" spc="-15" dirty="0">
                <a:latin typeface="Calibri"/>
                <a:cs typeface="Calibri"/>
              </a:rPr>
              <a:t>First</a:t>
            </a:r>
            <a:r>
              <a:rPr sz="2600" dirty="0">
                <a:latin typeface="Calibri"/>
                <a:cs typeface="Calibri"/>
              </a:rPr>
              <a:t> a</a:t>
            </a:r>
            <a:r>
              <a:rPr sz="2600" spc="5" dirty="0">
                <a:latin typeface="Calibri"/>
                <a:cs typeface="Calibri"/>
              </a:rPr>
              <a:t> </a:t>
            </a:r>
            <a:r>
              <a:rPr sz="2600" spc="-5" dirty="0">
                <a:latin typeface="Calibri"/>
                <a:cs typeface="Calibri"/>
              </a:rPr>
              <a:t>training</a:t>
            </a:r>
            <a:r>
              <a:rPr sz="2600" spc="-10" dirty="0">
                <a:latin typeface="Calibri"/>
                <a:cs typeface="Calibri"/>
              </a:rPr>
              <a:t> </a:t>
            </a:r>
            <a:r>
              <a:rPr sz="2600" dirty="0">
                <a:latin typeface="Calibri"/>
                <a:cs typeface="Calibri"/>
              </a:rPr>
              <a:t>input </a:t>
            </a:r>
            <a:r>
              <a:rPr sz="2600" spc="-10" dirty="0">
                <a:latin typeface="Calibri"/>
                <a:cs typeface="Calibri"/>
              </a:rPr>
              <a:t>pattern </a:t>
            </a:r>
            <a:r>
              <a:rPr sz="2600" dirty="0">
                <a:latin typeface="Calibri"/>
                <a:cs typeface="Calibri"/>
              </a:rPr>
              <a:t>is</a:t>
            </a:r>
            <a:r>
              <a:rPr sz="2600" spc="5" dirty="0">
                <a:latin typeface="Calibri"/>
                <a:cs typeface="Calibri"/>
              </a:rPr>
              <a:t> </a:t>
            </a:r>
            <a:r>
              <a:rPr sz="2600" spc="-10" dirty="0">
                <a:latin typeface="Calibri"/>
                <a:cs typeface="Calibri"/>
              </a:rPr>
              <a:t>presented</a:t>
            </a:r>
            <a:r>
              <a:rPr sz="2600" spc="-45" dirty="0">
                <a:latin typeface="Calibri"/>
                <a:cs typeface="Calibri"/>
              </a:rPr>
              <a:t> </a:t>
            </a:r>
            <a:r>
              <a:rPr sz="2600" spc="-10" dirty="0">
                <a:latin typeface="Calibri"/>
                <a:cs typeface="Calibri"/>
              </a:rPr>
              <a:t>to</a:t>
            </a:r>
            <a:r>
              <a:rPr sz="2600" spc="5" dirty="0">
                <a:latin typeface="Calibri"/>
                <a:cs typeface="Calibri"/>
              </a:rPr>
              <a:t> </a:t>
            </a:r>
            <a:r>
              <a:rPr sz="2600" dirty="0">
                <a:latin typeface="Calibri"/>
                <a:cs typeface="Calibri"/>
              </a:rPr>
              <a:t>the</a:t>
            </a:r>
            <a:r>
              <a:rPr sz="2600" spc="-5" dirty="0">
                <a:latin typeface="Calibri"/>
                <a:cs typeface="Calibri"/>
              </a:rPr>
              <a:t> </a:t>
            </a:r>
            <a:r>
              <a:rPr sz="2600" spc="-10" dirty="0">
                <a:latin typeface="Calibri"/>
                <a:cs typeface="Calibri"/>
              </a:rPr>
              <a:t>network</a:t>
            </a:r>
            <a:r>
              <a:rPr sz="2600" spc="-5" dirty="0">
                <a:latin typeface="Calibri"/>
                <a:cs typeface="Calibri"/>
              </a:rPr>
              <a:t> </a:t>
            </a:r>
            <a:r>
              <a:rPr sz="2600" dirty="0">
                <a:latin typeface="Calibri"/>
                <a:cs typeface="Calibri"/>
              </a:rPr>
              <a:t>input</a:t>
            </a:r>
            <a:r>
              <a:rPr sz="2600" spc="-15" dirty="0">
                <a:latin typeface="Calibri"/>
                <a:cs typeface="Calibri"/>
              </a:rPr>
              <a:t> </a:t>
            </a:r>
            <a:r>
              <a:rPr sz="2600" spc="-20" dirty="0">
                <a:latin typeface="Calibri"/>
                <a:cs typeface="Calibri"/>
              </a:rPr>
              <a:t>layer</a:t>
            </a:r>
            <a:endParaRPr sz="2600" dirty="0">
              <a:latin typeface="Calibri"/>
              <a:cs typeface="Calibri"/>
            </a:endParaRPr>
          </a:p>
          <a:p>
            <a:pPr marL="241300" marR="462915" indent="-228600">
              <a:lnSpc>
                <a:spcPct val="70000"/>
              </a:lnSpc>
              <a:spcBef>
                <a:spcPts val="1005"/>
              </a:spcBef>
              <a:buFont typeface="Arial MT"/>
              <a:buChar char="•"/>
              <a:tabLst>
                <a:tab pos="241300" algn="l"/>
              </a:tabLst>
            </a:pPr>
            <a:r>
              <a:rPr sz="2600" spc="-5" dirty="0">
                <a:latin typeface="Calibri"/>
                <a:cs typeface="Calibri"/>
              </a:rPr>
              <a:t>The</a:t>
            </a:r>
            <a:r>
              <a:rPr sz="2600" spc="-20" dirty="0">
                <a:latin typeface="Calibri"/>
                <a:cs typeface="Calibri"/>
              </a:rPr>
              <a:t> </a:t>
            </a:r>
            <a:r>
              <a:rPr sz="2600" spc="-5" dirty="0">
                <a:latin typeface="Calibri"/>
                <a:cs typeface="Calibri"/>
              </a:rPr>
              <a:t>network </a:t>
            </a:r>
            <a:r>
              <a:rPr sz="2600" spc="-15" dirty="0">
                <a:latin typeface="Calibri"/>
                <a:cs typeface="Calibri"/>
              </a:rPr>
              <a:t>propagates </a:t>
            </a:r>
            <a:r>
              <a:rPr sz="2600" dirty="0">
                <a:latin typeface="Calibri"/>
                <a:cs typeface="Calibri"/>
              </a:rPr>
              <a:t>the input</a:t>
            </a:r>
            <a:r>
              <a:rPr sz="2600" spc="-15" dirty="0">
                <a:latin typeface="Calibri"/>
                <a:cs typeface="Calibri"/>
              </a:rPr>
              <a:t> </a:t>
            </a:r>
            <a:r>
              <a:rPr sz="2600" spc="-10" dirty="0">
                <a:latin typeface="Calibri"/>
                <a:cs typeface="Calibri"/>
              </a:rPr>
              <a:t>pattern from </a:t>
            </a:r>
            <a:r>
              <a:rPr sz="2600" spc="-15" dirty="0">
                <a:latin typeface="Calibri"/>
                <a:cs typeface="Calibri"/>
              </a:rPr>
              <a:t>layer</a:t>
            </a:r>
            <a:r>
              <a:rPr sz="2600" spc="5" dirty="0">
                <a:latin typeface="Calibri"/>
                <a:cs typeface="Calibri"/>
              </a:rPr>
              <a:t> </a:t>
            </a:r>
            <a:r>
              <a:rPr sz="2600" spc="-10" dirty="0">
                <a:latin typeface="Calibri"/>
                <a:cs typeface="Calibri"/>
              </a:rPr>
              <a:t>to</a:t>
            </a:r>
            <a:r>
              <a:rPr sz="2600" spc="-5" dirty="0">
                <a:latin typeface="Calibri"/>
                <a:cs typeface="Calibri"/>
              </a:rPr>
              <a:t> </a:t>
            </a:r>
            <a:r>
              <a:rPr sz="2600" spc="-20" dirty="0">
                <a:latin typeface="Calibri"/>
                <a:cs typeface="Calibri"/>
              </a:rPr>
              <a:t>layer</a:t>
            </a:r>
            <a:r>
              <a:rPr sz="2600" dirty="0">
                <a:latin typeface="Calibri"/>
                <a:cs typeface="Calibri"/>
              </a:rPr>
              <a:t> </a:t>
            </a:r>
            <a:r>
              <a:rPr sz="2600" spc="-5" dirty="0">
                <a:latin typeface="Calibri"/>
                <a:cs typeface="Calibri"/>
              </a:rPr>
              <a:t>until</a:t>
            </a:r>
            <a:r>
              <a:rPr sz="2600" spc="5" dirty="0">
                <a:latin typeface="Calibri"/>
                <a:cs typeface="Calibri"/>
              </a:rPr>
              <a:t> </a:t>
            </a:r>
            <a:r>
              <a:rPr sz="2600" dirty="0">
                <a:latin typeface="Calibri"/>
                <a:cs typeface="Calibri"/>
              </a:rPr>
              <a:t>the </a:t>
            </a:r>
            <a:r>
              <a:rPr sz="2600" spc="-575" dirty="0">
                <a:latin typeface="Calibri"/>
                <a:cs typeface="Calibri"/>
              </a:rPr>
              <a:t> </a:t>
            </a:r>
            <a:r>
              <a:rPr sz="2600" spc="-5" dirty="0">
                <a:latin typeface="Calibri"/>
                <a:cs typeface="Calibri"/>
              </a:rPr>
              <a:t>output</a:t>
            </a:r>
            <a:r>
              <a:rPr sz="2600" dirty="0">
                <a:latin typeface="Calibri"/>
                <a:cs typeface="Calibri"/>
              </a:rPr>
              <a:t> </a:t>
            </a:r>
            <a:r>
              <a:rPr sz="2600" spc="-15" dirty="0">
                <a:latin typeface="Calibri"/>
                <a:cs typeface="Calibri"/>
              </a:rPr>
              <a:t>pattern </a:t>
            </a:r>
            <a:r>
              <a:rPr sz="2600" dirty="0">
                <a:latin typeface="Calibri"/>
                <a:cs typeface="Calibri"/>
              </a:rPr>
              <a:t>is</a:t>
            </a:r>
            <a:r>
              <a:rPr sz="2600" spc="-10" dirty="0">
                <a:latin typeface="Calibri"/>
                <a:cs typeface="Calibri"/>
              </a:rPr>
              <a:t> generated</a:t>
            </a:r>
            <a:r>
              <a:rPr sz="2600" spc="-35" dirty="0">
                <a:latin typeface="Calibri"/>
                <a:cs typeface="Calibri"/>
              </a:rPr>
              <a:t> </a:t>
            </a:r>
            <a:r>
              <a:rPr sz="2600" spc="-5" dirty="0">
                <a:latin typeface="Calibri"/>
                <a:cs typeface="Calibri"/>
              </a:rPr>
              <a:t>by</a:t>
            </a:r>
            <a:r>
              <a:rPr sz="2600" spc="-15" dirty="0">
                <a:latin typeface="Calibri"/>
                <a:cs typeface="Calibri"/>
              </a:rPr>
              <a:t> </a:t>
            </a:r>
            <a:r>
              <a:rPr sz="2600" dirty="0">
                <a:latin typeface="Calibri"/>
                <a:cs typeface="Calibri"/>
              </a:rPr>
              <a:t>the </a:t>
            </a:r>
            <a:r>
              <a:rPr sz="2600" spc="-5" dirty="0">
                <a:latin typeface="Calibri"/>
                <a:cs typeface="Calibri"/>
              </a:rPr>
              <a:t>output </a:t>
            </a:r>
            <a:r>
              <a:rPr sz="2600" spc="-20" dirty="0">
                <a:latin typeface="Calibri"/>
                <a:cs typeface="Calibri"/>
              </a:rPr>
              <a:t>layer</a:t>
            </a:r>
            <a:endParaRPr sz="2600" dirty="0">
              <a:latin typeface="Calibri"/>
              <a:cs typeface="Calibri"/>
            </a:endParaRPr>
          </a:p>
          <a:p>
            <a:pPr marL="241300" indent="-228600">
              <a:lnSpc>
                <a:spcPts val="2650"/>
              </a:lnSpc>
              <a:spcBef>
                <a:spcPts val="65"/>
              </a:spcBef>
              <a:buFont typeface="Arial MT"/>
              <a:buChar char="•"/>
              <a:tabLst>
                <a:tab pos="241300" algn="l"/>
              </a:tabLst>
            </a:pPr>
            <a:r>
              <a:rPr sz="2600" dirty="0">
                <a:latin typeface="Calibri"/>
                <a:cs typeface="Calibri"/>
              </a:rPr>
              <a:t>If this</a:t>
            </a:r>
            <a:r>
              <a:rPr sz="2600" spc="-5" dirty="0">
                <a:latin typeface="Calibri"/>
                <a:cs typeface="Calibri"/>
              </a:rPr>
              <a:t> </a:t>
            </a:r>
            <a:r>
              <a:rPr sz="2600" spc="-10" dirty="0">
                <a:latin typeface="Calibri"/>
                <a:cs typeface="Calibri"/>
              </a:rPr>
              <a:t>pattern</a:t>
            </a:r>
            <a:r>
              <a:rPr sz="2600" spc="-15" dirty="0">
                <a:latin typeface="Calibri"/>
                <a:cs typeface="Calibri"/>
              </a:rPr>
              <a:t> </a:t>
            </a:r>
            <a:r>
              <a:rPr sz="2600" dirty="0">
                <a:latin typeface="Calibri"/>
                <a:cs typeface="Calibri"/>
              </a:rPr>
              <a:t>is</a:t>
            </a:r>
            <a:r>
              <a:rPr sz="2600" spc="5" dirty="0">
                <a:latin typeface="Calibri"/>
                <a:cs typeface="Calibri"/>
              </a:rPr>
              <a:t> </a:t>
            </a:r>
            <a:r>
              <a:rPr sz="2600" spc="-20" dirty="0">
                <a:latin typeface="Calibri"/>
                <a:cs typeface="Calibri"/>
              </a:rPr>
              <a:t>different</a:t>
            </a:r>
            <a:r>
              <a:rPr sz="2600" spc="-35" dirty="0">
                <a:latin typeface="Calibri"/>
                <a:cs typeface="Calibri"/>
              </a:rPr>
              <a:t> </a:t>
            </a:r>
            <a:r>
              <a:rPr sz="2600" spc="-10" dirty="0">
                <a:latin typeface="Calibri"/>
                <a:cs typeface="Calibri"/>
              </a:rPr>
              <a:t>from</a:t>
            </a:r>
            <a:r>
              <a:rPr sz="2600" dirty="0">
                <a:latin typeface="Calibri"/>
                <a:cs typeface="Calibri"/>
              </a:rPr>
              <a:t> the </a:t>
            </a:r>
            <a:r>
              <a:rPr sz="2600" spc="-10" dirty="0">
                <a:latin typeface="Calibri"/>
                <a:cs typeface="Calibri"/>
              </a:rPr>
              <a:t>desired</a:t>
            </a:r>
            <a:r>
              <a:rPr sz="2600" spc="-25" dirty="0">
                <a:latin typeface="Calibri"/>
                <a:cs typeface="Calibri"/>
              </a:rPr>
              <a:t> </a:t>
            </a:r>
            <a:r>
              <a:rPr sz="2600" dirty="0">
                <a:latin typeface="Calibri"/>
                <a:cs typeface="Calibri"/>
              </a:rPr>
              <a:t>output,</a:t>
            </a:r>
            <a:r>
              <a:rPr sz="2600" spc="-10" dirty="0">
                <a:latin typeface="Calibri"/>
                <a:cs typeface="Calibri"/>
              </a:rPr>
              <a:t> </a:t>
            </a:r>
            <a:r>
              <a:rPr sz="2600" dirty="0">
                <a:latin typeface="Calibri"/>
                <a:cs typeface="Calibri"/>
              </a:rPr>
              <a:t>an</a:t>
            </a:r>
            <a:r>
              <a:rPr sz="2600" spc="5" dirty="0">
                <a:latin typeface="Calibri"/>
                <a:cs typeface="Calibri"/>
              </a:rPr>
              <a:t> </a:t>
            </a:r>
            <a:r>
              <a:rPr sz="2600" spc="-5" dirty="0">
                <a:latin typeface="Calibri"/>
                <a:cs typeface="Calibri"/>
              </a:rPr>
              <a:t>error</a:t>
            </a:r>
            <a:r>
              <a:rPr sz="2600" spc="-10" dirty="0">
                <a:latin typeface="Calibri"/>
                <a:cs typeface="Calibri"/>
              </a:rPr>
              <a:t> </a:t>
            </a:r>
            <a:r>
              <a:rPr sz="2600" dirty="0">
                <a:latin typeface="Calibri"/>
                <a:cs typeface="Calibri"/>
              </a:rPr>
              <a:t>is</a:t>
            </a:r>
            <a:r>
              <a:rPr sz="2600" spc="5" dirty="0">
                <a:latin typeface="Calibri"/>
                <a:cs typeface="Calibri"/>
              </a:rPr>
              <a:t> </a:t>
            </a:r>
            <a:r>
              <a:rPr sz="2600" spc="-10" dirty="0">
                <a:latin typeface="Calibri"/>
                <a:cs typeface="Calibri"/>
              </a:rPr>
              <a:t>calculated</a:t>
            </a:r>
            <a:endParaRPr sz="2600" dirty="0">
              <a:latin typeface="Calibri"/>
              <a:cs typeface="Calibri"/>
            </a:endParaRPr>
          </a:p>
          <a:p>
            <a:pPr marL="241300" marR="167005">
              <a:lnSpc>
                <a:spcPct val="70000"/>
              </a:lnSpc>
              <a:spcBef>
                <a:spcPts val="465"/>
              </a:spcBef>
            </a:pPr>
            <a:r>
              <a:rPr sz="2600" dirty="0">
                <a:latin typeface="Calibri"/>
                <a:cs typeface="Calibri"/>
              </a:rPr>
              <a:t>and</a:t>
            </a:r>
            <a:r>
              <a:rPr sz="2600" spc="-5" dirty="0">
                <a:latin typeface="Calibri"/>
                <a:cs typeface="Calibri"/>
              </a:rPr>
              <a:t> </a:t>
            </a:r>
            <a:r>
              <a:rPr sz="2600" spc="-15" dirty="0">
                <a:latin typeface="Calibri"/>
                <a:cs typeface="Calibri"/>
              </a:rPr>
              <a:t>propagated </a:t>
            </a:r>
            <a:r>
              <a:rPr sz="2600" spc="-5" dirty="0">
                <a:latin typeface="Calibri"/>
                <a:cs typeface="Calibri"/>
              </a:rPr>
              <a:t>backward</a:t>
            </a:r>
            <a:r>
              <a:rPr sz="2600" spc="-10" dirty="0">
                <a:latin typeface="Calibri"/>
                <a:cs typeface="Calibri"/>
              </a:rPr>
              <a:t> </a:t>
            </a:r>
            <a:r>
              <a:rPr sz="2600" spc="-5" dirty="0">
                <a:latin typeface="Calibri"/>
                <a:cs typeface="Calibri"/>
              </a:rPr>
              <a:t>through </a:t>
            </a:r>
            <a:r>
              <a:rPr sz="2600" dirty="0">
                <a:latin typeface="Calibri"/>
                <a:cs typeface="Calibri"/>
              </a:rPr>
              <a:t>the</a:t>
            </a:r>
            <a:r>
              <a:rPr sz="2600" spc="-5" dirty="0">
                <a:latin typeface="Calibri"/>
                <a:cs typeface="Calibri"/>
              </a:rPr>
              <a:t> </a:t>
            </a:r>
            <a:r>
              <a:rPr sz="2600" spc="-10" dirty="0">
                <a:latin typeface="Calibri"/>
                <a:cs typeface="Calibri"/>
              </a:rPr>
              <a:t>network</a:t>
            </a:r>
            <a:r>
              <a:rPr sz="2600" spc="-5" dirty="0">
                <a:latin typeface="Calibri"/>
                <a:cs typeface="Calibri"/>
              </a:rPr>
              <a:t> </a:t>
            </a:r>
            <a:r>
              <a:rPr sz="2600" spc="-10" dirty="0">
                <a:latin typeface="Calibri"/>
                <a:cs typeface="Calibri"/>
              </a:rPr>
              <a:t>from</a:t>
            </a:r>
            <a:r>
              <a:rPr sz="2600" spc="-15" dirty="0">
                <a:latin typeface="Calibri"/>
                <a:cs typeface="Calibri"/>
              </a:rPr>
              <a:t> </a:t>
            </a:r>
            <a:r>
              <a:rPr sz="2600" dirty="0">
                <a:latin typeface="Calibri"/>
                <a:cs typeface="Calibri"/>
              </a:rPr>
              <a:t>the</a:t>
            </a:r>
            <a:r>
              <a:rPr sz="2600" spc="-5" dirty="0">
                <a:latin typeface="Calibri"/>
                <a:cs typeface="Calibri"/>
              </a:rPr>
              <a:t> output </a:t>
            </a:r>
            <a:r>
              <a:rPr sz="2600" spc="-20" dirty="0">
                <a:latin typeface="Calibri"/>
                <a:cs typeface="Calibri"/>
              </a:rPr>
              <a:t>layer</a:t>
            </a:r>
            <a:r>
              <a:rPr sz="2600" spc="5" dirty="0">
                <a:latin typeface="Calibri"/>
                <a:cs typeface="Calibri"/>
              </a:rPr>
              <a:t> </a:t>
            </a:r>
            <a:r>
              <a:rPr sz="2600" spc="-10" dirty="0">
                <a:latin typeface="Calibri"/>
                <a:cs typeface="Calibri"/>
              </a:rPr>
              <a:t>to </a:t>
            </a:r>
            <a:r>
              <a:rPr sz="2600" spc="-575" dirty="0">
                <a:latin typeface="Calibri"/>
                <a:cs typeface="Calibri"/>
              </a:rPr>
              <a:t> </a:t>
            </a:r>
            <a:r>
              <a:rPr sz="2600" dirty="0">
                <a:latin typeface="Calibri"/>
                <a:cs typeface="Calibri"/>
              </a:rPr>
              <a:t>input</a:t>
            </a:r>
            <a:r>
              <a:rPr sz="2600" spc="-20" dirty="0">
                <a:latin typeface="Calibri"/>
                <a:cs typeface="Calibri"/>
              </a:rPr>
              <a:t> </a:t>
            </a:r>
            <a:r>
              <a:rPr sz="2600" spc="-15" dirty="0">
                <a:latin typeface="Calibri"/>
                <a:cs typeface="Calibri"/>
              </a:rPr>
              <a:t>layer</a:t>
            </a:r>
            <a:endParaRPr sz="2600" dirty="0">
              <a:latin typeface="Calibri"/>
              <a:cs typeface="Calibri"/>
            </a:endParaRPr>
          </a:p>
          <a:p>
            <a:pPr marL="241300" indent="-228600">
              <a:lnSpc>
                <a:spcPct val="100000"/>
              </a:lnSpc>
              <a:spcBef>
                <a:spcPts val="65"/>
              </a:spcBef>
              <a:buFont typeface="Arial MT"/>
              <a:buChar char="•"/>
              <a:tabLst>
                <a:tab pos="241300" algn="l"/>
              </a:tabLst>
            </a:pPr>
            <a:r>
              <a:rPr sz="2600" dirty="0">
                <a:latin typeface="Calibri"/>
                <a:cs typeface="Calibri"/>
              </a:rPr>
              <a:t>The</a:t>
            </a:r>
            <a:r>
              <a:rPr sz="2600" spc="-30" dirty="0">
                <a:latin typeface="Calibri"/>
                <a:cs typeface="Calibri"/>
              </a:rPr>
              <a:t> </a:t>
            </a:r>
            <a:r>
              <a:rPr sz="2600" spc="-5" dirty="0">
                <a:latin typeface="Calibri"/>
                <a:cs typeface="Calibri"/>
              </a:rPr>
              <a:t>weights</a:t>
            </a:r>
            <a:r>
              <a:rPr sz="2600" spc="-20" dirty="0">
                <a:latin typeface="Calibri"/>
                <a:cs typeface="Calibri"/>
              </a:rPr>
              <a:t> </a:t>
            </a:r>
            <a:r>
              <a:rPr sz="2600" spc="-10" dirty="0">
                <a:latin typeface="Calibri"/>
                <a:cs typeface="Calibri"/>
              </a:rPr>
              <a:t>are</a:t>
            </a:r>
            <a:r>
              <a:rPr sz="2600" dirty="0">
                <a:latin typeface="Calibri"/>
                <a:cs typeface="Calibri"/>
              </a:rPr>
              <a:t> modified</a:t>
            </a:r>
            <a:r>
              <a:rPr sz="2600" spc="-5" dirty="0">
                <a:latin typeface="Calibri"/>
                <a:cs typeface="Calibri"/>
              </a:rPr>
              <a:t> </a:t>
            </a:r>
            <a:r>
              <a:rPr sz="2600" dirty="0">
                <a:latin typeface="Calibri"/>
                <a:cs typeface="Calibri"/>
              </a:rPr>
              <a:t>as</a:t>
            </a:r>
            <a:r>
              <a:rPr sz="2600" spc="-10" dirty="0">
                <a:latin typeface="Calibri"/>
                <a:cs typeface="Calibri"/>
              </a:rPr>
              <a:t> </a:t>
            </a:r>
            <a:r>
              <a:rPr sz="2600" dirty="0">
                <a:latin typeface="Calibri"/>
                <a:cs typeface="Calibri"/>
              </a:rPr>
              <a:t>the</a:t>
            </a:r>
            <a:r>
              <a:rPr sz="2600" spc="-15" dirty="0">
                <a:latin typeface="Calibri"/>
                <a:cs typeface="Calibri"/>
              </a:rPr>
              <a:t> </a:t>
            </a:r>
            <a:r>
              <a:rPr sz="2600" spc="-5" dirty="0">
                <a:latin typeface="Calibri"/>
                <a:cs typeface="Calibri"/>
              </a:rPr>
              <a:t>error</a:t>
            </a:r>
            <a:r>
              <a:rPr sz="2600" spc="-15" dirty="0">
                <a:latin typeface="Calibri"/>
                <a:cs typeface="Calibri"/>
              </a:rPr>
              <a:t> </a:t>
            </a:r>
            <a:r>
              <a:rPr sz="2600" dirty="0">
                <a:latin typeface="Calibri"/>
                <a:cs typeface="Calibri"/>
              </a:rPr>
              <a:t>is </a:t>
            </a:r>
            <a:r>
              <a:rPr sz="2600" spc="-15" dirty="0">
                <a:latin typeface="Calibri"/>
                <a:cs typeface="Calibri"/>
              </a:rPr>
              <a:t>propagated</a:t>
            </a:r>
            <a:endParaRPr sz="2600" dirty="0">
              <a:latin typeface="Calibri"/>
              <a:cs typeface="Calibri"/>
            </a:endParaRPr>
          </a:p>
          <a:p>
            <a:pPr marL="241300" indent="-228600">
              <a:lnSpc>
                <a:spcPts val="2650"/>
              </a:lnSpc>
              <a:spcBef>
                <a:spcPts val="70"/>
              </a:spcBef>
              <a:buFont typeface="Arial MT"/>
              <a:buChar char="•"/>
              <a:tabLst>
                <a:tab pos="241300" algn="l"/>
              </a:tabLst>
            </a:pPr>
            <a:r>
              <a:rPr sz="2600" spc="-5" dirty="0">
                <a:latin typeface="Calibri"/>
                <a:cs typeface="Calibri"/>
              </a:rPr>
              <a:t>Standard</a:t>
            </a:r>
            <a:r>
              <a:rPr sz="2600" spc="-10" dirty="0">
                <a:latin typeface="Calibri"/>
                <a:cs typeface="Calibri"/>
              </a:rPr>
              <a:t> </a:t>
            </a:r>
            <a:r>
              <a:rPr sz="2600" dirty="0">
                <a:latin typeface="Calibri"/>
                <a:cs typeface="Calibri"/>
              </a:rPr>
              <a:t>back</a:t>
            </a:r>
            <a:r>
              <a:rPr sz="2600" spc="5" dirty="0">
                <a:latin typeface="Calibri"/>
                <a:cs typeface="Calibri"/>
              </a:rPr>
              <a:t> </a:t>
            </a:r>
            <a:r>
              <a:rPr sz="2600" spc="-10" dirty="0">
                <a:latin typeface="Calibri"/>
                <a:cs typeface="Calibri"/>
              </a:rPr>
              <a:t>propagation</a:t>
            </a:r>
            <a:r>
              <a:rPr sz="2600" spc="-5" dirty="0">
                <a:latin typeface="Calibri"/>
                <a:cs typeface="Calibri"/>
              </a:rPr>
              <a:t> algorithm</a:t>
            </a:r>
            <a:r>
              <a:rPr sz="2600" dirty="0">
                <a:latin typeface="Calibri"/>
                <a:cs typeface="Calibri"/>
              </a:rPr>
              <a:t> </a:t>
            </a:r>
            <a:r>
              <a:rPr sz="2600" spc="-5" dirty="0">
                <a:latin typeface="Calibri"/>
                <a:cs typeface="Calibri"/>
              </a:rPr>
              <a:t>has </a:t>
            </a:r>
            <a:r>
              <a:rPr sz="2600" dirty="0">
                <a:latin typeface="Calibri"/>
                <a:cs typeface="Calibri"/>
              </a:rPr>
              <a:t>a</a:t>
            </a:r>
            <a:r>
              <a:rPr sz="2600" spc="5" dirty="0">
                <a:latin typeface="Calibri"/>
                <a:cs typeface="Calibri"/>
              </a:rPr>
              <a:t> </a:t>
            </a:r>
            <a:r>
              <a:rPr sz="2600" spc="-10" dirty="0">
                <a:latin typeface="Calibri"/>
                <a:cs typeface="Calibri"/>
              </a:rPr>
              <a:t>gradient</a:t>
            </a:r>
            <a:r>
              <a:rPr sz="2600" spc="-15" dirty="0">
                <a:latin typeface="Calibri"/>
                <a:cs typeface="Calibri"/>
              </a:rPr>
              <a:t> </a:t>
            </a:r>
            <a:r>
              <a:rPr sz="2600" spc="-5" dirty="0">
                <a:latin typeface="Calibri"/>
                <a:cs typeface="Calibri"/>
              </a:rPr>
              <a:t>descent</a:t>
            </a:r>
            <a:r>
              <a:rPr sz="2600" spc="-25" dirty="0">
                <a:latin typeface="Calibri"/>
                <a:cs typeface="Calibri"/>
              </a:rPr>
              <a:t> </a:t>
            </a:r>
            <a:r>
              <a:rPr sz="2600" spc="-5" dirty="0">
                <a:latin typeface="Calibri"/>
                <a:cs typeface="Calibri"/>
              </a:rPr>
              <a:t>algorithm</a:t>
            </a:r>
            <a:r>
              <a:rPr sz="2600" spc="-10" dirty="0">
                <a:latin typeface="Calibri"/>
                <a:cs typeface="Calibri"/>
              </a:rPr>
              <a:t> to</a:t>
            </a:r>
            <a:endParaRPr sz="2600" dirty="0">
              <a:latin typeface="Calibri"/>
              <a:cs typeface="Calibri"/>
            </a:endParaRPr>
          </a:p>
          <a:p>
            <a:pPr marL="241300" marR="5080">
              <a:lnSpc>
                <a:spcPct val="70000"/>
              </a:lnSpc>
              <a:spcBef>
                <a:spcPts val="470"/>
              </a:spcBef>
            </a:pPr>
            <a:r>
              <a:rPr sz="2600" spc="-5" dirty="0">
                <a:latin typeface="Calibri"/>
                <a:cs typeface="Calibri"/>
              </a:rPr>
              <a:t>adjust</a:t>
            </a:r>
            <a:r>
              <a:rPr sz="2600" spc="-15" dirty="0">
                <a:latin typeface="Calibri"/>
                <a:cs typeface="Calibri"/>
              </a:rPr>
              <a:t> </a:t>
            </a:r>
            <a:r>
              <a:rPr sz="2600" dirty="0">
                <a:latin typeface="Calibri"/>
                <a:cs typeface="Calibri"/>
              </a:rPr>
              <a:t>the</a:t>
            </a:r>
            <a:r>
              <a:rPr sz="2600" spc="-5" dirty="0">
                <a:latin typeface="Calibri"/>
                <a:cs typeface="Calibri"/>
              </a:rPr>
              <a:t> </a:t>
            </a:r>
            <a:r>
              <a:rPr sz="2600" spc="-10" dirty="0">
                <a:latin typeface="Calibri"/>
                <a:cs typeface="Calibri"/>
              </a:rPr>
              <a:t>network</a:t>
            </a:r>
            <a:r>
              <a:rPr sz="2600" spc="-5" dirty="0">
                <a:latin typeface="Calibri"/>
                <a:cs typeface="Calibri"/>
              </a:rPr>
              <a:t> weights</a:t>
            </a:r>
            <a:r>
              <a:rPr sz="2600" spc="5" dirty="0">
                <a:latin typeface="Calibri"/>
                <a:cs typeface="Calibri"/>
              </a:rPr>
              <a:t> </a:t>
            </a:r>
            <a:r>
              <a:rPr sz="2600" dirty="0">
                <a:latin typeface="Calibri"/>
                <a:cs typeface="Calibri"/>
              </a:rPr>
              <a:t>and </a:t>
            </a:r>
            <a:r>
              <a:rPr sz="2600" spc="-10" dirty="0">
                <a:latin typeface="Calibri"/>
                <a:cs typeface="Calibri"/>
              </a:rPr>
              <a:t>moved</a:t>
            </a:r>
            <a:r>
              <a:rPr sz="2600" spc="10" dirty="0">
                <a:latin typeface="Calibri"/>
                <a:cs typeface="Calibri"/>
              </a:rPr>
              <a:t> </a:t>
            </a:r>
            <a:r>
              <a:rPr sz="2600" dirty="0">
                <a:latin typeface="Calibri"/>
                <a:cs typeface="Calibri"/>
              </a:rPr>
              <a:t>along</a:t>
            </a:r>
            <a:r>
              <a:rPr sz="2600" spc="5" dirty="0">
                <a:latin typeface="Calibri"/>
                <a:cs typeface="Calibri"/>
              </a:rPr>
              <a:t> </a:t>
            </a:r>
            <a:r>
              <a:rPr sz="2600" dirty="0">
                <a:latin typeface="Calibri"/>
                <a:cs typeface="Calibri"/>
              </a:rPr>
              <a:t>the</a:t>
            </a:r>
            <a:r>
              <a:rPr sz="2600" spc="-5" dirty="0">
                <a:latin typeface="Calibri"/>
                <a:cs typeface="Calibri"/>
              </a:rPr>
              <a:t> </a:t>
            </a:r>
            <a:r>
              <a:rPr sz="2600" spc="-15" dirty="0">
                <a:latin typeface="Calibri"/>
                <a:cs typeface="Calibri"/>
              </a:rPr>
              <a:t>negative </a:t>
            </a:r>
            <a:r>
              <a:rPr sz="2600" spc="-5" dirty="0">
                <a:latin typeface="Calibri"/>
                <a:cs typeface="Calibri"/>
              </a:rPr>
              <a:t>of</a:t>
            </a:r>
            <a:r>
              <a:rPr sz="2600" dirty="0">
                <a:latin typeface="Calibri"/>
                <a:cs typeface="Calibri"/>
              </a:rPr>
              <a:t> the</a:t>
            </a:r>
            <a:r>
              <a:rPr sz="2600" spc="-5" dirty="0">
                <a:latin typeface="Calibri"/>
                <a:cs typeface="Calibri"/>
              </a:rPr>
              <a:t> </a:t>
            </a:r>
            <a:r>
              <a:rPr sz="2600" spc="-10" dirty="0">
                <a:latin typeface="Calibri"/>
                <a:cs typeface="Calibri"/>
              </a:rPr>
              <a:t>gradient </a:t>
            </a:r>
            <a:r>
              <a:rPr sz="2600" spc="-570" dirty="0">
                <a:latin typeface="Calibri"/>
                <a:cs typeface="Calibri"/>
              </a:rPr>
              <a:t> </a:t>
            </a:r>
            <a:r>
              <a:rPr sz="2600" dirty="0">
                <a:latin typeface="Calibri"/>
                <a:cs typeface="Calibri"/>
              </a:rPr>
              <a:t>of</a:t>
            </a:r>
            <a:r>
              <a:rPr sz="2600" spc="-10" dirty="0">
                <a:latin typeface="Calibri"/>
                <a:cs typeface="Calibri"/>
              </a:rPr>
              <a:t> </a:t>
            </a:r>
            <a:r>
              <a:rPr sz="2600" dirty="0">
                <a:latin typeface="Calibri"/>
                <a:cs typeface="Calibri"/>
              </a:rPr>
              <a:t>the</a:t>
            </a:r>
            <a:r>
              <a:rPr sz="2600" spc="-10" dirty="0">
                <a:latin typeface="Calibri"/>
                <a:cs typeface="Calibri"/>
              </a:rPr>
              <a:t> performance</a:t>
            </a:r>
            <a:r>
              <a:rPr sz="2600" spc="-20" dirty="0">
                <a:latin typeface="Calibri"/>
                <a:cs typeface="Calibri"/>
              </a:rPr>
              <a:t> </a:t>
            </a:r>
            <a:r>
              <a:rPr sz="2600" dirty="0">
                <a:latin typeface="Calibri"/>
                <a:cs typeface="Calibri"/>
              </a:rPr>
              <a:t>function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9376E9-B70C-4ED1-83CB-521E0ED4A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304800"/>
            <a:ext cx="5962650" cy="4076700"/>
          </a:xfrm>
          <a:prstGeom prst="rect">
            <a:avLst/>
          </a:prstGeom>
        </p:spPr>
      </p:pic>
    </p:spTree>
    <p:extLst>
      <p:ext uri="{BB962C8B-B14F-4D97-AF65-F5344CB8AC3E}">
        <p14:creationId xmlns:p14="http://schemas.microsoft.com/office/powerpoint/2010/main" val="7854665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219700" cy="697230"/>
          </a:xfrm>
          <a:prstGeom prst="rect">
            <a:avLst/>
          </a:prstGeom>
        </p:spPr>
        <p:txBody>
          <a:bodyPr vert="horz" wrap="square" lIns="0" tIns="13335" rIns="0" bIns="0" rtlCol="0">
            <a:spAutoFit/>
          </a:bodyPr>
          <a:lstStyle/>
          <a:p>
            <a:pPr marL="12700">
              <a:lnSpc>
                <a:spcPct val="100000"/>
              </a:lnSpc>
              <a:spcBef>
                <a:spcPts val="105"/>
              </a:spcBef>
            </a:pPr>
            <a:r>
              <a:rPr sz="4400" spc="-5" dirty="0"/>
              <a:t>Other</a:t>
            </a:r>
            <a:r>
              <a:rPr sz="4400" spc="-30" dirty="0"/>
              <a:t> </a:t>
            </a:r>
            <a:r>
              <a:rPr sz="4400" spc="-15" dirty="0"/>
              <a:t>Neural</a:t>
            </a:r>
            <a:r>
              <a:rPr sz="4400" spc="-25" dirty="0"/>
              <a:t> </a:t>
            </a:r>
            <a:r>
              <a:rPr sz="4400" spc="-20" dirty="0"/>
              <a:t>Networks</a:t>
            </a:r>
            <a:endParaRPr sz="4400"/>
          </a:p>
        </p:txBody>
      </p:sp>
      <p:sp>
        <p:nvSpPr>
          <p:cNvPr id="3" name="object 3"/>
          <p:cNvSpPr txBox="1"/>
          <p:nvPr/>
        </p:nvSpPr>
        <p:spPr>
          <a:xfrm>
            <a:off x="916939" y="1706841"/>
            <a:ext cx="3914140" cy="156146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Hopfield</a:t>
            </a:r>
            <a:r>
              <a:rPr sz="2800" spc="-15" dirty="0">
                <a:latin typeface="Calibri"/>
                <a:cs typeface="Calibri"/>
              </a:rPr>
              <a:t> Neural</a:t>
            </a:r>
            <a:r>
              <a:rPr sz="2800" spc="-10" dirty="0">
                <a:latin typeface="Calibri"/>
                <a:cs typeface="Calibri"/>
              </a:rPr>
              <a:t> Network</a:t>
            </a:r>
            <a:endParaRPr sz="2800">
              <a:latin typeface="Calibri"/>
              <a:cs typeface="Calibri"/>
            </a:endParaRPr>
          </a:p>
          <a:p>
            <a:pPr marL="241300" indent="-228600">
              <a:lnSpc>
                <a:spcPct val="100000"/>
              </a:lnSpc>
              <a:spcBef>
                <a:spcPts val="675"/>
              </a:spcBef>
              <a:buFont typeface="Arial MT"/>
              <a:buChar char="•"/>
              <a:tabLst>
                <a:tab pos="241300" algn="l"/>
              </a:tabLst>
            </a:pPr>
            <a:r>
              <a:rPr sz="2800" spc="-15" dirty="0">
                <a:latin typeface="Calibri"/>
                <a:cs typeface="Calibri"/>
              </a:rPr>
              <a:t>Kohonen</a:t>
            </a:r>
            <a:r>
              <a:rPr sz="2800" spc="-30" dirty="0">
                <a:latin typeface="Calibri"/>
                <a:cs typeface="Calibri"/>
              </a:rPr>
              <a:t> </a:t>
            </a:r>
            <a:r>
              <a:rPr sz="2800" spc="-15" dirty="0">
                <a:latin typeface="Calibri"/>
                <a:cs typeface="Calibri"/>
              </a:rPr>
              <a:t>Neural </a:t>
            </a:r>
            <a:r>
              <a:rPr sz="2800" spc="-10" dirty="0">
                <a:latin typeface="Calibri"/>
                <a:cs typeface="Calibri"/>
              </a:rPr>
              <a:t>Network</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Adaline</a:t>
            </a:r>
            <a:r>
              <a:rPr sz="2800" spc="-35" dirty="0">
                <a:latin typeface="Calibri"/>
                <a:cs typeface="Calibri"/>
              </a:rPr>
              <a:t> </a:t>
            </a:r>
            <a:r>
              <a:rPr sz="2800" spc="-15" dirty="0">
                <a:latin typeface="Calibri"/>
                <a:cs typeface="Calibri"/>
              </a:rPr>
              <a:t>Neural</a:t>
            </a:r>
            <a:r>
              <a:rPr sz="2800" spc="-30" dirty="0">
                <a:latin typeface="Calibri"/>
                <a:cs typeface="Calibri"/>
              </a:rPr>
              <a:t> </a:t>
            </a:r>
            <a:r>
              <a:rPr sz="2800" spc="-10" dirty="0">
                <a:latin typeface="Calibri"/>
                <a:cs typeface="Calibri"/>
              </a:rPr>
              <a:t>Network</a:t>
            </a:r>
            <a:endParaRPr sz="28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8E0F19-1A22-4529-A93F-B86E981C9A34}"/>
              </a:ext>
            </a:extLst>
          </p:cNvPr>
          <p:cNvSpPr txBox="1"/>
          <p:nvPr/>
        </p:nvSpPr>
        <p:spPr>
          <a:xfrm>
            <a:off x="762000" y="304800"/>
            <a:ext cx="2743200" cy="461665"/>
          </a:xfrm>
          <a:prstGeom prst="rect">
            <a:avLst/>
          </a:prstGeom>
          <a:noFill/>
        </p:spPr>
        <p:txBody>
          <a:bodyPr wrap="square">
            <a:spAutoFit/>
          </a:bodyPr>
          <a:lstStyle/>
          <a:p>
            <a:r>
              <a:rPr lang="en-US" sz="2400" b="1" dirty="0"/>
              <a:t>Hopfield Networks</a:t>
            </a:r>
          </a:p>
        </p:txBody>
      </p:sp>
      <p:sp>
        <p:nvSpPr>
          <p:cNvPr id="5" name="TextBox 4">
            <a:extLst>
              <a:ext uri="{FF2B5EF4-FFF2-40B4-BE49-F238E27FC236}">
                <a16:creationId xmlns:a16="http://schemas.microsoft.com/office/drawing/2014/main" id="{12CB9A22-2882-4C58-95BB-3CAC998E6924}"/>
              </a:ext>
            </a:extLst>
          </p:cNvPr>
          <p:cNvSpPr txBox="1"/>
          <p:nvPr/>
        </p:nvSpPr>
        <p:spPr>
          <a:xfrm>
            <a:off x="661736" y="1295400"/>
            <a:ext cx="11530263" cy="1200329"/>
          </a:xfrm>
          <a:prstGeom prst="rect">
            <a:avLst/>
          </a:prstGeom>
          <a:noFill/>
        </p:spPr>
        <p:txBody>
          <a:bodyPr wrap="square">
            <a:spAutoFit/>
          </a:bodyPr>
          <a:lstStyle/>
          <a:p>
            <a:pPr marL="342900" indent="-342900">
              <a:buFont typeface="Arial" panose="020B0604020202020204" pitchFamily="34" charset="0"/>
              <a:buChar char="•"/>
            </a:pPr>
            <a:r>
              <a:rPr lang="en-US" sz="2400" dirty="0"/>
              <a:t>It consists of a single layer which contains one or more fully connected recurrent neurons. </a:t>
            </a:r>
          </a:p>
          <a:p>
            <a:pPr marL="342900" indent="-342900">
              <a:buFont typeface="Arial" panose="020B0604020202020204" pitchFamily="34" charset="0"/>
              <a:buChar char="•"/>
            </a:pPr>
            <a:r>
              <a:rPr lang="en-US" sz="2400" dirty="0"/>
              <a:t>The Hopfield network is commonly used for auto-association and optimization tasks.</a:t>
            </a:r>
          </a:p>
        </p:txBody>
      </p:sp>
      <p:sp>
        <p:nvSpPr>
          <p:cNvPr id="6" name="Rectangle 1">
            <a:extLst>
              <a:ext uri="{FF2B5EF4-FFF2-40B4-BE49-F238E27FC236}">
                <a16:creationId xmlns:a16="http://schemas.microsoft.com/office/drawing/2014/main" id="{1415330B-AB4E-4A30-AADF-23D9FFF4A66B}"/>
              </a:ext>
            </a:extLst>
          </p:cNvPr>
          <p:cNvSpPr>
            <a:spLocks noChangeArrowheads="1"/>
          </p:cNvSpPr>
          <p:nvPr/>
        </p:nvSpPr>
        <p:spPr bwMode="auto">
          <a:xfrm>
            <a:off x="661736" y="3396734"/>
            <a:ext cx="101105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Discrete Hopfield Network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Hopfield network which operates in a discrete line fashion or in other words, </a:t>
            </a:r>
            <a:r>
              <a:rPr kumimoji="0" lang="en-US" altLang="en-US" sz="2400" b="0" i="0" u="none" strike="noStrike" cap="none" normalizeH="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it can be said the input and output patterns are discrete vector, which can be either binary </a:t>
            </a:r>
            <a:r>
              <a:rPr kumimoji="0" lang="en-US" altLang="en-US" sz="2400" b="0" i="0" u="none" strike="noStrike" cap="none" normalizeH="0" baseline="0" dirty="0">
                <a:ln>
                  <a:noFill/>
                </a:ln>
                <a:solidFill>
                  <a:schemeClr val="tx1"/>
                </a:solidFill>
                <a:effectLst/>
                <a:latin typeface="MathJax_Main"/>
              </a:rPr>
              <a:t>0,1</a:t>
            </a:r>
            <a:r>
              <a:rPr lang="en-US" altLang="en-US" sz="2400" dirty="0"/>
              <a:t> </a:t>
            </a:r>
            <a:r>
              <a:rPr kumimoji="0" lang="en-US" altLang="en-US" sz="2400" b="0" i="0" u="none" strike="noStrike" cap="none" normalizeH="0" baseline="0" dirty="0">
                <a:ln>
                  <a:noFill/>
                </a:ln>
                <a:solidFill>
                  <a:schemeClr val="tx1"/>
                </a:solidFill>
                <a:effectLst/>
                <a:latin typeface="Arial" panose="020B0604020202020204" pitchFamily="34" charset="0"/>
              </a:rPr>
              <a:t>or bipolar </a:t>
            </a:r>
            <a:r>
              <a:rPr kumimoji="0" lang="en-US" altLang="en-US" sz="2400" b="0" i="0" u="none" strike="noStrike" cap="none" normalizeH="0" baseline="0" dirty="0">
                <a:ln>
                  <a:noFill/>
                </a:ln>
                <a:solidFill>
                  <a:schemeClr val="tx1"/>
                </a:solidFill>
                <a:effectLst/>
                <a:latin typeface="MathJax_Main"/>
              </a:rPr>
              <a:t>+1,−1</a:t>
            </a:r>
            <a:r>
              <a:rPr kumimoji="0" lang="en-US" altLang="en-US" sz="2400" b="0" i="0" u="none" strike="noStrike" cap="none" normalizeH="0" baseline="0" dirty="0">
                <a:ln>
                  <a:noFill/>
                </a:ln>
                <a:solidFill>
                  <a:schemeClr val="tx1"/>
                </a:solidFill>
                <a:effectLst/>
              </a:rPr>
              <a:t> in nature.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rPr>
              <a:t>The network has symmetrical weights with no self-connections i.e., </a:t>
            </a:r>
            <a:r>
              <a:rPr kumimoji="0" lang="en-US" altLang="en-US" sz="2400" b="1" i="0" u="none" strike="noStrike" cap="none" normalizeH="0" baseline="0" dirty="0" err="1">
                <a:ln>
                  <a:noFill/>
                </a:ln>
                <a:solidFill>
                  <a:schemeClr val="tx1"/>
                </a:solidFill>
                <a:effectLst/>
                <a:latin typeface="Arial" panose="020B0604020202020204" pitchFamily="34" charset="0"/>
              </a:rPr>
              <a:t>w</a:t>
            </a:r>
            <a:r>
              <a:rPr kumimoji="0" lang="en-US" altLang="en-US" sz="2400" b="1" i="0" u="none" strike="noStrike" cap="none" normalizeH="0" baseline="-30000" dirty="0" err="1">
                <a:ln>
                  <a:noFill/>
                </a:ln>
                <a:solidFill>
                  <a:schemeClr val="tx1"/>
                </a:solidFill>
                <a:effectLst/>
                <a:latin typeface="Arial" panose="020B0604020202020204" pitchFamily="34" charset="0"/>
              </a:rPr>
              <a:t>ij</a:t>
            </a:r>
            <a:r>
              <a:rPr kumimoji="0" lang="en-US" altLang="en-US" sz="2400" b="1" i="0" u="none" strike="noStrike" cap="none" normalizeH="0" baseline="0" dirty="0">
                <a:ln>
                  <a:noFill/>
                </a:ln>
                <a:solidFill>
                  <a:schemeClr val="tx1"/>
                </a:solidFill>
                <a:effectLst/>
                <a:latin typeface="Arial" panose="020B0604020202020204" pitchFamily="34" charset="0"/>
              </a:rPr>
              <a:t> = </a:t>
            </a:r>
            <a:r>
              <a:rPr kumimoji="0" lang="en-US" altLang="en-US" sz="2400" b="1" i="0" u="none" strike="noStrike" cap="none" normalizeH="0" baseline="0" dirty="0" err="1">
                <a:ln>
                  <a:noFill/>
                </a:ln>
                <a:solidFill>
                  <a:schemeClr val="tx1"/>
                </a:solidFill>
                <a:effectLst/>
                <a:latin typeface="Arial" panose="020B0604020202020204" pitchFamily="34" charset="0"/>
              </a:rPr>
              <a:t>w</a:t>
            </a:r>
            <a:r>
              <a:rPr kumimoji="0" lang="en-US" altLang="en-US" sz="2400" b="1" i="0" u="none" strike="noStrike" cap="none" normalizeH="0" baseline="-30000" dirty="0" err="1">
                <a:ln>
                  <a:noFill/>
                </a:ln>
                <a:solidFill>
                  <a:schemeClr val="tx1"/>
                </a:solidFill>
                <a:effectLst/>
                <a:latin typeface="Arial" panose="020B0604020202020204" pitchFamily="34" charset="0"/>
              </a:rPr>
              <a:t>ji</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err="1">
                <a:ln>
                  <a:noFill/>
                </a:ln>
                <a:solidFill>
                  <a:schemeClr val="tx1"/>
                </a:solidFill>
                <a:effectLst/>
                <a:latin typeface="Arial" panose="020B0604020202020204" pitchFamily="34" charset="0"/>
              </a:rPr>
              <a:t>w</a:t>
            </a:r>
            <a:r>
              <a:rPr kumimoji="0" lang="en-US" altLang="en-US" sz="2400" b="1" i="0" u="none" strike="noStrike" cap="none" normalizeH="0" baseline="-30000" dirty="0" err="1">
                <a:ln>
                  <a:noFill/>
                </a:ln>
                <a:solidFill>
                  <a:schemeClr val="tx1"/>
                </a:solidFill>
                <a:effectLst/>
                <a:latin typeface="Arial" panose="020B0604020202020204" pitchFamily="34" charset="0"/>
              </a:rPr>
              <a:t>ii</a:t>
            </a:r>
            <a:r>
              <a:rPr kumimoji="0" lang="en-US" altLang="en-US" sz="2400" b="1" i="0" u="none" strike="noStrike" cap="none" normalizeH="0" baseline="0" dirty="0">
                <a:ln>
                  <a:noFill/>
                </a:ln>
                <a:solidFill>
                  <a:schemeClr val="tx1"/>
                </a:solidFill>
                <a:effectLst/>
                <a:latin typeface="Arial" panose="020B0604020202020204" pitchFamily="34" charset="0"/>
              </a:rPr>
              <a:t> = 0</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692977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89FBA2-C7DA-40F1-8088-06DEFF6BC9EE}"/>
              </a:ext>
            </a:extLst>
          </p:cNvPr>
          <p:cNvSpPr txBox="1"/>
          <p:nvPr/>
        </p:nvSpPr>
        <p:spPr>
          <a:xfrm>
            <a:off x="685800" y="381000"/>
            <a:ext cx="11201400" cy="5632311"/>
          </a:xfrm>
          <a:prstGeom prst="rect">
            <a:avLst/>
          </a:prstGeom>
          <a:noFill/>
        </p:spPr>
        <p:txBody>
          <a:bodyPr wrap="square">
            <a:spAutoFit/>
          </a:bodyPr>
          <a:lstStyle/>
          <a:p>
            <a:r>
              <a:rPr lang="en-US" sz="2400" b="1" dirty="0"/>
              <a:t>Architecture</a:t>
            </a:r>
          </a:p>
          <a:p>
            <a:endParaRPr lang="en-US" sz="2400" b="1" dirty="0"/>
          </a:p>
          <a:p>
            <a:r>
              <a:rPr lang="en-US" sz="2400" dirty="0"/>
              <a:t>Following are some important points to keep in mind about discrete Hopfield network −</a:t>
            </a:r>
          </a:p>
          <a:p>
            <a:endParaRPr lang="en-US" sz="2400" dirty="0"/>
          </a:p>
          <a:p>
            <a:pPr>
              <a:buFont typeface="Arial" panose="020B0604020202020204" pitchFamily="34" charset="0"/>
              <a:buChar char="•"/>
            </a:pPr>
            <a:r>
              <a:rPr lang="en-US" sz="2400" dirty="0"/>
              <a:t>This model consists of neurons with one inverting and one non-inverting output.</a:t>
            </a:r>
          </a:p>
          <a:p>
            <a:pPr>
              <a:buFont typeface="Arial" panose="020B0604020202020204" pitchFamily="34" charset="0"/>
              <a:buChar char="•"/>
            </a:pPr>
            <a:endParaRPr lang="en-US" sz="2400" dirty="0"/>
          </a:p>
          <a:p>
            <a:pPr>
              <a:buFont typeface="Arial" panose="020B0604020202020204" pitchFamily="34" charset="0"/>
              <a:buChar char="•"/>
            </a:pPr>
            <a:r>
              <a:rPr lang="en-US" sz="2400" dirty="0"/>
              <a:t>The output of each neuron should be the input of other neurons but not the input of self.</a:t>
            </a:r>
          </a:p>
          <a:p>
            <a:pPr>
              <a:buFont typeface="Arial" panose="020B0604020202020204" pitchFamily="34" charset="0"/>
              <a:buChar char="•"/>
            </a:pPr>
            <a:endParaRPr lang="en-US" sz="2400" dirty="0"/>
          </a:p>
          <a:p>
            <a:pPr>
              <a:buFont typeface="Arial" panose="020B0604020202020204" pitchFamily="34" charset="0"/>
              <a:buChar char="•"/>
            </a:pPr>
            <a:r>
              <a:rPr lang="en-US" sz="2400" dirty="0"/>
              <a:t>Weight/connection strength is represented by </a:t>
            </a:r>
            <a:r>
              <a:rPr lang="en-US" sz="2400" b="1" dirty="0" err="1"/>
              <a:t>w</a:t>
            </a:r>
            <a:r>
              <a:rPr lang="en-US" sz="2400" b="1" baseline="-25000" dirty="0" err="1"/>
              <a:t>ij</a:t>
            </a:r>
            <a:r>
              <a:rPr lang="en-US" sz="2400" dirty="0"/>
              <a:t>.</a:t>
            </a:r>
          </a:p>
          <a:p>
            <a:pPr>
              <a:buFont typeface="Arial" panose="020B0604020202020204" pitchFamily="34" charset="0"/>
              <a:buChar char="•"/>
            </a:pPr>
            <a:endParaRPr lang="en-US" sz="2400" dirty="0"/>
          </a:p>
          <a:p>
            <a:pPr>
              <a:buFont typeface="Arial" panose="020B0604020202020204" pitchFamily="34" charset="0"/>
              <a:buChar char="•"/>
            </a:pPr>
            <a:r>
              <a:rPr lang="en-US" sz="2400" dirty="0"/>
              <a:t>Connections can be excitatory as well as inhibitory. It would be excitatory, if the output of the neuron is same as the input, otherwise inhibitory.</a:t>
            </a:r>
          </a:p>
          <a:p>
            <a:pPr>
              <a:buFont typeface="Arial" panose="020B0604020202020204" pitchFamily="34" charset="0"/>
              <a:buChar char="•"/>
            </a:pPr>
            <a:endParaRPr lang="en-US" sz="2400" dirty="0"/>
          </a:p>
          <a:p>
            <a:pPr>
              <a:buFont typeface="Arial" panose="020B0604020202020204" pitchFamily="34" charset="0"/>
              <a:buChar char="•"/>
            </a:pPr>
            <a:r>
              <a:rPr lang="en-US" sz="2400" dirty="0"/>
              <a:t>Weights should be symmetrical, i.e. </a:t>
            </a:r>
            <a:r>
              <a:rPr lang="en-US" sz="2400" b="1" dirty="0" err="1"/>
              <a:t>w</a:t>
            </a:r>
            <a:r>
              <a:rPr lang="en-US" sz="2400" b="1" baseline="-25000" dirty="0" err="1"/>
              <a:t>ij</a:t>
            </a:r>
            <a:r>
              <a:rPr lang="en-US" sz="2400" b="1" dirty="0"/>
              <a:t> = </a:t>
            </a:r>
            <a:r>
              <a:rPr lang="en-US" sz="2400" b="1" dirty="0" err="1"/>
              <a:t>w</a:t>
            </a:r>
            <a:r>
              <a:rPr lang="en-US" sz="2400" b="1" baseline="-25000" dirty="0" err="1"/>
              <a:t>ji</a:t>
            </a:r>
            <a:endParaRPr lang="en-US" sz="2400" dirty="0"/>
          </a:p>
        </p:txBody>
      </p:sp>
    </p:spTree>
    <p:extLst>
      <p:ext uri="{BB962C8B-B14F-4D97-AF65-F5344CB8AC3E}">
        <p14:creationId xmlns:p14="http://schemas.microsoft.com/office/powerpoint/2010/main" val="26752866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708ECC-41A6-47F6-966C-7F118CE10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609600"/>
            <a:ext cx="7467600" cy="6019800"/>
          </a:xfrm>
          <a:prstGeom prst="rect">
            <a:avLst/>
          </a:prstGeom>
        </p:spPr>
      </p:pic>
    </p:spTree>
    <p:extLst>
      <p:ext uri="{BB962C8B-B14F-4D97-AF65-F5344CB8AC3E}">
        <p14:creationId xmlns:p14="http://schemas.microsoft.com/office/powerpoint/2010/main" val="7973784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BBEA69-502B-43A4-AD6F-1C9210DDA624}"/>
              </a:ext>
            </a:extLst>
          </p:cNvPr>
          <p:cNvSpPr txBox="1"/>
          <p:nvPr/>
        </p:nvSpPr>
        <p:spPr>
          <a:xfrm>
            <a:off x="304800" y="1066800"/>
            <a:ext cx="11353800" cy="5262979"/>
          </a:xfrm>
          <a:prstGeom prst="rect">
            <a:avLst/>
          </a:prstGeom>
          <a:noFill/>
        </p:spPr>
        <p:txBody>
          <a:bodyPr wrap="square">
            <a:spAutoFit/>
          </a:bodyPr>
          <a:lstStyle/>
          <a:p>
            <a:pPr marL="342900" indent="-342900">
              <a:buFont typeface="Arial" panose="020B0604020202020204" pitchFamily="34" charset="0"/>
              <a:buChar char="•"/>
            </a:pPr>
            <a:r>
              <a:rPr lang="en-US" sz="2400" dirty="0" err="1"/>
              <a:t>Kohonen's</a:t>
            </a:r>
            <a:r>
              <a:rPr lang="en-US" sz="2400" dirty="0"/>
              <a:t> networks are one of basic types of self-organizing neural networks.</a:t>
            </a:r>
          </a:p>
          <a:p>
            <a:pPr marL="342900" indent="-342900">
              <a:buFont typeface="Arial" panose="020B0604020202020204" pitchFamily="34" charset="0"/>
              <a:buChar char="•"/>
            </a:pPr>
            <a:r>
              <a:rPr lang="en-US" sz="2400" dirty="0"/>
              <a:t>The ability to self-organize provides new possibilities - adaptation to formerly unknown input data. </a:t>
            </a:r>
          </a:p>
          <a:p>
            <a:pPr marL="342900" indent="-342900">
              <a:buFont typeface="Arial" panose="020B0604020202020204" pitchFamily="34" charset="0"/>
              <a:buChar char="•"/>
            </a:pPr>
            <a:r>
              <a:rPr lang="en-US" sz="2400" dirty="0"/>
              <a:t>It seems to be the most natural way of learning, which is used in our brains, where no patterns are defined. </a:t>
            </a:r>
          </a:p>
          <a:p>
            <a:pPr marL="342900" indent="-342900">
              <a:buFont typeface="Arial" panose="020B0604020202020204" pitchFamily="34" charset="0"/>
              <a:buChar char="•"/>
            </a:pPr>
            <a:r>
              <a:rPr lang="en-US" sz="2400" dirty="0"/>
              <a:t>Those patterns take shape during the learning process, which is combined with normal work. </a:t>
            </a:r>
          </a:p>
          <a:p>
            <a:pPr marL="342900" indent="-342900">
              <a:buFont typeface="Arial" panose="020B0604020202020204" pitchFamily="34" charset="0"/>
              <a:buChar char="•"/>
            </a:pPr>
            <a:r>
              <a:rPr lang="en-US" sz="2400" dirty="0" err="1"/>
              <a:t>Kohonen's</a:t>
            </a:r>
            <a:r>
              <a:rPr lang="en-US" sz="2400" dirty="0"/>
              <a:t> networks are a synonym of whole group of nets which make use of self-organizing, competitive type learning method.</a:t>
            </a:r>
          </a:p>
          <a:p>
            <a:pPr marL="342900" indent="-342900">
              <a:buFont typeface="Arial" panose="020B0604020202020204" pitchFamily="34" charset="0"/>
              <a:buChar char="•"/>
            </a:pPr>
            <a:r>
              <a:rPr lang="en-US" sz="2400" dirty="0"/>
              <a:t> We set up signals on net's inputs and then choose winning neuron, the one which corresponds with input vector in the best way. </a:t>
            </a:r>
          </a:p>
          <a:p>
            <a:pPr marL="342900" indent="-342900">
              <a:buFont typeface="Arial" panose="020B0604020202020204" pitchFamily="34" charset="0"/>
              <a:buChar char="•"/>
            </a:pPr>
            <a:r>
              <a:rPr lang="en-US" sz="2400" dirty="0"/>
              <a:t>Precise scheme of rivalry and later modifications of synaptic wages may have various forms. There are many sub-types based on rivalry, which differ themselves by precise self-organizing algorithm</a:t>
            </a:r>
            <a:r>
              <a:rPr lang="en-US" sz="2000" dirty="0"/>
              <a:t>.</a:t>
            </a:r>
          </a:p>
        </p:txBody>
      </p:sp>
      <p:sp>
        <p:nvSpPr>
          <p:cNvPr id="5" name="TextBox 4">
            <a:extLst>
              <a:ext uri="{FF2B5EF4-FFF2-40B4-BE49-F238E27FC236}">
                <a16:creationId xmlns:a16="http://schemas.microsoft.com/office/drawing/2014/main" id="{10E1F268-E87A-4207-BCA6-F60EE57B21B2}"/>
              </a:ext>
            </a:extLst>
          </p:cNvPr>
          <p:cNvSpPr txBox="1"/>
          <p:nvPr/>
        </p:nvSpPr>
        <p:spPr>
          <a:xfrm>
            <a:off x="0" y="228600"/>
            <a:ext cx="7162800" cy="461665"/>
          </a:xfrm>
          <a:prstGeom prst="rect">
            <a:avLst/>
          </a:prstGeom>
          <a:noFill/>
        </p:spPr>
        <p:txBody>
          <a:bodyPr wrap="square">
            <a:spAutoFit/>
          </a:bodyPr>
          <a:lstStyle/>
          <a:p>
            <a:pPr algn="ctr"/>
            <a:r>
              <a:rPr lang="en-US" sz="2400" b="1" dirty="0" err="1"/>
              <a:t>Kohonen's</a:t>
            </a:r>
            <a:r>
              <a:rPr lang="en-US" sz="2400" b="1" dirty="0"/>
              <a:t> neural networks(Self Organizing Map)</a:t>
            </a:r>
          </a:p>
        </p:txBody>
      </p:sp>
    </p:spTree>
    <p:extLst>
      <p:ext uri="{BB962C8B-B14F-4D97-AF65-F5344CB8AC3E}">
        <p14:creationId xmlns:p14="http://schemas.microsoft.com/office/powerpoint/2010/main" val="4534572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877746-7163-49F0-89FC-0D24A16B9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81000"/>
            <a:ext cx="9220200" cy="6400800"/>
          </a:xfrm>
          <a:prstGeom prst="rect">
            <a:avLst/>
          </a:prstGeom>
        </p:spPr>
      </p:pic>
    </p:spTree>
    <p:extLst>
      <p:ext uri="{BB962C8B-B14F-4D97-AF65-F5344CB8AC3E}">
        <p14:creationId xmlns:p14="http://schemas.microsoft.com/office/powerpoint/2010/main" val="21273584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A7C0A9-7D41-4855-9D32-6C5D1F12164E}"/>
              </a:ext>
            </a:extLst>
          </p:cNvPr>
          <p:cNvSpPr txBox="1"/>
          <p:nvPr/>
        </p:nvSpPr>
        <p:spPr>
          <a:xfrm>
            <a:off x="533400" y="228600"/>
            <a:ext cx="2971800" cy="400110"/>
          </a:xfrm>
          <a:prstGeom prst="rect">
            <a:avLst/>
          </a:prstGeom>
          <a:noFill/>
        </p:spPr>
        <p:txBody>
          <a:bodyPr wrap="square">
            <a:spAutoFit/>
          </a:bodyPr>
          <a:lstStyle/>
          <a:p>
            <a:r>
              <a:rPr lang="en-US" sz="2000" b="1" dirty="0"/>
              <a:t>Adaline neural networks</a:t>
            </a:r>
          </a:p>
        </p:txBody>
      </p:sp>
      <p:sp>
        <p:nvSpPr>
          <p:cNvPr id="5" name="TextBox 4">
            <a:extLst>
              <a:ext uri="{FF2B5EF4-FFF2-40B4-BE49-F238E27FC236}">
                <a16:creationId xmlns:a16="http://schemas.microsoft.com/office/drawing/2014/main" id="{54A1D449-3C1A-49CE-A627-5816ECB29209}"/>
              </a:ext>
            </a:extLst>
          </p:cNvPr>
          <p:cNvSpPr txBox="1"/>
          <p:nvPr/>
        </p:nvSpPr>
        <p:spPr>
          <a:xfrm>
            <a:off x="685800" y="1066800"/>
            <a:ext cx="11506200" cy="2554545"/>
          </a:xfrm>
          <a:prstGeom prst="rect">
            <a:avLst/>
          </a:prstGeom>
          <a:noFill/>
        </p:spPr>
        <p:txBody>
          <a:bodyPr wrap="square">
            <a:spAutoFit/>
          </a:bodyPr>
          <a:lstStyle/>
          <a:p>
            <a:pPr marL="342900" indent="-342900">
              <a:buFont typeface="Arial" panose="020B0604020202020204" pitchFamily="34" charset="0"/>
              <a:buChar char="•"/>
            </a:pPr>
            <a:r>
              <a:rPr lang="en-US" sz="2000" dirty="0"/>
              <a:t>Adaline which stands for Adaptive Linear Neuron, is a network having a single linear unit. It was developed by </a:t>
            </a:r>
            <a:r>
              <a:rPr lang="en-US" sz="2000" dirty="0" err="1"/>
              <a:t>Widrow</a:t>
            </a:r>
            <a:r>
              <a:rPr lang="en-US" sz="2000" dirty="0"/>
              <a:t> and Hoff in 1960. </a:t>
            </a:r>
          </a:p>
          <a:p>
            <a:pPr marL="342900" indent="-342900">
              <a:buFont typeface="Arial" panose="020B0604020202020204" pitchFamily="34" charset="0"/>
              <a:buChar char="•"/>
            </a:pPr>
            <a:r>
              <a:rPr lang="en-US" sz="2000" dirty="0"/>
              <a:t>Some important points about Adaline are as follows −</a:t>
            </a:r>
          </a:p>
          <a:p>
            <a:pPr marL="342900" indent="-342900">
              <a:buFont typeface="Arial" panose="020B0604020202020204" pitchFamily="34" charset="0"/>
              <a:buChar char="•"/>
            </a:pPr>
            <a:endParaRPr lang="en-US" sz="2000" dirty="0"/>
          </a:p>
          <a:p>
            <a:pPr>
              <a:buFont typeface="Arial" panose="020B0604020202020204" pitchFamily="34" charset="0"/>
              <a:buChar char="•"/>
            </a:pPr>
            <a:r>
              <a:rPr lang="en-US" sz="2000" dirty="0"/>
              <a:t>It uses bipolar activation function.</a:t>
            </a:r>
          </a:p>
          <a:p>
            <a:pPr>
              <a:buFont typeface="Arial" panose="020B0604020202020204" pitchFamily="34" charset="0"/>
              <a:buChar char="•"/>
            </a:pPr>
            <a:r>
              <a:rPr lang="en-US" sz="2000" dirty="0"/>
              <a:t>It uses delta rule for training to minimize the Mean-Squared Error (MSE) between the actual output and the desired/target output.</a:t>
            </a:r>
          </a:p>
          <a:p>
            <a:pPr>
              <a:buFont typeface="Arial" panose="020B0604020202020204" pitchFamily="34" charset="0"/>
              <a:buChar char="•"/>
            </a:pPr>
            <a:r>
              <a:rPr lang="en-US" sz="2000" dirty="0"/>
              <a:t>The weights and the bias are adjustable.</a:t>
            </a:r>
          </a:p>
        </p:txBody>
      </p:sp>
      <p:sp>
        <p:nvSpPr>
          <p:cNvPr id="9" name="TextBox 8">
            <a:extLst>
              <a:ext uri="{FF2B5EF4-FFF2-40B4-BE49-F238E27FC236}">
                <a16:creationId xmlns:a16="http://schemas.microsoft.com/office/drawing/2014/main" id="{5C667976-0048-4BC8-848E-EA24326651FC}"/>
              </a:ext>
            </a:extLst>
          </p:cNvPr>
          <p:cNvSpPr txBox="1"/>
          <p:nvPr/>
        </p:nvSpPr>
        <p:spPr>
          <a:xfrm>
            <a:off x="685800" y="4075477"/>
            <a:ext cx="11201400" cy="1600438"/>
          </a:xfrm>
          <a:prstGeom prst="rect">
            <a:avLst/>
          </a:prstGeom>
          <a:noFill/>
        </p:spPr>
        <p:txBody>
          <a:bodyPr wrap="square">
            <a:spAutoFit/>
          </a:bodyPr>
          <a:lstStyle/>
          <a:p>
            <a:r>
              <a:rPr lang="en-US" sz="2000" b="1" dirty="0"/>
              <a:t>Architecture</a:t>
            </a:r>
          </a:p>
          <a:p>
            <a:endParaRPr lang="en-US" b="1" dirty="0"/>
          </a:p>
          <a:p>
            <a:pPr marL="342900" indent="-342900">
              <a:buFont typeface="Arial" panose="020B0604020202020204" pitchFamily="34" charset="0"/>
              <a:buChar char="•"/>
            </a:pPr>
            <a:r>
              <a:rPr lang="en-US" sz="2000" dirty="0"/>
              <a:t>The basic structure of Adaline is similar to perceptron having an extra feedback loop with the help of which the actual output is compared with the desired/target output. </a:t>
            </a:r>
          </a:p>
          <a:p>
            <a:pPr marL="342900" indent="-342900">
              <a:buFont typeface="Arial" panose="020B0604020202020204" pitchFamily="34" charset="0"/>
              <a:buChar char="•"/>
            </a:pPr>
            <a:r>
              <a:rPr lang="en-US" sz="2000" dirty="0"/>
              <a:t>After comparison on the basis of training algorithm, the weights and bias will be updated.</a:t>
            </a:r>
          </a:p>
        </p:txBody>
      </p:sp>
    </p:spTree>
    <p:extLst>
      <p:ext uri="{BB962C8B-B14F-4D97-AF65-F5344CB8AC3E}">
        <p14:creationId xmlns:p14="http://schemas.microsoft.com/office/powerpoint/2010/main" val="19008070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73D9C8-9111-445B-86A7-FA7B3783F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914400"/>
            <a:ext cx="8991600" cy="5486400"/>
          </a:xfrm>
          <a:prstGeom prst="rect">
            <a:avLst/>
          </a:prstGeom>
        </p:spPr>
      </p:pic>
    </p:spTree>
    <p:extLst>
      <p:ext uri="{BB962C8B-B14F-4D97-AF65-F5344CB8AC3E}">
        <p14:creationId xmlns:p14="http://schemas.microsoft.com/office/powerpoint/2010/main" val="4257622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96A4D6-284F-4D7B-B52F-37B30819D5F5}"/>
              </a:ext>
            </a:extLst>
          </p:cNvPr>
          <p:cNvSpPr txBox="1"/>
          <p:nvPr/>
        </p:nvSpPr>
        <p:spPr>
          <a:xfrm>
            <a:off x="190500" y="25360"/>
            <a:ext cx="11811000" cy="6832640"/>
          </a:xfrm>
          <a:prstGeom prst="rect">
            <a:avLst/>
          </a:prstGeom>
          <a:noFill/>
        </p:spPr>
        <p:txBody>
          <a:bodyPr wrap="square">
            <a:spAutoFit/>
          </a:bodyPr>
          <a:lstStyle/>
          <a:p>
            <a:r>
              <a:rPr lang="en-US" sz="2400" b="1" dirty="0"/>
              <a:t>Training Algorithm</a:t>
            </a:r>
          </a:p>
          <a:p>
            <a:endParaRPr lang="en-US" dirty="0"/>
          </a:p>
          <a:p>
            <a:r>
              <a:rPr lang="en-US" sz="2000" b="1" dirty="0"/>
              <a:t>Step 1 </a:t>
            </a:r>
            <a:r>
              <a:rPr lang="en-US" sz="2000" dirty="0"/>
              <a:t>− Initialize the following to start the training −</a:t>
            </a:r>
          </a:p>
          <a:p>
            <a:endParaRPr lang="en-US" sz="2000" dirty="0"/>
          </a:p>
          <a:p>
            <a:r>
              <a:rPr lang="en-US" sz="2000" dirty="0"/>
              <a:t>    Weights</a:t>
            </a:r>
          </a:p>
          <a:p>
            <a:r>
              <a:rPr lang="en-US" sz="2000" dirty="0"/>
              <a:t>    Bias</a:t>
            </a:r>
          </a:p>
          <a:p>
            <a:r>
              <a:rPr lang="en-US" sz="2000" dirty="0"/>
              <a:t>    Learning rate α</a:t>
            </a:r>
          </a:p>
          <a:p>
            <a:endParaRPr lang="en-US" sz="2000" dirty="0"/>
          </a:p>
          <a:p>
            <a:r>
              <a:rPr lang="en-US" sz="2000" dirty="0"/>
              <a:t>For easy calculation and simplicity, weights and bias must be set equal to 0 and the learning rate must be set equal to 1.</a:t>
            </a:r>
          </a:p>
          <a:p>
            <a:endParaRPr lang="en-US" sz="2000" dirty="0"/>
          </a:p>
          <a:p>
            <a:r>
              <a:rPr lang="en-US" sz="2000" b="1" dirty="0"/>
              <a:t>Step 2</a:t>
            </a:r>
            <a:r>
              <a:rPr lang="en-US" sz="2000" dirty="0"/>
              <a:t> − Continue step 3-8 when the stopping condition is not true.</a:t>
            </a:r>
          </a:p>
          <a:p>
            <a:endParaRPr lang="en-US" sz="2000" dirty="0"/>
          </a:p>
          <a:p>
            <a:r>
              <a:rPr lang="en-US" sz="2000" b="1" dirty="0"/>
              <a:t>Step 3</a:t>
            </a:r>
            <a:r>
              <a:rPr lang="en-US" sz="2000" dirty="0"/>
              <a:t> − Continue step 4-6 for every bipolar training pair s:t.</a:t>
            </a:r>
          </a:p>
          <a:p>
            <a:endParaRPr lang="en-US" sz="2000" dirty="0"/>
          </a:p>
          <a:p>
            <a:r>
              <a:rPr lang="en-US" sz="2000" b="1" dirty="0"/>
              <a:t>Step 4</a:t>
            </a:r>
            <a:r>
              <a:rPr lang="en-US" sz="2000" dirty="0"/>
              <a:t> − Activate each input unit as follows −</a:t>
            </a:r>
          </a:p>
          <a:p>
            <a:endParaRPr lang="en-US" sz="2000" dirty="0"/>
          </a:p>
          <a:p>
            <a:r>
              <a:rPr lang="en-US" sz="2000" b="1" dirty="0"/>
              <a:t>xi=</a:t>
            </a:r>
            <a:r>
              <a:rPr lang="en-US" sz="2000" b="1" dirty="0" err="1"/>
              <a:t>si</a:t>
            </a:r>
            <a:r>
              <a:rPr lang="en-US" sz="2000" b="1" dirty="0"/>
              <a:t>(</a:t>
            </a:r>
            <a:r>
              <a:rPr lang="en-US" sz="2000" b="1" dirty="0" err="1"/>
              <a:t>i</a:t>
            </a:r>
            <a:r>
              <a:rPr lang="en-US" sz="2000" b="1" dirty="0"/>
              <a:t>=1ton)</a:t>
            </a:r>
          </a:p>
          <a:p>
            <a:endParaRPr lang="en-US" sz="2000" dirty="0"/>
          </a:p>
          <a:p>
            <a:r>
              <a:rPr lang="en-US" sz="2000" b="1" dirty="0"/>
              <a:t>Step 5</a:t>
            </a:r>
            <a:r>
              <a:rPr lang="en-US" sz="2000" dirty="0"/>
              <a:t> − Obtain the net input with the following relation −</a:t>
            </a:r>
          </a:p>
          <a:p>
            <a:endParaRPr lang="en-US" sz="2000" dirty="0"/>
          </a:p>
          <a:p>
            <a:r>
              <a:rPr lang="en-US" sz="2000" b="1" dirty="0"/>
              <a:t>yin=b+∑</a:t>
            </a:r>
            <a:r>
              <a:rPr lang="en-US" sz="2000" b="1" dirty="0" err="1"/>
              <a:t>inxiwi</a:t>
            </a:r>
            <a:endParaRPr lang="en-US" sz="2000" b="1" dirty="0"/>
          </a:p>
        </p:txBody>
      </p:sp>
    </p:spTree>
    <p:extLst>
      <p:ext uri="{BB962C8B-B14F-4D97-AF65-F5344CB8AC3E}">
        <p14:creationId xmlns:p14="http://schemas.microsoft.com/office/powerpoint/2010/main" val="28150847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6EC5B8-40CC-4015-B137-34D2DCA30C25}"/>
              </a:ext>
            </a:extLst>
          </p:cNvPr>
          <p:cNvSpPr txBox="1"/>
          <p:nvPr/>
        </p:nvSpPr>
        <p:spPr>
          <a:xfrm>
            <a:off x="228600" y="609600"/>
            <a:ext cx="11658600" cy="6247864"/>
          </a:xfrm>
          <a:prstGeom prst="rect">
            <a:avLst/>
          </a:prstGeom>
          <a:noFill/>
        </p:spPr>
        <p:txBody>
          <a:bodyPr wrap="square">
            <a:spAutoFit/>
          </a:bodyPr>
          <a:lstStyle/>
          <a:p>
            <a:r>
              <a:rPr lang="en-US" sz="2000" dirty="0"/>
              <a:t>Here ‘b’ is bias and ‘n’ is the total number of input neurons.</a:t>
            </a:r>
          </a:p>
          <a:p>
            <a:endParaRPr lang="en-US" sz="2000" dirty="0"/>
          </a:p>
          <a:p>
            <a:r>
              <a:rPr lang="en-US" sz="2000" b="1" dirty="0"/>
              <a:t>Step 6</a:t>
            </a:r>
            <a:r>
              <a:rPr lang="en-US" sz="2000" dirty="0"/>
              <a:t> − Apply the following activation function to obtain the final output −</a:t>
            </a:r>
          </a:p>
          <a:p>
            <a:endParaRPr lang="en-US" sz="2000" dirty="0"/>
          </a:p>
          <a:p>
            <a:endParaRPr lang="en-US" sz="2000" dirty="0"/>
          </a:p>
          <a:p>
            <a:r>
              <a:rPr lang="en-US" sz="2000" b="1" dirty="0"/>
              <a:t>f(yin)={1−1ifyin⩾0ifyin&lt;0</a:t>
            </a:r>
          </a:p>
          <a:p>
            <a:endParaRPr lang="en-US" sz="2000" b="1" dirty="0"/>
          </a:p>
          <a:p>
            <a:endParaRPr lang="en-US" sz="2000" dirty="0"/>
          </a:p>
          <a:p>
            <a:r>
              <a:rPr lang="en-US" sz="2000" b="1" dirty="0"/>
              <a:t>Step 7</a:t>
            </a:r>
            <a:r>
              <a:rPr lang="en-US" sz="2000" dirty="0"/>
              <a:t> − Adjust the weight and bias as follows −</a:t>
            </a:r>
          </a:p>
          <a:p>
            <a:endParaRPr lang="en-US" sz="2000" dirty="0"/>
          </a:p>
          <a:p>
            <a:endParaRPr lang="en-US" sz="2000" dirty="0"/>
          </a:p>
          <a:p>
            <a:r>
              <a:rPr lang="en-US" sz="2000" b="1" dirty="0"/>
              <a:t>Case 1</a:t>
            </a:r>
            <a:r>
              <a:rPr lang="en-US" sz="2000" dirty="0"/>
              <a:t> − if y ≠ t then,</a:t>
            </a:r>
          </a:p>
          <a:p>
            <a:endParaRPr lang="en-US" sz="2000" dirty="0"/>
          </a:p>
          <a:p>
            <a:endParaRPr lang="en-US" sz="2000" dirty="0"/>
          </a:p>
          <a:p>
            <a:r>
              <a:rPr lang="en-US" sz="2000" b="1" dirty="0" err="1"/>
              <a:t>wi</a:t>
            </a:r>
            <a:r>
              <a:rPr lang="en-US" sz="2000" b="1" dirty="0"/>
              <a:t>(new)=</a:t>
            </a:r>
            <a:r>
              <a:rPr lang="en-US" sz="2000" b="1" dirty="0" err="1"/>
              <a:t>wi</a:t>
            </a:r>
            <a:r>
              <a:rPr lang="en-US" sz="2000" b="1" dirty="0"/>
              <a:t>(old)+α(t−yin)xi</a:t>
            </a:r>
          </a:p>
          <a:p>
            <a:endParaRPr lang="en-US" sz="2000" b="1" dirty="0"/>
          </a:p>
          <a:p>
            <a:endParaRPr lang="en-US" sz="2000" dirty="0"/>
          </a:p>
          <a:p>
            <a:r>
              <a:rPr lang="en-US" sz="2000" b="1" dirty="0"/>
              <a:t>b(new)=b(old)+α(t−yin)</a:t>
            </a:r>
          </a:p>
          <a:p>
            <a:endParaRPr lang="en-US" sz="2000" b="1" dirty="0"/>
          </a:p>
          <a:p>
            <a:endParaRPr lang="en-US" sz="2000" b="1" dirty="0"/>
          </a:p>
        </p:txBody>
      </p:sp>
    </p:spTree>
    <p:extLst>
      <p:ext uri="{BB962C8B-B14F-4D97-AF65-F5344CB8AC3E}">
        <p14:creationId xmlns:p14="http://schemas.microsoft.com/office/powerpoint/2010/main" val="1661581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224E41-736B-4154-8BD1-8DE34C10E188}"/>
              </a:ext>
            </a:extLst>
          </p:cNvPr>
          <p:cNvSpPr txBox="1"/>
          <p:nvPr/>
        </p:nvSpPr>
        <p:spPr>
          <a:xfrm>
            <a:off x="762000" y="457200"/>
            <a:ext cx="10515600" cy="4093428"/>
          </a:xfrm>
          <a:prstGeom prst="rect">
            <a:avLst/>
          </a:prstGeom>
          <a:noFill/>
        </p:spPr>
        <p:txBody>
          <a:bodyPr wrap="square">
            <a:spAutoFit/>
          </a:bodyPr>
          <a:lstStyle/>
          <a:p>
            <a:r>
              <a:rPr lang="en-US" sz="2000" b="1" dirty="0"/>
              <a:t>Case 2</a:t>
            </a:r>
            <a:r>
              <a:rPr lang="en-US" sz="2000" dirty="0"/>
              <a:t> − if y = t then,</a:t>
            </a:r>
          </a:p>
          <a:p>
            <a:endParaRPr lang="en-US" sz="2000" dirty="0"/>
          </a:p>
          <a:p>
            <a:r>
              <a:rPr lang="en-US" sz="2000" b="1" dirty="0" err="1"/>
              <a:t>wi</a:t>
            </a:r>
            <a:r>
              <a:rPr lang="en-US" sz="2000" b="1" dirty="0"/>
              <a:t>(new)=</a:t>
            </a:r>
            <a:r>
              <a:rPr lang="en-US" sz="2000" b="1" dirty="0" err="1"/>
              <a:t>wi</a:t>
            </a:r>
            <a:r>
              <a:rPr lang="en-US" sz="2000" b="1" dirty="0"/>
              <a:t>(old)</a:t>
            </a:r>
          </a:p>
          <a:p>
            <a:endParaRPr lang="en-US" sz="2000" dirty="0"/>
          </a:p>
          <a:p>
            <a:r>
              <a:rPr lang="en-US" sz="2000" b="1" dirty="0"/>
              <a:t>b(new)=b(old)</a:t>
            </a:r>
          </a:p>
          <a:p>
            <a:endParaRPr lang="en-US" sz="2000" dirty="0"/>
          </a:p>
          <a:p>
            <a:r>
              <a:rPr lang="en-US" sz="2000" dirty="0"/>
              <a:t>Here ‘y’ is the actual output and ‘t’ is the desired/target output.</a:t>
            </a:r>
          </a:p>
          <a:p>
            <a:endParaRPr lang="en-US" sz="2000" dirty="0"/>
          </a:p>
          <a:p>
            <a:r>
              <a:rPr lang="en-US" sz="2000" b="1" dirty="0"/>
              <a:t>(t−yin)</a:t>
            </a:r>
          </a:p>
          <a:p>
            <a:r>
              <a:rPr lang="en-US" sz="2000" dirty="0"/>
              <a:t>is the computed error.</a:t>
            </a:r>
          </a:p>
          <a:p>
            <a:endParaRPr lang="en-US" sz="2000" dirty="0"/>
          </a:p>
          <a:p>
            <a:r>
              <a:rPr lang="en-US" sz="2000" b="1" dirty="0"/>
              <a:t>Step 8</a:t>
            </a:r>
            <a:r>
              <a:rPr lang="en-US" sz="2000" dirty="0"/>
              <a:t> − Test for the stopping condition, which will happen when there is no change in weight or the highest weight change occurred during training is smaller than the specified tolerance.</a:t>
            </a:r>
          </a:p>
        </p:txBody>
      </p:sp>
    </p:spTree>
    <p:extLst>
      <p:ext uri="{BB962C8B-B14F-4D97-AF65-F5344CB8AC3E}">
        <p14:creationId xmlns:p14="http://schemas.microsoft.com/office/powerpoint/2010/main" val="767849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544</TotalTime>
  <Words>4294</Words>
  <Application>Microsoft Macintosh PowerPoint</Application>
  <PresentationFormat>Widescreen</PresentationFormat>
  <Paragraphs>488</Paragraphs>
  <Slides>67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Arial</vt:lpstr>
      <vt:lpstr>Arial MT</vt:lpstr>
      <vt:lpstr>Calibri</vt:lpstr>
      <vt:lpstr>Calibri Light</vt:lpstr>
      <vt:lpstr>Cambria Math</vt:lpstr>
      <vt:lpstr>MathJax_Main</vt:lpstr>
      <vt:lpstr>MathJax_Math</vt:lpstr>
      <vt:lpstr>MathJax_Size1</vt:lpstr>
      <vt:lpstr>Times New Roman</vt:lpstr>
      <vt:lpstr>Wingdings</vt:lpstr>
      <vt:lpstr>Office Theme</vt:lpstr>
      <vt:lpstr> Chapter VII: Applications of AI</vt:lpstr>
      <vt:lpstr>Outline</vt:lpstr>
      <vt:lpstr>Expert System</vt:lpstr>
      <vt:lpstr>PowerPoint Presentation</vt:lpstr>
      <vt:lpstr>Expert System</vt:lpstr>
      <vt:lpstr>PowerPoint Presentation</vt:lpstr>
      <vt:lpstr>Expert System</vt:lpstr>
      <vt:lpstr>Expert System: Components</vt:lpstr>
      <vt:lpstr>Expert System: General Architecture</vt:lpstr>
      <vt:lpstr>Expert System</vt:lpstr>
      <vt:lpstr>Expert System: Features</vt:lpstr>
      <vt:lpstr>Expert System: Advantages</vt:lpstr>
      <vt:lpstr>Expert System: Disadvantages</vt:lpstr>
      <vt:lpstr>PowerPoint Presentation</vt:lpstr>
      <vt:lpstr>Expert System: Example  DENDRAL</vt:lpstr>
      <vt:lpstr>Expert System: Example  MYCIN</vt:lpstr>
      <vt:lpstr>Natural Language Processing</vt:lpstr>
      <vt:lpstr>PowerPoint Presentation</vt:lpstr>
      <vt:lpstr>NLP: Processes</vt:lpstr>
      <vt:lpstr>NLP: Fundamental Issues</vt:lpstr>
      <vt:lpstr>NLP: Fundamental Issues</vt:lpstr>
      <vt:lpstr>NLP: NL Analysis Techniques</vt:lpstr>
      <vt:lpstr>NLP: Keyboard Analysis</vt:lpstr>
      <vt:lpstr>NLP: Syntactic Driven Parsing Technique</vt:lpstr>
      <vt:lpstr>NLP: Applications</vt:lpstr>
      <vt:lpstr>Machine /Computer Vision</vt:lpstr>
      <vt:lpstr>PowerPoint Presentation</vt:lpstr>
      <vt:lpstr>PowerPoint Presentation</vt:lpstr>
      <vt:lpstr>Artificial Neural Network</vt:lpstr>
      <vt:lpstr>PowerPoint Presentation</vt:lpstr>
      <vt:lpstr>PowerPoint Presentation</vt:lpstr>
      <vt:lpstr>PowerPoint Presentation</vt:lpstr>
      <vt:lpstr>PowerPoint Presentation</vt:lpstr>
      <vt:lpstr>Neural Network: Brain</vt:lpstr>
      <vt:lpstr>Artificial Neural Network: Typical Architecture</vt:lpstr>
      <vt:lpstr>ANN: Neuron</vt:lpstr>
      <vt:lpstr>PowerPoint Presentation</vt:lpstr>
      <vt:lpstr>PowerPoint Presentation</vt:lpstr>
      <vt:lpstr>PowerPoint Presentation</vt:lpstr>
      <vt:lpstr>PowerPoint Presentation</vt:lpstr>
      <vt:lpstr>ANN: Different Activation Functions Used</vt:lpstr>
      <vt:lpstr>ANN: Features</vt:lpstr>
      <vt:lpstr>ANN: Steps in NN Development</vt:lpstr>
      <vt:lpstr>ANN: Applications</vt:lpstr>
      <vt:lpstr>ANN: Learning Techniques</vt:lpstr>
      <vt:lpstr>ANN: Supervised Learning</vt:lpstr>
      <vt:lpstr>ANN: Unsupervised Learning</vt:lpstr>
      <vt:lpstr>ANN: Learning Rate</vt:lpstr>
      <vt:lpstr>ANN: Learning Rate</vt:lpstr>
      <vt:lpstr>ANN: Perceptron</vt:lpstr>
      <vt:lpstr>ANN: Learning Algorithm</vt:lpstr>
      <vt:lpstr>ANN: Hebbian Learning</vt:lpstr>
      <vt:lpstr>ANN: Hebb’s Algorithm</vt:lpstr>
      <vt:lpstr>ANN: Back Propagation Neural Network</vt:lpstr>
      <vt:lpstr>ANN: Back Propagation Neural Network</vt:lpstr>
      <vt:lpstr>PowerPoint Presentation</vt:lpstr>
      <vt:lpstr>Other Neural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Lecture I: Introduction</dc:title>
  <dc:creator>Bibek Ropakheti</dc:creator>
  <cp:lastModifiedBy>Mukund Raj Joshi</cp:lastModifiedBy>
  <cp:revision>45</cp:revision>
  <dcterms:created xsi:type="dcterms:W3CDTF">2021-12-08T02:38:54Z</dcterms:created>
  <dcterms:modified xsi:type="dcterms:W3CDTF">2025-11-12T02:52:54Z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2014-08-15T00:00:00Z</vt:filetime>
  </property>
  <property fmtid="{D5CDD505-2E9C-101B-9397-08002B2CF9AE}" pid="3" name="Creator">
    <vt:lpwstr>Microsoft® PowerPoint® 2013</vt:lpwstr>
  </property>
  <property fmtid="{D5CDD505-2E9C-101B-9397-08002B2CF9AE}" pid="4" name="LastSaved">
    <vt:filetime>2021-12-08T00:00:00Z</vt:filetime>
  </property>
</Properties>
</file>