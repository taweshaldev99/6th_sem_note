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9"/>
  </p:notesMasterIdLst>
  <p:sldIdLst>
    <p:sldId id="256" r:id="rId2"/>
    <p:sldId id="258" r:id="rId3"/>
    <p:sldId id="259" r:id="rId4"/>
    <p:sldId id="303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304" r:id="rId21"/>
    <p:sldId id="277" r:id="rId22"/>
    <p:sldId id="278" r:id="rId23"/>
    <p:sldId id="279" r:id="rId24"/>
    <p:sldId id="305" r:id="rId25"/>
    <p:sldId id="281" r:id="rId26"/>
    <p:sldId id="306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14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00322E-A7D6-406A-B1ED-5A0A2A17DDDE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8D2905-EDA8-453D-A590-7051CE998C8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8D2905-EDA8-453D-A590-7051CE998C86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8D2905-EDA8-453D-A590-7051CE998C86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A28EC-BDD1-4796-9E94-D4F0CF2BCA4F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22FCB-862F-422D-AB5C-8AF5F8D97AF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A28EC-BDD1-4796-9E94-D4F0CF2BCA4F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22FCB-862F-422D-AB5C-8AF5F8D97AF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A28EC-BDD1-4796-9E94-D4F0CF2BCA4F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22FCB-862F-422D-AB5C-8AF5F8D97AF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A28EC-BDD1-4796-9E94-D4F0CF2BCA4F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22FCB-862F-422D-AB5C-8AF5F8D97AF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A28EC-BDD1-4796-9E94-D4F0CF2BCA4F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22FCB-862F-422D-AB5C-8AF5F8D97AF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A28EC-BDD1-4796-9E94-D4F0CF2BCA4F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22FCB-862F-422D-AB5C-8AF5F8D97AF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A28EC-BDD1-4796-9E94-D4F0CF2BCA4F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22FCB-862F-422D-AB5C-8AF5F8D97AF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A28EC-BDD1-4796-9E94-D4F0CF2BCA4F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22FCB-862F-422D-AB5C-8AF5F8D97AF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A28EC-BDD1-4796-9E94-D4F0CF2BCA4F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22FCB-862F-422D-AB5C-8AF5F8D97AF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A28EC-BDD1-4796-9E94-D4F0CF2BCA4F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22FCB-862F-422D-AB5C-8AF5F8D97AF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A28EC-BDD1-4796-9E94-D4F0CF2BCA4F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22FCB-862F-422D-AB5C-8AF5F8D97AF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0A28EC-BDD1-4796-9E94-D4F0CF2BCA4F}" type="datetimeFigureOut">
              <a:rPr lang="en-US" smtClean="0"/>
              <a:pPr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F22FCB-862F-422D-AB5C-8AF5F8D97AF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Global E-Business and Collaboration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Unit -2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Business Processes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 fontScale="77500" lnSpcReduction="20000"/>
          </a:bodyPr>
          <a:lstStyle/>
          <a:p>
            <a:pPr algn="just">
              <a:buNone/>
            </a:pPr>
            <a:r>
              <a:rPr lang="en-US" dirty="0" smtClean="0"/>
              <a:t>"Refers to how work is organized, coordinated, and focused to create valuable products or services.“</a:t>
            </a:r>
          </a:p>
          <a:p>
            <a:pPr algn="just">
              <a:buNone/>
            </a:pPr>
            <a:endParaRPr lang="en-US" dirty="0" smtClean="0"/>
          </a:p>
          <a:p>
            <a:pPr algn="just">
              <a:buNone/>
            </a:pPr>
            <a:r>
              <a:rPr lang="en-US" b="1" dirty="0" smtClean="0"/>
              <a:t>	Processes are made up of activities</a:t>
            </a:r>
            <a:endParaRPr lang="en-US" dirty="0" smtClean="0"/>
          </a:p>
          <a:p>
            <a:pPr algn="just"/>
            <a:r>
              <a:rPr lang="en-US" dirty="0" smtClean="0"/>
              <a:t>"Business processes consist of various activities required to produce a product or service.“</a:t>
            </a:r>
          </a:p>
          <a:p>
            <a:pPr algn="just"/>
            <a:endParaRPr lang="en-US" dirty="0" smtClean="0"/>
          </a:p>
          <a:p>
            <a:pPr algn="just">
              <a:buNone/>
            </a:pPr>
            <a:r>
              <a:rPr lang="en-US" b="1" dirty="0" smtClean="0"/>
              <a:t>	Supportive Elements</a:t>
            </a:r>
            <a:endParaRPr lang="en-US" dirty="0" smtClean="0"/>
          </a:p>
          <a:p>
            <a:pPr algn="just"/>
            <a:r>
              <a:rPr lang="en-US" dirty="0" smtClean="0"/>
              <a:t>"Activities are supported by </a:t>
            </a:r>
            <a:r>
              <a:rPr lang="en-US" dirty="0" smtClean="0">
                <a:solidFill>
                  <a:srgbClr val="FF0000"/>
                </a:solidFill>
              </a:rPr>
              <a:t>flows of material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FF0000"/>
                </a:solidFill>
              </a:rPr>
              <a:t>information</a:t>
            </a:r>
            <a:r>
              <a:rPr lang="en-US" dirty="0" smtClean="0"/>
              <a:t>, and </a:t>
            </a:r>
            <a:r>
              <a:rPr lang="en-US" dirty="0" smtClean="0">
                <a:solidFill>
                  <a:srgbClr val="FF0000"/>
                </a:solidFill>
              </a:rPr>
              <a:t>knowledge</a:t>
            </a:r>
            <a:r>
              <a:rPr lang="en-US" dirty="0" smtClean="0"/>
              <a:t> among participants.“</a:t>
            </a:r>
          </a:p>
          <a:p>
            <a:pPr algn="just"/>
            <a:endParaRPr lang="en-US" dirty="0" smtClean="0"/>
          </a:p>
          <a:p>
            <a:pPr algn="just">
              <a:buNone/>
            </a:pPr>
            <a:r>
              <a:rPr lang="en-US" b="1" dirty="0" smtClean="0"/>
              <a:t>	Business as a Collection of Processes</a:t>
            </a:r>
            <a:endParaRPr lang="en-US" dirty="0" smtClean="0"/>
          </a:p>
          <a:p>
            <a:pPr algn="just"/>
            <a:r>
              <a:rPr lang="en-US" dirty="0" smtClean="0"/>
              <a:t>"Each business can be viewed as a collection of interlinked business processes, some being part of larger processes."</a:t>
            </a:r>
          </a:p>
          <a:p>
            <a:pPr algn="just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Business Processes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algn="just"/>
            <a:r>
              <a:rPr lang="en-US" dirty="0" smtClean="0"/>
              <a:t>The performance of business process depends on how well its business processes are designed and coordinated.</a:t>
            </a:r>
          </a:p>
          <a:p>
            <a:pPr marL="0" indent="0" algn="just">
              <a:buNone/>
            </a:pPr>
            <a:r>
              <a:rPr lang="en-US" dirty="0"/>
              <a:t>	</a:t>
            </a:r>
            <a:r>
              <a:rPr lang="en-US" dirty="0" smtClean="0">
                <a:solidFill>
                  <a:srgbClr val="FF0000"/>
                </a:solidFill>
              </a:rPr>
              <a:t>(</a:t>
            </a:r>
            <a:r>
              <a:rPr lang="en-US" dirty="0">
                <a:solidFill>
                  <a:srgbClr val="FF0000"/>
                </a:solidFill>
              </a:rPr>
              <a:t>Good Design = Good </a:t>
            </a:r>
            <a:r>
              <a:rPr lang="en-US" dirty="0" smtClean="0">
                <a:solidFill>
                  <a:srgbClr val="FF0000"/>
                </a:solidFill>
              </a:rPr>
              <a:t>Performance)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A company’s business process can be a </a:t>
            </a:r>
            <a:r>
              <a:rPr lang="en-US" dirty="0" smtClean="0">
                <a:solidFill>
                  <a:srgbClr val="FF0000"/>
                </a:solidFill>
              </a:rPr>
              <a:t>source of competitive strength</a:t>
            </a:r>
            <a:r>
              <a:rPr lang="en-US" dirty="0" smtClean="0"/>
              <a:t> if they enable the company to innovate or to execute better than its rivals.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Business processes can be liabilities if they are based on outdated ways of working that impede organizational responsiveness and efficiency.</a:t>
            </a:r>
          </a:p>
          <a:p>
            <a:pPr marL="0" indent="0" algn="just"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FF0000"/>
                </a:solidFill>
              </a:rPr>
              <a:t>(</a:t>
            </a:r>
            <a:r>
              <a:rPr lang="en-US" dirty="0">
                <a:solidFill>
                  <a:srgbClr val="FF0000"/>
                </a:solidFill>
              </a:rPr>
              <a:t>Bad Processes = </a:t>
            </a:r>
            <a:r>
              <a:rPr lang="en-US" dirty="0" smtClean="0">
                <a:solidFill>
                  <a:srgbClr val="FF0000"/>
                </a:solidFill>
              </a:rPr>
              <a:t>Weakness)</a:t>
            </a:r>
          </a:p>
          <a:p>
            <a:pPr marL="0" indent="0" algn="just"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algn="just"/>
            <a:r>
              <a:rPr lang="en-US" dirty="0" smtClean="0"/>
              <a:t>Many business processes are tied to a functional area. For example, the sales and marketing function is responsible for identifying customers, and the human resource function is responsible for hiring employees.</a:t>
            </a:r>
          </a:p>
          <a:p>
            <a:pPr marL="0" indent="0" algn="just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FF0000"/>
                </a:solidFill>
              </a:rPr>
              <a:t>(Processes Are Often </a:t>
            </a:r>
            <a:r>
              <a:rPr lang="en-US" dirty="0" smtClean="0">
                <a:solidFill>
                  <a:srgbClr val="FF0000"/>
                </a:solidFill>
              </a:rPr>
              <a:t>Functional)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Business Process and Information System (relationship)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81600"/>
          </a:xfrm>
        </p:spPr>
        <p:txBody>
          <a:bodyPr>
            <a:noAutofit/>
          </a:bodyPr>
          <a:lstStyle/>
          <a:p>
            <a:pPr algn="just">
              <a:buNone/>
            </a:pPr>
            <a:r>
              <a:rPr lang="en-US" sz="2200" b="1" dirty="0" smtClean="0">
                <a:solidFill>
                  <a:srgbClr val="FF0000"/>
                </a:solidFill>
              </a:rPr>
              <a:t>	Business depend on Information</a:t>
            </a:r>
            <a:endParaRPr lang="en-US" sz="2200" dirty="0" smtClean="0">
              <a:solidFill>
                <a:srgbClr val="FF0000"/>
              </a:solidFill>
            </a:endParaRPr>
          </a:p>
          <a:p>
            <a:pPr algn="just"/>
            <a:r>
              <a:rPr lang="en-US" sz="2200" dirty="0" smtClean="0"/>
              <a:t>"To operate effectively, businesses handle various information about suppliers, customers, employees, invoices, payments, products, and services.“</a:t>
            </a:r>
          </a:p>
          <a:p>
            <a:pPr algn="just"/>
            <a:endParaRPr lang="en-US" sz="2200" dirty="0" smtClean="0"/>
          </a:p>
          <a:p>
            <a:pPr algn="just">
              <a:buNone/>
            </a:pPr>
            <a:r>
              <a:rPr lang="en-US" sz="2200" b="1" dirty="0" smtClean="0"/>
              <a:t>	Organization is key to efficiency </a:t>
            </a:r>
            <a:endParaRPr lang="en-US" sz="2200" dirty="0" smtClean="0"/>
          </a:p>
          <a:p>
            <a:pPr algn="just"/>
            <a:r>
              <a:rPr lang="en-US" sz="2200" dirty="0" smtClean="0"/>
              <a:t>"Organizing work activities that utilize this information is essential for efficient operation and enhanced overall performance. (</a:t>
            </a:r>
            <a:r>
              <a:rPr lang="en-US" sz="2200" dirty="0" smtClean="0">
                <a:solidFill>
                  <a:srgbClr val="FF0000"/>
                </a:solidFill>
              </a:rPr>
              <a:t>simply having data isn’t enough</a:t>
            </a:r>
            <a:r>
              <a:rPr lang="en-US" sz="2200" dirty="0" smtClean="0"/>
              <a:t>)“</a:t>
            </a:r>
          </a:p>
          <a:p>
            <a:pPr algn="just"/>
            <a:endParaRPr lang="en-US" sz="2200" dirty="0" smtClean="0"/>
          </a:p>
          <a:p>
            <a:pPr algn="just">
              <a:buNone/>
            </a:pPr>
            <a:r>
              <a:rPr lang="en-US" sz="2200" b="1" dirty="0" smtClean="0"/>
              <a:t>	Role of Information Systems (</a:t>
            </a:r>
            <a:r>
              <a:rPr lang="en-US" sz="2200" b="1" dirty="0" smtClean="0">
                <a:solidFill>
                  <a:srgbClr val="FF0000"/>
                </a:solidFill>
              </a:rPr>
              <a:t>IS are tools for success</a:t>
            </a:r>
            <a:r>
              <a:rPr lang="en-US" sz="2200" b="1" dirty="0" smtClean="0"/>
              <a:t>)</a:t>
            </a:r>
            <a:endParaRPr lang="en-US" sz="2200" dirty="0" smtClean="0"/>
          </a:p>
          <a:p>
            <a:pPr algn="just"/>
            <a:r>
              <a:rPr lang="en-US" sz="2200" dirty="0" smtClean="0"/>
              <a:t>"Information systems enable firms to manage all information effectively, make informed decisions, and improve execution in business processes."</a:t>
            </a:r>
          </a:p>
        </p:txBody>
      </p:sp>
    </p:spTree>
    <p:extLst>
      <p:ext uri="{BB962C8B-B14F-4D97-AF65-F5344CB8AC3E}">
        <p14:creationId xmlns:p14="http://schemas.microsoft.com/office/powerpoint/2010/main" val="778759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Various Business Processes of Organizations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algn="just">
              <a:buNone/>
            </a:pPr>
            <a:r>
              <a:rPr lang="en-US" b="1" dirty="0" smtClean="0"/>
              <a:t>Manufacturing and Production</a:t>
            </a:r>
            <a:endParaRPr lang="en-US" dirty="0" smtClean="0"/>
          </a:p>
          <a:p>
            <a:pPr algn="just"/>
            <a:r>
              <a:rPr lang="en-US" dirty="0" smtClean="0"/>
              <a:t>Assembling the product</a:t>
            </a:r>
          </a:p>
          <a:p>
            <a:pPr algn="just"/>
            <a:r>
              <a:rPr lang="en-US" dirty="0" smtClean="0"/>
              <a:t>Checking for quality</a:t>
            </a:r>
          </a:p>
          <a:p>
            <a:pPr algn="just"/>
            <a:r>
              <a:rPr lang="en-US" dirty="0" smtClean="0"/>
              <a:t>Producing bills of materials</a:t>
            </a:r>
          </a:p>
          <a:p>
            <a:pPr algn="just">
              <a:buNone/>
            </a:pPr>
            <a:endParaRPr lang="en-US" dirty="0" smtClean="0"/>
          </a:p>
          <a:p>
            <a:pPr algn="just">
              <a:buNone/>
            </a:pPr>
            <a:r>
              <a:rPr lang="en-US" b="1" dirty="0" smtClean="0"/>
              <a:t>Sales and Marketing</a:t>
            </a:r>
            <a:endParaRPr lang="en-US" dirty="0" smtClean="0"/>
          </a:p>
          <a:p>
            <a:pPr algn="just"/>
            <a:r>
              <a:rPr lang="en-US" dirty="0" smtClean="0"/>
              <a:t>Identifying customers</a:t>
            </a:r>
          </a:p>
          <a:p>
            <a:pPr algn="just"/>
            <a:r>
              <a:rPr lang="en-US" dirty="0" smtClean="0"/>
              <a:t>Making customers aware of the product</a:t>
            </a:r>
          </a:p>
          <a:p>
            <a:pPr algn="just"/>
            <a:r>
              <a:rPr lang="en-US" dirty="0" smtClean="0"/>
              <a:t>Selling the product</a:t>
            </a:r>
          </a:p>
          <a:p>
            <a:pPr algn="just"/>
            <a:endParaRPr lang="en-US" dirty="0" smtClean="0"/>
          </a:p>
          <a:p>
            <a:pPr algn="just">
              <a:buNone/>
            </a:pPr>
            <a:r>
              <a:rPr lang="en-US" b="1" dirty="0" smtClean="0"/>
              <a:t>Finance and Accounting</a:t>
            </a:r>
            <a:endParaRPr lang="en-US" dirty="0" smtClean="0"/>
          </a:p>
          <a:p>
            <a:pPr algn="just"/>
            <a:r>
              <a:rPr lang="en-US" dirty="0" smtClean="0"/>
              <a:t>Paying creditors</a:t>
            </a:r>
          </a:p>
          <a:p>
            <a:pPr algn="just"/>
            <a:r>
              <a:rPr lang="en-US" dirty="0" smtClean="0"/>
              <a:t>Creating financial statements</a:t>
            </a:r>
          </a:p>
          <a:p>
            <a:pPr algn="just"/>
            <a:r>
              <a:rPr lang="en-US" dirty="0" smtClean="0"/>
              <a:t>Managing cash accounts</a:t>
            </a:r>
          </a:p>
          <a:p>
            <a:pPr algn="just"/>
            <a:endParaRPr lang="en-US" dirty="0" smtClean="0"/>
          </a:p>
          <a:p>
            <a:pPr algn="just"/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724400" y="2057401"/>
            <a:ext cx="441960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Human Resources</a:t>
            </a:r>
            <a:endParaRPr lang="en-US" sz="2000" dirty="0" smtClean="0"/>
          </a:p>
          <a:p>
            <a:pPr>
              <a:buFont typeface="Arial" pitchFamily="34" charset="0"/>
              <a:buChar char="•"/>
            </a:pPr>
            <a:r>
              <a:rPr lang="en-US" sz="2000" dirty="0" smtClean="0"/>
              <a:t>Hiring employees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/>
              <a:t>Evaluating employees’ job performance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/>
              <a:t>Evaluating employees’ benefit plans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Cross-Functional Business Processes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smtClean="0"/>
              <a:t>"Business processes span multiple functional areas, requiring seamless coordination across departments.“</a:t>
            </a:r>
          </a:p>
          <a:p>
            <a:endParaRPr lang="en-US" dirty="0" smtClean="0"/>
          </a:p>
          <a:p>
            <a:pPr>
              <a:buNone/>
            </a:pPr>
            <a:r>
              <a:rPr lang="en-US" b="1" dirty="0" smtClean="0"/>
              <a:t>Example: Fulfilling a Customer Order</a:t>
            </a:r>
            <a:endParaRPr lang="en-US" dirty="0" smtClean="0"/>
          </a:p>
          <a:p>
            <a:r>
              <a:rPr lang="en-US" b="1" dirty="0" smtClean="0"/>
              <a:t>Sales Department</a:t>
            </a:r>
            <a:r>
              <a:rPr lang="en-US" dirty="0" smtClean="0"/>
              <a:t>: Receives the sales order.</a:t>
            </a:r>
          </a:p>
          <a:p>
            <a:r>
              <a:rPr lang="en-US" b="1" dirty="0" smtClean="0"/>
              <a:t>Accounting Department</a:t>
            </a:r>
            <a:r>
              <a:rPr lang="en-US" dirty="0" smtClean="0"/>
              <a:t>: Verifies customer credit or requests immediate payment before shipping.</a:t>
            </a:r>
          </a:p>
          <a:p>
            <a:r>
              <a:rPr lang="en-US" b="1" dirty="0" smtClean="0"/>
              <a:t>Production Department</a:t>
            </a:r>
            <a:r>
              <a:rPr lang="en-US" dirty="0" smtClean="0"/>
              <a:t>: Pulls the product from inventory or manufactures it if needed.</a:t>
            </a:r>
          </a:p>
          <a:p>
            <a:r>
              <a:rPr lang="en-US" b="1" dirty="0" smtClean="0"/>
              <a:t>Shipping</a:t>
            </a:r>
            <a:r>
              <a:rPr lang="en-US" dirty="0" smtClean="0"/>
              <a:t>: Ships the product to the customer.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Example : Order Fulfillment process</a:t>
            </a:r>
            <a:endParaRPr lang="en-US" dirty="0"/>
          </a:p>
        </p:txBody>
      </p:sp>
      <p:pic>
        <p:nvPicPr>
          <p:cNvPr id="4" name="Picture 6" descr="C:\MyData\Texts\Laudon Ess 6e\Image Library\Chapter 02\FIG02_12.gif"/>
          <p:cNvPicPr>
            <a:picLocks noChangeAspect="1" noChangeArrowheads="1"/>
          </p:cNvPicPr>
          <p:nvPr/>
        </p:nvPicPr>
        <p:blipFill>
          <a:blip r:embed="rId2"/>
          <a:srcRect t="10413"/>
          <a:stretch>
            <a:fillRect/>
          </a:stretch>
        </p:blipFill>
        <p:spPr bwMode="auto">
          <a:xfrm>
            <a:off x="762000" y="1752600"/>
            <a:ext cx="7620000" cy="413861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Major types of information systems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Transaction processing System (TPS)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Management Information System (MIS)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Decision-Support System (DSS)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Executive –Support System (ESS)</a:t>
            </a:r>
          </a:p>
          <a:p>
            <a:r>
              <a:rPr lang="en-US" dirty="0" smtClean="0"/>
              <a:t>Office Automation System</a:t>
            </a:r>
          </a:p>
          <a:p>
            <a:r>
              <a:rPr lang="en-US" dirty="0" smtClean="0"/>
              <a:t>Expert System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Four major types of information systems</a:t>
            </a:r>
            <a:endParaRPr lang="en-US" dirty="0"/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marL="609600" indent="-609600" algn="ctr">
              <a:buFontTx/>
              <a:buNone/>
            </a:pPr>
            <a:endParaRPr lang="en-US" sz="2800" dirty="0"/>
          </a:p>
          <a:p>
            <a:pPr marL="609600" indent="-609600" algn="ctr">
              <a:buFontTx/>
              <a:buNone/>
            </a:pPr>
            <a:r>
              <a:rPr lang="en-US" sz="2800" dirty="0"/>
              <a:t>Transaction Processing Systems (TPS)</a:t>
            </a:r>
            <a:br>
              <a:rPr lang="en-US" sz="2800" dirty="0"/>
            </a:br>
            <a:endParaRPr lang="en-US" sz="2800" dirty="0"/>
          </a:p>
          <a:p>
            <a:pPr marL="609600" indent="-609600"/>
            <a:r>
              <a:rPr lang="en-US" sz="2400" dirty="0">
                <a:solidFill>
                  <a:srgbClr val="333399"/>
                </a:solidFill>
              </a:rPr>
              <a:t>Basic business systems that serve the organization’s operational </a:t>
            </a:r>
            <a:r>
              <a:rPr lang="en-US" sz="2400" dirty="0" smtClean="0">
                <a:solidFill>
                  <a:srgbClr val="333399"/>
                </a:solidFill>
              </a:rPr>
              <a:t>level (routine, day-to-day transactions)</a:t>
            </a:r>
            <a:endParaRPr lang="en-US" sz="2400" dirty="0">
              <a:solidFill>
                <a:srgbClr val="333399"/>
              </a:solidFill>
            </a:endParaRPr>
          </a:p>
          <a:p>
            <a:pPr marL="609600" indent="-609600"/>
            <a:r>
              <a:rPr lang="en-US" sz="2400" dirty="0"/>
              <a:t>Input:</a:t>
            </a:r>
            <a:r>
              <a:rPr lang="en-US" sz="2400" dirty="0">
                <a:solidFill>
                  <a:srgbClr val="333399"/>
                </a:solidFill>
              </a:rPr>
              <a:t> Transactions, </a:t>
            </a:r>
            <a:r>
              <a:rPr lang="en-US" sz="2400" dirty="0" smtClean="0">
                <a:solidFill>
                  <a:srgbClr val="333399"/>
                </a:solidFill>
              </a:rPr>
              <a:t>events (sales, payments)</a:t>
            </a:r>
            <a:endParaRPr lang="en-US" sz="2400" dirty="0">
              <a:solidFill>
                <a:srgbClr val="333399"/>
              </a:solidFill>
            </a:endParaRPr>
          </a:p>
          <a:p>
            <a:pPr marL="609600" indent="-609600"/>
            <a:r>
              <a:rPr lang="en-US" sz="2400" dirty="0"/>
              <a:t>Processing</a:t>
            </a:r>
            <a:r>
              <a:rPr lang="en-US" sz="2400" dirty="0">
                <a:solidFill>
                  <a:srgbClr val="333399"/>
                </a:solidFill>
              </a:rPr>
              <a:t>: Sorting, listing, merging, updating</a:t>
            </a:r>
          </a:p>
          <a:p>
            <a:pPr marL="609600" indent="-609600"/>
            <a:r>
              <a:rPr lang="en-US" sz="2400" dirty="0"/>
              <a:t>Output:</a:t>
            </a:r>
            <a:r>
              <a:rPr lang="en-US" sz="2400" dirty="0">
                <a:solidFill>
                  <a:srgbClr val="333399"/>
                </a:solidFill>
              </a:rPr>
              <a:t> Detailed reports, lists, summaries</a:t>
            </a:r>
          </a:p>
          <a:p>
            <a:pPr marL="609600" indent="-609600"/>
            <a:r>
              <a:rPr lang="en-US" sz="2400" dirty="0"/>
              <a:t>Users:</a:t>
            </a:r>
            <a:r>
              <a:rPr lang="en-US" sz="2400" dirty="0">
                <a:solidFill>
                  <a:srgbClr val="333399"/>
                </a:solidFill>
              </a:rPr>
              <a:t> Operations personnel, supervisors</a:t>
            </a:r>
          </a:p>
          <a:p>
            <a:pPr marL="609600" indent="-609600">
              <a:buFontTx/>
              <a:buAutoNum type="arabicPeriod"/>
            </a:pPr>
            <a:endParaRPr lang="en-US" sz="2400" dirty="0">
              <a:solidFill>
                <a:srgbClr val="33339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 symbolic representation for a payroll TPS</a:t>
            </a:r>
            <a:endParaRPr lang="en-US" dirty="0"/>
          </a:p>
        </p:txBody>
      </p:sp>
      <p:pic>
        <p:nvPicPr>
          <p:cNvPr id="4" name="Picture 6" descr="C:\MyData\Texts\Laudon Ess 6e\Image Library\Chapter 02\FIG02_03.gif"/>
          <p:cNvPicPr>
            <a:picLocks noChangeAspect="1" noChangeArrowheads="1"/>
          </p:cNvPicPr>
          <p:nvPr/>
        </p:nvPicPr>
        <p:blipFill>
          <a:blip r:embed="rId2"/>
          <a:srcRect t="9193"/>
          <a:stretch>
            <a:fillRect/>
          </a:stretch>
        </p:blipFill>
        <p:spPr bwMode="auto">
          <a:xfrm>
            <a:off x="351798" y="1890712"/>
            <a:ext cx="8487402" cy="466248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Typical applications of TPS</a:t>
            </a:r>
            <a:endParaRPr lang="en-US" dirty="0"/>
          </a:p>
        </p:txBody>
      </p:sp>
      <p:pic>
        <p:nvPicPr>
          <p:cNvPr id="4" name="Picture 6" descr="C:\MyData\Texts\Laudon Ess 6e\Image Library\Chapter 02\FIG02_04.gif"/>
          <p:cNvPicPr>
            <a:picLocks noChangeAspect="1" noChangeArrowheads="1"/>
          </p:cNvPicPr>
          <p:nvPr/>
        </p:nvPicPr>
        <p:blipFill>
          <a:blip r:embed="rId2"/>
          <a:srcRect t="8815"/>
          <a:stretch>
            <a:fillRect/>
          </a:stretch>
        </p:blipFill>
        <p:spPr bwMode="auto">
          <a:xfrm>
            <a:off x="304800" y="1676400"/>
            <a:ext cx="8597960" cy="47244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Four major types of information systems</a:t>
            </a:r>
            <a:endParaRPr lang="en-US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533400" y="1676400"/>
            <a:ext cx="7848600" cy="4724400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/>
          <a:p>
            <a:pPr marL="609600" marR="0" lvl="0" indent="-609600" algn="ctr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609600" marR="0" lvl="0" indent="-609600" algn="ctr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Management Information Systems (MIS)</a:t>
            </a:r>
            <a:b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609600" marR="0" lvl="0" indent="-6096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Serve management level; provide reports and access to company data</a:t>
            </a:r>
          </a:p>
          <a:p>
            <a:pPr marL="609600" marR="0" lvl="0" indent="-6096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Input: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Summary transaction data, high-volume data, simple models</a:t>
            </a:r>
          </a:p>
          <a:p>
            <a:pPr marL="609600" marR="0" lvl="0" indent="-6096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Processing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Routine reports, simple models, low-level analysis</a:t>
            </a:r>
          </a:p>
          <a:p>
            <a:pPr marL="609600" marR="0" lvl="0" indent="-6096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Output: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Summary and exception reports</a:t>
            </a:r>
          </a:p>
          <a:p>
            <a:pPr marL="609600" marR="0" lvl="0" indent="-6096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Users: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Middle managers</a:t>
            </a:r>
          </a:p>
          <a:p>
            <a:pPr marL="609600" marR="0" lvl="0" indent="-6096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 smtClean="0"/>
              <a:t>How management information systems obtain their data </a:t>
            </a:r>
            <a:br>
              <a:rPr lang="en-US" sz="2400" dirty="0" smtClean="0"/>
            </a:br>
            <a:r>
              <a:rPr lang="en-US" sz="2400" dirty="0" smtClean="0"/>
              <a:t>from the organization’s TPS</a:t>
            </a:r>
            <a:br>
              <a:rPr lang="en-US" sz="2400" dirty="0" smtClean="0"/>
            </a:br>
            <a:endParaRPr lang="en-US" sz="2400" dirty="0"/>
          </a:p>
        </p:txBody>
      </p:sp>
      <p:pic>
        <p:nvPicPr>
          <p:cNvPr id="4" name="Picture 6" descr="C:\MyData\Texts\Laudon Ess 6e\Image Library\Chapter 02\FIG02_05.gif"/>
          <p:cNvPicPr>
            <a:picLocks noChangeAspect="1" noChangeArrowheads="1"/>
          </p:cNvPicPr>
          <p:nvPr/>
        </p:nvPicPr>
        <p:blipFill>
          <a:blip r:embed="rId2"/>
          <a:srcRect t="9135"/>
          <a:stretch>
            <a:fillRect/>
          </a:stretch>
        </p:blipFill>
        <p:spPr bwMode="auto">
          <a:xfrm>
            <a:off x="302741" y="1600200"/>
            <a:ext cx="8660541" cy="48006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Four major types of information systems</a:t>
            </a:r>
            <a:endParaRPr lang="en-US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533400" y="1676400"/>
            <a:ext cx="7772400" cy="4114800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/>
          <a:p>
            <a:pPr marL="609600" marR="0" lvl="0" indent="-609600" algn="ctr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609600" marR="0" lvl="0" indent="-609600" algn="ctr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Decision-Support Systems (DSS)</a:t>
            </a:r>
            <a:br>
              <a: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endParaRPr kumimoji="0" lang="en-US" sz="2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609600" marR="0" lvl="0" indent="-6096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Serve management level with data analysis for making decisions</a:t>
            </a:r>
          </a:p>
          <a:p>
            <a:pPr marL="609600" marR="0" lvl="0" indent="-6096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Input:</a:t>
            </a: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Low-volume data or massive databases, analytic models, and data analysis tools</a:t>
            </a:r>
          </a:p>
          <a:p>
            <a:pPr marL="609600" marR="0" lvl="0" indent="-6096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Processing</a:t>
            </a: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Interactive, simulations, analysis</a:t>
            </a:r>
          </a:p>
          <a:p>
            <a:pPr marL="609600" marR="0" lvl="0" indent="-6096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Output:</a:t>
            </a: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Special reports, decision analyses, responses to queries</a:t>
            </a:r>
          </a:p>
          <a:p>
            <a:pPr marL="609600" marR="0" lvl="0" indent="-6096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Users:</a:t>
            </a: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Professionals, staff managers</a:t>
            </a:r>
          </a:p>
          <a:p>
            <a:pPr marL="609600" marR="0" lvl="0" indent="-6096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Voyage-estimating decision-support system</a:t>
            </a:r>
            <a:endParaRPr lang="en-US" dirty="0"/>
          </a:p>
        </p:txBody>
      </p:sp>
      <p:pic>
        <p:nvPicPr>
          <p:cNvPr id="4" name="Picture 6" descr="C:\MyData\Texts\Laudon Ess 6e\Image Library\Chapter 02\FIG02_07.gif"/>
          <p:cNvPicPr>
            <a:picLocks noChangeAspect="1" noChangeArrowheads="1"/>
          </p:cNvPicPr>
          <p:nvPr/>
        </p:nvPicPr>
        <p:blipFill>
          <a:blip r:embed="rId2"/>
          <a:srcRect t="13200"/>
          <a:stretch>
            <a:fillRect/>
          </a:stretch>
        </p:blipFill>
        <p:spPr bwMode="auto">
          <a:xfrm>
            <a:off x="440696" y="1733550"/>
            <a:ext cx="8322304" cy="45148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Four major types of information systems</a:t>
            </a:r>
            <a:endParaRPr lang="en-US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533400" y="1676400"/>
            <a:ext cx="8077200" cy="4419600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/>
          <a:p>
            <a:pPr marL="609600" marR="0" lvl="0" indent="-6096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609600" marR="0" lvl="0" indent="-6096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Executive Support Systems (ESS)</a:t>
            </a:r>
            <a:br>
              <a:rPr kumimoji="0" lang="en-US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endParaRPr kumimoji="0" lang="en-US" sz="2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609600" marR="0" lvl="0" indent="-609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Provide communications and computing environment that serves the organization’s strategic level</a:t>
            </a:r>
          </a:p>
          <a:p>
            <a:pPr marL="609600" marR="0" lvl="0" indent="-609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Input:</a:t>
            </a: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External and internal aggregate data</a:t>
            </a:r>
          </a:p>
          <a:p>
            <a:pPr marL="609600" marR="0" lvl="0" indent="-609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Processing</a:t>
            </a: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Graphics, simulations, interactive</a:t>
            </a:r>
          </a:p>
          <a:p>
            <a:pPr marL="609600" marR="0" lvl="0" indent="-609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Output:</a:t>
            </a: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Projections, responses to queries</a:t>
            </a:r>
          </a:p>
          <a:p>
            <a:pPr marL="609600" marR="0" lvl="0" indent="-609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Users:</a:t>
            </a: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Senior Managers</a:t>
            </a:r>
          </a:p>
          <a:p>
            <a:pPr marL="609600" marR="0" lvl="0" indent="-609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Model of a typical executive support system</a:t>
            </a:r>
            <a:endParaRPr lang="en-US" dirty="0"/>
          </a:p>
        </p:txBody>
      </p:sp>
      <p:pic>
        <p:nvPicPr>
          <p:cNvPr id="4" name="Picture 6" descr="C:\MyData\Texts\Laudon Ess 6e\Image Library\Chapter 02\FIG02_08.gif"/>
          <p:cNvPicPr>
            <a:picLocks noChangeAspect="1" noChangeArrowheads="1"/>
          </p:cNvPicPr>
          <p:nvPr/>
        </p:nvPicPr>
        <p:blipFill>
          <a:blip r:embed="rId2"/>
          <a:srcRect t="11333"/>
          <a:stretch>
            <a:fillRect/>
          </a:stretch>
        </p:blipFill>
        <p:spPr bwMode="auto">
          <a:xfrm>
            <a:off x="1066800" y="1600200"/>
            <a:ext cx="6934200" cy="488086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Interrelationships among systems</a:t>
            </a:r>
            <a:endParaRPr lang="en-US" dirty="0"/>
          </a:p>
        </p:txBody>
      </p:sp>
      <p:pic>
        <p:nvPicPr>
          <p:cNvPr id="4" name="Picture 6" descr="C:\MyData\Texts\Laudon Ess 6e\Image Library\Chapter 02\FIG02_09.gif"/>
          <p:cNvPicPr>
            <a:picLocks noChangeAspect="1" noChangeArrowheads="1"/>
          </p:cNvPicPr>
          <p:nvPr/>
        </p:nvPicPr>
        <p:blipFill>
          <a:blip r:embed="rId2"/>
          <a:srcRect t="11333"/>
          <a:stretch>
            <a:fillRect/>
          </a:stretch>
        </p:blipFill>
        <p:spPr bwMode="auto">
          <a:xfrm>
            <a:off x="1423988" y="1768475"/>
            <a:ext cx="6272212" cy="460211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Additional Systems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Office Automation System</a:t>
            </a:r>
            <a:r>
              <a:rPr lang="en-US" dirty="0" smtClean="0"/>
              <a:t>: "Facilitates everyday office functions, including document management, scheduling, and communication."</a:t>
            </a:r>
          </a:p>
          <a:p>
            <a:r>
              <a:rPr lang="en-US" b="1" dirty="0" smtClean="0"/>
              <a:t>Expert System</a:t>
            </a:r>
            <a:r>
              <a:rPr lang="en-US" dirty="0" smtClean="0"/>
              <a:t>: "Simulates human expertise to assist in complex decision-making or problem-solving."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100" dirty="0" smtClean="0"/>
              <a:t>The four major types of information systems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pic>
        <p:nvPicPr>
          <p:cNvPr id="4" name="Picture 6" descr="C:\MyData\Texts\Laudon Ess 6e\Image Library\Chapter 02\FIG02_02.gif"/>
          <p:cNvPicPr>
            <a:picLocks noChangeAspect="1" noChangeArrowheads="1"/>
          </p:cNvPicPr>
          <p:nvPr/>
        </p:nvPicPr>
        <p:blipFill>
          <a:blip r:embed="rId2"/>
          <a:srcRect t="9149"/>
          <a:stretch>
            <a:fillRect/>
          </a:stretch>
        </p:blipFill>
        <p:spPr bwMode="auto">
          <a:xfrm>
            <a:off x="457200" y="946536"/>
            <a:ext cx="8026692" cy="568286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84778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are Enterprise Applications?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dirty="0" smtClean="0"/>
              <a:t>Systems that span functional areas and levels of management</a:t>
            </a:r>
          </a:p>
          <a:p>
            <a:pPr algn="just"/>
            <a:r>
              <a:rPr lang="en-US" dirty="0" smtClean="0"/>
              <a:t>Focus on executing business processes across the organization</a:t>
            </a:r>
          </a:p>
          <a:p>
            <a:pPr algn="just"/>
            <a:r>
              <a:rPr lang="en-US" dirty="0" smtClean="0"/>
              <a:t>Aim to streamline and enhance business operations</a:t>
            </a:r>
          </a:p>
          <a:p>
            <a:pPr algn="just">
              <a:buNone/>
            </a:pPr>
            <a:r>
              <a:rPr lang="en-US" u="sng" dirty="0" smtClean="0"/>
              <a:t>Advantages of Enterprise Applications:</a:t>
            </a:r>
          </a:p>
          <a:p>
            <a:pPr algn="just"/>
            <a:r>
              <a:rPr lang="en-US" dirty="0" smtClean="0"/>
              <a:t>Improved flexibility and productivity</a:t>
            </a:r>
          </a:p>
          <a:p>
            <a:pPr algn="just"/>
            <a:r>
              <a:rPr lang="en-US" dirty="0" smtClean="0"/>
              <a:t>Enhanced resource management</a:t>
            </a:r>
          </a:p>
          <a:p>
            <a:pPr algn="just"/>
            <a:r>
              <a:rPr lang="en-US" dirty="0" smtClean="0"/>
              <a:t>Better customer service integration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Systems for Linking the Enterprise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>
              <a:buNone/>
            </a:pPr>
            <a:r>
              <a:rPr lang="en-US" u="sng" dirty="0" smtClean="0"/>
              <a:t>Enterprise Systems</a:t>
            </a:r>
          </a:p>
          <a:p>
            <a:pPr algn="just"/>
            <a:r>
              <a:rPr lang="en-US" dirty="0" smtClean="0"/>
              <a:t>Integrate key internal business processes</a:t>
            </a:r>
          </a:p>
          <a:p>
            <a:pPr algn="just"/>
            <a:r>
              <a:rPr lang="en-US" dirty="0" smtClean="0"/>
              <a:t>Improve decision-making and coordination within the firm</a:t>
            </a:r>
          </a:p>
          <a:p>
            <a:pPr algn="just">
              <a:buNone/>
            </a:pPr>
            <a:endParaRPr lang="en-US" dirty="0" smtClean="0"/>
          </a:p>
          <a:p>
            <a:pPr algn="just">
              <a:buNone/>
            </a:pPr>
            <a:r>
              <a:rPr lang="en-US" u="sng" dirty="0" smtClean="0"/>
              <a:t>Supply Chain Management Systems</a:t>
            </a:r>
          </a:p>
          <a:p>
            <a:pPr algn="just"/>
            <a:r>
              <a:rPr lang="en-US" dirty="0" smtClean="0"/>
              <a:t>Manage relationships with </a:t>
            </a:r>
            <a:r>
              <a:rPr lang="en-US" dirty="0" err="1" smtClean="0"/>
              <a:t>suppliersOptimize</a:t>
            </a:r>
            <a:r>
              <a:rPr lang="en-US" dirty="0" smtClean="0"/>
              <a:t> planning, sourcing, manufacturing, and delivery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Systems for Linking the Enterprise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>
              <a:buNone/>
            </a:pPr>
            <a:r>
              <a:rPr lang="en-US" u="sng" dirty="0" smtClean="0"/>
              <a:t>Customer Relationship Management (CRM)</a:t>
            </a:r>
          </a:p>
          <a:p>
            <a:pPr algn="just"/>
            <a:r>
              <a:rPr lang="en-US" dirty="0" smtClean="0"/>
              <a:t>Coordinate customer-related business processes</a:t>
            </a:r>
          </a:p>
          <a:p>
            <a:pPr algn="just"/>
            <a:r>
              <a:rPr lang="en-US" dirty="0" smtClean="0"/>
              <a:t>Enhance customer satisfaction and retention</a:t>
            </a:r>
          </a:p>
          <a:p>
            <a:pPr algn="just">
              <a:buNone/>
            </a:pPr>
            <a:endParaRPr lang="en-US" dirty="0" smtClean="0"/>
          </a:p>
          <a:p>
            <a:pPr algn="just">
              <a:buNone/>
            </a:pPr>
            <a:r>
              <a:rPr lang="en-US" u="sng" dirty="0" smtClean="0"/>
              <a:t>Knowledge Management Systems (KMS)</a:t>
            </a:r>
          </a:p>
          <a:p>
            <a:pPr algn="just"/>
            <a:r>
              <a:rPr lang="en-US" dirty="0" smtClean="0"/>
              <a:t>Facilitate creation, sharing, and distribution of knowledge</a:t>
            </a:r>
          </a:p>
          <a:p>
            <a:pPr algn="just"/>
            <a:r>
              <a:rPr lang="en-US" dirty="0" smtClean="0"/>
              <a:t>Support informed decision-making across the firm</a:t>
            </a:r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Systems for Linking the Enterprise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/>
              <a:t>Key Challenges in Enterprise Coordination</a:t>
            </a:r>
          </a:p>
          <a:p>
            <a:r>
              <a:rPr lang="en-US" dirty="0" smtClean="0"/>
              <a:t>Lack of proper coordination and integration in enterprises</a:t>
            </a:r>
          </a:p>
          <a:p>
            <a:r>
              <a:rPr lang="en-US" dirty="0" smtClean="0"/>
              <a:t>Difficulty in synchronizing diverse systems</a:t>
            </a:r>
          </a:p>
          <a:p>
            <a:r>
              <a:rPr lang="en-US" dirty="0" smtClean="0"/>
              <a:t>Impact: Reduced efficiency and challenges in decision-making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3294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Collaboration in Organizations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r>
              <a:rPr lang="en-US" u="sng" dirty="0" smtClean="0"/>
              <a:t>What is Collaboration?</a:t>
            </a:r>
          </a:p>
          <a:p>
            <a:pPr algn="just"/>
            <a:r>
              <a:rPr lang="en-US" dirty="0" smtClean="0"/>
              <a:t>Working with others to achieve shared, explicit goals</a:t>
            </a:r>
          </a:p>
          <a:p>
            <a:pPr algn="just"/>
            <a:r>
              <a:rPr lang="en-US" dirty="0" smtClean="0"/>
              <a:t>Focuses on task or mission accomplishment</a:t>
            </a:r>
          </a:p>
          <a:p>
            <a:pPr algn="just"/>
            <a:r>
              <a:rPr lang="en-US" dirty="0" smtClean="0"/>
              <a:t>Takes place within businesses or between businesses</a:t>
            </a:r>
          </a:p>
          <a:p>
            <a:pPr algn="just"/>
            <a:r>
              <a:rPr lang="en-US" dirty="0" smtClean="0"/>
              <a:t>Collaboration can be short-lived or long-term depending on task and relationships</a:t>
            </a:r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Systems for Collaboration and Teamwork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r>
              <a:rPr lang="en-US" u="sng" dirty="0" smtClean="0"/>
              <a:t>Importance of Collaboration in Organizations</a:t>
            </a:r>
          </a:p>
          <a:p>
            <a:pPr algn="just"/>
            <a:r>
              <a:rPr lang="en-US" dirty="0" smtClean="0"/>
              <a:t>Aligning stakeholders toward common goals</a:t>
            </a:r>
          </a:p>
          <a:p>
            <a:pPr algn="just"/>
            <a:r>
              <a:rPr lang="en-US" dirty="0" smtClean="0"/>
              <a:t>Coordinating plans and actions to drive success</a:t>
            </a:r>
          </a:p>
          <a:p>
            <a:pPr algn="just"/>
            <a:r>
              <a:rPr lang="en-US" dirty="0" smtClean="0"/>
              <a:t>Fostering teamwork and effective communication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21428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Collaboration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 smtClean="0"/>
              <a:t>One-to-One Collaboration:</a:t>
            </a:r>
            <a:r>
              <a:rPr lang="en-US" dirty="0" smtClean="0"/>
              <a:t> Individual interactions focused on specific tasks</a:t>
            </a:r>
          </a:p>
          <a:p>
            <a:r>
              <a:rPr lang="en-US" b="1" dirty="0" smtClean="0"/>
              <a:t>Many-to-Many Collaboration:</a:t>
            </a:r>
            <a:r>
              <a:rPr lang="en-US" dirty="0" smtClean="0"/>
              <a:t> Group or team collaboration with multiple participants</a:t>
            </a:r>
          </a:p>
          <a:p>
            <a:r>
              <a:rPr lang="en-US" dirty="0" smtClean="0"/>
              <a:t>Informal vs. Formal Collaboration</a:t>
            </a:r>
          </a:p>
          <a:p>
            <a:pPr lvl="1"/>
            <a:r>
              <a:rPr lang="en-US" b="1" dirty="0" smtClean="0"/>
              <a:t>Informal Collaboration:</a:t>
            </a:r>
            <a:r>
              <a:rPr lang="en-US" dirty="0" smtClean="0"/>
              <a:t> Unofficial groups that are not part of the organizational structure</a:t>
            </a:r>
          </a:p>
          <a:p>
            <a:pPr lvl="1"/>
            <a:r>
              <a:rPr lang="en-US" b="1" dirty="0" smtClean="0"/>
              <a:t>Formal Collaboration:</a:t>
            </a:r>
            <a:r>
              <a:rPr lang="en-US" dirty="0" smtClean="0"/>
              <a:t> Organized teams within the firm with clear missions and objectives</a:t>
            </a:r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Importance of Collaboration and Teamwork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b="1" dirty="0" smtClean="0"/>
              <a:t>Changing Nature of Work</a:t>
            </a:r>
          </a:p>
          <a:p>
            <a:r>
              <a:rPr lang="en-US" dirty="0" smtClean="0"/>
              <a:t>From factory manufacturing to highly interactive, coordinated tasks</a:t>
            </a:r>
          </a:p>
          <a:p>
            <a:r>
              <a:rPr lang="en-US" dirty="0" smtClean="0"/>
              <a:t>Increased need for collaboration in service/product development</a:t>
            </a:r>
          </a:p>
          <a:p>
            <a:endParaRPr lang="en-US" dirty="0" smtClean="0"/>
          </a:p>
          <a:p>
            <a:pPr>
              <a:buNone/>
            </a:pPr>
            <a:r>
              <a:rPr lang="en-US" b="1" dirty="0" smtClean="0"/>
              <a:t>Growth of Professional Work</a:t>
            </a:r>
          </a:p>
          <a:p>
            <a:r>
              <a:rPr lang="en-US" dirty="0" smtClean="0"/>
              <a:t>"Interaction" jobs in the service sector demand close coordination</a:t>
            </a:r>
          </a:p>
          <a:p>
            <a:r>
              <a:rPr lang="en-US" dirty="0" smtClean="0"/>
              <a:t>Professional roles require education and the sharing of knowledge</a:t>
            </a:r>
          </a:p>
          <a:p>
            <a:endParaRPr lang="en-US" dirty="0" smtClean="0"/>
          </a:p>
          <a:p>
            <a:pPr>
              <a:buNone/>
            </a:pPr>
            <a:r>
              <a:rPr lang="en-US" b="1" dirty="0" smtClean="0"/>
              <a:t>Changing Organization of the Firm</a:t>
            </a:r>
          </a:p>
          <a:p>
            <a:r>
              <a:rPr lang="en-US" dirty="0" smtClean="0"/>
              <a:t>Transition from hierarchical management to team-based work structures</a:t>
            </a:r>
          </a:p>
          <a:p>
            <a:r>
              <a:rPr lang="en-US" dirty="0" smtClean="0"/>
              <a:t>Teams are expected to develop their own methods for task completion</a:t>
            </a:r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Importance of Collaboration and Teamwork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b="1" dirty="0" smtClean="0"/>
              <a:t>Changing Scope of the Firm</a:t>
            </a:r>
          </a:p>
          <a:p>
            <a:r>
              <a:rPr lang="en-US" dirty="0" smtClean="0"/>
              <a:t>Work now spans multiple locations, countries, and continents</a:t>
            </a:r>
          </a:p>
          <a:p>
            <a:r>
              <a:rPr lang="en-US" dirty="0" smtClean="0"/>
              <a:t>Need for global coordination across various departments (design, production, marketing)</a:t>
            </a:r>
          </a:p>
          <a:p>
            <a:pPr>
              <a:buNone/>
            </a:pPr>
            <a:r>
              <a:rPr lang="en-US" b="1" dirty="0" smtClean="0"/>
              <a:t>Emphasis on Innovation</a:t>
            </a:r>
          </a:p>
          <a:p>
            <a:r>
              <a:rPr lang="en-US" dirty="0" smtClean="0"/>
              <a:t>Innovation is often the result of team collaboration (e.g., Bill Gates, Steve Jobs)</a:t>
            </a:r>
          </a:p>
          <a:p>
            <a:r>
              <a:rPr lang="en-US" dirty="0" smtClean="0"/>
              <a:t>Successful innovators build strong collaborative teams to support ideas</a:t>
            </a:r>
          </a:p>
          <a:p>
            <a:pPr>
              <a:buNone/>
            </a:pPr>
            <a:r>
              <a:rPr lang="en-US" b="1" dirty="0" smtClean="0"/>
              <a:t>Changing Culture of Work and Business</a:t>
            </a:r>
          </a:p>
          <a:p>
            <a:r>
              <a:rPr lang="en-US" dirty="0" smtClean="0"/>
              <a:t>Diverse teams often outperform individuals in problem-solving and innovation</a:t>
            </a:r>
          </a:p>
          <a:p>
            <a:r>
              <a:rPr lang="en-US" dirty="0" smtClean="0"/>
              <a:t>Concepts like "</a:t>
            </a:r>
            <a:r>
              <a:rPr lang="en-US" dirty="0" err="1" smtClean="0"/>
              <a:t>crowdsourcing</a:t>
            </a:r>
            <a:r>
              <a:rPr lang="en-US" dirty="0" smtClean="0"/>
              <a:t>" and "wisdom of crowds" support the value of teamwork</a:t>
            </a:r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 smtClean="0"/>
              <a:t>Changing Nature of Work:</a:t>
            </a:r>
            <a:r>
              <a:rPr lang="en-US" dirty="0" smtClean="0"/>
              <a:t> Greater need for coordination and interaction in modern work</a:t>
            </a:r>
          </a:p>
          <a:p>
            <a:r>
              <a:rPr lang="en-US" b="1" dirty="0" smtClean="0"/>
              <a:t>Growth of Professional Work:</a:t>
            </a:r>
            <a:r>
              <a:rPr lang="en-US" dirty="0" smtClean="0"/>
              <a:t> Jobs requiring education and information sharing</a:t>
            </a:r>
          </a:p>
          <a:p>
            <a:r>
              <a:rPr lang="en-US" b="1" dirty="0" smtClean="0"/>
              <a:t>Changing Organization of the Firm:</a:t>
            </a:r>
            <a:r>
              <a:rPr lang="en-US" dirty="0" smtClean="0"/>
              <a:t> Shift from hierarchical management to collaborative groups and teams</a:t>
            </a:r>
          </a:p>
          <a:p>
            <a:r>
              <a:rPr lang="en-US" b="1" dirty="0" smtClean="0"/>
              <a:t>Changing Scope of the Firm:</a:t>
            </a:r>
            <a:r>
              <a:rPr lang="en-US" dirty="0" smtClean="0"/>
              <a:t> Global presence demands cross-border collaboration</a:t>
            </a:r>
          </a:p>
          <a:p>
            <a:r>
              <a:rPr lang="en-US" b="1" dirty="0" smtClean="0"/>
              <a:t>Emphasis on Innovation:</a:t>
            </a:r>
            <a:r>
              <a:rPr lang="en-US" dirty="0" smtClean="0"/>
              <a:t> Teams foster creativity and innovation (e.g., Bill Gates, Steve Jobs)</a:t>
            </a:r>
          </a:p>
          <a:p>
            <a:r>
              <a:rPr lang="en-US" b="1" dirty="0" smtClean="0"/>
              <a:t>Changing Culture of Work:</a:t>
            </a:r>
            <a:r>
              <a:rPr lang="en-US" dirty="0" smtClean="0"/>
              <a:t> Diverse teams produce better outcomes, faster</a:t>
            </a:r>
            <a:endParaRPr 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Business benefits of collaboration and Teamwork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b="1" dirty="0" smtClean="0"/>
              <a:t>Productivity</a:t>
            </a:r>
          </a:p>
          <a:p>
            <a:r>
              <a:rPr lang="en-US" dirty="0" smtClean="0"/>
              <a:t>Working together allows people to complete complex tasks faster than working individually</a:t>
            </a:r>
          </a:p>
          <a:p>
            <a:r>
              <a:rPr lang="en-US" dirty="0" smtClean="0"/>
              <a:t>Teams can handle more complex problems with collective expertise</a:t>
            </a:r>
          </a:p>
          <a:p>
            <a:pPr>
              <a:buNone/>
            </a:pPr>
            <a:r>
              <a:rPr lang="en-US" b="1" dirty="0" smtClean="0"/>
              <a:t>Quality</a:t>
            </a:r>
          </a:p>
          <a:p>
            <a:r>
              <a:rPr lang="en-US" dirty="0" smtClean="0"/>
              <a:t>Collaborative teams can quickly communicate and address errors, reducing delays</a:t>
            </a:r>
          </a:p>
          <a:p>
            <a:r>
              <a:rPr lang="en-US" dirty="0" smtClean="0"/>
              <a:t>Improved accuracy and fewer errors due to constant feedback loops</a:t>
            </a:r>
          </a:p>
          <a:p>
            <a:r>
              <a:rPr lang="en-US" dirty="0" smtClean="0"/>
              <a:t>Reduces buffers and time delays in production processes</a:t>
            </a:r>
          </a:p>
          <a:p>
            <a:pPr>
              <a:buNone/>
            </a:pPr>
            <a:r>
              <a:rPr lang="en-US" b="1" dirty="0" smtClean="0"/>
              <a:t>Innovation</a:t>
            </a:r>
          </a:p>
          <a:p>
            <a:r>
              <a:rPr lang="en-US" dirty="0" smtClean="0"/>
              <a:t>Collaborative teams generate more innovative ideas than isolated workers</a:t>
            </a:r>
          </a:p>
          <a:p>
            <a:r>
              <a:rPr lang="en-US" dirty="0" smtClean="0"/>
              <a:t>New solutions for production, service, and administration emerge faster</a:t>
            </a:r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Business benefits of collaboration and Teamwork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b="1" dirty="0" smtClean="0"/>
              <a:t>Customer Service</a:t>
            </a:r>
          </a:p>
          <a:p>
            <a:r>
              <a:rPr lang="en-US" dirty="0" smtClean="0"/>
              <a:t>Teams solve customer complaints and issues more effectively</a:t>
            </a:r>
          </a:p>
          <a:p>
            <a:r>
              <a:rPr lang="en-US" dirty="0" smtClean="0"/>
              <a:t>Collaboration leads to quicker response times and more accurate solutions</a:t>
            </a:r>
          </a:p>
          <a:p>
            <a:pPr>
              <a:buNone/>
            </a:pPr>
            <a:r>
              <a:rPr lang="en-US" b="1" dirty="0" smtClean="0"/>
              <a:t>Financial Performance</a:t>
            </a:r>
          </a:p>
          <a:p>
            <a:r>
              <a:rPr lang="en-US" dirty="0" smtClean="0"/>
              <a:t>Collaboration results in improved sales growth and profitability</a:t>
            </a:r>
          </a:p>
          <a:p>
            <a:r>
              <a:rPr lang="en-US" dirty="0" smtClean="0"/>
              <a:t>Teams that work well together lead to better business outcomes, including financial success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Collaboration boosts productivity, quality, innovation, customer service, and financial performance</a:t>
            </a:r>
          </a:p>
          <a:p>
            <a:r>
              <a:rPr lang="en-US" dirty="0" smtClean="0"/>
              <a:t>Businesses that foster collaboration are more likely to succeed in a competitive</a:t>
            </a:r>
            <a:endParaRPr 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Tools and Technology for Collaboration and Teamwork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Collaborative culture needs the right information systems and tools</a:t>
            </a:r>
          </a:p>
          <a:p>
            <a:r>
              <a:rPr lang="en-US" dirty="0" smtClean="0"/>
              <a:t>Hundreds of tools are designed to enhance collaboration across teams, employees, customers, and managers</a:t>
            </a:r>
          </a:p>
          <a:p>
            <a:r>
              <a:rPr lang="en-US" dirty="0" smtClean="0"/>
              <a:t>Key tools include email, instant messaging, social networking, wikis, and virtual worlds</a:t>
            </a:r>
            <a:endParaRPr 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E-mail and Instant Messaging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Widely adopted by organizations for communication and collaboration</a:t>
            </a:r>
          </a:p>
          <a:p>
            <a:r>
              <a:rPr lang="en-US" dirty="0" smtClean="0"/>
              <a:t>Available on computers, cell phones, and wireless devices</a:t>
            </a:r>
          </a:p>
          <a:p>
            <a:r>
              <a:rPr lang="en-US" dirty="0" smtClean="0"/>
              <a:t>Instant messaging allows real-time conversations with multiple participants</a:t>
            </a:r>
          </a:p>
          <a:p>
            <a:r>
              <a:rPr lang="en-US" dirty="0" smtClean="0"/>
              <a:t>Features for file sharing and message transmission</a:t>
            </a:r>
            <a:endParaRPr 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Social Networking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Social networking platforms (LinkedIn, MySpace, </a:t>
            </a:r>
            <a:r>
              <a:rPr lang="en-US" dirty="0" err="1" smtClean="0"/>
              <a:t>Facebook</a:t>
            </a:r>
            <a:r>
              <a:rPr lang="en-US" dirty="0" smtClean="0"/>
              <a:t>) help people share ideas and interact</a:t>
            </a:r>
          </a:p>
          <a:p>
            <a:r>
              <a:rPr lang="en-US" dirty="0" smtClean="0"/>
              <a:t>Quickly becoming corporate tools for idea sharing and collaboration</a:t>
            </a:r>
          </a:p>
          <a:p>
            <a:r>
              <a:rPr lang="en-US" dirty="0" smtClean="0"/>
              <a:t>Useful for interaction-based jobs and fostering collaboration within organizations</a:t>
            </a:r>
            <a:endParaRPr 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Wikis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Web platforms that allow users to easily contribute and edit content without technical skills</a:t>
            </a:r>
          </a:p>
          <a:p>
            <a:r>
              <a:rPr lang="en-US" dirty="0" smtClean="0"/>
              <a:t>Wikipedia is a prime example of a successful collaborative wiki</a:t>
            </a:r>
          </a:p>
          <a:p>
            <a:r>
              <a:rPr lang="en-US" dirty="0" smtClean="0"/>
              <a:t>Ideal for storing and sharing company knowledge, documents, and insights</a:t>
            </a:r>
            <a:endParaRPr 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Virtual Worlds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Online 3D environments with avatars representing real people (e.g., Second Life)</a:t>
            </a:r>
          </a:p>
          <a:p>
            <a:r>
              <a:rPr lang="en-US" dirty="0" smtClean="0"/>
              <a:t>Companies like IBM and INSEAD use virtual worlds for meetings and training</a:t>
            </a:r>
          </a:p>
          <a:p>
            <a:r>
              <a:rPr lang="en-US" dirty="0" smtClean="0"/>
              <a:t>Facilitates interaction, idea exchange, and virtual collaboration across locations</a:t>
            </a:r>
            <a:endParaRPr 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Internet-Based Collaboration Environments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Software suites offering multi-function platforms for teams working remotely</a:t>
            </a:r>
          </a:p>
          <a:p>
            <a:r>
              <a:rPr lang="en-US" dirty="0" smtClean="0"/>
              <a:t>Tools for collaboration across multiple locations and diverse teams</a:t>
            </a:r>
          </a:p>
          <a:p>
            <a:r>
              <a:rPr lang="en-US" dirty="0" smtClean="0"/>
              <a:t>Includes features like shared documents, communication tools, and task management</a:t>
            </a:r>
            <a:endParaRPr 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Virtual Meeting Systems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Videoconferencing and Web conferencing technologies for meetings and collaborations</a:t>
            </a:r>
          </a:p>
          <a:p>
            <a:r>
              <a:rPr lang="en-US" dirty="0" smtClean="0"/>
              <a:t>Tele-presence technology creates the illusion of being in the same physical space</a:t>
            </a:r>
          </a:p>
          <a:p>
            <a:r>
              <a:rPr lang="en-US" dirty="0" smtClean="0"/>
              <a:t>Reduces travel expenses and facilitates global teamwork</a:t>
            </a:r>
            <a:endParaRPr 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Tools like email, instant messaging, social networks, and virtual platforms are essential for modern collaboration</a:t>
            </a:r>
          </a:p>
          <a:p>
            <a:r>
              <a:rPr lang="en-US" dirty="0" smtClean="0"/>
              <a:t>Technology bridges physical gaps and helps teams work more efficiently across locations</a:t>
            </a:r>
          </a:p>
          <a:p>
            <a:r>
              <a:rPr lang="en-US" dirty="0" smtClean="0"/>
              <a:t>Implementing the right tools can significantly improve business performance and innovation</a:t>
            </a:r>
            <a:endParaRPr 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Information System Functions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b="1" dirty="0" smtClean="0"/>
              <a:t>Why Information Systems Are Crucial?</a:t>
            </a:r>
          </a:p>
          <a:p>
            <a:r>
              <a:rPr lang="en-US" b="1" dirty="0" smtClean="0"/>
              <a:t>Essential for Operations:</a:t>
            </a:r>
            <a:endParaRPr lang="en-US" dirty="0" smtClean="0"/>
          </a:p>
          <a:p>
            <a:pPr lvl="1"/>
            <a:r>
              <a:rPr lang="en-US" dirty="0" smtClean="0"/>
              <a:t>Businesses depend on IT systems for daily functions.</a:t>
            </a:r>
          </a:p>
          <a:p>
            <a:pPr lvl="1"/>
            <a:r>
              <a:rPr lang="en-US" dirty="0" smtClean="0"/>
              <a:t>Supports decision-making and strategic initiatives.</a:t>
            </a:r>
          </a:p>
          <a:p>
            <a:r>
              <a:rPr lang="en-US" b="1" dirty="0" smtClean="0"/>
              <a:t>Diverse System Types:</a:t>
            </a:r>
            <a:endParaRPr lang="en-US" dirty="0" smtClean="0"/>
          </a:p>
          <a:p>
            <a:pPr lvl="1"/>
            <a:r>
              <a:rPr lang="en-US" dirty="0" smtClean="0"/>
              <a:t>Operational systems, management systems, and decision-support systems.</a:t>
            </a:r>
          </a:p>
          <a:p>
            <a:r>
              <a:rPr lang="en-US" b="1" dirty="0" smtClean="0"/>
              <a:t>Key Question:</a:t>
            </a:r>
            <a:endParaRPr lang="en-US" dirty="0" smtClean="0"/>
          </a:p>
          <a:p>
            <a:pPr lvl="1"/>
            <a:r>
              <a:rPr lang="en-US" dirty="0" smtClean="0"/>
              <a:t>Who ensures these systems operate seamlessly and stay updated?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Information System Functions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/>
              <a:t>Role of the Information Systems Department</a:t>
            </a:r>
          </a:p>
          <a:p>
            <a:r>
              <a:rPr lang="en-US" b="1" dirty="0" smtClean="0"/>
              <a:t>Organizational Backbone for IT Services:</a:t>
            </a:r>
            <a:endParaRPr lang="en-US" dirty="0" smtClean="0"/>
          </a:p>
          <a:p>
            <a:pPr lvl="1"/>
            <a:r>
              <a:rPr lang="en-US" dirty="0" smtClean="0"/>
              <a:t>Found in medium to large organizations.</a:t>
            </a:r>
          </a:p>
          <a:p>
            <a:pPr lvl="1"/>
            <a:r>
              <a:rPr lang="en-US" dirty="0" smtClean="0"/>
              <a:t>Formalized unit dedicated to IT management.</a:t>
            </a:r>
          </a:p>
          <a:p>
            <a:r>
              <a:rPr lang="en-US" b="1" dirty="0" smtClean="0"/>
              <a:t>Primary Responsibilities:</a:t>
            </a:r>
            <a:endParaRPr lang="en-US" dirty="0" smtClean="0"/>
          </a:p>
          <a:p>
            <a:pPr lvl="1"/>
            <a:r>
              <a:rPr lang="en-US" dirty="0" smtClean="0"/>
              <a:t>Maintain </a:t>
            </a:r>
            <a:r>
              <a:rPr lang="en-US" b="1" dirty="0" smtClean="0"/>
              <a:t>hardware</a:t>
            </a:r>
            <a:r>
              <a:rPr lang="en-US" dirty="0" smtClean="0"/>
              <a:t>, </a:t>
            </a:r>
            <a:r>
              <a:rPr lang="en-US" b="1" dirty="0" smtClean="0"/>
              <a:t>software</a:t>
            </a:r>
            <a:r>
              <a:rPr lang="en-US" dirty="0" smtClean="0"/>
              <a:t>, </a:t>
            </a:r>
            <a:r>
              <a:rPr lang="en-US" b="1" dirty="0" smtClean="0"/>
              <a:t>data storage</a:t>
            </a:r>
            <a:r>
              <a:rPr lang="en-US" dirty="0" smtClean="0"/>
              <a:t>, and </a:t>
            </a:r>
            <a:r>
              <a:rPr lang="en-US" b="1" dirty="0" smtClean="0"/>
              <a:t>networks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Ensure reliability and security of IT infrastructure.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Core Roles in the IS Department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b="1" dirty="0" smtClean="0"/>
              <a:t>Programmers:</a:t>
            </a:r>
          </a:p>
          <a:p>
            <a:r>
              <a:rPr lang="en-US" dirty="0" smtClean="0"/>
              <a:t>Write and maintain software instructions.</a:t>
            </a:r>
          </a:p>
          <a:p>
            <a:r>
              <a:rPr lang="en-US" dirty="0" smtClean="0"/>
              <a:t>Develop custom applications tailored to business needs.</a:t>
            </a:r>
          </a:p>
          <a:p>
            <a:pPr>
              <a:buNone/>
            </a:pPr>
            <a:r>
              <a:rPr lang="en-US" b="1" dirty="0" smtClean="0"/>
              <a:t>Systems Analysts:</a:t>
            </a:r>
          </a:p>
          <a:p>
            <a:r>
              <a:rPr lang="en-US" dirty="0" smtClean="0"/>
              <a:t>Serve as a bridge between IT and business teams.</a:t>
            </a:r>
          </a:p>
          <a:p>
            <a:r>
              <a:rPr lang="en-US" dirty="0" smtClean="0"/>
              <a:t>Analyze business problems and translate them into IT requirements.</a:t>
            </a:r>
          </a:p>
          <a:p>
            <a:pPr>
              <a:buNone/>
            </a:pPr>
            <a:r>
              <a:rPr lang="en-US" b="1" dirty="0" smtClean="0"/>
              <a:t>Information Systems Managers:</a:t>
            </a:r>
          </a:p>
          <a:p>
            <a:r>
              <a:rPr lang="en-US" dirty="0" smtClean="0"/>
              <a:t>Lead teams of specialists (programmers, analysts, etc.).</a:t>
            </a:r>
          </a:p>
          <a:p>
            <a:r>
              <a:rPr lang="en-US" dirty="0" smtClean="0"/>
              <a:t>Oversee project execution and long-term IT strategies.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Specialized Leadership Roles in 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b="1" dirty="0" smtClean="0"/>
              <a:t>Chief Information Officer (CIO):</a:t>
            </a:r>
          </a:p>
          <a:p>
            <a:r>
              <a:rPr lang="en-US" dirty="0" smtClean="0"/>
              <a:t>Oversees IT strategy and implementation.</a:t>
            </a:r>
          </a:p>
          <a:p>
            <a:r>
              <a:rPr lang="en-US" dirty="0" smtClean="0"/>
              <a:t>Combines technology expertise with business leadership.</a:t>
            </a:r>
          </a:p>
          <a:p>
            <a:pPr>
              <a:buNone/>
            </a:pPr>
            <a:r>
              <a:rPr lang="en-US" b="1" dirty="0" smtClean="0"/>
              <a:t>Chief Security Officer (CSO):</a:t>
            </a:r>
          </a:p>
          <a:p>
            <a:r>
              <a:rPr lang="en-US" dirty="0" smtClean="0"/>
              <a:t>Responsible for IT and information security.</a:t>
            </a:r>
          </a:p>
          <a:p>
            <a:r>
              <a:rPr lang="en-US" dirty="0" smtClean="0"/>
              <a:t>Educates staff on security measures and monitors threats.</a:t>
            </a:r>
          </a:p>
          <a:p>
            <a:pPr>
              <a:buNone/>
            </a:pPr>
            <a:r>
              <a:rPr lang="en-US" b="1" dirty="0" smtClean="0"/>
              <a:t>Chief Privacy Officer (CPO):</a:t>
            </a:r>
          </a:p>
          <a:p>
            <a:r>
              <a:rPr lang="en-US" dirty="0" smtClean="0"/>
              <a:t>Ensures compliance with data privacy laws.</a:t>
            </a:r>
          </a:p>
          <a:p>
            <a:r>
              <a:rPr lang="en-US" dirty="0" smtClean="0"/>
              <a:t>Develops policies to safeguard personal data.</a:t>
            </a:r>
          </a:p>
          <a:p>
            <a:pPr>
              <a:buNone/>
            </a:pPr>
            <a:r>
              <a:rPr lang="en-US" b="1" dirty="0" smtClean="0"/>
              <a:t>Chief Knowledge Officer (CKO):</a:t>
            </a:r>
          </a:p>
          <a:p>
            <a:r>
              <a:rPr lang="en-US" dirty="0" smtClean="0"/>
              <a:t>Develops knowledge management programs.</a:t>
            </a:r>
          </a:p>
          <a:p>
            <a:r>
              <a:rPr lang="en-US" dirty="0" smtClean="0"/>
              <a:t>Enhances use of organizational knowledge.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Collaboration Beyond the IS Department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 smtClean="0"/>
              <a:t>End Users:</a:t>
            </a:r>
            <a:endParaRPr lang="en-US" dirty="0" smtClean="0"/>
          </a:p>
          <a:p>
            <a:pPr lvl="1"/>
            <a:r>
              <a:rPr lang="en-US" dirty="0" smtClean="0"/>
              <a:t>Representatives from various departments outside IT.</a:t>
            </a:r>
          </a:p>
          <a:p>
            <a:pPr lvl="1"/>
            <a:r>
              <a:rPr lang="en-US" dirty="0" smtClean="0"/>
              <a:t>Involved in system design and application development.</a:t>
            </a:r>
          </a:p>
          <a:p>
            <a:pPr lvl="1"/>
            <a:r>
              <a:rPr lang="en-US" dirty="0" smtClean="0"/>
              <a:t>Provide insights to ensure systems align with business goals.</a:t>
            </a:r>
          </a:p>
          <a:p>
            <a:r>
              <a:rPr lang="en-US" b="1" dirty="0" smtClean="0"/>
              <a:t>External Specialists:</a:t>
            </a:r>
            <a:endParaRPr lang="en-US" dirty="0" smtClean="0"/>
          </a:p>
          <a:p>
            <a:pPr lvl="1"/>
            <a:r>
              <a:rPr lang="en-US" dirty="0" smtClean="0"/>
              <a:t>Consultants, vendors, and software providers play crucial roles.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Challenges in Managing Information Systems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Rapid Technological Changes: </a:t>
            </a:r>
            <a:r>
              <a:rPr lang="en-US" dirty="0" smtClean="0"/>
              <a:t>Keeping systems up to date with emerging tech trends.</a:t>
            </a:r>
          </a:p>
          <a:p>
            <a:r>
              <a:rPr lang="en-US" b="1" dirty="0" smtClean="0"/>
              <a:t>Security Risks: </a:t>
            </a:r>
            <a:r>
              <a:rPr lang="en-US" dirty="0" smtClean="0"/>
              <a:t>Protecting sensitive data against breaches.</a:t>
            </a:r>
          </a:p>
          <a:p>
            <a:r>
              <a:rPr lang="en-US" b="1" dirty="0" smtClean="0"/>
              <a:t>Compliance Issues: </a:t>
            </a:r>
            <a:r>
              <a:rPr lang="en-US" dirty="0" smtClean="0"/>
              <a:t>Adhering to evolving regulations on privacy and data protection.</a:t>
            </a:r>
          </a:p>
          <a:p>
            <a:r>
              <a:rPr lang="en-US" b="1" dirty="0" smtClean="0"/>
              <a:t>Cross-Department Collaboration: </a:t>
            </a:r>
            <a:r>
              <a:rPr lang="en-US" dirty="0" smtClean="0"/>
              <a:t>Balancing IT efficiency with business requirements.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2132</Words>
  <Application>Microsoft Office PowerPoint</Application>
  <PresentationFormat>On-screen Show (4:3)</PresentationFormat>
  <Paragraphs>292</Paragraphs>
  <Slides>47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0" baseType="lpstr">
      <vt:lpstr>Arial</vt:lpstr>
      <vt:lpstr>Calibri</vt:lpstr>
      <vt:lpstr>Office Theme</vt:lpstr>
      <vt:lpstr>Global E-Business and Collaboration</vt:lpstr>
      <vt:lpstr>Business Processes</vt:lpstr>
      <vt:lpstr>Business Processes</vt:lpstr>
      <vt:lpstr>Business Process and Information System (relationship)</vt:lpstr>
      <vt:lpstr>Various Business Processes of Organizations</vt:lpstr>
      <vt:lpstr>Cross-Functional Business Processes</vt:lpstr>
      <vt:lpstr>Example : Order Fulfillment process</vt:lpstr>
      <vt:lpstr>Major types of information systems</vt:lpstr>
      <vt:lpstr>Four major types of information systems</vt:lpstr>
      <vt:lpstr>A symbolic representation for a payroll TPS</vt:lpstr>
      <vt:lpstr>Typical applications of TPS</vt:lpstr>
      <vt:lpstr>Four major types of information systems</vt:lpstr>
      <vt:lpstr>How management information systems obtain their data  from the organization’s TPS </vt:lpstr>
      <vt:lpstr>Four major types of information systems</vt:lpstr>
      <vt:lpstr>Voyage-estimating decision-support system</vt:lpstr>
      <vt:lpstr>Four major types of information systems</vt:lpstr>
      <vt:lpstr>Model of a typical executive support system</vt:lpstr>
      <vt:lpstr>Interrelationships among systems</vt:lpstr>
      <vt:lpstr>Additional Systems</vt:lpstr>
      <vt:lpstr>The four major types of information systems </vt:lpstr>
      <vt:lpstr>What are Enterprise Applications?</vt:lpstr>
      <vt:lpstr>Systems for Linking the Enterprise</vt:lpstr>
      <vt:lpstr>Systems for Linking the Enterprise</vt:lpstr>
      <vt:lpstr>Systems for Linking the Enterprise</vt:lpstr>
      <vt:lpstr>Collaboration in Organizations</vt:lpstr>
      <vt:lpstr>Systems for Collaboration and Teamwork</vt:lpstr>
      <vt:lpstr>Types of Collaboration</vt:lpstr>
      <vt:lpstr>Importance of Collaboration and Teamwork</vt:lpstr>
      <vt:lpstr>Importance of Collaboration and Teamwork</vt:lpstr>
      <vt:lpstr>Conclusion</vt:lpstr>
      <vt:lpstr>Business benefits of collaboration and Teamwork </vt:lpstr>
      <vt:lpstr>Business benefits of collaboration and Teamwork </vt:lpstr>
      <vt:lpstr>Conclusion</vt:lpstr>
      <vt:lpstr>Tools and Technology for Collaboration and Teamwork</vt:lpstr>
      <vt:lpstr>E-mail and Instant Messaging</vt:lpstr>
      <vt:lpstr>Social Networking</vt:lpstr>
      <vt:lpstr>Wikis</vt:lpstr>
      <vt:lpstr>Virtual Worlds</vt:lpstr>
      <vt:lpstr>Internet-Based Collaboration Environments</vt:lpstr>
      <vt:lpstr>Virtual Meeting Systems</vt:lpstr>
      <vt:lpstr>Conclusion</vt:lpstr>
      <vt:lpstr>The Information System Functions</vt:lpstr>
      <vt:lpstr>The Information System Functions</vt:lpstr>
      <vt:lpstr>Core Roles in the IS Department</vt:lpstr>
      <vt:lpstr>Specialized Leadership Roles in IS</vt:lpstr>
      <vt:lpstr>Collaboration Beyond the IS Department</vt:lpstr>
      <vt:lpstr>Challenges in Managing Information Systems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 E-Business and Collaboration</dc:title>
  <dc:creator>Bhola</dc:creator>
  <cp:lastModifiedBy>Bhola</cp:lastModifiedBy>
  <cp:revision>37</cp:revision>
  <dcterms:created xsi:type="dcterms:W3CDTF">2024-11-14T06:40:06Z</dcterms:created>
  <dcterms:modified xsi:type="dcterms:W3CDTF">2025-08-08T08:53:34Z</dcterms:modified>
</cp:coreProperties>
</file>