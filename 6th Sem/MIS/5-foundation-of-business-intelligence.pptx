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26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63" r:id="rId6"/>
    <p:sldMasterId id="2147483665" r:id="rId7"/>
    <p:sldMasterId id="2147483667" r:id="rId8"/>
    <p:sldMasterId id="2147483669" r:id="rId9"/>
    <p:sldMasterId id="2147483671" r:id="rId10"/>
    <p:sldMasterId id="2147483673" r:id="rId11"/>
    <p:sldMasterId id="2147483675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1EBA35-A1CA-4D6A-8657-3D3A99F75C3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00E9CD-DF1F-494C-B997-A10219648B6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878B523-02FE-4267-9DED-C8C79B58B6C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D774EC6-5756-41ED-95EC-6B5C4048558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300D18B-8C6E-4358-AE4E-344AAEDC004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7368930-E504-4F7D-A5DA-F8E4C34131F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FB9A942-5735-49E4-80C9-B64E6DF2FA4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F70B683-32A2-4081-BBD1-AA8A101D213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5FE3B07-623C-4C90-8F5D-A101712F1F1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8BE3ACB-4991-4C3E-9469-904AC4F6F21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1790457-3C7F-4C3C-A699-42214662D0B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8A1D0ADD-B533-44E2-B438-1DD901B7328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05A28B28-FA4C-4A66-A40E-EF3E1914116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58735B0F-4C4B-4AF6-BFE2-A244364ACB6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ECCD104C-43AF-4960-A6F7-0B02A1F315F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E8467970-8798-456A-BA85-CF6FF4B15DF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C2AAC6EC-37FB-419D-B6B6-091340B6BB8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01FB45D2-DFD5-434F-8DBD-DFBBF488DD0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1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12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13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14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15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6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7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9EFED4-E9A9-4562-9CEC-61B71463447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99D135-7E85-45F3-93ED-3E501D4A891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Click to edit Master text 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styles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9844A4-0C42-4D1D-867D-EC434649FAD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9D820D-AEB4-4606-B46D-DC49DBA5C89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7F0B25-029A-40D9-86B2-1AB89EDBCAE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FB6E39-C7CF-45A2-9B6D-5E141B0B8CB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2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3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D05613-FCA3-4EDA-82A8-9095DD4BE5A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0C5E7E-FB76-4679-AC11-D864E80E47C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0BA59C-08D7-40C8-9D05-FD736086202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BA6F0F-8C95-4E3E-87DB-DA3BD879C95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3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873BF6-9BFA-48FF-9854-D6192ABEA2B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0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Foundation of Business Intelligence 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Unit - 5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2500" lnSpcReduction="19999"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Using Databases to Improve Business Performance and Decision Making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trike="noStrike" u="sng">
                <a:solidFill>
                  <a:schemeClr val="dk1"/>
                </a:solidFill>
                <a:uFillTx/>
                <a:latin typeface="Calibri"/>
              </a:rPr>
              <a:t>Key Uses of Databases in Business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uFillTx/>
                <a:latin typeface="Calibri"/>
              </a:rPr>
              <a:t>Transaction Management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: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Paying suppliers, processing orders, tracking customers, and employee payroll.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uFillTx/>
                <a:latin typeface="Calibri"/>
              </a:rPr>
              <a:t>Efficiency and Decision Making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: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Helps run business operations smoothly.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Enables better decision-making for managers and employees.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2500" lnSpcReduction="19999"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Using Databases to Improve Business Performance and Decision Making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uFillTx/>
                <a:latin typeface="Calibri"/>
              </a:rPr>
              <a:t>Business Insights from Data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Identify </a:t>
            </a:r>
            <a:r>
              <a:rPr b="1" lang="en-US" sz="3200" strike="noStrike" u="none">
                <a:solidFill>
                  <a:schemeClr val="dk1"/>
                </a:solidFill>
                <a:uFillTx/>
                <a:latin typeface="Calibri"/>
              </a:rPr>
              <a:t>most popular products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 and </a:t>
            </a:r>
            <a:r>
              <a:rPr b="1" lang="en-US" sz="3200" strike="noStrike" u="none">
                <a:solidFill>
                  <a:schemeClr val="dk1"/>
                </a:solidFill>
                <a:uFillTx/>
                <a:latin typeface="Calibri"/>
              </a:rPr>
              <a:t>most profitable customers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.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Provide critical information for business strategy and growth.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uFillTx/>
                <a:latin typeface="Calibri"/>
              </a:rPr>
              <a:t>Visual Elements: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Include an info graphic or icon representing data flow and business operations (e.g., a database icon linked to various business activities).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2500" lnSpcReduction="19999"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Advanced Tools for Business Intelligence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1" lang="en-US" sz="3200" strike="noStrike" u="sng">
                <a:solidFill>
                  <a:schemeClr val="dk1"/>
                </a:solidFill>
                <a:uFillTx/>
                <a:latin typeface="Calibri"/>
              </a:rPr>
              <a:t>Special Capabilities for Handling Large </a:t>
            </a:r>
            <a:r>
              <a:rPr b="1" lang="en-US" sz="3200" strike="noStrike" u="sng">
                <a:solidFill>
                  <a:schemeClr val="dk1"/>
                </a:solidFill>
                <a:uFillTx/>
                <a:latin typeface="Calibri"/>
              </a:rPr>
              <a:t>Databases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uFillTx/>
                <a:latin typeface="Calibri"/>
              </a:rPr>
              <a:t>Data Warehousing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: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algn="just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Centralized storage for consolidating and organizing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vast amounts of data.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uFillTx/>
                <a:latin typeface="Calibri"/>
              </a:rPr>
              <a:t>Data Mining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: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algn="just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Extract patterns, trends, and insights from complex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datasets.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uFillTx/>
                <a:latin typeface="Calibri"/>
              </a:rPr>
              <a:t>Web-Accessible Databases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: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algn="just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Tools for accessing and analyzing internal databases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via the web.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2500" lnSpcReduction="19999"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Advanced Tools for Business Intelligence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uFillTx/>
                <a:latin typeface="Calibri"/>
              </a:rPr>
              <a:t>Benefits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Efficient handling of vast data volumes.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Seamless integration across multiple systems.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Enhanced decision-making for competitive advantage.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uFillTx/>
                <a:latin typeface="Calibri"/>
              </a:rPr>
              <a:t>Visual Elements: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Use a diagram illustrating tools like data warehouse, data mining, and web databases connected to a central database.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Introduction to Data Warehouses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1" lang="en-US" sz="3200" strike="noStrike" u="sng">
                <a:solidFill>
                  <a:schemeClr val="dk1"/>
                </a:solidFill>
                <a:uFillTx/>
                <a:latin typeface="Calibri"/>
              </a:rPr>
              <a:t>Definition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A </a:t>
            </a:r>
            <a:r>
              <a:rPr b="1" lang="en-US" sz="3200" strike="noStrike" u="none">
                <a:solidFill>
                  <a:schemeClr val="dk1"/>
                </a:solidFill>
                <a:uFillTx/>
                <a:latin typeface="Calibri"/>
              </a:rPr>
              <a:t>data warehouse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 is a database storing </a:t>
            </a:r>
            <a:r>
              <a:rPr b="1" lang="en-US" sz="3200" strike="noStrike" u="none">
                <a:solidFill>
                  <a:schemeClr val="dk1"/>
                </a:solidFill>
                <a:uFillTx/>
                <a:latin typeface="Calibri"/>
              </a:rPr>
              <a:t>current and historical data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 of potential interest to decision-makers.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Consolidates data from various sources like: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algn="just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Sales systems.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algn="just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Customer accounts.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algn="just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Manufacturing operations.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algn="just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Website transactions.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Introduction to Data Warehouses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19999"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uFillTx/>
                <a:latin typeface="Calibri"/>
              </a:rPr>
              <a:t>Purpose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uFillTx/>
                <a:latin typeface="Calibri"/>
              </a:rPr>
              <a:t>Standardization and Consolidation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: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Combines information from diverse operational databases.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uFillTx/>
                <a:latin typeface="Calibri"/>
              </a:rPr>
              <a:t>Decision-Making Tool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: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Facilitates management analysis across the enterprise.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uFillTx/>
                <a:latin typeface="Calibri"/>
              </a:rPr>
              <a:t>Key Feature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Data is </a:t>
            </a:r>
            <a:r>
              <a:rPr b="1" lang="en-US" sz="3200" strike="noStrike" u="none">
                <a:solidFill>
                  <a:schemeClr val="dk1"/>
                </a:solidFill>
                <a:uFillTx/>
                <a:latin typeface="Calibri"/>
              </a:rPr>
              <a:t>read-only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—accessible for analysis but cannot be altered.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uFillTx/>
                <a:latin typeface="Calibri"/>
              </a:rPr>
              <a:t>Visual Element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Include a simple diagram of a data warehouse pulling data from different operational systems into a centralized repository.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Capabilities of Data Warehouses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uFillTx/>
                <a:latin typeface="Calibri"/>
              </a:rPr>
              <a:t>Core Functions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uFillTx/>
                <a:latin typeface="Calibri"/>
              </a:rPr>
              <a:t>Ad Hoc Queries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: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Custom data retrieval for specific business needs.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uFillTx/>
                <a:latin typeface="Calibri"/>
              </a:rPr>
              <a:t>Standardized Query Tools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: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Predefined queries for routine reporting.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uFillTx/>
                <a:latin typeface="Calibri"/>
              </a:rPr>
              <a:t>Analytical Tools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: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Analyze trends, patterns, and performance.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uFillTx/>
                <a:latin typeface="Calibri"/>
              </a:rPr>
              <a:t>Graphical Reporting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: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Visualize data insights through charts and dashboards.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Capabilities of Data Warehouses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19999"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uFillTx/>
                <a:latin typeface="Calibri"/>
              </a:rPr>
              <a:t>Accessibility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Accessed through </a:t>
            </a:r>
            <a:r>
              <a:rPr b="1" lang="en-US" sz="3200" strike="noStrike" u="none">
                <a:solidFill>
                  <a:schemeClr val="dk1"/>
                </a:solidFill>
                <a:uFillTx/>
                <a:latin typeface="Calibri"/>
              </a:rPr>
              <a:t>intranet portals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, making insights widely available across the firm.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uFillTx/>
                <a:latin typeface="Calibri"/>
              </a:rPr>
              <a:t>Benefit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Provides a </a:t>
            </a:r>
            <a:r>
              <a:rPr b="1" lang="en-US" sz="3200" strike="noStrike" u="none">
                <a:solidFill>
                  <a:schemeClr val="dk1"/>
                </a:solidFill>
                <a:uFillTx/>
                <a:latin typeface="Calibri"/>
              </a:rPr>
              <a:t>single source of truth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 for enterprise-wide data analysis.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uFillTx/>
                <a:latin typeface="Calibri"/>
              </a:rPr>
              <a:t>Visual Element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Use an infographic of a data warehouse connected to query, analytics, and reporting tools accessible via an intranet portal.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Capabilities of Data Warehouses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93" name="AutoShape 2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94" name="AutoShape 4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95" name="Picture 5" descr="blob.jpg"/>
          <p:cNvPicPr/>
          <p:nvPr/>
        </p:nvPicPr>
        <p:blipFill>
          <a:blip r:embed="rId1"/>
          <a:stretch/>
        </p:blipFill>
        <p:spPr>
          <a:xfrm>
            <a:off x="304920" y="1676520"/>
            <a:ext cx="8457840" cy="4702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Data Marts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A </a:t>
            </a:r>
            <a:r>
              <a:rPr b="1" lang="en-US" sz="3200" strike="noStrike" u="none">
                <a:solidFill>
                  <a:schemeClr val="dk1"/>
                </a:solidFill>
                <a:uFillTx/>
                <a:latin typeface="Calibri"/>
              </a:rPr>
              <a:t>data mart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 is a </a:t>
            </a:r>
            <a:r>
              <a:rPr b="1" lang="en-US" sz="3200" strike="noStrike" u="none">
                <a:solidFill>
                  <a:schemeClr val="dk1"/>
                </a:solidFill>
                <a:uFillTx/>
                <a:latin typeface="Calibri"/>
              </a:rPr>
              <a:t>subset of a data warehouse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, designed for specific users or purposes.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1" lang="en-US" sz="3200" strike="noStrike" u="sng">
                <a:solidFill>
                  <a:schemeClr val="dk1"/>
                </a:solidFill>
                <a:uFillTx/>
                <a:latin typeface="Calibri"/>
              </a:rPr>
              <a:t>Purpose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Focuses on </a:t>
            </a:r>
            <a:r>
              <a:rPr b="1" lang="en-US" sz="3200" strike="noStrike" u="none">
                <a:solidFill>
                  <a:schemeClr val="dk1"/>
                </a:solidFill>
                <a:uFillTx/>
                <a:latin typeface="Calibri"/>
              </a:rPr>
              <a:t>summarized or highly targeted data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 for specific business functions or user groups.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Examples: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algn="just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uFillTx/>
                <a:latin typeface="Calibri"/>
              </a:rPr>
              <a:t>Marketing Data Mart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: Customer data analysis.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algn="just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uFillTx/>
                <a:latin typeface="Calibri"/>
              </a:rPr>
              <a:t>Sales Data Mart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: Sales performance and trends.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Data Marts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uFillTx/>
                <a:latin typeface="Calibri"/>
              </a:rPr>
              <a:t>Comparison with Data Warehouse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uFillTx/>
                <a:latin typeface="Calibri"/>
              </a:rPr>
              <a:t>Data Warehouse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: Centralized system serving the entire organization.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uFillTx/>
                <a:latin typeface="Calibri"/>
              </a:rPr>
              <a:t>Data Mart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: Smaller, decentralized database for specific needs.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Tools for Business Intelligence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uFillTx/>
                <a:latin typeface="Calibri"/>
              </a:rPr>
              <a:t>Business Intelligence Tools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Designed to extract actionable insights from data stored in </a:t>
            </a:r>
            <a:r>
              <a:rPr b="1" lang="en-US" sz="3200" strike="noStrike" u="none">
                <a:solidFill>
                  <a:schemeClr val="dk1"/>
                </a:solidFill>
                <a:uFillTx/>
                <a:latin typeface="Calibri"/>
              </a:rPr>
              <a:t>data warehouses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 and </a:t>
            </a:r>
            <a:r>
              <a:rPr b="1" lang="en-US" sz="3200" strike="noStrike" u="none">
                <a:solidFill>
                  <a:schemeClr val="dk1"/>
                </a:solidFill>
                <a:uFillTx/>
                <a:latin typeface="Calibri"/>
              </a:rPr>
              <a:t>data marts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.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Helps uncover </a:t>
            </a:r>
            <a:r>
              <a:rPr b="1" lang="en-US" sz="3200" strike="noStrike" u="none">
                <a:solidFill>
                  <a:schemeClr val="dk1"/>
                </a:solidFill>
                <a:uFillTx/>
                <a:latin typeface="Calibri"/>
              </a:rPr>
              <a:t>patterns, relationships,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 and </a:t>
            </a:r>
            <a:r>
              <a:rPr b="1" lang="en-US" sz="3200" strike="noStrike" u="none">
                <a:solidFill>
                  <a:schemeClr val="dk1"/>
                </a:solidFill>
                <a:uFillTx/>
                <a:latin typeface="Calibri"/>
              </a:rPr>
              <a:t>trends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 for informed decision-making.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Calibri"/>
              </a:rPr>
              <a:t>Tools for Business Intelligence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19999"/>
          </a:bodyPr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1" lang="en-US" sz="3200" strike="noStrike" u="sng">
                <a:solidFill>
                  <a:schemeClr val="dk1"/>
                </a:solidFill>
                <a:uFillTx/>
                <a:latin typeface="Calibri"/>
              </a:rPr>
              <a:t>Key Methods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uFillTx/>
                <a:latin typeface="Calibri"/>
              </a:rPr>
              <a:t>Multidimensional Data Analysis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: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algn="just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Enables users to view data across multiple dimensions (e.g., time, product, region).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algn="just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Supports deep exploration of business performance and trends.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uFillTx/>
                <a:latin typeface="Calibri"/>
              </a:rPr>
              <a:t>Data Mining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: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algn="just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Utilizes algorithms to discover hidden patterns and predictive insights.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43040" indent="-285840" algn="just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Examples: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algn="just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Identifying customer purchase behavior.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algn="just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Detecting fraud in financial transactions.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Tools for Business Intelligence: Multidimensional Data Analysis and Data Mining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0">
              <a:spcBef>
                <a:spcPts val="1417"/>
              </a:spcBef>
              <a:buNone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1. Online Analytical Processing (OLAP)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OLAP enables users to easily extract and view data from different points of view.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Helps in answering complex queries and analyzing data interactively.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1800" strike="noStrike" u="none">
                <a:solidFill>
                  <a:schemeClr val="dk1"/>
                </a:solidFill>
                <a:uFillTx/>
                <a:latin typeface="Calibri"/>
              </a:rPr>
              <a:t>Key Features: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Data stored in multidimensional databases.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Provides multi-dimensional views of data.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Attributes like time, region, and products are treated as dimensions.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1800" strike="noStrike" u="none">
                <a:solidFill>
                  <a:schemeClr val="dk1"/>
                </a:solidFill>
                <a:uFillTx/>
                <a:latin typeface="Calibri"/>
              </a:rPr>
              <a:t>Real-World Example: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Query for total washers sold during the past quarter.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Compare actual sales vs projected sales across regions.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1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Tools for Business Intelligence: Multidimensional Data Analysis and Data Mining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2000" strike="noStrike" u="none">
                <a:solidFill>
                  <a:schemeClr val="dk1"/>
                </a:solidFill>
                <a:uFillTx/>
                <a:latin typeface="Calibri"/>
              </a:rPr>
              <a:t>Understanding the OLAP Cube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1600" strike="noStrike" u="none">
                <a:solidFill>
                  <a:schemeClr val="dk1"/>
                </a:solidFill>
                <a:uFillTx/>
                <a:latin typeface="Calibri"/>
              </a:rPr>
              <a:t>Structure of OLAP Cube: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Dimensions: Product, Region, Time Period, Sales Metrics.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Data Attributes: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Product (e.g., nuts, bolts, washers, screws).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Region (e.g., East, West, Central).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Sales (e.g., Actual, Projected).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600" strike="noStrike" u="none">
                <a:solidFill>
                  <a:schemeClr val="dk1"/>
                </a:solidFill>
                <a:uFillTx/>
                <a:latin typeface="Calibri"/>
              </a:rPr>
              <a:t>How It Works: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Rotate the cube to view different perspectives: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Product vs Region.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Product vs Sales Metrics (Actual vs Projected).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Region vs Sales Metrics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" descr=""/>
          <p:cNvPicPr/>
          <p:nvPr/>
        </p:nvPicPr>
        <p:blipFill>
          <a:blip r:embed="rId1"/>
          <a:stretch/>
        </p:blipFill>
        <p:spPr>
          <a:xfrm rot="21565200">
            <a:off x="1395000" y="826200"/>
            <a:ext cx="5257800" cy="459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 txBox="1"/>
          <p:nvPr/>
        </p:nvSpPr>
        <p:spPr>
          <a:xfrm>
            <a:off x="3101400" y="5702400"/>
            <a:ext cx="2098080" cy="3736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  <a:ea typeface="Noto Sans"/>
              </a:rPr>
              <a:t>Fig : </a:t>
            </a:r>
            <a:r>
              <a:rPr b="1" lang="en-US" sz="2000" strike="noStrike" u="none">
                <a:solidFill>
                  <a:srgbClr val="000000"/>
                </a:solidFill>
                <a:uFillTx/>
                <a:latin typeface="Arial"/>
              </a:rPr>
              <a:t>OLAP Cube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Tools for Business Intelligence: Multidimensional Data Analysis and Data Mining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2100" strike="noStrike" u="none">
                <a:solidFill>
                  <a:schemeClr val="dk1"/>
                </a:solidFill>
                <a:uFillTx/>
                <a:latin typeface="Calibri"/>
              </a:rPr>
              <a:t>Benefits and Applications of OLAP</a:t>
            </a:r>
            <a:endParaRPr b="0" lang="en-US" sz="21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1800" strike="noStrike" u="none">
                <a:solidFill>
                  <a:schemeClr val="dk1"/>
                </a:solidFill>
                <a:uFillTx/>
                <a:latin typeface="Calibri"/>
              </a:rPr>
              <a:t>Benefits: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Interactive Analysis: Quickly answer complex business queries.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Flexibility: Explore data relationships by rotating and nesting cubes.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Efficiency: Faster insights for decision-making.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1800" strike="noStrike" u="none">
                <a:solidFill>
                  <a:schemeClr val="dk1"/>
                </a:solidFill>
                <a:uFillTx/>
                <a:latin typeface="Calibri"/>
              </a:rPr>
              <a:t>Applications: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Sales Analysis: Regional performance, product comparison.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Financial Planning: Budget vs Actual comparisons.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Marketing: Customer segmentation and campaign effectiveness.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1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Tools for Business Intelligence: Multidimensional Data Analysis and Data Mining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0">
              <a:spcBef>
                <a:spcPts val="1417"/>
              </a:spcBef>
              <a:buNone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2. Data Mining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Data mining is a discovery-driven process for uncovering hidden patterns and relationships in large datasets.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2400" strike="noStrike" u="none">
                <a:solidFill>
                  <a:schemeClr val="dk1"/>
                </a:solidFill>
                <a:uFillTx/>
                <a:latin typeface="Calibri"/>
              </a:rPr>
              <a:t>Purpose: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Predict future behavior and guide decision-making.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Analyze patterns for forecasting and strategy formulation.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2400" strike="noStrike" u="sng">
                <a:solidFill>
                  <a:schemeClr val="dk1"/>
                </a:solidFill>
                <a:uFillTx/>
                <a:latin typeface="Calibri"/>
              </a:rPr>
              <a:t>Techniques of Data Mining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2400" strike="noStrike" u="none">
                <a:solidFill>
                  <a:schemeClr val="dk1"/>
                </a:solidFill>
                <a:uFillTx/>
                <a:latin typeface="Calibri"/>
              </a:rPr>
              <a:t>Association: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Finds links between events.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Example: Corn chips + Cola bought together 85% of the time during promotions.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2400" strike="noStrike" u="none">
                <a:solidFill>
                  <a:schemeClr val="dk1"/>
                </a:solidFill>
                <a:uFillTx/>
                <a:latin typeface="Calibri"/>
              </a:rPr>
              <a:t>Sequences: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Identifies events linked over time.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Example: Home purchase → Refrigerator in 2 weeks, Oven in 1 month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1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Tools for Business Intelligence: Multidimensional Data Analysis and Data Mining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1600" strike="noStrike" u="none">
                <a:solidFill>
                  <a:schemeClr val="dk1"/>
                </a:solidFill>
                <a:uFillTx/>
                <a:latin typeface="Calibri"/>
              </a:rPr>
              <a:t>Classification: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Recognizes patterns for grouping.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Example: Identifying customers likely to leave to design retention strategies.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1600" strike="noStrike" u="none">
                <a:solidFill>
                  <a:schemeClr val="dk1"/>
                </a:solidFill>
                <a:uFillTx/>
                <a:latin typeface="Calibri"/>
              </a:rPr>
              <a:t>Clustering: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Discovers undefined groups.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Example: Grouping customers based on demographics or investments.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1600" strike="noStrike" u="none">
                <a:solidFill>
                  <a:schemeClr val="dk1"/>
                </a:solidFill>
                <a:uFillTx/>
                <a:latin typeface="Calibri"/>
              </a:rPr>
              <a:t>Forecasting: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Predicts future values based on patterns.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Example: Estimating future sales figures.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1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1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Tools for Business Intelligence: Multidimensional Data Analysis and Data Mining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0">
              <a:spcBef>
                <a:spcPts val="1417"/>
              </a:spcBef>
              <a:buNone/>
            </a:pPr>
            <a:r>
              <a:rPr b="0" lang="en-US" sz="1500" strike="noStrike" u="none">
                <a:solidFill>
                  <a:schemeClr val="dk1"/>
                </a:solidFill>
                <a:uFillTx/>
                <a:latin typeface="Calibri"/>
              </a:rPr>
              <a:t>Applications and Benefits of Data Mining</a:t>
            </a:r>
            <a:endParaRPr b="0" lang="en-US" sz="15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15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500" strike="noStrike" u="none">
                <a:solidFill>
                  <a:schemeClr val="dk1"/>
                </a:solidFill>
                <a:uFillTx/>
                <a:latin typeface="Calibri"/>
              </a:rPr>
              <a:t>Business Applications:</a:t>
            </a:r>
            <a:endParaRPr b="0" lang="en-US" sz="15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chemeClr val="dk1"/>
                </a:solidFill>
                <a:uFillTx/>
                <a:latin typeface="Calibri"/>
              </a:rPr>
              <a:t>Marketing: One-to-one campaigns and identifying profitable customers.</a:t>
            </a:r>
            <a:endParaRPr b="0" lang="en-US" sz="15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chemeClr val="dk1"/>
                </a:solidFill>
                <a:uFillTx/>
                <a:latin typeface="Calibri"/>
              </a:rPr>
              <a:t>Finance: Predicting loan defaulters and investment trends.</a:t>
            </a:r>
            <a:endParaRPr b="0" lang="en-US" sz="15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chemeClr val="dk1"/>
                </a:solidFill>
                <a:uFillTx/>
                <a:latin typeface="Calibri"/>
              </a:rPr>
              <a:t>Retail: Product bundling and inventory optimization.</a:t>
            </a:r>
            <a:endParaRPr b="0" lang="en-US" sz="15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1500" strike="noStrike" u="none">
                <a:solidFill>
                  <a:schemeClr val="dk1"/>
                </a:solidFill>
                <a:uFillTx/>
                <a:latin typeface="Calibri"/>
              </a:rPr>
              <a:t>Government and Science:</a:t>
            </a:r>
            <a:endParaRPr b="0" lang="en-US" sz="15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chemeClr val="dk1"/>
                </a:solidFill>
                <a:uFillTx/>
                <a:latin typeface="Calibri"/>
              </a:rPr>
              <a:t>Identifying patterns in research or policy planning.</a:t>
            </a:r>
            <a:endParaRPr b="0" lang="en-US" sz="15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1500" strike="noStrike" u="none">
                <a:solidFill>
                  <a:schemeClr val="dk1"/>
                </a:solidFill>
                <a:uFillTx/>
                <a:latin typeface="Calibri"/>
              </a:rPr>
              <a:t>Predictive Analytics:</a:t>
            </a:r>
            <a:endParaRPr b="0" lang="en-US" sz="15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chemeClr val="dk1"/>
                </a:solidFill>
                <a:uFillTx/>
                <a:latin typeface="Calibri"/>
              </a:rPr>
              <a:t>Combines data mining, historical data, and assumptions for event prediction.</a:t>
            </a:r>
            <a:endParaRPr b="0" lang="en-US" sz="15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chemeClr val="dk1"/>
                </a:solidFill>
                <a:uFillTx/>
                <a:latin typeface="Calibri"/>
              </a:rPr>
              <a:t>Example: Estimating the likelihood of a customer responding to a promotional offer.</a:t>
            </a:r>
            <a:endParaRPr b="0" lang="en-US" sz="15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1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1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1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Tools for Business Intelligence: Multidimensional Data Analysis and Data Mining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 fontScale="77500" lnSpcReduction="19999"/>
          </a:bodyPr>
          <a:p>
            <a:pPr marL="432000" indent="0">
              <a:lnSpc>
                <a:spcPct val="115000"/>
              </a:lnSpc>
              <a:spcBef>
                <a:spcPts val="1417"/>
              </a:spcBef>
              <a:buNone/>
            </a:pPr>
            <a:r>
              <a:rPr b="1" lang="en-US" sz="2400" strike="noStrike" u="none">
                <a:solidFill>
                  <a:schemeClr val="dk1"/>
                </a:solidFill>
                <a:uFillTx/>
                <a:latin typeface="Calibri"/>
              </a:rPr>
              <a:t>3. Text Mining and Web Mining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1600" strike="noStrike" u="none">
                <a:solidFill>
                  <a:schemeClr val="dk1"/>
                </a:solidFill>
                <a:uFillTx/>
                <a:latin typeface="Calibri"/>
              </a:rPr>
              <a:t>Text Mining: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Deals with analyzing unstructured data like emails, memos, survey responses, legal cases, and service reports.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1600" strike="noStrike" u="none">
                <a:solidFill>
                  <a:schemeClr val="dk1"/>
                </a:solidFill>
                <a:uFillTx/>
                <a:latin typeface="Calibri"/>
              </a:rPr>
              <a:t>Key Capabilities: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Extracts key elements from large text datasets.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Discovers hidden patterns and relationships.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Summarizes critical information for decision-making.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1600" strike="noStrike" u="none">
                <a:solidFill>
                  <a:schemeClr val="dk1"/>
                </a:solidFill>
                <a:uFillTx/>
                <a:latin typeface="Calibri"/>
              </a:rPr>
              <a:t>Applications: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Customer Service: Analyzing call center transcripts.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Legal &amp; Patent Analysis: Finding insights in legal cases and patent descriptions.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Feedback Analysis: Survey and email pattern discovery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Tools for Business Intelligence: Multidimensional Data Analysis and Data Mining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 fontScale="92500" lnSpcReduction="9999"/>
          </a:bodyPr>
          <a:p>
            <a:pPr marL="432000" indent="0">
              <a:lnSpc>
                <a:spcPct val="115000"/>
              </a:lnSpc>
              <a:spcBef>
                <a:spcPts val="1417"/>
              </a:spcBef>
              <a:buNone/>
            </a:pP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1600" strike="noStrike" u="none">
                <a:solidFill>
                  <a:schemeClr val="dk1"/>
                </a:solidFill>
                <a:uFillTx/>
                <a:latin typeface="Calibri"/>
              </a:rPr>
              <a:t>Web Mining: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Deals with analyzing unstructured data like emails, memos, survey responses, legal cases, and service reports.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1600" strike="noStrike" u="none">
                <a:solidFill>
                  <a:schemeClr val="dk1"/>
                </a:solidFill>
                <a:uFillTx/>
                <a:latin typeface="Calibri"/>
              </a:rPr>
              <a:t>Applications: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Customer Behavior Analysis: Tracking online activities and preferences.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Website Effectiveness: Evaluating user engagement and usability.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Marketing Campaigns: Measuring success through web activity metrics.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1600" strike="noStrike" u="none">
                <a:solidFill>
                  <a:schemeClr val="dk1"/>
                </a:solidFill>
                <a:uFillTx/>
                <a:latin typeface="Calibri"/>
              </a:rPr>
              <a:t>Benefits: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Helps businesses tailor strategies based on real-time web data.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Enables smarter decision-making through deeper customer insights.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Database and the Web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1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Many companies integrate their internal databases with the web to provide information to customers and business partners.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Example: A customer searches an online retailer’s database for pricing using a web browser.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1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1600" strike="noStrike" u="none">
                <a:solidFill>
                  <a:schemeClr val="dk1"/>
                </a:solidFill>
                <a:uFillTx/>
                <a:latin typeface="Calibri"/>
              </a:rPr>
              <a:t>Key Components: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Web Browser: Sends requests using HTML commands.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Web Server: Receives requests and communicates with back-end databases.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Middleware: Translates HTML commands into SQL for database processing.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Calibri"/>
              </a:rPr>
              <a:t>Database Server: Processes SQL commands and returns requested data.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1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Database and the Web (How it works)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1300" strike="noStrike" u="none">
                <a:solidFill>
                  <a:schemeClr val="dk1"/>
                </a:solidFill>
                <a:uFillTx/>
                <a:latin typeface="Calibri"/>
              </a:rPr>
              <a:t>User Request: </a:t>
            </a:r>
            <a:r>
              <a:rPr b="0" lang="en-US" sz="1300" strike="noStrike" u="none">
                <a:solidFill>
                  <a:schemeClr val="dk1"/>
                </a:solidFill>
                <a:uFillTx/>
                <a:latin typeface="Calibri"/>
              </a:rPr>
              <a:t>User sends a request (e.g., price inquiry) via a web browser.</a:t>
            </a:r>
            <a:endParaRPr b="0" lang="en-US" sz="13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1300" strike="noStrike" u="none">
                <a:solidFill>
                  <a:schemeClr val="dk1"/>
                </a:solidFill>
                <a:uFillTx/>
                <a:latin typeface="Calibri"/>
              </a:rPr>
              <a:t>Web Server Role: </a:t>
            </a:r>
            <a:r>
              <a:rPr b="0" lang="en-US" sz="1300" strike="noStrike" u="none">
                <a:solidFill>
                  <a:schemeClr val="dk1"/>
                </a:solidFill>
                <a:uFillTx/>
                <a:latin typeface="Calibri"/>
              </a:rPr>
              <a:t>Forwards the request to middleware.</a:t>
            </a:r>
            <a:endParaRPr b="0" lang="en-US" sz="13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1300" strike="noStrike" u="none">
                <a:solidFill>
                  <a:schemeClr val="dk1"/>
                </a:solidFill>
                <a:uFillTx/>
                <a:latin typeface="Calibri"/>
              </a:rPr>
              <a:t>Middleware Function: </a:t>
            </a:r>
            <a:endParaRPr b="0" lang="en-US" sz="13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chemeClr val="dk1"/>
                </a:solidFill>
                <a:uFillTx/>
                <a:latin typeface="Calibri"/>
              </a:rPr>
              <a:t>Converts HTML commands to SQL.</a:t>
            </a:r>
            <a:endParaRPr b="0" lang="en-US" sz="13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chemeClr val="dk1"/>
                </a:solidFill>
                <a:uFillTx/>
                <a:latin typeface="Calibri"/>
              </a:rPr>
              <a:t>Communicates with the Database Management System (DBMS).</a:t>
            </a:r>
            <a:endParaRPr b="0" lang="en-US" sz="13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1300" strike="noStrike" u="none">
                <a:solidFill>
                  <a:schemeClr val="dk1"/>
                </a:solidFill>
                <a:uFillTx/>
                <a:latin typeface="Calibri"/>
              </a:rPr>
              <a:t>Database Server: </a:t>
            </a:r>
            <a:r>
              <a:rPr b="0" lang="en-US" sz="1300" strike="noStrike" u="none">
                <a:solidFill>
                  <a:schemeClr val="dk1"/>
                </a:solidFill>
                <a:uFillTx/>
                <a:latin typeface="Calibri"/>
              </a:rPr>
              <a:t>Processes SQL commands and retrieves data.</a:t>
            </a:r>
            <a:endParaRPr b="0" lang="en-US" sz="13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1300" strike="noStrike" u="none">
                <a:solidFill>
                  <a:schemeClr val="dk1"/>
                </a:solidFill>
                <a:uFillTx/>
                <a:latin typeface="Calibri"/>
              </a:rPr>
              <a:t>Response:</a:t>
            </a:r>
            <a:endParaRPr b="0" lang="en-US" sz="13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chemeClr val="dk1"/>
                </a:solidFill>
                <a:uFillTx/>
                <a:latin typeface="Calibri"/>
              </a:rPr>
              <a:t>Middleware passes data to the web server.</a:t>
            </a:r>
            <a:endParaRPr b="0" lang="en-US" sz="13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chemeClr val="dk1"/>
                </a:solidFill>
                <a:uFillTx/>
                <a:latin typeface="Calibri"/>
              </a:rPr>
              <a:t>Web server displays data as a web page.</a:t>
            </a:r>
            <a:endParaRPr b="0" lang="en-US" sz="13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3767040" y="4165200"/>
            <a:ext cx="5304960" cy="1247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Database and the Web (Advantages)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1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2100" strike="noStrike" u="none">
                <a:solidFill>
                  <a:schemeClr val="dk1"/>
                </a:solidFill>
                <a:uFillTx/>
                <a:latin typeface="Calibri"/>
              </a:rPr>
              <a:t>Ease of Use:</a:t>
            </a:r>
            <a:endParaRPr b="0" lang="en-US" sz="21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trike="noStrike" u="none">
                <a:solidFill>
                  <a:schemeClr val="dk1"/>
                </a:solidFill>
                <a:uFillTx/>
                <a:latin typeface="Calibri"/>
              </a:rPr>
              <a:t>Web browsers are simpler to use compared to proprietary query tools.</a:t>
            </a:r>
            <a:endParaRPr b="0" lang="en-US" sz="21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2100" strike="noStrike" u="none">
                <a:solidFill>
                  <a:schemeClr val="dk1"/>
                </a:solidFill>
                <a:uFillTx/>
                <a:latin typeface="Calibri"/>
              </a:rPr>
              <a:t>Cost-Effective:</a:t>
            </a:r>
            <a:endParaRPr b="0" lang="en-US" sz="21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trike="noStrike" u="none">
                <a:solidFill>
                  <a:schemeClr val="dk1"/>
                </a:solidFill>
                <a:uFillTx/>
                <a:latin typeface="Calibri"/>
              </a:rPr>
              <a:t>Adding a web interface requires minimal changes to internal databases.</a:t>
            </a:r>
            <a:endParaRPr b="0" lang="en-US" sz="21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2100" strike="noStrike" u="none">
                <a:solidFill>
                  <a:schemeClr val="dk1"/>
                </a:solidFill>
                <a:uFillTx/>
                <a:latin typeface="Calibri"/>
              </a:rPr>
              <a:t>Legacy System Integration:</a:t>
            </a:r>
            <a:endParaRPr b="0" lang="en-US" sz="21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trike="noStrike" u="none">
                <a:solidFill>
                  <a:schemeClr val="dk1"/>
                </a:solidFill>
                <a:uFillTx/>
                <a:latin typeface="Calibri"/>
              </a:rPr>
              <a:t>No need for complete redesign; enhances accessibility at a lower cost.</a:t>
            </a:r>
            <a:endParaRPr b="0" lang="en-US" sz="21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1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</TotalTime>
  <Application>LibreOffice/24.8.4.2$Linux_X86_64 LibreOffice_project/bb3cfa12c7b1bf994ecc5649a80400d06cd71002</Application>
  <AppVersion>15.0000</AppVersion>
  <Words>603</Words>
  <Paragraphs>91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2024-12-09T04:27:17Z</dcterms:created>
  <dc:creator>Bhola</dc:creator>
  <dc:description/>
  <dc:language>en-US</dc:language>
  <cp:lastModifiedBy/>
  <dcterms:modified xsi:type="dcterms:W3CDTF">2025-01-10T00:09:47Z</dcterms:modified>
  <cp:revision>8</cp:revision>
  <dc:subject/>
  <dc:title>Foundation of Business Intelligence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Slides">
    <vt:i4>14</vt:i4>
  </property>
</Properties>
</file>