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0" r:id="rId23"/>
    <p:sldId id="277" r:id="rId24"/>
    <p:sldId id="278" r:id="rId25"/>
    <p:sldId id="279" r:id="rId26"/>
    <p:sldId id="281" r:id="rId27"/>
    <p:sldId id="282" r:id="rId28"/>
    <p:sldId id="283" r:id="rId29"/>
    <p:sldId id="284" r:id="rId30"/>
    <p:sldId id="292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3" r:id="rId39"/>
    <p:sldId id="294" r:id="rId40"/>
    <p:sldId id="295" r:id="rId41"/>
    <p:sldId id="296" r:id="rId42"/>
    <p:sldId id="297" r:id="rId43"/>
    <p:sldId id="298" r:id="rId44"/>
    <p:sldId id="307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949B-F16C-4716-8E46-463B0EC4C80E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2A1C-278D-4F23-AA4F-152DB06601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949B-F16C-4716-8E46-463B0EC4C80E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2A1C-278D-4F23-AA4F-152DB06601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949B-F16C-4716-8E46-463B0EC4C80E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2A1C-278D-4F23-AA4F-152DB06601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949B-F16C-4716-8E46-463B0EC4C80E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2A1C-278D-4F23-AA4F-152DB06601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949B-F16C-4716-8E46-463B0EC4C80E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2A1C-278D-4F23-AA4F-152DB06601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949B-F16C-4716-8E46-463B0EC4C80E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2A1C-278D-4F23-AA4F-152DB06601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949B-F16C-4716-8E46-463B0EC4C80E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2A1C-278D-4F23-AA4F-152DB06601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949B-F16C-4716-8E46-463B0EC4C80E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2A1C-278D-4F23-AA4F-152DB06601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949B-F16C-4716-8E46-463B0EC4C80E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2A1C-278D-4F23-AA4F-152DB06601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949B-F16C-4716-8E46-463B0EC4C80E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2A1C-278D-4F23-AA4F-152DB06601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949B-F16C-4716-8E46-463B0EC4C80E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2A1C-278D-4F23-AA4F-152DB06601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C5949B-F16C-4716-8E46-463B0EC4C80E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132A1C-278D-4F23-AA4F-152DB066013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Information System Management and Strategy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Unit - 3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Organization and Information System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Information systems and organizations influence each other.</a:t>
            </a:r>
          </a:p>
          <a:p>
            <a:r>
              <a:rPr lang="en-US" dirty="0" smtClean="0"/>
              <a:t>Information systems are designed by managers to align with business goals.</a:t>
            </a:r>
          </a:p>
          <a:p>
            <a:r>
              <a:rPr lang="en-US" dirty="0" smtClean="0"/>
              <a:t>Organizations must adapt to and embrace new technologies.</a:t>
            </a:r>
          </a:p>
          <a:p>
            <a:r>
              <a:rPr lang="en-US" dirty="0" smtClean="0"/>
              <a:t>Mutual interaction drives innovation and operational efficiency.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Organization and Information System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dirty="0" smtClean="0"/>
          </a:p>
          <a:p>
            <a:r>
              <a:rPr lang="en-US" dirty="0" smtClean="0"/>
              <a:t>Interaction between IT and organizations is complex.</a:t>
            </a:r>
          </a:p>
          <a:p>
            <a:r>
              <a:rPr lang="en-US" dirty="0" smtClean="0"/>
              <a:t>Influencing factors include:</a:t>
            </a:r>
          </a:p>
          <a:p>
            <a:pPr lvl="1"/>
            <a:r>
              <a:rPr lang="en-US" dirty="0" smtClean="0"/>
              <a:t>Organizational structure</a:t>
            </a:r>
          </a:p>
          <a:p>
            <a:pPr lvl="1"/>
            <a:r>
              <a:rPr lang="en-US" dirty="0" smtClean="0"/>
              <a:t>Business processes</a:t>
            </a:r>
          </a:p>
          <a:p>
            <a:pPr lvl="1"/>
            <a:r>
              <a:rPr lang="en-US" dirty="0" smtClean="0"/>
              <a:t>Politics</a:t>
            </a:r>
          </a:p>
          <a:p>
            <a:pPr lvl="1"/>
            <a:r>
              <a:rPr lang="en-US" dirty="0" smtClean="0"/>
              <a:t>Culture</a:t>
            </a:r>
          </a:p>
          <a:p>
            <a:pPr lvl="1"/>
            <a:r>
              <a:rPr lang="en-US" dirty="0" smtClean="0"/>
              <a:t>Surrounding environment</a:t>
            </a:r>
          </a:p>
          <a:p>
            <a:pPr lvl="1"/>
            <a:r>
              <a:rPr lang="en-US" dirty="0" smtClean="0"/>
              <a:t>Management decisions</a:t>
            </a:r>
          </a:p>
          <a:p>
            <a:r>
              <a:rPr lang="en-US" dirty="0" smtClean="0"/>
              <a:t>Designing information systems requires a deep understanding of organizations.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Organization and Information System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microeconomic definition of organizations, Capital and labor are primary production factors.</a:t>
            </a:r>
          </a:p>
          <a:p>
            <a:r>
              <a:rPr lang="en-US" dirty="0" smtClean="0"/>
              <a:t>Firms transform inputs into outputs (products and services).</a:t>
            </a:r>
          </a:p>
          <a:p>
            <a:r>
              <a:rPr lang="en-US" dirty="0" smtClean="0"/>
              <a:t>Outputs are consumed by the environment.</a:t>
            </a:r>
          </a:p>
          <a:p>
            <a:r>
              <a:rPr lang="en-US" dirty="0" smtClean="0"/>
              <a:t>Environment provides additional inputs through a feedback loop.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Organization and Information System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 smtClean="0"/>
              <a:t>In Technical View of Organizations:</a:t>
            </a:r>
            <a:endParaRPr lang="en-US" dirty="0" smtClean="0"/>
          </a:p>
          <a:p>
            <a:r>
              <a:rPr lang="en-US" dirty="0" smtClean="0"/>
              <a:t>Formal, legal, social structure that processes inputs into outputs.</a:t>
            </a:r>
          </a:p>
          <a:p>
            <a:r>
              <a:rPr lang="en-US" dirty="0" smtClean="0"/>
              <a:t>Capital and labor are interchangeable and flexible.</a:t>
            </a:r>
          </a:p>
          <a:p>
            <a:pPr>
              <a:buNone/>
            </a:pPr>
            <a:r>
              <a:rPr lang="en-US" b="1" dirty="0" smtClean="0"/>
              <a:t>In Behavioral View of Organizations:</a:t>
            </a:r>
            <a:endParaRPr lang="en-US" dirty="0" smtClean="0"/>
          </a:p>
          <a:p>
            <a:r>
              <a:rPr lang="en-US" dirty="0" smtClean="0"/>
              <a:t>Collection of rights, privileges, obligations, and responsibilities.</a:t>
            </a:r>
          </a:p>
          <a:p>
            <a:r>
              <a:rPr lang="en-US" dirty="0" smtClean="0"/>
              <a:t>Balanced over time through conflict and resolution.</a:t>
            </a:r>
          </a:p>
          <a:p>
            <a:r>
              <a:rPr lang="en-US" dirty="0" smtClean="0"/>
              <a:t>Building/rebuilding systems requires </a:t>
            </a:r>
          </a:p>
          <a:p>
            <a:pPr lvl="1"/>
            <a:r>
              <a:rPr lang="en-US" dirty="0" smtClean="0"/>
              <a:t>more than technical changes.</a:t>
            </a:r>
          </a:p>
          <a:p>
            <a:pPr lvl="1"/>
            <a:r>
              <a:rPr lang="en-US" dirty="0" smtClean="0"/>
              <a:t>Changes in ownership, control, and access to information.</a:t>
            </a:r>
          </a:p>
          <a:p>
            <a:pPr lvl="1"/>
            <a:r>
              <a:rPr lang="en-US" dirty="0" smtClean="0"/>
              <a:t>New decision-making processes about "who, when, and how."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Impact of Information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Affects:</a:t>
            </a:r>
          </a:p>
          <a:p>
            <a:r>
              <a:rPr lang="en-US" dirty="0" smtClean="0"/>
              <a:t>Organizational structure, goals, and work design.</a:t>
            </a:r>
          </a:p>
          <a:p>
            <a:r>
              <a:rPr lang="en-US" dirty="0" smtClean="0"/>
              <a:t>Values, competition, decision-making, and day-to-day behavior.</a:t>
            </a:r>
          </a:p>
          <a:p>
            <a:pPr>
              <a:buNone/>
            </a:pPr>
            <a:r>
              <a:rPr lang="en-US" b="1" dirty="0" smtClean="0"/>
              <a:t>Must align with:</a:t>
            </a:r>
          </a:p>
          <a:p>
            <a:r>
              <a:rPr lang="en-US" dirty="0" smtClean="0"/>
              <a:t>Structure, business processes, goals, culture, politics, and management.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Impact of Information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Advantages of IT Integration:</a:t>
            </a:r>
          </a:p>
          <a:p>
            <a:r>
              <a:rPr lang="en-US" dirty="0" smtClean="0"/>
              <a:t>Reduces transaction and agency costs.</a:t>
            </a:r>
          </a:p>
          <a:p>
            <a:r>
              <a:rPr lang="en-US" dirty="0" smtClean="0"/>
              <a:t>Benefits amplified by internet technologies.</a:t>
            </a:r>
          </a:p>
          <a:p>
            <a:pPr>
              <a:buNone/>
            </a:pPr>
            <a:r>
              <a:rPr lang="en-US" b="1" dirty="0" smtClean="0"/>
              <a:t>Challenges of New Systems:</a:t>
            </a:r>
          </a:p>
          <a:p>
            <a:r>
              <a:rPr lang="en-US" dirty="0" smtClean="0"/>
              <a:t>Disrupts established work patterns and power dynamics.</a:t>
            </a:r>
          </a:p>
          <a:p>
            <a:r>
              <a:rPr lang="en-US" dirty="0" smtClean="0"/>
              <a:t>Often faces resistance during implementation.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Roles of information system in an organization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/>
              <a:t>Automation of Manual Tasks:</a:t>
            </a:r>
            <a:endParaRPr lang="en-US" dirty="0" smtClean="0"/>
          </a:p>
          <a:p>
            <a:r>
              <a:rPr lang="en-US" dirty="0" smtClean="0"/>
              <a:t>Automates tasks using robotic and logical systems.</a:t>
            </a:r>
          </a:p>
          <a:p>
            <a:r>
              <a:rPr lang="en-US" dirty="0" smtClean="0"/>
              <a:t>Examples:</a:t>
            </a:r>
          </a:p>
          <a:p>
            <a:pPr lvl="1"/>
            <a:r>
              <a:rPr lang="en-US" dirty="0" smtClean="0"/>
              <a:t>Robotic systems in health and medical services.</a:t>
            </a:r>
          </a:p>
          <a:p>
            <a:pPr lvl="1"/>
            <a:r>
              <a:rPr lang="en-US" dirty="0" smtClean="0"/>
              <a:t>Automated warehouses and distribution systems.</a:t>
            </a:r>
            <a:endParaRPr lang="en-US" dirty="0"/>
          </a:p>
          <a:p>
            <a:pPr lvl="1"/>
            <a:endParaRPr lang="en-US" dirty="0"/>
          </a:p>
          <a:p>
            <a:pPr>
              <a:buNone/>
            </a:pPr>
            <a:r>
              <a:rPr lang="en-US" b="1" dirty="0" smtClean="0"/>
              <a:t>Hardware and Software Integration:</a:t>
            </a:r>
            <a:endParaRPr lang="en-US" dirty="0" smtClean="0"/>
          </a:p>
          <a:p>
            <a:r>
              <a:rPr lang="en-US" dirty="0" smtClean="0"/>
              <a:t>Merges multiple computer platforms seamlessly.</a:t>
            </a:r>
          </a:p>
          <a:p>
            <a:r>
              <a:rPr lang="en-US" dirty="0" smtClean="0"/>
              <a:t>Scalable platforms unify hardware and software systems.</a:t>
            </a:r>
          </a:p>
          <a:p>
            <a:endParaRPr lang="en-US" dirty="0" smtClean="0"/>
          </a:p>
          <a:p>
            <a:pPr>
              <a:buNone/>
            </a:pPr>
            <a:r>
              <a:rPr lang="en-US" b="1" dirty="0" smtClean="0"/>
              <a:t>Decision Support:</a:t>
            </a:r>
            <a:endParaRPr lang="en-US" dirty="0" smtClean="0"/>
          </a:p>
          <a:p>
            <a:r>
              <a:rPr lang="en-US" dirty="0" smtClean="0"/>
              <a:t>Provides critical data for executive decision-making.</a:t>
            </a:r>
          </a:p>
          <a:p>
            <a:r>
              <a:rPr lang="en-US" dirty="0" smtClean="0"/>
              <a:t>Supports strategic planning and operational efficiency.</a:t>
            </a:r>
          </a:p>
          <a:p>
            <a:endParaRPr lang="en-US" dirty="0" smtClean="0"/>
          </a:p>
          <a:p>
            <a:pPr lvl="1">
              <a:buNone/>
            </a:pPr>
            <a:endParaRPr lang="en-US" dirty="0" smtClean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Roles of information system in an organization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/>
              <a:t>Support for Multi-Processing Environment:</a:t>
            </a:r>
            <a:endParaRPr lang="en-US" dirty="0" smtClean="0"/>
          </a:p>
          <a:p>
            <a:r>
              <a:rPr lang="en-US" dirty="0" smtClean="0"/>
              <a:t>Enables "real-time" multi-processing through time-sharing applications.</a:t>
            </a:r>
          </a:p>
          <a:p>
            <a:r>
              <a:rPr lang="en-US" dirty="0" smtClean="0"/>
              <a:t>Prioritizes tasks based on:</a:t>
            </a:r>
          </a:p>
          <a:p>
            <a:pPr lvl="1"/>
            <a:r>
              <a:rPr lang="en-US" dirty="0" smtClean="0"/>
              <a:t>User ID.</a:t>
            </a:r>
          </a:p>
          <a:p>
            <a:pPr lvl="1"/>
            <a:r>
              <a:rPr lang="en-US" dirty="0" smtClean="0"/>
              <a:t>Application, device, and database/system catalog priorities.</a:t>
            </a:r>
          </a:p>
          <a:p>
            <a:pPr lvl="1"/>
            <a:endParaRPr lang="en-US" dirty="0" smtClean="0"/>
          </a:p>
          <a:p>
            <a:pPr>
              <a:buNone/>
            </a:pPr>
            <a:r>
              <a:rPr lang="en-US" b="1" dirty="0" smtClean="0"/>
              <a:t>System Partitioning:</a:t>
            </a:r>
            <a:endParaRPr lang="en-US" dirty="0" smtClean="0"/>
          </a:p>
          <a:p>
            <a:r>
              <a:rPr lang="en-US" dirty="0" smtClean="0"/>
              <a:t>Organizes system layout based on:</a:t>
            </a:r>
          </a:p>
          <a:p>
            <a:pPr lvl="1"/>
            <a:r>
              <a:rPr lang="en-US" dirty="0" smtClean="0"/>
              <a:t>Data security policies.</a:t>
            </a:r>
          </a:p>
          <a:p>
            <a:pPr lvl="1"/>
            <a:r>
              <a:rPr lang="en-US" dirty="0" smtClean="0"/>
              <a:t>User access levels.</a:t>
            </a:r>
          </a:p>
          <a:p>
            <a:pPr lvl="1"/>
            <a:r>
              <a:rPr lang="en-US" dirty="0" smtClean="0"/>
              <a:t>Program applications.</a:t>
            </a:r>
          </a:p>
          <a:p>
            <a:r>
              <a:rPr lang="en-US" dirty="0" smtClean="0"/>
              <a:t>Ensures effective CPU usage through partitioning of drives, memory, and storage.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Impact of Information System in an Organization and Business Firm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382000" cy="518160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 smtClean="0"/>
              <a:t>Integral Role in Operations:</a:t>
            </a:r>
            <a:endParaRPr lang="en-US" dirty="0" smtClean="0"/>
          </a:p>
          <a:p>
            <a:r>
              <a:rPr lang="en-US" dirty="0" smtClean="0"/>
              <a:t>Essential online and interactive tools.</a:t>
            </a:r>
          </a:p>
          <a:p>
            <a:r>
              <a:rPr lang="en-US" dirty="0" smtClean="0"/>
              <a:t>Involved in real-time operations and decision-making.</a:t>
            </a:r>
          </a:p>
          <a:p>
            <a:endParaRPr lang="en-US" dirty="0" smtClean="0"/>
          </a:p>
          <a:p>
            <a:pPr>
              <a:buNone/>
            </a:pPr>
            <a:r>
              <a:rPr lang="en-US" b="1" dirty="0" smtClean="0"/>
              <a:t>Transformative Effect:</a:t>
            </a:r>
            <a:endParaRPr lang="en-US" dirty="0" smtClean="0"/>
          </a:p>
          <a:p>
            <a:r>
              <a:rPr lang="en-US" dirty="0" smtClean="0"/>
              <a:t>Fundamentally changed organizational economics over the last decade.</a:t>
            </a:r>
          </a:p>
          <a:p>
            <a:r>
              <a:rPr lang="en-US" dirty="0" smtClean="0"/>
              <a:t>Enhanced possibilities for organizing work efficiently.</a:t>
            </a:r>
          </a:p>
          <a:p>
            <a:endParaRPr lang="en-US" dirty="0" smtClean="0"/>
          </a:p>
          <a:p>
            <a:pPr>
              <a:buNone/>
            </a:pPr>
            <a:r>
              <a:rPr lang="en-US" b="1" dirty="0" smtClean="0"/>
              <a:t>Interdisciplinary Understanding:</a:t>
            </a:r>
            <a:endParaRPr lang="en-US" dirty="0" smtClean="0"/>
          </a:p>
          <a:p>
            <a:r>
              <a:rPr lang="en-US" dirty="0" smtClean="0"/>
              <a:t>Economic theories explain shifts in organizational costs and efficiencies.</a:t>
            </a:r>
          </a:p>
          <a:p>
            <a:r>
              <a:rPr lang="en-US" dirty="0" smtClean="0"/>
              <a:t>Sociological concepts shed light on changes in work dynamics and collaboration.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Economic Impacts of Information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 smtClean="0"/>
              <a:t>Change in Costs:</a:t>
            </a:r>
            <a:endParaRPr lang="en-US" dirty="0" smtClean="0"/>
          </a:p>
          <a:p>
            <a:r>
              <a:rPr lang="en-US" dirty="0" smtClean="0"/>
              <a:t>IT reduces both the </a:t>
            </a:r>
            <a:r>
              <a:rPr lang="en-US" b="1" dirty="0" smtClean="0"/>
              <a:t>relative cost of capital</a:t>
            </a:r>
            <a:r>
              <a:rPr lang="en-US" dirty="0" smtClean="0"/>
              <a:t> and </a:t>
            </a:r>
            <a:r>
              <a:rPr lang="en-US" b="1" dirty="0" smtClean="0"/>
              <a:t>cost of information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Substitutes traditional capital (machinery, buildings) and labor (especially middle managers and clerical workers).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Substitution of Labor:</a:t>
            </a:r>
            <a:endParaRPr lang="en-US" dirty="0" smtClean="0"/>
          </a:p>
          <a:p>
            <a:r>
              <a:rPr lang="en-US" dirty="0" smtClean="0"/>
              <a:t>As IT costs decrease, it replaces labor, particularly roles with rising costs.</a:t>
            </a:r>
          </a:p>
          <a:p>
            <a:r>
              <a:rPr lang="en-US" dirty="0" smtClean="0"/>
              <a:t>Decrease in the need for middle managers and clerical workers due to IT automation.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Economic Impacts of Information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/>
              <a:t>Increased Investment in IT:</a:t>
            </a:r>
            <a:endParaRPr lang="en-US" dirty="0" smtClean="0"/>
          </a:p>
          <a:p>
            <a:r>
              <a:rPr lang="en-US" dirty="0" smtClean="0"/>
              <a:t>IT becomes more attractive as its costs decline compared to other capital investments (e.g., buildings, machinery).</a:t>
            </a:r>
          </a:p>
          <a:p>
            <a:r>
              <a:rPr lang="en-US" dirty="0" smtClean="0"/>
              <a:t>Over time, managers will invest more in IT due to its lower relative costs.</a:t>
            </a:r>
          </a:p>
          <a:p>
            <a:endParaRPr lang="en-US" dirty="0" smtClean="0"/>
          </a:p>
          <a:p>
            <a:pPr>
              <a:buNone/>
            </a:pPr>
            <a:r>
              <a:rPr lang="en-US" b="1" dirty="0" smtClean="0"/>
              <a:t>Transaction Cost Theory:</a:t>
            </a:r>
            <a:endParaRPr lang="en-US" dirty="0" smtClean="0"/>
          </a:p>
          <a:p>
            <a:r>
              <a:rPr lang="en-US" dirty="0" smtClean="0"/>
              <a:t>Firms aim to </a:t>
            </a:r>
            <a:r>
              <a:rPr lang="en-US" b="1" dirty="0" smtClean="0"/>
              <a:t>economize on transaction costs</a:t>
            </a:r>
            <a:r>
              <a:rPr lang="en-US" dirty="0" smtClean="0"/>
              <a:t>, such as:</a:t>
            </a:r>
          </a:p>
          <a:p>
            <a:pPr lvl="1"/>
            <a:r>
              <a:rPr lang="en-US" dirty="0" smtClean="0"/>
              <a:t>Locating and communicating with suppliers.</a:t>
            </a:r>
          </a:p>
          <a:p>
            <a:pPr lvl="1"/>
            <a:r>
              <a:rPr lang="en-US" dirty="0" smtClean="0"/>
              <a:t>Monitoring contracts, purchasing, and obtaining product information.</a:t>
            </a:r>
          </a:p>
          <a:p>
            <a:r>
              <a:rPr lang="en-US" dirty="0" smtClean="0"/>
              <a:t>Networks and IT lower market participation costs, making outsourcing more cost-effective than hiring internally.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Economic Impacts of Information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 smtClean="0"/>
              <a:t>Impact on Firm Size:</a:t>
            </a:r>
            <a:endParaRPr lang="en-US" dirty="0" smtClean="0"/>
          </a:p>
          <a:p>
            <a:r>
              <a:rPr lang="en-US" dirty="0" smtClean="0"/>
              <a:t>As transaction costs decrease, firms shrink in size due to outsourcing becoming cheaper than internal production.</a:t>
            </a:r>
          </a:p>
          <a:p>
            <a:r>
              <a:rPr lang="en-US" dirty="0" smtClean="0"/>
              <a:t>Firm size can contract or stay constant while revenues increase, as outsourcing is more cost-efficient.</a:t>
            </a:r>
          </a:p>
          <a:p>
            <a:endParaRPr lang="en-US" dirty="0" smtClean="0"/>
          </a:p>
          <a:p>
            <a:pPr>
              <a:buNone/>
            </a:pPr>
            <a:r>
              <a:rPr lang="en-US" b="1" dirty="0" smtClean="0"/>
              <a:t>Agency Theory:</a:t>
            </a:r>
            <a:endParaRPr lang="en-US" dirty="0" smtClean="0"/>
          </a:p>
          <a:p>
            <a:r>
              <a:rPr lang="en-US" dirty="0" smtClean="0"/>
              <a:t>Firms are seen as a "nexus of contracts" among self-interested individuals.</a:t>
            </a:r>
          </a:p>
          <a:p>
            <a:r>
              <a:rPr lang="en-US" b="1" dirty="0" smtClean="0"/>
              <a:t>Agency costs</a:t>
            </a:r>
            <a:r>
              <a:rPr lang="en-US" dirty="0" smtClean="0"/>
              <a:t> (coordination and supervision) rise as firms grow, requiring more management effort.</a:t>
            </a:r>
          </a:p>
          <a:p>
            <a:pPr lvl="1"/>
            <a:r>
              <a:rPr lang="en-US" dirty="0" smtClean="0"/>
              <a:t>IT reduces agency costs by making it easier to acquire and analyze information, thus simplifying supervision.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Economic Impacts of Information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 smtClean="0"/>
              <a:t>Management Cost Reduction:</a:t>
            </a:r>
            <a:endParaRPr lang="en-US" dirty="0" smtClean="0"/>
          </a:p>
          <a:p>
            <a:r>
              <a:rPr lang="en-US" dirty="0" smtClean="0"/>
              <a:t>IT enables </a:t>
            </a:r>
            <a:r>
              <a:rPr lang="en-US" b="1" dirty="0" smtClean="0"/>
              <a:t>reduction in internal management costs</a:t>
            </a:r>
            <a:r>
              <a:rPr lang="en-US" dirty="0" smtClean="0"/>
              <a:t> by allowing better oversight of a larger workforce.</a:t>
            </a:r>
          </a:p>
          <a:p>
            <a:r>
              <a:rPr lang="en-US" dirty="0" smtClean="0"/>
              <a:t>As a result, firms can reduce the number of middle managers and clerical workers, while increasing revenue.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b="1" dirty="0" smtClean="0"/>
              <a:t>Overall Impact on Firm Size and Efficiency:</a:t>
            </a:r>
            <a:endParaRPr lang="en-US" dirty="0" smtClean="0"/>
          </a:p>
          <a:p>
            <a:r>
              <a:rPr lang="en-US" dirty="0" smtClean="0"/>
              <a:t>As IT reduces </a:t>
            </a:r>
            <a:r>
              <a:rPr lang="en-US" b="1" dirty="0" smtClean="0"/>
              <a:t>agency</a:t>
            </a:r>
            <a:r>
              <a:rPr lang="en-US" dirty="0" smtClean="0"/>
              <a:t> and </a:t>
            </a:r>
            <a:r>
              <a:rPr lang="en-US" b="1" dirty="0" smtClean="0"/>
              <a:t>transaction costs</a:t>
            </a:r>
            <a:r>
              <a:rPr lang="en-US" dirty="0" smtClean="0"/>
              <a:t>, firms tend to shrink in size over time.</a:t>
            </a:r>
          </a:p>
          <a:p>
            <a:r>
              <a:rPr lang="en-US" b="1" dirty="0" smtClean="0"/>
              <a:t>Revenue per employee</a:t>
            </a:r>
            <a:r>
              <a:rPr lang="en-US" dirty="0" smtClean="0"/>
              <a:t> increases due to reduced management costs and greater efficiency.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Organizational and Behavioral Impact of Information Technology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IT Flattens Organizations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Postindustrial Organizations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Understanding Organizational Resistance to Change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 Flattens Organizations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Old Organizations vs. New Organizations:</a:t>
            </a:r>
            <a:endParaRPr lang="en-US" dirty="0" smtClean="0"/>
          </a:p>
          <a:p>
            <a:r>
              <a:rPr lang="en-US" dirty="0" smtClean="0"/>
              <a:t>Pre-computer organizations were often inefficient, slow to adapt, and less competitive.</a:t>
            </a:r>
          </a:p>
          <a:p>
            <a:r>
              <a:rPr lang="en-US" dirty="0" smtClean="0"/>
              <a:t>IT helps flatten hierarchies by distributing information, empowering lower-level employees, and improving decision-making efficiency.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 Flattens Organizations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 smtClean="0"/>
              <a:t>Impact on Decision Making:</a:t>
            </a:r>
            <a:endParaRPr lang="en-US" dirty="0" smtClean="0"/>
          </a:p>
          <a:p>
            <a:r>
              <a:rPr lang="en-US" dirty="0" smtClean="0"/>
              <a:t>IT enables lower-level employees to make decisions without constant supervision by providing necessary information.</a:t>
            </a:r>
          </a:p>
          <a:p>
            <a:r>
              <a:rPr lang="en-US" dirty="0" smtClean="0"/>
              <a:t>Managers receive more accurate, timely data, leading to faster decisions and fewer managers needed.</a:t>
            </a:r>
          </a:p>
          <a:p>
            <a:r>
              <a:rPr lang="en-US" dirty="0" smtClean="0"/>
              <a:t>As management costs decline, the organizational hierarchy becomes more efficient.</a:t>
            </a:r>
          </a:p>
          <a:p>
            <a:pPr>
              <a:buNone/>
            </a:pPr>
            <a:r>
              <a:rPr lang="en-US" b="1" dirty="0" smtClean="0"/>
              <a:t>Empowerment of Middle Management:</a:t>
            </a:r>
            <a:endParaRPr lang="en-US" dirty="0" smtClean="0"/>
          </a:p>
          <a:p>
            <a:r>
              <a:rPr lang="en-US" dirty="0" smtClean="0"/>
              <a:t>IT may empower middle managers by providing more information, enabling them to make significant decisions, which can reduce the need for large numbers of lower-level workers.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Postindustrial Organizations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 smtClean="0"/>
              <a:t>Historical and Sociological Theories:</a:t>
            </a:r>
            <a:endParaRPr lang="en-US" dirty="0" smtClean="0"/>
          </a:p>
          <a:p>
            <a:r>
              <a:rPr lang="en-US" dirty="0" smtClean="0"/>
              <a:t>In postindustrial societies, authority shifts from formal positions to knowledge and competence.</a:t>
            </a:r>
          </a:p>
          <a:p>
            <a:r>
              <a:rPr lang="en-US" dirty="0" smtClean="0"/>
              <a:t>Organizations flatten as professionals become self-managing, and decision-making becomes decentralized with more widespread access to knowledge.</a:t>
            </a:r>
          </a:p>
          <a:p>
            <a:pPr>
              <a:buNone/>
            </a:pPr>
            <a:r>
              <a:rPr lang="en-US" b="1" dirty="0" smtClean="0"/>
              <a:t>Task Forces and Networked Organizations:</a:t>
            </a:r>
            <a:endParaRPr lang="en-US" dirty="0" smtClean="0"/>
          </a:p>
          <a:p>
            <a:r>
              <a:rPr lang="en-US" dirty="0" smtClean="0"/>
              <a:t>IT encourages task-forced, networked organizations where professionals collaborate temporarily on specific tasks, after which they join other teams.</a:t>
            </a:r>
          </a:p>
          <a:p>
            <a:r>
              <a:rPr lang="en-US" dirty="0" smtClean="0"/>
              <a:t>Example: Accenture operates without a formal headquarters, with employees rotating across locations to work on various projects globally.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Postindustrial Organizations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 smtClean="0"/>
              <a:t>Virtual Organizations:</a:t>
            </a:r>
            <a:endParaRPr lang="en-US" dirty="0" smtClean="0"/>
          </a:p>
          <a:p>
            <a:r>
              <a:rPr lang="en-US" dirty="0" smtClean="0"/>
              <a:t>Virtual organizations use networks to connect people, assets, ideas, suppliers, customers, and sometimes competitors.</a:t>
            </a:r>
          </a:p>
          <a:p>
            <a:r>
              <a:rPr lang="en-US" dirty="0" smtClean="0"/>
              <a:t>Implementing virtual work requires new approaches to evaluate, organize, and inform workers.</a:t>
            </a:r>
          </a:p>
          <a:p>
            <a:r>
              <a:rPr lang="en-US" dirty="0" smtClean="0"/>
              <a:t>Challenges in virtual organizations:</a:t>
            </a:r>
          </a:p>
          <a:p>
            <a:pPr lvl="1"/>
            <a:r>
              <a:rPr lang="en-US" dirty="0" smtClean="0"/>
              <a:t>Who ensures self-managed teams stay on track?</a:t>
            </a:r>
          </a:p>
          <a:p>
            <a:pPr lvl="1"/>
            <a:r>
              <a:rPr lang="en-US" dirty="0" smtClean="0"/>
              <a:t>Who decides team assignments and durations?</a:t>
            </a:r>
          </a:p>
          <a:p>
            <a:pPr lvl="1"/>
            <a:r>
              <a:rPr lang="en-US" dirty="0" smtClean="0"/>
              <a:t>How to evaluate performance of employees rotating across teams?</a:t>
            </a:r>
          </a:p>
          <a:p>
            <a:pPr lvl="1"/>
            <a:r>
              <a:rPr lang="en-US" dirty="0" smtClean="0"/>
              <a:t>How to guide employee career development?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Understanding Organizational Resistance to Change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 smtClean="0"/>
              <a:t>Impact on Organizational Politics:</a:t>
            </a:r>
            <a:endParaRPr lang="en-US" dirty="0" smtClean="0"/>
          </a:p>
          <a:p>
            <a:r>
              <a:rPr lang="en-US" dirty="0" smtClean="0"/>
              <a:t>Information systems influence access to key resources—information—affecting organizational roles, decision-making, and processes.</a:t>
            </a:r>
          </a:p>
          <a:p>
            <a:pPr>
              <a:buNone/>
            </a:pPr>
            <a:r>
              <a:rPr lang="en-US" b="1" dirty="0" smtClean="0"/>
              <a:t>Challenges of Change:</a:t>
            </a:r>
            <a:endParaRPr lang="en-US" dirty="0" smtClean="0"/>
          </a:p>
          <a:p>
            <a:r>
              <a:rPr lang="en-US" dirty="0" smtClean="0"/>
              <a:t>New information systems require changes to personal routines, leading to discomfort, retraining, and additional effort.</a:t>
            </a:r>
          </a:p>
          <a:p>
            <a:r>
              <a:rPr lang="en-US" dirty="0" smtClean="0"/>
              <a:t>IT adoption can disrupt organizational structure, culture, business processes, and strategy, leading to resistance.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Understanding Organizational Resistance to Change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 smtClean="0"/>
              <a:t>Visualization of Organizational Resistance:</a:t>
            </a:r>
            <a:endParaRPr lang="en-US" dirty="0" smtClean="0"/>
          </a:p>
          <a:p>
            <a:r>
              <a:rPr lang="en-US" dirty="0" smtClean="0"/>
              <a:t>Leavitt’s diamond model illustrates the interrelated nature of technology, task structure, and people in organizational change.</a:t>
            </a:r>
          </a:p>
          <a:p>
            <a:r>
              <a:rPr lang="en-US" dirty="0" smtClean="0"/>
              <a:t>Changes to technology, tasks, and people must occur simultaneously to overcome resistance.</a:t>
            </a:r>
          </a:p>
          <a:p>
            <a:pPr>
              <a:buNone/>
            </a:pPr>
            <a:r>
              <a:rPr lang="en-US" b="1" dirty="0" smtClean="0"/>
              <a:t>Failure of IT Projects:</a:t>
            </a:r>
            <a:endParaRPr lang="en-US" dirty="0" smtClean="0"/>
          </a:p>
          <a:p>
            <a:r>
              <a:rPr lang="en-US" dirty="0" smtClean="0"/>
              <a:t>Organizational and political resistance is often the primary reason for the failure of large IT projects, rather than technological issues.</a:t>
            </a:r>
          </a:p>
          <a:p>
            <a:r>
              <a:rPr lang="en-US" dirty="0" smtClean="0"/>
              <a:t>Resistance to change can hinder productivity improvements despite technological investments.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Leavitt's Diamond: The Factors Involved in Change | Accipi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990600"/>
            <a:ext cx="4480560" cy="373380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1143000" y="5181600"/>
            <a:ext cx="2491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Leavitt’s diamond model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Internet and Organization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 smtClean="0"/>
              <a:t>Impact on External Relationships</a:t>
            </a:r>
            <a:r>
              <a:rPr lang="en-US" dirty="0" smtClean="0"/>
              <a:t>:</a:t>
            </a:r>
          </a:p>
          <a:p>
            <a:r>
              <a:rPr lang="en-US" dirty="0" smtClean="0"/>
              <a:t>The </a:t>
            </a:r>
            <a:r>
              <a:rPr lang="en-US" b="1" dirty="0" smtClean="0"/>
              <a:t>Internet</a:t>
            </a:r>
            <a:r>
              <a:rPr lang="en-US" dirty="0" smtClean="0"/>
              <a:t>, particularly the </a:t>
            </a:r>
            <a:r>
              <a:rPr lang="en-US" b="1" dirty="0" smtClean="0"/>
              <a:t>World Wide Web (WWW)</a:t>
            </a:r>
            <a:r>
              <a:rPr lang="en-US" dirty="0" smtClean="0"/>
              <a:t>, has a significant impact on the relationships between firms and their external entities (e.g., suppliers, customers, partners).</a:t>
            </a:r>
          </a:p>
          <a:p>
            <a:r>
              <a:rPr lang="en-US" dirty="0" smtClean="0"/>
              <a:t>The Internet enhances the </a:t>
            </a:r>
            <a:r>
              <a:rPr lang="en-US" b="1" dirty="0" smtClean="0"/>
              <a:t>accessibility, storage</a:t>
            </a:r>
            <a:r>
              <a:rPr lang="en-US" dirty="0" smtClean="0"/>
              <a:t>, and </a:t>
            </a:r>
            <a:r>
              <a:rPr lang="en-US" b="1" dirty="0" smtClean="0"/>
              <a:t>distribution of information and knowledge</a:t>
            </a:r>
            <a:r>
              <a:rPr lang="en-US" dirty="0" smtClean="0"/>
              <a:t>, improving business interactions.</a:t>
            </a:r>
          </a:p>
          <a:p>
            <a:r>
              <a:rPr lang="en-US" dirty="0" smtClean="0"/>
              <a:t>By reducing barriers to communication, firms can establish more efficient and timely connections with external stakeholders.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Internet and Organization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 smtClean="0"/>
              <a:t>Lowering Transaction and Agency Costs</a:t>
            </a:r>
            <a:r>
              <a:rPr lang="en-US" dirty="0" smtClean="0"/>
              <a:t>:</a:t>
            </a:r>
          </a:p>
          <a:p>
            <a:r>
              <a:rPr lang="en-US" dirty="0" smtClean="0"/>
              <a:t>The Internet plays a key role in </a:t>
            </a:r>
            <a:r>
              <a:rPr lang="en-US" b="1" dirty="0" smtClean="0"/>
              <a:t>reducing transaction and agency costs</a:t>
            </a:r>
            <a:r>
              <a:rPr lang="en-US" dirty="0" smtClean="0"/>
              <a:t> for organizations.</a:t>
            </a:r>
          </a:p>
          <a:p>
            <a:r>
              <a:rPr lang="en-US" dirty="0" smtClean="0"/>
              <a:t>Example: </a:t>
            </a:r>
            <a:r>
              <a:rPr lang="en-US" b="1" dirty="0" smtClean="0"/>
              <a:t>Brokerage firms and banks</a:t>
            </a:r>
            <a:r>
              <a:rPr lang="en-US" dirty="0" smtClean="0"/>
              <a:t> in </a:t>
            </a:r>
            <a:r>
              <a:rPr lang="en-US" dirty="0" err="1" smtClean="0"/>
              <a:t>Itahari</a:t>
            </a:r>
            <a:r>
              <a:rPr lang="en-US" dirty="0" smtClean="0"/>
              <a:t> and </a:t>
            </a:r>
            <a:r>
              <a:rPr lang="en-US" dirty="0" err="1" smtClean="0"/>
              <a:t>Pokhara</a:t>
            </a:r>
            <a:r>
              <a:rPr lang="en-US" dirty="0" smtClean="0"/>
              <a:t> can now distribute internal </a:t>
            </a:r>
            <a:r>
              <a:rPr lang="en-US" b="1" dirty="0" smtClean="0"/>
              <a:t>operating procedure manuals</a:t>
            </a:r>
            <a:r>
              <a:rPr lang="en-US" dirty="0" smtClean="0"/>
              <a:t> to employees in distant locations through </a:t>
            </a:r>
            <a:r>
              <a:rPr lang="en-US" b="1" dirty="0" smtClean="0"/>
              <a:t>corporate websites</a:t>
            </a:r>
            <a:r>
              <a:rPr lang="en-US" dirty="0" smtClean="0"/>
              <a:t>, saving millions in distribution costs.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Internet and Organization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 smtClean="0"/>
              <a:t>Rebuilding Business Processes</a:t>
            </a:r>
            <a:r>
              <a:rPr lang="en-US" dirty="0" smtClean="0"/>
              <a:t>:</a:t>
            </a:r>
          </a:p>
          <a:p>
            <a:r>
              <a:rPr lang="en-US" dirty="0" smtClean="0"/>
              <a:t>Organizations are increasingly </a:t>
            </a:r>
            <a:r>
              <a:rPr lang="en-US" b="1" dirty="0" smtClean="0"/>
              <a:t>rebuilding key business processes</a:t>
            </a:r>
            <a:r>
              <a:rPr lang="en-US" dirty="0" smtClean="0"/>
              <a:t> around </a:t>
            </a:r>
            <a:r>
              <a:rPr lang="en-US" b="1" dirty="0" smtClean="0"/>
              <a:t>Internet technologies</a:t>
            </a:r>
            <a:r>
              <a:rPr lang="en-US" dirty="0" smtClean="0"/>
              <a:t> and integrating them into their IT infrastructure.</a:t>
            </a:r>
          </a:p>
          <a:p>
            <a:r>
              <a:rPr lang="en-US" dirty="0" smtClean="0"/>
              <a:t>As a result, businesses are simplifying their processes, requiring </a:t>
            </a:r>
            <a:r>
              <a:rPr lang="en-US" b="1" dirty="0" smtClean="0"/>
              <a:t>fewer employees</a:t>
            </a:r>
            <a:r>
              <a:rPr lang="en-US" dirty="0" smtClean="0"/>
              <a:t>, and adopting </a:t>
            </a:r>
            <a:r>
              <a:rPr lang="en-US" b="1" dirty="0" smtClean="0"/>
              <a:t>flatter organizational structures</a:t>
            </a:r>
            <a:r>
              <a:rPr lang="en-US" dirty="0" smtClean="0"/>
              <a:t> compared to traditional models.</a:t>
            </a:r>
          </a:p>
          <a:p>
            <a:r>
              <a:rPr lang="en-US" dirty="0" smtClean="0"/>
              <a:t>The Internet facilitates </a:t>
            </a:r>
            <a:r>
              <a:rPr lang="en-US" b="1" dirty="0" smtClean="0"/>
              <a:t>more streamlined operations</a:t>
            </a:r>
            <a:r>
              <a:rPr lang="en-US" dirty="0" smtClean="0"/>
              <a:t>, reducing the need for complex hierarchies and centralized control.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Using Information System to achieve competitive advantage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Competitive advantage enables firms to outperform rivals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Achieved through : Access </a:t>
            </a:r>
            <a:r>
              <a:rPr lang="en-US" dirty="0" smtClean="0"/>
              <a:t>to unique resources.</a:t>
            </a:r>
          </a:p>
          <a:p>
            <a:pPr algn="just"/>
            <a:r>
              <a:rPr lang="en-US" dirty="0" smtClean="0"/>
              <a:t>Efficient use of common resources.</a:t>
            </a:r>
          </a:p>
          <a:p>
            <a:pPr algn="just"/>
            <a:r>
              <a:rPr lang="en-US" dirty="0" smtClean="0"/>
              <a:t>Result: Higher revenue, profitability, productivity, and stock market valuations.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Industry Leaders Powered by Information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 smtClean="0"/>
              <a:t>Automotive</a:t>
            </a:r>
            <a:r>
              <a:rPr lang="en-US" dirty="0" smtClean="0"/>
              <a:t>: Toyota - superior performance.</a:t>
            </a:r>
          </a:p>
          <a:p>
            <a:pPr algn="just"/>
            <a:r>
              <a:rPr lang="en-US" b="1" dirty="0" smtClean="0"/>
              <a:t>Online Retail</a:t>
            </a:r>
            <a:r>
              <a:rPr lang="en-US" dirty="0" smtClean="0"/>
              <a:t>: Amazon - industry leader.</a:t>
            </a:r>
          </a:p>
          <a:p>
            <a:pPr algn="just"/>
            <a:r>
              <a:rPr lang="en-US" b="1" dirty="0" smtClean="0"/>
              <a:t>Offline Retail</a:t>
            </a:r>
            <a:r>
              <a:rPr lang="en-US" dirty="0" smtClean="0"/>
              <a:t>: </a:t>
            </a:r>
            <a:r>
              <a:rPr lang="en-US" dirty="0" err="1" smtClean="0"/>
              <a:t>Walmart</a:t>
            </a:r>
            <a:r>
              <a:rPr lang="en-US" dirty="0" smtClean="0"/>
              <a:t> - largest global retailer.</a:t>
            </a:r>
          </a:p>
          <a:p>
            <a:pPr algn="just"/>
            <a:r>
              <a:rPr lang="en-US" b="1" dirty="0" smtClean="0"/>
              <a:t>Digital Music</a:t>
            </a:r>
            <a:r>
              <a:rPr lang="en-US" dirty="0" smtClean="0"/>
              <a:t>: Apple iTunes, </a:t>
            </a:r>
            <a:r>
              <a:rPr lang="en-US" dirty="0" err="1" smtClean="0"/>
              <a:t>YesAsia</a:t>
            </a:r>
            <a:r>
              <a:rPr lang="en-US" dirty="0" smtClean="0"/>
              <a:t>, </a:t>
            </a:r>
            <a:r>
              <a:rPr lang="en-US" dirty="0" err="1" smtClean="0"/>
              <a:t>CDJapan</a:t>
            </a:r>
            <a:r>
              <a:rPr lang="en-US" dirty="0" smtClean="0"/>
              <a:t> - 75% market share.</a:t>
            </a:r>
          </a:p>
          <a:p>
            <a:pPr algn="just"/>
            <a:r>
              <a:rPr lang="en-US" b="1" dirty="0" smtClean="0"/>
              <a:t>Web Search</a:t>
            </a:r>
            <a:r>
              <a:rPr lang="en-US" dirty="0" smtClean="0"/>
              <a:t>: Google - market leader.</a:t>
            </a:r>
          </a:p>
          <a:p>
            <a:pPr algn="just"/>
            <a:r>
              <a:rPr lang="en-US" b="1" dirty="0" err="1" smtClean="0"/>
              <a:t>Smartphones</a:t>
            </a:r>
            <a:r>
              <a:rPr lang="en-US" dirty="0" smtClean="0"/>
              <a:t>: Android OS - most popular.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Key Success Factors for Competitive Advantage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Superior knowledge and expertise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Efficient </a:t>
            </a:r>
            <a:r>
              <a:rPr lang="en-US" dirty="0" smtClean="0"/>
              <a:t>resource management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Access </a:t>
            </a:r>
            <a:r>
              <a:rPr lang="en-US" dirty="0" smtClean="0"/>
              <a:t>to critical information assets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Continuous </a:t>
            </a:r>
            <a:r>
              <a:rPr lang="en-US" dirty="0" smtClean="0"/>
              <a:t>investment in IT and innovation.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Michael Porter's Competitive Forces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dirty="0" smtClean="0"/>
              <a:t>Using information system to achieve competitive advantages can be described by Michael Porter’s Competitive Forces Model </a:t>
            </a:r>
            <a:endParaRPr lang="en-US" dirty="0" smtClean="0"/>
          </a:p>
          <a:p>
            <a:pPr algn="just"/>
            <a:endParaRPr lang="en-US" dirty="0" smtClean="0"/>
          </a:p>
          <a:p>
            <a:pPr algn="just">
              <a:buNone/>
            </a:pPr>
            <a:r>
              <a:rPr lang="en-US" b="1" dirty="0" smtClean="0"/>
              <a:t>Key Forces</a:t>
            </a:r>
            <a:r>
              <a:rPr lang="en-US" dirty="0" smtClean="0"/>
              <a:t>:</a:t>
            </a:r>
          </a:p>
          <a:p>
            <a:pPr algn="just"/>
            <a:r>
              <a:rPr lang="en-US" dirty="0" smtClean="0"/>
              <a:t>Industry </a:t>
            </a:r>
            <a:r>
              <a:rPr lang="en-US" dirty="0" smtClean="0"/>
              <a:t>competition.</a:t>
            </a:r>
          </a:p>
          <a:p>
            <a:pPr algn="just"/>
            <a:r>
              <a:rPr lang="en-US" dirty="0" smtClean="0"/>
              <a:t>Bargaining power of suppliers.</a:t>
            </a:r>
          </a:p>
          <a:p>
            <a:pPr algn="just"/>
            <a:r>
              <a:rPr lang="en-US" dirty="0" smtClean="0"/>
              <a:t>Bargaining power of customers.</a:t>
            </a:r>
          </a:p>
          <a:p>
            <a:pPr algn="just"/>
            <a:r>
              <a:rPr lang="en-US" dirty="0" smtClean="0"/>
              <a:t>Threat of new entrants.</a:t>
            </a:r>
          </a:p>
          <a:p>
            <a:pPr algn="just"/>
            <a:r>
              <a:rPr lang="en-US" dirty="0" smtClean="0"/>
              <a:t>Threat of substitutes</a:t>
            </a:r>
            <a:r>
              <a:rPr lang="en-US" dirty="0" smtClean="0"/>
              <a:t>.</a:t>
            </a:r>
          </a:p>
          <a:p>
            <a:pPr algn="just"/>
            <a:endParaRPr lang="en-US" dirty="0" smtClean="0"/>
          </a:p>
          <a:p>
            <a:pPr algn="just">
              <a:buNone/>
            </a:pPr>
            <a:r>
              <a:rPr lang="en-US" dirty="0" smtClean="0"/>
              <a:t>Note: Information </a:t>
            </a:r>
            <a:r>
              <a:rPr lang="en-US" dirty="0" smtClean="0"/>
              <a:t>systems help address these forces strategically.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sixsigmastudyguide.com/wp-content/uploads/2024/01/po6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74737" y="152400"/>
            <a:ext cx="6573863" cy="53340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2362200" y="5638800"/>
            <a:ext cx="416594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Fig: Porter’s </a:t>
            </a:r>
            <a:r>
              <a:rPr lang="en-US" sz="3200" b="1" dirty="0" smtClean="0"/>
              <a:t>Five Forces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Overview of Porter’s Competitive Forces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 smtClean="0"/>
              <a:t>Widely used framework for analyzing competitive advantages</a:t>
            </a:r>
            <a:r>
              <a:rPr lang="en-US" dirty="0" smtClean="0"/>
              <a:t>.</a:t>
            </a:r>
          </a:p>
          <a:p>
            <a:pPr algn="just">
              <a:buNone/>
            </a:pPr>
            <a:endParaRPr lang="en-US" dirty="0" smtClean="0"/>
          </a:p>
          <a:p>
            <a:pPr algn="just">
              <a:buNone/>
            </a:pPr>
            <a:r>
              <a:rPr lang="en-US" dirty="0" smtClean="0"/>
              <a:t>Provides </a:t>
            </a:r>
            <a:r>
              <a:rPr lang="en-US" dirty="0" smtClean="0"/>
              <a:t>a holistic view of</a:t>
            </a:r>
            <a:r>
              <a:rPr lang="en-US" dirty="0" smtClean="0"/>
              <a:t>:</a:t>
            </a:r>
          </a:p>
          <a:p>
            <a:pPr algn="just"/>
            <a:r>
              <a:rPr lang="en-US" dirty="0" smtClean="0"/>
              <a:t>The </a:t>
            </a:r>
            <a:r>
              <a:rPr lang="en-US" dirty="0" smtClean="0"/>
              <a:t>firm.</a:t>
            </a:r>
          </a:p>
          <a:p>
            <a:pPr algn="just"/>
            <a:r>
              <a:rPr lang="en-US" dirty="0" smtClean="0"/>
              <a:t>Competitors.</a:t>
            </a:r>
          </a:p>
          <a:p>
            <a:pPr algn="just"/>
            <a:r>
              <a:rPr lang="en-US" dirty="0" smtClean="0"/>
              <a:t>External business environment</a:t>
            </a:r>
            <a:r>
              <a:rPr lang="en-US" dirty="0" smtClean="0"/>
              <a:t>.</a:t>
            </a:r>
          </a:p>
          <a:p>
            <a:pPr algn="just">
              <a:buNone/>
            </a:pPr>
            <a:endParaRPr lang="en-US" dirty="0" smtClean="0"/>
          </a:p>
          <a:p>
            <a:pPr algn="just"/>
            <a:r>
              <a:rPr lang="en-US" dirty="0" smtClean="0"/>
              <a:t>Five key forces shaping the firm's strategy and success.</a:t>
            </a: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Traditional </a:t>
            </a:r>
            <a:r>
              <a:rPr lang="en-US" dirty="0" smtClean="0"/>
              <a:t>Competitors/</a:t>
            </a:r>
            <a:r>
              <a:rPr lang="en-US" dirty="0" smtClean="0"/>
              <a:t> Industry competition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Compete for the same market space</a:t>
            </a:r>
            <a:r>
              <a:rPr lang="en-US" dirty="0" smtClean="0"/>
              <a:t>.</a:t>
            </a:r>
          </a:p>
          <a:p>
            <a:pPr algn="just"/>
            <a:endParaRPr lang="en-US" dirty="0" smtClean="0"/>
          </a:p>
          <a:p>
            <a:pPr algn="just">
              <a:buNone/>
            </a:pPr>
            <a:r>
              <a:rPr lang="en-US" dirty="0" smtClean="0"/>
              <a:t>Strategies </a:t>
            </a:r>
            <a:r>
              <a:rPr lang="en-US" dirty="0" smtClean="0"/>
              <a:t>include</a:t>
            </a:r>
            <a:r>
              <a:rPr lang="en-US" dirty="0" smtClean="0"/>
              <a:t>:</a:t>
            </a:r>
          </a:p>
          <a:p>
            <a:pPr algn="just"/>
            <a:r>
              <a:rPr lang="en-US" dirty="0" smtClean="0"/>
              <a:t>New </a:t>
            </a:r>
            <a:r>
              <a:rPr lang="en-US" dirty="0" smtClean="0"/>
              <a:t>products/services.</a:t>
            </a:r>
          </a:p>
          <a:p>
            <a:pPr algn="just"/>
            <a:r>
              <a:rPr lang="en-US" dirty="0" smtClean="0"/>
              <a:t>Improved efficiency.</a:t>
            </a:r>
          </a:p>
          <a:p>
            <a:pPr algn="just"/>
            <a:r>
              <a:rPr lang="en-US" dirty="0" smtClean="0"/>
              <a:t>Brand development.</a:t>
            </a:r>
          </a:p>
          <a:p>
            <a:pPr algn="just"/>
            <a:r>
              <a:rPr lang="en-US" dirty="0" smtClean="0"/>
              <a:t>Imposing switching costs on customers.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Threat of new entrants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 smtClean="0"/>
              <a:t>Continuous entry of new firms in free markets</a:t>
            </a:r>
            <a:r>
              <a:rPr lang="en-US" dirty="0" smtClean="0"/>
              <a:t>.</a:t>
            </a:r>
          </a:p>
          <a:p>
            <a:pPr algn="just">
              <a:buNone/>
            </a:pPr>
            <a:r>
              <a:rPr lang="en-US" b="1" dirty="0" smtClean="0"/>
              <a:t>Advantages</a:t>
            </a:r>
            <a:r>
              <a:rPr lang="en-US" dirty="0" smtClean="0"/>
              <a:t>:</a:t>
            </a:r>
          </a:p>
          <a:p>
            <a:pPr algn="just"/>
            <a:r>
              <a:rPr lang="en-US" dirty="0" smtClean="0"/>
              <a:t>No </a:t>
            </a:r>
            <a:r>
              <a:rPr lang="en-US" dirty="0" smtClean="0"/>
              <a:t>legacy systems or outdated processes.</a:t>
            </a:r>
          </a:p>
          <a:p>
            <a:pPr algn="just"/>
            <a:r>
              <a:rPr lang="en-US" dirty="0" smtClean="0"/>
              <a:t>Cost-effective workforce.</a:t>
            </a:r>
          </a:p>
          <a:p>
            <a:pPr algn="just"/>
            <a:r>
              <a:rPr lang="en-US" dirty="0" smtClean="0"/>
              <a:t>Higher innovation potential.</a:t>
            </a:r>
          </a:p>
          <a:p>
            <a:pPr algn="just">
              <a:buNone/>
            </a:pPr>
            <a:r>
              <a:rPr lang="en-US" b="1" dirty="0" smtClean="0"/>
              <a:t>Challenges</a:t>
            </a:r>
            <a:r>
              <a:rPr lang="en-US" dirty="0" smtClean="0"/>
              <a:t>:</a:t>
            </a:r>
          </a:p>
          <a:p>
            <a:pPr algn="just"/>
            <a:r>
              <a:rPr lang="en-US" dirty="0" smtClean="0"/>
              <a:t>High </a:t>
            </a:r>
            <a:r>
              <a:rPr lang="en-US" dirty="0" smtClean="0"/>
              <a:t>capital requirements in some industries.</a:t>
            </a:r>
          </a:p>
          <a:p>
            <a:pPr algn="just"/>
            <a:r>
              <a:rPr lang="en-US" dirty="0" smtClean="0"/>
              <a:t>Dependence on external financing.</a:t>
            </a:r>
          </a:p>
          <a:p>
            <a:pPr algn="just"/>
            <a:r>
              <a:rPr lang="en-US" dirty="0" smtClean="0"/>
              <a:t>Limited brand recognition and experience.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Substitute Products and </a:t>
            </a:r>
            <a:r>
              <a:rPr lang="en-US" dirty="0" smtClean="0"/>
              <a:t>Services/</a:t>
            </a:r>
            <a:r>
              <a:rPr lang="en-US" dirty="0" smtClean="0"/>
              <a:t> Threat of substitutes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Substitute options reduce pricing control and profit margins</a:t>
            </a:r>
            <a:r>
              <a:rPr lang="en-US" dirty="0" smtClean="0"/>
              <a:t>.</a:t>
            </a:r>
          </a:p>
          <a:p>
            <a:pPr algn="just">
              <a:buNone/>
            </a:pPr>
            <a:r>
              <a:rPr lang="en-US" b="1" dirty="0" smtClean="0"/>
              <a:t>Examples:</a:t>
            </a:r>
          </a:p>
          <a:p>
            <a:pPr algn="just"/>
            <a:r>
              <a:rPr lang="en-US" dirty="0" smtClean="0"/>
              <a:t>Ethanol </a:t>
            </a:r>
            <a:r>
              <a:rPr lang="en-US" dirty="0" smtClean="0"/>
              <a:t>replacing gasoline.</a:t>
            </a:r>
          </a:p>
          <a:p>
            <a:pPr algn="just"/>
            <a:r>
              <a:rPr lang="en-US" dirty="0" smtClean="0"/>
              <a:t>Internet services replacing traditional telephony.</a:t>
            </a:r>
          </a:p>
          <a:p>
            <a:pPr algn="just"/>
            <a:r>
              <a:rPr lang="en-US" dirty="0" smtClean="0"/>
              <a:t>Digital downloads replacing CDs.</a:t>
            </a:r>
          </a:p>
          <a:p>
            <a:pPr algn="just"/>
            <a:r>
              <a:rPr lang="en-US" dirty="0" smtClean="0"/>
              <a:t>Constant innovation creates new substitutes.</a:t>
            </a:r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Barganing</a:t>
            </a:r>
            <a:r>
              <a:rPr lang="en-US" dirty="0" smtClean="0"/>
              <a:t> power of Customers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 smtClean="0"/>
              <a:t>Key to business success: Attracting and retaining customers</a:t>
            </a:r>
            <a:r>
              <a:rPr lang="en-US" dirty="0" smtClean="0"/>
              <a:t>.</a:t>
            </a:r>
          </a:p>
          <a:p>
            <a:pPr algn="just">
              <a:buNone/>
            </a:pPr>
            <a:r>
              <a:rPr lang="en-US" b="1" dirty="0" smtClean="0"/>
              <a:t>Factors </a:t>
            </a:r>
            <a:r>
              <a:rPr lang="en-US" b="1" dirty="0" smtClean="0"/>
              <a:t>influencing customer power</a:t>
            </a:r>
            <a:r>
              <a:rPr lang="en-US" dirty="0" smtClean="0"/>
              <a:t>:</a:t>
            </a:r>
          </a:p>
          <a:p>
            <a:pPr algn="just"/>
            <a:r>
              <a:rPr lang="en-US" dirty="0" smtClean="0"/>
              <a:t>Easy </a:t>
            </a:r>
            <a:r>
              <a:rPr lang="en-US" dirty="0" smtClean="0"/>
              <a:t>switching to competitors.</a:t>
            </a:r>
          </a:p>
          <a:p>
            <a:pPr algn="just"/>
            <a:r>
              <a:rPr lang="en-US" dirty="0" smtClean="0"/>
              <a:t>Transparent marketplaces with price competition.</a:t>
            </a:r>
          </a:p>
          <a:p>
            <a:pPr algn="just"/>
            <a:r>
              <a:rPr lang="en-US" dirty="0" smtClean="0"/>
              <a:t>Product differentiation and brand loyalty.</a:t>
            </a:r>
          </a:p>
          <a:p>
            <a:pPr algn="just"/>
            <a:r>
              <a:rPr lang="en-US" dirty="0" smtClean="0"/>
              <a:t>Example: Online textbook markets empower customers.</a:t>
            </a:r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Barganing</a:t>
            </a:r>
            <a:r>
              <a:rPr lang="en-US" dirty="0" smtClean="0"/>
              <a:t> power of Suppliers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Good supplier relations are critical for business success.</a:t>
            </a:r>
          </a:p>
          <a:p>
            <a:pPr algn="just"/>
            <a:r>
              <a:rPr lang="en-US" dirty="0" smtClean="0"/>
              <a:t>Supplier power impacts profitability:</a:t>
            </a:r>
          </a:p>
          <a:p>
            <a:pPr lvl="1" algn="just"/>
            <a:r>
              <a:rPr lang="en-US" dirty="0" smtClean="0"/>
              <a:t>Higher supplier power reduces margins.</a:t>
            </a:r>
          </a:p>
          <a:p>
            <a:pPr lvl="1" algn="just"/>
            <a:r>
              <a:rPr lang="en-US" dirty="0" smtClean="0"/>
              <a:t>Control increases with diverse supplier options.</a:t>
            </a:r>
          </a:p>
          <a:p>
            <a:pPr algn="just"/>
            <a:r>
              <a:rPr lang="en-US" dirty="0" smtClean="0"/>
              <a:t>Example: Laptop manufacturers leveraging multiple component suppliers.</a:t>
            </a: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Implications of Porter’s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Helps firms analyze their position in the industry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Guides </a:t>
            </a:r>
            <a:r>
              <a:rPr lang="en-US" dirty="0" smtClean="0"/>
              <a:t>strategies to</a:t>
            </a:r>
            <a:r>
              <a:rPr lang="en-US" dirty="0" smtClean="0"/>
              <a:t>:</a:t>
            </a:r>
          </a:p>
          <a:p>
            <a:pPr lvl="1" algn="just"/>
            <a:r>
              <a:rPr lang="en-US" dirty="0" smtClean="0"/>
              <a:t>Enhance </a:t>
            </a:r>
            <a:r>
              <a:rPr lang="en-US" dirty="0" smtClean="0"/>
              <a:t>competitive advantage.</a:t>
            </a:r>
          </a:p>
          <a:p>
            <a:pPr lvl="1" algn="just"/>
            <a:r>
              <a:rPr lang="en-US" dirty="0" smtClean="0"/>
              <a:t>Manage external forces effectively.</a:t>
            </a:r>
          </a:p>
          <a:p>
            <a:pPr algn="just"/>
            <a:r>
              <a:rPr lang="en-US" dirty="0" smtClean="0"/>
              <a:t>Emphasis on innovation, efficiency, and relationship management.</a:t>
            </a:r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Information System Strategies for Dealing with Competitive Forces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n-US" b="1" dirty="0" smtClean="0"/>
              <a:t>Overview of </a:t>
            </a:r>
            <a:r>
              <a:rPr lang="en-US" b="1" dirty="0" smtClean="0"/>
              <a:t>Strategies</a:t>
            </a:r>
          </a:p>
          <a:p>
            <a:pPr algn="just"/>
            <a:r>
              <a:rPr lang="en-US" dirty="0" smtClean="0"/>
              <a:t>Firms can counter competitive forces using information systems</a:t>
            </a:r>
            <a:r>
              <a:rPr lang="en-US" dirty="0" smtClean="0"/>
              <a:t>.</a:t>
            </a:r>
          </a:p>
          <a:p>
            <a:pPr algn="just">
              <a:buNone/>
            </a:pPr>
            <a:r>
              <a:rPr lang="en-US" b="1" dirty="0" smtClean="0"/>
              <a:t>Four </a:t>
            </a:r>
            <a:r>
              <a:rPr lang="en-US" b="1" dirty="0" smtClean="0"/>
              <a:t>generic strategies</a:t>
            </a:r>
            <a:r>
              <a:rPr lang="en-US" b="1" dirty="0" smtClean="0"/>
              <a:t>:</a:t>
            </a:r>
          </a:p>
          <a:p>
            <a:pPr algn="just"/>
            <a:r>
              <a:rPr lang="en-US" dirty="0" smtClean="0"/>
              <a:t>Low-cost </a:t>
            </a:r>
            <a:r>
              <a:rPr lang="en-US" dirty="0" smtClean="0"/>
              <a:t>leadership.</a:t>
            </a:r>
          </a:p>
          <a:p>
            <a:pPr algn="just"/>
            <a:r>
              <a:rPr lang="en-US" dirty="0" smtClean="0"/>
              <a:t>Product differentiation.</a:t>
            </a:r>
          </a:p>
          <a:p>
            <a:pPr algn="just"/>
            <a:r>
              <a:rPr lang="en-US" dirty="0" smtClean="0"/>
              <a:t>Focus on market niche.</a:t>
            </a:r>
          </a:p>
          <a:p>
            <a:pPr algn="just"/>
            <a:r>
              <a:rPr lang="en-US" dirty="0" smtClean="0"/>
              <a:t>Strengthening customer and supplier intimacy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Low-Cost Leadership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 smtClean="0"/>
              <a:t>Reduce operational costs and offer lowest prices</a:t>
            </a:r>
            <a:r>
              <a:rPr lang="en-US" dirty="0" smtClean="0"/>
              <a:t>.</a:t>
            </a:r>
          </a:p>
          <a:p>
            <a:pPr algn="just"/>
            <a:r>
              <a:rPr lang="en-US" b="1" dirty="0" smtClean="0"/>
              <a:t>Strategies</a:t>
            </a:r>
            <a:r>
              <a:rPr lang="en-US" dirty="0" smtClean="0"/>
              <a:t>: Automating </a:t>
            </a:r>
            <a:r>
              <a:rPr lang="en-US" dirty="0" smtClean="0"/>
              <a:t>inventory management and replenishment.</a:t>
            </a:r>
          </a:p>
          <a:p>
            <a:pPr algn="just"/>
            <a:r>
              <a:rPr lang="en-US" dirty="0" smtClean="0"/>
              <a:t>Example: </a:t>
            </a:r>
            <a:r>
              <a:rPr lang="en-US" b="1" dirty="0" smtClean="0"/>
              <a:t>Big Bazaar</a:t>
            </a:r>
            <a:r>
              <a:rPr lang="en-US" dirty="0" smtClean="0"/>
              <a:t>: Continuous replenishment systems for real-time restocking.</a:t>
            </a:r>
          </a:p>
          <a:p>
            <a:pPr algn="just"/>
            <a:r>
              <a:rPr lang="en-US" dirty="0" smtClean="0"/>
              <a:t>Reduced inventory holding costs and improved responsiveness to demand.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Product Differentiation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 smtClean="0"/>
              <a:t>Enable unique products or enhance customer experience</a:t>
            </a:r>
            <a:r>
              <a:rPr lang="en-US" dirty="0" smtClean="0"/>
              <a:t>.</a:t>
            </a:r>
          </a:p>
          <a:p>
            <a:pPr algn="just"/>
            <a:endParaRPr lang="en-US" dirty="0" smtClean="0"/>
          </a:p>
          <a:p>
            <a:pPr algn="just">
              <a:buNone/>
            </a:pPr>
            <a:r>
              <a:rPr lang="en-US" dirty="0" smtClean="0"/>
              <a:t>Strategies:</a:t>
            </a:r>
          </a:p>
          <a:p>
            <a:pPr algn="just"/>
            <a:r>
              <a:rPr lang="en-US" dirty="0" smtClean="0"/>
              <a:t>Introduce </a:t>
            </a:r>
            <a:r>
              <a:rPr lang="en-US" dirty="0" smtClean="0"/>
              <a:t>innovative services (e.g., </a:t>
            </a:r>
            <a:r>
              <a:rPr lang="en-US" b="1" dirty="0" smtClean="0"/>
              <a:t>Google Maps</a:t>
            </a:r>
            <a:r>
              <a:rPr lang="en-US" dirty="0" smtClean="0"/>
              <a:t>).</a:t>
            </a:r>
          </a:p>
          <a:p>
            <a:pPr algn="just"/>
            <a:r>
              <a:rPr lang="en-US" dirty="0" smtClean="0"/>
              <a:t>Support mass customization (e.g., </a:t>
            </a:r>
            <a:r>
              <a:rPr lang="en-US" b="1" dirty="0" err="1" smtClean="0"/>
              <a:t>NIKEid</a:t>
            </a:r>
            <a:r>
              <a:rPr lang="en-US" dirty="0" smtClean="0"/>
              <a:t>: Personalized sneakers).</a:t>
            </a:r>
          </a:p>
          <a:p>
            <a:pPr algn="just"/>
            <a:r>
              <a:rPr lang="en-US" dirty="0" smtClean="0"/>
              <a:t>Use IT to integrate customer preferences into production</a:t>
            </a:r>
            <a:r>
              <a:rPr lang="en-US" dirty="0" smtClean="0"/>
              <a:t>.</a:t>
            </a:r>
          </a:p>
          <a:p>
            <a:pPr algn="just">
              <a:buNone/>
            </a:pPr>
            <a:endParaRPr lang="en-US" dirty="0" smtClean="0"/>
          </a:p>
          <a:p>
            <a:pPr algn="just"/>
            <a:r>
              <a:rPr lang="en-US" b="1" dirty="0" smtClean="0"/>
              <a:t>Benefits</a:t>
            </a:r>
            <a:r>
              <a:rPr lang="en-US" dirty="0" smtClean="0"/>
              <a:t>: Stand out in the market, cater to individual customer needs.</a:t>
            </a:r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Focus on Market Niche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 smtClean="0"/>
              <a:t>Target and serve narrow markets better than competitors</a:t>
            </a:r>
            <a:r>
              <a:rPr lang="en-US" dirty="0" smtClean="0"/>
              <a:t>.</a:t>
            </a:r>
          </a:p>
          <a:p>
            <a:pPr algn="just">
              <a:buNone/>
            </a:pPr>
            <a:endParaRPr lang="en-US" dirty="0" smtClean="0"/>
          </a:p>
          <a:p>
            <a:pPr algn="just">
              <a:buNone/>
            </a:pPr>
            <a:r>
              <a:rPr lang="en-US" dirty="0" smtClean="0"/>
              <a:t>Strategies:</a:t>
            </a:r>
          </a:p>
          <a:p>
            <a:pPr algn="just"/>
            <a:r>
              <a:rPr lang="en-US" dirty="0" smtClean="0"/>
              <a:t>Analyze </a:t>
            </a:r>
            <a:r>
              <a:rPr lang="en-US" dirty="0" smtClean="0"/>
              <a:t>customer data to tailor marketing efforts.</a:t>
            </a:r>
          </a:p>
          <a:p>
            <a:pPr algn="just"/>
            <a:r>
              <a:rPr lang="en-US" dirty="0" smtClean="0"/>
              <a:t>Use advanced tools to identify buying patterns and preferences.</a:t>
            </a:r>
          </a:p>
          <a:p>
            <a:pPr algn="just"/>
            <a:r>
              <a:rPr lang="en-US" dirty="0" smtClean="0"/>
              <a:t>Example: </a:t>
            </a:r>
            <a:r>
              <a:rPr lang="en-US" b="1" dirty="0" smtClean="0"/>
              <a:t>Hilton Hotels </a:t>
            </a:r>
            <a:r>
              <a:rPr lang="en-US" b="1" dirty="0" err="1" smtClean="0"/>
              <a:t>OnQ</a:t>
            </a:r>
            <a:r>
              <a:rPr lang="en-US" b="1" dirty="0" smtClean="0"/>
              <a:t> System</a:t>
            </a:r>
            <a:r>
              <a:rPr lang="en-US" dirty="0" smtClean="0"/>
              <a:t>: Personalized services for profitable guests</a:t>
            </a:r>
            <a:r>
              <a:rPr lang="en-US" dirty="0" smtClean="0"/>
              <a:t>.</a:t>
            </a:r>
          </a:p>
          <a:p>
            <a:pPr algn="just">
              <a:buNone/>
            </a:pPr>
            <a:endParaRPr lang="en-US" dirty="0" smtClean="0"/>
          </a:p>
          <a:p>
            <a:pPr algn="just"/>
            <a:r>
              <a:rPr lang="en-US" dirty="0" smtClean="0"/>
              <a:t>Benefits: Enhanced customer loyalty, higher market efficiency.</a:t>
            </a:r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Strengthening Customer and Supplier Intimacy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dirty="0" smtClean="0"/>
              <a:t>Build strong relationships with suppliers and customers</a:t>
            </a:r>
            <a:r>
              <a:rPr lang="en-US" dirty="0" smtClean="0"/>
              <a:t>.</a:t>
            </a:r>
          </a:p>
          <a:p>
            <a:pPr algn="just"/>
            <a:endParaRPr lang="en-US" dirty="0" smtClean="0"/>
          </a:p>
          <a:p>
            <a:pPr algn="just">
              <a:buNone/>
            </a:pPr>
            <a:r>
              <a:rPr lang="en-US" b="1" dirty="0" smtClean="0"/>
              <a:t>Strategies</a:t>
            </a:r>
            <a:r>
              <a:rPr lang="en-US" dirty="0" smtClean="0"/>
              <a:t>:</a:t>
            </a:r>
          </a:p>
          <a:p>
            <a:pPr algn="just"/>
            <a:r>
              <a:rPr lang="en-US" dirty="0" smtClean="0"/>
              <a:t>Direct </a:t>
            </a:r>
            <a:r>
              <a:rPr lang="en-US" dirty="0" smtClean="0"/>
              <a:t>supplier access to production schedules (e.g., </a:t>
            </a:r>
            <a:r>
              <a:rPr lang="en-US" b="1" dirty="0" smtClean="0"/>
              <a:t>Tata Motors</a:t>
            </a:r>
            <a:r>
              <a:rPr lang="en-US" dirty="0" smtClean="0"/>
              <a:t>).</a:t>
            </a:r>
          </a:p>
          <a:p>
            <a:pPr algn="just"/>
            <a:r>
              <a:rPr lang="en-US" dirty="0" smtClean="0"/>
              <a:t>Personalized customer recommendations (e.g., </a:t>
            </a:r>
            <a:r>
              <a:rPr lang="en-US" b="1" dirty="0" smtClean="0"/>
              <a:t>Amazon</a:t>
            </a:r>
            <a:r>
              <a:rPr lang="en-US" dirty="0" smtClean="0"/>
              <a:t>).</a:t>
            </a:r>
          </a:p>
          <a:p>
            <a:pPr algn="just">
              <a:buNone/>
            </a:pPr>
            <a:endParaRPr lang="en-US" dirty="0" smtClean="0"/>
          </a:p>
          <a:p>
            <a:pPr algn="just">
              <a:buNone/>
            </a:pPr>
            <a:r>
              <a:rPr lang="en-US" b="1" dirty="0" smtClean="0"/>
              <a:t>Benefits</a:t>
            </a:r>
            <a:r>
              <a:rPr lang="en-US" dirty="0" smtClean="0"/>
              <a:t>: </a:t>
            </a:r>
          </a:p>
          <a:p>
            <a:pPr algn="just"/>
            <a:r>
              <a:rPr lang="en-US" dirty="0" smtClean="0"/>
              <a:t>Increased </a:t>
            </a:r>
            <a:r>
              <a:rPr lang="en-US" dirty="0" smtClean="0"/>
              <a:t>switching costs for customers.</a:t>
            </a:r>
          </a:p>
          <a:p>
            <a:pPr algn="just"/>
            <a:r>
              <a:rPr lang="en-US" dirty="0" smtClean="0"/>
              <a:t>Improved supplier reliability and lead time.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Value Chain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buNone/>
            </a:pPr>
            <a:r>
              <a:rPr lang="en-US" b="1" dirty="0" smtClean="0"/>
              <a:t>Introduction to the Business Value Chain Model</a:t>
            </a:r>
          </a:p>
          <a:p>
            <a:pPr algn="just"/>
            <a:r>
              <a:rPr lang="en-US" b="1" dirty="0" smtClean="0"/>
              <a:t>Purpose</a:t>
            </a:r>
            <a:r>
              <a:rPr lang="en-US" dirty="0" smtClean="0"/>
              <a:t>: Highlights specific activities where competitive strategies can be applied effectively.</a:t>
            </a:r>
          </a:p>
          <a:p>
            <a:pPr algn="just"/>
            <a:r>
              <a:rPr lang="en-US" b="1" dirty="0" smtClean="0"/>
              <a:t>Goal</a:t>
            </a:r>
            <a:r>
              <a:rPr lang="en-US" dirty="0" smtClean="0"/>
              <a:t>: Create value by tailoring products/services to meet customer needs.</a:t>
            </a:r>
          </a:p>
          <a:p>
            <a:pPr algn="just"/>
            <a:r>
              <a:rPr lang="en-US" b="1" dirty="0" smtClean="0"/>
              <a:t>Porter’s Value Chain</a:t>
            </a:r>
            <a:r>
              <a:rPr lang="en-US" dirty="0" smtClean="0"/>
              <a:t>:</a:t>
            </a:r>
          </a:p>
          <a:p>
            <a:pPr lvl="1" algn="just"/>
            <a:r>
              <a:rPr lang="en-US" dirty="0" smtClean="0"/>
              <a:t>Introduced in 1985.</a:t>
            </a:r>
          </a:p>
          <a:p>
            <a:pPr lvl="1" algn="just"/>
            <a:r>
              <a:rPr lang="en-US" dirty="0" smtClean="0"/>
              <a:t>Analyzes activities for sources of </a:t>
            </a:r>
            <a:r>
              <a:rPr lang="en-US" b="1" dirty="0" smtClean="0"/>
              <a:t>sustainable competitive advantage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2" descr="Porter's Value Chain Analysi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4314" y="381000"/>
            <a:ext cx="8418686" cy="43434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1905000" y="5562600"/>
            <a:ext cx="48349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Fig: A Value Chain Model</a:t>
            </a:r>
            <a:endParaRPr lang="en-US" sz="3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Key Components of the Value Chain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 smtClean="0"/>
              <a:t>Primary Activities</a:t>
            </a:r>
            <a:r>
              <a:rPr lang="en-US" dirty="0" smtClean="0"/>
              <a:t>: Directly related to production and delivery of products/services.</a:t>
            </a:r>
          </a:p>
          <a:p>
            <a:pPr algn="just"/>
            <a:r>
              <a:rPr lang="en-US" b="1" dirty="0" smtClean="0"/>
              <a:t>Support Activities</a:t>
            </a:r>
            <a:r>
              <a:rPr lang="en-US" dirty="0" smtClean="0"/>
              <a:t>: Enable primary activities and improve efficiency.</a:t>
            </a:r>
          </a:p>
          <a:p>
            <a:pPr algn="just"/>
            <a:r>
              <a:rPr lang="en-US" b="1" dirty="0" smtClean="0"/>
              <a:t>Outcome</a:t>
            </a:r>
            <a:r>
              <a:rPr lang="en-US" dirty="0" smtClean="0"/>
              <a:t>: Adds value exceeding the cost of activities to achieve a </a:t>
            </a:r>
            <a:r>
              <a:rPr lang="en-US" b="1" dirty="0" smtClean="0"/>
              <a:t>marginal value gain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Primary Activities in the Value Chain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>
              <a:buNone/>
            </a:pPr>
            <a:r>
              <a:rPr lang="en-US" b="1" dirty="0" smtClean="0"/>
              <a:t>Inbound Logistics</a:t>
            </a:r>
            <a:r>
              <a:rPr lang="en-US" dirty="0" smtClean="0"/>
              <a:t>: Receiving</a:t>
            </a:r>
            <a:r>
              <a:rPr lang="en-US" dirty="0" smtClean="0"/>
              <a:t>, storing, and managing raw materials.</a:t>
            </a:r>
          </a:p>
          <a:p>
            <a:pPr algn="just"/>
            <a:r>
              <a:rPr lang="en-US" dirty="0" smtClean="0"/>
              <a:t>Example: Efficient inventory systems</a:t>
            </a:r>
            <a:r>
              <a:rPr lang="en-US" dirty="0" smtClean="0"/>
              <a:t>.</a:t>
            </a:r>
          </a:p>
          <a:p>
            <a:pPr algn="just">
              <a:buNone/>
            </a:pPr>
            <a:endParaRPr lang="en-US" dirty="0" smtClean="0"/>
          </a:p>
          <a:p>
            <a:pPr algn="just">
              <a:buNone/>
            </a:pPr>
            <a:r>
              <a:rPr lang="en-US" b="1" dirty="0" smtClean="0"/>
              <a:t>Operations</a:t>
            </a:r>
            <a:r>
              <a:rPr lang="en-US" dirty="0" smtClean="0"/>
              <a:t>: Converting </a:t>
            </a:r>
            <a:r>
              <a:rPr lang="en-US" dirty="0" smtClean="0"/>
              <a:t>inputs into finished goods/services.</a:t>
            </a:r>
          </a:p>
          <a:p>
            <a:pPr algn="just"/>
            <a:r>
              <a:rPr lang="en-US" dirty="0" smtClean="0"/>
              <a:t>Example: Streamlined manufacturing processes</a:t>
            </a:r>
            <a:r>
              <a:rPr lang="en-US" dirty="0" smtClean="0"/>
              <a:t>.</a:t>
            </a:r>
          </a:p>
          <a:p>
            <a:pPr algn="just">
              <a:buNone/>
            </a:pPr>
            <a:endParaRPr lang="en-US" dirty="0" smtClean="0"/>
          </a:p>
          <a:p>
            <a:pPr algn="just">
              <a:buNone/>
            </a:pPr>
            <a:r>
              <a:rPr lang="en-US" b="1" dirty="0" smtClean="0"/>
              <a:t>Outbound Logistics</a:t>
            </a:r>
            <a:r>
              <a:rPr lang="en-US" dirty="0" smtClean="0"/>
              <a:t>: Warehousing </a:t>
            </a:r>
            <a:r>
              <a:rPr lang="en-US" dirty="0" smtClean="0"/>
              <a:t>and distributing finished products.</a:t>
            </a:r>
          </a:p>
          <a:p>
            <a:pPr algn="just"/>
            <a:r>
              <a:rPr lang="en-US" dirty="0" smtClean="0"/>
              <a:t>Example: Advanced distribution networks.</a:t>
            </a:r>
          </a:p>
          <a:p>
            <a:pPr algn="just"/>
            <a:endParaRPr lang="en-US" dirty="0" smtClean="0"/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Primary Activities in the Value Chain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endParaRPr lang="en-US" b="1" dirty="0" smtClean="0"/>
          </a:p>
          <a:p>
            <a:pPr algn="just">
              <a:buNone/>
            </a:pPr>
            <a:r>
              <a:rPr lang="en-US" b="1" dirty="0" smtClean="0"/>
              <a:t>Sales </a:t>
            </a:r>
            <a:r>
              <a:rPr lang="en-US" b="1" dirty="0" smtClean="0"/>
              <a:t>and Marketing</a:t>
            </a:r>
            <a:r>
              <a:rPr lang="en-US" dirty="0" smtClean="0"/>
              <a:t>: Promoting </a:t>
            </a:r>
            <a:r>
              <a:rPr lang="en-US" dirty="0" smtClean="0"/>
              <a:t>and selling products.</a:t>
            </a:r>
          </a:p>
          <a:p>
            <a:pPr algn="just"/>
            <a:r>
              <a:rPr lang="en-US" dirty="0" smtClean="0"/>
              <a:t>Example: Targeted advertising campaigns.</a:t>
            </a:r>
          </a:p>
          <a:p>
            <a:pPr algn="just">
              <a:buNone/>
            </a:pPr>
            <a:endParaRPr lang="en-US" b="1" dirty="0" smtClean="0"/>
          </a:p>
          <a:p>
            <a:pPr algn="just">
              <a:buNone/>
            </a:pPr>
            <a:r>
              <a:rPr lang="en-US" b="1" dirty="0" smtClean="0"/>
              <a:t>Service</a:t>
            </a:r>
            <a:r>
              <a:rPr lang="en-US" dirty="0" smtClean="0"/>
              <a:t>: Post-sale </a:t>
            </a:r>
            <a:r>
              <a:rPr lang="en-US" dirty="0" smtClean="0"/>
              <a:t>support, maintenance, and repair.</a:t>
            </a:r>
          </a:p>
          <a:p>
            <a:pPr algn="just"/>
            <a:r>
              <a:rPr lang="en-US" dirty="0" smtClean="0"/>
              <a:t>Example: Comprehensive warranty services.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Support Activities in the Value Chain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buNone/>
            </a:pPr>
            <a:endParaRPr lang="en-US" b="1" dirty="0" smtClean="0"/>
          </a:p>
          <a:p>
            <a:pPr algn="just">
              <a:buNone/>
            </a:pPr>
            <a:r>
              <a:rPr lang="en-US" b="1" dirty="0" smtClean="0"/>
              <a:t>Firm </a:t>
            </a:r>
            <a:r>
              <a:rPr lang="en-US" b="1" dirty="0" smtClean="0"/>
              <a:t>Infrastructure</a:t>
            </a:r>
            <a:r>
              <a:rPr lang="en-US" dirty="0" smtClean="0"/>
              <a:t>: Includes </a:t>
            </a:r>
            <a:r>
              <a:rPr lang="en-US" dirty="0" smtClean="0"/>
              <a:t>general management, finance, and planning.</a:t>
            </a:r>
          </a:p>
          <a:p>
            <a:pPr algn="just"/>
            <a:r>
              <a:rPr lang="en-US" dirty="0" smtClean="0"/>
              <a:t>Example: Effective leadership and resource allocation.</a:t>
            </a:r>
          </a:p>
          <a:p>
            <a:pPr algn="just">
              <a:buNone/>
            </a:pPr>
            <a:endParaRPr lang="en-US" b="1" dirty="0" smtClean="0"/>
          </a:p>
          <a:p>
            <a:pPr algn="just">
              <a:buNone/>
            </a:pPr>
            <a:r>
              <a:rPr lang="en-US" b="1" dirty="0" smtClean="0"/>
              <a:t>Human </a:t>
            </a:r>
            <a:r>
              <a:rPr lang="en-US" b="1" dirty="0" smtClean="0"/>
              <a:t>Resource Management</a:t>
            </a:r>
            <a:r>
              <a:rPr lang="en-US" dirty="0" smtClean="0"/>
              <a:t>: Hiring</a:t>
            </a:r>
            <a:r>
              <a:rPr lang="en-US" dirty="0" smtClean="0"/>
              <a:t>, training, and retaining skilled employees.</a:t>
            </a:r>
          </a:p>
          <a:p>
            <a:pPr algn="just"/>
            <a:r>
              <a:rPr lang="en-US" dirty="0" smtClean="0"/>
              <a:t>Example: Employee development programs.</a:t>
            </a:r>
          </a:p>
          <a:p>
            <a:pPr algn="just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Support Activities in the Value Chain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buNone/>
            </a:pPr>
            <a:endParaRPr lang="en-US" b="1" dirty="0" smtClean="0"/>
          </a:p>
          <a:p>
            <a:pPr algn="just">
              <a:buNone/>
            </a:pPr>
            <a:r>
              <a:rPr lang="en-US" b="1" dirty="0" smtClean="0"/>
              <a:t>Technology </a:t>
            </a:r>
            <a:r>
              <a:rPr lang="en-US" b="1" dirty="0" smtClean="0"/>
              <a:t>Development</a:t>
            </a:r>
            <a:r>
              <a:rPr lang="en-US" dirty="0" smtClean="0"/>
              <a:t>: Research </a:t>
            </a:r>
            <a:r>
              <a:rPr lang="en-US" dirty="0" smtClean="0"/>
              <a:t>and innovation for better products/processes.</a:t>
            </a:r>
          </a:p>
          <a:p>
            <a:pPr algn="just"/>
            <a:r>
              <a:rPr lang="en-US" dirty="0" smtClean="0"/>
              <a:t>Example: Investment in cutting-edge tech</a:t>
            </a:r>
            <a:r>
              <a:rPr lang="en-US" dirty="0" smtClean="0"/>
              <a:t>.</a:t>
            </a:r>
          </a:p>
          <a:p>
            <a:pPr algn="just">
              <a:buNone/>
            </a:pPr>
            <a:endParaRPr lang="en-US" b="1" dirty="0" smtClean="0"/>
          </a:p>
          <a:p>
            <a:pPr algn="just">
              <a:buNone/>
            </a:pPr>
            <a:r>
              <a:rPr lang="en-US" b="1" dirty="0" smtClean="0"/>
              <a:t>Procurement</a:t>
            </a:r>
            <a:r>
              <a:rPr lang="en-US" dirty="0" smtClean="0"/>
              <a:t>: Sourcing </a:t>
            </a:r>
            <a:r>
              <a:rPr lang="en-US" dirty="0" smtClean="0"/>
              <a:t>quality inputs at competitive prices.</a:t>
            </a:r>
          </a:p>
          <a:p>
            <a:pPr algn="just"/>
            <a:r>
              <a:rPr lang="en-US" dirty="0" smtClean="0"/>
              <a:t>Example: Building strong supplier relationships.</a:t>
            </a:r>
          </a:p>
          <a:p>
            <a:pPr algn="just"/>
            <a:endParaRPr lang="en-US" dirty="0" smtClean="0"/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Value Addition through Information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 smtClean="0"/>
              <a:t>Key Leverage Points for IT</a:t>
            </a:r>
            <a:r>
              <a:rPr lang="en-US" dirty="0" smtClean="0"/>
              <a:t>:</a:t>
            </a:r>
          </a:p>
          <a:p>
            <a:pPr lvl="1" algn="just"/>
            <a:r>
              <a:rPr lang="en-US" dirty="0" smtClean="0"/>
              <a:t>Automating logistics for faster delivery.</a:t>
            </a:r>
          </a:p>
          <a:p>
            <a:pPr lvl="1" algn="just"/>
            <a:r>
              <a:rPr lang="en-US" dirty="0" smtClean="0"/>
              <a:t>Data analytics for targeted marketing.</a:t>
            </a:r>
          </a:p>
          <a:p>
            <a:pPr lvl="1" algn="just"/>
            <a:r>
              <a:rPr lang="en-US" dirty="0" smtClean="0"/>
              <a:t>CRM systems for enhanced customer service.</a:t>
            </a:r>
          </a:p>
          <a:p>
            <a:pPr lvl="1" algn="just"/>
            <a:r>
              <a:rPr lang="en-US" dirty="0" smtClean="0"/>
              <a:t>ERP systems for seamless operations.</a:t>
            </a:r>
          </a:p>
          <a:p>
            <a:pPr algn="just"/>
            <a:r>
              <a:rPr lang="en-US" b="1" dirty="0" smtClean="0"/>
              <a:t>Strategic Impact</a:t>
            </a:r>
            <a:r>
              <a:rPr lang="en-US" dirty="0" smtClean="0"/>
              <a:t>: Enhances efficiency, reduces costs, and delivers superior value.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Value Addition through Information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b="1" dirty="0" smtClean="0"/>
              <a:t>Example: Integration of IT in the Value Chain</a:t>
            </a:r>
          </a:p>
          <a:p>
            <a:pPr algn="just"/>
            <a:r>
              <a:rPr lang="en-US" b="1" dirty="0" smtClean="0"/>
              <a:t>Amazon’s Value Chain</a:t>
            </a:r>
            <a:r>
              <a:rPr lang="en-US" dirty="0" smtClean="0"/>
              <a:t>:</a:t>
            </a:r>
          </a:p>
          <a:p>
            <a:pPr lvl="1" algn="just"/>
            <a:r>
              <a:rPr lang="en-US" b="1" dirty="0" smtClean="0"/>
              <a:t>Inbound Logistics</a:t>
            </a:r>
            <a:r>
              <a:rPr lang="en-US" dirty="0" smtClean="0"/>
              <a:t>: Automated inventory systems.</a:t>
            </a:r>
          </a:p>
          <a:p>
            <a:pPr lvl="1" algn="just"/>
            <a:r>
              <a:rPr lang="en-US" b="1" dirty="0" smtClean="0"/>
              <a:t>Operations</a:t>
            </a:r>
            <a:r>
              <a:rPr lang="en-US" dirty="0" smtClean="0"/>
              <a:t>: AI-driven warehouse management.</a:t>
            </a:r>
          </a:p>
          <a:p>
            <a:pPr lvl="1" algn="just"/>
            <a:r>
              <a:rPr lang="en-US" b="1" dirty="0" smtClean="0"/>
              <a:t>Outbound Logistics</a:t>
            </a:r>
            <a:r>
              <a:rPr lang="en-US" dirty="0" smtClean="0"/>
              <a:t>: Optimized delivery routes.</a:t>
            </a:r>
          </a:p>
          <a:p>
            <a:pPr lvl="1" algn="just"/>
            <a:r>
              <a:rPr lang="en-US" b="1" dirty="0" smtClean="0"/>
              <a:t>Sales and Marketing</a:t>
            </a:r>
            <a:r>
              <a:rPr lang="en-US" dirty="0" smtClean="0"/>
              <a:t>: Personalized recommendations using AI.</a:t>
            </a:r>
          </a:p>
          <a:p>
            <a:pPr lvl="1" algn="just"/>
            <a:r>
              <a:rPr lang="en-US" b="1" dirty="0" smtClean="0"/>
              <a:t>Service</a:t>
            </a:r>
            <a:r>
              <a:rPr lang="en-US" dirty="0" smtClean="0"/>
              <a:t>: 24/7 customer support and returns management.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Benefits of the Value Chain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Identifies critical activities for gaining competitive advantage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Highlights </a:t>
            </a:r>
            <a:r>
              <a:rPr lang="en-US" dirty="0" smtClean="0"/>
              <a:t>areas where IT can enhance performance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Helps </a:t>
            </a:r>
            <a:r>
              <a:rPr lang="en-US" dirty="0" smtClean="0"/>
              <a:t>in aligning activities with strategic goals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Improves </a:t>
            </a:r>
            <a:r>
              <a:rPr lang="en-US" dirty="0" smtClean="0"/>
              <a:t>customer satisfaction and overall profitability.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2656</Words>
  <Application>Microsoft Office PowerPoint</Application>
  <PresentationFormat>On-screen Show (4:3)</PresentationFormat>
  <Paragraphs>367</Paragraphs>
  <Slides>52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3" baseType="lpstr">
      <vt:lpstr>Office Theme</vt:lpstr>
      <vt:lpstr>Information System Management and Strategy</vt:lpstr>
      <vt:lpstr>Organization and Information System </vt:lpstr>
      <vt:lpstr>Organization and Information System </vt:lpstr>
      <vt:lpstr>Organization and Information System </vt:lpstr>
      <vt:lpstr>Organization and Information System </vt:lpstr>
      <vt:lpstr>Impact of Information Systems</vt:lpstr>
      <vt:lpstr>Impact of Information Systems</vt:lpstr>
      <vt:lpstr>Roles of information system in an organization </vt:lpstr>
      <vt:lpstr>Roles of information system in an organization </vt:lpstr>
      <vt:lpstr>Impact of Information System in an Organization and Business Firm </vt:lpstr>
      <vt:lpstr>Economic Impacts of Information Systems</vt:lpstr>
      <vt:lpstr>Economic Impacts of Information Systems</vt:lpstr>
      <vt:lpstr>Economic Impacts of Information Systems</vt:lpstr>
      <vt:lpstr>Economic Impacts of Information Systems</vt:lpstr>
      <vt:lpstr>Organizational and Behavioral Impact of Information Technology</vt:lpstr>
      <vt:lpstr>IT Flattens Organizations</vt:lpstr>
      <vt:lpstr>IT Flattens Organizations</vt:lpstr>
      <vt:lpstr>Postindustrial Organizations</vt:lpstr>
      <vt:lpstr>Postindustrial Organizations</vt:lpstr>
      <vt:lpstr>Understanding Organizational Resistance to Change</vt:lpstr>
      <vt:lpstr>Understanding Organizational Resistance to Change</vt:lpstr>
      <vt:lpstr>Slide 22</vt:lpstr>
      <vt:lpstr>The Internet and Organization</vt:lpstr>
      <vt:lpstr>The Internet and Organization</vt:lpstr>
      <vt:lpstr>The Internet and Organization</vt:lpstr>
      <vt:lpstr>Using Information System to achieve competitive advantage </vt:lpstr>
      <vt:lpstr>Industry Leaders Powered by Information Systems</vt:lpstr>
      <vt:lpstr>Key Success Factors for Competitive Advantage</vt:lpstr>
      <vt:lpstr>Michael Porter's Competitive Forces Model</vt:lpstr>
      <vt:lpstr>Slide 30</vt:lpstr>
      <vt:lpstr>Overview of Porter’s Competitive Forces Model</vt:lpstr>
      <vt:lpstr>Traditional Competitors/ Industry competition</vt:lpstr>
      <vt:lpstr>Threat of new entrants</vt:lpstr>
      <vt:lpstr>Substitute Products and Services/ Threat of substitutes</vt:lpstr>
      <vt:lpstr>Barganing power of Customers</vt:lpstr>
      <vt:lpstr>Barganing power of Suppliers</vt:lpstr>
      <vt:lpstr>Implications of Porter’s Model</vt:lpstr>
      <vt:lpstr>Information System Strategies for Dealing with Competitive Forces</vt:lpstr>
      <vt:lpstr>Low-Cost Leadership</vt:lpstr>
      <vt:lpstr>Product Differentiation</vt:lpstr>
      <vt:lpstr>Focus on Market Niche</vt:lpstr>
      <vt:lpstr>Strengthening Customer and Supplier Intimacy</vt:lpstr>
      <vt:lpstr>Business Value Chain Model</vt:lpstr>
      <vt:lpstr>Slide 44</vt:lpstr>
      <vt:lpstr>Key Components of the Value Chain</vt:lpstr>
      <vt:lpstr>Primary Activities in the Value Chain</vt:lpstr>
      <vt:lpstr>Primary Activities in the Value Chain</vt:lpstr>
      <vt:lpstr>Support Activities in the Value Chain</vt:lpstr>
      <vt:lpstr>Support Activities in the Value Chain</vt:lpstr>
      <vt:lpstr>Value Addition through Information Systems</vt:lpstr>
      <vt:lpstr>Value Addition through Information Systems</vt:lpstr>
      <vt:lpstr>Benefits of the Value Chain Model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System Management and Strategy</dc:title>
  <dc:creator>Bhola</dc:creator>
  <cp:lastModifiedBy>Bhola</cp:lastModifiedBy>
  <cp:revision>55</cp:revision>
  <dcterms:created xsi:type="dcterms:W3CDTF">2024-11-18T03:29:06Z</dcterms:created>
  <dcterms:modified xsi:type="dcterms:W3CDTF">2024-11-19T07:13:50Z</dcterms:modified>
</cp:coreProperties>
</file>