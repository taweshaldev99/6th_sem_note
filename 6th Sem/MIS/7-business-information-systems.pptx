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acd2f0852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acd2f085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acd2f08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acd2f08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acd2f085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acd2f08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acd2f085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acd2f085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acd2f085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acd2f08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acd2f085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acd2f085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acd2f085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acd2f085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acd2f085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acd2f085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cd2f085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cd2f085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acd2f085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acd2f085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acd2f085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acd2f085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acd2f085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acd2f085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acd2f085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acd2f085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acd2f085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acd2f085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acd2f085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acd2f085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acd2f085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acd2f085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acd2f085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acd2f085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acd2f085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acd2f085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acd2f085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acd2f085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acd2f085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2acd2f085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acd2f085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acd2f085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acd2f085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acd2f085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acd2f085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acd2f085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acd2f085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acd2f085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Information Systems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- 7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FIS (Functional Information System)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Manufacturing Information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Marketing Information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Finance and Accounting Information System (FAIS)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Information System (Intro)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Definition: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Functional Information System (FIS) is a system that supports specific functions within an organization by collecting, processing, storing, and distributing information.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Purpose: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Facilitate the efficient operation of business processes.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 decision-making at different functional levels.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Characteristics of FIS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Automation:</a:t>
            </a:r>
            <a:r>
              <a:rPr lang="en" sz="1500">
                <a:solidFill>
                  <a:schemeClr val="dk1"/>
                </a:solidFill>
              </a:rPr>
              <a:t> Automates routine tasks and business functions.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Integration:</a:t>
            </a:r>
            <a:r>
              <a:rPr lang="en" sz="1500">
                <a:solidFill>
                  <a:schemeClr val="dk1"/>
                </a:solidFill>
              </a:rPr>
              <a:t> Integrates with other systems (e.g., ERP, CRM).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Real-time Data Processing:</a:t>
            </a:r>
            <a:r>
              <a:rPr lang="en" sz="1500">
                <a:solidFill>
                  <a:schemeClr val="dk1"/>
                </a:solidFill>
              </a:rPr>
              <a:t> Provides up-to-date information to users.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User-friendly Interface:</a:t>
            </a:r>
            <a:r>
              <a:rPr lang="en" sz="1500">
                <a:solidFill>
                  <a:schemeClr val="dk1"/>
                </a:solidFill>
              </a:rPr>
              <a:t> Easy to interact with for various users across functions.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a Functional Information System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Data Collection:</a:t>
            </a:r>
            <a:r>
              <a:rPr lang="en" sz="1500">
                <a:solidFill>
                  <a:schemeClr val="dk1"/>
                </a:solidFill>
              </a:rPr>
              <a:t> Gathering data relevant to the functional area (e.g., sales, finance).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Data Processing:</a:t>
            </a:r>
            <a:r>
              <a:rPr lang="en" sz="1500">
                <a:solidFill>
                  <a:schemeClr val="dk1"/>
                </a:solidFill>
              </a:rPr>
              <a:t> Analyzing and processing the collected data for decision-making.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Information Storage:</a:t>
            </a:r>
            <a:r>
              <a:rPr lang="en" sz="1500">
                <a:solidFill>
                  <a:schemeClr val="dk1"/>
                </a:solidFill>
              </a:rPr>
              <a:t> Database systems for storing the data (e.g., relational databases).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Information Output:</a:t>
            </a:r>
            <a:r>
              <a:rPr lang="en" sz="1500">
                <a:solidFill>
                  <a:schemeClr val="dk1"/>
                </a:solidFill>
              </a:rPr>
              <a:t> Reports, dashboards, and alerts to inform decision-makers.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Functional Information Systems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Transaction Processing System (TPS):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Focuses on routine transactions like order processing, payroll, etc.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Management Information System (MIS):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Provides managers with reports for decision-making.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Decision Support System (DSS):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Supports complex decision-making with data models and analytical tools.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Enterprise Resource Planning (ERP):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Integrates core business processes like inventory, accounting, etc.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FIS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Sales and Marketing: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Helps in customer data management, tracking sales, and planning marketing strategies.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Finance and Accounting: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Automates accounting processes, financial reports, and budgeting.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Human Resources: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Manages payroll, recruitment, training, and performance reviews.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Supply Chain Management: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Optimizes logistics, inventory management, and supplier relationships.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r>
              <a:rPr lang="en"/>
              <a:t> and Challenges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6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Benefits of Functional Information Systems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Improved Efficiency:</a:t>
            </a:r>
            <a:r>
              <a:rPr lang="en" sz="1400">
                <a:solidFill>
                  <a:schemeClr val="dk1"/>
                </a:solidFill>
              </a:rPr>
              <a:t> Automates manual processes, saving time and resources.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Accurate Data:</a:t>
            </a:r>
            <a:r>
              <a:rPr lang="en" sz="1400">
                <a:solidFill>
                  <a:schemeClr val="dk1"/>
                </a:solidFill>
              </a:rPr>
              <a:t> Reduces errors through systematic data processing.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Better Decision-making:</a:t>
            </a:r>
            <a:r>
              <a:rPr lang="en" sz="1400">
                <a:solidFill>
                  <a:schemeClr val="dk1"/>
                </a:solidFill>
              </a:rPr>
              <a:t> Provides actionable insights to managers and decision-makers.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Cost Reduction:</a:t>
            </a:r>
            <a:r>
              <a:rPr lang="en" sz="1400">
                <a:solidFill>
                  <a:schemeClr val="dk1"/>
                </a:solidFill>
              </a:rPr>
              <a:t> Streamlines business operations, reducing operational costs.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Challenges in Implementing FIS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High Initial Costs:</a:t>
            </a:r>
            <a:r>
              <a:rPr lang="en" sz="1400">
                <a:solidFill>
                  <a:schemeClr val="dk1"/>
                </a:solidFill>
              </a:rPr>
              <a:t> Implementation can be expensive in terms of software, hardware, and training.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Data Security and Privacy:</a:t>
            </a:r>
            <a:r>
              <a:rPr lang="en" sz="1400">
                <a:solidFill>
                  <a:schemeClr val="dk1"/>
                </a:solidFill>
              </a:rPr>
              <a:t> Ensuring that sensitive information is protected.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Integration Issues:</a:t>
            </a:r>
            <a:r>
              <a:rPr lang="en" sz="1400">
                <a:solidFill>
                  <a:schemeClr val="dk1"/>
                </a:solidFill>
              </a:rPr>
              <a:t> Difficulties in integrating with existing systems.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User Adoption:</a:t>
            </a:r>
            <a:r>
              <a:rPr lang="en" sz="1400">
                <a:solidFill>
                  <a:schemeClr val="dk1"/>
                </a:solidFill>
              </a:rPr>
              <a:t> Employees may resist changes or require extensive training.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Manufacturing Information System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Manufacturing Information System (MIS) supports the manufacturing functions like purchasing, receiving, quality control, inventory management, material requirements planning, capacity planning, production scheduling, and plant design.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Applicable in both manufacturing and service environments.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Difference Between Manufacturing and Production Systems</a:t>
            </a:r>
            <a:endParaRPr sz="2420"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Manufacturing Information System: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Covers all activities related to manufacturing and services.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Involves managing raw materials, scheduling, capacity planning, etc.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Production System (Subset of MIS):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Specifically addresses production-related activities.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Focuses on acquiring and managing raw materials, scheduling equipment, manpower planning, and maintenance.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Manufacturing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Agile manufacturing refers to a dynamic and flexible environment capable of producing customized goods and services in varying quantities.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It allows for a seamless switch in manufacturing processes.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Key Characteristics: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Ability to accept constant change.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Recognition that people are the organization's main assets.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Use of telecommunication to create virtual company networks.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Focus on creating products and services with real added value.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Manufacturing and Its Impact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Impact on Industries: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Agile manufacturing is transforming industries worldwide by making organizations more responsive to changes.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It allows companies to better integrate their information systems, enhancing flexibility and efficiency in production.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Manufacturing Information System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Cost Reduction: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Helps reduce manufacturing costs by streamlining processes and improving resource utilization.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Reduced Cycle-Time: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Speeds up production processes, enabling quicker time-to-market.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Strategic Goal Achievement: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Supports organizations in achieving strategic goals through optimized production and operational processes.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Operational and Inventory Cost Reduction: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Helps reduce operational costs and maintain optimal inventory levels.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Manufacturing Information System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Purchasing &amp; Receiving:</a:t>
            </a:r>
            <a:r>
              <a:rPr lang="en" sz="1700">
                <a:solidFill>
                  <a:schemeClr val="dk1"/>
                </a:solidFill>
              </a:rPr>
              <a:t> Streamlined process for acquiring materials and products.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Quality Control:</a:t>
            </a:r>
            <a:r>
              <a:rPr lang="en" sz="1700">
                <a:solidFill>
                  <a:schemeClr val="dk1"/>
                </a:solidFill>
              </a:rPr>
              <a:t> Ensures products meet standards and specifications.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Material Requirements Planning (MRP):</a:t>
            </a:r>
            <a:r>
              <a:rPr lang="en" sz="1700">
                <a:solidFill>
                  <a:schemeClr val="dk1"/>
                </a:solidFill>
              </a:rPr>
              <a:t> Efficient management of materials for production.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Production Scheduling:</a:t>
            </a:r>
            <a:r>
              <a:rPr lang="en" sz="1700">
                <a:solidFill>
                  <a:schemeClr val="dk1"/>
                </a:solidFill>
              </a:rPr>
              <a:t> Organizes and optimizes production timelines.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Capacity Planning:</a:t>
            </a:r>
            <a:r>
              <a:rPr lang="en" sz="1700">
                <a:solidFill>
                  <a:schemeClr val="dk1"/>
                </a:solidFill>
              </a:rPr>
              <a:t> Balances production capacity with demand.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Plant Design:</a:t>
            </a:r>
            <a:r>
              <a:rPr lang="en" sz="1700">
                <a:solidFill>
                  <a:schemeClr val="dk1"/>
                </a:solidFill>
              </a:rPr>
              <a:t> Optimizes factory layout and resource allocation.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Information System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375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45">
                <a:solidFill>
                  <a:schemeClr val="dk1"/>
                </a:solidFill>
              </a:rPr>
              <a:t>A Marketing Information System (MIS) provides organizations with the necessary information for effective decision-making in sales, distribution, advertising, market analysis, product research, and service management.</a:t>
            </a:r>
            <a:endParaRPr sz="2145">
              <a:solidFill>
                <a:schemeClr val="dk1"/>
              </a:solidFill>
            </a:endParaRPr>
          </a:p>
          <a:p>
            <a:pPr indent="-31375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45">
                <a:solidFill>
                  <a:schemeClr val="dk1"/>
                </a:solidFill>
              </a:rPr>
              <a:t>It is primarily </a:t>
            </a:r>
            <a:r>
              <a:rPr b="1" lang="en" sz="2145">
                <a:solidFill>
                  <a:schemeClr val="dk1"/>
                </a:solidFill>
              </a:rPr>
              <a:t>customer-oriented</a:t>
            </a:r>
            <a:r>
              <a:rPr lang="en" sz="2145">
                <a:solidFill>
                  <a:schemeClr val="dk1"/>
                </a:solidFill>
              </a:rPr>
              <a:t> and aligns with the organization's marketing and strategic sales plans.</a:t>
            </a:r>
            <a:endParaRPr sz="214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9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388">
                <a:solidFill>
                  <a:schemeClr val="dk1"/>
                </a:solidFill>
              </a:rPr>
              <a:t>Dedicated Marketing Information System</a:t>
            </a:r>
            <a:endParaRPr b="1" sz="2388">
              <a:solidFill>
                <a:schemeClr val="dk1"/>
              </a:solidFill>
            </a:endParaRPr>
          </a:p>
          <a:p>
            <a:pPr indent="-315461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88">
                <a:solidFill>
                  <a:schemeClr val="dk1"/>
                </a:solidFill>
              </a:rPr>
              <a:t>A </a:t>
            </a:r>
            <a:r>
              <a:rPr b="1" lang="en" sz="2188">
                <a:solidFill>
                  <a:schemeClr val="dk1"/>
                </a:solidFill>
              </a:rPr>
              <a:t>Dedicated Marketing Information System</a:t>
            </a:r>
            <a:r>
              <a:rPr lang="en" sz="2188">
                <a:solidFill>
                  <a:schemeClr val="dk1"/>
                </a:solidFill>
              </a:rPr>
              <a:t> is tailored exclusively to the marketing functions of an organization.</a:t>
            </a:r>
            <a:endParaRPr sz="2188">
              <a:solidFill>
                <a:schemeClr val="dk1"/>
              </a:solidFill>
            </a:endParaRPr>
          </a:p>
          <a:p>
            <a:pPr indent="-31546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88">
                <a:solidFill>
                  <a:schemeClr val="dk1"/>
                </a:solidFill>
              </a:rPr>
              <a:t>It focuses on providing insights that aid in the realization of marketing goals.</a:t>
            </a:r>
            <a:endParaRPr b="1" sz="2188">
              <a:solidFill>
                <a:schemeClr val="dk1"/>
              </a:solidFill>
            </a:endParaRPr>
          </a:p>
          <a:p>
            <a:pPr indent="-3036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6376"/>
              <a:buChar char="○"/>
            </a:pPr>
            <a:r>
              <a:rPr lang="en" sz="2188">
                <a:solidFill>
                  <a:schemeClr val="dk1"/>
                </a:solidFill>
              </a:rPr>
              <a:t>Unlike other functional systems, marketing systems are not standardized and must be customized according to each company’s marketi</a:t>
            </a:r>
            <a:r>
              <a:rPr lang="en" sz="2210">
                <a:solidFill>
                  <a:schemeClr val="dk1"/>
                </a:solidFill>
              </a:rPr>
              <a:t>ng policies, procedures, and practices.</a:t>
            </a:r>
            <a:endParaRPr sz="221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Marketing Information System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Data Generation: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Regular collection of relevant marketing data (e.g., sales, customer preferences, market trends).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Data Analysis: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Techniques used to interpret and analyze the data to derive actionable insights.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Data Dissemination: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Sharing of analyzed data to stakeholders (e.g., marketing teams, sales departments).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Data Storage: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Efficient storage systems to keep all marketing-related information accessible for future use.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Marketing Information Systems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Operational Use: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Used for day-to-day marketing activities such as tracking customer orders, managing inventory, and handling sales promotions.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Managerial Use: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Supports decision-making at the management level, such as analyzing sales trends and customer feedback.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Strategic Use: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Used for long-term planning, such as identifying market opportunities, positioning strategies, and competitor analysis.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Marketing Information System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Competitive Advantage: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Provides organizations with up-to-date and relevant information, enabling them to make informed decisions in highly competitive markets.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Improved Customer Service: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Enhances the quality of customer service by providing detailed customer insights, improving responsiveness and satisfaction.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Operational Efficiency: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Ensures smooth and efficient marketing operations by streamlining processes like campaign management, lead tracking, and market research.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Marketing Information System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Sales and Distribution: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Manages and tracks sales performance, delivery schedules, and customer preferences.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Advertising: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Tracks the effectiveness of marketing campaigns and helps in targeting the right audience.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Market Analysis: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Provides insights into market trends, competitor behavior, and customer needs.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Product Research: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Supports the development of new products by collecting customer feedback and conducting market research.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Service Management: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Enhances the management of after-sales services and customer support.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and Accounting Information System (FAIS)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Finance and Accounting Information System (FAIS)</a:t>
            </a:r>
            <a:r>
              <a:rPr lang="en">
                <a:solidFill>
                  <a:schemeClr val="dk1"/>
                </a:solidFill>
              </a:rPr>
              <a:t> provides information related to accounting and financial activities in an organization.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 supports functions like budgeting, cash and asset management, payroll, general ledger, accounts receivable, and inventory control.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FAIS aids in decision-making by generating records and financial information vital for management.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Subsystems in FAIS</a:t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FAIS includes multiple subsystems that work together to manage financial data and support decision-making: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Budgeting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Cash &amp; Asset Management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Capital Budgeting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General Ledger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Accounts Receivable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Inventory Control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Payroll System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Record Keeping &amp; Financial Analysis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FAIS (for operational decision-making)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653025"/>
            <a:ext cx="8520600" cy="42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11">
                <a:solidFill>
                  <a:schemeClr val="dk1"/>
                </a:solidFill>
              </a:rPr>
              <a:t>1. General Ledger System</a:t>
            </a:r>
            <a:endParaRPr b="1" sz="1311">
              <a:solidFill>
                <a:schemeClr val="dk1"/>
              </a:solidFill>
            </a:endParaRPr>
          </a:p>
          <a:p>
            <a:pPr indent="-311905" lvl="1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12"/>
              <a:buChar char="○"/>
            </a:pPr>
            <a:r>
              <a:rPr lang="en" sz="1311">
                <a:solidFill>
                  <a:schemeClr val="dk1"/>
                </a:solidFill>
              </a:rPr>
              <a:t>Generates income statements and balance sheets.</a:t>
            </a:r>
            <a:endParaRPr sz="1311">
              <a:solidFill>
                <a:schemeClr val="dk1"/>
              </a:solidFill>
            </a:endParaRPr>
          </a:p>
          <a:p>
            <a:pPr indent="-31190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2"/>
              <a:buChar char="○"/>
            </a:pPr>
            <a:r>
              <a:rPr lang="en" sz="1311">
                <a:solidFill>
                  <a:schemeClr val="dk1"/>
                </a:solidFill>
              </a:rPr>
              <a:t>Manages both new and old accounts in the company.</a:t>
            </a:r>
            <a:endParaRPr sz="13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11">
                <a:solidFill>
                  <a:schemeClr val="dk1"/>
                </a:solidFill>
              </a:rPr>
              <a:t>2. Asset Management System</a:t>
            </a:r>
            <a:endParaRPr b="1" sz="1311">
              <a:solidFill>
                <a:schemeClr val="dk1"/>
              </a:solidFill>
            </a:endParaRPr>
          </a:p>
          <a:p>
            <a:pPr indent="-311905" lvl="1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12"/>
              <a:buChar char="○"/>
            </a:pPr>
            <a:r>
              <a:rPr lang="en" sz="1311">
                <a:solidFill>
                  <a:schemeClr val="dk1"/>
                </a:solidFill>
              </a:rPr>
              <a:t>Manages inventory of the company’s long-term assets.</a:t>
            </a:r>
            <a:endParaRPr sz="1311">
              <a:solidFill>
                <a:schemeClr val="dk1"/>
              </a:solidFill>
            </a:endParaRPr>
          </a:p>
          <a:p>
            <a:pPr indent="-31190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2"/>
              <a:buChar char="○"/>
            </a:pPr>
            <a:r>
              <a:rPr lang="en" sz="1311">
                <a:solidFill>
                  <a:schemeClr val="dk1"/>
                </a:solidFill>
              </a:rPr>
              <a:t>Outputs often feed into the general ledger system.</a:t>
            </a:r>
            <a:endParaRPr sz="13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11">
                <a:solidFill>
                  <a:schemeClr val="dk1"/>
                </a:solidFill>
              </a:rPr>
              <a:t>3. Order Entry System</a:t>
            </a:r>
            <a:endParaRPr b="1" sz="1311">
              <a:solidFill>
                <a:schemeClr val="dk1"/>
              </a:solidFill>
            </a:endParaRPr>
          </a:p>
          <a:p>
            <a:pPr indent="-311905" lvl="1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12"/>
              <a:buChar char="○"/>
            </a:pPr>
            <a:r>
              <a:rPr lang="en" sz="1311">
                <a:solidFill>
                  <a:schemeClr val="dk1"/>
                </a:solidFill>
              </a:rPr>
              <a:t>Captures and manages transaction data like units sold, customer billing, credit history, and sales tax.</a:t>
            </a:r>
            <a:endParaRPr sz="1311">
              <a:solidFill>
                <a:schemeClr val="dk1"/>
              </a:solidFill>
            </a:endParaRPr>
          </a:p>
          <a:p>
            <a:pPr indent="-31190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2"/>
              <a:buChar char="○"/>
            </a:pPr>
            <a:r>
              <a:rPr lang="en" sz="1311">
                <a:solidFill>
                  <a:schemeClr val="dk1"/>
                </a:solidFill>
              </a:rPr>
              <a:t>Inputs data into accounts receivable and inventory management.</a:t>
            </a:r>
            <a:endParaRPr sz="13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11">
                <a:solidFill>
                  <a:schemeClr val="dk1"/>
                </a:solidFill>
              </a:rPr>
              <a:t>4. Accounts Receivable/Payable System : </a:t>
            </a:r>
            <a:r>
              <a:rPr lang="en" sz="1311">
                <a:solidFill>
                  <a:schemeClr val="dk1"/>
                </a:solidFill>
              </a:rPr>
              <a:t>Manages creditor/customer billing, payments received, and account balances.</a:t>
            </a:r>
            <a:endParaRPr sz="13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11">
                <a:solidFill>
                  <a:schemeClr val="dk1"/>
                </a:solidFill>
              </a:rPr>
              <a:t>5. Inventory Control System : </a:t>
            </a:r>
            <a:r>
              <a:rPr lang="en" sz="1311">
                <a:solidFill>
                  <a:schemeClr val="dk1"/>
                </a:solidFill>
              </a:rPr>
              <a:t>Manages all data related to company inventory: stock levels, item costs, etc.</a:t>
            </a:r>
            <a:endParaRPr sz="131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6. Payroll System : </a:t>
            </a:r>
            <a:r>
              <a:rPr lang="en" sz="1300">
                <a:solidFill>
                  <a:schemeClr val="dk1"/>
                </a:solidFill>
              </a:rPr>
              <a:t>Manages data related to employee wages and salaries.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29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FAIS </a:t>
            </a:r>
            <a:r>
              <a:rPr lang="en"/>
              <a:t>(</a:t>
            </a:r>
            <a:r>
              <a:rPr lang="en"/>
              <a:t>for Tactical and Strategic Decision-Making)</a:t>
            </a:r>
            <a:endParaRPr/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a. Cash Management System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Ensures the company has enough cash for daily operations and optimizes returns on short-term deposits.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b. Capital Budgeting System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Manages the acquisition and disposal of capital assets such as land and buildings.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c. Investment Management System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Focuses on maximizing returns on long-term investments.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Integrated FAIS</a:t>
            </a:r>
            <a:endParaRPr/>
          </a:p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Integration with Other Functional Systems: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FAIS often integrates with other functional systems in the organization (e.g., marketing, manufacturing, human resources) to facilitate data sharing and decision-making.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Importance of Integration: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Helps to ensure smooth communication across departments for effective decision-making.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</a:t>
            </a:r>
            <a:r>
              <a:rPr b="1" lang="en" sz="1600">
                <a:solidFill>
                  <a:schemeClr val="dk1"/>
                </a:solidFill>
              </a:rPr>
              <a:t>global and multinational operations</a:t>
            </a:r>
            <a:r>
              <a:rPr lang="en" sz="1600">
                <a:solidFill>
                  <a:schemeClr val="dk1"/>
                </a:solidFill>
              </a:rPr>
              <a:t> by linking financial systems across domestic and international offices.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FAIS</a:t>
            </a:r>
            <a:endParaRPr/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Enhanced Decision-Making: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FAIS allows organizations to make informed decisions based on real-time financial data.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Improved Operational Efficiency: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Streamlines processes like payroll, invoicing, and inventory management, reducing manual errors and improving efficiency.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Better Financial Health Monitoring: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Aids in assessing an organization’s financial position, which is crucial for long-term sustainability.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