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636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47efa105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47efa105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ac086cc25_0_1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ac086cc25_0_14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ac086cc25_0_1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ac086cc25_0_1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ac086cc25_0_1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ac086cc25_0_1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ac086cc25_0_1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ac086cc25_0_1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ac086cc25_0_1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ac086cc25_0_1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ac086cc25_0_1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ac086cc25_0_1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ac086cc25_0_1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2ac086cc25_0_1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ac086cc25_0_14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2ac086cc25_0_14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ac086cc25_0_15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2ac086cc25_0_15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ac086cc25_0_1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2ac086cc25_0_1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ac086cc25_0_1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ac086cc25_0_1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ac086cc25_0_1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2ac086cc25_0_15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ac086cc25_0_1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ac086cc25_0_15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ac086cc25_0_1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2ac086cc25_0_1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ac086cc25_0_15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ac086cc25_0_15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ac086cc25_0_1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2ac086cc25_0_1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ac086cc25_0_1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2ac086cc25_0_1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ac086cc25_0_1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2ac086cc25_0_1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ac086cc25_0_1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2ac086cc25_0_1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Support system and Executive Information System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- 6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to DSS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9284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highlight>
                  <a:srgbClr val="FFFF00"/>
                </a:highlight>
              </a:rPr>
              <a:t>A </a:t>
            </a:r>
            <a:r>
              <a:rPr lang="en" sz="1300" b="1" dirty="0">
                <a:solidFill>
                  <a:schemeClr val="dk1"/>
                </a:solidFill>
                <a:highlight>
                  <a:srgbClr val="FFFF00"/>
                </a:highlight>
              </a:rPr>
              <a:t>Decision Support System (DSS)</a:t>
            </a:r>
            <a:r>
              <a:rPr lang="en" sz="1300" dirty="0">
                <a:solidFill>
                  <a:schemeClr val="dk1"/>
                </a:solidFill>
                <a:highlight>
                  <a:srgbClr val="FFFF00"/>
                </a:highlight>
              </a:rPr>
              <a:t> is an interactive information system designed to support managers and business p-rofessionals in decision-making processes. It helps analyze data, generate insights, and solve semi-structured or unstructured problems</a:t>
            </a:r>
            <a:r>
              <a:rPr lang="en" sz="1300" dirty="0">
                <a:solidFill>
                  <a:schemeClr val="dk1"/>
                </a:solidFill>
              </a:rPr>
              <a:t>.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dirty="0">
                <a:solidFill>
                  <a:schemeClr val="dk1"/>
                </a:solidFill>
              </a:rPr>
              <a:t>Structured Decision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Routine and straightforward.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Follows a pre-specified set of steps.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Requires no judgment or experience.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Example: Calculating compound interest on a loan.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Unstructured Decision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Non-repetitive and complex.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Relies on judgment and experience.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Solutions vary between decision-makers.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Example: Developing strategies to compete in emerging markets.</a:t>
            </a:r>
            <a:endParaRPr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DSS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Semi-structured Decision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Combines structured and unstructured elements.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Some parts follow standard procedures, others need judgment.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Example: Selecting a college or university.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" sz="1300" b="1"/>
              <a:t>Characteristics of Decision Support System (DSS)</a:t>
            </a:r>
            <a:endParaRPr sz="1300" b="1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Key Features of DSS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Assists decision-makers in the decision-making process.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Designed to address semi-structured and unstructured problems.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Supports managers at all levels—top executives to lower management.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Provides models, simulations, and analytical tools for decision-making.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Usability and Flexibility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Interactive and user-friendly; requires minimal assistance from MIS professionals.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Easily adaptable to meet diverse decision-making requirements.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Enables rapid response to requests for information.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Flexible to accommodate varying management styles.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Supports all phases of decision-making: </a:t>
            </a:r>
            <a:r>
              <a:rPr lang="en" sz="1100" b="1">
                <a:solidFill>
                  <a:schemeClr val="dk1"/>
                </a:solidFill>
              </a:rPr>
              <a:t>intelligence, design, choice, and implementation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/>
              <a:t>Benefits of Decision Support System (DSS)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Efficiency and Competitiveness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Enhances efficiency and speed of decision-making activities.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Boosts organizational control, competitiveness, and future decision-making capability.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Helps automate managerial processes.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Encourages higher productivity and minimizes costs.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Communication and Learning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Facilitates interpersonal communication among stakeholders.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Encourages learning and training opportunities.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Introduces new approaches and evidence for unconventional decisions.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Quality and Satisfaction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Leads to higher quality decisions.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Improves customer and employee satisfaction.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/>
              <a:t>Applications of Decision Support System (DSS)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Solving Interrelated and Inter-organizational Problems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Interrelated Problems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Solutions are interconnected and influence each other.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Requires a team of experts from diverse fields to find effective solutions.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Inter-organizational Problems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Involves collaboration across departments.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Example: Launching a new product with input from design, production, marketing, finance, HR, and quality control teams.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Forecasting and Demand Management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Consolidates data from various sources for demand forecasting.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Helps determine appropriate quality and balance supply with demand.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Aids in supplier evaluation and evolution.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/>
              <a:t>Applications of Decision Support System (DSS)</a:t>
            </a:r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Data Integration and Decision Support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Provides comprehensive data about company projects and products for sound decision-making.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Integrates sales data to inform marketing strategies and product potential.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Additional Applications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Determining the best location for stores.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Planning and developing effective advertising strategies.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Optimizing pricing policies.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Determining an optimum product mix.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Decision Support System</a:t>
            </a:r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/>
              <a:t>Database Management System (DBMS)</a:t>
            </a:r>
            <a:endParaRPr u="sng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Purpose</a:t>
            </a:r>
            <a:r>
              <a:rPr lang="en" sz="1100">
                <a:solidFill>
                  <a:schemeClr val="dk1"/>
                </a:solidFill>
              </a:rPr>
              <a:t>: Manages internal and external data for problem-solving.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Sources of Data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Internal</a:t>
            </a:r>
            <a:r>
              <a:rPr lang="en" sz="1100">
                <a:solidFill>
                  <a:schemeClr val="dk1"/>
                </a:solidFill>
              </a:rPr>
              <a:t>: Transaction Processing Systems (TPS) or Management Information Systems (MIS).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External</a:t>
            </a:r>
            <a:r>
              <a:rPr lang="en" sz="1100">
                <a:solidFill>
                  <a:schemeClr val="dk1"/>
                </a:solidFill>
              </a:rPr>
              <a:t>: Newspapers, online data services, external databases.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Functions of DBMS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Defining, constructing, compiling, manipulating, updating, and generating data.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Components of Decision Support System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981075"/>
            <a:ext cx="4914900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1"/>
          <p:cNvSpPr txBox="1"/>
          <p:nvPr/>
        </p:nvSpPr>
        <p:spPr>
          <a:xfrm>
            <a:off x="2179175" y="4593200"/>
            <a:ext cx="422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Fig : DBMS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Components of Decision Support System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2. Model Management System</a:t>
            </a:r>
            <a:endParaRPr u="sng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Stores and manages models for decision-making.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Model Types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marL="457200" lvl="0" indent="-304958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300" b="1">
                <a:solidFill>
                  <a:schemeClr val="dk1"/>
                </a:solidFill>
              </a:rPr>
              <a:t>Statistical Models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marL="914400" lvl="1" indent="-30495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300">
                <a:solidFill>
                  <a:schemeClr val="dk1"/>
                </a:solidFill>
              </a:rPr>
              <a:t>Perform statistical functions like averages, standard deviation, graphical analysis, variable relationships, and forecasting.</a:t>
            </a:r>
            <a:endParaRPr sz="1300">
              <a:solidFill>
                <a:schemeClr val="dk1"/>
              </a:solidFill>
            </a:endParaRP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300" b="1">
                <a:solidFill>
                  <a:schemeClr val="dk1"/>
                </a:solidFill>
              </a:rPr>
              <a:t>Financial Models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marL="914400" lvl="1" indent="-30495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300">
                <a:solidFill>
                  <a:schemeClr val="dk1"/>
                </a:solidFill>
              </a:rPr>
              <a:t>Analyze profit/loss, cost-benefit, and other financial measures.</a:t>
            </a:r>
            <a:endParaRPr sz="1300">
              <a:solidFill>
                <a:schemeClr val="dk1"/>
              </a:solidFill>
            </a:endParaRP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300" b="1">
                <a:solidFill>
                  <a:schemeClr val="dk1"/>
                </a:solidFill>
              </a:rPr>
              <a:t>Production Models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marL="914400" lvl="1" indent="-30495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300">
                <a:solidFill>
                  <a:schemeClr val="dk1"/>
                </a:solidFill>
              </a:rPr>
              <a:t>Address manufacturing decisions like machine operation, material requirements, and scheduling.</a:t>
            </a:r>
            <a:endParaRPr sz="1300">
              <a:solidFill>
                <a:schemeClr val="dk1"/>
              </a:solidFill>
            </a:endParaRP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300" b="1">
                <a:solidFill>
                  <a:schemeClr val="dk1"/>
                </a:solidFill>
              </a:rPr>
              <a:t>Strategic Models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marL="914400" lvl="1" indent="-30495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300">
                <a:solidFill>
                  <a:schemeClr val="dk1"/>
                </a:solidFill>
              </a:rPr>
              <a:t>Aid marketing decisions like product pricing, store location, and advertising strategies.</a:t>
            </a:r>
            <a:endParaRPr sz="1300">
              <a:solidFill>
                <a:schemeClr val="dk1"/>
              </a:solidFill>
            </a:endParaRP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300" b="1">
                <a:solidFill>
                  <a:schemeClr val="dk1"/>
                </a:solidFill>
              </a:rPr>
              <a:t>Human Resource Models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marL="914400" lvl="1" indent="-30495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300">
                <a:solidFill>
                  <a:schemeClr val="dk1"/>
                </a:solidFill>
              </a:rPr>
              <a:t>Help with manpower planning, training needs assessment, labor negotiations, and personnel forecasting.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975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Model Builder (A tool used in Model Management System)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Allows creation, modification, and management of models.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Includes a </a:t>
            </a:r>
            <a:r>
              <a:rPr lang="en" sz="1300" b="1">
                <a:solidFill>
                  <a:schemeClr val="dk1"/>
                </a:solidFill>
              </a:rPr>
              <a:t>Model Dictionary</a:t>
            </a:r>
            <a:r>
              <a:rPr lang="en" sz="1300">
                <a:solidFill>
                  <a:schemeClr val="dk1"/>
                </a:solidFill>
              </a:rPr>
              <a:t> for managing metadata about models.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/>
          </a:p>
        </p:txBody>
      </p:sp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800" y="205563"/>
            <a:ext cx="5962650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Components of Decision Support System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Support Tools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Purpose</a:t>
            </a:r>
            <a:r>
              <a:rPr lang="en" sz="1100">
                <a:solidFill>
                  <a:schemeClr val="dk1"/>
                </a:solidFill>
              </a:rPr>
              <a:t>: Facilitate user interaction with the system.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Key Tools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Pull-down menus, user interfaces, graphical analysis, and error correction mechanisms.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Importance of Interfaces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Enhances user acceptance and adoption of DSS.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Overcomes lack of training in computer technologies.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500" b="1"/>
              <a:t>Functions of Decision Support System (DSS)</a:t>
            </a:r>
            <a:endParaRPr sz="2500"/>
          </a:p>
        </p:txBody>
      </p:sp>
      <p:sp>
        <p:nvSpPr>
          <p:cNvPr id="128" name="Google Shape;128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Key Functions of DSS</a:t>
            </a:r>
            <a:endParaRPr sz="1600" b="1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 b="1">
                <a:solidFill>
                  <a:schemeClr val="dk1"/>
                </a:solidFill>
              </a:rPr>
              <a:t>Model Building</a:t>
            </a:r>
            <a:endParaRPr sz="1400"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Identifies and develops decision-making models.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Considers input variables, relationships, assumptions, and constraints.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Helps solve problems effectively with tailored models.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 b="1">
                <a:solidFill>
                  <a:schemeClr val="dk1"/>
                </a:solidFill>
              </a:rPr>
              <a:t>What-if Analysis</a:t>
            </a:r>
            <a:endParaRPr sz="1400"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Evaluates the impact of changes to model variables or combinations.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Example: Assessing the effect of a 15% increase in raw material costs on future demand.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Critical for </a:t>
            </a:r>
            <a:r>
              <a:rPr lang="en" b="1">
                <a:solidFill>
                  <a:schemeClr val="dk1"/>
                </a:solidFill>
              </a:rPr>
              <a:t>semi-structured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 b="1">
                <a:solidFill>
                  <a:schemeClr val="dk1"/>
                </a:solidFill>
              </a:rPr>
              <a:t>unstructured problems</a:t>
            </a:r>
            <a:r>
              <a:rPr lang="en">
                <a:solidFill>
                  <a:schemeClr val="dk1"/>
                </a:solidFill>
              </a:rPr>
              <a:t> where data may be incomplete or inconsistent.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Enables managers to be proactive rather than reactive.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500" b="1"/>
              <a:t>Functions of Decision Support System (DSS)</a:t>
            </a:r>
            <a:endParaRPr sz="2500"/>
          </a:p>
        </p:txBody>
      </p:sp>
      <p:sp>
        <p:nvSpPr>
          <p:cNvPr id="134" name="Google Shape;13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</a:rPr>
              <a:t>Goal-Oriented and Risk Assessment Functions</a:t>
            </a:r>
            <a:endParaRPr sz="17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 startAt="3"/>
            </a:pPr>
            <a:r>
              <a:rPr lang="en" sz="1500" b="1">
                <a:solidFill>
                  <a:schemeClr val="dk1"/>
                </a:solidFill>
              </a:rPr>
              <a:t>Goal Seeking</a:t>
            </a:r>
            <a:endParaRPr sz="1500" b="1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Determines input values needed to achieve a specific goal.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Helps decision-makers identify actions required to meet objectives.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 startAt="3"/>
            </a:pPr>
            <a:r>
              <a:rPr lang="en" sz="1500" b="1">
                <a:solidFill>
                  <a:schemeClr val="dk1"/>
                </a:solidFill>
              </a:rPr>
              <a:t>Risk Analysis</a:t>
            </a:r>
            <a:endParaRPr sz="1500" b="1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Evaluates risks and uncertainties associated with decisions.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Classifies decisions into </a:t>
            </a:r>
            <a:r>
              <a:rPr lang="en" sz="1500" b="1">
                <a:solidFill>
                  <a:schemeClr val="dk1"/>
                </a:solidFill>
              </a:rPr>
              <a:t>low-risk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b="1">
                <a:solidFill>
                  <a:schemeClr val="dk1"/>
                </a:solidFill>
              </a:rPr>
              <a:t>medium-risk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lang="en" sz="1500" b="1">
                <a:solidFill>
                  <a:schemeClr val="dk1"/>
                </a:solidFill>
              </a:rPr>
              <a:t>high-risk</a:t>
            </a:r>
            <a:r>
              <a:rPr lang="en" sz="1500">
                <a:solidFill>
                  <a:schemeClr val="dk1"/>
                </a:solidFill>
              </a:rPr>
              <a:t> categories.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Particularly useful in </a:t>
            </a:r>
            <a:r>
              <a:rPr lang="en" sz="1500" b="1">
                <a:solidFill>
                  <a:schemeClr val="dk1"/>
                </a:solidFill>
              </a:rPr>
              <a:t>medium-risk</a:t>
            </a:r>
            <a:r>
              <a:rPr lang="en" sz="1500">
                <a:solidFill>
                  <a:schemeClr val="dk1"/>
                </a:solidFill>
              </a:rPr>
              <a:t> and </a:t>
            </a:r>
            <a:r>
              <a:rPr lang="en" sz="1500" b="1">
                <a:solidFill>
                  <a:schemeClr val="dk1"/>
                </a:solidFill>
              </a:rPr>
              <a:t>high-risk</a:t>
            </a:r>
            <a:r>
              <a:rPr lang="en" sz="1500">
                <a:solidFill>
                  <a:schemeClr val="dk1"/>
                </a:solidFill>
              </a:rPr>
              <a:t> environments.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500" b="1"/>
              <a:t>Functions of Decision Support System (DSS)</a:t>
            </a:r>
            <a:endParaRPr sz="2500"/>
          </a:p>
        </p:txBody>
      </p:sp>
      <p:sp>
        <p:nvSpPr>
          <p:cNvPr id="140" name="Google Shape;140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chemeClr val="dk1"/>
                </a:solidFill>
              </a:rPr>
              <a:t>Visualization Function</a:t>
            </a:r>
            <a:endParaRPr sz="1900" b="1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 startAt="5"/>
            </a:pPr>
            <a:r>
              <a:rPr lang="en" sz="1700" b="1">
                <a:solidFill>
                  <a:schemeClr val="dk1"/>
                </a:solidFill>
              </a:rPr>
              <a:t>Graphical Analysis</a:t>
            </a:r>
            <a:endParaRPr sz="1700" b="1">
              <a:solidFill>
                <a:schemeClr val="dk1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Presents data using graphical charts, tables, and figures.</a:t>
            </a:r>
            <a:endParaRPr sz="1700">
              <a:solidFill>
                <a:schemeClr val="dk1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Simplifies understanding of large datasets.</a:t>
            </a:r>
            <a:endParaRPr sz="1700">
              <a:solidFill>
                <a:schemeClr val="dk1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Helps managers visualize the impact of various actions.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500" b="1"/>
              <a:t>Tools for Developing Decision Support Systems (DSS)</a:t>
            </a:r>
            <a:endParaRPr sz="2500"/>
          </a:p>
        </p:txBody>
      </p:sp>
      <p:sp>
        <p:nvSpPr>
          <p:cNvPr id="146" name="Google Shape;146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DSS Generators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Programs that facilitate DSS development.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Examples: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 b="1">
                <a:solidFill>
                  <a:schemeClr val="dk1"/>
                </a:solidFill>
              </a:rPr>
              <a:t>Data management tools</a:t>
            </a:r>
            <a:endParaRPr sz="1300" b="1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 b="1">
                <a:solidFill>
                  <a:schemeClr val="dk1"/>
                </a:solidFill>
              </a:rPr>
              <a:t>Electronic spreadsheets</a:t>
            </a:r>
            <a:endParaRPr sz="1300" b="1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 b="1">
                <a:solidFill>
                  <a:schemeClr val="dk1"/>
                </a:solidFill>
              </a:rPr>
              <a:t>Report generators</a:t>
            </a:r>
            <a:endParaRPr sz="1300" b="1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 b="1">
                <a:solidFill>
                  <a:schemeClr val="dk1"/>
                </a:solidFill>
              </a:rPr>
              <a:t>Statistical packages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DSS Shells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Pre-built programs used to create customized DSS.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Features: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Includes </a:t>
            </a:r>
            <a:r>
              <a:rPr lang="en" sz="1300" b="1">
                <a:solidFill>
                  <a:schemeClr val="dk1"/>
                </a:solidFill>
              </a:rPr>
              <a:t>DBMS</a:t>
            </a:r>
            <a:r>
              <a:rPr lang="en" sz="1300">
                <a:solidFill>
                  <a:schemeClr val="dk1"/>
                </a:solidFill>
              </a:rPr>
              <a:t>, </a:t>
            </a:r>
            <a:r>
              <a:rPr lang="en" sz="1300" b="1">
                <a:solidFill>
                  <a:schemeClr val="dk1"/>
                </a:solidFill>
              </a:rPr>
              <a:t>model management systems</a:t>
            </a:r>
            <a:r>
              <a:rPr lang="en" sz="1300">
                <a:solidFill>
                  <a:schemeClr val="dk1"/>
                </a:solidFill>
              </a:rPr>
              <a:t>, and </a:t>
            </a:r>
            <a:r>
              <a:rPr lang="en" sz="1300" b="1">
                <a:solidFill>
                  <a:schemeClr val="dk1"/>
                </a:solidFill>
              </a:rPr>
              <a:t>user interfaces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Eliminates the need to develop these components from scratch.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500" b="1"/>
              <a:t>Tools for Developing Decision Support Systems (DSS)</a:t>
            </a:r>
            <a:endParaRPr sz="2500"/>
          </a:p>
        </p:txBody>
      </p:sp>
      <p:sp>
        <p:nvSpPr>
          <p:cNvPr id="152" name="Google Shape;152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chemeClr val="dk1"/>
                </a:solidFill>
              </a:rPr>
              <a:t>Custom-Made Software</a:t>
            </a:r>
            <a:endParaRPr sz="1400" b="1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Built using procedural programming languages like </a:t>
            </a:r>
            <a:r>
              <a:rPr lang="en" sz="1400" b="1">
                <a:solidFill>
                  <a:schemeClr val="dk1"/>
                </a:solidFill>
              </a:rPr>
              <a:t>C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Advantages</a:t>
            </a:r>
            <a:r>
              <a:rPr lang="en" sz="1400">
                <a:solidFill>
                  <a:schemeClr val="dk1"/>
                </a:solidFill>
              </a:rPr>
              <a:t>: Tailored to specific requirements.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Disadvantages</a:t>
            </a:r>
            <a:r>
              <a:rPr lang="en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Time-consuming.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Expensive to develop.</a:t>
            </a:r>
            <a:endParaRPr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Information System (EIS)</a:t>
            </a:r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 type of Decision Support System (DSS) designed for senior executives to assist in </a:t>
            </a:r>
            <a:r>
              <a:rPr lang="en" sz="1300" b="1">
                <a:solidFill>
                  <a:schemeClr val="dk1"/>
                </a:solidFill>
              </a:rPr>
              <a:t>strategic decision-making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Purpose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Provides </a:t>
            </a:r>
            <a:r>
              <a:rPr lang="en" sz="1300" b="1">
                <a:solidFill>
                  <a:schemeClr val="dk1"/>
                </a:solidFill>
              </a:rPr>
              <a:t>easy access</a:t>
            </a:r>
            <a:r>
              <a:rPr lang="en" sz="1300">
                <a:solidFill>
                  <a:schemeClr val="dk1"/>
                </a:solidFill>
              </a:rPr>
              <a:t> to critical data for achieving strategic goals.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Focuses on </a:t>
            </a:r>
            <a:r>
              <a:rPr lang="en" sz="1300" b="1">
                <a:solidFill>
                  <a:schemeClr val="dk1"/>
                </a:solidFill>
              </a:rPr>
              <a:t>information delivery</a:t>
            </a:r>
            <a:r>
              <a:rPr lang="en" sz="1300">
                <a:solidFill>
                  <a:schemeClr val="dk1"/>
                </a:solidFill>
              </a:rPr>
              <a:t> rather than detailed problem analysis.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Features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b="1">
                <a:solidFill>
                  <a:schemeClr val="dk1"/>
                </a:solidFill>
              </a:rPr>
              <a:t>Graphical displays</a:t>
            </a:r>
            <a:r>
              <a:rPr lang="en" sz="1300">
                <a:solidFill>
                  <a:schemeClr val="dk1"/>
                </a:solidFill>
              </a:rPr>
              <a:t> with a user-friendly interface.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Integration with </a:t>
            </a:r>
            <a:r>
              <a:rPr lang="en" sz="1300" b="1">
                <a:solidFill>
                  <a:schemeClr val="dk1"/>
                </a:solidFill>
              </a:rPr>
              <a:t>online information services</a:t>
            </a:r>
            <a:r>
              <a:rPr lang="en" sz="1300">
                <a:solidFill>
                  <a:schemeClr val="dk1"/>
                </a:solidFill>
              </a:rPr>
              <a:t> for accessing external data.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Applications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Monitoring </a:t>
            </a:r>
            <a:r>
              <a:rPr lang="en" sz="1300" b="1">
                <a:solidFill>
                  <a:schemeClr val="dk1"/>
                </a:solidFill>
              </a:rPr>
              <a:t>enterprise performance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Identifying </a:t>
            </a:r>
            <a:r>
              <a:rPr lang="en" sz="1300" b="1">
                <a:solidFill>
                  <a:schemeClr val="dk1"/>
                </a:solidFill>
              </a:rPr>
              <a:t>opportunities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lang="en" sz="1300" b="1">
                <a:solidFill>
                  <a:schemeClr val="dk1"/>
                </a:solidFill>
              </a:rPr>
              <a:t>problems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500" b="1"/>
              <a:t>Characteristics of EIS</a:t>
            </a:r>
            <a:endParaRPr sz="2500" b="1"/>
          </a:p>
        </p:txBody>
      </p:sp>
      <p:sp>
        <p:nvSpPr>
          <p:cNvPr id="164" name="Google Shape;164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Combines </a:t>
            </a:r>
            <a:r>
              <a:rPr lang="en" sz="1700" b="1">
                <a:solidFill>
                  <a:schemeClr val="dk1"/>
                </a:solidFill>
              </a:rPr>
              <a:t>critical information</a:t>
            </a:r>
            <a:r>
              <a:rPr lang="en" sz="1700">
                <a:solidFill>
                  <a:schemeClr val="dk1"/>
                </a:solidFill>
              </a:rPr>
              <a:t> from all organizational areas for a comprehensive overview.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Designed for </a:t>
            </a:r>
            <a:r>
              <a:rPr lang="en" sz="1700" b="1">
                <a:solidFill>
                  <a:schemeClr val="dk1"/>
                </a:solidFill>
              </a:rPr>
              <a:t>non-programmed decisions</a:t>
            </a:r>
            <a:r>
              <a:rPr lang="en" sz="1700">
                <a:solidFill>
                  <a:schemeClr val="dk1"/>
                </a:solidFill>
              </a:rPr>
              <a:t> at the strategic level.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>
                <a:solidFill>
                  <a:schemeClr val="dk1"/>
                </a:solidFill>
              </a:rPr>
              <a:t>Long-term focus</a:t>
            </a:r>
            <a:r>
              <a:rPr lang="en" sz="1700">
                <a:solidFill>
                  <a:schemeClr val="dk1"/>
                </a:solidFill>
              </a:rPr>
              <a:t> compared to specific decisions handled by traditional DSS.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500" b="1"/>
              <a:t>Tools for Decision Makers in EIS</a:t>
            </a:r>
            <a:endParaRPr sz="2500" b="1"/>
          </a:p>
        </p:txBody>
      </p:sp>
      <p:sp>
        <p:nvSpPr>
          <p:cNvPr id="170" name="Google Shape;170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 b="1">
                <a:solidFill>
                  <a:schemeClr val="dk1"/>
                </a:solidFill>
              </a:rPr>
              <a:t>Foundation Information</a:t>
            </a:r>
            <a:endParaRPr sz="1500" b="1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Cash flow, liquidity, and other core financial metrics.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 b="1">
                <a:solidFill>
                  <a:schemeClr val="dk1"/>
                </a:solidFill>
              </a:rPr>
              <a:t>Productivity Information</a:t>
            </a:r>
            <a:endParaRPr sz="1500" b="1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Evaluates productivity of operations and identifies value-adding activities.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 b="1">
                <a:solidFill>
                  <a:schemeClr val="dk1"/>
                </a:solidFill>
              </a:rPr>
              <a:t>Competitor Information</a:t>
            </a:r>
            <a:endParaRPr sz="1500" b="1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Provides insights into successes and failures for learning opportunities.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 b="1">
                <a:solidFill>
                  <a:schemeClr val="dk1"/>
                </a:solidFill>
              </a:rPr>
              <a:t>Resource-Related Information</a:t>
            </a:r>
            <a:endParaRPr sz="1500" b="1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Tracks and measures capital and human resources.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EIS vs DSS Example</a:t>
            </a:r>
            <a:endParaRPr/>
          </a:p>
        </p:txBody>
      </p:sp>
      <p:sp>
        <p:nvSpPr>
          <p:cNvPr id="176" name="Google Shape;176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DSS</a:t>
            </a:r>
            <a:r>
              <a:rPr lang="en" sz="1500">
                <a:solidFill>
                  <a:schemeClr val="dk1"/>
                </a:solidFill>
              </a:rPr>
              <a:t>: 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Helps in making specific decisions by analyzing detailed data and processes.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 : Helps safety inspectors ensure airplane parts are inspected after a certain number of flight hours.</a:t>
            </a: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EIS</a:t>
            </a:r>
            <a:r>
              <a:rPr lang="en" sz="1500">
                <a:solidFill>
                  <a:schemeClr val="dk1"/>
                </a:solidFill>
              </a:rPr>
              <a:t>: 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Assists senior management in strategic, long-term decision-making by providing a comprehensive overview.</a:t>
            </a:r>
            <a:endParaRPr sz="15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>
                <a:solidFill>
                  <a:schemeClr val="dk1"/>
                </a:solidFill>
              </a:rPr>
              <a:t>Example : Helps senior management monitor the </a:t>
            </a:r>
            <a:r>
              <a:rPr lang="en" sz="1500" b="1">
                <a:solidFill>
                  <a:schemeClr val="dk1"/>
                </a:solidFill>
              </a:rPr>
              <a:t>effectiveness</a:t>
            </a:r>
            <a:r>
              <a:rPr lang="en" sz="1500">
                <a:solidFill>
                  <a:schemeClr val="dk1"/>
                </a:solidFill>
              </a:rPr>
              <a:t> of the entire safety inspection program to maintain the company’s </a:t>
            </a:r>
            <a:r>
              <a:rPr lang="en" sz="1300" b="1">
                <a:solidFill>
                  <a:schemeClr val="dk1"/>
                </a:solidFill>
              </a:rPr>
              <a:t>outstanding safety record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1279</Words>
  <Application>Microsoft Office PowerPoint</Application>
  <PresentationFormat>On-screen Show (16:9)</PresentationFormat>
  <Paragraphs>178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Simple Light</vt:lpstr>
      <vt:lpstr>Decision Support system and Executive Information System</vt:lpstr>
      <vt:lpstr>Introduction to DSS</vt:lpstr>
      <vt:lpstr>Introduction to DSS</vt:lpstr>
      <vt:lpstr>Characteristics of Decision Support System (DSS) </vt:lpstr>
      <vt:lpstr>Benefits of Decision Support System (DSS)</vt:lpstr>
      <vt:lpstr>Applications of Decision Support System (DSS)</vt:lpstr>
      <vt:lpstr>Applications of Decision Support System (DSS)</vt:lpstr>
      <vt:lpstr>Components of Decision Support System</vt:lpstr>
      <vt:lpstr>Components of Decision Support System </vt:lpstr>
      <vt:lpstr>Components of Decision Support System </vt:lpstr>
      <vt:lpstr>PowerPoint Presentation</vt:lpstr>
      <vt:lpstr>Components of Decision Support System </vt:lpstr>
      <vt:lpstr>Functions of Decision Support System (DSS)</vt:lpstr>
      <vt:lpstr>Functions of Decision Support System (DSS)</vt:lpstr>
      <vt:lpstr>Functions of Decision Support System (DSS)</vt:lpstr>
      <vt:lpstr>Tools for Developing Decision Support Systems (DSS)</vt:lpstr>
      <vt:lpstr>Tools for Developing Decision Support Systems (DSS)</vt:lpstr>
      <vt:lpstr>Executive Information System (EIS)</vt:lpstr>
      <vt:lpstr>Characteristics of EIS</vt:lpstr>
      <vt:lpstr>Tools for Decision Makers in EIS</vt:lpstr>
      <vt:lpstr>EIS vs DSS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Support system and Executive Information System</dc:title>
  <cp:lastModifiedBy>Toshiba</cp:lastModifiedBy>
  <cp:revision>1</cp:revision>
  <dcterms:modified xsi:type="dcterms:W3CDTF">2025-09-03T14:21:51Z</dcterms:modified>
</cp:coreProperties>
</file>