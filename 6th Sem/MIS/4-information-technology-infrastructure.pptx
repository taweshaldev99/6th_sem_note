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CC0915-BAC9-4E33-B792-91495AA3749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E33ED-9E03-404F-83DE-2997337CF293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2DF83-9AD1-4F2F-AE8A-69110C7B727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DA618-0DCD-4B9A-9564-5E943071912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5A0141D1-E2EC-459A-B363-6F411BC0BDE5}" type="slidenum">
              <a:t>‹#›</a:t>
            </a:fld>
            <a:endParaRPr lang="en-US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613479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54D3A-8124-4971-A947-5690BCABC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C0CA2-A062-4BD5-A912-D458415E890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65EFB3C-3E06-4422-BF7C-3E21CB5DB7F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73B12-6807-4AB9-A077-EDB1B499F0A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54B97-94E4-43FE-A216-E5A1B3D7D78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3704C-BA69-4456-B930-032F93FB4C4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52C7F732-5343-4787-8BFC-0CEF552BE1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8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2840D-35DE-4655-8C77-19ACB5742FA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9CB9A5-9958-4C1E-90C1-5DB86CD24802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20379-310A-48DD-90F6-21588AD53C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A422B-E4F9-408F-B923-C49FFD54FD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6359D-C69D-47CA-8D68-06BC343E7C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7387966-5B9D-46A2-A0F1-8DD0A86B88C8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DA9B7-4F16-49F6-8722-93188D1BAD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7E2B7-8DDD-4EE2-BA34-82EBFB95FEF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ABBA2-9FCA-4FB6-9FBC-D634447F61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2ACCA97-FEAF-4A7F-A5A3-298AFEF965BA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18A19-5DC5-4418-B781-36F5F284DD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9944A-EDAB-433E-882E-AF14A14486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8E54-61B4-4D1B-ADDA-9FA71E59A8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00B4AC3-4C43-4F95-A9FC-05C3A02F022E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61501-867A-4D13-8177-0F60C72409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34E4E-481D-4232-B2D3-CAA6E61EA7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37767-18AB-4B71-8B0E-6CDD5C6B88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E5E4B49-8ECC-4592-B42E-33806870F66F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FA48A-2047-4427-AB02-E99D7424C2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638B6-1FB9-483A-826C-67F230968C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D0600-308C-4D47-B387-F0B87AEA45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D85C489-81B6-4B70-845B-3EEC7FE52F8F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0F155-7117-47B8-81D6-42A65679E3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97D5F-A5A5-4D33-B7F8-9D3B1E7833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2C825-7CDB-49D4-8E66-A1D0CD4364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2B54CE-98B2-411F-AEB9-DBE7E1711AB7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35E0D-75A2-4430-8301-46D47FEC25A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AE05C-4F36-4C38-AA1D-71976DE714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4D61B-CF2D-464B-A23F-899CC58900A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C24CED0-EB5F-4EE4-977C-1F65CAB4208B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58BD6-5683-468E-AA1F-1304CC42EE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06ADF-6E7C-4D38-8637-909592A641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5E79F-D56D-4F92-9386-1554EAAE2D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2581ABD-5371-4E46-BE2A-2AECF89572EF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63B9A-064D-4EB7-81EB-ED921A101B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EF6A0-ABD3-4A93-AE61-BC2FB12288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E5ED7-C3B1-4327-B4EA-E9630D987B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B54069-802D-40AE-874A-DF55E75AAE0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2DA08-53AC-452B-B255-5BC4380439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15AFC-807C-4E03-86E8-7F736905BB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1D741-1FC6-4C34-BB24-EDD1565E8E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396B2CB-319D-4DB3-B9F0-0316A4029AEE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D9BE1-6475-45E1-A41C-660E443059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3F8F0-7A7B-430F-9B9F-4D2C2F1CF8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3BE65-85EE-4B8C-B4FC-CC0A152B445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297506-2EEF-4643-94A1-8C9A94298EB6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102BA-D924-485D-9D95-6E087284332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B88B6-FEB8-42BF-9B37-35773D3A39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312DF-D88F-48CC-BEA5-37C06E01F6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9E88395-5ADA-450E-8EC9-A800BD255FB5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74E21-9FBE-48B7-A1B2-9F4092C3BF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DF215-5E8A-4F81-849A-849B08BBB7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666C2-2F4E-4374-9CA8-BD7135AF3F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52F190-FD63-4BA2-A889-FED9FF6F12E4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B1F29-9283-434A-9C9D-399974A495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79B2E-3AC2-4F01-BA11-64098F5B1C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DAA92-9D6A-45E4-834E-FABE0322F11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EE0E700-C80A-44EE-A43F-D6B294B3B0B7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92D2B-4556-4197-9C19-39522E60098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0BF70-4A06-44AE-B4CD-E0A30AE051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D238A-2E51-4223-9513-2A1AE12018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409AD15-34B6-447C-86F9-D30F0FDD8EB4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CC088-9C68-4CB8-89D4-ED289D75BA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64778-DCBA-4625-A750-FAC22D0C2C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0913F-38B0-4954-A5B8-00563FA0EE9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2DB6DA4-27D4-47AD-A6D2-77AE4223F1C7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630CA-CB7F-44E4-A7AB-460EF464848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A5B62-A045-4628-9530-8B8963948F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66428-2C00-4643-8A90-FBFD8145871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322C6B-BCB4-4670-A649-0C2BC8FB5F19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33256-6079-408C-81BF-AEB18904D4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934CA-49BF-44DB-B78B-3D70FB7013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70A4-A4D4-4C3E-BEAA-5432C2031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5897C-25D8-484E-8489-9816F4A4F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81613-1B24-40FC-9241-1C2A28B4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A5430-9688-4029-8816-5DDC5D76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2AC5F-DE41-486D-884E-133BB69D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A1EBBE-F3C9-4661-A6F6-4EEE4DCD49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2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8A1F-8CEF-4693-8FF8-15B4CC70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E742-5CE8-4696-848C-1824CB2C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35ED6-A54E-46CE-9556-7CAB16CB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18595-0A25-45E9-8FDB-6D8A9FB9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11CA9-FEDB-40CF-B368-AD2F2553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3666981-BECE-4BF0-BB8A-EF5A5972C2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4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C315-55C4-4E23-B1C2-6B38DC2A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06305-D444-4B58-A2F9-672C47AD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A7F66-23D1-4534-848E-B8EB7669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135B2-A01E-4DEB-B351-B79C3229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44F24-3D1B-463B-8AC6-0285B677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8E5D77-EDD2-4A05-ADC3-FDAAF86E2D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7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6120-4E93-43D3-B17B-E4B1F303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1622-355C-4E2D-B175-9FA712483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48ABE-F6E4-4D99-8F3C-D11727575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5FAAF-4774-4839-9E00-EA4D81F3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82A8A-F19C-4B35-94B0-470A55A0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750D9-42E2-4AF3-A3B0-192C69A5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2C1675-08DB-40C0-862E-9E610EBC01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5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D3D6-2CD2-49D9-B6E2-F186EFB1D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D4234-7047-40B9-BE01-C69E31636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4452F-4D8F-47E0-B9A6-B25EA1109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4B7B4-5336-422E-8429-BC0FFA9F9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10EAA-4FEE-4BED-926F-C0068E1EC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2005C1-03FA-42A2-A735-FD3BAA3D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48D13-8EC4-4266-A973-B88DE802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28458-3E93-4120-9062-E4280AFC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9EB0D2-35FB-4D5D-8A2B-26777D97F6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5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862E-2C05-402F-954D-9333F6D5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F5F6E-88FF-44C8-983A-7E0FE4E3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0343E-2D68-4B8F-816A-62435741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B7E43-0AC1-48B2-9F49-F0C1AAD2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7E1682-FA59-4614-B95D-C2889B92E7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CD7E9-0E4E-4377-A644-9993FDED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9CCA7-C6ED-40AC-A04A-8FF96F6C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48E78-41D4-491B-B7CD-87FD7F41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A522B2-4595-4DF0-8C83-AB2FD97097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397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623C-ED6F-4977-9CA2-DA5F905D0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F8B7E-CBC7-4D02-BCC3-0B5AEDEC0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A0887-F91F-4C13-87B9-3CB320626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2DD0A-CDF7-40C4-BF80-C22389F6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ECC1D-9465-418D-8453-52E27929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85977-43A9-40A6-8E10-ED764265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CC18A3-EF47-4F2D-8D94-D4BE467ED6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619C-58E1-45E9-951D-58491D12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3925B-318B-4398-A7CE-068080F78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880BF-7994-490C-99C5-8C9FB4EA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66AFA-7F98-458D-B584-D9A6FC0C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8C4FD-1258-4AE4-BA65-D9BC3A2B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94E0-39F3-4B12-9C29-914E0788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C97629-51F2-4C81-95CD-4A6187174A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4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65AD-AB9B-425A-8C56-F546420A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3A4A8-87A0-47B9-8111-68AD3AB12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7F28A-AB97-48B4-A227-8E0CA766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665B2-A49A-455F-99A6-18AE7E1D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118DE-6E5B-4536-AA72-6398BF80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E86193-576B-4607-94E9-F45B0E485C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74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618D1-29C8-4BD3-BEE8-169C0B81F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78F22-D55E-4007-846D-AADE93E2D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3A23D-0F32-429A-AD0F-5D77DD2D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E2F5-419C-4EF6-85F8-4B3B5581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B3C16-EB2A-414E-9FD9-FFBADA55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7105AC-82B5-4E09-8B87-6F69FDE411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97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D7C3-FDD7-4401-88EF-EE830A005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420B9-5298-464B-9952-49E1B0531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40203-881F-483A-8EFB-89411C74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50DC2-D1D1-4363-94ED-B1FC5FC1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13A52-D9AD-4004-880A-24AD4F9B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E519C3-39E9-4B7F-B1B1-1F415023FD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51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7BCD-308F-4EA9-B8AF-CAB883B1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56675-446C-4238-8FCD-C8CB49195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5A2CC-0D97-4AF9-AAD5-D932C3D6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0EDFA-098A-45C5-8917-E345DF3E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B23CA-96A7-4C02-A2F7-24945EA7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34ECCD2-D6D7-48BC-9787-7F2970B3F3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09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9FBB-33C4-4CFF-827C-11976B0D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BD4D-53E9-43BF-9A5B-AD473863E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2938A-98A6-4F8A-9892-A30EEEC9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9F437-58F5-4E3A-8050-CA0D24F90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D052A-2B4D-47C3-BFC1-2458548B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1D12C9-A93B-4FCB-8977-B7C5396CA9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24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5F13-9E94-4122-BDBB-3605653E1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F8703-E54E-4286-B8CF-FF0417DEB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D7D7B-37FB-4A61-BC0C-974A2F0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6E5C3-2B8F-49AE-85D2-2783E32B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A8673-1C36-42FD-B8D7-9031270B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95AC6-3A0B-44B0-A194-1E3DB58C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1260C37-B0EE-46EF-9559-82804E3F57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5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DA30-B66D-43EA-84D0-5416A749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54B6A-E94C-4B7C-8D72-36C008B3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84558-0801-4548-B789-1AFBE4D6C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7E409-9072-402A-8D3A-A59406555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74357-22F1-4491-B753-9ED3E31FD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D37A2B-58DC-4292-95C9-213F244F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DBBF6D-4357-459D-88F0-18DED3E0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94FE5-C781-4099-961D-B01DC6BB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043DAA-B4D5-4491-86B4-851C214FD6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76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ECF2-89E3-4757-8939-A6AB8E64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28910-3A71-407D-9598-FAFB8A13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52E60-F1E1-4F4E-BB37-3D65A6E4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14086-4B8C-4289-B955-3853B18A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E61A43-CF69-45B4-9ED8-099D4E0EED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81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4D170-9F46-4AEB-8B40-C4B3D348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DFB91-1049-4AB3-BAC7-0828ADD84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08656-7F2B-407C-A1C8-89E71EB5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F97C87-7EB1-4D5A-B2D0-8C0F1A33C9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5952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D418-E7D8-4B29-A504-DA8FED76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D3F9-0EFD-4FD2-A9C8-5F75474AE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AFA49-DD30-47B7-905A-813716B09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151F7-EAE8-4736-AA4B-A8D52B14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DF15D-27C7-4DB0-B24B-CC16950B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BC8C7-3E02-4C1D-8672-80CCCBA1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B6AF43-3E7B-4988-B29B-3F1F98E13E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39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75CBE-AEB9-4BDD-97E2-363107FF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E0DA0-948E-492B-A355-4C31DA5B7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CBFD3-4153-45C5-A47F-81A7FADD1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FCA73-E4D4-4634-9DE5-13812A34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2F414-8365-4462-A18F-9917B26A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21EBD-565B-40F3-B3A5-9A4297B4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CB64A5-2F43-48D6-8E7D-4F65EF3662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68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B4B87-F86F-4B0D-A57D-83C7D803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CEB87-098F-484B-902F-CC19D1A38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5DC0-A035-42A5-91D9-D996C7DC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5FE9-FC5C-4BBE-A856-2E72AD71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7C55-B109-4D2C-B740-90EB6673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74B988-2DE7-4D26-BC51-1A58D8CB24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47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E5E0A-CE40-4298-8F44-AEF1FDEC1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3B28F-5764-4A6A-AE0B-793354178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7E80-BC4C-4A0A-B7E7-A9D14344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DFBEE-126A-47FE-941A-6B03B1D1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F5DD9-AF63-4ABC-A71A-A38B7DAD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927D2-3DF0-43B7-991E-81C5DE7395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06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1A72-0A85-4E4D-B10D-EE8651984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08096-6CEE-4228-8EEE-22333C198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0A347-AF4E-4CD4-BA01-F95DB8DA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4FC80-11BF-4315-A5A7-43AD3862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C29FB-00F9-412C-8FAE-CD78C07C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1C30AF-504D-4838-BFF1-8A6B03BC68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519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0794-7547-4F2A-A168-1F07FDA6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F6CC-9C68-4B75-9692-17D32D260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7FD82-4C18-4729-8C3D-B12CF118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E6BD2-14DE-4F7E-973D-0617A930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F66E-6CB4-455B-B5FB-0D7A9915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1AB889-C0C6-4E55-BABF-23DFBC49FB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04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668D-9662-4FCC-B045-CADBEFB0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E7992-067A-4CAB-B5F2-DFBA63DD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120C-FFB4-4691-AAA7-3BBA9C3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6D871-D350-4C2A-AFBA-60A38CC50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CC36-FB40-402D-887E-E0387091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1DA5BE-C64A-4F35-80D0-21BB68A91F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84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5A37-3A2A-4964-9884-FF05CCCE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06D25-3656-4474-A290-9F7E7B6C6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839F1-E548-46CE-A245-188877008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9EABE-686C-48C9-8938-A570CCDF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BD078-02E1-45F8-AA31-713A1C02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2CBDF-D939-49A2-BEF9-9BFE89E4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18F544-EA70-409A-819A-6000D237C6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94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91C3-2FE9-4EB5-83A6-DB67EE27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A0277-7731-4A6B-95DA-258FD7E8D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2BF70-18E6-453E-B130-9B4F34BAB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F6075-7E91-4542-8D66-3FF907123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1F19C-6FF2-4F6E-9AF2-F92B49692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17621-23B2-44EB-AEEA-6B917029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B7EDB-094A-45BA-A952-2B8B1463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A2FF3-F7FF-41CC-B50D-6C02BDD7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E19181F-7F84-43D0-BE39-1F2FC26A3D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29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72A8-306A-47DE-9737-FB223492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AF9B6-4660-42C6-8DA4-6718F922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D5F43-3E32-4954-909E-0396E407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89D92-91F4-4408-B3DE-3AF372E4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912253-6C5A-4E4E-871A-053FB9512A2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88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C7A9F-50F9-4F70-9BE0-4AFFDECD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AE16E-AE9C-492B-A6BB-B23C6F73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F4E5-6CE4-47C8-BA0F-642F9841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B409F4-C7E9-48F9-9607-A7018778C0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650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54E2-EE59-4B54-89B3-0B0DA513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083B-74DD-4F5E-8AC1-B3F3D5658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C7F66-31DD-49F6-B4CA-CF8B5B2F9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1FF8A-2F7B-48AC-B8F8-79718DE9A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EB736-A1AC-466A-BE98-81CCFE1E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C6CB-F112-463C-B5E9-3ED37189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EA4FAC-59A1-477B-9EFC-463E9CFEF3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D695-6E1D-46D7-B0E1-71A671E9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C32D8-1A32-4922-84B0-197EEC008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9EDA2-0852-4D14-BD4B-2A0FF4E1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903D4-E36B-4242-92C6-DC245716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A0853-D610-404F-BBE9-9979201C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0FD6D-E9BD-42ED-89E4-2BAEA3CA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3AFB97-04B8-423C-8CA7-E931434EEF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76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BB92-65D6-415B-91C6-6CF5AF3D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94FAD-4407-4485-A411-470BBB6BF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58BA-6A85-47D6-B1BF-3438C0D5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552D-280E-4983-8A8C-736C913A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113C3-F5EA-4E97-BABB-F5C76821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91E0EB-5199-4A3F-86CF-0850F0CBEF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935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DB824-C9BA-44E7-8CFC-D651C520A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A9073-E764-4D26-9022-8C5BB8453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1EEFE-7E17-4BE9-BE3E-CAB2DAF1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4248-516F-48ED-BDF8-E9DC8EAC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761F7-2093-42D3-94C7-DEB471E8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269027-B92E-406A-BF13-FF162BEE3C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738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296F-87A1-4DDA-BB4E-1A2454698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B6DF3-1268-4907-8CE0-0BAFDBDE2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C2FD5-3685-424F-8909-30E4F9DA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0A241-9B65-4A3A-A0C9-F43EEC38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ED5E6-3F46-4F26-B6E1-5126CC1A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F66383-33BB-4F56-8CE7-00DD0175E8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24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C770-F773-4D02-AF0D-D725EE11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31B1-ADC2-4F54-B4AC-FD2F327D6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DE9B-25A0-4AE7-A204-6BE4588B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80BC5-47C4-4C18-A901-BF9CC77B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DBDD3-E898-4629-BD83-DD7295827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4C9689-4F77-4F0D-ACC4-B6EEFAB6520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001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35AF-7CE7-484C-94DD-3F08DF86A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4F7A0-5772-4545-9759-22116125C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29F73-8913-46FD-B582-124CF81E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E1202-2F5E-4C20-89EC-6CA2A6BC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3769F-FDD3-47E8-A193-8145ACC1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DD301F-57BC-4B19-93B3-28D766222C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65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3CB1-2FB2-4BCE-83BF-9C9E8DA6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BC7B2-2A79-472E-B531-AE6589BBC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9B0F7-CBEB-4E99-A412-E97254CDB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EBB90-F411-4343-B841-6B40FD2DF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94871-F4B9-418B-BE27-DEBB7865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610A6-0F19-44FA-8752-8EF0EC39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68F756-FB31-49EC-A256-FC5F5463A9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04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73DB-CCF5-4975-9E14-EDB8CF8F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34868-9E34-422D-ADF6-82AF1DF9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590B7-3C08-4D76-8294-722650EAC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B0965-E4F4-4E26-90DA-6342C6446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B7242-2D5B-4FD3-ABFB-FAF026781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5342A-EF4F-4E4A-A3D2-4A9BD589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34813-750B-4B1C-AEC4-062670BB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27994-E320-4471-A981-A205BEC9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F4C0C1-B287-41F7-81D8-C175DA01E5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892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C87E-7EE5-49E1-9A38-36938937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B5A73-E8DC-4376-8FBC-5832C6A97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20656-9109-4CAB-8F4C-AB83C9FA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57628-6646-4552-B95B-E1F4E591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E622F0-8247-480E-9C4B-9877045086A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224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FD90D-EE44-46D7-8A5E-EC76BEE5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16CCA-1D2D-498D-B10D-12CED6B6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0B78C-D290-4558-AF35-A448163E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7186F5-AD2B-489E-BF8D-E4888AE36F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698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DABA-14CB-487B-AA04-4FD695FA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44DD5-D69E-43E5-8FE4-24A025DAD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ED05C-464C-4B38-87AB-41591B61B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19EA5-FD16-4D49-B5F6-7D116106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32D3E-A51B-4363-850C-097EFE9F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067EC-484B-4507-87AF-A239DED9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DEE9B3-C82D-4A5E-A6F6-B2AE29E018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522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8236-ED8C-4362-BB8E-5250C1CE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CCE59-6917-442E-BEB9-5012AAF51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7CEB5-364E-4F1C-9CF8-3B491D25B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16F90-9E3B-4FE2-9F68-4EFB1D1D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5BE76-72A8-4E54-BBD5-B63BD744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43ABC-6422-4028-8055-34F3FBAB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FA49E1-322B-4C27-9885-317B6F1148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939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9EA5-6962-4A7A-AB76-FD8E27B6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DE62C-A58A-46A3-B4FD-3D961C2ED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668C2-EFD0-4CE5-B12A-D6D7329CA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39EE3-0D1D-4AFA-98C7-A414573D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E757-C282-4E07-9486-77CE2FFF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FEBB25-13E7-4054-8BD4-FDB7FFAD93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316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81353-7755-4771-8EA6-A90DD46E5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DB4F3-D503-4292-81DF-1782D3756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C96B8-2199-4A81-B968-5E71B823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02106-3255-4059-98AC-3E3CF686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48F9D-A34B-429D-8603-72601AB2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4225C94-E1C2-4D41-A1B9-EA53772596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2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F7401B-AE8C-43DC-B73A-8964FC6617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B4D7680F-C8D3-4B55-84C2-E2C31AFE57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9939D-FAAF-4892-847B-1FAD24DF8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F1121-E241-4F96-9E3E-CF293BE95D2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D9A09-E1C0-41FE-A229-71EF3E4A048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32783-5E9A-44F7-899E-01CEB53760D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EBD0B35E-3658-44A9-8E5E-6CB6F207A3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US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F1F0F-A00F-4561-9942-D7D6D28021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E8412-6FB9-4D31-9D5E-6DEB801C5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9078-24CF-42AE-8C09-C9ECD6CB398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87737-676A-4005-A5E2-A7519429033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56D26-4C31-408A-984F-665A2D0B41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27ABBC3D-BC81-42A0-836B-948DF7056625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E4E89-6ECE-4704-8DC8-32F9DFAE8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32E90-FD9B-4093-BF13-981A1C50E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E8F3E-4C0F-43FE-9AA9-E9429331FBC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37DCC-8F1E-440E-81D9-E7E34BE7033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B037A-8A52-4D5F-B35F-612C9C6AE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7D8309B1-4AF9-46F5-B9DA-B10FF0DD8B6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US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FD4A41-304C-4452-9956-F645A2702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4267A-CDF5-46CA-93C7-EF8D85037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E688D-B1BA-406F-B5C5-2DA4F336F7D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C4E11-4495-40E3-AA18-EED70BD21C2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1F9C8-4786-4237-AA5E-CFC8FE1611D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45CE2EA1-D746-4DA8-AB3F-147BDFFB687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8D29-148D-4A2F-A928-343AB6B123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Information Technology Infrastructure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08E98-7EC2-462E-A34C-AD93E3E2B8F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 rtl="0"/>
            <a:r>
              <a:rPr lang="en-US" sz="2400"/>
              <a:t>Unit - 4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143F-CEE2-4CD2-ABC5-68D92FE077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AD96A-E650-427B-AA91-81C8BE4054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Shared technology resources that provide the platform for a firm's information system applications.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Components of IT Infrastructure: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Hardware: Physical devices and systems.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Software: Applications and systems to support operations.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Services: Consulting, education, and training.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Role of IT Infrastructure: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Supports customer service, vendor relationships, and internal business processes.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Directly impacts the firm's ability to serve customers, suppliers, and employees.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Impact of New Technologies: New IT advancements influence business strategies and the services firms provide to customers.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3174-336F-4F60-AEBF-9A65D79FB9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IT Infrastructure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1CB0D-11F2-47C3-83B4-24DF047D2C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598"/>
            <a:ext cx="9071640" cy="3996515"/>
          </a:xfrm>
        </p:spPr>
        <p:txBody>
          <a:bodyPr vert="horz">
            <a:normAutofit fontScale="47500" lnSpcReduction="20000"/>
          </a:bodyPr>
          <a:lstStyle/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dirty="0"/>
              <a:t>IT Infrastructure Overview: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dirty="0"/>
              <a:t>A set of physical devices and software applications required for enterprise operations.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dirty="0"/>
              <a:t>Includes firm-wide services budgeted by management, covering both human and technical capabilities.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 dirty="0"/>
              <a:t>Key Services in IT Infrastructure: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 dirty="0"/>
              <a:t>Computing Platforms: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dirty="0"/>
              <a:t>Devices like mainframes, desktop computers, laptops, and handheld devices connecting employees, customers, and suppliers.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 dirty="0"/>
              <a:t>Telecommunication Services: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dirty="0"/>
              <a:t>Provides data, voice, and video connectivity for internal and external communications.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 dirty="0"/>
              <a:t>Data Management Services: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dirty="0"/>
              <a:t>Stores and manages corporate data, with capabilities for data analysis.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000" dirty="0"/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FCE4-CB55-4386-A394-D559ED9252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IT Infrastructure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5E0E0-D601-4021-9A8F-EBD41F7E9E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/>
              <a:t>Application Software Services: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Enterprise-wide systems such as ERP, CRM, SCM, and knowledge management systems.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/>
              <a:t>IT Education Services: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Training employees to plan and implement future IT projects and investments.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/>
              <a:t>Physical Facilities Management Services: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Develops and manages the infrastructure for computing, telecommunications, and data management.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/>
              <a:t>Importance of IT Infrastructure: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Coordinates activities across entire firms and industries.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Helps reduce agency and transaction costs.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Provides a platform for electronic commerce, business, and emerging digital firms.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9707-E2D8-4FDC-B95E-06E898E0E6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IT Infrastructure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D4180-F4DF-4D19-A54A-07DFDAEEC9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b="1"/>
              <a:t>Computer Hardware Platforms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Includes servers, client machines (e.g., desktops, laptops, netbooks).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Key hardware components: computer case, monitor, keyboard.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Microprocessors: Intel, AMD, Sun SPARC, IBM power chips.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Example: Blade servers (modular, dedicated applications with microprocessors and memory).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b="1"/>
              <a:t>Operating System Platforms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System software managing computer resources and user communication.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Client OS: Predominantly Microsoft Windows for PCs.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/>
              <a:t>Other OS: Chrome OS (lightweight, for cloud computing), Android (mobile OS, multitouch interface).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16D2-21DC-419B-AA50-4D170CDA39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IT Infrastructure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BCED2-4972-4A49-9F34-3EB377F929A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400" b="1"/>
              <a:t>Enterprise Software Applications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Used in large organizations to improve productivity and efficiency.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Integrates all business operations and processes.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Leading providers: SAP, Oracle, and Microsoft (focused on small/medium businesses).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endParaRPr lang="en-US" sz="1400"/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400" b="1"/>
              <a:t>Internet Platforms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Infrastructure for websites, intranets, and extranets.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Includes hardware, software, and services for web hosting and development.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Web hosting services: Provide space and servers for maintaining websites.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Consulting and System Integration Services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4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 b="1"/>
              <a:t>Data Management and Storage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Enterprise Database Management Software (e.g., IBM DB2, Oracle, SQL Server).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400"/>
              <a:t>Storage area networks (SANs) for high-speed, dedicated storage networks.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endParaRPr lang="en-US" sz="1400"/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endParaRPr lang="en-US" sz="1400"/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3327-D84F-46D3-8EF1-52BA641C21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IT Infrastructure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573C-F9E3-4C68-93BA-FDE7F0E522E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300" b="1"/>
              <a:t>Networking / Telecommunications Platforms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Data networks: Connect users and organizations for resource access.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Leading hardware providers: Cisco, Alcatel-Lucent, Nortel, Juniper Networks.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Telecommunication services: Voice, data connectivity, wide area networks, wireless services, internet access.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 b="1"/>
              <a:t>Essential for deploying and maintaining IT infrastructure.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Consulting firms (e.g., Accenture, IBM Global Services, Infosys) provide expertise.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System integration: Ensures compatibility between new infrastructure and legacy systems.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1531-02DD-42B2-A5B5-F891800F6E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Contemporary Hardware Platform Trends: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7E9E5-E1D6-4EA5-B14E-06A534CF83A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300" b="1"/>
              <a:t>1. The Emerging Mobile Digital Platform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Mobile devices (smartphones like BlackBerry, iPhone) are now multifunctional: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Data transmission, Web browsing, email, instant messaging, and digital content display.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Netbooks: Small, low-cost, lightweight, optimized for wireless communication and Internet access.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Devices like tablets (e.g., iPad) and e-readers (e.g., Amazon Kindle) with web access capabilities.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 b="1"/>
              <a:t>2. Grid Computing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Grid computing connects geographically remote computers into a virtual supercomputer.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Uses idle CPU resources across the grid to perform tasks.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Enabled by high-speed internet and requires software for resource management and allocation.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477E-9220-4AE4-9316-08A75AACE8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Contemporary Hardware Platform Trends: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14F9D-1D29-4C90-9D1F-B92D361145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300" b="1"/>
              <a:t>3. Virtualization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Virtualization allows computing resources (e.g., storage, processing) to appear independent of physical configuration.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Single physical resources can be presented as multiple logical resources.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VMware: Leading vendor for Windows and Linux servers virtualization.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Microsoft: Offers Virtual Server Product and built-in virtualization in Windows Server.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/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 b="1"/>
              <a:t>4. Business Benefits of Virtualization: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Increases equipment utilization and reduces energy usage.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Virtualization can increase server utilization from 15-20% to 70% or higher.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Reduces the need for physical machines to handle workloads.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3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E348-77A6-4947-A903-57EE154A1B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Contemporary Hardware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C0238-BB4D-457B-9AEB-1AB040DD82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100" b="1"/>
              <a:t>5. Cloud Computing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Cloud computing: Delivers computing resources over the Internet as a pool of virtualized resources.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1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 b="1"/>
              <a:t>Characteristics (as defined by NIST):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On-demand self-service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Ubiquitous network access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Location-independent resource pooling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Rapid elasticity of resources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Measured service (charges based on usage)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100" b="1"/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 b="1"/>
              <a:t>Cloud Service Types: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Infrastructure as a Service (IaaS): Provides processing, storage, and networking.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Platform as a Service (PaaS): Offers tools for developing applications.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Software as a Service (SaaS): Delivers software over the network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1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EC77-B77C-4103-BCC3-2FE42113B4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Contemporary Hardware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EBCBC-1409-44E5-8B36-254D284160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100" b="1"/>
              <a:t>6. Green Computing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Focuses on reducing the environmental impact of computing devices.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Practices include energy-efficient devices, power consumption reduction, and eco-friendly disposal.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100"/>
              <a:t>A priority is to minimize computer power consumption for sustainability.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000" b="1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000" b="1"/>
              <a:t>High-Performance / Power-Saving Processors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000"/>
              <a:t>Modern processors feature multiple cores on a single chip for: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sz="1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Enhanced performance and efficient multitasking.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sz="1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Reduced power consumption—important for mobile devices.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000"/>
              <a:t>Examples include ARM, Apple’s A4 processor, and Intel’s Atom in smartphones, netbooks, and digital media players.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AF527-9723-42B3-A227-D44D244E62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/>
              <a:t>Contemporary Hardware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24C23-8ED4-42D0-A3C0-1D1A84E2D8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200" b="1"/>
              <a:t>7. Autonomic Computing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Autonomic computing refers to systems that: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Configure, optimize, and self-heal automatically.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Detect and defend against viruses and other security threats without human intervention.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Example: Virus and firewall protection software that detects and automatically mitigates threats.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5D76-3490-48FE-9858-4CB2DDDC84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Contemporary Software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6EA07-A65F-4D22-931A-78F024C672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600" b="1"/>
              <a:t>1. Linux and Open Source Software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Open Source Software: Developed by a global community of programmers; free and modifiable.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Popular Open Source Software: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Linux (operating system), Apache HTTP (web server), Mozilla Firefox (web browser).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Benefits for Businesses: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Cost reduction, reliability, resilience, and integration.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Linux supports a variety of hardware platforms (mainframes, servers, clients).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300"/>
              <a:t>Free or low-cost commercial versions (e.g., Red Hat).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F467-D830-4B66-9592-4BB9C0A160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Contemporary Software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C99C8-BE2F-4FD2-957D-6A0813BCB0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600" b="1"/>
              <a:t>2. Java and Ajax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600" b="1"/>
              <a:t>Java</a:t>
            </a:r>
            <a:r>
              <a:rPr lang="en-US" sz="1600"/>
              <a:t>: Platform-independent, object-oriented language for web-based applications.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Created by Sun Microsystems (1992).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Supports interactive web pages and complex e-commerce applications.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 b="1"/>
              <a:t>Ajax</a:t>
            </a:r>
            <a:r>
              <a:rPr lang="en-US" sz="1600"/>
              <a:t> (Asynchronous JavaScript and XML):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Allows small data exchanges between client and server without reloading entire web pages.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Enhances interactive web applications.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AE87-D8CB-4E98-8B55-498B1BB61A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Contemporary Software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D4722-0B3F-4635-A00B-EE7BAB8F5B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600" b="1"/>
              <a:t>3. Web Services and Service-Oriented Architecture (SOA)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Web Services: Loosely coupled software components that communicate using universal web standards (e.g., XML).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 b="1"/>
              <a:t>Service-Oriented Architecture (SOA):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A system of self-contained services that work together to create software applications.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Business tasks are completed by executing a series of web services.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600"/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600"/>
              <a:t>Major software platforms like IBM WebSphere and Microsoft .NET provide tools for building and integrating services.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4E63-1F50-42C4-9972-FD2FC247AE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Contemporary Software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2D79E-DB5D-4C53-AE12-13CC18E5E7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200" b="1"/>
              <a:t>4. Software Outsourcing and Cloud Services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Software Outsourcing: Firms contract external providers to develop or maintain custom software, often through offshore vendors.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Outsourcing includes maintenance, data entry, and call center operations.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 b="1"/>
              <a:t>Cloud-Based Software Tools: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Software and data hosted on remote servers accessible via the Internet.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Software as a Service (SaaS): Firms subscribe to cloud software services instead of purchasing and installing them.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Payment models: subscription or per-transaction basis.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Service Level Agreements (SLA) typically govern service quality and performance.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B537-CA6F-4FEF-8315-C7CAAA2A2D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Contemporary Software Platform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CBD6F-B25A-4BC9-B162-1C88BD8676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200" b="1"/>
              <a:t>Types of Software Outsourcing: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Commercial Software Packages: Pre-written software for standard business functions (e.g., SAP, Oracle PeopleSoft).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Cloud-Based Services: Hosted on cloud platforms by vendors (e.g., Google, Yahoo, enterprise software services).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Enterprise Software: Supports critical business functions like CRM, ERP, supply chain management, finance, HR.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200"/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 b="1"/>
              <a:t>5. Mashups and Apps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Mashups: Custom applications created by combining existing software components for specific business needs.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Apps: Small software applications that run on the Internet, computers, or mobile devices.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r>
              <a:rPr lang="en-US" sz="1200"/>
              <a:t>Delivered over the Internet; often web-based.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000"/>
          </a:p>
          <a:p>
            <a:pPr lvl="0" algn="l" rtl="0"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●"/>
            </a:pP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943D-A383-4C06-B916-9C502C1C0A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376000" y="2376000"/>
            <a:ext cx="7199640" cy="9468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 Pla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ueprint Plans-4: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tandard-4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1518</Words>
  <Application>Microsoft Office PowerPoint</Application>
  <PresentationFormat>Custom</PresentationFormat>
  <Paragraphs>196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Liberation Sans</vt:lpstr>
      <vt:lpstr>StarSymbol</vt:lpstr>
      <vt:lpstr>Blueprint Plans</vt:lpstr>
      <vt:lpstr>Standard</vt:lpstr>
      <vt:lpstr>Blueprint Plans-4:3</vt:lpstr>
      <vt:lpstr>Standard-43</vt:lpstr>
      <vt:lpstr>Information Technology Infrastructure</vt:lpstr>
      <vt:lpstr>Introduction</vt:lpstr>
      <vt:lpstr>IT Infrastructure Overview</vt:lpstr>
      <vt:lpstr>IT Infrastructure Overview</vt:lpstr>
      <vt:lpstr>IT Infrastructure Components</vt:lpstr>
      <vt:lpstr>IT Infrastructure Components</vt:lpstr>
      <vt:lpstr>IT Infrastructure Components</vt:lpstr>
      <vt:lpstr>Contemporary Hardware Platform Trends:</vt:lpstr>
      <vt:lpstr>Contemporary Hardware Platform Trends:</vt:lpstr>
      <vt:lpstr>Contemporary Hardware Platform Trends</vt:lpstr>
      <vt:lpstr>Contemporary Hardware Platform Trends</vt:lpstr>
      <vt:lpstr>Contemporary Hardware Platform Trends</vt:lpstr>
      <vt:lpstr>Contemporary Software Platform Trends</vt:lpstr>
      <vt:lpstr>Contemporary Software Platform Trends</vt:lpstr>
      <vt:lpstr>Contemporary Software Platform Trends</vt:lpstr>
      <vt:lpstr>Contemporary Software Platform Trends</vt:lpstr>
      <vt:lpstr>Contemporary Software Platform Trends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Plans</dc:title>
  <cp:lastModifiedBy>Toshiba</cp:lastModifiedBy>
  <cp:revision>5</cp:revision>
  <dcterms:created xsi:type="dcterms:W3CDTF">2024-11-25T23:48:08Z</dcterms:created>
  <dcterms:modified xsi:type="dcterms:W3CDTF">2025-08-26T15:55:54Z</dcterms:modified>
</cp:coreProperties>
</file>