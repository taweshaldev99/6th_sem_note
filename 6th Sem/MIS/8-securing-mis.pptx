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96988ac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96988ac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296988ac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296988ac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296988ac6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296988ac6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96988ac6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96988ac6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296988ac6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296988ac6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296988ac6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296988ac6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296988ac6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296988ac6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96988ac6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296988ac6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96988ac63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296988ac6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296988ac6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296988ac6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296988ac6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296988ac6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296988ac6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296988ac6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296988ac6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296988ac6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96988ac6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96988ac6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96988ac6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96988ac6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96988ac6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296988ac6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96988ac63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296988ac6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96988ac6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296988ac6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296988ac63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296988ac6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96988ac63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296988ac6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296988ac63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296988ac63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96988ac6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296988ac6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96988ac6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296988ac6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96988ac63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296988ac63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296988ac63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296988ac6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296988ac63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296988ac63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296988ac6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296988ac63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96988ac63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296988ac6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96988ac63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296988ac63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96988ac63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96988ac63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296988ac63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296988ac63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96988ac63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96988ac63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96988ac63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296988ac63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296988ac63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296988ac63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296988ac63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296988ac63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296988ac63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296988ac63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Unit - 8</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Security of Information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0"/>
              </a:spcAft>
              <a:buSzPts val="990"/>
              <a:buNone/>
            </a:pPr>
            <a:r>
              <a:rPr b="1" lang="en" sz="1600"/>
              <a:t>System Vulnerability and Abuse</a:t>
            </a:r>
            <a:endParaRPr sz="1600"/>
          </a:p>
          <a:p>
            <a:pPr indent="0" lvl="0" marL="0" rtl="0" algn="l">
              <a:spcBef>
                <a:spcPts val="200"/>
              </a:spcBef>
              <a:spcAft>
                <a:spcPts val="0"/>
              </a:spcAft>
              <a:buSzPts val="990"/>
              <a:buNone/>
            </a:pPr>
            <a:r>
              <a:t/>
            </a:r>
            <a:endParaRPr sz="2520"/>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1100">
                <a:solidFill>
                  <a:schemeClr val="dk1"/>
                </a:solidFill>
              </a:rPr>
              <a:t>A computer linked to the internet without a firewall or antivirus can be disabled within seconds.</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Recovery from such an attack can take days, impacting operations and productivity.</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Security</a:t>
            </a:r>
            <a:r>
              <a:rPr lang="en" sz="1100">
                <a:solidFill>
                  <a:schemeClr val="dk1"/>
                </a:solidFill>
              </a:rPr>
              <a:t>:</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Policies, procedures, and technical measures to prevent: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Unauthorized access.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Data alteration or theft.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Physical damage to information systems.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Controls</a:t>
            </a:r>
            <a:r>
              <a:rPr lang="en" sz="1100">
                <a:solidFill>
                  <a:schemeClr val="dk1"/>
                </a:solidFill>
              </a:rPr>
              <a:t>:</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Methods and organizational procedures to ensure:</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Safety of the organization’s assets.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Accuracy and reliability of records.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Adherence to management and operational standards.</a:t>
            </a:r>
            <a:endParaRPr sz="1100">
              <a:solidFill>
                <a:schemeClr val="dk1"/>
              </a:solidFill>
            </a:endParaRPr>
          </a:p>
          <a:p>
            <a:pPr indent="0" lvl="0" marL="0" rtl="0" algn="l">
              <a:spcBef>
                <a:spcPts val="1200"/>
              </a:spcBef>
              <a:spcAft>
                <a:spcPts val="0"/>
              </a:spcAft>
              <a:buNone/>
            </a:pPr>
            <a:r>
              <a:rPr lang="en" sz="1100">
                <a:solidFill>
                  <a:schemeClr val="dk1"/>
                </a:solidFill>
              </a:rPr>
              <a:t>Emphasis on security and control is critical for businesses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Why Systems Are Vulnerable?</a:t>
            </a:r>
            <a:endParaRPr sz="1600"/>
          </a:p>
          <a:p>
            <a:pPr indent="0" lvl="0" marL="0" rtl="0" algn="l">
              <a:spcBef>
                <a:spcPts val="40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Electronic Data Vulnerability</a:t>
            </a:r>
            <a:r>
              <a:rPr lang="en" sz="1100">
                <a:solidFill>
                  <a:schemeClr val="dk1"/>
                </a:solidFill>
              </a:rPr>
              <a:t>: Large amounts of electronically stored data are more prone to threats compared to manual storage.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Unauthorized Accessibility</a:t>
            </a:r>
            <a:r>
              <a:rPr lang="en" sz="1100">
                <a:solidFill>
                  <a:schemeClr val="dk1"/>
                </a:solidFill>
              </a:rPr>
              <a:t>: Data can be accessed without proper authorization.</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Data Theft or Tampering</a:t>
            </a:r>
            <a:r>
              <a:rPr lang="en" sz="1100">
                <a:solidFill>
                  <a:schemeClr val="dk1"/>
                </a:solidFill>
              </a:rPr>
              <a:t>: Valuable data can be stolen during transmission or altered without authorization.</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External Disruptions</a:t>
            </a:r>
            <a:r>
              <a:rPr lang="en" sz="1100">
                <a:solidFill>
                  <a:schemeClr val="dk1"/>
                </a:solidFill>
              </a:rPr>
              <a:t>:</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Radiation disrupting networks.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Intruders launching malicious software to compromise systems.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Corporate Data Risks</a:t>
            </a:r>
            <a:r>
              <a:rPr lang="en" sz="1100">
                <a:solidFill>
                  <a:schemeClr val="dk1"/>
                </a:solidFill>
              </a:rPr>
              <a:t>: Vulnerable to destruction or alteration in databases or files.</a:t>
            </a:r>
            <a:endParaRPr sz="11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Hardware Failures</a:t>
            </a:r>
            <a:r>
              <a:rPr lang="en" sz="1100">
                <a:solidFill>
                  <a:schemeClr val="dk1"/>
                </a:solidFill>
              </a:rPr>
              <a:t>:</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Malfunctioning systems.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Damage caused by improper use or criminal activities.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400"/>
              </a:spcBef>
              <a:spcAft>
                <a:spcPts val="0"/>
              </a:spcAft>
              <a:buClr>
                <a:schemeClr val="dk1"/>
              </a:buClr>
              <a:buSzPct val="68750"/>
              <a:buFont typeface="Arial"/>
              <a:buNone/>
            </a:pPr>
            <a:r>
              <a:rPr b="1" lang="en" sz="1600"/>
              <a:t>Why Systems Are Vulnerable?</a:t>
            </a:r>
            <a:endParaRPr sz="1600"/>
          </a:p>
          <a:p>
            <a:pPr indent="0" lvl="0" marL="0" rtl="0" algn="l">
              <a:spcBef>
                <a:spcPts val="40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chemeClr val="dk1"/>
                </a:solidFill>
              </a:rPr>
              <a:t>Software Issues</a:t>
            </a:r>
            <a:r>
              <a:rPr lang="en" sz="1400">
                <a:solidFill>
                  <a:schemeClr val="dk1"/>
                </a:solidFill>
              </a:rPr>
              <a:t>: Failures due to programming errors, improper installations, or unauthorized changes.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Natural Disasters</a:t>
            </a:r>
            <a:r>
              <a:rPr lang="en" sz="1400">
                <a:solidFill>
                  <a:schemeClr val="dk1"/>
                </a:solidFill>
              </a:rPr>
              <a:t>: Floods, fires, or other calamities that disrupt operations.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Partnership Risks</a:t>
            </a:r>
            <a:r>
              <a:rPr lang="en" sz="1400">
                <a:solidFill>
                  <a:schemeClr val="dk1"/>
                </a:solidFill>
              </a:rPr>
              <a:t>: Sharing valuable data with external companies increases exposure.</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Theft and Loss</a:t>
            </a:r>
            <a:r>
              <a:rPr lang="en" sz="1400">
                <a:solidFill>
                  <a:schemeClr val="dk1"/>
                </a:solidFill>
              </a:rPr>
              <a:t>: Devices and data can be lost, stolen, or destroyed.</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Mobile Device Threats</a:t>
            </a:r>
            <a:r>
              <a:rPr lang="en" sz="1400">
                <a:solidFill>
                  <a:schemeClr val="dk1"/>
                </a:solidFill>
              </a:rPr>
              <a:t>: Intruders accessing internal networks via smartphones.</a:t>
            </a:r>
            <a:endParaRPr sz="14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7"/>
          <p:cNvPicPr preferRelativeResize="0"/>
          <p:nvPr/>
        </p:nvPicPr>
        <p:blipFill>
          <a:blip r:embed="rId3">
            <a:alphaModFix/>
          </a:blip>
          <a:stretch>
            <a:fillRect/>
          </a:stretch>
        </p:blipFill>
        <p:spPr>
          <a:xfrm>
            <a:off x="29350" y="29350"/>
            <a:ext cx="9079326" cy="4989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1400"/>
              </a:spcBef>
              <a:spcAft>
                <a:spcPts val="400"/>
              </a:spcAft>
              <a:buNone/>
            </a:pPr>
            <a:r>
              <a:rPr b="1" lang="en" sz="1600"/>
              <a:t>Internet Vulnerabilities</a:t>
            </a:r>
            <a:endParaRPr sz="1600"/>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chemeClr val="dk1"/>
                </a:solidFill>
              </a:rPr>
              <a:t>Public Network Risks</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Large public networks like the Internet are open to anyone, making them more vulnerable.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Corporate networks integrating with the Internet face increased threats from outsiders.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Design Challenges</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The Internet was designed for easy access across different systems, making security harder.</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Unsecured media for data transmission can be intercepted and misused.</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Hacking Risks</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Fixed IP addresses act as fixed targets for hackers.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Internet software can introduce viruses and malicious programs into secure networks.</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400"/>
              </a:spcBef>
              <a:spcAft>
                <a:spcPts val="0"/>
              </a:spcAft>
              <a:buClr>
                <a:schemeClr val="dk1"/>
              </a:buClr>
              <a:buSzPct val="68750"/>
              <a:buFont typeface="Arial"/>
              <a:buNone/>
            </a:pPr>
            <a:r>
              <a:rPr b="1" lang="en" sz="1600"/>
              <a:t>Internet Vulnerabilities</a:t>
            </a:r>
            <a:endParaRPr sz="1600"/>
          </a:p>
          <a:p>
            <a:pPr indent="0" lvl="0" marL="0" rtl="0" algn="l">
              <a:spcBef>
                <a:spcPts val="400"/>
              </a:spcBef>
              <a:spcAft>
                <a:spcPts val="0"/>
              </a:spcAft>
              <a:buNone/>
            </a:pPr>
            <a:r>
              <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chemeClr val="dk1"/>
                </a:solidFill>
              </a:rPr>
              <a:t>Email and File Sharing Risks</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Emails may carry attachments that enable malicious software or unauthorized system access.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Employees can misuse email to share confidential trade secrets, financial data, or customer information.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Peer-to-peer file-sharing programs increase exposure to threats.</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Instant Messaging Vulnerabilities</a:t>
            </a:r>
            <a:r>
              <a:rPr lang="en" sz="1400">
                <a:solidFill>
                  <a:schemeClr val="dk1"/>
                </a:solidFill>
              </a:rPr>
              <a:t>:</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Popular consumer IM apps lack secure layers for message transmission.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Text messages can be intercepted and read during transmission over the public Internet.</a:t>
            </a:r>
            <a:endParaRPr sz="1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1"/>
              </a:buClr>
              <a:buSzPts val="1100"/>
              <a:buFont typeface="Arial"/>
              <a:buNone/>
            </a:pPr>
            <a:r>
              <a:rPr b="1" lang="en" sz="1600"/>
              <a:t>Wireless Security Challenges</a:t>
            </a:r>
            <a:endParaRPr b="1" sz="1600"/>
          </a:p>
          <a:p>
            <a:pPr indent="0" lvl="0" marL="0" rtl="0" algn="l">
              <a:spcBef>
                <a:spcPts val="400"/>
              </a:spcBef>
              <a:spcAft>
                <a:spcPts val="0"/>
              </a:spcAft>
              <a:buNone/>
            </a:pPr>
            <a:r>
              <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1"/>
                </a:solidFill>
              </a:rPr>
              <a:t>Vulnerability of Wireless Networks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Radio frequency bands are easy to scan, making wireless networks highly vulnerable.</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Wi-Fi Penetration Risks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LANs using Wi-Fi (802.11b) can be accessed by outsiders using:</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Laptops, wireless cards, external antennas.</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Freeware hacking software.</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Service Set Identifiers (SSID)</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Access points in Wi-Fi networks broadcast SSIDs multiple times.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Sniffer programs can easily pick up these identifiers.</a:t>
            </a:r>
            <a:endParaRPr sz="1300">
              <a:solidFill>
                <a:schemeClr val="dk1"/>
              </a:solidFill>
            </a:endParaRPr>
          </a:p>
          <a:p>
            <a:pPr indent="0" lvl="0" marL="0" rtl="0" algn="l">
              <a:spcBef>
                <a:spcPts val="1200"/>
              </a:spcBef>
              <a:spcAft>
                <a:spcPts val="120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1400"/>
              </a:spcBef>
              <a:spcAft>
                <a:spcPts val="0"/>
              </a:spcAft>
              <a:buClr>
                <a:schemeClr val="dk1"/>
              </a:buClr>
              <a:buSzPct val="68750"/>
              <a:buFont typeface="Arial"/>
              <a:buNone/>
            </a:pPr>
            <a:r>
              <a:rPr b="1" lang="en" sz="1600"/>
              <a:t>Wireless Security Challenges</a:t>
            </a:r>
            <a:endParaRPr b="1" sz="1600"/>
          </a:p>
          <a:p>
            <a:pPr indent="0" lvl="0" marL="0" rtl="0" algn="l">
              <a:spcBef>
                <a:spcPts val="400"/>
              </a:spcBef>
              <a:spcAft>
                <a:spcPts val="0"/>
              </a:spcAft>
              <a:buNone/>
            </a:pPr>
            <a:r>
              <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War Driving</a:t>
            </a:r>
            <a:r>
              <a:rPr lang="en" sz="1500">
                <a:solidFill>
                  <a:schemeClr val="dk1"/>
                </a:solidFill>
              </a:rPr>
              <a:t>:</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Eavesdroppers drive by buildings or park nearby to intercept wireless network traffic.</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WEP Security Flaws</a:t>
            </a:r>
            <a:r>
              <a:rPr lang="en" sz="1500">
                <a:solidFill>
                  <a:schemeClr val="dk1"/>
                </a:solidFill>
              </a:rPr>
              <a:t>:</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Wired Equivalent Privacy (WEP), the initial Wi-Fi security standard, is weak and ineffective.</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Many users fail to enable WEP, leaving access points unprotected.</a:t>
            </a:r>
            <a:endParaRPr sz="1500">
              <a:solidFill>
                <a:schemeClr val="dk1"/>
              </a:solidFill>
            </a:endParaRPr>
          </a:p>
          <a:p>
            <a:pPr indent="0" lvl="0" marL="0" rtl="0" algn="l">
              <a:spcBef>
                <a:spcPts val="1200"/>
              </a:spcBef>
              <a:spcAft>
                <a:spcPts val="1200"/>
              </a:spcAft>
              <a:buNone/>
            </a:pPr>
            <a:r>
              <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1"/>
              </a:buClr>
              <a:buSzPts val="1100"/>
              <a:buFont typeface="Arial"/>
              <a:buNone/>
            </a:pPr>
            <a:r>
              <a:rPr b="1" lang="en" sz="1600"/>
              <a:t>Malicious Software</a:t>
            </a:r>
            <a:endParaRPr b="1" sz="1600"/>
          </a:p>
          <a:p>
            <a:pPr indent="0" lvl="0" marL="0" rtl="0" algn="l">
              <a:spcBef>
                <a:spcPts val="400"/>
              </a:spcBef>
              <a:spcAft>
                <a:spcPts val="0"/>
              </a:spcAft>
              <a:buNone/>
            </a:pPr>
            <a:r>
              <a:t/>
            </a:r>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solidFill>
                  <a:schemeClr val="dk1"/>
                </a:solidFill>
              </a:rPr>
              <a:t>Malware refers to any software designed to harm or disrupt a computer system.</a:t>
            </a:r>
            <a:endParaRPr>
              <a:solidFill>
                <a:schemeClr val="dk1"/>
              </a:solidFill>
            </a:endParaRPr>
          </a:p>
          <a:p>
            <a:pPr indent="-315617" lvl="0" marL="457200" rtl="0" algn="l">
              <a:spcBef>
                <a:spcPts val="1400"/>
              </a:spcBef>
              <a:spcAft>
                <a:spcPts val="0"/>
              </a:spcAft>
              <a:buClr>
                <a:schemeClr val="dk1"/>
              </a:buClr>
              <a:buSzPct val="100000"/>
              <a:buAutoNum type="arabicPeriod"/>
            </a:pPr>
            <a:r>
              <a:rPr b="1" lang="en" sz="1957">
                <a:solidFill>
                  <a:schemeClr val="dk1"/>
                </a:solidFill>
              </a:rPr>
              <a:t>Computer Viruses</a:t>
            </a:r>
            <a:endParaRPr b="1" sz="1957">
              <a:solidFill>
                <a:schemeClr val="dk1"/>
              </a:solidFill>
            </a:endParaRPr>
          </a:p>
          <a:p>
            <a:pPr indent="0" lvl="0" marL="0" rtl="0" algn="l">
              <a:spcBef>
                <a:spcPts val="400"/>
              </a:spcBef>
              <a:spcAft>
                <a:spcPts val="0"/>
              </a:spcAft>
              <a:buClr>
                <a:schemeClr val="dk1"/>
              </a:buClr>
              <a:buSzPct val="62583"/>
              <a:buFont typeface="Arial"/>
              <a:buNone/>
            </a:pPr>
            <a:r>
              <a:rPr lang="en" sz="1757">
                <a:solidFill>
                  <a:schemeClr val="dk1"/>
                </a:solidFill>
              </a:rPr>
              <a:t>Rogue software that attaches to programs or files to execute harmful actions.</a:t>
            </a:r>
            <a:endParaRPr sz="1757">
              <a:solidFill>
                <a:schemeClr val="dk1"/>
              </a:solidFill>
            </a:endParaRPr>
          </a:p>
          <a:p>
            <a:pPr indent="-306727" lvl="0" marL="457200" rtl="0" algn="l">
              <a:spcBef>
                <a:spcPts val="1200"/>
              </a:spcBef>
              <a:spcAft>
                <a:spcPts val="0"/>
              </a:spcAft>
              <a:buClr>
                <a:schemeClr val="dk1"/>
              </a:buClr>
              <a:buSzPct val="100000"/>
              <a:buChar char="●"/>
            </a:pPr>
            <a:r>
              <a:rPr lang="en" sz="1757">
                <a:solidFill>
                  <a:schemeClr val="dk1"/>
                </a:solidFill>
              </a:rPr>
              <a:t>Can damage files, computer memory, and hard drives.</a:t>
            </a:r>
            <a:endParaRPr sz="1757">
              <a:solidFill>
                <a:schemeClr val="dk1"/>
              </a:solidFill>
            </a:endParaRPr>
          </a:p>
          <a:p>
            <a:pPr indent="-306727" lvl="0" marL="457200" rtl="0" algn="l">
              <a:spcBef>
                <a:spcPts val="0"/>
              </a:spcBef>
              <a:spcAft>
                <a:spcPts val="0"/>
              </a:spcAft>
              <a:buClr>
                <a:schemeClr val="dk1"/>
              </a:buClr>
              <a:buSzPct val="100000"/>
              <a:buChar char="●"/>
            </a:pPr>
            <a:r>
              <a:rPr lang="en" sz="1757">
                <a:solidFill>
                  <a:schemeClr val="dk1"/>
                </a:solidFill>
              </a:rPr>
              <a:t>Designed to spread via email attachments or copied files.</a:t>
            </a:r>
            <a:endParaRPr sz="1757">
              <a:solidFill>
                <a:schemeClr val="dk1"/>
              </a:solidFill>
            </a:endParaRPr>
          </a:p>
          <a:p>
            <a:pPr indent="0" lvl="0" marL="0" rtl="0" algn="l">
              <a:spcBef>
                <a:spcPts val="1200"/>
              </a:spcBef>
              <a:spcAft>
                <a:spcPts val="0"/>
              </a:spcAft>
              <a:buClr>
                <a:schemeClr val="dk1"/>
              </a:buClr>
              <a:buSzPct val="62583"/>
              <a:buFont typeface="Arial"/>
              <a:buNone/>
            </a:pPr>
            <a:r>
              <a:rPr b="1" lang="en" sz="1757">
                <a:solidFill>
                  <a:schemeClr val="dk1"/>
                </a:solidFill>
              </a:rPr>
              <a:t>Types of Malware Associated with Viruses</a:t>
            </a:r>
            <a:r>
              <a:rPr lang="en" sz="1757">
                <a:solidFill>
                  <a:schemeClr val="dk1"/>
                </a:solidFill>
              </a:rPr>
              <a:t>:</a:t>
            </a:r>
            <a:endParaRPr sz="1757">
              <a:solidFill>
                <a:schemeClr val="dk1"/>
              </a:solidFill>
            </a:endParaRPr>
          </a:p>
          <a:p>
            <a:pPr indent="-306727" lvl="0" marL="457200" rtl="0" algn="l">
              <a:spcBef>
                <a:spcPts val="1200"/>
              </a:spcBef>
              <a:spcAft>
                <a:spcPts val="0"/>
              </a:spcAft>
              <a:buClr>
                <a:schemeClr val="dk1"/>
              </a:buClr>
              <a:buSzPct val="100000"/>
              <a:buChar char="●"/>
            </a:pPr>
            <a:r>
              <a:rPr b="1" lang="en" sz="1757">
                <a:solidFill>
                  <a:schemeClr val="dk1"/>
                </a:solidFill>
              </a:rPr>
              <a:t>Worms</a:t>
            </a:r>
            <a:r>
              <a:rPr lang="en" sz="1757">
                <a:solidFill>
                  <a:schemeClr val="dk1"/>
                </a:solidFill>
              </a:rPr>
              <a:t>: (Independent programs that replicate and spread over networks, Spread rapidly without needing other files or programs.)</a:t>
            </a:r>
            <a:endParaRPr sz="1757">
              <a:solidFill>
                <a:schemeClr val="dk1"/>
              </a:solidFill>
            </a:endParaRPr>
          </a:p>
          <a:p>
            <a:pPr indent="-306727" lvl="0" marL="457200" rtl="0" algn="l">
              <a:spcBef>
                <a:spcPts val="0"/>
              </a:spcBef>
              <a:spcAft>
                <a:spcPts val="0"/>
              </a:spcAft>
              <a:buClr>
                <a:schemeClr val="dk1"/>
              </a:buClr>
              <a:buSzPct val="100000"/>
              <a:buChar char="●"/>
            </a:pPr>
            <a:r>
              <a:rPr b="1" lang="en" sz="1757">
                <a:solidFill>
                  <a:schemeClr val="dk1"/>
                </a:solidFill>
              </a:rPr>
              <a:t>Trojan Horses</a:t>
            </a:r>
            <a:r>
              <a:rPr lang="en" sz="1757">
                <a:solidFill>
                  <a:schemeClr val="dk1"/>
                </a:solidFill>
              </a:rPr>
              <a:t>: (Seemingly benign programs that perform hidden malicious actions, May install malware or compromise security.)</a:t>
            </a:r>
            <a:endParaRPr sz="1757">
              <a:solidFill>
                <a:schemeClr val="dk1"/>
              </a:solidFill>
            </a:endParaRPr>
          </a:p>
          <a:p>
            <a:pPr indent="-306727" lvl="0" marL="457200" rtl="0" algn="l">
              <a:spcBef>
                <a:spcPts val="0"/>
              </a:spcBef>
              <a:spcAft>
                <a:spcPts val="0"/>
              </a:spcAft>
              <a:buClr>
                <a:schemeClr val="dk1"/>
              </a:buClr>
              <a:buSzPct val="100000"/>
              <a:buChar char="●"/>
            </a:pPr>
            <a:r>
              <a:rPr b="1" lang="en" sz="1757">
                <a:solidFill>
                  <a:schemeClr val="dk1"/>
                </a:solidFill>
              </a:rPr>
              <a:t>Spyware</a:t>
            </a:r>
            <a:r>
              <a:rPr lang="en" sz="1757">
                <a:solidFill>
                  <a:schemeClr val="dk1"/>
                </a:solidFill>
              </a:rPr>
              <a:t>: (Gathers information about users, infringing on privacy, Tracks buying habits and sensitive data.)</a:t>
            </a:r>
            <a:endParaRPr sz="1757">
              <a:solidFill>
                <a:schemeClr val="dk1"/>
              </a:solidFill>
            </a:endParaRPr>
          </a:p>
          <a:p>
            <a:pPr indent="-306727" lvl="0" marL="457200" rtl="0" algn="l">
              <a:spcBef>
                <a:spcPts val="0"/>
              </a:spcBef>
              <a:spcAft>
                <a:spcPts val="0"/>
              </a:spcAft>
              <a:buClr>
                <a:schemeClr val="dk1"/>
              </a:buClr>
              <a:buSzPct val="100000"/>
              <a:buChar char="●"/>
            </a:pPr>
            <a:r>
              <a:rPr b="1" lang="en" sz="1757">
                <a:solidFill>
                  <a:schemeClr val="dk1"/>
                </a:solidFill>
              </a:rPr>
              <a:t>Keyloggers</a:t>
            </a:r>
            <a:r>
              <a:rPr lang="en" sz="1757">
                <a:solidFill>
                  <a:schemeClr val="dk1"/>
                </a:solidFill>
              </a:rPr>
              <a:t>: Record keystrokes to steal sensitive information like software serial numbers and passwords.</a:t>
            </a:r>
            <a:endParaRPr sz="1757">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14" name="Google Shape;11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rPr>
              <a:t>2.</a:t>
            </a:r>
            <a:r>
              <a:rPr lang="en"/>
              <a:t> </a:t>
            </a:r>
            <a:r>
              <a:rPr b="1" lang="en" sz="1300">
                <a:solidFill>
                  <a:schemeClr val="dk1"/>
                </a:solidFill>
              </a:rPr>
              <a:t>Hackers and Computer Crime</a:t>
            </a:r>
            <a:endParaRPr b="1"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Hackers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Individuals attempting to gain unauthorized access to computer systems.</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Crackers</a:t>
            </a:r>
            <a:r>
              <a:rPr lang="en" sz="1300">
                <a:solidFill>
                  <a:schemeClr val="dk1"/>
                </a:solidFill>
              </a:rPr>
              <a:t>: Hackers with explicit criminal intent.</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Spoofing</a:t>
            </a:r>
            <a:r>
              <a:rPr lang="en" sz="1300">
                <a:solidFill>
                  <a:schemeClr val="dk1"/>
                </a:solidFill>
              </a:rPr>
              <a:t>: Misrepresentation using fake email addresses or masquerading as someone else.</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Expanded Activities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System intrusion for malicious purposes.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Theft of goods, sensitive information, and intellectual property.</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System damage through:</a:t>
            </a:r>
            <a:endParaRPr sz="1300">
              <a:solidFill>
                <a:schemeClr val="dk1"/>
              </a:solidFill>
            </a:endParaRPr>
          </a:p>
          <a:p>
            <a:pPr indent="-311150" lvl="1" marL="914400" rtl="0" algn="l">
              <a:spcBef>
                <a:spcPts val="0"/>
              </a:spcBef>
              <a:spcAft>
                <a:spcPts val="0"/>
              </a:spcAft>
              <a:buClr>
                <a:schemeClr val="dk1"/>
              </a:buClr>
              <a:buSzPts val="1300"/>
              <a:buChar char="○"/>
            </a:pPr>
            <a:r>
              <a:rPr b="1" lang="en" sz="1300">
                <a:solidFill>
                  <a:schemeClr val="dk1"/>
                </a:solidFill>
              </a:rPr>
              <a:t>Cybervandalism</a:t>
            </a:r>
            <a:r>
              <a:rPr lang="en" sz="1300">
                <a:solidFill>
                  <a:schemeClr val="dk1"/>
                </a:solidFill>
              </a:rPr>
              <a:t>:</a:t>
            </a:r>
            <a:endParaRPr sz="1300">
              <a:solidFill>
                <a:schemeClr val="dk1"/>
              </a:solidFill>
            </a:endParaRPr>
          </a:p>
          <a:p>
            <a:pPr indent="-311150" lvl="2" marL="1371600" rtl="0" algn="l">
              <a:spcBef>
                <a:spcPts val="0"/>
              </a:spcBef>
              <a:spcAft>
                <a:spcPts val="0"/>
              </a:spcAft>
              <a:buClr>
                <a:schemeClr val="dk1"/>
              </a:buClr>
              <a:buSzPts val="1300"/>
              <a:buChar char="■"/>
            </a:pPr>
            <a:r>
              <a:rPr lang="en" sz="1300">
                <a:solidFill>
                  <a:schemeClr val="dk1"/>
                </a:solidFill>
              </a:rPr>
              <a:t>Intentional disruption.</a:t>
            </a:r>
            <a:endParaRPr sz="1300">
              <a:solidFill>
                <a:schemeClr val="dk1"/>
              </a:solidFill>
            </a:endParaRPr>
          </a:p>
          <a:p>
            <a:pPr indent="-311150" lvl="2" marL="1371600" rtl="0" algn="l">
              <a:spcBef>
                <a:spcPts val="0"/>
              </a:spcBef>
              <a:spcAft>
                <a:spcPts val="0"/>
              </a:spcAft>
              <a:buClr>
                <a:schemeClr val="dk1"/>
              </a:buClr>
              <a:buSzPts val="1300"/>
              <a:buChar char="■"/>
            </a:pPr>
            <a:r>
              <a:rPr lang="en" sz="1300">
                <a:solidFill>
                  <a:schemeClr val="dk1"/>
                </a:solidFill>
              </a:rPr>
              <a:t>Defacement of websites.</a:t>
            </a:r>
            <a:endParaRPr sz="1300">
              <a:solidFill>
                <a:schemeClr val="dk1"/>
              </a:solidFill>
            </a:endParaRPr>
          </a:p>
          <a:p>
            <a:pPr indent="-311150" lvl="2" marL="1371600" rtl="0" algn="l">
              <a:spcBef>
                <a:spcPts val="0"/>
              </a:spcBef>
              <a:spcAft>
                <a:spcPts val="0"/>
              </a:spcAft>
              <a:buClr>
                <a:schemeClr val="dk1"/>
              </a:buClr>
              <a:buSzPts val="1300"/>
              <a:buChar char="■"/>
            </a:pPr>
            <a:r>
              <a:rPr lang="en" sz="1300">
                <a:solidFill>
                  <a:schemeClr val="dk1"/>
                </a:solidFill>
              </a:rPr>
              <a:t>Destruction of corporate information systems.</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20" name="Google Shape;12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solidFill>
                  <a:schemeClr val="dk1"/>
                </a:solidFill>
              </a:rPr>
              <a:t>Spoofing and Sniffing</a:t>
            </a:r>
            <a:endParaRPr b="1">
              <a:solidFill>
                <a:schemeClr val="dk1"/>
              </a:solidFill>
            </a:endParaRPr>
          </a:p>
          <a:p>
            <a:pPr indent="0" lvl="0" marL="0" rtl="0" algn="l">
              <a:spcBef>
                <a:spcPts val="1200"/>
              </a:spcBef>
              <a:spcAft>
                <a:spcPts val="0"/>
              </a:spcAft>
              <a:buClr>
                <a:schemeClr val="dk1"/>
              </a:buClr>
              <a:buSzPct val="74369"/>
              <a:buFont typeface="Arial"/>
              <a:buNone/>
            </a:pPr>
            <a:r>
              <a:rPr b="1" lang="en" sz="1479">
                <a:solidFill>
                  <a:schemeClr val="dk1"/>
                </a:solidFill>
              </a:rPr>
              <a:t>Spoofing</a:t>
            </a:r>
            <a:r>
              <a:rPr lang="en" sz="1479">
                <a:solidFill>
                  <a:schemeClr val="dk1"/>
                </a:solidFill>
              </a:rPr>
              <a:t>:</a:t>
            </a:r>
            <a:endParaRPr sz="1479">
              <a:solidFill>
                <a:schemeClr val="dk1"/>
              </a:solidFill>
            </a:endParaRPr>
          </a:p>
          <a:p>
            <a:pPr indent="-301390" lvl="0" marL="457200" rtl="0" algn="l">
              <a:spcBef>
                <a:spcPts val="1200"/>
              </a:spcBef>
              <a:spcAft>
                <a:spcPts val="0"/>
              </a:spcAft>
              <a:buClr>
                <a:schemeClr val="dk1"/>
              </a:buClr>
              <a:buSzPct val="100000"/>
              <a:buChar char="●"/>
            </a:pPr>
            <a:r>
              <a:rPr lang="en" sz="1479">
                <a:solidFill>
                  <a:schemeClr val="dk1"/>
                </a:solidFill>
              </a:rPr>
              <a:t>Misrepresentation by hackers to conceal their identity.</a:t>
            </a:r>
            <a:endParaRPr sz="1479">
              <a:solidFill>
                <a:schemeClr val="dk1"/>
              </a:solidFill>
            </a:endParaRPr>
          </a:p>
          <a:p>
            <a:pPr indent="-301390" lvl="0" marL="457200" rtl="0" algn="l">
              <a:spcBef>
                <a:spcPts val="0"/>
              </a:spcBef>
              <a:spcAft>
                <a:spcPts val="0"/>
              </a:spcAft>
              <a:buClr>
                <a:schemeClr val="dk1"/>
              </a:buClr>
              <a:buSzPct val="100000"/>
              <a:buChar char="●"/>
            </a:pPr>
            <a:r>
              <a:rPr b="1" lang="en" sz="1479">
                <a:solidFill>
                  <a:schemeClr val="dk1"/>
                </a:solidFill>
              </a:rPr>
              <a:t>Methods</a:t>
            </a:r>
            <a:r>
              <a:rPr lang="en" sz="1479">
                <a:solidFill>
                  <a:schemeClr val="dk1"/>
                </a:solidFill>
              </a:rPr>
              <a:t>:</a:t>
            </a:r>
            <a:endParaRPr sz="1479">
              <a:solidFill>
                <a:schemeClr val="dk1"/>
              </a:solidFill>
            </a:endParaRPr>
          </a:p>
          <a:p>
            <a:pPr indent="-301390" lvl="1" marL="914400" rtl="0" algn="l">
              <a:spcBef>
                <a:spcPts val="0"/>
              </a:spcBef>
              <a:spcAft>
                <a:spcPts val="0"/>
              </a:spcAft>
              <a:buClr>
                <a:schemeClr val="dk1"/>
              </a:buClr>
              <a:buSzPct val="100000"/>
              <a:buChar char="○"/>
            </a:pPr>
            <a:r>
              <a:rPr lang="en" sz="1479">
                <a:solidFill>
                  <a:schemeClr val="dk1"/>
                </a:solidFill>
              </a:rPr>
              <a:t>Using fake email addresses or pretending to be someone else.</a:t>
            </a:r>
            <a:endParaRPr sz="1479">
              <a:solidFill>
                <a:schemeClr val="dk1"/>
              </a:solidFill>
            </a:endParaRPr>
          </a:p>
          <a:p>
            <a:pPr indent="-301390" lvl="1" marL="914400" rtl="0" algn="l">
              <a:spcBef>
                <a:spcPts val="0"/>
              </a:spcBef>
              <a:spcAft>
                <a:spcPts val="0"/>
              </a:spcAft>
              <a:buClr>
                <a:schemeClr val="dk1"/>
              </a:buClr>
              <a:buSzPct val="100000"/>
              <a:buChar char="○"/>
            </a:pPr>
            <a:r>
              <a:rPr lang="en" sz="1479">
                <a:solidFill>
                  <a:schemeClr val="dk1"/>
                </a:solidFill>
              </a:rPr>
              <a:t>Redirecting web links to malicious sites disguised as legitimate destinations.</a:t>
            </a:r>
            <a:endParaRPr sz="1479">
              <a:solidFill>
                <a:schemeClr val="dk1"/>
              </a:solidFill>
            </a:endParaRPr>
          </a:p>
          <a:p>
            <a:pPr indent="0" lvl="0" marL="0" rtl="0" algn="l">
              <a:spcBef>
                <a:spcPts val="1200"/>
              </a:spcBef>
              <a:spcAft>
                <a:spcPts val="0"/>
              </a:spcAft>
              <a:buClr>
                <a:schemeClr val="dk1"/>
              </a:buClr>
              <a:buSzPct val="74369"/>
              <a:buFont typeface="Arial"/>
              <a:buNone/>
            </a:pPr>
            <a:r>
              <a:rPr b="1" lang="en" sz="1479">
                <a:solidFill>
                  <a:schemeClr val="dk1"/>
                </a:solidFill>
              </a:rPr>
              <a:t>Sniffing</a:t>
            </a:r>
            <a:r>
              <a:rPr lang="en" sz="1479">
                <a:solidFill>
                  <a:schemeClr val="dk1"/>
                </a:solidFill>
              </a:rPr>
              <a:t>:</a:t>
            </a:r>
            <a:endParaRPr sz="1479">
              <a:solidFill>
                <a:schemeClr val="dk1"/>
              </a:solidFill>
            </a:endParaRPr>
          </a:p>
          <a:p>
            <a:pPr indent="-301390" lvl="0" marL="457200" rtl="0" algn="l">
              <a:spcBef>
                <a:spcPts val="1200"/>
              </a:spcBef>
              <a:spcAft>
                <a:spcPts val="0"/>
              </a:spcAft>
              <a:buClr>
                <a:schemeClr val="dk1"/>
              </a:buClr>
              <a:buSzPct val="100000"/>
              <a:buChar char="●"/>
            </a:pPr>
            <a:r>
              <a:rPr b="1" lang="en" sz="1479">
                <a:solidFill>
                  <a:schemeClr val="dk1"/>
                </a:solidFill>
              </a:rPr>
              <a:t>Definition</a:t>
            </a:r>
            <a:r>
              <a:rPr lang="en" sz="1479">
                <a:solidFill>
                  <a:schemeClr val="dk1"/>
                </a:solidFill>
              </a:rPr>
              <a:t>: A program that eavesdrops on data traveling over a network.</a:t>
            </a:r>
            <a:endParaRPr sz="1479">
              <a:solidFill>
                <a:schemeClr val="dk1"/>
              </a:solidFill>
            </a:endParaRPr>
          </a:p>
          <a:p>
            <a:pPr indent="-301390" lvl="0" marL="457200" rtl="0" algn="l">
              <a:spcBef>
                <a:spcPts val="0"/>
              </a:spcBef>
              <a:spcAft>
                <a:spcPts val="0"/>
              </a:spcAft>
              <a:buClr>
                <a:schemeClr val="dk1"/>
              </a:buClr>
              <a:buSzPct val="100000"/>
              <a:buChar char="●"/>
            </a:pPr>
            <a:r>
              <a:rPr b="1" lang="en" sz="1479">
                <a:solidFill>
                  <a:schemeClr val="dk1"/>
                </a:solidFill>
              </a:rPr>
              <a:t>Legitimate Uses</a:t>
            </a:r>
            <a:r>
              <a:rPr lang="en" sz="1479">
                <a:solidFill>
                  <a:schemeClr val="dk1"/>
                </a:solidFill>
              </a:rPr>
              <a:t>:</a:t>
            </a:r>
            <a:endParaRPr sz="1479">
              <a:solidFill>
                <a:schemeClr val="dk1"/>
              </a:solidFill>
            </a:endParaRPr>
          </a:p>
          <a:p>
            <a:pPr indent="-301390" lvl="1" marL="914400" rtl="0" algn="l">
              <a:spcBef>
                <a:spcPts val="0"/>
              </a:spcBef>
              <a:spcAft>
                <a:spcPts val="0"/>
              </a:spcAft>
              <a:buClr>
                <a:schemeClr val="dk1"/>
              </a:buClr>
              <a:buSzPct val="100000"/>
              <a:buChar char="○"/>
            </a:pPr>
            <a:r>
              <a:rPr lang="en" sz="1479">
                <a:solidFill>
                  <a:schemeClr val="dk1"/>
                </a:solidFill>
              </a:rPr>
              <a:t>Identifying network issues.</a:t>
            </a:r>
            <a:endParaRPr sz="1479">
              <a:solidFill>
                <a:schemeClr val="dk1"/>
              </a:solidFill>
            </a:endParaRPr>
          </a:p>
          <a:p>
            <a:pPr indent="-301390" lvl="1" marL="914400" rtl="0" algn="l">
              <a:spcBef>
                <a:spcPts val="0"/>
              </a:spcBef>
              <a:spcAft>
                <a:spcPts val="0"/>
              </a:spcAft>
              <a:buClr>
                <a:schemeClr val="dk1"/>
              </a:buClr>
              <a:buSzPct val="100000"/>
              <a:buChar char="○"/>
            </a:pPr>
            <a:r>
              <a:rPr lang="en" sz="1479">
                <a:solidFill>
                  <a:schemeClr val="dk1"/>
                </a:solidFill>
              </a:rPr>
              <a:t>Monitoring criminal activity on networks.</a:t>
            </a:r>
            <a:endParaRPr sz="1479">
              <a:solidFill>
                <a:schemeClr val="dk1"/>
              </a:solidFill>
            </a:endParaRPr>
          </a:p>
          <a:p>
            <a:pPr indent="-301390" lvl="0" marL="457200" rtl="0" algn="l">
              <a:spcBef>
                <a:spcPts val="0"/>
              </a:spcBef>
              <a:spcAft>
                <a:spcPts val="0"/>
              </a:spcAft>
              <a:buClr>
                <a:schemeClr val="dk1"/>
              </a:buClr>
              <a:buSzPct val="100000"/>
              <a:buChar char="●"/>
            </a:pPr>
            <a:r>
              <a:rPr b="1" lang="en" sz="1479">
                <a:solidFill>
                  <a:schemeClr val="dk1"/>
                </a:solidFill>
              </a:rPr>
              <a:t>Malicious Uses</a:t>
            </a:r>
            <a:r>
              <a:rPr lang="en" sz="1479">
                <a:solidFill>
                  <a:schemeClr val="dk1"/>
                </a:solidFill>
              </a:rPr>
              <a:t>:</a:t>
            </a:r>
            <a:endParaRPr sz="1479">
              <a:solidFill>
                <a:schemeClr val="dk1"/>
              </a:solidFill>
            </a:endParaRPr>
          </a:p>
          <a:p>
            <a:pPr indent="-301390" lvl="1" marL="914400" rtl="0" algn="l">
              <a:spcBef>
                <a:spcPts val="0"/>
              </a:spcBef>
              <a:spcAft>
                <a:spcPts val="0"/>
              </a:spcAft>
              <a:buClr>
                <a:schemeClr val="dk1"/>
              </a:buClr>
              <a:buSzPct val="100000"/>
              <a:buChar char="○"/>
            </a:pPr>
            <a:r>
              <a:rPr lang="en" sz="1479">
                <a:solidFill>
                  <a:schemeClr val="dk1"/>
                </a:solidFill>
              </a:rPr>
              <a:t>Stealing sensitive information, such as: Email messages, company files, Confidential reports.</a:t>
            </a:r>
            <a:endParaRPr sz="1479">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400">
                <a:solidFill>
                  <a:schemeClr val="dk1"/>
                </a:solidFill>
              </a:rPr>
              <a:t>Denial-of-Service (DoS) Attack</a:t>
            </a:r>
            <a:endParaRPr sz="1400">
              <a:solidFill>
                <a:schemeClr val="dk1"/>
              </a:solidFill>
            </a:endParaRPr>
          </a:p>
          <a:p>
            <a:pPr indent="0" lvl="0" marL="0" rtl="0" algn="l">
              <a:spcBef>
                <a:spcPts val="1200"/>
              </a:spcBef>
              <a:spcAft>
                <a:spcPts val="0"/>
              </a:spcAft>
              <a:buNone/>
            </a:pPr>
            <a:r>
              <a:rPr lang="en">
                <a:solidFill>
                  <a:schemeClr val="dk1"/>
                </a:solidFill>
              </a:rPr>
              <a:t>A cyberattack where hackers flood a network or web server with excessive false requests to crash the system.</a:t>
            </a:r>
            <a:endParaRPr>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Mechanism</a:t>
            </a:r>
            <a:r>
              <a:rPr lang="en" sz="1400">
                <a:solidFill>
                  <a:schemeClr val="dk1"/>
                </a:solidFill>
              </a:rPr>
              <a:t>:</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Overwhelms the server with thousands of illegitimate communications or service requests.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Prevents the server from handling legitimate requests.</a:t>
            </a:r>
            <a:endParaRPr>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Impact</a:t>
            </a:r>
            <a:r>
              <a:rPr lang="en" sz="1400">
                <a:solidFill>
                  <a:schemeClr val="dk1"/>
                </a:solidFill>
              </a:rPr>
              <a:t>:</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Does not destroy information or breach restricted areas.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Causes websites or networks to shut down, disrupting access for legitimate users.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32" name="Google Shape;132;p26"/>
          <p:cNvSpPr txBox="1"/>
          <p:nvPr>
            <p:ph idx="1" type="body"/>
          </p:nvPr>
        </p:nvSpPr>
        <p:spPr>
          <a:xfrm>
            <a:off x="311700" y="902500"/>
            <a:ext cx="8520600" cy="41310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Clr>
                <a:schemeClr val="dk1"/>
              </a:buClr>
              <a:buSzPts val="1100"/>
              <a:buFont typeface="Arial"/>
              <a:buNone/>
            </a:pPr>
            <a:r>
              <a:rPr b="1" lang="en" sz="1391">
                <a:solidFill>
                  <a:schemeClr val="dk1"/>
                </a:solidFill>
              </a:rPr>
              <a:t>Identity Theft</a:t>
            </a:r>
            <a:endParaRPr b="1" sz="1391">
              <a:solidFill>
                <a:schemeClr val="dk1"/>
              </a:solidFill>
            </a:endParaRPr>
          </a:p>
          <a:p>
            <a:pPr indent="0" lvl="0" marL="0" rtl="0" algn="l">
              <a:spcBef>
                <a:spcPts val="1200"/>
              </a:spcBef>
              <a:spcAft>
                <a:spcPts val="0"/>
              </a:spcAft>
              <a:buNone/>
            </a:pPr>
            <a:r>
              <a:rPr lang="en" sz="1191">
                <a:solidFill>
                  <a:schemeClr val="dk1"/>
                </a:solidFill>
              </a:rPr>
              <a:t>A crime where an imposter obtains personal information (e.g., Social Security numbers, driver’s license, credit card numbers) to impersonate someone else.</a:t>
            </a:r>
            <a:endParaRPr sz="1191">
              <a:solidFill>
                <a:schemeClr val="dk1"/>
              </a:solidFill>
            </a:endParaRPr>
          </a:p>
          <a:p>
            <a:pPr indent="-304285" lvl="0" marL="457200" rtl="0" algn="l">
              <a:spcBef>
                <a:spcPts val="1200"/>
              </a:spcBef>
              <a:spcAft>
                <a:spcPts val="0"/>
              </a:spcAft>
              <a:buClr>
                <a:schemeClr val="dk1"/>
              </a:buClr>
              <a:buSzPts val="1192"/>
              <a:buChar char="●"/>
            </a:pPr>
            <a:r>
              <a:rPr b="1" lang="en" sz="1191">
                <a:solidFill>
                  <a:schemeClr val="dk1"/>
                </a:solidFill>
              </a:rPr>
              <a:t>Internet and E-Commerce Risks</a:t>
            </a:r>
            <a:r>
              <a:rPr lang="en" sz="1191">
                <a:solidFill>
                  <a:schemeClr val="dk1"/>
                </a:solidFill>
              </a:rPr>
              <a:t>:</a:t>
            </a:r>
            <a:endParaRPr sz="1191">
              <a:solidFill>
                <a:schemeClr val="dk1"/>
              </a:solidFill>
            </a:endParaRPr>
          </a:p>
          <a:p>
            <a:pPr indent="-304285" lvl="1" marL="914400" rtl="0" algn="l">
              <a:spcBef>
                <a:spcPts val="0"/>
              </a:spcBef>
              <a:spcAft>
                <a:spcPts val="0"/>
              </a:spcAft>
              <a:buClr>
                <a:schemeClr val="dk1"/>
              </a:buClr>
              <a:buSzPts val="1192"/>
              <a:buChar char="○"/>
            </a:pPr>
            <a:r>
              <a:rPr lang="en" sz="1191">
                <a:solidFill>
                  <a:schemeClr val="dk1"/>
                </a:solidFill>
              </a:rPr>
              <a:t>Credit card files and personal customer information (name, address, phone number) are common targets.</a:t>
            </a:r>
            <a:endParaRPr sz="1191">
              <a:solidFill>
                <a:schemeClr val="dk1"/>
              </a:solidFill>
            </a:endParaRPr>
          </a:p>
          <a:p>
            <a:pPr indent="-304285" lvl="0" marL="457200" rtl="0" algn="l">
              <a:spcBef>
                <a:spcPts val="0"/>
              </a:spcBef>
              <a:spcAft>
                <a:spcPts val="0"/>
              </a:spcAft>
              <a:buClr>
                <a:schemeClr val="dk1"/>
              </a:buClr>
              <a:buSzPts val="1192"/>
              <a:buChar char="●"/>
            </a:pPr>
            <a:r>
              <a:rPr b="1" lang="en" sz="1191">
                <a:solidFill>
                  <a:schemeClr val="dk1"/>
                </a:solidFill>
              </a:rPr>
              <a:t>Techniques for Identity Theft</a:t>
            </a:r>
            <a:r>
              <a:rPr lang="en" sz="1191">
                <a:solidFill>
                  <a:schemeClr val="dk1"/>
                </a:solidFill>
              </a:rPr>
              <a:t>:</a:t>
            </a:r>
            <a:endParaRPr sz="1191">
              <a:solidFill>
                <a:schemeClr val="dk1"/>
              </a:solidFill>
            </a:endParaRPr>
          </a:p>
          <a:p>
            <a:pPr indent="-304285" lvl="1" marL="914400" rtl="0" algn="l">
              <a:spcBef>
                <a:spcPts val="0"/>
              </a:spcBef>
              <a:spcAft>
                <a:spcPts val="0"/>
              </a:spcAft>
              <a:buClr>
                <a:schemeClr val="dk1"/>
              </a:buClr>
              <a:buSzPts val="1192"/>
              <a:buChar char="○"/>
            </a:pPr>
            <a:r>
              <a:rPr b="1" lang="en" sz="1191">
                <a:solidFill>
                  <a:schemeClr val="dk1"/>
                </a:solidFill>
              </a:rPr>
              <a:t>Phishing</a:t>
            </a:r>
            <a:r>
              <a:rPr lang="en" sz="1191">
                <a:solidFill>
                  <a:schemeClr val="dk1"/>
                </a:solidFill>
              </a:rPr>
              <a:t>:</a:t>
            </a:r>
            <a:endParaRPr sz="1191">
              <a:solidFill>
                <a:schemeClr val="dk1"/>
              </a:solidFill>
            </a:endParaRPr>
          </a:p>
          <a:p>
            <a:pPr indent="-304285" lvl="2" marL="1371600" rtl="0" algn="l">
              <a:spcBef>
                <a:spcPts val="0"/>
              </a:spcBef>
              <a:spcAft>
                <a:spcPts val="0"/>
              </a:spcAft>
              <a:buClr>
                <a:schemeClr val="dk1"/>
              </a:buClr>
              <a:buSzPts val="1192"/>
              <a:buChar char="■"/>
            </a:pPr>
            <a:r>
              <a:rPr lang="en" sz="1191">
                <a:solidFill>
                  <a:schemeClr val="dk1"/>
                </a:solidFill>
              </a:rPr>
              <a:t>Setting up fake websites or sending fraudulent emails/text messages that mimic legitimate businesses.</a:t>
            </a:r>
            <a:endParaRPr sz="1191">
              <a:solidFill>
                <a:schemeClr val="dk1"/>
              </a:solidFill>
            </a:endParaRPr>
          </a:p>
          <a:p>
            <a:pPr indent="-304285" lvl="2" marL="1371600" rtl="0" algn="l">
              <a:spcBef>
                <a:spcPts val="0"/>
              </a:spcBef>
              <a:spcAft>
                <a:spcPts val="0"/>
              </a:spcAft>
              <a:buClr>
                <a:schemeClr val="dk1"/>
              </a:buClr>
              <a:buSzPts val="1192"/>
              <a:buChar char="■"/>
            </a:pPr>
            <a:r>
              <a:rPr lang="en" sz="1191">
                <a:solidFill>
                  <a:schemeClr val="dk1"/>
                </a:solidFill>
              </a:rPr>
              <a:t>Tricks users into providing confidential data (e.g., Social Security numbers, bank details).</a:t>
            </a:r>
            <a:endParaRPr sz="1191">
              <a:solidFill>
                <a:schemeClr val="dk1"/>
              </a:solidFill>
            </a:endParaRPr>
          </a:p>
          <a:p>
            <a:pPr indent="-304285" lvl="1" marL="914400" rtl="0" algn="l">
              <a:spcBef>
                <a:spcPts val="0"/>
              </a:spcBef>
              <a:spcAft>
                <a:spcPts val="0"/>
              </a:spcAft>
              <a:buClr>
                <a:schemeClr val="dk1"/>
              </a:buClr>
              <a:buSzPts val="1192"/>
              <a:buChar char="○"/>
            </a:pPr>
            <a:r>
              <a:rPr b="1" lang="en" sz="1191">
                <a:solidFill>
                  <a:schemeClr val="dk1"/>
                </a:solidFill>
              </a:rPr>
              <a:t>Evil Twins</a:t>
            </a:r>
            <a:r>
              <a:rPr lang="en" sz="1191">
                <a:solidFill>
                  <a:schemeClr val="dk1"/>
                </a:solidFill>
              </a:rPr>
              <a:t>:</a:t>
            </a:r>
            <a:endParaRPr sz="1191">
              <a:solidFill>
                <a:schemeClr val="dk1"/>
              </a:solidFill>
            </a:endParaRPr>
          </a:p>
          <a:p>
            <a:pPr indent="-304285" lvl="2" marL="1371600" rtl="0" algn="l">
              <a:spcBef>
                <a:spcPts val="0"/>
              </a:spcBef>
              <a:spcAft>
                <a:spcPts val="0"/>
              </a:spcAft>
              <a:buClr>
                <a:schemeClr val="dk1"/>
              </a:buClr>
              <a:buSzPts val="1192"/>
              <a:buChar char="■"/>
            </a:pPr>
            <a:r>
              <a:rPr lang="en" sz="1191">
                <a:solidFill>
                  <a:schemeClr val="dk1"/>
                </a:solidFill>
              </a:rPr>
              <a:t>Fake wireless networks posing as legitimate public Wi-Fi connections (e.g., in airports, hotels, coffee shops).</a:t>
            </a:r>
            <a:endParaRPr sz="1191">
              <a:solidFill>
                <a:schemeClr val="dk1"/>
              </a:solidFill>
            </a:endParaRPr>
          </a:p>
          <a:p>
            <a:pPr indent="-304285" lvl="2" marL="1371600" rtl="0" algn="l">
              <a:spcBef>
                <a:spcPts val="0"/>
              </a:spcBef>
              <a:spcAft>
                <a:spcPts val="0"/>
              </a:spcAft>
              <a:buClr>
                <a:schemeClr val="dk1"/>
              </a:buClr>
              <a:buSzPts val="1192"/>
              <a:buChar char="■"/>
            </a:pPr>
            <a:r>
              <a:rPr lang="en" sz="1191">
                <a:solidFill>
                  <a:schemeClr val="dk1"/>
                </a:solidFill>
              </a:rPr>
              <a:t>Fraudsters steal passwords and credit card information from users.</a:t>
            </a:r>
            <a:endParaRPr sz="1191">
              <a:solidFill>
                <a:schemeClr val="dk1"/>
              </a:solidFill>
            </a:endParaRPr>
          </a:p>
          <a:p>
            <a:pPr indent="-304285" lvl="1" marL="914400" rtl="0" algn="l">
              <a:spcBef>
                <a:spcPts val="0"/>
              </a:spcBef>
              <a:spcAft>
                <a:spcPts val="0"/>
              </a:spcAft>
              <a:buClr>
                <a:schemeClr val="dk1"/>
              </a:buClr>
              <a:buSzPts val="1192"/>
              <a:buChar char="○"/>
            </a:pPr>
            <a:r>
              <a:rPr b="1" lang="en" sz="1191">
                <a:solidFill>
                  <a:schemeClr val="dk1"/>
                </a:solidFill>
              </a:rPr>
              <a:t>Pharming</a:t>
            </a:r>
            <a:r>
              <a:rPr lang="en" sz="1191">
                <a:solidFill>
                  <a:schemeClr val="dk1"/>
                </a:solidFill>
              </a:rPr>
              <a:t>:</a:t>
            </a:r>
            <a:endParaRPr sz="1191">
              <a:solidFill>
                <a:schemeClr val="dk1"/>
              </a:solidFill>
            </a:endParaRPr>
          </a:p>
          <a:p>
            <a:pPr indent="-304285" lvl="2" marL="1371600" rtl="0" algn="l">
              <a:spcBef>
                <a:spcPts val="0"/>
              </a:spcBef>
              <a:spcAft>
                <a:spcPts val="0"/>
              </a:spcAft>
              <a:buClr>
                <a:schemeClr val="dk1"/>
              </a:buClr>
              <a:buSzPts val="1192"/>
              <a:buChar char="■"/>
            </a:pPr>
            <a:r>
              <a:rPr lang="en" sz="1191">
                <a:solidFill>
                  <a:schemeClr val="dk1"/>
                </a:solidFill>
              </a:rPr>
              <a:t>Redirects users to bogus websites, even when the correct web address is entered.</a:t>
            </a:r>
            <a:endParaRPr sz="1191">
              <a:solidFill>
                <a:schemeClr val="dk1"/>
              </a:solidFill>
            </a:endParaRPr>
          </a:p>
          <a:p>
            <a:pPr indent="-304285" lvl="2" marL="1371600" rtl="0" algn="l">
              <a:spcBef>
                <a:spcPts val="0"/>
              </a:spcBef>
              <a:spcAft>
                <a:spcPts val="0"/>
              </a:spcAft>
              <a:buClr>
                <a:schemeClr val="dk1"/>
              </a:buClr>
              <a:buSzPts val="1192"/>
              <a:buChar char="■"/>
            </a:pPr>
            <a:r>
              <a:rPr lang="en" sz="1191">
                <a:solidFill>
                  <a:schemeClr val="dk1"/>
                </a:solidFill>
              </a:rPr>
              <a:t>Exploits flaws in ISP servers to alter stored internet address information.</a:t>
            </a:r>
            <a:endParaRPr sz="1191">
              <a:solidFill>
                <a:schemeClr val="dk1"/>
              </a:solidFill>
            </a:endParaRPr>
          </a:p>
          <a:p>
            <a:pPr indent="-304285" lvl="0" marL="457200" rtl="0" algn="l">
              <a:spcBef>
                <a:spcPts val="0"/>
              </a:spcBef>
              <a:spcAft>
                <a:spcPts val="0"/>
              </a:spcAft>
              <a:buClr>
                <a:schemeClr val="dk1"/>
              </a:buClr>
              <a:buSzPts val="1192"/>
              <a:buChar char="●"/>
            </a:pPr>
            <a:r>
              <a:rPr b="1" lang="en" sz="1191">
                <a:solidFill>
                  <a:schemeClr val="dk1"/>
                </a:solidFill>
              </a:rPr>
              <a:t>Impact</a:t>
            </a:r>
            <a:r>
              <a:rPr lang="en" sz="1191">
                <a:solidFill>
                  <a:schemeClr val="dk1"/>
                </a:solidFill>
              </a:rPr>
              <a:t>:</a:t>
            </a:r>
            <a:endParaRPr sz="1191">
              <a:solidFill>
                <a:schemeClr val="dk1"/>
              </a:solidFill>
            </a:endParaRPr>
          </a:p>
          <a:p>
            <a:pPr indent="-298450" lvl="1" marL="914400" rtl="0" algn="l">
              <a:spcBef>
                <a:spcPts val="0"/>
              </a:spcBef>
              <a:spcAft>
                <a:spcPts val="0"/>
              </a:spcAft>
              <a:buClr>
                <a:schemeClr val="dk1"/>
              </a:buClr>
              <a:buSzPts val="1100"/>
              <a:buChar char="○"/>
            </a:pPr>
            <a:r>
              <a:rPr lang="en" sz="1191">
                <a:solidFill>
                  <a:schemeClr val="dk1"/>
                </a:solidFill>
              </a:rPr>
              <a:t>Com</a:t>
            </a:r>
            <a:r>
              <a:rPr lang="en" sz="1100">
                <a:solidFill>
                  <a:schemeClr val="dk1"/>
                </a:solidFill>
              </a:rPr>
              <a:t>promises financial security and privacy of individuals.</a:t>
            </a:r>
            <a:endParaRPr b="1" sz="1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600">
                <a:solidFill>
                  <a:schemeClr val="dk1"/>
                </a:solidFill>
              </a:rPr>
              <a:t>Click Fraud</a:t>
            </a:r>
            <a:endParaRPr b="1" sz="1600">
              <a:solidFill>
                <a:schemeClr val="dk1"/>
              </a:solidFill>
            </a:endParaRPr>
          </a:p>
          <a:p>
            <a:pPr indent="0" lvl="0" marL="0" rtl="0" algn="l">
              <a:spcBef>
                <a:spcPts val="1200"/>
              </a:spcBef>
              <a:spcAft>
                <a:spcPts val="0"/>
              </a:spcAft>
              <a:buNone/>
            </a:pPr>
            <a:r>
              <a:rPr lang="en" sz="1400">
                <a:solidFill>
                  <a:schemeClr val="dk1"/>
                </a:solidFill>
              </a:rPr>
              <a:t>Occurs when an individual or automated program clicks on online ads without intending to make a purchase or engage with the advertiser.</a:t>
            </a:r>
            <a:endParaRPr sz="1400">
              <a:solidFill>
                <a:schemeClr val="dk1"/>
              </a:solidFill>
            </a:endParaRPr>
          </a:p>
          <a:p>
            <a:pPr indent="0" lvl="0" marL="0" rtl="0" algn="l">
              <a:spcBef>
                <a:spcPts val="1200"/>
              </a:spcBef>
              <a:spcAft>
                <a:spcPts val="0"/>
              </a:spcAft>
              <a:buNone/>
            </a:pPr>
            <a:r>
              <a:rPr lang="en" sz="1400">
                <a:solidFill>
                  <a:schemeClr val="dk1"/>
                </a:solidFill>
              </a:rPr>
              <a:t>Advertisers typically pay for each click, making it a fraudulent activity.</a:t>
            </a:r>
            <a:endParaRPr sz="1400">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Impact</a:t>
            </a:r>
            <a:r>
              <a:rPr lang="en" sz="1400">
                <a:solidFill>
                  <a:schemeClr val="dk1"/>
                </a:solidFill>
              </a:rPr>
              <a:t>:</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Leads to financial losses for advertisers.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Disrupts the effectiveness of pay-per-click online advertising systems, such as Google.</a:t>
            </a:r>
            <a:endParaRPr>
              <a:solidFill>
                <a:schemeClr val="dk1"/>
              </a:solidFill>
            </a:endParaRPr>
          </a:p>
          <a:p>
            <a:pPr indent="0" lvl="0" marL="0" rtl="0" algn="l">
              <a:spcBef>
                <a:spcPts val="1200"/>
              </a:spcBef>
              <a:spcAft>
                <a:spcPts val="1200"/>
              </a:spcAft>
              <a:buNone/>
            </a:pPr>
            <a:r>
              <a:t/>
            </a:r>
            <a:endParaRPr b="1" sz="1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44" name="Google Shape;14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sz="1600">
                <a:solidFill>
                  <a:schemeClr val="dk1"/>
                </a:solidFill>
              </a:rPr>
              <a:t>3. Internal Threats: Employees</a:t>
            </a:r>
            <a:endParaRPr b="1" sz="1600">
              <a:solidFill>
                <a:schemeClr val="dk1"/>
              </a:solidFill>
            </a:endParaRPr>
          </a:p>
          <a:p>
            <a:pPr indent="0" lvl="0" marL="0" rtl="0" algn="l">
              <a:spcBef>
                <a:spcPts val="400"/>
              </a:spcBef>
              <a:spcAft>
                <a:spcPts val="0"/>
              </a:spcAft>
              <a:buClr>
                <a:schemeClr val="dk1"/>
              </a:buClr>
              <a:buSzPts val="1100"/>
              <a:buFont typeface="Arial"/>
              <a:buNone/>
            </a:pPr>
            <a:r>
              <a:rPr b="1" lang="en" sz="1300">
                <a:solidFill>
                  <a:schemeClr val="dk1"/>
                </a:solidFill>
              </a:rPr>
              <a:t>Employee Access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Employees often have access to privileged information, which can lead to security risks if internal procedures are weak.</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In the absence of strong internal security, employees may move throughout an organization's systems undetected.</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User Knowledge Gaps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Lack of employee awareness is the leading cause of network security breaches.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Common issues:</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Employees forgetting their passwords.</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Sharing passwords with co-workers, compromising system security.</a:t>
            </a:r>
            <a:endParaRPr sz="1300">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50" name="Google Shape;150;p29"/>
          <p:cNvSpPr txBox="1"/>
          <p:nvPr>
            <p:ph idx="1" type="body"/>
          </p:nvPr>
        </p:nvSpPr>
        <p:spPr>
          <a:xfrm>
            <a:off x="311700" y="858475"/>
            <a:ext cx="8520600" cy="40428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 sz="1600">
                <a:solidFill>
                  <a:schemeClr val="dk1"/>
                </a:solidFill>
              </a:rPr>
              <a:t>3. Internal Threats: Employees</a:t>
            </a:r>
            <a:endParaRPr b="1" sz="1600">
              <a:solidFill>
                <a:schemeClr val="dk1"/>
              </a:solidFill>
            </a:endParaRPr>
          </a:p>
          <a:p>
            <a:pPr indent="0" lvl="0" marL="0" rtl="0" algn="l">
              <a:spcBef>
                <a:spcPts val="400"/>
              </a:spcBef>
              <a:spcAft>
                <a:spcPts val="0"/>
              </a:spcAft>
              <a:buClr>
                <a:schemeClr val="dk1"/>
              </a:buClr>
              <a:buSzPts val="1100"/>
              <a:buFont typeface="Arial"/>
              <a:buNone/>
            </a:pPr>
            <a:r>
              <a:rPr b="1" lang="en" sz="1296">
                <a:solidFill>
                  <a:schemeClr val="dk1"/>
                </a:solidFill>
              </a:rPr>
              <a:t>Social Engineering</a:t>
            </a:r>
            <a:r>
              <a:rPr lang="en" sz="1296">
                <a:solidFill>
                  <a:schemeClr val="dk1"/>
                </a:solidFill>
              </a:rPr>
              <a:t>:</a:t>
            </a:r>
            <a:endParaRPr sz="1296">
              <a:solidFill>
                <a:schemeClr val="dk1"/>
              </a:solidFill>
            </a:endParaRPr>
          </a:p>
          <a:p>
            <a:pPr indent="-310941" lvl="0" marL="457200" rtl="0" algn="l">
              <a:spcBef>
                <a:spcPts val="1200"/>
              </a:spcBef>
              <a:spcAft>
                <a:spcPts val="0"/>
              </a:spcAft>
              <a:buClr>
                <a:schemeClr val="dk1"/>
              </a:buClr>
              <a:buSzPts val="1297"/>
              <a:buChar char="●"/>
            </a:pPr>
            <a:r>
              <a:rPr lang="en" sz="1296">
                <a:solidFill>
                  <a:schemeClr val="dk1"/>
                </a:solidFill>
              </a:rPr>
              <a:t>Malicious intruders may trick employees into revealing passwords by impersonating legitimate members of the company.</a:t>
            </a:r>
            <a:endParaRPr sz="1296">
              <a:solidFill>
                <a:schemeClr val="dk1"/>
              </a:solidFill>
            </a:endParaRPr>
          </a:p>
          <a:p>
            <a:pPr indent="-310941" lvl="0" marL="457200" rtl="0" algn="l">
              <a:spcBef>
                <a:spcPts val="0"/>
              </a:spcBef>
              <a:spcAft>
                <a:spcPts val="0"/>
              </a:spcAft>
              <a:buClr>
                <a:schemeClr val="dk1"/>
              </a:buClr>
              <a:buSzPts val="1297"/>
              <a:buChar char="●"/>
            </a:pPr>
            <a:r>
              <a:rPr lang="en" sz="1296">
                <a:solidFill>
                  <a:schemeClr val="dk1"/>
                </a:solidFill>
              </a:rPr>
              <a:t>This tactic exploits trust and can provide unauthorized access to systems.</a:t>
            </a:r>
            <a:endParaRPr sz="1296">
              <a:solidFill>
                <a:schemeClr val="dk1"/>
              </a:solidFill>
            </a:endParaRPr>
          </a:p>
          <a:p>
            <a:pPr indent="0" lvl="0" marL="0" rtl="0" algn="l">
              <a:spcBef>
                <a:spcPts val="1200"/>
              </a:spcBef>
              <a:spcAft>
                <a:spcPts val="0"/>
              </a:spcAft>
              <a:buClr>
                <a:schemeClr val="dk1"/>
              </a:buClr>
              <a:buSzPts val="1100"/>
              <a:buFont typeface="Arial"/>
              <a:buNone/>
            </a:pPr>
            <a:r>
              <a:rPr b="1" lang="en" sz="1296">
                <a:solidFill>
                  <a:schemeClr val="dk1"/>
                </a:solidFill>
              </a:rPr>
              <a:t>Human Error</a:t>
            </a:r>
            <a:r>
              <a:rPr lang="en" sz="1296">
                <a:solidFill>
                  <a:schemeClr val="dk1"/>
                </a:solidFill>
              </a:rPr>
              <a:t>:</a:t>
            </a:r>
            <a:endParaRPr sz="1296">
              <a:solidFill>
                <a:schemeClr val="dk1"/>
              </a:solidFill>
            </a:endParaRPr>
          </a:p>
          <a:p>
            <a:pPr indent="-310941" lvl="0" marL="457200" rtl="0" algn="l">
              <a:spcBef>
                <a:spcPts val="1200"/>
              </a:spcBef>
              <a:spcAft>
                <a:spcPts val="0"/>
              </a:spcAft>
              <a:buClr>
                <a:schemeClr val="dk1"/>
              </a:buClr>
              <a:buSzPts val="1297"/>
              <a:buChar char="●"/>
            </a:pPr>
            <a:r>
              <a:rPr b="1" lang="en" sz="1296">
                <a:solidFill>
                  <a:schemeClr val="dk1"/>
                </a:solidFill>
              </a:rPr>
              <a:t>End Users</a:t>
            </a:r>
            <a:r>
              <a:rPr lang="en" sz="1296">
                <a:solidFill>
                  <a:schemeClr val="dk1"/>
                </a:solidFill>
              </a:rPr>
              <a:t>:</a:t>
            </a:r>
            <a:endParaRPr sz="1296">
              <a:solidFill>
                <a:schemeClr val="dk1"/>
              </a:solidFill>
            </a:endParaRPr>
          </a:p>
          <a:p>
            <a:pPr indent="-310941" lvl="1" marL="914400" rtl="0" algn="l">
              <a:spcBef>
                <a:spcPts val="0"/>
              </a:spcBef>
              <a:spcAft>
                <a:spcPts val="0"/>
              </a:spcAft>
              <a:buClr>
                <a:schemeClr val="dk1"/>
              </a:buClr>
              <a:buSzPts val="1297"/>
              <a:buChar char="○"/>
            </a:pPr>
            <a:r>
              <a:rPr lang="en" sz="1296">
                <a:solidFill>
                  <a:schemeClr val="dk1"/>
                </a:solidFill>
              </a:rPr>
              <a:t>Introduce errors by entering faulty data or failing to follow correct procedures.</a:t>
            </a:r>
            <a:endParaRPr sz="1296">
              <a:solidFill>
                <a:schemeClr val="dk1"/>
              </a:solidFill>
            </a:endParaRPr>
          </a:p>
          <a:p>
            <a:pPr indent="-310941" lvl="0" marL="457200" rtl="0" algn="l">
              <a:spcBef>
                <a:spcPts val="0"/>
              </a:spcBef>
              <a:spcAft>
                <a:spcPts val="0"/>
              </a:spcAft>
              <a:buClr>
                <a:schemeClr val="dk1"/>
              </a:buClr>
              <a:buSzPts val="1297"/>
              <a:buChar char="●"/>
            </a:pPr>
            <a:r>
              <a:rPr b="1" lang="en" sz="1296">
                <a:solidFill>
                  <a:schemeClr val="dk1"/>
                </a:solidFill>
              </a:rPr>
              <a:t>Information Systems Specialists</a:t>
            </a:r>
            <a:r>
              <a:rPr lang="en" sz="1296">
                <a:solidFill>
                  <a:schemeClr val="dk1"/>
                </a:solidFill>
              </a:rPr>
              <a:t>:</a:t>
            </a:r>
            <a:endParaRPr sz="1296">
              <a:solidFill>
                <a:schemeClr val="dk1"/>
              </a:solidFill>
            </a:endParaRPr>
          </a:p>
          <a:p>
            <a:pPr indent="-310941" lvl="1" marL="914400" rtl="0" algn="l">
              <a:spcBef>
                <a:spcPts val="0"/>
              </a:spcBef>
              <a:spcAft>
                <a:spcPts val="0"/>
              </a:spcAft>
              <a:buClr>
                <a:schemeClr val="dk1"/>
              </a:buClr>
              <a:buSzPts val="1297"/>
              <a:buChar char="○"/>
            </a:pPr>
            <a:r>
              <a:rPr lang="en" sz="1296">
                <a:solidFill>
                  <a:schemeClr val="dk1"/>
                </a:solidFill>
              </a:rPr>
              <a:t>Can create errors by making mistakes during software development or maintenance.</a:t>
            </a:r>
            <a:endParaRPr sz="1296">
              <a:solidFill>
                <a:schemeClr val="dk1"/>
              </a:solidFill>
            </a:endParaRPr>
          </a:p>
          <a:p>
            <a:pPr indent="0" lvl="0" marL="0" rtl="0" algn="l">
              <a:spcBef>
                <a:spcPts val="1200"/>
              </a:spcBef>
              <a:spcAft>
                <a:spcPts val="0"/>
              </a:spcAft>
              <a:buClr>
                <a:schemeClr val="dk1"/>
              </a:buClr>
              <a:buSzPts val="1100"/>
              <a:buFont typeface="Arial"/>
              <a:buNone/>
            </a:pPr>
            <a:r>
              <a:rPr b="1" lang="en" sz="1296">
                <a:solidFill>
                  <a:schemeClr val="dk1"/>
                </a:solidFill>
              </a:rPr>
              <a:t>Impact</a:t>
            </a:r>
            <a:r>
              <a:rPr lang="en" sz="1296">
                <a:solidFill>
                  <a:schemeClr val="dk1"/>
                </a:solidFill>
              </a:rPr>
              <a:t>:</a:t>
            </a:r>
            <a:endParaRPr sz="1296">
              <a:solidFill>
                <a:schemeClr val="dk1"/>
              </a:solidFill>
            </a:endParaRPr>
          </a:p>
          <a:p>
            <a:pPr indent="-310941" lvl="0" marL="457200" rtl="0" algn="l">
              <a:spcBef>
                <a:spcPts val="1200"/>
              </a:spcBef>
              <a:spcAft>
                <a:spcPts val="0"/>
              </a:spcAft>
              <a:buClr>
                <a:schemeClr val="dk1"/>
              </a:buClr>
              <a:buSzPts val="1297"/>
              <a:buChar char="●"/>
            </a:pPr>
            <a:r>
              <a:rPr lang="en" sz="1296">
                <a:solidFill>
                  <a:schemeClr val="dk1"/>
                </a:solidFill>
              </a:rPr>
              <a:t>Both human negligence and malicious actions can significantly compromise the security and integrity of information systems.</a:t>
            </a:r>
            <a:endParaRPr sz="1296">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56" name="Google Shape;156;p30"/>
          <p:cNvSpPr txBox="1"/>
          <p:nvPr>
            <p:ph idx="1" type="body"/>
          </p:nvPr>
        </p:nvSpPr>
        <p:spPr>
          <a:xfrm>
            <a:off x="311700" y="1152475"/>
            <a:ext cx="8520600" cy="37563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sz="1300">
                <a:solidFill>
                  <a:schemeClr val="dk1"/>
                </a:solidFill>
              </a:rPr>
              <a:t>4. Software Vulnerability</a:t>
            </a:r>
            <a:endParaRPr b="1" sz="1600">
              <a:solidFill>
                <a:schemeClr val="dk1"/>
              </a:solidFill>
            </a:endParaRPr>
          </a:p>
          <a:p>
            <a:pPr indent="0" lvl="0" marL="0" rtl="0" algn="l">
              <a:spcBef>
                <a:spcPts val="400"/>
              </a:spcBef>
              <a:spcAft>
                <a:spcPts val="0"/>
              </a:spcAft>
              <a:buClr>
                <a:schemeClr val="dk1"/>
              </a:buClr>
              <a:buSzPts val="1100"/>
              <a:buFont typeface="Arial"/>
              <a:buNone/>
            </a:pPr>
            <a:r>
              <a:rPr b="1" lang="en" sz="1300">
                <a:solidFill>
                  <a:schemeClr val="dk1"/>
                </a:solidFill>
              </a:rPr>
              <a:t>Constant Threat</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Software errors are a continual risk to information systems, often resulting in productivity losses.</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Factors Contributing to Vulnerabilities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Increasing complexity and size of software programs.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Pressure for timely software delivery, leading to reduced quality controls.</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Hidden Bugs</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Many software vulnerabilities are caused by bugs or defects in the program code.</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Source of Bugs</a:t>
            </a:r>
            <a:r>
              <a:rPr lang="en" sz="1300">
                <a:solidFill>
                  <a:schemeClr val="dk1"/>
                </a:solidFill>
              </a:rPr>
              <a:t>:</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Complex decision-making code.</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With larger programs, the probability of bugs increases.</a:t>
            </a:r>
            <a:endParaRPr sz="1300">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Malicious Software</a:t>
            </a:r>
            <a:endParaRPr b="1" sz="1600"/>
          </a:p>
          <a:p>
            <a:pPr indent="0" lvl="0" marL="0" rtl="0" algn="l">
              <a:spcBef>
                <a:spcPts val="400"/>
              </a:spcBef>
              <a:spcAft>
                <a:spcPts val="0"/>
              </a:spcAft>
              <a:buNone/>
            </a:pPr>
            <a:r>
              <a:t/>
            </a:r>
            <a:endParaRPr/>
          </a:p>
        </p:txBody>
      </p:sp>
      <p:sp>
        <p:nvSpPr>
          <p:cNvPr id="162" name="Google Shape;162;p31"/>
          <p:cNvSpPr txBox="1"/>
          <p:nvPr>
            <p:ph idx="1" type="body"/>
          </p:nvPr>
        </p:nvSpPr>
        <p:spPr>
          <a:xfrm>
            <a:off x="311700" y="1152475"/>
            <a:ext cx="8520600" cy="3653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b="1" lang="en" sz="1546">
                <a:solidFill>
                  <a:schemeClr val="dk1"/>
                </a:solidFill>
              </a:rPr>
              <a:t>4. Software Vulnerability</a:t>
            </a:r>
            <a:endParaRPr b="1" sz="1846">
              <a:solidFill>
                <a:schemeClr val="dk1"/>
              </a:solidFill>
            </a:endParaRPr>
          </a:p>
          <a:p>
            <a:pPr indent="0" lvl="0" marL="0" rtl="0" algn="l">
              <a:spcBef>
                <a:spcPts val="1400"/>
              </a:spcBef>
              <a:spcAft>
                <a:spcPts val="0"/>
              </a:spcAft>
              <a:buNone/>
            </a:pPr>
            <a:r>
              <a:rPr b="1" lang="en" sz="1425">
                <a:solidFill>
                  <a:schemeClr val="dk1"/>
                </a:solidFill>
              </a:rPr>
              <a:t>Challenges in Bug Elimination</a:t>
            </a:r>
            <a:r>
              <a:rPr lang="en" sz="1425">
                <a:solidFill>
                  <a:schemeClr val="dk1"/>
                </a:solidFill>
              </a:rPr>
              <a:t>:</a:t>
            </a:r>
            <a:endParaRPr sz="1425">
              <a:solidFill>
                <a:schemeClr val="dk1"/>
              </a:solidFill>
            </a:endParaRPr>
          </a:p>
          <a:p>
            <a:pPr indent="-305555" lvl="0" marL="457200" rtl="0" algn="l">
              <a:spcBef>
                <a:spcPts val="1200"/>
              </a:spcBef>
              <a:spcAft>
                <a:spcPts val="0"/>
              </a:spcAft>
              <a:buClr>
                <a:schemeClr val="dk1"/>
              </a:buClr>
              <a:buSzPct val="100000"/>
              <a:buChar char="●"/>
            </a:pPr>
            <a:r>
              <a:rPr lang="en" sz="1425">
                <a:solidFill>
                  <a:schemeClr val="dk1"/>
                </a:solidFill>
              </a:rPr>
              <a:t>Achieving zero defects is virtually impossible in large software systems.</a:t>
            </a:r>
            <a:endParaRPr sz="1425">
              <a:solidFill>
                <a:schemeClr val="dk1"/>
              </a:solidFill>
            </a:endParaRPr>
          </a:p>
          <a:p>
            <a:pPr indent="-305555" lvl="0" marL="457200" rtl="0" algn="l">
              <a:spcBef>
                <a:spcPts val="0"/>
              </a:spcBef>
              <a:spcAft>
                <a:spcPts val="0"/>
              </a:spcAft>
              <a:buClr>
                <a:schemeClr val="dk1"/>
              </a:buClr>
              <a:buSzPct val="100000"/>
              <a:buChar char="●"/>
            </a:pPr>
            <a:r>
              <a:rPr lang="en" sz="1425">
                <a:solidFill>
                  <a:schemeClr val="dk1"/>
                </a:solidFill>
              </a:rPr>
              <a:t>Complete testing is not feasible—testing programs with vast code choices and paths would take an unreasonably long time (thousands of years).</a:t>
            </a:r>
            <a:endParaRPr sz="1425">
              <a:solidFill>
                <a:schemeClr val="dk1"/>
              </a:solidFill>
            </a:endParaRPr>
          </a:p>
          <a:p>
            <a:pPr indent="0" lvl="0" marL="0" rtl="0" algn="l">
              <a:spcBef>
                <a:spcPts val="1200"/>
              </a:spcBef>
              <a:spcAft>
                <a:spcPts val="0"/>
              </a:spcAft>
              <a:buNone/>
            </a:pPr>
            <a:r>
              <a:rPr b="1" lang="en" sz="1425">
                <a:solidFill>
                  <a:schemeClr val="dk1"/>
                </a:solidFill>
              </a:rPr>
              <a:t>Software Patches</a:t>
            </a:r>
            <a:r>
              <a:rPr lang="en" sz="1425">
                <a:solidFill>
                  <a:schemeClr val="dk1"/>
                </a:solidFill>
              </a:rPr>
              <a:t>:</a:t>
            </a:r>
            <a:endParaRPr sz="1425">
              <a:solidFill>
                <a:schemeClr val="dk1"/>
              </a:solidFill>
            </a:endParaRPr>
          </a:p>
          <a:p>
            <a:pPr indent="-305555" lvl="0" marL="457200" rtl="0" algn="l">
              <a:spcBef>
                <a:spcPts val="1200"/>
              </a:spcBef>
              <a:spcAft>
                <a:spcPts val="0"/>
              </a:spcAft>
              <a:buClr>
                <a:schemeClr val="dk1"/>
              </a:buClr>
              <a:buSzPct val="100000"/>
              <a:buChar char="●"/>
            </a:pPr>
            <a:r>
              <a:rPr lang="en" sz="1425">
                <a:solidFill>
                  <a:schemeClr val="dk1"/>
                </a:solidFill>
              </a:rPr>
              <a:t>Vendors create patches to fix identified flaws.</a:t>
            </a:r>
            <a:endParaRPr sz="1425">
              <a:solidFill>
                <a:schemeClr val="dk1"/>
              </a:solidFill>
            </a:endParaRPr>
          </a:p>
          <a:p>
            <a:pPr indent="-305555" lvl="0" marL="457200" rtl="0" algn="l">
              <a:spcBef>
                <a:spcPts val="0"/>
              </a:spcBef>
              <a:spcAft>
                <a:spcPts val="0"/>
              </a:spcAft>
              <a:buClr>
                <a:schemeClr val="dk1"/>
              </a:buClr>
              <a:buSzPct val="100000"/>
              <a:buChar char="●"/>
            </a:pPr>
            <a:r>
              <a:rPr lang="en" sz="1425">
                <a:solidFill>
                  <a:schemeClr val="dk1"/>
                </a:solidFill>
              </a:rPr>
              <a:t>Patches are small updates designed to address vulnerabilities without disturbing the functionality of the software.</a:t>
            </a:r>
            <a:endParaRPr sz="1425">
              <a:solidFill>
                <a:schemeClr val="dk1"/>
              </a:solidFill>
            </a:endParaRPr>
          </a:p>
          <a:p>
            <a:pPr indent="0" lvl="0" marL="0" rtl="0" algn="l">
              <a:spcBef>
                <a:spcPts val="1200"/>
              </a:spcBef>
              <a:spcAft>
                <a:spcPts val="0"/>
              </a:spcAft>
              <a:buNone/>
            </a:pPr>
            <a:r>
              <a:rPr b="1" lang="en" sz="1425">
                <a:solidFill>
                  <a:schemeClr val="dk1"/>
                </a:solidFill>
              </a:rPr>
              <a:t>Impact</a:t>
            </a:r>
            <a:r>
              <a:rPr lang="en" sz="1425">
                <a:solidFill>
                  <a:schemeClr val="dk1"/>
                </a:solidFill>
              </a:rPr>
              <a:t>:</a:t>
            </a:r>
            <a:endParaRPr sz="1425">
              <a:solidFill>
                <a:schemeClr val="dk1"/>
              </a:solidFill>
            </a:endParaRPr>
          </a:p>
          <a:p>
            <a:pPr indent="-305555" lvl="0" marL="457200" rtl="0" algn="l">
              <a:spcBef>
                <a:spcPts val="1200"/>
              </a:spcBef>
              <a:spcAft>
                <a:spcPts val="0"/>
              </a:spcAft>
              <a:buClr>
                <a:schemeClr val="dk1"/>
              </a:buClr>
              <a:buSzPct val="100000"/>
              <a:buChar char="●"/>
            </a:pPr>
            <a:r>
              <a:rPr lang="en" sz="1425">
                <a:solidFill>
                  <a:schemeClr val="dk1"/>
                </a:solidFill>
              </a:rPr>
              <a:t>Despite best efforts, software vulnerabilities remain a significant challenge due to the complexity of modern programs.</a:t>
            </a:r>
            <a:endParaRPr sz="1425">
              <a:solidFill>
                <a:schemeClr val="dk1"/>
              </a:solidFill>
            </a:endParaRPr>
          </a:p>
          <a:p>
            <a:pPr indent="0" lvl="0" marL="0" rtl="0" algn="l">
              <a:spcBef>
                <a:spcPts val="1400"/>
              </a:spcBef>
              <a:spcAft>
                <a:spcPts val="400"/>
              </a:spcAft>
              <a:buNone/>
            </a:pPr>
            <a:r>
              <a:t/>
            </a:r>
            <a:endParaRPr b="1"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168" name="Google Shape;168;p32"/>
          <p:cNvSpPr txBox="1"/>
          <p:nvPr>
            <p:ph idx="1" type="body"/>
          </p:nvPr>
        </p:nvSpPr>
        <p:spPr>
          <a:xfrm>
            <a:off x="311700" y="1152475"/>
            <a:ext cx="8520600" cy="3771000"/>
          </a:xfrm>
          <a:prstGeom prst="rect">
            <a:avLst/>
          </a:prstGeom>
        </p:spPr>
        <p:txBody>
          <a:bodyPr anchorCtr="0" anchor="t" bIns="91425" lIns="91425" spcFirstLastPara="1" rIns="91425" wrap="square" tIns="91425">
            <a:normAutofit/>
          </a:bodyPr>
          <a:lstStyle/>
          <a:p>
            <a:pPr indent="-310635" lvl="0" marL="457200" rtl="0" algn="l">
              <a:spcBef>
                <a:spcPts val="1200"/>
              </a:spcBef>
              <a:spcAft>
                <a:spcPts val="0"/>
              </a:spcAft>
              <a:buClr>
                <a:schemeClr val="dk1"/>
              </a:buClr>
              <a:buSzPts val="1292"/>
              <a:buAutoNum type="arabicPeriod"/>
            </a:pPr>
            <a:r>
              <a:rPr b="1" lang="en" sz="1291">
                <a:solidFill>
                  <a:schemeClr val="dk1"/>
                </a:solidFill>
              </a:rPr>
              <a:t>Identity Management and Authentication</a:t>
            </a:r>
            <a:endParaRPr b="1" sz="1291">
              <a:solidFill>
                <a:schemeClr val="dk1"/>
              </a:solidFill>
            </a:endParaRPr>
          </a:p>
          <a:p>
            <a:pPr indent="-310635" lvl="0" marL="457200" rtl="0" algn="l">
              <a:spcBef>
                <a:spcPts val="0"/>
              </a:spcBef>
              <a:spcAft>
                <a:spcPts val="0"/>
              </a:spcAft>
              <a:buClr>
                <a:schemeClr val="dk1"/>
              </a:buClr>
              <a:buSzPts val="1292"/>
              <a:buChar char="●"/>
            </a:pPr>
            <a:r>
              <a:rPr b="1" lang="en" sz="1291">
                <a:solidFill>
                  <a:schemeClr val="dk1"/>
                </a:solidFill>
              </a:rPr>
              <a:t>Identity Management Software</a:t>
            </a:r>
            <a:r>
              <a:rPr lang="en" sz="1291">
                <a:solidFill>
                  <a:schemeClr val="dk1"/>
                </a:solidFill>
              </a:rPr>
              <a:t>:</a:t>
            </a:r>
            <a:endParaRPr sz="1291">
              <a:solidFill>
                <a:schemeClr val="dk1"/>
              </a:solidFill>
            </a:endParaRPr>
          </a:p>
          <a:p>
            <a:pPr indent="-310635" lvl="1" marL="914400" rtl="0" algn="l">
              <a:spcBef>
                <a:spcPts val="0"/>
              </a:spcBef>
              <a:spcAft>
                <a:spcPts val="0"/>
              </a:spcAft>
              <a:buClr>
                <a:schemeClr val="dk1"/>
              </a:buClr>
              <a:buSzPts val="1292"/>
              <a:buChar char="○"/>
            </a:pPr>
            <a:r>
              <a:rPr lang="en" sz="1291">
                <a:solidFill>
                  <a:schemeClr val="dk1"/>
                </a:solidFill>
              </a:rPr>
              <a:t>Automates tracking of users and their system privileges.</a:t>
            </a:r>
            <a:endParaRPr sz="1291">
              <a:solidFill>
                <a:schemeClr val="dk1"/>
              </a:solidFill>
            </a:endParaRPr>
          </a:p>
          <a:p>
            <a:pPr indent="-310635" lvl="1" marL="914400" rtl="0" algn="l">
              <a:spcBef>
                <a:spcPts val="0"/>
              </a:spcBef>
              <a:spcAft>
                <a:spcPts val="0"/>
              </a:spcAft>
              <a:buClr>
                <a:schemeClr val="dk1"/>
              </a:buClr>
              <a:buSzPts val="1292"/>
              <a:buChar char="○"/>
            </a:pPr>
            <a:r>
              <a:rPr lang="en" sz="1291">
                <a:solidFill>
                  <a:schemeClr val="dk1"/>
                </a:solidFill>
              </a:rPr>
              <a:t>Assigns each user a unique digital identity for system access.</a:t>
            </a:r>
            <a:endParaRPr sz="1291">
              <a:solidFill>
                <a:schemeClr val="dk1"/>
              </a:solidFill>
            </a:endParaRPr>
          </a:p>
          <a:p>
            <a:pPr indent="-310635" lvl="1" marL="914400" rtl="0" algn="l">
              <a:spcBef>
                <a:spcPts val="0"/>
              </a:spcBef>
              <a:spcAft>
                <a:spcPts val="0"/>
              </a:spcAft>
              <a:buClr>
                <a:schemeClr val="dk1"/>
              </a:buClr>
              <a:buSzPts val="1292"/>
              <a:buChar char="○"/>
            </a:pPr>
            <a:r>
              <a:rPr lang="en" sz="1291">
                <a:solidFill>
                  <a:schemeClr val="dk1"/>
                </a:solidFill>
              </a:rPr>
              <a:t>Includes tools for authenticating users, protecting identities, and controlling access.</a:t>
            </a:r>
            <a:endParaRPr sz="1291">
              <a:solidFill>
                <a:schemeClr val="dk1"/>
              </a:solidFill>
            </a:endParaRPr>
          </a:p>
          <a:p>
            <a:pPr indent="-310635" lvl="0" marL="457200" rtl="0" algn="l">
              <a:spcBef>
                <a:spcPts val="0"/>
              </a:spcBef>
              <a:spcAft>
                <a:spcPts val="0"/>
              </a:spcAft>
              <a:buClr>
                <a:schemeClr val="dk1"/>
              </a:buClr>
              <a:buSzPts val="1292"/>
              <a:buChar char="●"/>
            </a:pPr>
            <a:r>
              <a:rPr b="1" lang="en" sz="1291">
                <a:solidFill>
                  <a:schemeClr val="dk1"/>
                </a:solidFill>
              </a:rPr>
              <a:t>Authentication Process</a:t>
            </a:r>
            <a:r>
              <a:rPr lang="en" sz="1291">
                <a:solidFill>
                  <a:schemeClr val="dk1"/>
                </a:solidFill>
              </a:rPr>
              <a:t>:</a:t>
            </a:r>
            <a:endParaRPr sz="1291">
              <a:solidFill>
                <a:schemeClr val="dk1"/>
              </a:solidFill>
            </a:endParaRPr>
          </a:p>
          <a:p>
            <a:pPr indent="-310635" lvl="1" marL="914400" rtl="0" algn="l">
              <a:spcBef>
                <a:spcPts val="0"/>
              </a:spcBef>
              <a:spcAft>
                <a:spcPts val="0"/>
              </a:spcAft>
              <a:buClr>
                <a:schemeClr val="dk1"/>
              </a:buClr>
              <a:buSzPts val="1292"/>
              <a:buChar char="○"/>
            </a:pPr>
            <a:r>
              <a:rPr lang="en" sz="1291">
                <a:solidFill>
                  <a:schemeClr val="dk1"/>
                </a:solidFill>
              </a:rPr>
              <a:t>Users must be both authorized and authenticated to access systems.</a:t>
            </a:r>
            <a:endParaRPr sz="1291">
              <a:solidFill>
                <a:schemeClr val="dk1"/>
              </a:solidFill>
            </a:endParaRPr>
          </a:p>
          <a:p>
            <a:pPr indent="-310635" lvl="1" marL="914400" rtl="0" algn="l">
              <a:spcBef>
                <a:spcPts val="0"/>
              </a:spcBef>
              <a:spcAft>
                <a:spcPts val="0"/>
              </a:spcAft>
              <a:buClr>
                <a:schemeClr val="dk1"/>
              </a:buClr>
              <a:buSzPts val="1292"/>
              <a:buChar char="○"/>
            </a:pPr>
            <a:r>
              <a:rPr b="1" lang="en" sz="1291">
                <a:solidFill>
                  <a:schemeClr val="dk1"/>
                </a:solidFill>
              </a:rPr>
              <a:t>Password-based Authentication</a:t>
            </a:r>
            <a:r>
              <a:rPr lang="en" sz="1291">
                <a:solidFill>
                  <a:schemeClr val="dk1"/>
                </a:solidFill>
              </a:rPr>
              <a:t>:</a:t>
            </a:r>
            <a:endParaRPr sz="1291">
              <a:solidFill>
                <a:schemeClr val="dk1"/>
              </a:solidFill>
            </a:endParaRPr>
          </a:p>
          <a:p>
            <a:pPr indent="-310635" lvl="2" marL="1371600" rtl="0" algn="l">
              <a:spcBef>
                <a:spcPts val="0"/>
              </a:spcBef>
              <a:spcAft>
                <a:spcPts val="0"/>
              </a:spcAft>
              <a:buClr>
                <a:schemeClr val="dk1"/>
              </a:buClr>
              <a:buSzPts val="1292"/>
              <a:buChar char="■"/>
            </a:pPr>
            <a:r>
              <a:rPr lang="en" sz="1291">
                <a:solidFill>
                  <a:schemeClr val="dk1"/>
                </a:solidFill>
              </a:rPr>
              <a:t>Users typically authenticate by entering passwords, which are known only to authorized individuals.</a:t>
            </a:r>
            <a:endParaRPr sz="1291">
              <a:solidFill>
                <a:schemeClr val="dk1"/>
              </a:solidFill>
            </a:endParaRPr>
          </a:p>
          <a:p>
            <a:pPr indent="-310635" lvl="2" marL="1371600" rtl="0" algn="l">
              <a:spcBef>
                <a:spcPts val="0"/>
              </a:spcBef>
              <a:spcAft>
                <a:spcPts val="0"/>
              </a:spcAft>
              <a:buClr>
                <a:schemeClr val="dk1"/>
              </a:buClr>
              <a:buSzPts val="1292"/>
              <a:buChar char="■"/>
            </a:pPr>
            <a:r>
              <a:rPr lang="en" sz="1291">
                <a:solidFill>
                  <a:schemeClr val="dk1"/>
                </a:solidFill>
              </a:rPr>
              <a:t>Passwords are often used for logging into computers and accessing specific systems or files.</a:t>
            </a:r>
            <a:endParaRPr sz="1291">
              <a:solidFill>
                <a:schemeClr val="dk1"/>
              </a:solidFill>
            </a:endParaRPr>
          </a:p>
          <a:p>
            <a:pPr indent="0" lvl="0" marL="914400" rtl="0" algn="l">
              <a:spcBef>
                <a:spcPts val="1200"/>
              </a:spcBef>
              <a:spcAft>
                <a:spcPts val="0"/>
              </a:spcAft>
              <a:buNone/>
            </a:pPr>
            <a:r>
              <a:t/>
            </a:r>
            <a:endParaRPr b="1" sz="1600">
              <a:solidFill>
                <a:schemeClr val="dk1"/>
              </a:solidFill>
            </a:endParaRPr>
          </a:p>
          <a:p>
            <a:pPr indent="0" lvl="0" marL="0" rtl="0" algn="l">
              <a:spcBef>
                <a:spcPts val="1200"/>
              </a:spcBef>
              <a:spcAft>
                <a:spcPts val="1200"/>
              </a:spcAft>
              <a:buNone/>
            </a:pPr>
            <a:r>
              <a:t/>
            </a:r>
            <a:endParaRPr b="1" sz="14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174" name="Google Shape;174;p33"/>
          <p:cNvSpPr txBox="1"/>
          <p:nvPr>
            <p:ph idx="1" type="body"/>
          </p:nvPr>
        </p:nvSpPr>
        <p:spPr>
          <a:xfrm>
            <a:off x="311700" y="1152475"/>
            <a:ext cx="8520600" cy="37710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 sz="1300">
                <a:solidFill>
                  <a:schemeClr val="dk1"/>
                </a:solidFill>
              </a:rPr>
              <a:t>2. Firewalls, Intrusion Detection, and Antivirus Software</a:t>
            </a:r>
            <a:endParaRPr b="1" sz="1300">
              <a:solidFill>
                <a:schemeClr val="dk1"/>
              </a:solidFill>
            </a:endParaRPr>
          </a:p>
          <a:p>
            <a:pPr indent="0" lvl="0" marL="0" rtl="0" algn="l">
              <a:spcBef>
                <a:spcPts val="1200"/>
              </a:spcBef>
              <a:spcAft>
                <a:spcPts val="0"/>
              </a:spcAft>
              <a:buNone/>
            </a:pPr>
            <a:r>
              <a:rPr b="1" lang="en" sz="1100">
                <a:solidFill>
                  <a:schemeClr val="dk1"/>
                </a:solidFill>
              </a:rPr>
              <a:t>Firewalls</a:t>
            </a:r>
            <a:endParaRPr sz="1100">
              <a:solidFill>
                <a:schemeClr val="dk1"/>
              </a:solidFill>
            </a:endParaRPr>
          </a:p>
          <a:p>
            <a:pPr indent="0" lvl="0" marL="0" rtl="0" algn="l">
              <a:spcBef>
                <a:spcPts val="1200"/>
              </a:spcBef>
              <a:spcAft>
                <a:spcPts val="0"/>
              </a:spcAft>
              <a:buNone/>
            </a:pPr>
            <a:r>
              <a:rPr lang="en" sz="1300">
                <a:solidFill>
                  <a:schemeClr val="dk1"/>
                </a:solidFill>
              </a:rPr>
              <a:t>Prevent unauthorized users from accessing private networks.</a:t>
            </a:r>
            <a:endParaRPr sz="1300">
              <a:solidFill>
                <a:schemeClr val="dk1"/>
              </a:solidFill>
            </a:endParaRPr>
          </a:p>
          <a:p>
            <a:pPr indent="-311150" lvl="0" marL="457200" rtl="0" algn="l">
              <a:spcBef>
                <a:spcPts val="1200"/>
              </a:spcBef>
              <a:spcAft>
                <a:spcPts val="0"/>
              </a:spcAft>
              <a:buClr>
                <a:schemeClr val="dk1"/>
              </a:buClr>
              <a:buSzPts val="1300"/>
              <a:buChar char="●"/>
            </a:pPr>
            <a:r>
              <a:rPr b="1" lang="en" sz="1300">
                <a:solidFill>
                  <a:schemeClr val="dk1"/>
                </a:solidFill>
              </a:rPr>
              <a:t>Function</a:t>
            </a:r>
            <a:r>
              <a:rPr lang="en" sz="1300">
                <a:solidFill>
                  <a:schemeClr val="dk1"/>
                </a:solidFill>
              </a:rPr>
              <a:t>:</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A firewall is a combination of hardware and software that controls the flow of incoming and outgoing network traffic.</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It is typically placed between an organization’s private internal networks and untrusted external networks, such as the Internet.</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How It Works</a:t>
            </a:r>
            <a:r>
              <a:rPr lang="en" sz="1300">
                <a:solidFill>
                  <a:schemeClr val="dk1"/>
                </a:solidFill>
              </a:rPr>
              <a:t>:</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Acts like a gatekeeper, examining each user’s credentials before granting access to the network.</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The firewall identifies attributes such as names, IP addresses, and applications of incoming traffic and compares them to access rules programmed by the network administrator.</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Unauthorized communication is blocked.</a:t>
            </a:r>
            <a:endParaRPr sz="1300">
              <a:solidFill>
                <a:schemeClr val="dk1"/>
              </a:solidFill>
            </a:endParaRPr>
          </a:p>
          <a:p>
            <a:pPr indent="0" lvl="0" marL="0" rtl="0" algn="l">
              <a:spcBef>
                <a:spcPts val="1400"/>
              </a:spcBef>
              <a:spcAft>
                <a:spcPts val="0"/>
              </a:spcAft>
              <a:buClr>
                <a:schemeClr val="dk1"/>
              </a:buClr>
              <a:buSzPts val="1100"/>
              <a:buFont typeface="Arial"/>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180" name="Google Shape;180;p34"/>
          <p:cNvSpPr txBox="1"/>
          <p:nvPr>
            <p:ph idx="1" type="body"/>
          </p:nvPr>
        </p:nvSpPr>
        <p:spPr>
          <a:xfrm>
            <a:off x="311700" y="1152475"/>
            <a:ext cx="8520600" cy="37710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300">
                <a:solidFill>
                  <a:schemeClr val="dk1"/>
                </a:solidFill>
              </a:rPr>
              <a:t>2. Firewalls, Intrusion Detection, and Antivirus Software</a:t>
            </a:r>
            <a:endParaRPr b="1" sz="1300">
              <a:solidFill>
                <a:schemeClr val="dk1"/>
              </a:solidFill>
            </a:endParaRPr>
          </a:p>
          <a:p>
            <a:pPr indent="0" lvl="0" marL="0" rtl="0" algn="l">
              <a:spcBef>
                <a:spcPts val="1200"/>
              </a:spcBef>
              <a:spcAft>
                <a:spcPts val="0"/>
              </a:spcAft>
              <a:buNone/>
            </a:pPr>
            <a:r>
              <a:rPr b="1" lang="en" sz="1400">
                <a:solidFill>
                  <a:schemeClr val="dk1"/>
                </a:solidFill>
              </a:rPr>
              <a:t>Intrusion Detection System (IDS)</a:t>
            </a:r>
            <a:endParaRPr b="1" sz="1400">
              <a:solidFill>
                <a:schemeClr val="dk1"/>
              </a:solidFill>
            </a:endParaRPr>
          </a:p>
          <a:p>
            <a:pPr indent="0" lvl="0" marL="0" rtl="0" algn="l">
              <a:spcBef>
                <a:spcPts val="1200"/>
              </a:spcBef>
              <a:spcAft>
                <a:spcPts val="0"/>
              </a:spcAft>
              <a:buNone/>
            </a:pPr>
            <a:r>
              <a:rPr lang="en" sz="1400">
                <a:solidFill>
                  <a:schemeClr val="dk1"/>
                </a:solidFill>
              </a:rPr>
              <a:t>Detect and deter intruders continually, monitoring vulnerable points ("hot spots") of the network.</a:t>
            </a:r>
            <a:endParaRPr sz="1400">
              <a:solidFill>
                <a:schemeClr val="dk1"/>
              </a:solidFill>
            </a:endParaRPr>
          </a:p>
          <a:p>
            <a:pPr indent="-317500" lvl="0" marL="457200" rtl="0" algn="l">
              <a:spcBef>
                <a:spcPts val="1200"/>
              </a:spcBef>
              <a:spcAft>
                <a:spcPts val="0"/>
              </a:spcAft>
              <a:buClr>
                <a:schemeClr val="dk1"/>
              </a:buClr>
              <a:buSzPts val="1400"/>
              <a:buChar char="●"/>
            </a:pPr>
            <a:r>
              <a:rPr b="1" lang="en" sz="1400">
                <a:solidFill>
                  <a:schemeClr val="dk1"/>
                </a:solidFill>
              </a:rPr>
              <a:t>Function</a:t>
            </a:r>
            <a:r>
              <a:rPr lang="en" sz="1400">
                <a:solidFill>
                  <a:schemeClr val="dk1"/>
                </a:solidFill>
              </a:rPr>
              <a:t>:</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Generates alarms when suspicious or anomalous events are detected, alerting the network administrator to potential security threats.</a:t>
            </a:r>
            <a:endParaRPr>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186" name="Google Shape;186;p35"/>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92500" lnSpcReduction="20000"/>
          </a:bodyPr>
          <a:lstStyle/>
          <a:p>
            <a:pPr indent="0" lvl="0" marL="0" rtl="0" algn="l">
              <a:spcBef>
                <a:spcPts val="1400"/>
              </a:spcBef>
              <a:spcAft>
                <a:spcPts val="0"/>
              </a:spcAft>
              <a:buNone/>
            </a:pPr>
            <a:r>
              <a:rPr b="1" lang="en" sz="1300">
                <a:solidFill>
                  <a:schemeClr val="dk1"/>
                </a:solidFill>
              </a:rPr>
              <a:t>2. Firewalls, Intrusion Detection, and Antivirus Software</a:t>
            </a:r>
            <a:endParaRPr b="1" sz="1300">
              <a:solidFill>
                <a:schemeClr val="dk1"/>
              </a:solidFill>
            </a:endParaRPr>
          </a:p>
          <a:p>
            <a:pPr indent="0" lvl="0" marL="0" rtl="0" algn="l">
              <a:spcBef>
                <a:spcPts val="1200"/>
              </a:spcBef>
              <a:spcAft>
                <a:spcPts val="0"/>
              </a:spcAft>
              <a:buNone/>
            </a:pPr>
            <a:r>
              <a:rPr b="1" lang="en" sz="1400">
                <a:solidFill>
                  <a:schemeClr val="dk1"/>
                </a:solidFill>
              </a:rPr>
              <a:t>Antivirus and Antispyware Software</a:t>
            </a:r>
            <a:endParaRPr b="1" sz="1400">
              <a:solidFill>
                <a:schemeClr val="dk1"/>
              </a:solidFill>
            </a:endParaRPr>
          </a:p>
          <a:p>
            <a:pPr indent="0" lvl="0" marL="0" rtl="0" algn="l">
              <a:spcBef>
                <a:spcPts val="1200"/>
              </a:spcBef>
              <a:spcAft>
                <a:spcPts val="0"/>
              </a:spcAft>
              <a:buNone/>
            </a:pPr>
            <a:r>
              <a:rPr lang="en">
                <a:solidFill>
                  <a:schemeClr val="dk1"/>
                </a:solidFill>
              </a:rPr>
              <a:t>Detect and remove malicious software such as viruses and spyware from computer systems and drives.</a:t>
            </a:r>
            <a:endParaRPr>
              <a:solidFill>
                <a:schemeClr val="dk1"/>
              </a:solidFill>
            </a:endParaRPr>
          </a:p>
          <a:p>
            <a:pPr indent="-310832" lvl="0" marL="457200" rtl="0" algn="l">
              <a:spcBef>
                <a:spcPts val="1200"/>
              </a:spcBef>
              <a:spcAft>
                <a:spcPts val="0"/>
              </a:spcAft>
              <a:buClr>
                <a:schemeClr val="dk1"/>
              </a:buClr>
              <a:buSzPct val="100000"/>
              <a:buChar char="●"/>
            </a:pPr>
            <a:r>
              <a:rPr b="1" lang="en" sz="1400">
                <a:solidFill>
                  <a:schemeClr val="dk1"/>
                </a:solidFill>
              </a:rPr>
              <a:t>Function</a:t>
            </a:r>
            <a:r>
              <a:rPr lang="en" sz="1400">
                <a:solidFill>
                  <a:schemeClr val="dk1"/>
                </a:solidFill>
              </a:rPr>
              <a:t>:</a:t>
            </a:r>
            <a:endParaRPr sz="1400">
              <a:solidFill>
                <a:schemeClr val="dk1"/>
              </a:solidFill>
            </a:endParaRPr>
          </a:p>
          <a:p>
            <a:pPr indent="-310832" lvl="1" marL="914400" rtl="0" algn="l">
              <a:spcBef>
                <a:spcPts val="0"/>
              </a:spcBef>
              <a:spcAft>
                <a:spcPts val="0"/>
              </a:spcAft>
              <a:buClr>
                <a:schemeClr val="dk1"/>
              </a:buClr>
              <a:buSzPct val="100000"/>
              <a:buChar char="○"/>
            </a:pPr>
            <a:r>
              <a:rPr lang="en">
                <a:solidFill>
                  <a:schemeClr val="dk1"/>
                </a:solidFill>
              </a:rPr>
              <a:t>Scans for known viruses and malware based on the virus definitions contained in the software.</a:t>
            </a:r>
            <a:endParaRPr>
              <a:solidFill>
                <a:schemeClr val="dk1"/>
              </a:solidFill>
            </a:endParaRPr>
          </a:p>
          <a:p>
            <a:pPr indent="-310832" lvl="1" marL="914400" rtl="0" algn="l">
              <a:spcBef>
                <a:spcPts val="0"/>
              </a:spcBef>
              <a:spcAft>
                <a:spcPts val="0"/>
              </a:spcAft>
              <a:buClr>
                <a:schemeClr val="dk1"/>
              </a:buClr>
              <a:buSzPct val="100000"/>
              <a:buChar char="○"/>
            </a:pPr>
            <a:r>
              <a:rPr lang="en">
                <a:solidFill>
                  <a:schemeClr val="dk1"/>
                </a:solidFill>
              </a:rPr>
              <a:t>To remain effective, antivirus software must be updated regularly to detect new threats.</a:t>
            </a:r>
            <a:endParaRPr>
              <a:solidFill>
                <a:schemeClr val="dk1"/>
              </a:solidFill>
            </a:endParaRPr>
          </a:p>
          <a:p>
            <a:pPr indent="-310832" lvl="0" marL="457200" rtl="0" algn="l">
              <a:spcBef>
                <a:spcPts val="0"/>
              </a:spcBef>
              <a:spcAft>
                <a:spcPts val="0"/>
              </a:spcAft>
              <a:buClr>
                <a:schemeClr val="dk1"/>
              </a:buClr>
              <a:buSzPct val="100000"/>
              <a:buChar char="●"/>
            </a:pPr>
            <a:r>
              <a:rPr b="1" lang="en" sz="1400">
                <a:solidFill>
                  <a:schemeClr val="dk1"/>
                </a:solidFill>
              </a:rPr>
              <a:t>Leading Vendors</a:t>
            </a:r>
            <a:r>
              <a:rPr lang="en" sz="1400">
                <a:solidFill>
                  <a:schemeClr val="dk1"/>
                </a:solidFill>
              </a:rPr>
              <a:t>:</a:t>
            </a:r>
            <a:endParaRPr sz="1400">
              <a:solidFill>
                <a:schemeClr val="dk1"/>
              </a:solidFill>
            </a:endParaRPr>
          </a:p>
          <a:p>
            <a:pPr indent="-310832" lvl="1" marL="914400" rtl="0" algn="l">
              <a:spcBef>
                <a:spcPts val="0"/>
              </a:spcBef>
              <a:spcAft>
                <a:spcPts val="0"/>
              </a:spcAft>
              <a:buClr>
                <a:schemeClr val="dk1"/>
              </a:buClr>
              <a:buSzPct val="100000"/>
              <a:buChar char="○"/>
            </a:pPr>
            <a:r>
              <a:rPr lang="en">
                <a:solidFill>
                  <a:schemeClr val="dk1"/>
                </a:solidFill>
              </a:rPr>
              <a:t>McAfee, AVG, and others.</a:t>
            </a:r>
            <a:endParaRPr>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192" name="Google Shape;192;p36"/>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85000" lnSpcReduction="20000"/>
          </a:bodyPr>
          <a:lstStyle/>
          <a:p>
            <a:pPr indent="0" lvl="0" marL="0" rtl="0" algn="l">
              <a:spcBef>
                <a:spcPts val="1400"/>
              </a:spcBef>
              <a:spcAft>
                <a:spcPts val="0"/>
              </a:spcAft>
              <a:buNone/>
            </a:pPr>
            <a:r>
              <a:rPr b="1" lang="en" sz="1300">
                <a:solidFill>
                  <a:schemeClr val="dk1"/>
                </a:solidFill>
              </a:rPr>
              <a:t>2. Firewalls, Intrusion Detection, and Antivirus Software</a:t>
            </a:r>
            <a:endParaRPr b="1" sz="1300">
              <a:solidFill>
                <a:schemeClr val="dk1"/>
              </a:solidFill>
            </a:endParaRPr>
          </a:p>
          <a:p>
            <a:pPr indent="0" lvl="0" marL="0" rtl="0" algn="l">
              <a:spcBef>
                <a:spcPts val="1200"/>
              </a:spcBef>
              <a:spcAft>
                <a:spcPts val="0"/>
              </a:spcAft>
              <a:buClr>
                <a:schemeClr val="dk1"/>
              </a:buClr>
              <a:buSzPct val="83572"/>
              <a:buFont typeface="Arial"/>
              <a:buNone/>
            </a:pPr>
            <a:r>
              <a:rPr b="1" lang="en" sz="1316">
                <a:solidFill>
                  <a:schemeClr val="dk1"/>
                </a:solidFill>
              </a:rPr>
              <a:t>Unified Threat Management System (UTM)</a:t>
            </a:r>
            <a:endParaRPr b="1" sz="1316">
              <a:solidFill>
                <a:schemeClr val="dk1"/>
              </a:solidFill>
            </a:endParaRPr>
          </a:p>
          <a:p>
            <a:pPr indent="0" lvl="0" marL="457200" rtl="0" algn="l">
              <a:spcBef>
                <a:spcPts val="1200"/>
              </a:spcBef>
              <a:spcAft>
                <a:spcPts val="0"/>
              </a:spcAft>
              <a:buNone/>
            </a:pPr>
            <a:r>
              <a:rPr lang="en" sz="1316">
                <a:solidFill>
                  <a:schemeClr val="dk1"/>
                </a:solidFill>
              </a:rPr>
              <a:t>Provide a comprehensive approach to security by combining various security tools into a single appliance.</a:t>
            </a:r>
            <a:endParaRPr sz="1316">
              <a:solidFill>
                <a:schemeClr val="dk1"/>
              </a:solidFill>
            </a:endParaRPr>
          </a:p>
          <a:p>
            <a:pPr indent="-299642" lvl="0" marL="457200" rtl="0" algn="l">
              <a:spcBef>
                <a:spcPts val="1200"/>
              </a:spcBef>
              <a:spcAft>
                <a:spcPts val="0"/>
              </a:spcAft>
              <a:buClr>
                <a:schemeClr val="dk1"/>
              </a:buClr>
              <a:buSzPct val="100000"/>
              <a:buChar char="●"/>
            </a:pPr>
            <a:r>
              <a:rPr b="1" lang="en" sz="1316">
                <a:solidFill>
                  <a:schemeClr val="dk1"/>
                </a:solidFill>
              </a:rPr>
              <a:t>Features</a:t>
            </a:r>
            <a:r>
              <a:rPr lang="en" sz="1316">
                <a:solidFill>
                  <a:schemeClr val="dk1"/>
                </a:solidFill>
              </a:rPr>
              <a:t>:</a:t>
            </a:r>
            <a:endParaRPr sz="1316">
              <a:solidFill>
                <a:schemeClr val="dk1"/>
              </a:solidFill>
            </a:endParaRPr>
          </a:p>
          <a:p>
            <a:pPr indent="-299642" lvl="1" marL="914400" rtl="0" algn="l">
              <a:spcBef>
                <a:spcPts val="0"/>
              </a:spcBef>
              <a:spcAft>
                <a:spcPts val="0"/>
              </a:spcAft>
              <a:buClr>
                <a:schemeClr val="dk1"/>
              </a:buClr>
              <a:buSzPct val="100000"/>
              <a:buChar char="○"/>
            </a:pPr>
            <a:r>
              <a:rPr lang="en" sz="1316">
                <a:solidFill>
                  <a:schemeClr val="dk1"/>
                </a:solidFill>
              </a:rPr>
              <a:t>Includes firewalls, virtual private networks (VPN), intrusion detection systems, web content filtering, and anti-spam software.</a:t>
            </a:r>
            <a:endParaRPr sz="1316">
              <a:solidFill>
                <a:schemeClr val="dk1"/>
              </a:solidFill>
            </a:endParaRPr>
          </a:p>
          <a:p>
            <a:pPr indent="-299642" lvl="0" marL="457200" rtl="0" algn="l">
              <a:spcBef>
                <a:spcPts val="0"/>
              </a:spcBef>
              <a:spcAft>
                <a:spcPts val="0"/>
              </a:spcAft>
              <a:buClr>
                <a:schemeClr val="dk1"/>
              </a:buClr>
              <a:buSzPct val="100000"/>
              <a:buChar char="●"/>
            </a:pPr>
            <a:r>
              <a:rPr b="1" lang="en" sz="1316">
                <a:solidFill>
                  <a:schemeClr val="dk1"/>
                </a:solidFill>
              </a:rPr>
              <a:t>Benefits</a:t>
            </a:r>
            <a:r>
              <a:rPr lang="en" sz="1316">
                <a:solidFill>
                  <a:schemeClr val="dk1"/>
                </a:solidFill>
              </a:rPr>
              <a:t>:</a:t>
            </a:r>
            <a:endParaRPr sz="1316">
              <a:solidFill>
                <a:schemeClr val="dk1"/>
              </a:solidFill>
            </a:endParaRPr>
          </a:p>
          <a:p>
            <a:pPr indent="-299642" lvl="1" marL="914400" rtl="0" algn="l">
              <a:spcBef>
                <a:spcPts val="0"/>
              </a:spcBef>
              <a:spcAft>
                <a:spcPts val="0"/>
              </a:spcAft>
              <a:buClr>
                <a:schemeClr val="dk1"/>
              </a:buClr>
              <a:buSzPct val="100000"/>
              <a:buChar char="○"/>
            </a:pPr>
            <a:r>
              <a:rPr lang="en" sz="1316">
                <a:solidFill>
                  <a:schemeClr val="dk1"/>
                </a:solidFill>
              </a:rPr>
              <a:t>Helps businesses reduce costs and simplify security management by consolidating multiple security functions into one product.</a:t>
            </a:r>
            <a:endParaRPr sz="1316">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198" name="Google Shape;198;p37"/>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3300">
                <a:solidFill>
                  <a:schemeClr val="dk1"/>
                </a:solidFill>
              </a:rPr>
              <a:t>3</a:t>
            </a:r>
            <a:r>
              <a:rPr b="1" lang="en" sz="3300">
                <a:solidFill>
                  <a:schemeClr val="dk1"/>
                </a:solidFill>
              </a:rPr>
              <a:t>. </a:t>
            </a:r>
            <a:r>
              <a:rPr b="1" lang="en" sz="3300">
                <a:solidFill>
                  <a:schemeClr val="dk1"/>
                </a:solidFill>
              </a:rPr>
              <a:t>Securing Wireless Networks</a:t>
            </a:r>
            <a:endParaRPr b="1" sz="33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1200"/>
              </a:spcBef>
              <a:spcAft>
                <a:spcPts val="0"/>
              </a:spcAft>
              <a:buNone/>
            </a:pPr>
            <a:r>
              <a:rPr b="1" lang="en" sz="5573">
                <a:solidFill>
                  <a:schemeClr val="dk1"/>
                </a:solidFill>
              </a:rPr>
              <a:t>WEP (Wired Equivalent Privacy)</a:t>
            </a:r>
            <a:endParaRPr b="1" sz="5573">
              <a:solidFill>
                <a:schemeClr val="dk1"/>
              </a:solidFill>
            </a:endParaRPr>
          </a:p>
          <a:p>
            <a:pPr indent="-317072" lvl="0" marL="457200" rtl="0" algn="l">
              <a:spcBef>
                <a:spcPts val="1200"/>
              </a:spcBef>
              <a:spcAft>
                <a:spcPts val="0"/>
              </a:spcAft>
              <a:buClr>
                <a:schemeClr val="dk1"/>
              </a:buClr>
              <a:buSzPct val="100000"/>
              <a:buChar char="●"/>
            </a:pPr>
            <a:r>
              <a:rPr b="1" lang="en" sz="5573">
                <a:solidFill>
                  <a:schemeClr val="dk1"/>
                </a:solidFill>
              </a:rPr>
              <a:t>Flaws</a:t>
            </a:r>
            <a:r>
              <a:rPr lang="en" sz="5573">
                <a:solidFill>
                  <a:schemeClr val="dk1"/>
                </a:solidFill>
              </a:rPr>
              <a:t>:</a:t>
            </a:r>
            <a:endParaRPr sz="5573">
              <a:solidFill>
                <a:schemeClr val="dk1"/>
              </a:solidFill>
            </a:endParaRPr>
          </a:p>
          <a:p>
            <a:pPr indent="-317072" lvl="1" marL="914400" rtl="0" algn="l">
              <a:spcBef>
                <a:spcPts val="0"/>
              </a:spcBef>
              <a:spcAft>
                <a:spcPts val="0"/>
              </a:spcAft>
              <a:buClr>
                <a:schemeClr val="dk1"/>
              </a:buClr>
              <a:buSzPct val="100000"/>
              <a:buChar char="○"/>
            </a:pPr>
            <a:r>
              <a:rPr lang="en" sz="5573">
                <a:solidFill>
                  <a:schemeClr val="dk1"/>
                </a:solidFill>
              </a:rPr>
              <a:t>While WEP provides some level of security, its encryption can be easily cracked by hackers if not properly configured.</a:t>
            </a:r>
            <a:endParaRPr sz="5573">
              <a:solidFill>
                <a:schemeClr val="dk1"/>
              </a:solidFill>
            </a:endParaRPr>
          </a:p>
          <a:p>
            <a:pPr indent="-317072" lvl="0" marL="457200" rtl="0" algn="l">
              <a:spcBef>
                <a:spcPts val="0"/>
              </a:spcBef>
              <a:spcAft>
                <a:spcPts val="0"/>
              </a:spcAft>
              <a:buClr>
                <a:schemeClr val="dk1"/>
              </a:buClr>
              <a:buSzPct val="100000"/>
              <a:buChar char="●"/>
            </a:pPr>
            <a:r>
              <a:rPr b="1" lang="en" sz="5573">
                <a:solidFill>
                  <a:schemeClr val="dk1"/>
                </a:solidFill>
              </a:rPr>
              <a:t>Basic Steps to Improve Security</a:t>
            </a:r>
            <a:r>
              <a:rPr lang="en" sz="5573">
                <a:solidFill>
                  <a:schemeClr val="dk1"/>
                </a:solidFill>
              </a:rPr>
              <a:t>:</a:t>
            </a:r>
            <a:endParaRPr sz="5573">
              <a:solidFill>
                <a:schemeClr val="dk1"/>
              </a:solidFill>
            </a:endParaRPr>
          </a:p>
          <a:p>
            <a:pPr indent="-317072" lvl="1" marL="914400" rtl="0" algn="l">
              <a:spcBef>
                <a:spcPts val="0"/>
              </a:spcBef>
              <a:spcAft>
                <a:spcPts val="0"/>
              </a:spcAft>
              <a:buClr>
                <a:schemeClr val="dk1"/>
              </a:buClr>
              <a:buSzPct val="100000"/>
              <a:buChar char="○"/>
            </a:pPr>
            <a:r>
              <a:rPr b="1" lang="en" sz="5573">
                <a:solidFill>
                  <a:schemeClr val="dk1"/>
                </a:solidFill>
              </a:rPr>
              <a:t>Activate WEP</a:t>
            </a:r>
            <a:r>
              <a:rPr lang="en" sz="5573">
                <a:solidFill>
                  <a:schemeClr val="dk1"/>
                </a:solidFill>
              </a:rPr>
              <a:t>: Users should ensure WEP is enabled to provide a basic level of encryption.</a:t>
            </a:r>
            <a:endParaRPr sz="5573">
              <a:solidFill>
                <a:schemeClr val="dk1"/>
              </a:solidFill>
            </a:endParaRPr>
          </a:p>
          <a:p>
            <a:pPr indent="-317072" lvl="1" marL="914400" rtl="0" algn="l">
              <a:spcBef>
                <a:spcPts val="0"/>
              </a:spcBef>
              <a:spcAft>
                <a:spcPts val="0"/>
              </a:spcAft>
              <a:buClr>
                <a:schemeClr val="dk1"/>
              </a:buClr>
              <a:buSzPct val="100000"/>
              <a:buChar char="○"/>
            </a:pPr>
            <a:r>
              <a:rPr b="1" lang="en" sz="5573">
                <a:solidFill>
                  <a:schemeClr val="dk1"/>
                </a:solidFill>
              </a:rPr>
              <a:t>SSID Naming and Broadcasting</a:t>
            </a:r>
            <a:r>
              <a:rPr lang="en" sz="5573">
                <a:solidFill>
                  <a:schemeClr val="dk1"/>
                </a:solidFill>
              </a:rPr>
              <a:t>:</a:t>
            </a:r>
            <a:endParaRPr sz="5573">
              <a:solidFill>
                <a:schemeClr val="dk1"/>
              </a:solidFill>
            </a:endParaRPr>
          </a:p>
          <a:p>
            <a:pPr indent="-317072" lvl="2" marL="1371600" rtl="0" algn="l">
              <a:spcBef>
                <a:spcPts val="0"/>
              </a:spcBef>
              <a:spcAft>
                <a:spcPts val="0"/>
              </a:spcAft>
              <a:buClr>
                <a:schemeClr val="dk1"/>
              </a:buClr>
              <a:buSzPct val="100000"/>
              <a:buChar char="■"/>
            </a:pPr>
            <a:r>
              <a:rPr lang="en" sz="5573">
                <a:solidFill>
                  <a:schemeClr val="dk1"/>
                </a:solidFill>
              </a:rPr>
              <a:t>Assign a unique name (SSID) to the wireless network.</a:t>
            </a:r>
            <a:endParaRPr sz="5573">
              <a:solidFill>
                <a:schemeClr val="dk1"/>
              </a:solidFill>
            </a:endParaRPr>
          </a:p>
          <a:p>
            <a:pPr indent="-317072" lvl="2" marL="1371600" rtl="0" algn="l">
              <a:spcBef>
                <a:spcPts val="0"/>
              </a:spcBef>
              <a:spcAft>
                <a:spcPts val="0"/>
              </a:spcAft>
              <a:buClr>
                <a:schemeClr val="dk1"/>
              </a:buClr>
              <a:buSzPct val="100000"/>
              <a:buChar char="■"/>
            </a:pPr>
            <a:r>
              <a:rPr lang="en" sz="5573">
                <a:solidFill>
                  <a:schemeClr val="dk1"/>
                </a:solidFill>
              </a:rPr>
              <a:t>Disable SSID broadcasting to make the network less visible to unauthorized users.</a:t>
            </a:r>
            <a:endParaRPr sz="5573">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04" name="Google Shape;204;p38"/>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4900">
                <a:solidFill>
                  <a:schemeClr val="dk1"/>
                </a:solidFill>
              </a:rPr>
              <a:t>3. Securing Wireless Networks</a:t>
            </a:r>
            <a:endParaRPr b="1" sz="49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1200"/>
              </a:spcBef>
              <a:spcAft>
                <a:spcPts val="0"/>
              </a:spcAft>
              <a:buNone/>
            </a:pPr>
            <a:r>
              <a:rPr b="1" lang="en" sz="4856">
                <a:solidFill>
                  <a:schemeClr val="dk1"/>
                </a:solidFill>
              </a:rPr>
              <a:t>Wi-Fi Protected Access 2 (WPA2)</a:t>
            </a:r>
            <a:endParaRPr b="1" sz="4856">
              <a:solidFill>
                <a:schemeClr val="dk1"/>
              </a:solidFill>
            </a:endParaRPr>
          </a:p>
          <a:p>
            <a:pPr indent="-305696" lvl="0" marL="457200" rtl="0" algn="l">
              <a:spcBef>
                <a:spcPts val="1200"/>
              </a:spcBef>
              <a:spcAft>
                <a:spcPts val="0"/>
              </a:spcAft>
              <a:buClr>
                <a:schemeClr val="dk1"/>
              </a:buClr>
              <a:buSzPct val="100000"/>
              <a:buChar char="●"/>
            </a:pPr>
            <a:r>
              <a:rPr b="1" lang="en" sz="4856">
                <a:solidFill>
                  <a:schemeClr val="dk1"/>
                </a:solidFill>
              </a:rPr>
              <a:t>Overview</a:t>
            </a:r>
            <a:r>
              <a:rPr lang="en" sz="4856">
                <a:solidFill>
                  <a:schemeClr val="dk1"/>
                </a:solidFill>
              </a:rPr>
              <a:t>:</a:t>
            </a:r>
            <a:endParaRPr sz="4856">
              <a:solidFill>
                <a:schemeClr val="dk1"/>
              </a:solidFill>
            </a:endParaRPr>
          </a:p>
          <a:p>
            <a:pPr indent="-305696" lvl="1" marL="914400" rtl="0" algn="l">
              <a:spcBef>
                <a:spcPts val="0"/>
              </a:spcBef>
              <a:spcAft>
                <a:spcPts val="0"/>
              </a:spcAft>
              <a:buClr>
                <a:schemeClr val="dk1"/>
              </a:buClr>
              <a:buSzPct val="100000"/>
              <a:buChar char="○"/>
            </a:pPr>
            <a:r>
              <a:rPr lang="en" sz="4856">
                <a:solidFill>
                  <a:schemeClr val="dk1"/>
                </a:solidFill>
              </a:rPr>
              <a:t>The Wi-Fi Alliance finalized the </a:t>
            </a:r>
            <a:r>
              <a:rPr b="1" lang="en" sz="4856">
                <a:solidFill>
                  <a:schemeClr val="dk1"/>
                </a:solidFill>
              </a:rPr>
              <a:t>802.11i specification</a:t>
            </a:r>
            <a:r>
              <a:rPr lang="en" sz="4856">
                <a:solidFill>
                  <a:schemeClr val="dk1"/>
                </a:solidFill>
              </a:rPr>
              <a:t> (WPA2) in June 2004 to replace WEP with stronger security standards.</a:t>
            </a:r>
            <a:endParaRPr sz="4856">
              <a:solidFill>
                <a:schemeClr val="dk1"/>
              </a:solidFill>
            </a:endParaRPr>
          </a:p>
          <a:p>
            <a:pPr indent="-305696" lvl="0" marL="457200" rtl="0" algn="l">
              <a:spcBef>
                <a:spcPts val="0"/>
              </a:spcBef>
              <a:spcAft>
                <a:spcPts val="0"/>
              </a:spcAft>
              <a:buClr>
                <a:schemeClr val="dk1"/>
              </a:buClr>
              <a:buSzPct val="100000"/>
              <a:buChar char="●"/>
            </a:pPr>
            <a:r>
              <a:rPr b="1" lang="en" sz="4856">
                <a:solidFill>
                  <a:schemeClr val="dk1"/>
                </a:solidFill>
              </a:rPr>
              <a:t>Improvements Over WEP</a:t>
            </a:r>
            <a:r>
              <a:rPr lang="en" sz="4856">
                <a:solidFill>
                  <a:schemeClr val="dk1"/>
                </a:solidFill>
              </a:rPr>
              <a:t>:</a:t>
            </a:r>
            <a:endParaRPr sz="4856">
              <a:solidFill>
                <a:schemeClr val="dk1"/>
              </a:solidFill>
            </a:endParaRPr>
          </a:p>
          <a:p>
            <a:pPr indent="-305696" lvl="1" marL="914400" rtl="0" algn="l">
              <a:spcBef>
                <a:spcPts val="0"/>
              </a:spcBef>
              <a:spcAft>
                <a:spcPts val="0"/>
              </a:spcAft>
              <a:buClr>
                <a:schemeClr val="dk1"/>
              </a:buClr>
              <a:buSzPct val="100000"/>
              <a:buChar char="○"/>
            </a:pPr>
            <a:r>
              <a:rPr b="1" lang="en" sz="4856">
                <a:solidFill>
                  <a:schemeClr val="dk1"/>
                </a:solidFill>
              </a:rPr>
              <a:t>Dynamic Encryption Keys</a:t>
            </a:r>
            <a:r>
              <a:rPr lang="en" sz="4856">
                <a:solidFill>
                  <a:schemeClr val="dk1"/>
                </a:solidFill>
              </a:rPr>
              <a:t>:</a:t>
            </a:r>
            <a:endParaRPr sz="4856">
              <a:solidFill>
                <a:schemeClr val="dk1"/>
              </a:solidFill>
            </a:endParaRPr>
          </a:p>
          <a:p>
            <a:pPr indent="-305696" lvl="2" marL="1371600" rtl="0" algn="l">
              <a:spcBef>
                <a:spcPts val="0"/>
              </a:spcBef>
              <a:spcAft>
                <a:spcPts val="0"/>
              </a:spcAft>
              <a:buClr>
                <a:schemeClr val="dk1"/>
              </a:buClr>
              <a:buSzPct val="100000"/>
              <a:buChar char="■"/>
            </a:pPr>
            <a:r>
              <a:rPr lang="en" sz="4856">
                <a:solidFill>
                  <a:schemeClr val="dk1"/>
                </a:solidFill>
              </a:rPr>
              <a:t>WPA2 uses much longer and dynamically changing encryption keys, making them more difficult to crack.</a:t>
            </a:r>
            <a:endParaRPr sz="4856">
              <a:solidFill>
                <a:schemeClr val="dk1"/>
              </a:solidFill>
            </a:endParaRPr>
          </a:p>
          <a:p>
            <a:pPr indent="-305696" lvl="1" marL="914400" rtl="0" algn="l">
              <a:spcBef>
                <a:spcPts val="0"/>
              </a:spcBef>
              <a:spcAft>
                <a:spcPts val="0"/>
              </a:spcAft>
              <a:buClr>
                <a:schemeClr val="dk1"/>
              </a:buClr>
              <a:buSzPct val="100000"/>
              <a:buChar char="○"/>
            </a:pPr>
            <a:r>
              <a:rPr b="1" lang="en" sz="4856">
                <a:solidFill>
                  <a:schemeClr val="dk1"/>
                </a:solidFill>
              </a:rPr>
              <a:t>Encrypted Authentication</a:t>
            </a:r>
            <a:r>
              <a:rPr lang="en" sz="4856">
                <a:solidFill>
                  <a:schemeClr val="dk1"/>
                </a:solidFill>
              </a:rPr>
              <a:t>:</a:t>
            </a:r>
            <a:endParaRPr sz="4856">
              <a:solidFill>
                <a:schemeClr val="dk1"/>
              </a:solidFill>
            </a:endParaRPr>
          </a:p>
          <a:p>
            <a:pPr indent="-305696" lvl="2" marL="1371600" rtl="0" algn="l">
              <a:spcBef>
                <a:spcPts val="0"/>
              </a:spcBef>
              <a:spcAft>
                <a:spcPts val="0"/>
              </a:spcAft>
              <a:buClr>
                <a:schemeClr val="dk1"/>
              </a:buClr>
              <a:buSzPct val="100000"/>
              <a:buChar char="■"/>
            </a:pPr>
            <a:r>
              <a:rPr lang="en" sz="4856">
                <a:solidFill>
                  <a:schemeClr val="dk1"/>
                </a:solidFill>
              </a:rPr>
              <a:t>WPA2 employs an encrypted authentication system with a central authentication server, ensuring that only authorized users can access the network</a:t>
            </a:r>
            <a:endParaRPr sz="4856">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10" name="Google Shape;210;p39"/>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55000" lnSpcReduction="20000"/>
          </a:bodyPr>
          <a:lstStyle/>
          <a:p>
            <a:pPr indent="0" lvl="0" marL="0" rtl="0" algn="l">
              <a:spcBef>
                <a:spcPts val="1400"/>
              </a:spcBef>
              <a:spcAft>
                <a:spcPts val="0"/>
              </a:spcAft>
              <a:buNone/>
            </a:pPr>
            <a:r>
              <a:rPr b="1" lang="en" sz="3300">
                <a:solidFill>
                  <a:schemeClr val="dk1"/>
                </a:solidFill>
              </a:rPr>
              <a:t>3. Securing Wireless Networks</a:t>
            </a:r>
            <a:endParaRPr b="1" sz="33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1200"/>
              </a:spcBef>
              <a:spcAft>
                <a:spcPts val="0"/>
              </a:spcAft>
              <a:buNone/>
            </a:pPr>
            <a:r>
              <a:rPr b="1" lang="en" sz="2285">
                <a:solidFill>
                  <a:schemeClr val="dk1"/>
                </a:solidFill>
              </a:rPr>
              <a:t>Using Virtual Private Network (VPN)</a:t>
            </a:r>
            <a:endParaRPr b="1" sz="2285">
              <a:solidFill>
                <a:schemeClr val="dk1"/>
              </a:solidFill>
            </a:endParaRPr>
          </a:p>
          <a:p>
            <a:pPr indent="-308419" lvl="0" marL="457200" rtl="0" algn="l">
              <a:spcBef>
                <a:spcPts val="1200"/>
              </a:spcBef>
              <a:spcAft>
                <a:spcPts val="0"/>
              </a:spcAft>
              <a:buClr>
                <a:schemeClr val="dk1"/>
              </a:buClr>
              <a:buSzPct val="100000"/>
              <a:buChar char="●"/>
            </a:pPr>
            <a:r>
              <a:rPr b="1" lang="en" sz="2285">
                <a:solidFill>
                  <a:schemeClr val="dk1"/>
                </a:solidFill>
              </a:rPr>
              <a:t>Additional Security Layer</a:t>
            </a:r>
            <a:r>
              <a:rPr lang="en" sz="2285">
                <a:solidFill>
                  <a:schemeClr val="dk1"/>
                </a:solidFill>
              </a:rPr>
              <a:t>:</a:t>
            </a:r>
            <a:endParaRPr sz="2285">
              <a:solidFill>
                <a:schemeClr val="dk1"/>
              </a:solidFill>
            </a:endParaRPr>
          </a:p>
          <a:p>
            <a:pPr indent="-308419" lvl="1" marL="914400" rtl="0" algn="l">
              <a:spcBef>
                <a:spcPts val="0"/>
              </a:spcBef>
              <a:spcAft>
                <a:spcPts val="0"/>
              </a:spcAft>
              <a:buClr>
                <a:schemeClr val="dk1"/>
              </a:buClr>
              <a:buSzPct val="100000"/>
              <a:buChar char="○"/>
            </a:pPr>
            <a:r>
              <a:rPr lang="en" sz="2285">
                <a:solidFill>
                  <a:schemeClr val="dk1"/>
                </a:solidFill>
              </a:rPr>
              <a:t>When accessing internal corporate data, using a </a:t>
            </a:r>
            <a:r>
              <a:rPr b="1" lang="en" sz="2285">
                <a:solidFill>
                  <a:schemeClr val="dk1"/>
                </a:solidFill>
              </a:rPr>
              <a:t>VPN</a:t>
            </a:r>
            <a:r>
              <a:rPr lang="en" sz="2285">
                <a:solidFill>
                  <a:schemeClr val="dk1"/>
                </a:solidFill>
              </a:rPr>
              <a:t> in conjunction with WPA2 can further secure the connection, encrypting all traffic between the user and the corporate network.</a:t>
            </a:r>
            <a:endParaRPr sz="2285">
              <a:solidFill>
                <a:schemeClr val="dk1"/>
              </a:solidFill>
            </a:endParaRPr>
          </a:p>
          <a:p>
            <a:pPr indent="0" lvl="0" marL="1371600" rtl="0" algn="l">
              <a:spcBef>
                <a:spcPts val="1200"/>
              </a:spcBef>
              <a:spcAft>
                <a:spcPts val="0"/>
              </a:spcAft>
              <a:buNone/>
            </a:pPr>
            <a:r>
              <a:t/>
            </a:r>
            <a:endParaRPr b="1" sz="2233">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16" name="Google Shape;216;p40"/>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5300">
                <a:solidFill>
                  <a:schemeClr val="dk1"/>
                </a:solidFill>
              </a:rPr>
              <a:t>4</a:t>
            </a:r>
            <a:r>
              <a:rPr b="1" lang="en" sz="5300">
                <a:solidFill>
                  <a:schemeClr val="dk1"/>
                </a:solidFill>
              </a:rPr>
              <a:t>. </a:t>
            </a:r>
            <a:r>
              <a:rPr b="1" lang="en" sz="5300">
                <a:solidFill>
                  <a:schemeClr val="dk1"/>
                </a:solidFill>
              </a:rPr>
              <a:t>Encryption and Public Key Infrastructure (PKI)</a:t>
            </a:r>
            <a:endParaRPr b="1" sz="5300">
              <a:solidFill>
                <a:schemeClr val="dk1"/>
              </a:solidFill>
            </a:endParaRPr>
          </a:p>
          <a:p>
            <a:pPr indent="-311943" lvl="0" marL="457200" rtl="0" algn="l">
              <a:spcBef>
                <a:spcPts val="1200"/>
              </a:spcBef>
              <a:spcAft>
                <a:spcPts val="0"/>
              </a:spcAft>
              <a:buClr>
                <a:schemeClr val="dk1"/>
              </a:buClr>
              <a:buSzPct val="100000"/>
              <a:buChar char="●"/>
            </a:pPr>
            <a:r>
              <a:rPr lang="en" sz="5250">
                <a:solidFill>
                  <a:schemeClr val="dk1"/>
                </a:solidFill>
              </a:rPr>
              <a:t>Encryption is the process of converting plain text or data into cipher text, which is unreadable to anyone except the sender and the intended receiver. This ensures the confidentiality of data during storage or transmission.</a:t>
            </a:r>
            <a:endParaRPr sz="5250">
              <a:solidFill>
                <a:schemeClr val="dk1"/>
              </a:solidFill>
            </a:endParaRPr>
          </a:p>
          <a:p>
            <a:pPr indent="-311943" lvl="0" marL="457200" rtl="0" algn="l">
              <a:spcBef>
                <a:spcPts val="0"/>
              </a:spcBef>
              <a:spcAft>
                <a:spcPts val="0"/>
              </a:spcAft>
              <a:buClr>
                <a:schemeClr val="dk1"/>
              </a:buClr>
              <a:buSzPct val="100000"/>
              <a:buChar char="●"/>
            </a:pPr>
            <a:r>
              <a:rPr b="1" lang="en" sz="5250">
                <a:solidFill>
                  <a:schemeClr val="dk1"/>
                </a:solidFill>
              </a:rPr>
              <a:t>Encryption Key</a:t>
            </a:r>
            <a:r>
              <a:rPr lang="en" sz="5250">
                <a:solidFill>
                  <a:schemeClr val="dk1"/>
                </a:solidFill>
              </a:rPr>
              <a:t>: A secret numerical code (encryption key) is used to transform the plain data into cipher text.</a:t>
            </a:r>
            <a:endParaRPr sz="5250">
              <a:solidFill>
                <a:schemeClr val="dk1"/>
              </a:solidFill>
            </a:endParaRPr>
          </a:p>
          <a:p>
            <a:pPr indent="0" lvl="0" marL="0" rtl="0" algn="l">
              <a:spcBef>
                <a:spcPts val="1200"/>
              </a:spcBef>
              <a:spcAft>
                <a:spcPts val="0"/>
              </a:spcAft>
              <a:buClr>
                <a:schemeClr val="dk1"/>
              </a:buClr>
              <a:buSzPts val="275"/>
              <a:buFont typeface="Arial"/>
              <a:buNone/>
            </a:pPr>
            <a:r>
              <a:rPr b="1" lang="en" sz="5250">
                <a:solidFill>
                  <a:schemeClr val="dk1"/>
                </a:solidFill>
              </a:rPr>
              <a:t>Encryption Protocols</a:t>
            </a:r>
            <a:endParaRPr b="1" sz="5250">
              <a:solidFill>
                <a:schemeClr val="dk1"/>
              </a:solidFill>
            </a:endParaRPr>
          </a:p>
          <a:p>
            <a:pPr indent="-311943" lvl="0" marL="457200" rtl="0" algn="l">
              <a:spcBef>
                <a:spcPts val="1200"/>
              </a:spcBef>
              <a:spcAft>
                <a:spcPts val="0"/>
              </a:spcAft>
              <a:buClr>
                <a:schemeClr val="dk1"/>
              </a:buClr>
              <a:buSzPct val="100000"/>
              <a:buChar char="●"/>
            </a:pPr>
            <a:r>
              <a:rPr b="1" lang="en" sz="5250">
                <a:solidFill>
                  <a:schemeClr val="dk1"/>
                </a:solidFill>
              </a:rPr>
              <a:t>SSL and TLS (Secure Sockets Layer and Transport Layer Security)</a:t>
            </a:r>
            <a:r>
              <a:rPr lang="en" sz="5250">
                <a:solidFill>
                  <a:schemeClr val="dk1"/>
                </a:solidFill>
              </a:rPr>
              <a:t>:</a:t>
            </a:r>
            <a:endParaRPr sz="5250">
              <a:solidFill>
                <a:schemeClr val="dk1"/>
              </a:solidFill>
            </a:endParaRPr>
          </a:p>
          <a:p>
            <a:pPr indent="-311943" lvl="1" marL="914400" rtl="0" algn="l">
              <a:spcBef>
                <a:spcPts val="0"/>
              </a:spcBef>
              <a:spcAft>
                <a:spcPts val="0"/>
              </a:spcAft>
              <a:buClr>
                <a:schemeClr val="dk1"/>
              </a:buClr>
              <a:buSzPct val="100000"/>
              <a:buChar char="○"/>
            </a:pPr>
            <a:r>
              <a:rPr lang="en" sz="5250">
                <a:solidFill>
                  <a:schemeClr val="dk1"/>
                </a:solidFill>
              </a:rPr>
              <a:t>These protocols help secure data exchanged between client and server by enabling encryption and decryption during a secure web session.</a:t>
            </a:r>
            <a:endParaRPr sz="5250">
              <a:solidFill>
                <a:schemeClr val="dk1"/>
              </a:solidFill>
            </a:endParaRPr>
          </a:p>
          <a:p>
            <a:pPr indent="-311943" lvl="1" marL="914400" rtl="0" algn="l">
              <a:spcBef>
                <a:spcPts val="0"/>
              </a:spcBef>
              <a:spcAft>
                <a:spcPts val="0"/>
              </a:spcAft>
              <a:buClr>
                <a:schemeClr val="dk1"/>
              </a:buClr>
              <a:buSzPct val="100000"/>
              <a:buChar char="○"/>
            </a:pPr>
            <a:r>
              <a:rPr lang="en" sz="5250">
                <a:solidFill>
                  <a:schemeClr val="dk1"/>
                </a:solidFill>
              </a:rPr>
              <a:t>SSL is the older protocol, and TLS is its more secure successor.</a:t>
            </a:r>
            <a:endParaRPr sz="5250">
              <a:solidFill>
                <a:schemeClr val="dk1"/>
              </a:solidFill>
            </a:endParaRPr>
          </a:p>
          <a:p>
            <a:pPr indent="-311943" lvl="0" marL="457200" rtl="0" algn="l">
              <a:spcBef>
                <a:spcPts val="0"/>
              </a:spcBef>
              <a:spcAft>
                <a:spcPts val="0"/>
              </a:spcAft>
              <a:buClr>
                <a:schemeClr val="dk1"/>
              </a:buClr>
              <a:buSzPct val="100000"/>
              <a:buChar char="●"/>
            </a:pPr>
            <a:r>
              <a:rPr b="1" lang="en" sz="5250">
                <a:solidFill>
                  <a:schemeClr val="dk1"/>
                </a:solidFill>
              </a:rPr>
              <a:t>S-HTTP (Secure Hypertext Transfer Protocol)</a:t>
            </a:r>
            <a:r>
              <a:rPr lang="en" sz="5250">
                <a:solidFill>
                  <a:schemeClr val="dk1"/>
                </a:solidFill>
              </a:rPr>
              <a:t>:</a:t>
            </a:r>
            <a:endParaRPr sz="5250">
              <a:solidFill>
                <a:schemeClr val="dk1"/>
              </a:solidFill>
            </a:endParaRPr>
          </a:p>
          <a:p>
            <a:pPr indent="-311943" lvl="1" marL="914400" rtl="0" algn="l">
              <a:spcBef>
                <a:spcPts val="0"/>
              </a:spcBef>
              <a:spcAft>
                <a:spcPts val="0"/>
              </a:spcAft>
              <a:buClr>
                <a:schemeClr val="dk1"/>
              </a:buClr>
              <a:buSzPct val="100000"/>
              <a:buChar char="○"/>
            </a:pPr>
            <a:r>
              <a:rPr lang="en" sz="5250">
                <a:solidFill>
                  <a:schemeClr val="dk1"/>
                </a:solidFill>
              </a:rPr>
              <a:t>This is another protocol for encrypting data over the internet. Unlike SSL/TLS, S-HTTP only encrypts individual messages rather than establishing an entire secure connection.</a:t>
            </a:r>
            <a:endParaRPr sz="5250">
              <a:solidFill>
                <a:schemeClr val="dk1"/>
              </a:solidFill>
            </a:endParaRPr>
          </a:p>
          <a:p>
            <a:pPr indent="0" lvl="0" marL="0" rtl="0" algn="l">
              <a:spcBef>
                <a:spcPts val="1200"/>
              </a:spcBef>
              <a:spcAft>
                <a:spcPts val="0"/>
              </a:spcAft>
              <a:buNone/>
            </a:pPr>
            <a:r>
              <a:t/>
            </a:r>
            <a:endParaRPr b="1" sz="130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22" name="Google Shape;222;p41"/>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5300">
                <a:solidFill>
                  <a:schemeClr val="dk1"/>
                </a:solidFill>
              </a:rPr>
              <a:t>4. Encryption and Public Key Infrastructure (PKI)</a:t>
            </a:r>
            <a:endParaRPr b="1" sz="5300">
              <a:solidFill>
                <a:schemeClr val="dk1"/>
              </a:solidFill>
            </a:endParaRPr>
          </a:p>
          <a:p>
            <a:pPr indent="0" lvl="0" marL="0" rtl="0" algn="l">
              <a:spcBef>
                <a:spcPts val="1200"/>
              </a:spcBef>
              <a:spcAft>
                <a:spcPts val="0"/>
              </a:spcAft>
              <a:buClr>
                <a:schemeClr val="dk1"/>
              </a:buClr>
              <a:buSzPts val="275"/>
              <a:buFont typeface="Arial"/>
              <a:buNone/>
            </a:pPr>
            <a:r>
              <a:rPr b="1" lang="en" sz="5744">
                <a:solidFill>
                  <a:schemeClr val="dk1"/>
                </a:solidFill>
              </a:rPr>
              <a:t>Types of Encryption Methods</a:t>
            </a:r>
            <a:endParaRPr b="1" sz="5744">
              <a:solidFill>
                <a:schemeClr val="dk1"/>
              </a:solidFill>
            </a:endParaRPr>
          </a:p>
          <a:p>
            <a:pPr indent="-319788" lvl="0" marL="457200" rtl="0" algn="l">
              <a:spcBef>
                <a:spcPts val="1200"/>
              </a:spcBef>
              <a:spcAft>
                <a:spcPts val="0"/>
              </a:spcAft>
              <a:buClr>
                <a:schemeClr val="dk1"/>
              </a:buClr>
              <a:buSzPct val="100000"/>
              <a:buChar char="●"/>
            </a:pPr>
            <a:r>
              <a:rPr b="1" lang="en" sz="5744">
                <a:solidFill>
                  <a:schemeClr val="dk1"/>
                </a:solidFill>
              </a:rPr>
              <a:t>Symmetric Key Encryption</a:t>
            </a:r>
            <a:r>
              <a:rPr lang="en" sz="5744">
                <a:solidFill>
                  <a:schemeClr val="dk1"/>
                </a:solidFill>
              </a:rPr>
              <a:t>:</a:t>
            </a:r>
            <a:endParaRPr sz="5744">
              <a:solidFill>
                <a:schemeClr val="dk1"/>
              </a:solidFill>
            </a:endParaRPr>
          </a:p>
          <a:p>
            <a:pPr indent="-319788" lvl="1" marL="914400" rtl="0" algn="l">
              <a:spcBef>
                <a:spcPts val="0"/>
              </a:spcBef>
              <a:spcAft>
                <a:spcPts val="0"/>
              </a:spcAft>
              <a:buClr>
                <a:schemeClr val="dk1"/>
              </a:buClr>
              <a:buSzPct val="100000"/>
              <a:buChar char="○"/>
            </a:pPr>
            <a:r>
              <a:rPr lang="en" sz="5744">
                <a:solidFill>
                  <a:schemeClr val="dk1"/>
                </a:solidFill>
              </a:rPr>
              <a:t>Both the sender and receiver use the same encryption key to encrypt and decrypt the message.</a:t>
            </a:r>
            <a:endParaRPr sz="5744">
              <a:solidFill>
                <a:schemeClr val="dk1"/>
              </a:solidFill>
            </a:endParaRPr>
          </a:p>
          <a:p>
            <a:pPr indent="-319788" lvl="1" marL="914400" rtl="0" algn="l">
              <a:spcBef>
                <a:spcPts val="0"/>
              </a:spcBef>
              <a:spcAft>
                <a:spcPts val="0"/>
              </a:spcAft>
              <a:buClr>
                <a:schemeClr val="dk1"/>
              </a:buClr>
              <a:buSzPct val="100000"/>
              <a:buChar char="○"/>
            </a:pPr>
            <a:r>
              <a:rPr lang="en" sz="5744">
                <a:solidFill>
                  <a:schemeClr val="dk1"/>
                </a:solidFill>
              </a:rPr>
              <a:t>The challenge here is securely sharing the key, as it may be intercepted during transmission.</a:t>
            </a:r>
            <a:endParaRPr sz="5744">
              <a:solidFill>
                <a:schemeClr val="dk1"/>
              </a:solidFill>
            </a:endParaRPr>
          </a:p>
          <a:p>
            <a:pPr indent="-319788" lvl="0" marL="457200" rtl="0" algn="l">
              <a:spcBef>
                <a:spcPts val="0"/>
              </a:spcBef>
              <a:spcAft>
                <a:spcPts val="0"/>
              </a:spcAft>
              <a:buClr>
                <a:schemeClr val="dk1"/>
              </a:buClr>
              <a:buSzPct val="100000"/>
              <a:buChar char="●"/>
            </a:pPr>
            <a:r>
              <a:rPr b="1" lang="en" sz="5744">
                <a:solidFill>
                  <a:schemeClr val="dk1"/>
                </a:solidFill>
              </a:rPr>
              <a:t>Public Key Encryption</a:t>
            </a:r>
            <a:r>
              <a:rPr lang="en" sz="5744">
                <a:solidFill>
                  <a:schemeClr val="dk1"/>
                </a:solidFill>
              </a:rPr>
              <a:t>:</a:t>
            </a:r>
            <a:endParaRPr sz="5744">
              <a:solidFill>
                <a:schemeClr val="dk1"/>
              </a:solidFill>
            </a:endParaRPr>
          </a:p>
          <a:p>
            <a:pPr indent="-319788" lvl="1" marL="914400" rtl="0" algn="l">
              <a:spcBef>
                <a:spcPts val="0"/>
              </a:spcBef>
              <a:spcAft>
                <a:spcPts val="0"/>
              </a:spcAft>
              <a:buClr>
                <a:schemeClr val="dk1"/>
              </a:buClr>
              <a:buSzPct val="100000"/>
              <a:buChar char="○"/>
            </a:pPr>
            <a:r>
              <a:rPr lang="en" sz="5744">
                <a:solidFill>
                  <a:schemeClr val="dk1"/>
                </a:solidFill>
              </a:rPr>
              <a:t>This method uses two keys: a public key and a private key. The keys are mathematically related, but the private key cannot be derived from the public key.</a:t>
            </a:r>
            <a:endParaRPr sz="5744">
              <a:solidFill>
                <a:schemeClr val="dk1"/>
              </a:solidFill>
            </a:endParaRPr>
          </a:p>
          <a:p>
            <a:pPr indent="-319788" lvl="1" marL="914400" rtl="0" algn="l">
              <a:spcBef>
                <a:spcPts val="0"/>
              </a:spcBef>
              <a:spcAft>
                <a:spcPts val="0"/>
              </a:spcAft>
              <a:buClr>
                <a:schemeClr val="dk1"/>
              </a:buClr>
              <a:buSzPct val="100000"/>
              <a:buChar char="○"/>
            </a:pPr>
            <a:r>
              <a:rPr lang="en" sz="5744">
                <a:solidFill>
                  <a:schemeClr val="dk1"/>
                </a:solidFill>
              </a:rPr>
              <a:t>The sender encrypts the message with the recipient's public key. The recipient then decrypts it using their private key.</a:t>
            </a:r>
            <a:endParaRPr sz="5744">
              <a:solidFill>
                <a:schemeClr val="dk1"/>
              </a:solidFill>
            </a:endParaRPr>
          </a:p>
          <a:p>
            <a:pPr indent="-319788" lvl="1" marL="914400" rtl="0" algn="l">
              <a:spcBef>
                <a:spcPts val="0"/>
              </a:spcBef>
              <a:spcAft>
                <a:spcPts val="0"/>
              </a:spcAft>
              <a:buClr>
                <a:schemeClr val="dk1"/>
              </a:buClr>
              <a:buSzPct val="100000"/>
              <a:buChar char="○"/>
            </a:pPr>
            <a:r>
              <a:rPr b="1" lang="en" sz="5744">
                <a:solidFill>
                  <a:schemeClr val="dk1"/>
                </a:solidFill>
              </a:rPr>
              <a:t>Public Key Infrastructure (PKI)</a:t>
            </a:r>
            <a:r>
              <a:rPr lang="en" sz="5744">
                <a:solidFill>
                  <a:schemeClr val="dk1"/>
                </a:solidFill>
              </a:rPr>
              <a:t>:</a:t>
            </a:r>
            <a:endParaRPr sz="5744">
              <a:solidFill>
                <a:schemeClr val="dk1"/>
              </a:solidFill>
            </a:endParaRPr>
          </a:p>
          <a:p>
            <a:pPr indent="-319788" lvl="2" marL="1371600" rtl="0" algn="l">
              <a:spcBef>
                <a:spcPts val="0"/>
              </a:spcBef>
              <a:spcAft>
                <a:spcPts val="0"/>
              </a:spcAft>
              <a:buClr>
                <a:schemeClr val="dk1"/>
              </a:buClr>
              <a:buSzPct val="100000"/>
              <a:buChar char="■"/>
            </a:pPr>
            <a:r>
              <a:rPr lang="en" sz="5744">
                <a:solidFill>
                  <a:schemeClr val="dk1"/>
                </a:solidFill>
              </a:rPr>
              <a:t>PKI supports the distribution and identification of public encryption keys, enabling secure data exchange over networks and ensuring that both parties' identities are verified.</a:t>
            </a:r>
            <a:endParaRPr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42"/>
          <p:cNvPicPr preferRelativeResize="0"/>
          <p:nvPr/>
        </p:nvPicPr>
        <p:blipFill>
          <a:blip r:embed="rId3">
            <a:alphaModFix/>
          </a:blip>
          <a:stretch>
            <a:fillRect/>
          </a:stretch>
        </p:blipFill>
        <p:spPr>
          <a:xfrm>
            <a:off x="152400" y="152400"/>
            <a:ext cx="8791150" cy="3398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33" name="Google Shape;233;p43"/>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5300">
                <a:solidFill>
                  <a:schemeClr val="dk1"/>
                </a:solidFill>
              </a:rPr>
              <a:t>4. Encryption and Public Key Infrastructure (PKI)</a:t>
            </a:r>
            <a:endParaRPr b="1" sz="5300">
              <a:solidFill>
                <a:schemeClr val="dk1"/>
              </a:solidFill>
            </a:endParaRPr>
          </a:p>
          <a:p>
            <a:pPr indent="0" lvl="0" marL="0" rtl="0" algn="l">
              <a:spcBef>
                <a:spcPts val="1200"/>
              </a:spcBef>
              <a:spcAft>
                <a:spcPts val="0"/>
              </a:spcAft>
              <a:buClr>
                <a:schemeClr val="dk1"/>
              </a:buClr>
              <a:buSzPts val="275"/>
              <a:buFont typeface="Arial"/>
              <a:buNone/>
            </a:pPr>
            <a:r>
              <a:rPr b="1" lang="en" sz="6023">
                <a:solidFill>
                  <a:schemeClr val="dk1"/>
                </a:solidFill>
              </a:rPr>
              <a:t>Digital Certificates and Certificate Authorities (CAs)</a:t>
            </a:r>
            <a:endParaRPr b="1" sz="6023">
              <a:solidFill>
                <a:schemeClr val="dk1"/>
              </a:solidFill>
            </a:endParaRPr>
          </a:p>
          <a:p>
            <a:pPr indent="-324216" lvl="0" marL="457200" rtl="0" algn="l">
              <a:spcBef>
                <a:spcPts val="1200"/>
              </a:spcBef>
              <a:spcAft>
                <a:spcPts val="0"/>
              </a:spcAft>
              <a:buClr>
                <a:schemeClr val="dk1"/>
              </a:buClr>
              <a:buSzPct val="100000"/>
              <a:buChar char="●"/>
            </a:pPr>
            <a:r>
              <a:rPr b="1" lang="en" sz="6023">
                <a:solidFill>
                  <a:schemeClr val="dk1"/>
                </a:solidFill>
              </a:rPr>
              <a:t>Digital Certificates</a:t>
            </a:r>
            <a:r>
              <a:rPr lang="en" sz="6023">
                <a:solidFill>
                  <a:schemeClr val="dk1"/>
                </a:solidFill>
              </a:rPr>
              <a:t>:</a:t>
            </a:r>
            <a:endParaRPr sz="6023">
              <a:solidFill>
                <a:schemeClr val="dk1"/>
              </a:solidFill>
            </a:endParaRPr>
          </a:p>
          <a:p>
            <a:pPr indent="-324216" lvl="1" marL="914400" rtl="0" algn="l">
              <a:spcBef>
                <a:spcPts val="0"/>
              </a:spcBef>
              <a:spcAft>
                <a:spcPts val="0"/>
              </a:spcAft>
              <a:buClr>
                <a:schemeClr val="dk1"/>
              </a:buClr>
              <a:buSzPct val="100000"/>
              <a:buChar char="○"/>
            </a:pPr>
            <a:r>
              <a:rPr lang="en" sz="6023">
                <a:solidFill>
                  <a:schemeClr val="dk1"/>
                </a:solidFill>
              </a:rPr>
              <a:t>These are used to authenticate users' identities and electronic assets.</a:t>
            </a:r>
            <a:endParaRPr sz="6023">
              <a:solidFill>
                <a:schemeClr val="dk1"/>
              </a:solidFill>
            </a:endParaRPr>
          </a:p>
          <a:p>
            <a:pPr indent="-324216" lvl="1" marL="914400" rtl="0" algn="l">
              <a:spcBef>
                <a:spcPts val="0"/>
              </a:spcBef>
              <a:spcAft>
                <a:spcPts val="0"/>
              </a:spcAft>
              <a:buClr>
                <a:schemeClr val="dk1"/>
              </a:buClr>
              <a:buSzPct val="100000"/>
              <a:buChar char="○"/>
            </a:pPr>
            <a:r>
              <a:rPr lang="en" sz="6023">
                <a:solidFill>
                  <a:schemeClr val="dk1"/>
                </a:solidFill>
              </a:rPr>
              <a:t>They are issued by a trusted third party known as a </a:t>
            </a:r>
            <a:r>
              <a:rPr b="1" lang="en" sz="6023">
                <a:solidFill>
                  <a:schemeClr val="dk1"/>
                </a:solidFill>
              </a:rPr>
              <a:t>Certificate Authority (CA)</a:t>
            </a:r>
            <a:r>
              <a:rPr lang="en" sz="6023">
                <a:solidFill>
                  <a:schemeClr val="dk1"/>
                </a:solidFill>
              </a:rPr>
              <a:t>.</a:t>
            </a:r>
            <a:endParaRPr sz="6023">
              <a:solidFill>
                <a:schemeClr val="dk1"/>
              </a:solidFill>
            </a:endParaRPr>
          </a:p>
          <a:p>
            <a:pPr indent="-324216" lvl="0" marL="457200" rtl="0" algn="l">
              <a:spcBef>
                <a:spcPts val="0"/>
              </a:spcBef>
              <a:spcAft>
                <a:spcPts val="0"/>
              </a:spcAft>
              <a:buClr>
                <a:schemeClr val="dk1"/>
              </a:buClr>
              <a:buSzPct val="100000"/>
              <a:buChar char="●"/>
            </a:pPr>
            <a:r>
              <a:rPr b="1" lang="en" sz="6023">
                <a:solidFill>
                  <a:schemeClr val="dk1"/>
                </a:solidFill>
              </a:rPr>
              <a:t>Role of CA</a:t>
            </a:r>
            <a:r>
              <a:rPr lang="en" sz="6023">
                <a:solidFill>
                  <a:schemeClr val="dk1"/>
                </a:solidFill>
              </a:rPr>
              <a:t>:</a:t>
            </a:r>
            <a:endParaRPr sz="6023">
              <a:solidFill>
                <a:schemeClr val="dk1"/>
              </a:solidFill>
            </a:endParaRPr>
          </a:p>
          <a:p>
            <a:pPr indent="-324216" lvl="1" marL="914400" rtl="0" algn="l">
              <a:spcBef>
                <a:spcPts val="0"/>
              </a:spcBef>
              <a:spcAft>
                <a:spcPts val="0"/>
              </a:spcAft>
              <a:buClr>
                <a:schemeClr val="dk1"/>
              </a:buClr>
              <a:buSzPct val="100000"/>
              <a:buChar char="○"/>
            </a:pPr>
            <a:r>
              <a:rPr lang="en" sz="6023">
                <a:solidFill>
                  <a:schemeClr val="dk1"/>
                </a:solidFill>
              </a:rPr>
              <a:t>The CA verifies the identity of the certificate holder offline and issues a digital certificate.</a:t>
            </a:r>
            <a:endParaRPr sz="6023">
              <a:solidFill>
                <a:schemeClr val="dk1"/>
              </a:solidFill>
            </a:endParaRPr>
          </a:p>
          <a:p>
            <a:pPr indent="-324216" lvl="1" marL="914400" rtl="0" algn="l">
              <a:spcBef>
                <a:spcPts val="0"/>
              </a:spcBef>
              <a:spcAft>
                <a:spcPts val="0"/>
              </a:spcAft>
              <a:buClr>
                <a:schemeClr val="dk1"/>
              </a:buClr>
              <a:buSzPct val="100000"/>
              <a:buChar char="○"/>
            </a:pPr>
            <a:r>
              <a:rPr lang="en" sz="6023">
                <a:solidFill>
                  <a:schemeClr val="dk1"/>
                </a:solidFill>
              </a:rPr>
              <a:t>The digital certificate contains the user’s public key and a digital signature from the CA.</a:t>
            </a:r>
            <a:endParaRPr sz="6023">
              <a:solidFill>
                <a:schemeClr val="dk1"/>
              </a:solidFill>
            </a:endParaRPr>
          </a:p>
          <a:p>
            <a:pPr indent="-324216" lvl="1" marL="914400" rtl="0" algn="l">
              <a:spcBef>
                <a:spcPts val="0"/>
              </a:spcBef>
              <a:spcAft>
                <a:spcPts val="0"/>
              </a:spcAft>
              <a:buClr>
                <a:schemeClr val="dk1"/>
              </a:buClr>
              <a:buSzPct val="100000"/>
              <a:buChar char="○"/>
            </a:pPr>
            <a:r>
              <a:rPr lang="en" sz="6023">
                <a:solidFill>
                  <a:schemeClr val="dk1"/>
                </a:solidFill>
              </a:rPr>
              <a:t>Common CAs include VeriSign, IdenTrust, and others globally.</a:t>
            </a:r>
            <a:endParaRPr sz="6023">
              <a:solidFill>
                <a:schemeClr val="dk1"/>
              </a:solidFill>
            </a:endParaRPr>
          </a:p>
          <a:p>
            <a:pPr indent="-324216" lvl="0" marL="457200" rtl="0" algn="l">
              <a:spcBef>
                <a:spcPts val="0"/>
              </a:spcBef>
              <a:spcAft>
                <a:spcPts val="0"/>
              </a:spcAft>
              <a:buClr>
                <a:schemeClr val="dk1"/>
              </a:buClr>
              <a:buSzPct val="100000"/>
              <a:buChar char="●"/>
            </a:pPr>
            <a:r>
              <a:rPr b="1" lang="en" sz="6023">
                <a:solidFill>
                  <a:schemeClr val="dk1"/>
                </a:solidFill>
              </a:rPr>
              <a:t>Purpose</a:t>
            </a:r>
            <a:r>
              <a:rPr lang="en" sz="6023">
                <a:solidFill>
                  <a:schemeClr val="dk1"/>
                </a:solidFill>
              </a:rPr>
              <a:t>:</a:t>
            </a:r>
            <a:endParaRPr sz="6023">
              <a:solidFill>
                <a:schemeClr val="dk1"/>
              </a:solidFill>
            </a:endParaRPr>
          </a:p>
          <a:p>
            <a:pPr indent="-324216" lvl="1" marL="914400" rtl="0" algn="l">
              <a:spcBef>
                <a:spcPts val="0"/>
              </a:spcBef>
              <a:spcAft>
                <a:spcPts val="0"/>
              </a:spcAft>
              <a:buClr>
                <a:schemeClr val="dk1"/>
              </a:buClr>
              <a:buSzPct val="100000"/>
              <a:buChar char="○"/>
            </a:pPr>
            <a:r>
              <a:rPr lang="en" sz="6023">
                <a:solidFill>
                  <a:schemeClr val="dk1"/>
                </a:solidFill>
              </a:rPr>
              <a:t>Digital certificates are used to protect online transactions and ensure that the public key belongs to the correct owner.</a:t>
            </a:r>
            <a:endParaRPr sz="6023">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39" name="Google Shape;239;p44"/>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6400">
                <a:solidFill>
                  <a:schemeClr val="dk1"/>
                </a:solidFill>
              </a:rPr>
              <a:t>5</a:t>
            </a:r>
            <a:r>
              <a:rPr b="1" lang="en" sz="6400">
                <a:solidFill>
                  <a:schemeClr val="dk1"/>
                </a:solidFill>
              </a:rPr>
              <a:t>. </a:t>
            </a:r>
            <a:r>
              <a:rPr b="1" lang="en" sz="6400">
                <a:solidFill>
                  <a:schemeClr val="dk1"/>
                </a:solidFill>
              </a:rPr>
              <a:t>Ensuring System Availability</a:t>
            </a:r>
            <a:endParaRPr b="1" sz="6400">
              <a:solidFill>
                <a:schemeClr val="dk1"/>
              </a:solidFill>
            </a:endParaRPr>
          </a:p>
          <a:p>
            <a:pPr indent="0" lvl="0" marL="0" rtl="0" algn="l">
              <a:spcBef>
                <a:spcPts val="1200"/>
              </a:spcBef>
              <a:spcAft>
                <a:spcPts val="0"/>
              </a:spcAft>
              <a:buNone/>
            </a:pPr>
            <a:r>
              <a:rPr lang="en" sz="8347">
                <a:solidFill>
                  <a:schemeClr val="dk1"/>
                </a:solidFill>
              </a:rPr>
              <a:t>As businesses rely more heavily on digital systems for revenue generation and day-to-day operations, ensuring the availability of these systems becomes critical. Ensuring </a:t>
            </a:r>
            <a:r>
              <a:rPr b="1" lang="en" sz="8347">
                <a:solidFill>
                  <a:schemeClr val="dk1"/>
                </a:solidFill>
              </a:rPr>
              <a:t>system availability</a:t>
            </a:r>
            <a:r>
              <a:rPr lang="en" sz="8347">
                <a:solidFill>
                  <a:schemeClr val="dk1"/>
                </a:solidFill>
              </a:rPr>
              <a:t> involves minimizing downtime and guaranteeing continuous access to systems and applications. Here's an overview of key technologies and strategies used to ensure high availability:</a:t>
            </a:r>
            <a:endParaRPr sz="13270">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45" name="Google Shape;245;p45"/>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6400">
                <a:solidFill>
                  <a:schemeClr val="dk1"/>
                </a:solidFill>
              </a:rPr>
              <a:t>5. Ensuring System Availability</a:t>
            </a:r>
            <a:endParaRPr b="1" sz="6400">
              <a:solidFill>
                <a:schemeClr val="dk1"/>
              </a:solidFill>
            </a:endParaRPr>
          </a:p>
          <a:p>
            <a:pPr indent="0" lvl="0" marL="0" rtl="0" algn="l">
              <a:spcBef>
                <a:spcPts val="1200"/>
              </a:spcBef>
              <a:spcAft>
                <a:spcPts val="0"/>
              </a:spcAft>
              <a:buClr>
                <a:schemeClr val="dk1"/>
              </a:buClr>
              <a:buSzPts val="275"/>
              <a:buFont typeface="Arial"/>
              <a:buNone/>
            </a:pPr>
            <a:r>
              <a:rPr b="1" lang="en" sz="6515">
                <a:solidFill>
                  <a:schemeClr val="dk1"/>
                </a:solidFill>
              </a:rPr>
              <a:t>Fault-Tolerant Systems</a:t>
            </a:r>
            <a:endParaRPr b="1" sz="6515">
              <a:solidFill>
                <a:schemeClr val="dk1"/>
              </a:solidFill>
            </a:endParaRPr>
          </a:p>
          <a:p>
            <a:pPr indent="-332031" lvl="0" marL="457200" rtl="0" algn="l">
              <a:spcBef>
                <a:spcPts val="1200"/>
              </a:spcBef>
              <a:spcAft>
                <a:spcPts val="0"/>
              </a:spcAft>
              <a:buClr>
                <a:schemeClr val="dk1"/>
              </a:buClr>
              <a:buSzPct val="100000"/>
              <a:buChar char="●"/>
            </a:pPr>
            <a:r>
              <a:rPr b="1" lang="en" sz="6515">
                <a:solidFill>
                  <a:schemeClr val="dk1"/>
                </a:solidFill>
              </a:rPr>
              <a:t>Fault-Tolerant Computing</a:t>
            </a:r>
            <a:r>
              <a:rPr lang="en" sz="6515">
                <a:solidFill>
                  <a:schemeClr val="dk1"/>
                </a:solidFill>
              </a:rPr>
              <a:t>: This approach uses redundant hardware, software, and power supply components to create a system that can continue functioning even if one or more components fail. The system automatically switches to backup devices when a failure is detected.</a:t>
            </a:r>
            <a:endParaRPr sz="6515">
              <a:solidFill>
                <a:schemeClr val="dk1"/>
              </a:solidFill>
            </a:endParaRPr>
          </a:p>
          <a:p>
            <a:pPr indent="-332031" lvl="0" marL="457200" rtl="0" algn="l">
              <a:spcBef>
                <a:spcPts val="0"/>
              </a:spcBef>
              <a:spcAft>
                <a:spcPts val="0"/>
              </a:spcAft>
              <a:buClr>
                <a:schemeClr val="dk1"/>
              </a:buClr>
              <a:buSzPct val="100000"/>
              <a:buChar char="●"/>
            </a:pPr>
            <a:r>
              <a:rPr b="1" lang="en" sz="6515">
                <a:solidFill>
                  <a:schemeClr val="dk1"/>
                </a:solidFill>
              </a:rPr>
              <a:t>Redundancy</a:t>
            </a:r>
            <a:r>
              <a:rPr lang="en" sz="6515">
                <a:solidFill>
                  <a:schemeClr val="dk1"/>
                </a:solidFill>
              </a:rPr>
              <a:t>: Components like hardware, storage, and power supplies are duplicated to prevent system failure from causing downtime.</a:t>
            </a:r>
            <a:endParaRPr sz="6515">
              <a:solidFill>
                <a:schemeClr val="dk1"/>
              </a:solidFill>
            </a:endParaRPr>
          </a:p>
          <a:p>
            <a:pPr indent="-332031" lvl="0" marL="457200" rtl="0" algn="l">
              <a:spcBef>
                <a:spcPts val="0"/>
              </a:spcBef>
              <a:spcAft>
                <a:spcPts val="0"/>
              </a:spcAft>
              <a:buClr>
                <a:schemeClr val="dk1"/>
              </a:buClr>
              <a:buSzPct val="100000"/>
              <a:buChar char="●"/>
            </a:pPr>
            <a:r>
              <a:rPr b="1" lang="en" sz="6515">
                <a:solidFill>
                  <a:schemeClr val="dk1"/>
                </a:solidFill>
              </a:rPr>
              <a:t>Self-Checking Logic</a:t>
            </a:r>
            <a:r>
              <a:rPr lang="en" sz="6515">
                <a:solidFill>
                  <a:schemeClr val="dk1"/>
                </a:solidFill>
              </a:rPr>
              <a:t>: Built into the system's circuitry, this logic detects hardware failures and allows the system to switch over to backup devices without user intervention.</a:t>
            </a:r>
            <a:endParaRPr sz="6515">
              <a:solidFill>
                <a:schemeClr val="dk1"/>
              </a:solidFill>
            </a:endParaRPr>
          </a:p>
          <a:p>
            <a:pPr indent="0" lvl="0" marL="0" rtl="0" algn="l">
              <a:spcBef>
                <a:spcPts val="1200"/>
              </a:spcBef>
              <a:spcAft>
                <a:spcPts val="0"/>
              </a:spcAft>
              <a:buNone/>
            </a:pPr>
            <a:r>
              <a:t/>
            </a:r>
            <a:endParaRPr sz="8347">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51" name="Google Shape;251;p46"/>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6400">
                <a:solidFill>
                  <a:schemeClr val="dk1"/>
                </a:solidFill>
              </a:rPr>
              <a:t>5. Ensuring System Availability</a:t>
            </a:r>
            <a:endParaRPr b="1" sz="6400">
              <a:solidFill>
                <a:schemeClr val="dk1"/>
              </a:solidFill>
            </a:endParaRPr>
          </a:p>
          <a:p>
            <a:pPr indent="0" lvl="0" marL="0" rtl="0" algn="l">
              <a:spcBef>
                <a:spcPts val="1200"/>
              </a:spcBef>
              <a:spcAft>
                <a:spcPts val="0"/>
              </a:spcAft>
              <a:buClr>
                <a:schemeClr val="dk1"/>
              </a:buClr>
              <a:buSzPts val="275"/>
              <a:buFont typeface="Arial"/>
              <a:buNone/>
            </a:pPr>
            <a:r>
              <a:rPr b="1" lang="en" sz="6115">
                <a:solidFill>
                  <a:schemeClr val="dk1"/>
                </a:solidFill>
              </a:rPr>
              <a:t>High-Availability Computing</a:t>
            </a:r>
            <a:endParaRPr b="1" sz="6115">
              <a:solidFill>
                <a:schemeClr val="dk1"/>
              </a:solidFill>
            </a:endParaRPr>
          </a:p>
          <a:p>
            <a:pPr indent="-325681" lvl="0" marL="457200" rtl="0" algn="l">
              <a:spcBef>
                <a:spcPts val="1200"/>
              </a:spcBef>
              <a:spcAft>
                <a:spcPts val="0"/>
              </a:spcAft>
              <a:buClr>
                <a:schemeClr val="dk1"/>
              </a:buClr>
              <a:buSzPct val="100000"/>
              <a:buChar char="●"/>
            </a:pPr>
            <a:r>
              <a:rPr b="1" lang="en" sz="6115">
                <a:solidFill>
                  <a:schemeClr val="dk1"/>
                </a:solidFill>
              </a:rPr>
              <a:t>Goal</a:t>
            </a:r>
            <a:r>
              <a:rPr lang="en" sz="6115">
                <a:solidFill>
                  <a:schemeClr val="dk1"/>
                </a:solidFill>
              </a:rPr>
              <a:t>: The primary goal of high-availability computing is to reduce downtime by ensuring that systems are operational even in the event of a failure.</a:t>
            </a:r>
            <a:endParaRPr sz="6115">
              <a:solidFill>
                <a:schemeClr val="dk1"/>
              </a:solidFill>
            </a:endParaRPr>
          </a:p>
          <a:p>
            <a:pPr indent="-325681" lvl="0" marL="457200" rtl="0" algn="l">
              <a:spcBef>
                <a:spcPts val="0"/>
              </a:spcBef>
              <a:spcAft>
                <a:spcPts val="0"/>
              </a:spcAft>
              <a:buClr>
                <a:schemeClr val="dk1"/>
              </a:buClr>
              <a:buSzPct val="100000"/>
              <a:buChar char="●"/>
            </a:pPr>
            <a:r>
              <a:rPr b="1" lang="en" sz="6115">
                <a:solidFill>
                  <a:schemeClr val="dk1"/>
                </a:solidFill>
              </a:rPr>
              <a:t>Minimizing Downtime</a:t>
            </a:r>
            <a:r>
              <a:rPr lang="en" sz="6115">
                <a:solidFill>
                  <a:schemeClr val="dk1"/>
                </a:solidFill>
              </a:rPr>
              <a:t>: High-availability systems are designed to quickly recover from crashes and disruptions, ensuring minimal interruption to services. Unlike fault tolerance, which eliminates recovery time, high-availability systems focus on recovering as quickly as possible.</a:t>
            </a:r>
            <a:endParaRPr sz="6115">
              <a:solidFill>
                <a:schemeClr val="dk1"/>
              </a:solidFill>
            </a:endParaRPr>
          </a:p>
          <a:p>
            <a:pPr indent="0" lvl="0" marL="0" rtl="0" algn="l">
              <a:spcBef>
                <a:spcPts val="1200"/>
              </a:spcBef>
              <a:spcAft>
                <a:spcPts val="0"/>
              </a:spcAft>
              <a:buNone/>
            </a:pPr>
            <a:r>
              <a:t/>
            </a:r>
            <a:endParaRPr sz="8347">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57" name="Google Shape;257;p47"/>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6400">
                <a:solidFill>
                  <a:schemeClr val="dk1"/>
                </a:solidFill>
              </a:rPr>
              <a:t>5. Ensuring System Availability</a:t>
            </a:r>
            <a:endParaRPr b="1" sz="6400">
              <a:solidFill>
                <a:schemeClr val="dk1"/>
              </a:solidFill>
            </a:endParaRPr>
          </a:p>
          <a:p>
            <a:pPr indent="0" lvl="0" marL="0" rtl="0" algn="l">
              <a:spcBef>
                <a:spcPts val="1200"/>
              </a:spcBef>
              <a:spcAft>
                <a:spcPts val="0"/>
              </a:spcAft>
              <a:buNone/>
            </a:pPr>
            <a:r>
              <a:rPr b="1" lang="en" sz="7100">
                <a:solidFill>
                  <a:schemeClr val="dk1"/>
                </a:solidFill>
              </a:rPr>
              <a:t>Recovery-Oriented Computing</a:t>
            </a:r>
            <a:endParaRPr b="1" sz="7100">
              <a:solidFill>
                <a:schemeClr val="dk1"/>
              </a:solidFill>
            </a:endParaRPr>
          </a:p>
          <a:p>
            <a:pPr indent="-341312" lvl="0" marL="457200" rtl="0" algn="l">
              <a:spcBef>
                <a:spcPts val="1200"/>
              </a:spcBef>
              <a:spcAft>
                <a:spcPts val="0"/>
              </a:spcAft>
              <a:buClr>
                <a:schemeClr val="dk1"/>
              </a:buClr>
              <a:buSzPct val="100000"/>
              <a:buChar char="●"/>
            </a:pPr>
            <a:r>
              <a:rPr b="1" lang="en" sz="7100">
                <a:solidFill>
                  <a:schemeClr val="dk1"/>
                </a:solidFill>
              </a:rPr>
              <a:t>Focus on Rapid Recovery</a:t>
            </a:r>
            <a:r>
              <a:rPr lang="en" sz="7100">
                <a:solidFill>
                  <a:schemeClr val="dk1"/>
                </a:solidFill>
              </a:rPr>
              <a:t>: Researchers are working on improving recovery-oriented computing, where systems are designed to recover quickly after a failure.</a:t>
            </a:r>
            <a:endParaRPr sz="7100">
              <a:solidFill>
                <a:schemeClr val="dk1"/>
              </a:solidFill>
            </a:endParaRPr>
          </a:p>
          <a:p>
            <a:pPr indent="-341312" lvl="0" marL="457200" rtl="0" algn="l">
              <a:spcBef>
                <a:spcPts val="0"/>
              </a:spcBef>
              <a:spcAft>
                <a:spcPts val="0"/>
              </a:spcAft>
              <a:buClr>
                <a:schemeClr val="dk1"/>
              </a:buClr>
              <a:buSzPct val="100000"/>
              <a:buChar char="●"/>
            </a:pPr>
            <a:r>
              <a:rPr b="1" lang="en" sz="7100">
                <a:solidFill>
                  <a:schemeClr val="dk1"/>
                </a:solidFill>
              </a:rPr>
              <a:t>Self-Healing</a:t>
            </a:r>
            <a:r>
              <a:rPr lang="en" sz="7100">
                <a:solidFill>
                  <a:schemeClr val="dk1"/>
                </a:solidFill>
              </a:rPr>
              <a:t>: The idea is to create systems that can automatically detect faults, isolate the problem, and recover without manual intervention.</a:t>
            </a:r>
            <a:endParaRPr sz="7100">
              <a:solidFill>
                <a:schemeClr val="dk1"/>
              </a:solidFill>
            </a:endParaRPr>
          </a:p>
          <a:p>
            <a:pPr indent="-341312" lvl="0" marL="457200" rtl="0" algn="l">
              <a:spcBef>
                <a:spcPts val="0"/>
              </a:spcBef>
              <a:spcAft>
                <a:spcPts val="0"/>
              </a:spcAft>
              <a:buClr>
                <a:schemeClr val="dk1"/>
              </a:buClr>
              <a:buSzPct val="100000"/>
              <a:buChar char="●"/>
            </a:pPr>
            <a:r>
              <a:rPr b="1" lang="en" sz="7100">
                <a:solidFill>
                  <a:schemeClr val="dk1"/>
                </a:solidFill>
              </a:rPr>
              <a:t>Diagnostic Tools</a:t>
            </a:r>
            <a:r>
              <a:rPr lang="en" sz="7100">
                <a:solidFill>
                  <a:schemeClr val="dk1"/>
                </a:solidFill>
              </a:rPr>
              <a:t>: Tools are also being developed to help operators quickly pinpoint and correct the source of faults in complex multi-component systems.</a:t>
            </a:r>
            <a:endParaRPr sz="7100">
              <a:solidFill>
                <a:schemeClr val="dk1"/>
              </a:solidFill>
            </a:endParaRPr>
          </a:p>
          <a:p>
            <a:pPr indent="0" lvl="0" marL="457200" rtl="0" algn="l">
              <a:spcBef>
                <a:spcPts val="1200"/>
              </a:spcBef>
              <a:spcAft>
                <a:spcPts val="0"/>
              </a:spcAft>
              <a:buNone/>
            </a:pPr>
            <a:r>
              <a:t/>
            </a:r>
            <a:endParaRPr b="1" sz="6115">
              <a:solidFill>
                <a:schemeClr val="dk1"/>
              </a:solidFill>
            </a:endParaRPr>
          </a:p>
          <a:p>
            <a:pPr indent="0" lvl="0" marL="0" rtl="0" algn="l">
              <a:spcBef>
                <a:spcPts val="1200"/>
              </a:spcBef>
              <a:spcAft>
                <a:spcPts val="0"/>
              </a:spcAft>
              <a:buNone/>
            </a:pPr>
            <a:r>
              <a:t/>
            </a:r>
            <a:endParaRPr sz="8347">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63" name="Google Shape;263;p48"/>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6400">
                <a:solidFill>
                  <a:schemeClr val="dk1"/>
                </a:solidFill>
              </a:rPr>
              <a:t>5. Ensuring System Availability</a:t>
            </a:r>
            <a:endParaRPr b="1" sz="6400">
              <a:solidFill>
                <a:schemeClr val="dk1"/>
              </a:solidFill>
            </a:endParaRPr>
          </a:p>
          <a:p>
            <a:pPr indent="0" lvl="0" marL="0" rtl="0" algn="l">
              <a:spcBef>
                <a:spcPts val="1200"/>
              </a:spcBef>
              <a:spcAft>
                <a:spcPts val="0"/>
              </a:spcAft>
              <a:buClr>
                <a:schemeClr val="dk1"/>
              </a:buClr>
              <a:buSzPts val="275"/>
              <a:buFont typeface="Arial"/>
              <a:buNone/>
            </a:pPr>
            <a:r>
              <a:rPr b="1" lang="en" sz="5900">
                <a:solidFill>
                  <a:schemeClr val="dk1"/>
                </a:solidFill>
              </a:rPr>
              <a:t>Deep Packet Inspection for Controlling Network Traffic</a:t>
            </a:r>
            <a:endParaRPr b="1" sz="5900">
              <a:solidFill>
                <a:schemeClr val="dk1"/>
              </a:solidFill>
            </a:endParaRPr>
          </a:p>
          <a:p>
            <a:pPr indent="-322262" lvl="0" marL="457200" rtl="0" algn="l">
              <a:spcBef>
                <a:spcPts val="1200"/>
              </a:spcBef>
              <a:spcAft>
                <a:spcPts val="0"/>
              </a:spcAft>
              <a:buClr>
                <a:schemeClr val="dk1"/>
              </a:buClr>
              <a:buSzPct val="100000"/>
              <a:buChar char="●"/>
            </a:pPr>
            <a:r>
              <a:rPr b="1" lang="en" sz="5900">
                <a:solidFill>
                  <a:schemeClr val="dk1"/>
                </a:solidFill>
              </a:rPr>
              <a:t>Deep Packet Inspection (DPI)</a:t>
            </a:r>
            <a:r>
              <a:rPr lang="en" sz="5900">
                <a:solidFill>
                  <a:schemeClr val="dk1"/>
                </a:solidFill>
              </a:rPr>
              <a:t>: DPI is a network traffic control technology that analyzes the contents of data packets as they traverse the network.</a:t>
            </a:r>
            <a:endParaRPr sz="5900">
              <a:solidFill>
                <a:schemeClr val="dk1"/>
              </a:solidFill>
            </a:endParaRPr>
          </a:p>
          <a:p>
            <a:pPr indent="-322262" lvl="0" marL="457200" rtl="0" algn="l">
              <a:spcBef>
                <a:spcPts val="0"/>
              </a:spcBef>
              <a:spcAft>
                <a:spcPts val="0"/>
              </a:spcAft>
              <a:buClr>
                <a:schemeClr val="dk1"/>
              </a:buClr>
              <a:buSzPct val="100000"/>
              <a:buChar char="●"/>
            </a:pPr>
            <a:r>
              <a:rPr b="1" lang="en" sz="5900">
                <a:solidFill>
                  <a:schemeClr val="dk1"/>
                </a:solidFill>
              </a:rPr>
              <a:t>Traffic Prioritization</a:t>
            </a:r>
            <a:r>
              <a:rPr lang="en" sz="5900">
                <a:solidFill>
                  <a:schemeClr val="dk1"/>
                </a:solidFill>
              </a:rPr>
              <a:t>: DPI can differentiate between low-priority traffic (such as personal emails or social media) and high-priority business-critical traffic (such as online transactions or real-time data). Based on predefined priorities, DPI decides whether a specific data packet can continue to its destination or should be delayed or blocked.</a:t>
            </a:r>
            <a:endParaRPr sz="5900">
              <a:solidFill>
                <a:schemeClr val="dk1"/>
              </a:solidFill>
            </a:endParaRPr>
          </a:p>
          <a:p>
            <a:pPr indent="-322262" lvl="0" marL="457200" rtl="0" algn="l">
              <a:spcBef>
                <a:spcPts val="0"/>
              </a:spcBef>
              <a:spcAft>
                <a:spcPts val="0"/>
              </a:spcAft>
              <a:buClr>
                <a:schemeClr val="dk1"/>
              </a:buClr>
              <a:buSzPct val="100000"/>
              <a:buChar char="●"/>
            </a:pPr>
            <a:r>
              <a:rPr b="1" lang="en" sz="5900">
                <a:solidFill>
                  <a:schemeClr val="dk1"/>
                </a:solidFill>
              </a:rPr>
              <a:t>Network Optimization</a:t>
            </a:r>
            <a:r>
              <a:rPr lang="en" sz="5900">
                <a:solidFill>
                  <a:schemeClr val="dk1"/>
                </a:solidFill>
              </a:rPr>
              <a:t>: This ensures that important business traffic gets through while less important traffic is either delayed or discarded, helping to maintain system performance and availability.</a:t>
            </a:r>
            <a:endParaRPr sz="5900">
              <a:solidFill>
                <a:schemeClr val="dk1"/>
              </a:solidFill>
            </a:endParaRPr>
          </a:p>
          <a:p>
            <a:pPr indent="0" lvl="0" marL="0" rtl="0" algn="l">
              <a:spcBef>
                <a:spcPts val="1200"/>
              </a:spcBef>
              <a:spcAft>
                <a:spcPts val="0"/>
              </a:spcAft>
              <a:buNone/>
            </a:pPr>
            <a:r>
              <a:t/>
            </a:r>
            <a:endParaRPr b="1" sz="7100">
              <a:solidFill>
                <a:schemeClr val="dk1"/>
              </a:solidFill>
            </a:endParaRPr>
          </a:p>
          <a:p>
            <a:pPr indent="0" lvl="0" marL="0" rtl="0" algn="l">
              <a:spcBef>
                <a:spcPts val="1200"/>
              </a:spcBef>
              <a:spcAft>
                <a:spcPts val="0"/>
              </a:spcAft>
              <a:buNone/>
            </a:pPr>
            <a:r>
              <a:t/>
            </a:r>
            <a:endParaRPr sz="8347">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600"/>
              <a:t>Technology and tools for protecting information resources</a:t>
            </a:r>
            <a:endParaRPr b="1" sz="1600"/>
          </a:p>
          <a:p>
            <a:pPr indent="0" lvl="0" marL="0" rtl="0" algn="l">
              <a:spcBef>
                <a:spcPts val="400"/>
              </a:spcBef>
              <a:spcAft>
                <a:spcPts val="0"/>
              </a:spcAft>
              <a:buNone/>
            </a:pPr>
            <a:r>
              <a:t/>
            </a:r>
            <a:endParaRPr/>
          </a:p>
        </p:txBody>
      </p:sp>
      <p:sp>
        <p:nvSpPr>
          <p:cNvPr id="269" name="Google Shape;269;p49"/>
          <p:cNvSpPr txBox="1"/>
          <p:nvPr>
            <p:ph idx="1" type="body"/>
          </p:nvPr>
        </p:nvSpPr>
        <p:spPr>
          <a:xfrm>
            <a:off x="311700" y="1152475"/>
            <a:ext cx="8520600" cy="37710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6400">
                <a:solidFill>
                  <a:schemeClr val="dk1"/>
                </a:solidFill>
              </a:rPr>
              <a:t>5. Ensuring System Availability</a:t>
            </a:r>
            <a:endParaRPr b="1" sz="6400">
              <a:solidFill>
                <a:schemeClr val="dk1"/>
              </a:solidFill>
            </a:endParaRPr>
          </a:p>
          <a:p>
            <a:pPr indent="0" lvl="0" marL="0" rtl="0" algn="l">
              <a:spcBef>
                <a:spcPts val="1200"/>
              </a:spcBef>
              <a:spcAft>
                <a:spcPts val="0"/>
              </a:spcAft>
              <a:buClr>
                <a:schemeClr val="dk1"/>
              </a:buClr>
              <a:buSzPts val="275"/>
              <a:buFont typeface="Arial"/>
              <a:buNone/>
            </a:pPr>
            <a:r>
              <a:rPr b="1" lang="en" sz="7900">
                <a:solidFill>
                  <a:schemeClr val="dk1"/>
                </a:solidFill>
              </a:rPr>
              <a:t>. Security Outsourcing</a:t>
            </a:r>
            <a:endParaRPr b="1" sz="7900">
              <a:solidFill>
                <a:schemeClr val="dk1"/>
              </a:solidFill>
            </a:endParaRPr>
          </a:p>
          <a:p>
            <a:pPr indent="-354012" lvl="0" marL="457200" rtl="0" algn="l">
              <a:spcBef>
                <a:spcPts val="1200"/>
              </a:spcBef>
              <a:spcAft>
                <a:spcPts val="0"/>
              </a:spcAft>
              <a:buClr>
                <a:schemeClr val="dk1"/>
              </a:buClr>
              <a:buSzPct val="100000"/>
              <a:buChar char="●"/>
            </a:pPr>
            <a:r>
              <a:rPr b="1" lang="en" sz="7900">
                <a:solidFill>
                  <a:schemeClr val="dk1"/>
                </a:solidFill>
              </a:rPr>
              <a:t>Outsourcing Security Functions</a:t>
            </a:r>
            <a:r>
              <a:rPr lang="en" sz="7900">
                <a:solidFill>
                  <a:schemeClr val="dk1"/>
                </a:solidFill>
              </a:rPr>
              <a:t>: Many businesses, especially small companies, may not have the necessary resources or expertise to manage security and system availability on their own.</a:t>
            </a:r>
            <a:endParaRPr sz="7900">
              <a:solidFill>
                <a:schemeClr val="dk1"/>
              </a:solidFill>
            </a:endParaRPr>
          </a:p>
          <a:p>
            <a:pPr indent="-354012" lvl="0" marL="457200" rtl="0" algn="l">
              <a:spcBef>
                <a:spcPts val="0"/>
              </a:spcBef>
              <a:spcAft>
                <a:spcPts val="0"/>
              </a:spcAft>
              <a:buClr>
                <a:schemeClr val="dk1"/>
              </a:buClr>
              <a:buSzPct val="100000"/>
              <a:buChar char="●"/>
            </a:pPr>
            <a:r>
              <a:rPr b="1" lang="en" sz="7900">
                <a:solidFill>
                  <a:schemeClr val="dk1"/>
                </a:solidFill>
              </a:rPr>
              <a:t>Managed Security Service Providers (MSSPs)</a:t>
            </a:r>
            <a:r>
              <a:rPr lang="en" sz="7900">
                <a:solidFill>
                  <a:schemeClr val="dk1"/>
                </a:solidFill>
              </a:rPr>
              <a:t>: These are companies that offer outsourced security functions, including network monitoring, vulnerability testing, intrusion detection, and more. By outsourcing security tasks, businesses can offload security management and focus on their core operations.</a:t>
            </a:r>
            <a:endParaRPr sz="7900">
              <a:solidFill>
                <a:schemeClr val="dk1"/>
              </a:solidFill>
            </a:endParaRPr>
          </a:p>
          <a:p>
            <a:pPr indent="0" lvl="0" marL="0" rtl="0" algn="l">
              <a:spcBef>
                <a:spcPts val="1200"/>
              </a:spcBef>
              <a:spcAft>
                <a:spcPts val="0"/>
              </a:spcAft>
              <a:buNone/>
            </a:pPr>
            <a:r>
              <a:t/>
            </a:r>
            <a:endParaRPr b="1" sz="5900">
              <a:solidFill>
                <a:schemeClr val="dk1"/>
              </a:solidFill>
            </a:endParaRPr>
          </a:p>
          <a:p>
            <a:pPr indent="0" lvl="0" marL="0" rtl="0" algn="l">
              <a:spcBef>
                <a:spcPts val="1200"/>
              </a:spcBef>
              <a:spcAft>
                <a:spcPts val="0"/>
              </a:spcAft>
              <a:buNone/>
            </a:pPr>
            <a:r>
              <a:t/>
            </a:r>
            <a:endParaRPr b="1" sz="7100">
              <a:solidFill>
                <a:schemeClr val="dk1"/>
              </a:solidFill>
            </a:endParaRPr>
          </a:p>
          <a:p>
            <a:pPr indent="0" lvl="0" marL="0" rtl="0" algn="l">
              <a:spcBef>
                <a:spcPts val="1200"/>
              </a:spcBef>
              <a:spcAft>
                <a:spcPts val="0"/>
              </a:spcAft>
              <a:buNone/>
            </a:pPr>
            <a:r>
              <a:t/>
            </a:r>
            <a:endParaRPr sz="8347">
              <a:solidFill>
                <a:schemeClr val="dk1"/>
              </a:solidFill>
            </a:endParaRPr>
          </a:p>
          <a:p>
            <a:pPr indent="0" lvl="0" marL="0" rtl="0" algn="l">
              <a:spcBef>
                <a:spcPts val="1200"/>
              </a:spcBef>
              <a:spcAft>
                <a:spcPts val="0"/>
              </a:spcAft>
              <a:buNone/>
            </a:pPr>
            <a:r>
              <a:t/>
            </a:r>
            <a:endParaRPr b="1" sz="5744">
              <a:solidFill>
                <a:schemeClr val="dk1"/>
              </a:solidFill>
            </a:endParaRPr>
          </a:p>
          <a:p>
            <a:pPr indent="0" lvl="0" marL="0" rtl="0" algn="l">
              <a:spcBef>
                <a:spcPts val="1200"/>
              </a:spcBef>
              <a:spcAft>
                <a:spcPts val="0"/>
              </a:spcAft>
              <a:buNone/>
            </a:pPr>
            <a:r>
              <a:t/>
            </a:r>
            <a:endParaRPr sz="5250">
              <a:solidFill>
                <a:schemeClr val="dk1"/>
              </a:solidFill>
            </a:endParaRPr>
          </a:p>
          <a:p>
            <a:pPr indent="0" lvl="0" marL="0" rtl="0" algn="l">
              <a:spcBef>
                <a:spcPts val="1400"/>
              </a:spcBef>
              <a:spcAft>
                <a:spcPts val="0"/>
              </a:spcAft>
              <a:buNone/>
            </a:pPr>
            <a:r>
              <a:t/>
            </a:r>
            <a:endParaRPr b="1" sz="255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a:solidFill>
                <a:schemeClr val="dk1"/>
              </a:solidFill>
            </a:endParaRPr>
          </a:p>
          <a:p>
            <a:pPr indent="0" lvl="0" marL="914400" rtl="0" algn="l">
              <a:spcBef>
                <a:spcPts val="1200"/>
              </a:spcBef>
              <a:spcAft>
                <a:spcPts val="0"/>
              </a:spcAft>
              <a:buNone/>
            </a:pPr>
            <a:r>
              <a:t/>
            </a:r>
            <a:endParaRPr b="1" sz="1100">
              <a:solidFill>
                <a:schemeClr val="dk1"/>
              </a:solidFill>
            </a:endParaRPr>
          </a:p>
          <a:p>
            <a:pPr indent="0" lvl="0" marL="0" rtl="0" algn="l">
              <a:spcBef>
                <a:spcPts val="1400"/>
              </a:spcBef>
              <a:spcAft>
                <a:spcPts val="0"/>
              </a:spcAft>
              <a:buNone/>
            </a:pPr>
            <a:r>
              <a:t/>
            </a:r>
            <a:endParaRPr b="1" sz="1300">
              <a:solidFill>
                <a:schemeClr val="dk1"/>
              </a:solidFill>
            </a:endParaRPr>
          </a:p>
          <a:p>
            <a:pPr indent="0" lvl="0" marL="0" rtl="0" algn="l">
              <a:spcBef>
                <a:spcPts val="400"/>
              </a:spcBef>
              <a:spcAft>
                <a:spcPts val="1200"/>
              </a:spcAft>
              <a:buNone/>
            </a:pPr>
            <a:r>
              <a:t/>
            </a:r>
            <a:endParaRPr b="1" sz="1291">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