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83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81" r:id="rId24"/>
    <p:sldId id="282" r:id="rId25"/>
    <p:sldId id="277" r:id="rId26"/>
    <p:sldId id="278" r:id="rId27"/>
    <p:sldId id="279" r:id="rId28"/>
    <p:sldId id="280" r:id="rId2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1296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E6294-9C40-4B22-8CD5-13591C1F4F83}" type="datetimeFigureOut">
              <a:rPr lang="en-US" smtClean="0"/>
              <a:pPr/>
              <a:t>8/21/2025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C9C40-1D31-486B-9417-B537CEFD92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E6294-9C40-4B22-8CD5-13591C1F4F83}" type="datetimeFigureOut">
              <a:rPr lang="en-US" smtClean="0"/>
              <a:pPr/>
              <a:t>8/21/2025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C9C40-1D31-486B-9417-B537CEFD92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E6294-9C40-4B22-8CD5-13591C1F4F83}" type="datetimeFigureOut">
              <a:rPr lang="en-US" smtClean="0"/>
              <a:pPr/>
              <a:t>8/21/2025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C9C40-1D31-486B-9417-B537CEFD92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E6294-9C40-4B22-8CD5-13591C1F4F83}" type="datetimeFigureOut">
              <a:rPr lang="en-US" smtClean="0"/>
              <a:pPr/>
              <a:t>8/21/2025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C9C40-1D31-486B-9417-B537CEFD92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E6294-9C40-4B22-8CD5-13591C1F4F83}" type="datetimeFigureOut">
              <a:rPr lang="en-US" smtClean="0"/>
              <a:pPr/>
              <a:t>8/21/2025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C9C40-1D31-486B-9417-B537CEFD92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E6294-9C40-4B22-8CD5-13591C1F4F83}" type="datetimeFigureOut">
              <a:rPr lang="en-US" smtClean="0"/>
              <a:pPr/>
              <a:t>8/21/2025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C9C40-1D31-486B-9417-B537CEFD92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E6294-9C40-4B22-8CD5-13591C1F4F83}" type="datetimeFigureOut">
              <a:rPr lang="en-US" smtClean="0"/>
              <a:pPr/>
              <a:t>8/21/2025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C9C40-1D31-486B-9417-B537CEFD92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E6294-9C40-4B22-8CD5-13591C1F4F83}" type="datetimeFigureOut">
              <a:rPr lang="en-US" smtClean="0"/>
              <a:pPr/>
              <a:t>8/21/2025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C9C40-1D31-486B-9417-B537CEFD92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E6294-9C40-4B22-8CD5-13591C1F4F83}" type="datetimeFigureOut">
              <a:rPr lang="en-US" smtClean="0"/>
              <a:pPr/>
              <a:t>8/21/2025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C9C40-1D31-486B-9417-B537CEFD92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E6294-9C40-4B22-8CD5-13591C1F4F83}" type="datetimeFigureOut">
              <a:rPr lang="en-US" smtClean="0"/>
              <a:pPr/>
              <a:t>8/21/2025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C9C40-1D31-486B-9417-B537CEFD92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3E6294-9C40-4B22-8CD5-13591C1F4F83}" type="datetimeFigureOut">
              <a:rPr lang="en-US" smtClean="0"/>
              <a:pPr/>
              <a:t>8/21/2025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6C9C40-1D31-486B-9417-B537CEFD92F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3E6294-9C40-4B22-8CD5-13591C1F4F83}" type="datetimeFigureOut">
              <a:rPr lang="en-US" smtClean="0"/>
              <a:pPr/>
              <a:t>8/21/2025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6C9C40-1D31-486B-9417-B537CEFD92F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Information systems in Global business today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Chapter - 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Introduction to Information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What is an Information System?</a:t>
            </a:r>
          </a:p>
          <a:p>
            <a:r>
              <a:rPr lang="en-US" sz="2400" b="1" dirty="0"/>
              <a:t>Definition</a:t>
            </a:r>
            <a:r>
              <a:rPr lang="en-US" sz="2400" dirty="0"/>
              <a:t>: </a:t>
            </a:r>
            <a:r>
              <a:rPr lang="en-US" sz="2400" dirty="0">
                <a:highlight>
                  <a:srgbClr val="FFFF00"/>
                </a:highlight>
              </a:rPr>
              <a:t>An Information System (IS) is a combination of people, process, hardware, software, networks, data resources, and policies that stores, retrieves, transforms, and shares information within </a:t>
            </a:r>
          </a:p>
          <a:p>
            <a:pPr>
              <a:buNone/>
            </a:pPr>
            <a:r>
              <a:rPr lang="en-US" sz="2400" dirty="0">
                <a:highlight>
                  <a:srgbClr val="FFFF00"/>
                </a:highlight>
              </a:rPr>
              <a:t>	an organization.</a:t>
            </a:r>
          </a:p>
          <a:p>
            <a:pPr>
              <a:buNone/>
            </a:pPr>
            <a:endParaRPr lang="en-US" sz="2400" dirty="0"/>
          </a:p>
        </p:txBody>
      </p:sp>
      <p:pic>
        <p:nvPicPr>
          <p:cNvPr id="1026" name="Picture 2" descr="The Five Components of an Information System of Hardware Software Data People and Process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05400" y="3429000"/>
            <a:ext cx="3998903" cy="32004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Information System Knowledge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71999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dirty="0"/>
              <a:t>	</a:t>
            </a:r>
            <a:r>
              <a:rPr lang="en-US" b="1" dirty="0"/>
              <a:t>Framework of IS Knowledge for Business Professionals</a:t>
            </a:r>
          </a:p>
          <a:p>
            <a:r>
              <a:rPr lang="en-US" sz="2400" dirty="0"/>
              <a:t>This framework </a:t>
            </a:r>
          </a:p>
          <a:p>
            <a:pPr>
              <a:buNone/>
            </a:pPr>
            <a:r>
              <a:rPr lang="en-US" sz="2400" dirty="0"/>
              <a:t>	outlines major </a:t>
            </a:r>
          </a:p>
          <a:p>
            <a:pPr>
              <a:buNone/>
            </a:pPr>
            <a:r>
              <a:rPr lang="en-US" sz="2400" dirty="0"/>
              <a:t>	areas of knowledge </a:t>
            </a:r>
          </a:p>
          <a:p>
            <a:pPr>
              <a:buNone/>
            </a:pPr>
            <a:r>
              <a:rPr lang="en-US" sz="2400" dirty="0"/>
              <a:t>	for business </a:t>
            </a:r>
          </a:p>
          <a:p>
            <a:pPr>
              <a:buNone/>
            </a:pPr>
            <a:r>
              <a:rPr lang="en-US" sz="2400" dirty="0"/>
              <a:t>	professionals </a:t>
            </a:r>
          </a:p>
          <a:p>
            <a:pPr>
              <a:buNone/>
            </a:pPr>
            <a:r>
              <a:rPr lang="en-US" sz="2400" dirty="0"/>
              <a:t>	working </a:t>
            </a:r>
          </a:p>
          <a:p>
            <a:pPr>
              <a:buNone/>
            </a:pPr>
            <a:r>
              <a:rPr lang="en-US" sz="2400" dirty="0"/>
              <a:t>	with IS</a:t>
            </a:r>
          </a:p>
          <a:p>
            <a:pPr>
              <a:buNone/>
            </a:pPr>
            <a:r>
              <a:rPr lang="en-US" sz="2400" dirty="0"/>
              <a:t>Note : </a:t>
            </a:r>
            <a:r>
              <a:rPr lang="en-US" sz="2400" b="1" dirty="0"/>
              <a:t>Tacit knowledge</a:t>
            </a:r>
            <a:r>
              <a:rPr lang="en-US" sz="2400" dirty="0"/>
              <a:t> is the </a:t>
            </a:r>
          </a:p>
          <a:p>
            <a:pPr>
              <a:buNone/>
            </a:pPr>
            <a:r>
              <a:rPr lang="en-US" sz="2400" dirty="0"/>
              <a:t>	type of knowledge that is </a:t>
            </a:r>
          </a:p>
          <a:p>
            <a:pPr>
              <a:buNone/>
            </a:pPr>
            <a:r>
              <a:rPr lang="en-US" sz="2400" dirty="0"/>
              <a:t>	personal, experience-based,</a:t>
            </a:r>
          </a:p>
          <a:p>
            <a:pPr>
              <a:buNone/>
            </a:pPr>
            <a:r>
              <a:rPr lang="en-US" sz="2400" dirty="0"/>
              <a:t>	and often difficult to </a:t>
            </a:r>
          </a:p>
          <a:p>
            <a:pPr>
              <a:buNone/>
            </a:pPr>
            <a:r>
              <a:rPr lang="en-US" sz="2400" dirty="0"/>
              <a:t>	communicate or formalize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</p:txBody>
      </p:sp>
      <p:pic>
        <p:nvPicPr>
          <p:cNvPr id="6146" name="Picture 2" descr="Pyramid Diagram *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190804" y="1981200"/>
            <a:ext cx="4953196" cy="466725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Key Areas of Information Systems Knowledge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524000"/>
            <a:ext cx="8991600" cy="5334000"/>
          </a:xfrm>
        </p:spPr>
        <p:txBody>
          <a:bodyPr>
            <a:normAutofit fontScale="70000" lnSpcReduction="20000"/>
          </a:bodyPr>
          <a:lstStyle/>
          <a:p>
            <a:pPr marL="0" indent="0" algn="just">
              <a:buNone/>
            </a:pPr>
            <a:r>
              <a:rPr lang="en-US" b="1" dirty="0"/>
              <a:t>Foundation Concepts</a:t>
            </a:r>
          </a:p>
          <a:p>
            <a:pPr algn="just"/>
            <a:r>
              <a:rPr lang="en-US" dirty="0"/>
              <a:t> Understand the behavioral, technical, and managerial basics of Information Systems and how they support business functions.</a:t>
            </a:r>
          </a:p>
          <a:p>
            <a:pPr marL="0" indent="0" algn="just">
              <a:buNone/>
            </a:pPr>
            <a:r>
              <a:rPr lang="en-US" b="1" dirty="0"/>
              <a:t>Information Technologies</a:t>
            </a:r>
          </a:p>
          <a:p>
            <a:pPr algn="just"/>
            <a:r>
              <a:rPr lang="en-US" dirty="0"/>
              <a:t>Covers core IT components including hardware, software, networking, databases, and data management systems.</a:t>
            </a:r>
          </a:p>
          <a:p>
            <a:pPr marL="0" indent="0" algn="just">
              <a:buNone/>
            </a:pPr>
            <a:r>
              <a:rPr lang="en-US" b="1" dirty="0"/>
              <a:t>Business Applications</a:t>
            </a:r>
          </a:p>
          <a:p>
            <a:pPr algn="just"/>
            <a:r>
              <a:rPr lang="en-US" dirty="0"/>
              <a:t>Focuses on how IS </a:t>
            </a:r>
            <a:r>
              <a:rPr lang="en-US" dirty="0" err="1"/>
              <a:t>is</a:t>
            </a:r>
            <a:r>
              <a:rPr lang="en-US" dirty="0"/>
              <a:t> used to support business operations, decision-making, and gaining a competitive advantage.</a:t>
            </a:r>
          </a:p>
          <a:p>
            <a:pPr marL="0" indent="0" algn="just">
              <a:buNone/>
            </a:pPr>
            <a:r>
              <a:rPr lang="en-US" b="1" dirty="0"/>
              <a:t>Development Processes</a:t>
            </a:r>
          </a:p>
          <a:p>
            <a:pPr algn="just"/>
            <a:r>
              <a:rPr lang="en-US" dirty="0"/>
              <a:t>Involves the planning, design, development, and implementation of information systems to solve business problems.</a:t>
            </a:r>
          </a:p>
          <a:p>
            <a:pPr marL="0" indent="0" algn="just">
              <a:buNone/>
            </a:pPr>
            <a:r>
              <a:rPr lang="en-US" b="1" dirty="0"/>
              <a:t>Management Challenges</a:t>
            </a:r>
          </a:p>
          <a:p>
            <a:pPr algn="just"/>
            <a:r>
              <a:rPr lang="en-US" dirty="0"/>
              <a:t>Addresses the ethical, strategic, and operational challenges of managing IT across all levels of a business.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fundamental Roles of IS in Business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Information Systems (IS) play three essential roles in enhancing business performance and competitiveness. </a:t>
            </a:r>
          </a:p>
          <a:p>
            <a:pPr lvl="1" algn="just">
              <a:buNone/>
            </a:pPr>
            <a:r>
              <a:rPr lang="en-US" dirty="0"/>
              <a:t>	</a:t>
            </a:r>
            <a:r>
              <a:rPr lang="en-US" sz="2400" dirty="0"/>
              <a:t>a. Support of business processes and operations. </a:t>
            </a:r>
          </a:p>
          <a:p>
            <a:pPr lvl="1" algn="just">
              <a:buNone/>
            </a:pPr>
            <a:r>
              <a:rPr lang="en-US" sz="2400" dirty="0"/>
              <a:t>	b. Support of decision making</a:t>
            </a:r>
          </a:p>
          <a:p>
            <a:pPr lvl="1" algn="just">
              <a:buNone/>
            </a:pPr>
            <a:r>
              <a:rPr lang="en-US" sz="2400" dirty="0"/>
              <a:t>	c. Support of strategies for competitive advantage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Support of Business Processes and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1" dirty="0"/>
              <a:t>Description</a:t>
            </a:r>
            <a:r>
              <a:rPr lang="en-US" dirty="0"/>
              <a:t>: IS enables efficient day-to-day operations by automating routine tasks, managing workflows, and ensuring timely data processing.</a:t>
            </a:r>
          </a:p>
          <a:p>
            <a:pPr algn="just"/>
            <a:r>
              <a:rPr lang="en-US" b="1" dirty="0"/>
              <a:t>Examples</a:t>
            </a:r>
            <a:r>
              <a:rPr lang="en-US" dirty="0"/>
              <a:t>: Inventory management, order processing, customer service systems.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Support of Decision Making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1" dirty="0"/>
              <a:t>Description</a:t>
            </a:r>
            <a:r>
              <a:rPr lang="en-US" dirty="0"/>
              <a:t>: IS provides employees and managers with data insights and analytical tools to make informed decisions.</a:t>
            </a:r>
          </a:p>
          <a:p>
            <a:pPr algn="just"/>
            <a:r>
              <a:rPr lang="en-US" b="1" dirty="0"/>
              <a:t>Examples</a:t>
            </a:r>
            <a:r>
              <a:rPr lang="en-US" dirty="0"/>
              <a:t>: Business intelligence, data analytics, reporting tools.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Support of Strategies for Competitive Advantage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1" dirty="0"/>
              <a:t>Description</a:t>
            </a:r>
            <a:r>
              <a:rPr lang="en-US" dirty="0"/>
              <a:t>: IS helps businesses gain an edge over competitors by optimizing operations, enhancing customer engagement, and enabling innovation.</a:t>
            </a:r>
          </a:p>
          <a:p>
            <a:pPr algn="just"/>
            <a:r>
              <a:rPr lang="en-US" b="1" dirty="0"/>
              <a:t>Examples</a:t>
            </a:r>
            <a:r>
              <a:rPr lang="en-US" dirty="0"/>
              <a:t>: Customer relationship management (CRM), supply chain optimization, e-commerce platforms.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creenshot 2024-11-12 1246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77" y="152400"/>
            <a:ext cx="8735645" cy="55443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4348" y="5943600"/>
            <a:ext cx="82524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 : The three fundamental roles of the business applications of information systems.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Role of E-Business in Business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E-business encompasses any online exchange of value, including information, money, resources, and services. It supports business activities through digital channels.</a:t>
            </a:r>
          </a:p>
          <a:p>
            <a:pPr algn="just"/>
            <a:r>
              <a:rPr lang="en-US" dirty="0"/>
              <a:t>Primary Functions of E-Business Applications:</a:t>
            </a:r>
          </a:p>
          <a:p>
            <a:pPr lvl="1" algn="just"/>
            <a:r>
              <a:rPr lang="en-US" dirty="0"/>
              <a:t>Reengineer Internal Business Processes:</a:t>
            </a:r>
          </a:p>
          <a:p>
            <a:pPr lvl="1" algn="just"/>
            <a:r>
              <a:rPr lang="en-US" dirty="0"/>
              <a:t>Implement E-Commerce Systems:</a:t>
            </a:r>
          </a:p>
          <a:p>
            <a:pPr lvl="1" algn="just"/>
            <a:r>
              <a:rPr lang="en-US" dirty="0"/>
              <a:t>Promote Enterprise Collaboration:</a:t>
            </a:r>
          </a:p>
          <a:p>
            <a:pPr algn="just"/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Reengineer Internal Business Processes: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Description: E-business tools streamline and automate internal workflows, improving efficiency and productivity.</a:t>
            </a:r>
          </a:p>
          <a:p>
            <a:pPr algn="just"/>
            <a:r>
              <a:rPr lang="en-US" dirty="0"/>
              <a:t>Example: Digital document management, automated inventory tracking.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Implement E-Commerce Systems: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Description: Provides platforms for seamless online transactions with customers and suppliers, broadening market reach and accessibility.</a:t>
            </a:r>
          </a:p>
          <a:p>
            <a:pPr algn="just"/>
            <a:r>
              <a:rPr lang="en-US" dirty="0"/>
              <a:t>Example: Online stores, B2B e-commerce platforms.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Promote Enterprise Collaboration: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Description: Facilitates communication and collaboration across teams and workgroups, enabling effective project management and innovation.</a:t>
            </a:r>
          </a:p>
          <a:p>
            <a:pPr algn="just"/>
            <a:r>
              <a:rPr lang="en-US" dirty="0"/>
              <a:t>Example: Shared workspaces, digital collaboration tools like Slack or Microsoft Teams.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Role of Information systems in business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b="1" dirty="0"/>
              <a:t>Enhancing Efficiency</a:t>
            </a:r>
            <a:r>
              <a:rPr lang="en-US" dirty="0"/>
              <a:t>: Automates processes, reducing costs and increasing productivity.</a:t>
            </a:r>
          </a:p>
          <a:p>
            <a:r>
              <a:rPr lang="en-US" b="1" dirty="0"/>
              <a:t>Data-Driven Decision Making</a:t>
            </a:r>
            <a:r>
              <a:rPr lang="en-US" dirty="0"/>
              <a:t>: Provides real-time data and analytics to guide strategic decisions.</a:t>
            </a:r>
          </a:p>
          <a:p>
            <a:r>
              <a:rPr lang="en-US" b="1" dirty="0"/>
              <a:t>Improving Customer Experience</a:t>
            </a:r>
            <a:r>
              <a:rPr lang="en-US" dirty="0"/>
              <a:t>: Personalizes interactions, builds loyalty, and increases satisfaction.</a:t>
            </a:r>
          </a:p>
          <a:p>
            <a:r>
              <a:rPr lang="en-US" b="1" dirty="0"/>
              <a:t>Gaining Competitive Advantage</a:t>
            </a:r>
            <a:r>
              <a:rPr lang="en-US" dirty="0"/>
              <a:t>: Helps businesses innovate and stay ahead of competitors.</a:t>
            </a:r>
          </a:p>
          <a:p>
            <a:r>
              <a:rPr lang="en-US" b="1" dirty="0"/>
              <a:t>Supporting Collaboration</a:t>
            </a:r>
            <a:r>
              <a:rPr lang="en-US" dirty="0"/>
              <a:t>: Facilitates teamwork across departments and locations.</a:t>
            </a:r>
          </a:p>
          <a:p>
            <a:r>
              <a:rPr lang="en-US" b="1" dirty="0"/>
              <a:t>Optimizing Supply Chains</a:t>
            </a:r>
            <a:r>
              <a:rPr lang="en-US" dirty="0"/>
              <a:t>: Increases visibility, reduces lead times, and enhances order fulfillment.</a:t>
            </a:r>
          </a:p>
          <a:p>
            <a:r>
              <a:rPr lang="en-US" b="1" dirty="0"/>
              <a:t>Ensuring Scalability</a:t>
            </a:r>
            <a:r>
              <a:rPr lang="en-US" dirty="0"/>
              <a:t>: Adapts to business growth with flexible, scalable solutions.</a:t>
            </a:r>
          </a:p>
          <a:p>
            <a:r>
              <a:rPr lang="en-US" b="1" dirty="0"/>
              <a:t>Maintaining Compliance and Security</a:t>
            </a:r>
            <a:r>
              <a:rPr lang="en-US" dirty="0"/>
              <a:t>: Protects data, supports regulatory compliance, and manages risk.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Globalization: Challenges and Opportunities for Businesses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algn="just">
              <a:buNone/>
            </a:pPr>
            <a:r>
              <a:rPr lang="en-US" b="1" dirty="0"/>
              <a:t>	</a:t>
            </a:r>
            <a:r>
              <a:rPr lang="en-US" b="1" u="sng" dirty="0"/>
              <a:t>Challenges of Globalization</a:t>
            </a:r>
          </a:p>
          <a:p>
            <a:pPr algn="just"/>
            <a:r>
              <a:rPr lang="en-US" b="1" dirty="0"/>
              <a:t>Cultural Differences</a:t>
            </a:r>
            <a:r>
              <a:rPr lang="en-US" dirty="0"/>
              <a:t>: Language, customs, and cultural preferences can create barriers in communication and marketing.</a:t>
            </a:r>
          </a:p>
          <a:p>
            <a:pPr algn="just"/>
            <a:r>
              <a:rPr lang="en-US" b="1" dirty="0"/>
              <a:t>Regulatory and Compliance Issues</a:t>
            </a:r>
            <a:r>
              <a:rPr lang="en-US" dirty="0"/>
              <a:t>: Navigating different laws, standards, and regulatory frameworks across countries can be complex and costly.</a:t>
            </a:r>
          </a:p>
          <a:p>
            <a:pPr algn="just"/>
            <a:r>
              <a:rPr lang="en-US" b="1" dirty="0"/>
              <a:t>Supply Chain and Logistics Complexity</a:t>
            </a:r>
            <a:r>
              <a:rPr lang="en-US" dirty="0"/>
              <a:t>: Managing global supply chains with varying infrastructure, time zones, and currency exchanges can pose logistical challenges.</a:t>
            </a:r>
          </a:p>
          <a:p>
            <a:pPr algn="just"/>
            <a:r>
              <a:rPr lang="en-US" b="1" dirty="0"/>
              <a:t>Data Security and Privacy Concerns</a:t>
            </a:r>
            <a:r>
              <a:rPr lang="en-US" dirty="0"/>
              <a:t>: Protecting customer data across different jurisdictions with distinct privacy laws requires stringent security measures.</a:t>
            </a:r>
          </a:p>
          <a:p>
            <a:pPr algn="just"/>
            <a:r>
              <a:rPr lang="en-US" b="1" dirty="0"/>
              <a:t>Workforce Management</a:t>
            </a:r>
            <a:r>
              <a:rPr lang="en-US" dirty="0"/>
              <a:t>: Coordinating teams across diverse geographic locations and ensuring consistent training and management can be challenging.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Globalization: Challenges and Opportunities for Businesses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algn="just">
              <a:buNone/>
            </a:pPr>
            <a:r>
              <a:rPr lang="en-US" b="1" dirty="0"/>
              <a:t>	</a:t>
            </a:r>
            <a:r>
              <a:rPr lang="en-US" b="1" u="sng" dirty="0"/>
              <a:t>Opportunities of Globalization</a:t>
            </a:r>
            <a:r>
              <a:rPr lang="en-US" u="sng" dirty="0"/>
              <a:t>:</a:t>
            </a:r>
          </a:p>
          <a:p>
            <a:pPr algn="just"/>
            <a:r>
              <a:rPr lang="en-US" b="1" dirty="0"/>
              <a:t>Expanded Market Reach</a:t>
            </a:r>
            <a:r>
              <a:rPr lang="en-US" dirty="0"/>
              <a:t>: Access to a broader, global customer base allows for increased revenue and brand exposure.</a:t>
            </a:r>
          </a:p>
          <a:p>
            <a:pPr algn="just"/>
            <a:r>
              <a:rPr lang="en-US" b="1" dirty="0"/>
              <a:t>Diverse Talent Pool</a:t>
            </a:r>
            <a:r>
              <a:rPr lang="en-US" dirty="0"/>
              <a:t>: Global hiring enables companies to access specialized skills and diverse perspectives, fostering innovation.</a:t>
            </a:r>
          </a:p>
          <a:p>
            <a:pPr algn="just"/>
            <a:r>
              <a:rPr lang="en-US" b="1" dirty="0"/>
              <a:t>Cost Efficiency</a:t>
            </a:r>
            <a:r>
              <a:rPr lang="en-US" dirty="0"/>
              <a:t>: Operating in regions with lower production costs can enhance cost-effectiveness and profit margins.</a:t>
            </a:r>
          </a:p>
          <a:p>
            <a:pPr algn="just"/>
            <a:r>
              <a:rPr lang="en-US" b="1" dirty="0"/>
              <a:t>Innovation and Knowledge Sharing</a:t>
            </a:r>
            <a:r>
              <a:rPr lang="en-US" dirty="0"/>
              <a:t>: Exposure to diverse ideas and practices from different cultures encourages creativity and knowledge exchange.</a:t>
            </a:r>
          </a:p>
          <a:p>
            <a:pPr algn="just"/>
            <a:r>
              <a:rPr lang="en-US" b="1" dirty="0"/>
              <a:t>Competitive Advantage</a:t>
            </a:r>
            <a:r>
              <a:rPr lang="en-US" dirty="0"/>
              <a:t>: Early entry into emerging markets provides companies with a strong competitive edge and potential market dominance.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Strategic Business Objectives of Information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None/>
            </a:pPr>
            <a:r>
              <a:rPr lang="en-US" b="1" dirty="0"/>
              <a:t>	Improving Efficiency and Productivity</a:t>
            </a:r>
            <a:r>
              <a:rPr lang="en-US" dirty="0"/>
              <a:t>:</a:t>
            </a:r>
          </a:p>
          <a:p>
            <a:pPr algn="just"/>
            <a:r>
              <a:rPr lang="en-US" b="1" dirty="0"/>
              <a:t>Description</a:t>
            </a:r>
            <a:r>
              <a:rPr lang="en-US" dirty="0"/>
              <a:t>: Information systems streamline operations by automating tasks, reducing manual errors, and optimizing workflows, leading to higher efficiency.</a:t>
            </a:r>
          </a:p>
          <a:p>
            <a:pPr algn="just"/>
            <a:r>
              <a:rPr lang="en-US" b="1" dirty="0"/>
              <a:t>Example</a:t>
            </a:r>
            <a:r>
              <a:rPr lang="en-US" dirty="0"/>
              <a:t>: Automation of supply chain management, reducing inventory costs, and improving order fulfillment speed.</a:t>
            </a:r>
          </a:p>
          <a:p>
            <a:pPr algn="just"/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None/>
            </a:pPr>
            <a:r>
              <a:rPr lang="en-US" b="1" dirty="0"/>
              <a:t>	Enhancing Decision Making</a:t>
            </a:r>
            <a:r>
              <a:rPr lang="en-US" dirty="0"/>
              <a:t>:</a:t>
            </a:r>
          </a:p>
          <a:p>
            <a:pPr algn="just"/>
            <a:r>
              <a:rPr lang="en-US" b="1" dirty="0"/>
              <a:t>Description</a:t>
            </a:r>
            <a:r>
              <a:rPr lang="en-US" dirty="0"/>
              <a:t>: IS provide accurate and timely data for decision-making at all levels of the organization, helping managers make informed strategic decisions.</a:t>
            </a:r>
          </a:p>
          <a:p>
            <a:pPr algn="just"/>
            <a:r>
              <a:rPr lang="en-US" b="1" dirty="0"/>
              <a:t>Example</a:t>
            </a:r>
            <a:r>
              <a:rPr lang="en-US" dirty="0"/>
              <a:t>: Business intelligence tools, data analytics dashboards, and reporting systems for better decision support.</a:t>
            </a:r>
          </a:p>
          <a:p>
            <a:pPr algn="just"/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None/>
            </a:pPr>
            <a:r>
              <a:rPr lang="en-US" b="1" dirty="0"/>
              <a:t>	Gaining Competitive Advantage</a:t>
            </a:r>
            <a:r>
              <a:rPr lang="en-US" dirty="0"/>
              <a:t>:</a:t>
            </a:r>
          </a:p>
          <a:p>
            <a:pPr algn="just"/>
            <a:r>
              <a:rPr lang="en-US" b="1" dirty="0"/>
              <a:t>Description</a:t>
            </a:r>
            <a:r>
              <a:rPr lang="en-US" dirty="0"/>
              <a:t>: Information systems enable businesses to gain a competitive edge by leveraging technology to offer better services, faster responses, or unique business models.</a:t>
            </a:r>
          </a:p>
          <a:p>
            <a:pPr algn="just"/>
            <a:r>
              <a:rPr lang="en-US" b="1" dirty="0"/>
              <a:t>Example</a:t>
            </a:r>
            <a:r>
              <a:rPr lang="en-US" dirty="0"/>
              <a:t>: E-commerce platforms, personalized customer experiences, and digital marketing strategies.</a:t>
            </a:r>
          </a:p>
          <a:p>
            <a:pPr algn="just"/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None/>
            </a:pPr>
            <a:r>
              <a:rPr lang="en-US" b="1" dirty="0"/>
              <a:t>	Supporting Innovation</a:t>
            </a:r>
            <a:r>
              <a:rPr lang="en-US" dirty="0"/>
              <a:t>:</a:t>
            </a:r>
          </a:p>
          <a:p>
            <a:pPr algn="just"/>
            <a:r>
              <a:rPr lang="en-US" b="1" dirty="0"/>
              <a:t>Description</a:t>
            </a:r>
            <a:r>
              <a:rPr lang="en-US" dirty="0"/>
              <a:t>: IS foster innovation by facilitating the development of new products, services, or business models, supporting long-term growth and adaptation to market changes.</a:t>
            </a:r>
          </a:p>
          <a:p>
            <a:pPr algn="just"/>
            <a:r>
              <a:rPr lang="en-US" b="1" dirty="0"/>
              <a:t>Example</a:t>
            </a:r>
            <a:r>
              <a:rPr lang="en-US" dirty="0"/>
              <a:t>: Product innovation through R&amp;D systems, cloud-based collaboration tools for creative teams.</a:t>
            </a:r>
          </a:p>
          <a:p>
            <a:pPr algn="just"/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None/>
            </a:pPr>
            <a:r>
              <a:rPr lang="en-US" b="1" dirty="0"/>
              <a:t>	Enabling Global Reach</a:t>
            </a:r>
            <a:r>
              <a:rPr lang="en-US" dirty="0"/>
              <a:t>:</a:t>
            </a:r>
          </a:p>
          <a:p>
            <a:pPr algn="just"/>
            <a:r>
              <a:rPr lang="en-US" b="1" dirty="0"/>
              <a:t>Description</a:t>
            </a:r>
            <a:r>
              <a:rPr lang="en-US" dirty="0"/>
              <a:t>: Information systems allow businesses to expand their operations globally by connecting employees, customers, and partners across geographical boundaries.</a:t>
            </a:r>
          </a:p>
          <a:p>
            <a:pPr algn="just"/>
            <a:r>
              <a:rPr lang="en-US" b="1" dirty="0"/>
              <a:t>Example</a:t>
            </a:r>
            <a:r>
              <a:rPr lang="en-US" dirty="0"/>
              <a:t>: E-commerce platforms, cloud computing, and cross-border communication tools.</a:t>
            </a:r>
          </a:p>
          <a:p>
            <a:pPr algn="just"/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None/>
            </a:pPr>
            <a:r>
              <a:rPr lang="en-US" b="1" dirty="0"/>
              <a:t>	Ensuring Customer Satisfaction</a:t>
            </a:r>
            <a:r>
              <a:rPr lang="en-US" dirty="0"/>
              <a:t>:</a:t>
            </a:r>
          </a:p>
          <a:p>
            <a:pPr algn="just"/>
            <a:r>
              <a:rPr lang="en-US" b="1" dirty="0"/>
              <a:t>Description</a:t>
            </a:r>
            <a:r>
              <a:rPr lang="en-US" dirty="0"/>
              <a:t>: By leveraging IS, businesses can improve customer service, personalize interactions, and enhance the overall customer experience.</a:t>
            </a:r>
          </a:p>
          <a:p>
            <a:pPr algn="just"/>
            <a:r>
              <a:rPr lang="en-US" b="1" dirty="0"/>
              <a:t>Example</a:t>
            </a:r>
            <a:r>
              <a:rPr lang="en-US" dirty="0"/>
              <a:t>: Customer relationship management (CRM) systems, </a:t>
            </a:r>
            <a:r>
              <a:rPr lang="en-US" dirty="0" err="1"/>
              <a:t>chatbots</a:t>
            </a:r>
            <a:r>
              <a:rPr lang="en-US" dirty="0"/>
              <a:t> for real-time support, and loyalty programs.</a:t>
            </a:r>
          </a:p>
          <a:p>
            <a:pPr algn="just"/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Management Information System (MIS)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 </a:t>
            </a:r>
            <a:r>
              <a:rPr lang="en-US" b="1" dirty="0"/>
              <a:t>Management Information System (MIS)</a:t>
            </a:r>
            <a:r>
              <a:rPr lang="en-US" dirty="0"/>
              <a:t> is a structured, computerized system designed to collect, process, store, and disseminate information to support decision-making, coordination, control, analysis, and visualization in an organization. MIS provides timely and relevant data, typically in the form of reports and summaries, enabling managers to plan, monitor, and manage operations effectively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Management Information System (MIS)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key components of an MIS include </a:t>
            </a:r>
            <a:r>
              <a:rPr lang="en-US" b="1" dirty="0"/>
              <a:t>people, processes, data, software, and hardware</a:t>
            </a:r>
            <a:r>
              <a:rPr lang="en-US" dirty="0"/>
              <a:t>, all working together to transform raw data into meaningful insights that help organizations improve efficiency, productivity, and decision-making.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Business perspective of information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just"/>
            <a:r>
              <a:rPr lang="en-US" dirty="0"/>
              <a:t>From a business perspective, information systems (IS) are not just technical tools but critical enablers for achieving strategic goals and maintaining </a:t>
            </a:r>
          </a:p>
          <a:p>
            <a:pPr algn="just"/>
            <a:r>
              <a:rPr lang="en-US" dirty="0"/>
              <a:t>Here are some key perspectives on how businesses view information systems</a:t>
            </a:r>
          </a:p>
          <a:p>
            <a:pPr lvl="1" algn="just"/>
            <a:r>
              <a:rPr lang="en-US" dirty="0"/>
              <a:t>Operational Efficiency</a:t>
            </a:r>
          </a:p>
          <a:p>
            <a:pPr lvl="1" algn="just"/>
            <a:r>
              <a:rPr lang="en-US" dirty="0"/>
              <a:t>Decision Support</a:t>
            </a:r>
          </a:p>
          <a:p>
            <a:pPr lvl="1" algn="just"/>
            <a:r>
              <a:rPr lang="en-US" dirty="0"/>
              <a:t>Customer Relationship Management (CRM)</a:t>
            </a:r>
          </a:p>
          <a:p>
            <a:pPr lvl="1" algn="just"/>
            <a:r>
              <a:rPr lang="en-US" dirty="0"/>
              <a:t>Competitive Advantage</a:t>
            </a:r>
          </a:p>
          <a:p>
            <a:pPr lvl="1" algn="just"/>
            <a:r>
              <a:rPr lang="en-US" dirty="0"/>
              <a:t>Collaboration and Communication</a:t>
            </a:r>
          </a:p>
          <a:p>
            <a:pPr lvl="1" algn="just"/>
            <a:r>
              <a:rPr lang="en-US" dirty="0"/>
              <a:t>Supply Chain Management (SCM)</a:t>
            </a:r>
          </a:p>
          <a:p>
            <a:pPr lvl="1" algn="just"/>
            <a:r>
              <a:rPr lang="en-US" dirty="0"/>
              <a:t>Scalability and Flexibility</a:t>
            </a:r>
          </a:p>
          <a:p>
            <a:pPr lvl="1" algn="just"/>
            <a:r>
              <a:rPr lang="en-US" dirty="0"/>
              <a:t>Compliance and Risk Management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algn="just">
              <a:buNone/>
            </a:pPr>
            <a:r>
              <a:rPr lang="en-US" dirty="0"/>
              <a:t>	</a:t>
            </a:r>
          </a:p>
          <a:p>
            <a:pPr algn="just">
              <a:buNone/>
            </a:pPr>
            <a:r>
              <a:rPr lang="en-US" dirty="0"/>
              <a:t>	Operational Efficiency</a:t>
            </a:r>
          </a:p>
          <a:p>
            <a:pPr algn="just"/>
            <a:r>
              <a:rPr lang="en-US" dirty="0"/>
              <a:t>Streamlines routine tasks, reducing manual effort and error.</a:t>
            </a:r>
          </a:p>
          <a:p>
            <a:pPr algn="just"/>
            <a:r>
              <a:rPr lang="en-US" dirty="0"/>
              <a:t>Leads to cost savings, faster processing, and higher productivity.</a:t>
            </a:r>
          </a:p>
          <a:p>
            <a:pPr algn="just">
              <a:buNone/>
            </a:pPr>
            <a:endParaRPr lang="en-US" dirty="0"/>
          </a:p>
          <a:p>
            <a:pPr algn="just">
              <a:buNone/>
            </a:pPr>
            <a:r>
              <a:rPr lang="en-US" dirty="0"/>
              <a:t>	Decision Support</a:t>
            </a:r>
          </a:p>
          <a:p>
            <a:pPr algn="just"/>
            <a:r>
              <a:rPr lang="en-US" dirty="0"/>
              <a:t>Provides real-time data and analytics for informed decision-making.</a:t>
            </a:r>
          </a:p>
          <a:p>
            <a:pPr algn="just"/>
            <a:r>
              <a:rPr lang="en-US" dirty="0"/>
              <a:t>Helps predict outcomes and reduce business risks.</a:t>
            </a:r>
          </a:p>
          <a:p>
            <a:pPr algn="just">
              <a:buNone/>
            </a:pPr>
            <a:endParaRPr lang="en-US" dirty="0"/>
          </a:p>
          <a:p>
            <a:pPr algn="just">
              <a:buNone/>
            </a:pPr>
            <a:r>
              <a:rPr lang="en-US" dirty="0"/>
              <a:t>	Customer Relationship Management (CRM)</a:t>
            </a:r>
          </a:p>
          <a:p>
            <a:pPr algn="just"/>
            <a:r>
              <a:rPr lang="en-US" dirty="0"/>
              <a:t>Collects and organizes customer data for personalized experiences.</a:t>
            </a:r>
          </a:p>
          <a:p>
            <a:pPr algn="just"/>
            <a:r>
              <a:rPr lang="en-US" dirty="0"/>
              <a:t>Enhances satisfaction, loyalty, and customer lifecycle tracking.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just">
              <a:buNone/>
            </a:pPr>
            <a:r>
              <a:rPr lang="en-US" dirty="0"/>
              <a:t>	Competitive Advantage</a:t>
            </a:r>
          </a:p>
          <a:p>
            <a:pPr algn="just"/>
            <a:r>
              <a:rPr lang="en-US" dirty="0"/>
              <a:t>Offers insights to innovate and optimize offerings.</a:t>
            </a:r>
          </a:p>
          <a:p>
            <a:pPr algn="just"/>
            <a:r>
              <a:rPr lang="en-US" dirty="0"/>
              <a:t>Identifies market opportunities ahead of competitors.</a:t>
            </a:r>
          </a:p>
          <a:p>
            <a:pPr algn="just">
              <a:buNone/>
            </a:pPr>
            <a:endParaRPr lang="en-US" dirty="0"/>
          </a:p>
          <a:p>
            <a:pPr algn="just">
              <a:buNone/>
            </a:pPr>
            <a:r>
              <a:rPr lang="en-US" dirty="0"/>
              <a:t>	Collaboration and Communication</a:t>
            </a:r>
          </a:p>
          <a:p>
            <a:pPr algn="just"/>
            <a:r>
              <a:rPr lang="en-US" dirty="0"/>
              <a:t>Facilitates internal communication across departments.</a:t>
            </a:r>
          </a:p>
          <a:p>
            <a:pPr algn="just"/>
            <a:r>
              <a:rPr lang="en-US" dirty="0"/>
              <a:t>Enables collaborative workflows, regardless of location.</a:t>
            </a:r>
          </a:p>
          <a:p>
            <a:pPr algn="just">
              <a:buNone/>
            </a:pPr>
            <a:r>
              <a:rPr lang="en-US" dirty="0"/>
              <a:t>	Supply Chain Management (SCM)</a:t>
            </a:r>
          </a:p>
          <a:p>
            <a:pPr algn="just">
              <a:buNone/>
            </a:pPr>
            <a:endParaRPr lang="en-US" dirty="0"/>
          </a:p>
          <a:p>
            <a:pPr algn="just"/>
            <a:r>
              <a:rPr lang="en-US" dirty="0"/>
              <a:t>Increases supply chain visibility and coordination.</a:t>
            </a:r>
          </a:p>
          <a:p>
            <a:pPr algn="just"/>
            <a:r>
              <a:rPr lang="en-US" dirty="0"/>
              <a:t>Optimizes inventory, reduces lead times, and improves fulfillment.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>
              <a:buNone/>
            </a:pPr>
            <a:r>
              <a:rPr lang="en-US" dirty="0"/>
              <a:t>	Scalability and Flexibility</a:t>
            </a:r>
          </a:p>
          <a:p>
            <a:pPr algn="just"/>
            <a:r>
              <a:rPr lang="en-US" dirty="0"/>
              <a:t>Supports scaling operations with minimal disruption.</a:t>
            </a:r>
          </a:p>
          <a:p>
            <a:pPr algn="just"/>
            <a:r>
              <a:rPr lang="en-US" dirty="0"/>
              <a:t>Cloud-based IS allow easy adjustments to meet demand.</a:t>
            </a:r>
          </a:p>
          <a:p>
            <a:pPr algn="just">
              <a:buNone/>
            </a:pPr>
            <a:endParaRPr lang="en-US" dirty="0"/>
          </a:p>
          <a:p>
            <a:pPr algn="just">
              <a:buNone/>
            </a:pPr>
            <a:r>
              <a:rPr lang="en-US" dirty="0"/>
              <a:t>	Compliance and Risk Management</a:t>
            </a:r>
          </a:p>
          <a:p>
            <a:pPr algn="just"/>
            <a:r>
              <a:rPr lang="en-US" dirty="0"/>
              <a:t>Ensures regulatory compliance and data security.</a:t>
            </a:r>
          </a:p>
          <a:p>
            <a:pPr algn="just"/>
            <a:r>
              <a:rPr lang="en-US" dirty="0"/>
              <a:t>Manages risks with data access tracking and audit trails.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</TotalTime>
  <Words>1538</Words>
  <Application>Microsoft Office PowerPoint</Application>
  <PresentationFormat>On-screen Show (4:3)</PresentationFormat>
  <Paragraphs>148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Information systems in Global business today</vt:lpstr>
      <vt:lpstr>Introduction to Information Systems</vt:lpstr>
      <vt:lpstr>Information System Knowledge Framework</vt:lpstr>
      <vt:lpstr>Key Areas of Information Systems Knowledge</vt:lpstr>
      <vt:lpstr>The fundamental Roles of IS in Business</vt:lpstr>
      <vt:lpstr>Support of Business Processes and Operations</vt:lpstr>
      <vt:lpstr>Support of Decision Making</vt:lpstr>
      <vt:lpstr>Support of Strategies for Competitive Advantage</vt:lpstr>
      <vt:lpstr>PowerPoint Presentation</vt:lpstr>
      <vt:lpstr>The Role of E-Business in Business</vt:lpstr>
      <vt:lpstr>Reengineer Internal Business Processes:</vt:lpstr>
      <vt:lpstr>Implement E-Commerce Systems:</vt:lpstr>
      <vt:lpstr>Promote Enterprise Collaboration:</vt:lpstr>
      <vt:lpstr>Role of Information systems in business today</vt:lpstr>
      <vt:lpstr>Globalization: Challenges and Opportunities for Businesses</vt:lpstr>
      <vt:lpstr>Globalization: Challenges and Opportunities for Businesses</vt:lpstr>
      <vt:lpstr>Strategic Business Objectives of Information Systems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Management Information System (MIS)</vt:lpstr>
      <vt:lpstr>Management Information System (MIS)</vt:lpstr>
      <vt:lpstr>Business perspective of information system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Information systems in Global business today</dc:title>
  <dc:creator>Bhola</dc:creator>
  <cp:lastModifiedBy>Toshiba</cp:lastModifiedBy>
  <cp:revision>30</cp:revision>
  <dcterms:created xsi:type="dcterms:W3CDTF">2024-11-12T06:40:07Z</dcterms:created>
  <dcterms:modified xsi:type="dcterms:W3CDTF">2025-08-21T16:51:59Z</dcterms:modified>
</cp:coreProperties>
</file>