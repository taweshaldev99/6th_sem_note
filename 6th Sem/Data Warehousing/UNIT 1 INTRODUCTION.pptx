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AEB57-3624-4C49-AE11-4AE7D0DC6B2E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8C219-F545-4E3E-B6CB-5A5AB329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4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8425" y="1359484"/>
            <a:ext cx="5674359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444500">
              <a:lnSpc>
                <a:spcPts val="1400"/>
              </a:lnSpc>
            </a:pPr>
            <a:endParaRPr sz="12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15570">
              <a:lnSpc>
                <a:spcPts val="14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444500">
              <a:lnSpc>
                <a:spcPts val="1400"/>
              </a:lnSpc>
            </a:pPr>
            <a:endParaRPr sz="12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15570">
              <a:lnSpc>
                <a:spcPts val="14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444500">
              <a:lnSpc>
                <a:spcPts val="1400"/>
              </a:lnSpc>
            </a:pPr>
            <a:endParaRPr sz="12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15570">
              <a:lnSpc>
                <a:spcPts val="14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444500">
              <a:lnSpc>
                <a:spcPts val="1400"/>
              </a:lnSpc>
            </a:pPr>
            <a:endParaRPr sz="12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15570">
              <a:lnSpc>
                <a:spcPts val="14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444500">
              <a:lnSpc>
                <a:spcPts val="1400"/>
              </a:lnSpc>
            </a:pPr>
            <a:endParaRPr sz="12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15570">
              <a:lnSpc>
                <a:spcPts val="14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7768" y="54686"/>
            <a:ext cx="8068462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168" y="1891650"/>
            <a:ext cx="5877560" cy="1672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02939" y="6427385"/>
            <a:ext cx="2187956" cy="377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444500">
              <a:lnSpc>
                <a:spcPts val="1400"/>
              </a:lnSpc>
            </a:pPr>
            <a:endParaRPr sz="12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7159" y="6438967"/>
            <a:ext cx="601980" cy="2140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7272" y="6421623"/>
            <a:ext cx="254000" cy="2308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15570">
              <a:lnSpc>
                <a:spcPts val="14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009650" marR="5080" indent="-997585" algn="l">
              <a:lnSpc>
                <a:spcPct val="100299"/>
              </a:lnSpc>
              <a:spcBef>
                <a:spcPts val="75"/>
              </a:spcBef>
            </a:pPr>
            <a:r>
              <a:rPr sz="440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44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0000"/>
                </a:solidFill>
                <a:latin typeface="Arial"/>
                <a:cs typeface="Arial"/>
              </a:rPr>
              <a:t>Mining</a:t>
            </a:r>
            <a:r>
              <a:rPr sz="4400" spc="-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4400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spc="-20" dirty="0">
                <a:solidFill>
                  <a:srgbClr val="FF0000"/>
                </a:solidFill>
                <a:latin typeface="Arial"/>
                <a:cs typeface="Arial"/>
              </a:rPr>
              <a:t>Data </a:t>
            </a:r>
            <a:r>
              <a:rPr sz="4400" spc="-10" dirty="0">
                <a:solidFill>
                  <a:srgbClr val="FF0000"/>
                </a:solidFill>
                <a:latin typeface="Arial"/>
                <a:cs typeface="Arial"/>
              </a:rPr>
              <a:t>Warehousing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2939" y="3895166"/>
            <a:ext cx="22326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Times New Roman"/>
                <a:cs typeface="Times New Roman"/>
              </a:rPr>
              <a:t>Introduction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54" y="1560068"/>
            <a:ext cx="4679315" cy="782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–"/>
              <a:tabLst>
                <a:tab pos="295910" algn="l"/>
              </a:tabLst>
            </a:pPr>
            <a:r>
              <a:rPr sz="1900" dirty="0">
                <a:latin typeface="Times New Roman"/>
                <a:cs typeface="Times New Roman"/>
              </a:rPr>
              <a:t>1.1.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Mining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Origin</a:t>
            </a:r>
            <a:endParaRPr sz="19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1395"/>
              </a:spcBef>
              <a:buFont typeface="Arial MT"/>
              <a:buChar char="–"/>
              <a:tabLst>
                <a:tab pos="295910" algn="l"/>
              </a:tabLst>
            </a:pPr>
            <a:r>
              <a:rPr sz="1900" dirty="0">
                <a:latin typeface="Times New Roman"/>
                <a:cs typeface="Times New Roman"/>
              </a:rPr>
              <a:t>1.2.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Mining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&amp;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Warehousing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basics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159" y="407924"/>
            <a:ext cx="21983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</a:rPr>
              <a:t>What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is</a:t>
            </a:r>
            <a:r>
              <a:rPr sz="2800" spc="-3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Data?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94968" y="1293834"/>
            <a:ext cx="7628890" cy="1398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5080" indent="-283845" algn="just">
              <a:lnSpc>
                <a:spcPct val="1501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representation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facts,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concepts,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instructions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formal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manner </a:t>
            </a:r>
            <a:r>
              <a:rPr sz="2000" dirty="0">
                <a:latin typeface="Times New Roman"/>
                <a:cs typeface="Times New Roman"/>
              </a:rPr>
              <a:t>suitable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communication,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interpretation,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human </a:t>
            </a:r>
            <a:r>
              <a:rPr sz="2000" dirty="0">
                <a:latin typeface="Times New Roman"/>
                <a:cs typeface="Times New Roman"/>
              </a:rPr>
              <a:t>beings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820923"/>
            <a:ext cx="5106924" cy="32735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3</a:t>
            </a:fld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4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8170" y="54686"/>
            <a:ext cx="38627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Origin</a:t>
            </a:r>
            <a:r>
              <a:rPr spc="-5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-10" dirty="0"/>
              <a:t>mining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567294"/>
            <a:ext cx="8088630" cy="5172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060" marR="8890" indent="-34099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steady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amazing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progress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hardware 	</a:t>
            </a:r>
            <a:r>
              <a:rPr sz="2400" dirty="0">
                <a:latin typeface="Times New Roman"/>
                <a:cs typeface="Times New Roman"/>
              </a:rPr>
              <a:t>technology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decades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led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supplies 	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powerful</a:t>
            </a:r>
            <a:r>
              <a:rPr sz="2400" spc="4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affordable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computers,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434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collection 	</a:t>
            </a:r>
            <a:r>
              <a:rPr sz="2400" dirty="0">
                <a:latin typeface="Times New Roman"/>
                <a:cs typeface="Times New Roman"/>
              </a:rPr>
              <a:t>equipment,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media.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50100"/>
              </a:lnSpc>
              <a:spcBef>
                <a:spcPts val="610"/>
              </a:spcBef>
              <a:buSzPct val="75000"/>
              <a:buFont typeface="Arial MT"/>
              <a:buChar char="•"/>
              <a:tabLst>
                <a:tab pos="355600" algn="l"/>
                <a:tab pos="423545" algn="l"/>
              </a:tabLst>
            </a:pPr>
            <a:r>
              <a:rPr sz="2400" dirty="0">
                <a:latin typeface="Times New Roman"/>
                <a:cs typeface="Times New Roman"/>
              </a:rPr>
              <a:t>	This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technology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great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boost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industry,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makes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huge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information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re-</a:t>
            </a:r>
            <a:r>
              <a:rPr sz="2400" dirty="0">
                <a:latin typeface="Times New Roman"/>
                <a:cs typeface="Times New Roman"/>
              </a:rPr>
              <a:t>positories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available.</a:t>
            </a:r>
            <a:endParaRPr sz="2400">
              <a:latin typeface="Times New Roman"/>
              <a:cs typeface="Times New Roman"/>
            </a:endParaRPr>
          </a:p>
          <a:p>
            <a:pPr marL="353060" marR="796290" indent="-340995" algn="just">
              <a:lnSpc>
                <a:spcPct val="147600"/>
              </a:lnSpc>
              <a:spcBef>
                <a:spcPts val="115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availability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huge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repositories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 	</a:t>
            </a:r>
            <a:r>
              <a:rPr sz="2400" dirty="0">
                <a:latin typeface="Times New Roman"/>
                <a:cs typeface="Times New Roman"/>
              </a:rPr>
              <a:t>explosion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(data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rich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knowledge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poor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situation).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12368"/>
            <a:ext cx="685038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70" dirty="0">
                <a:latin typeface="Times New Roman"/>
                <a:cs typeface="Times New Roman"/>
              </a:rPr>
              <a:t>We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drowning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starving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knowledge!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159" y="4002938"/>
            <a:ext cx="8091170" cy="2496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5080" indent="-33972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So,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Powerful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versatile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badly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uncover 	</a:t>
            </a:r>
            <a:r>
              <a:rPr sz="2000" dirty="0">
                <a:latin typeface="Times New Roman"/>
                <a:cs typeface="Times New Roman"/>
              </a:rPr>
              <a:t>valuable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tremendous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transform 	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organized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knowledge.</a:t>
            </a:r>
            <a:endParaRPr sz="2000">
              <a:latin typeface="Times New Roman"/>
              <a:cs typeface="Times New Roman"/>
            </a:endParaRPr>
          </a:p>
          <a:p>
            <a:pPr marL="2757170">
              <a:lnSpc>
                <a:spcPct val="100000"/>
              </a:lnSpc>
              <a:spcBef>
                <a:spcPts val="2140"/>
              </a:spcBef>
              <a:tabLst>
                <a:tab pos="733107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Necessity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Mother</a:t>
            </a:r>
            <a:r>
              <a:rPr sz="20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invention!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plato</a:t>
            </a:r>
            <a:endParaRPr sz="2000">
              <a:latin typeface="Times New Roman"/>
              <a:cs typeface="Times New Roman"/>
            </a:endParaRPr>
          </a:p>
          <a:p>
            <a:pPr marL="414655" indent="-40195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41465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necessity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birth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292" y="1504188"/>
            <a:ext cx="3268979" cy="24780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5</a:t>
            </a:fld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4323" y="186004"/>
            <a:ext cx="49568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dirty="0">
                <a:solidFill>
                  <a:srgbClr val="933735"/>
                </a:solidFill>
                <a:latin typeface="Times New Roman"/>
                <a:cs typeface="Times New Roman"/>
              </a:rPr>
              <a:t>What</a:t>
            </a:r>
            <a:r>
              <a:rPr sz="4400" b="0" spc="-50" dirty="0">
                <a:solidFill>
                  <a:srgbClr val="933735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933735"/>
                </a:solidFill>
                <a:latin typeface="Times New Roman"/>
                <a:cs typeface="Times New Roman"/>
              </a:rPr>
              <a:t>is</a:t>
            </a:r>
            <a:r>
              <a:rPr sz="4400" b="0" spc="-90" dirty="0">
                <a:solidFill>
                  <a:srgbClr val="933735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933735"/>
                </a:solidFill>
                <a:latin typeface="Times New Roman"/>
                <a:cs typeface="Times New Roman"/>
              </a:rPr>
              <a:t>Data</a:t>
            </a:r>
            <a:r>
              <a:rPr sz="4400" b="0" spc="-170" dirty="0">
                <a:solidFill>
                  <a:srgbClr val="933735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933735"/>
                </a:solidFill>
                <a:latin typeface="Times New Roman"/>
                <a:cs typeface="Times New Roman"/>
              </a:rPr>
              <a:t>Mining?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572" y="5253228"/>
            <a:ext cx="9153525" cy="1001394"/>
            <a:chOff x="-4572" y="5253228"/>
            <a:chExt cx="9153525" cy="1001394"/>
          </a:xfrm>
        </p:grpSpPr>
        <p:sp>
          <p:nvSpPr>
            <p:cNvPr id="4" name="object 4"/>
            <p:cNvSpPr/>
            <p:nvPr/>
          </p:nvSpPr>
          <p:spPr>
            <a:xfrm>
              <a:off x="0" y="5257800"/>
              <a:ext cx="9144000" cy="992505"/>
            </a:xfrm>
            <a:custGeom>
              <a:avLst/>
              <a:gdLst/>
              <a:ahLst/>
              <a:cxnLst/>
              <a:rect l="l" t="t" r="r" b="b"/>
              <a:pathLst>
                <a:path w="9144000" h="992504">
                  <a:moveTo>
                    <a:pt x="9144000" y="0"/>
                  </a:moveTo>
                  <a:lnTo>
                    <a:pt x="0" y="0"/>
                  </a:lnTo>
                  <a:lnTo>
                    <a:pt x="0" y="992124"/>
                  </a:lnTo>
                  <a:lnTo>
                    <a:pt x="9144000" y="992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257800"/>
              <a:ext cx="9144000" cy="992505"/>
            </a:xfrm>
            <a:custGeom>
              <a:avLst/>
              <a:gdLst/>
              <a:ahLst/>
              <a:cxnLst/>
              <a:rect l="l" t="t" r="r" b="b"/>
              <a:pathLst>
                <a:path w="9144000" h="992504">
                  <a:moveTo>
                    <a:pt x="0" y="992124"/>
                  </a:moveTo>
                  <a:lnTo>
                    <a:pt x="9144000" y="9921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921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1000" y="5330749"/>
            <a:ext cx="8161273" cy="69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Extraction</a:t>
            </a:r>
            <a:r>
              <a:rPr spc="-1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interesting</a:t>
            </a:r>
            <a:r>
              <a:rPr spc="-1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</a:t>
            </a:r>
            <a:r>
              <a:rPr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non-</a:t>
            </a:r>
            <a:r>
              <a:rPr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trivial,</a:t>
            </a:r>
            <a:r>
              <a:rPr u="heavy" spc="-9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implicit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100" dirty="0">
                <a:latin typeface="Arial MT"/>
                <a:cs typeface="Arial MT"/>
              </a:rPr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previously</a:t>
            </a:r>
            <a:r>
              <a:rPr u="heavy" spc="-10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unknown</a:t>
            </a:r>
            <a:r>
              <a:rPr spc="3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and </a:t>
            </a:r>
            <a:r>
              <a:rPr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potentially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useful)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patterns</a:t>
            </a:r>
            <a:r>
              <a:rPr spc="-1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knowledge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from</a:t>
            </a:r>
            <a:r>
              <a:rPr spc="-1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huge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amount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3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data.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983" y="1321308"/>
            <a:ext cx="3017519" cy="32461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2523" y="992124"/>
            <a:ext cx="3808476" cy="35935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32418" y="6609689"/>
            <a:ext cx="10985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solidFill>
                  <a:srgbClr val="878787"/>
                </a:solidFill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7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6190" y="5918"/>
            <a:ext cx="15392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Arial"/>
                <a:cs typeface="Arial"/>
              </a:rPr>
              <a:t>Contd...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459784"/>
            <a:ext cx="8086090" cy="4496435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89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mining: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misnomer?</a:t>
            </a:r>
            <a:endParaRPr sz="24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Scenario: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Remember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gold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rocks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1075"/>
              </a:spcBef>
            </a:pPr>
            <a:r>
              <a:rPr sz="1800" dirty="0">
                <a:latin typeface="Times New Roman"/>
                <a:cs typeface="Times New Roman"/>
              </a:rPr>
              <a:t>referred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gold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mining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rather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rock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sand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mining.</a:t>
            </a:r>
            <a:endParaRPr sz="1800">
              <a:latin typeface="Times New Roman"/>
              <a:cs typeface="Times New Roman"/>
            </a:endParaRPr>
          </a:p>
          <a:p>
            <a:pPr marL="753110" marR="187325" indent="-283845">
              <a:lnSpc>
                <a:spcPct val="150100"/>
              </a:lnSpc>
              <a:spcBef>
                <a:spcPts val="36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Thus,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should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appropriately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“knowledge mining”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emphasis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large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 marL="753110" indent="-283210">
              <a:lnSpc>
                <a:spcPct val="100000"/>
              </a:lnSpc>
              <a:spcBef>
                <a:spcPts val="191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But,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unfortunately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somewhat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“data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mining”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4320"/>
              </a:lnSpc>
              <a:spcBef>
                <a:spcPts val="254"/>
              </a:spcBef>
              <a:buFont typeface="Arial MT"/>
              <a:buChar char="•"/>
              <a:tabLst>
                <a:tab pos="355600" algn="l"/>
                <a:tab pos="1142365" algn="l"/>
                <a:tab pos="1476375" algn="l"/>
                <a:tab pos="2180590" algn="l"/>
                <a:tab pos="2707005" algn="l"/>
                <a:tab pos="3342640" algn="l"/>
                <a:tab pos="4723765" algn="l"/>
                <a:tab pos="5085080" algn="l"/>
                <a:tab pos="5753100" algn="l"/>
                <a:tab pos="623379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pattern 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set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transform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into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understandable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065"/>
              </a:spcBef>
            </a:pP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further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27277"/>
            <a:ext cx="6454775" cy="4445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Alternative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names</a:t>
            </a:r>
            <a:r>
              <a:rPr sz="26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6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6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mining:</a:t>
            </a:r>
            <a:endParaRPr sz="26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889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spc="-10" dirty="0">
                <a:latin typeface="Times New Roman"/>
                <a:cs typeface="Times New Roman"/>
              </a:rPr>
              <a:t>Knowledge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discovery(mining)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databases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(KDD)</a:t>
            </a:r>
            <a:endParaRPr sz="2200">
              <a:latin typeface="Times New Roman"/>
              <a:cs typeface="Times New Roman"/>
            </a:endParaRPr>
          </a:p>
          <a:p>
            <a:pPr marL="826769" lvl="1" indent="-356870">
              <a:lnSpc>
                <a:spcPct val="100000"/>
              </a:lnSpc>
              <a:spcBef>
                <a:spcPts val="1935"/>
              </a:spcBef>
              <a:buFont typeface="Arial MT"/>
              <a:buChar char="–"/>
              <a:tabLst>
                <a:tab pos="826769" algn="l"/>
              </a:tabLst>
            </a:pPr>
            <a:r>
              <a:rPr sz="2200" dirty="0">
                <a:latin typeface="Times New Roman"/>
                <a:cs typeface="Times New Roman"/>
              </a:rPr>
              <a:t>knowledge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extraction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90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spc="-10" dirty="0">
                <a:latin typeface="Times New Roman"/>
                <a:cs typeface="Times New Roman"/>
              </a:rPr>
              <a:t>data/pattern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90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archeology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90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dredging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789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spc="-10" dirty="0">
                <a:latin typeface="Times New Roman"/>
                <a:cs typeface="Times New Roman"/>
              </a:rPr>
              <a:t>information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harvesting</a:t>
            </a:r>
            <a:endParaRPr sz="2200">
              <a:latin typeface="Times New Roman"/>
              <a:cs typeface="Times New Roman"/>
            </a:endParaRPr>
          </a:p>
          <a:p>
            <a:pPr marL="826769" lvl="1" indent="-356870">
              <a:lnSpc>
                <a:spcPct val="100000"/>
              </a:lnSpc>
              <a:spcBef>
                <a:spcPts val="1900"/>
              </a:spcBef>
              <a:buFont typeface="Arial MT"/>
              <a:buChar char="–"/>
              <a:tabLst>
                <a:tab pos="826769" algn="l"/>
              </a:tabLst>
            </a:pPr>
            <a:r>
              <a:rPr sz="2200" dirty="0">
                <a:latin typeface="Times New Roman"/>
                <a:cs typeface="Times New Roman"/>
              </a:rPr>
              <a:t>business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intelligence,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9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30021"/>
            <a:ext cx="6201410" cy="4511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sz="2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properties</a:t>
            </a:r>
            <a:r>
              <a:rPr sz="28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mining</a:t>
            </a:r>
            <a:r>
              <a:rPr sz="28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are:</a:t>
            </a:r>
            <a:endParaRPr sz="28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212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Automatic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patterns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E.g.,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basket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analysis.</a:t>
            </a:r>
            <a:endParaRPr sz="20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1885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Prediction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likely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outcomes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84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E.g.,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weather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forecasting</a:t>
            </a:r>
            <a:endParaRPr sz="20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188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Creation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actionable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information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81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E.g.,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Police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investigation</a:t>
            </a:r>
            <a:endParaRPr sz="20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188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3114" y="184175"/>
            <a:ext cx="40138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Data</a:t>
            </a:r>
            <a:r>
              <a:rPr sz="4000" spc="-114" dirty="0"/>
              <a:t> </a:t>
            </a:r>
            <a:r>
              <a:rPr sz="4000" dirty="0"/>
              <a:t>mining</a:t>
            </a:r>
            <a:r>
              <a:rPr sz="4000" spc="-75" dirty="0"/>
              <a:t> </a:t>
            </a:r>
            <a:r>
              <a:rPr sz="4000" dirty="0"/>
              <a:t>is</a:t>
            </a:r>
            <a:r>
              <a:rPr sz="4000" spc="-135" dirty="0"/>
              <a:t> </a:t>
            </a:r>
            <a:r>
              <a:rPr sz="4000" spc="-25" dirty="0">
                <a:solidFill>
                  <a:srgbClr val="FF0000"/>
                </a:solidFill>
              </a:rPr>
              <a:t>not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852540" y="709294"/>
            <a:ext cx="708660" cy="78105"/>
          </a:xfrm>
          <a:custGeom>
            <a:avLst/>
            <a:gdLst/>
            <a:ahLst/>
            <a:cxnLst/>
            <a:rect l="l" t="t" r="r" b="b"/>
            <a:pathLst>
              <a:path w="708659" h="78104">
                <a:moveTo>
                  <a:pt x="708660" y="0"/>
                </a:moveTo>
                <a:lnTo>
                  <a:pt x="0" y="0"/>
                </a:lnTo>
                <a:lnTo>
                  <a:pt x="0" y="77724"/>
                </a:lnTo>
                <a:lnTo>
                  <a:pt x="708660" y="77724"/>
                </a:lnTo>
                <a:lnTo>
                  <a:pt x="708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6820" y="1541154"/>
            <a:ext cx="2920706" cy="44432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2359" y="1315034"/>
            <a:ext cx="4925695" cy="4135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0" indent="-106680">
              <a:lnSpc>
                <a:spcPct val="100000"/>
              </a:lnSpc>
              <a:spcBef>
                <a:spcPts val="95"/>
              </a:spcBef>
              <a:buSzPct val="90909"/>
              <a:buFont typeface="Arial MT"/>
              <a:buChar char="•"/>
              <a:tabLst>
                <a:tab pos="107950" algn="l"/>
              </a:tabLst>
            </a:pPr>
            <a:r>
              <a:rPr sz="2200" spc="-30" dirty="0">
                <a:latin typeface="Times New Roman"/>
                <a:cs typeface="Times New Roman"/>
              </a:rPr>
              <a:t>Brute-</a:t>
            </a:r>
            <a:r>
              <a:rPr sz="2200" dirty="0">
                <a:latin typeface="Times New Roman"/>
                <a:cs typeface="Times New Roman"/>
              </a:rPr>
              <a:t>force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crunching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bulk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07950" indent="-106680">
              <a:lnSpc>
                <a:spcPct val="100000"/>
              </a:lnSpc>
              <a:buSzPct val="90909"/>
              <a:buFont typeface="Arial MT"/>
              <a:buChar char="•"/>
              <a:tabLst>
                <a:tab pos="107950" algn="l"/>
              </a:tabLst>
            </a:pPr>
            <a:r>
              <a:rPr sz="2200" dirty="0">
                <a:latin typeface="Times New Roman"/>
                <a:cs typeface="Times New Roman"/>
              </a:rPr>
              <a:t>“Blind”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algorithms.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08585" indent="-103505">
              <a:lnSpc>
                <a:spcPct val="100000"/>
              </a:lnSpc>
              <a:buSzPct val="88636"/>
              <a:buFont typeface="Arial MT"/>
              <a:buChar char="•"/>
              <a:tabLst>
                <a:tab pos="108585" algn="l"/>
              </a:tabLst>
            </a:pPr>
            <a:r>
              <a:rPr sz="2200" dirty="0">
                <a:latin typeface="Times New Roman"/>
                <a:cs typeface="Times New Roman"/>
              </a:rPr>
              <a:t>Going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non-</a:t>
            </a:r>
            <a:r>
              <a:rPr sz="2200" dirty="0">
                <a:latin typeface="Times New Roman"/>
                <a:cs typeface="Times New Roman"/>
              </a:rPr>
              <a:t>existential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relationships.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07950" indent="-106680">
              <a:lnSpc>
                <a:spcPct val="100000"/>
              </a:lnSpc>
              <a:buSzPct val="90909"/>
              <a:buFont typeface="Arial MT"/>
              <a:buChar char="•"/>
              <a:tabLst>
                <a:tab pos="107950" algn="l"/>
              </a:tabLst>
            </a:pPr>
            <a:r>
              <a:rPr sz="2200" dirty="0">
                <a:latin typeface="Times New Roman"/>
                <a:cs typeface="Times New Roman"/>
              </a:rPr>
              <a:t>Presenting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ways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08585" indent="-103505">
              <a:lnSpc>
                <a:spcPct val="100000"/>
              </a:lnSpc>
              <a:buSzPct val="88636"/>
              <a:buFont typeface="Arial MT"/>
              <a:buChar char="•"/>
              <a:tabLst>
                <a:tab pos="108585" algn="l"/>
                <a:tab pos="1119505" algn="l"/>
              </a:tabLst>
            </a:pPr>
            <a:r>
              <a:rPr sz="2200" spc="-10" dirty="0">
                <a:latin typeface="Times New Roman"/>
                <a:cs typeface="Times New Roman"/>
              </a:rPr>
              <a:t>Queries</a:t>
            </a:r>
            <a:r>
              <a:rPr sz="2200" dirty="0">
                <a:latin typeface="Times New Roman"/>
                <a:cs typeface="Times New Roman"/>
              </a:rPr>
              <a:t>	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DM.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08585" indent="-103505">
              <a:lnSpc>
                <a:spcPct val="100000"/>
              </a:lnSpc>
              <a:buSzPct val="88636"/>
              <a:buFont typeface="Arial MT"/>
              <a:buChar char="•"/>
              <a:tabLst>
                <a:tab pos="108585" algn="l"/>
              </a:tabLst>
            </a:pP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magic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turn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gold.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32038" y="6424676"/>
            <a:ext cx="19113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25" dirty="0">
                <a:solidFill>
                  <a:srgbClr val="878787"/>
                </a:solidFill>
                <a:latin typeface="Arial MT"/>
                <a:cs typeface="Arial MT"/>
              </a:rPr>
              <a:t>18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30021"/>
            <a:ext cx="686879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Mining: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Confluence</a:t>
            </a:r>
            <a:r>
              <a:rPr sz="24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 Multiple</a:t>
            </a:r>
            <a:r>
              <a:rPr sz="24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Disciplines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24237" y="3195637"/>
            <a:ext cx="2295525" cy="1075055"/>
            <a:chOff x="3424237" y="3195637"/>
            <a:chExt cx="2295525" cy="1075055"/>
          </a:xfrm>
        </p:grpSpPr>
        <p:sp>
          <p:nvSpPr>
            <p:cNvPr id="6" name="object 6"/>
            <p:cNvSpPr/>
            <p:nvPr/>
          </p:nvSpPr>
          <p:spPr>
            <a:xfrm>
              <a:off x="3429000" y="3200400"/>
              <a:ext cx="2286000" cy="1065530"/>
            </a:xfrm>
            <a:custGeom>
              <a:avLst/>
              <a:gdLst/>
              <a:ahLst/>
              <a:cxnLst/>
              <a:rect l="l" t="t" r="r" b="b"/>
              <a:pathLst>
                <a:path w="2286000" h="1065529">
                  <a:moveTo>
                    <a:pt x="1143000" y="0"/>
                  </a:moveTo>
                  <a:lnTo>
                    <a:pt x="1078102" y="888"/>
                  </a:lnTo>
                  <a:lnTo>
                    <a:pt x="1014222" y="3301"/>
                  </a:lnTo>
                  <a:lnTo>
                    <a:pt x="951357" y="7492"/>
                  </a:lnTo>
                  <a:lnTo>
                    <a:pt x="889635" y="13080"/>
                  </a:lnTo>
                  <a:lnTo>
                    <a:pt x="829183" y="20320"/>
                  </a:lnTo>
                  <a:lnTo>
                    <a:pt x="770001" y="28955"/>
                  </a:lnTo>
                  <a:lnTo>
                    <a:pt x="712215" y="39115"/>
                  </a:lnTo>
                  <a:lnTo>
                    <a:pt x="656082" y="50546"/>
                  </a:lnTo>
                  <a:lnTo>
                    <a:pt x="601472" y="63373"/>
                  </a:lnTo>
                  <a:lnTo>
                    <a:pt x="548639" y="77597"/>
                  </a:lnTo>
                  <a:lnTo>
                    <a:pt x="497586" y="92963"/>
                  </a:lnTo>
                  <a:lnTo>
                    <a:pt x="448563" y="109474"/>
                  </a:lnTo>
                  <a:lnTo>
                    <a:pt x="401447" y="127253"/>
                  </a:lnTo>
                  <a:lnTo>
                    <a:pt x="356488" y="146176"/>
                  </a:lnTo>
                  <a:lnTo>
                    <a:pt x="313689" y="166115"/>
                  </a:lnTo>
                  <a:lnTo>
                    <a:pt x="273176" y="187071"/>
                  </a:lnTo>
                  <a:lnTo>
                    <a:pt x="235076" y="209041"/>
                  </a:lnTo>
                  <a:lnTo>
                    <a:pt x="199516" y="231901"/>
                  </a:lnTo>
                  <a:lnTo>
                    <a:pt x="166497" y="255650"/>
                  </a:lnTo>
                  <a:lnTo>
                    <a:pt x="136144" y="280288"/>
                  </a:lnTo>
                  <a:lnTo>
                    <a:pt x="83947" y="331850"/>
                  </a:lnTo>
                  <a:lnTo>
                    <a:pt x="43561" y="386334"/>
                  </a:lnTo>
                  <a:lnTo>
                    <a:pt x="16001" y="443356"/>
                  </a:lnTo>
                  <a:lnTo>
                    <a:pt x="1777" y="502412"/>
                  </a:lnTo>
                  <a:lnTo>
                    <a:pt x="0" y="532638"/>
                  </a:lnTo>
                  <a:lnTo>
                    <a:pt x="1777" y="562863"/>
                  </a:lnTo>
                  <a:lnTo>
                    <a:pt x="16001" y="621919"/>
                  </a:lnTo>
                  <a:lnTo>
                    <a:pt x="43561" y="678942"/>
                  </a:lnTo>
                  <a:lnTo>
                    <a:pt x="83947" y="733425"/>
                  </a:lnTo>
                  <a:lnTo>
                    <a:pt x="136144" y="784987"/>
                  </a:lnTo>
                  <a:lnTo>
                    <a:pt x="166497" y="809625"/>
                  </a:lnTo>
                  <a:lnTo>
                    <a:pt x="199516" y="833374"/>
                  </a:lnTo>
                  <a:lnTo>
                    <a:pt x="235076" y="856233"/>
                  </a:lnTo>
                  <a:lnTo>
                    <a:pt x="273176" y="878205"/>
                  </a:lnTo>
                  <a:lnTo>
                    <a:pt x="313689" y="899160"/>
                  </a:lnTo>
                  <a:lnTo>
                    <a:pt x="356488" y="919099"/>
                  </a:lnTo>
                  <a:lnTo>
                    <a:pt x="401447" y="938022"/>
                  </a:lnTo>
                  <a:lnTo>
                    <a:pt x="448563" y="955801"/>
                  </a:lnTo>
                  <a:lnTo>
                    <a:pt x="497586" y="972312"/>
                  </a:lnTo>
                  <a:lnTo>
                    <a:pt x="548639" y="987679"/>
                  </a:lnTo>
                  <a:lnTo>
                    <a:pt x="601472" y="1001902"/>
                  </a:lnTo>
                  <a:lnTo>
                    <a:pt x="656082" y="1014730"/>
                  </a:lnTo>
                  <a:lnTo>
                    <a:pt x="712215" y="1026160"/>
                  </a:lnTo>
                  <a:lnTo>
                    <a:pt x="770001" y="1036319"/>
                  </a:lnTo>
                  <a:lnTo>
                    <a:pt x="829183" y="1044956"/>
                  </a:lnTo>
                  <a:lnTo>
                    <a:pt x="889635" y="1052195"/>
                  </a:lnTo>
                  <a:lnTo>
                    <a:pt x="951357" y="1057783"/>
                  </a:lnTo>
                  <a:lnTo>
                    <a:pt x="1014222" y="1061974"/>
                  </a:lnTo>
                  <a:lnTo>
                    <a:pt x="1078102" y="1064387"/>
                  </a:lnTo>
                  <a:lnTo>
                    <a:pt x="1143000" y="1065276"/>
                  </a:lnTo>
                  <a:lnTo>
                    <a:pt x="1207897" y="1064387"/>
                  </a:lnTo>
                  <a:lnTo>
                    <a:pt x="1271777" y="1061974"/>
                  </a:lnTo>
                  <a:lnTo>
                    <a:pt x="1334642" y="1057783"/>
                  </a:lnTo>
                  <a:lnTo>
                    <a:pt x="1396364" y="1052195"/>
                  </a:lnTo>
                  <a:lnTo>
                    <a:pt x="1456816" y="1044956"/>
                  </a:lnTo>
                  <a:lnTo>
                    <a:pt x="1515999" y="1036319"/>
                  </a:lnTo>
                  <a:lnTo>
                    <a:pt x="1573784" y="1026160"/>
                  </a:lnTo>
                  <a:lnTo>
                    <a:pt x="1629917" y="1014730"/>
                  </a:lnTo>
                  <a:lnTo>
                    <a:pt x="1684527" y="1001902"/>
                  </a:lnTo>
                  <a:lnTo>
                    <a:pt x="1737360" y="987679"/>
                  </a:lnTo>
                  <a:lnTo>
                    <a:pt x="1788414" y="972312"/>
                  </a:lnTo>
                  <a:lnTo>
                    <a:pt x="1837436" y="955801"/>
                  </a:lnTo>
                  <a:lnTo>
                    <a:pt x="1884552" y="938022"/>
                  </a:lnTo>
                  <a:lnTo>
                    <a:pt x="1929511" y="919099"/>
                  </a:lnTo>
                  <a:lnTo>
                    <a:pt x="1972310" y="899160"/>
                  </a:lnTo>
                  <a:lnTo>
                    <a:pt x="2012823" y="878205"/>
                  </a:lnTo>
                  <a:lnTo>
                    <a:pt x="2050923" y="856233"/>
                  </a:lnTo>
                  <a:lnTo>
                    <a:pt x="2086483" y="833374"/>
                  </a:lnTo>
                  <a:lnTo>
                    <a:pt x="2119503" y="809625"/>
                  </a:lnTo>
                  <a:lnTo>
                    <a:pt x="2149855" y="784987"/>
                  </a:lnTo>
                  <a:lnTo>
                    <a:pt x="2202053" y="733425"/>
                  </a:lnTo>
                  <a:lnTo>
                    <a:pt x="2242439" y="678942"/>
                  </a:lnTo>
                  <a:lnTo>
                    <a:pt x="2269998" y="621919"/>
                  </a:lnTo>
                  <a:lnTo>
                    <a:pt x="2284222" y="562863"/>
                  </a:lnTo>
                  <a:lnTo>
                    <a:pt x="2286000" y="532638"/>
                  </a:lnTo>
                  <a:lnTo>
                    <a:pt x="2284222" y="502412"/>
                  </a:lnTo>
                  <a:lnTo>
                    <a:pt x="2269998" y="443356"/>
                  </a:lnTo>
                  <a:lnTo>
                    <a:pt x="2242439" y="386334"/>
                  </a:lnTo>
                  <a:lnTo>
                    <a:pt x="2202053" y="331850"/>
                  </a:lnTo>
                  <a:lnTo>
                    <a:pt x="2149855" y="280288"/>
                  </a:lnTo>
                  <a:lnTo>
                    <a:pt x="2119503" y="255650"/>
                  </a:lnTo>
                  <a:lnTo>
                    <a:pt x="2086483" y="231901"/>
                  </a:lnTo>
                  <a:lnTo>
                    <a:pt x="2050923" y="209041"/>
                  </a:lnTo>
                  <a:lnTo>
                    <a:pt x="2012823" y="187071"/>
                  </a:lnTo>
                  <a:lnTo>
                    <a:pt x="1972310" y="166115"/>
                  </a:lnTo>
                  <a:lnTo>
                    <a:pt x="1929511" y="146176"/>
                  </a:lnTo>
                  <a:lnTo>
                    <a:pt x="1884552" y="127253"/>
                  </a:lnTo>
                  <a:lnTo>
                    <a:pt x="1837436" y="109474"/>
                  </a:lnTo>
                  <a:lnTo>
                    <a:pt x="1788414" y="92963"/>
                  </a:lnTo>
                  <a:lnTo>
                    <a:pt x="1737360" y="77597"/>
                  </a:lnTo>
                  <a:lnTo>
                    <a:pt x="1684527" y="63373"/>
                  </a:lnTo>
                  <a:lnTo>
                    <a:pt x="1629917" y="50546"/>
                  </a:lnTo>
                  <a:lnTo>
                    <a:pt x="1573784" y="39115"/>
                  </a:lnTo>
                  <a:lnTo>
                    <a:pt x="1515999" y="28955"/>
                  </a:lnTo>
                  <a:lnTo>
                    <a:pt x="1456816" y="20320"/>
                  </a:lnTo>
                  <a:lnTo>
                    <a:pt x="1396364" y="13080"/>
                  </a:lnTo>
                  <a:lnTo>
                    <a:pt x="1334642" y="7492"/>
                  </a:lnTo>
                  <a:lnTo>
                    <a:pt x="1271777" y="3301"/>
                  </a:lnTo>
                  <a:lnTo>
                    <a:pt x="1207897" y="888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29000" y="3200400"/>
              <a:ext cx="2286000" cy="1065530"/>
            </a:xfrm>
            <a:custGeom>
              <a:avLst/>
              <a:gdLst/>
              <a:ahLst/>
              <a:cxnLst/>
              <a:rect l="l" t="t" r="r" b="b"/>
              <a:pathLst>
                <a:path w="2286000" h="1065529">
                  <a:moveTo>
                    <a:pt x="0" y="532638"/>
                  </a:moveTo>
                  <a:lnTo>
                    <a:pt x="7112" y="472567"/>
                  </a:lnTo>
                  <a:lnTo>
                    <a:pt x="28194" y="414527"/>
                  </a:lnTo>
                  <a:lnTo>
                    <a:pt x="62229" y="358775"/>
                  </a:lnTo>
                  <a:lnTo>
                    <a:pt x="108585" y="305688"/>
                  </a:lnTo>
                  <a:lnTo>
                    <a:pt x="166497" y="255650"/>
                  </a:lnTo>
                  <a:lnTo>
                    <a:pt x="199516" y="231901"/>
                  </a:lnTo>
                  <a:lnTo>
                    <a:pt x="235076" y="209041"/>
                  </a:lnTo>
                  <a:lnTo>
                    <a:pt x="273176" y="187071"/>
                  </a:lnTo>
                  <a:lnTo>
                    <a:pt x="313689" y="166115"/>
                  </a:lnTo>
                  <a:lnTo>
                    <a:pt x="356488" y="146176"/>
                  </a:lnTo>
                  <a:lnTo>
                    <a:pt x="401447" y="127253"/>
                  </a:lnTo>
                  <a:lnTo>
                    <a:pt x="448563" y="109474"/>
                  </a:lnTo>
                  <a:lnTo>
                    <a:pt x="497586" y="92963"/>
                  </a:lnTo>
                  <a:lnTo>
                    <a:pt x="548639" y="77597"/>
                  </a:lnTo>
                  <a:lnTo>
                    <a:pt x="601472" y="63373"/>
                  </a:lnTo>
                  <a:lnTo>
                    <a:pt x="656082" y="50546"/>
                  </a:lnTo>
                  <a:lnTo>
                    <a:pt x="712215" y="39115"/>
                  </a:lnTo>
                  <a:lnTo>
                    <a:pt x="770001" y="28955"/>
                  </a:lnTo>
                  <a:lnTo>
                    <a:pt x="829183" y="20320"/>
                  </a:lnTo>
                  <a:lnTo>
                    <a:pt x="889635" y="13080"/>
                  </a:lnTo>
                  <a:lnTo>
                    <a:pt x="951357" y="7492"/>
                  </a:lnTo>
                  <a:lnTo>
                    <a:pt x="1014222" y="3301"/>
                  </a:lnTo>
                  <a:lnTo>
                    <a:pt x="1078102" y="888"/>
                  </a:lnTo>
                  <a:lnTo>
                    <a:pt x="1143000" y="0"/>
                  </a:lnTo>
                  <a:lnTo>
                    <a:pt x="1207897" y="888"/>
                  </a:lnTo>
                  <a:lnTo>
                    <a:pt x="1271777" y="3301"/>
                  </a:lnTo>
                  <a:lnTo>
                    <a:pt x="1334642" y="7492"/>
                  </a:lnTo>
                  <a:lnTo>
                    <a:pt x="1396364" y="13080"/>
                  </a:lnTo>
                  <a:lnTo>
                    <a:pt x="1456816" y="20320"/>
                  </a:lnTo>
                  <a:lnTo>
                    <a:pt x="1515999" y="28955"/>
                  </a:lnTo>
                  <a:lnTo>
                    <a:pt x="1573784" y="39115"/>
                  </a:lnTo>
                  <a:lnTo>
                    <a:pt x="1629917" y="50546"/>
                  </a:lnTo>
                  <a:lnTo>
                    <a:pt x="1684527" y="63373"/>
                  </a:lnTo>
                  <a:lnTo>
                    <a:pt x="1737360" y="77597"/>
                  </a:lnTo>
                  <a:lnTo>
                    <a:pt x="1788414" y="92963"/>
                  </a:lnTo>
                  <a:lnTo>
                    <a:pt x="1837436" y="109474"/>
                  </a:lnTo>
                  <a:lnTo>
                    <a:pt x="1884552" y="127253"/>
                  </a:lnTo>
                  <a:lnTo>
                    <a:pt x="1929511" y="146176"/>
                  </a:lnTo>
                  <a:lnTo>
                    <a:pt x="1972310" y="166115"/>
                  </a:lnTo>
                  <a:lnTo>
                    <a:pt x="2012823" y="187071"/>
                  </a:lnTo>
                  <a:lnTo>
                    <a:pt x="2050923" y="209041"/>
                  </a:lnTo>
                  <a:lnTo>
                    <a:pt x="2086483" y="231901"/>
                  </a:lnTo>
                  <a:lnTo>
                    <a:pt x="2119503" y="255650"/>
                  </a:lnTo>
                  <a:lnTo>
                    <a:pt x="2149855" y="280288"/>
                  </a:lnTo>
                  <a:lnTo>
                    <a:pt x="2202053" y="331850"/>
                  </a:lnTo>
                  <a:lnTo>
                    <a:pt x="2242439" y="386334"/>
                  </a:lnTo>
                  <a:lnTo>
                    <a:pt x="2269998" y="443356"/>
                  </a:lnTo>
                  <a:lnTo>
                    <a:pt x="2284222" y="502412"/>
                  </a:lnTo>
                  <a:lnTo>
                    <a:pt x="2286000" y="532638"/>
                  </a:lnTo>
                  <a:lnTo>
                    <a:pt x="2284222" y="562863"/>
                  </a:lnTo>
                  <a:lnTo>
                    <a:pt x="2269998" y="621919"/>
                  </a:lnTo>
                  <a:lnTo>
                    <a:pt x="2242439" y="678942"/>
                  </a:lnTo>
                  <a:lnTo>
                    <a:pt x="2202053" y="733425"/>
                  </a:lnTo>
                  <a:lnTo>
                    <a:pt x="2149855" y="784987"/>
                  </a:lnTo>
                  <a:lnTo>
                    <a:pt x="2119503" y="809625"/>
                  </a:lnTo>
                  <a:lnTo>
                    <a:pt x="2086483" y="833374"/>
                  </a:lnTo>
                  <a:lnTo>
                    <a:pt x="2050923" y="856233"/>
                  </a:lnTo>
                  <a:lnTo>
                    <a:pt x="2012823" y="878205"/>
                  </a:lnTo>
                  <a:lnTo>
                    <a:pt x="1972310" y="899160"/>
                  </a:lnTo>
                  <a:lnTo>
                    <a:pt x="1929511" y="919099"/>
                  </a:lnTo>
                  <a:lnTo>
                    <a:pt x="1884552" y="938022"/>
                  </a:lnTo>
                  <a:lnTo>
                    <a:pt x="1837436" y="955801"/>
                  </a:lnTo>
                  <a:lnTo>
                    <a:pt x="1788414" y="972312"/>
                  </a:lnTo>
                  <a:lnTo>
                    <a:pt x="1737360" y="987679"/>
                  </a:lnTo>
                  <a:lnTo>
                    <a:pt x="1684527" y="1001902"/>
                  </a:lnTo>
                  <a:lnTo>
                    <a:pt x="1629917" y="1014730"/>
                  </a:lnTo>
                  <a:lnTo>
                    <a:pt x="1573784" y="1026160"/>
                  </a:lnTo>
                  <a:lnTo>
                    <a:pt x="1515999" y="1036319"/>
                  </a:lnTo>
                  <a:lnTo>
                    <a:pt x="1456816" y="1044956"/>
                  </a:lnTo>
                  <a:lnTo>
                    <a:pt x="1396364" y="1052195"/>
                  </a:lnTo>
                  <a:lnTo>
                    <a:pt x="1334642" y="1057783"/>
                  </a:lnTo>
                  <a:lnTo>
                    <a:pt x="1271777" y="1061974"/>
                  </a:lnTo>
                  <a:lnTo>
                    <a:pt x="1207897" y="1064387"/>
                  </a:lnTo>
                  <a:lnTo>
                    <a:pt x="1143000" y="1065276"/>
                  </a:lnTo>
                  <a:lnTo>
                    <a:pt x="1078102" y="1064387"/>
                  </a:lnTo>
                  <a:lnTo>
                    <a:pt x="1014222" y="1061974"/>
                  </a:lnTo>
                  <a:lnTo>
                    <a:pt x="951357" y="1057783"/>
                  </a:lnTo>
                  <a:lnTo>
                    <a:pt x="889635" y="1052195"/>
                  </a:lnTo>
                  <a:lnTo>
                    <a:pt x="829183" y="1044956"/>
                  </a:lnTo>
                  <a:lnTo>
                    <a:pt x="770001" y="1036319"/>
                  </a:lnTo>
                  <a:lnTo>
                    <a:pt x="712215" y="1026160"/>
                  </a:lnTo>
                  <a:lnTo>
                    <a:pt x="656082" y="1014730"/>
                  </a:lnTo>
                  <a:lnTo>
                    <a:pt x="601472" y="1001902"/>
                  </a:lnTo>
                  <a:lnTo>
                    <a:pt x="548639" y="987679"/>
                  </a:lnTo>
                  <a:lnTo>
                    <a:pt x="497586" y="972312"/>
                  </a:lnTo>
                  <a:lnTo>
                    <a:pt x="448563" y="955801"/>
                  </a:lnTo>
                  <a:lnTo>
                    <a:pt x="401447" y="938022"/>
                  </a:lnTo>
                  <a:lnTo>
                    <a:pt x="356488" y="919099"/>
                  </a:lnTo>
                  <a:lnTo>
                    <a:pt x="313689" y="899160"/>
                  </a:lnTo>
                  <a:lnTo>
                    <a:pt x="273176" y="878205"/>
                  </a:lnTo>
                  <a:lnTo>
                    <a:pt x="235076" y="856233"/>
                  </a:lnTo>
                  <a:lnTo>
                    <a:pt x="199516" y="833374"/>
                  </a:lnTo>
                  <a:lnTo>
                    <a:pt x="166497" y="809625"/>
                  </a:lnTo>
                  <a:lnTo>
                    <a:pt x="136144" y="784987"/>
                  </a:lnTo>
                  <a:lnTo>
                    <a:pt x="83947" y="733425"/>
                  </a:lnTo>
                  <a:lnTo>
                    <a:pt x="43561" y="678942"/>
                  </a:lnTo>
                  <a:lnTo>
                    <a:pt x="16001" y="621919"/>
                  </a:lnTo>
                  <a:lnTo>
                    <a:pt x="1777" y="562863"/>
                  </a:lnTo>
                  <a:lnTo>
                    <a:pt x="0" y="5326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43603" y="3569665"/>
            <a:ext cx="1259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Mining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73161" y="1595437"/>
            <a:ext cx="5344795" cy="3369945"/>
            <a:chOff x="1673161" y="1595437"/>
            <a:chExt cx="5344795" cy="3369945"/>
          </a:xfrm>
        </p:grpSpPr>
        <p:sp>
          <p:nvSpPr>
            <p:cNvPr id="10" name="object 10"/>
            <p:cNvSpPr/>
            <p:nvPr/>
          </p:nvSpPr>
          <p:spPr>
            <a:xfrm>
              <a:off x="2363724" y="2427731"/>
              <a:ext cx="4653915" cy="2537460"/>
            </a:xfrm>
            <a:custGeom>
              <a:avLst/>
              <a:gdLst/>
              <a:ahLst/>
              <a:cxnLst/>
              <a:rect l="l" t="t" r="r" b="b"/>
              <a:pathLst>
                <a:path w="4653915" h="2537460">
                  <a:moveTo>
                    <a:pt x="1066927" y="1230122"/>
                  </a:moveTo>
                  <a:lnTo>
                    <a:pt x="980059" y="1186688"/>
                  </a:lnTo>
                  <a:lnTo>
                    <a:pt x="980059" y="1215644"/>
                  </a:lnTo>
                  <a:lnTo>
                    <a:pt x="0" y="1215644"/>
                  </a:lnTo>
                  <a:lnTo>
                    <a:pt x="0" y="1244600"/>
                  </a:lnTo>
                  <a:lnTo>
                    <a:pt x="980059" y="1244600"/>
                  </a:lnTo>
                  <a:lnTo>
                    <a:pt x="980059" y="1273429"/>
                  </a:lnTo>
                  <a:lnTo>
                    <a:pt x="1066927" y="1230122"/>
                  </a:lnTo>
                  <a:close/>
                </a:path>
                <a:path w="4653915" h="2537460">
                  <a:moveTo>
                    <a:pt x="1676527" y="1762887"/>
                  </a:moveTo>
                  <a:lnTo>
                    <a:pt x="1579372" y="1760982"/>
                  </a:lnTo>
                  <a:lnTo>
                    <a:pt x="1591818" y="1787017"/>
                  </a:lnTo>
                  <a:lnTo>
                    <a:pt x="69977" y="2510790"/>
                  </a:lnTo>
                  <a:lnTo>
                    <a:pt x="82423" y="2536952"/>
                  </a:lnTo>
                  <a:lnTo>
                    <a:pt x="1604264" y="1813179"/>
                  </a:lnTo>
                  <a:lnTo>
                    <a:pt x="1616710" y="1839341"/>
                  </a:lnTo>
                  <a:lnTo>
                    <a:pt x="1676527" y="1762887"/>
                  </a:lnTo>
                  <a:close/>
                </a:path>
                <a:path w="4653915" h="2537460">
                  <a:moveTo>
                    <a:pt x="1828927" y="773430"/>
                  </a:moveTo>
                  <a:lnTo>
                    <a:pt x="1776095" y="692023"/>
                  </a:lnTo>
                  <a:lnTo>
                    <a:pt x="1761363" y="717042"/>
                  </a:lnTo>
                  <a:lnTo>
                    <a:pt x="540766" y="0"/>
                  </a:lnTo>
                  <a:lnTo>
                    <a:pt x="526034" y="24892"/>
                  </a:lnTo>
                  <a:lnTo>
                    <a:pt x="1746758" y="741934"/>
                  </a:lnTo>
                  <a:lnTo>
                    <a:pt x="1732026" y="766826"/>
                  </a:lnTo>
                  <a:lnTo>
                    <a:pt x="1828927" y="773430"/>
                  </a:lnTo>
                  <a:close/>
                </a:path>
                <a:path w="4653915" h="2537460">
                  <a:moveTo>
                    <a:pt x="3665855" y="24511"/>
                  </a:moveTo>
                  <a:lnTo>
                    <a:pt x="3649853" y="381"/>
                  </a:lnTo>
                  <a:lnTo>
                    <a:pt x="2578989" y="713359"/>
                  </a:lnTo>
                  <a:lnTo>
                    <a:pt x="2562987" y="689229"/>
                  </a:lnTo>
                  <a:lnTo>
                    <a:pt x="2514854" y="773430"/>
                  </a:lnTo>
                  <a:lnTo>
                    <a:pt x="2611247" y="761365"/>
                  </a:lnTo>
                  <a:lnTo>
                    <a:pt x="2595118" y="737489"/>
                  </a:lnTo>
                  <a:lnTo>
                    <a:pt x="3665855" y="24511"/>
                  </a:lnTo>
                  <a:close/>
                </a:path>
                <a:path w="4653915" h="2537460">
                  <a:moveTo>
                    <a:pt x="4419981" y="1215644"/>
                  </a:moveTo>
                  <a:lnTo>
                    <a:pt x="3439922" y="1215644"/>
                  </a:lnTo>
                  <a:lnTo>
                    <a:pt x="3439922" y="1186688"/>
                  </a:lnTo>
                  <a:lnTo>
                    <a:pt x="3353054" y="1230122"/>
                  </a:lnTo>
                  <a:lnTo>
                    <a:pt x="3439922" y="1273429"/>
                  </a:lnTo>
                  <a:lnTo>
                    <a:pt x="3439922" y="1244600"/>
                  </a:lnTo>
                  <a:lnTo>
                    <a:pt x="4419981" y="1244600"/>
                  </a:lnTo>
                  <a:lnTo>
                    <a:pt x="4419981" y="1215644"/>
                  </a:lnTo>
                  <a:close/>
                </a:path>
                <a:path w="4653915" h="2537460">
                  <a:moveTo>
                    <a:pt x="4653788" y="2510409"/>
                  </a:moveTo>
                  <a:lnTo>
                    <a:pt x="2753487" y="1780413"/>
                  </a:lnTo>
                  <a:lnTo>
                    <a:pt x="2763901" y="1753489"/>
                  </a:lnTo>
                  <a:lnTo>
                    <a:pt x="2667254" y="1762887"/>
                  </a:lnTo>
                  <a:lnTo>
                    <a:pt x="2732786" y="1834515"/>
                  </a:lnTo>
                  <a:lnTo>
                    <a:pt x="2743073" y="1807464"/>
                  </a:lnTo>
                  <a:lnTo>
                    <a:pt x="4643374" y="2537333"/>
                  </a:lnTo>
                  <a:lnTo>
                    <a:pt x="4653788" y="2510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77923" y="1600200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30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802" y="7238"/>
                  </a:lnTo>
                  <a:lnTo>
                    <a:pt x="775334" y="12826"/>
                  </a:lnTo>
                  <a:lnTo>
                    <a:pt x="715390" y="19812"/>
                  </a:lnTo>
                  <a:lnTo>
                    <a:pt x="656844" y="28194"/>
                  </a:lnTo>
                  <a:lnTo>
                    <a:pt x="600075" y="37973"/>
                  </a:lnTo>
                  <a:lnTo>
                    <a:pt x="545083" y="49022"/>
                  </a:lnTo>
                  <a:lnTo>
                    <a:pt x="491998" y="61340"/>
                  </a:lnTo>
                  <a:lnTo>
                    <a:pt x="440944" y="74929"/>
                  </a:lnTo>
                  <a:lnTo>
                    <a:pt x="392049" y="89662"/>
                  </a:lnTo>
                  <a:lnTo>
                    <a:pt x="345439" y="105537"/>
                  </a:lnTo>
                  <a:lnTo>
                    <a:pt x="301244" y="122554"/>
                  </a:lnTo>
                  <a:lnTo>
                    <a:pt x="259587" y="140462"/>
                  </a:lnTo>
                  <a:lnTo>
                    <a:pt x="220599" y="159385"/>
                  </a:lnTo>
                  <a:lnTo>
                    <a:pt x="184276" y="179324"/>
                  </a:lnTo>
                  <a:lnTo>
                    <a:pt x="150875" y="200025"/>
                  </a:lnTo>
                  <a:lnTo>
                    <a:pt x="93218" y="243966"/>
                  </a:lnTo>
                  <a:lnTo>
                    <a:pt x="48640" y="290957"/>
                  </a:lnTo>
                  <a:lnTo>
                    <a:pt x="17906" y="340360"/>
                  </a:lnTo>
                  <a:lnTo>
                    <a:pt x="2031" y="391922"/>
                  </a:lnTo>
                  <a:lnTo>
                    <a:pt x="0" y="418338"/>
                  </a:lnTo>
                  <a:lnTo>
                    <a:pt x="2031" y="444753"/>
                  </a:lnTo>
                  <a:lnTo>
                    <a:pt x="17906" y="496315"/>
                  </a:lnTo>
                  <a:lnTo>
                    <a:pt x="48640" y="545719"/>
                  </a:lnTo>
                  <a:lnTo>
                    <a:pt x="93218" y="592709"/>
                  </a:lnTo>
                  <a:lnTo>
                    <a:pt x="150875" y="636651"/>
                  </a:lnTo>
                  <a:lnTo>
                    <a:pt x="184276" y="657351"/>
                  </a:lnTo>
                  <a:lnTo>
                    <a:pt x="220599" y="677290"/>
                  </a:lnTo>
                  <a:lnTo>
                    <a:pt x="259587" y="696213"/>
                  </a:lnTo>
                  <a:lnTo>
                    <a:pt x="301244" y="714121"/>
                  </a:lnTo>
                  <a:lnTo>
                    <a:pt x="345439" y="731138"/>
                  </a:lnTo>
                  <a:lnTo>
                    <a:pt x="392049" y="747013"/>
                  </a:lnTo>
                  <a:lnTo>
                    <a:pt x="440944" y="761746"/>
                  </a:lnTo>
                  <a:lnTo>
                    <a:pt x="491998" y="775335"/>
                  </a:lnTo>
                  <a:lnTo>
                    <a:pt x="545083" y="787653"/>
                  </a:lnTo>
                  <a:lnTo>
                    <a:pt x="600075" y="798702"/>
                  </a:lnTo>
                  <a:lnTo>
                    <a:pt x="656844" y="808482"/>
                  </a:lnTo>
                  <a:lnTo>
                    <a:pt x="715390" y="816863"/>
                  </a:lnTo>
                  <a:lnTo>
                    <a:pt x="775334" y="823849"/>
                  </a:lnTo>
                  <a:lnTo>
                    <a:pt x="836802" y="829437"/>
                  </a:lnTo>
                  <a:lnTo>
                    <a:pt x="899668" y="833374"/>
                  </a:lnTo>
                  <a:lnTo>
                    <a:pt x="963676" y="835913"/>
                  </a:lnTo>
                  <a:lnTo>
                    <a:pt x="1028700" y="836676"/>
                  </a:lnTo>
                  <a:lnTo>
                    <a:pt x="1093724" y="835913"/>
                  </a:lnTo>
                  <a:lnTo>
                    <a:pt x="1157732" y="833374"/>
                  </a:lnTo>
                  <a:lnTo>
                    <a:pt x="1220596" y="829437"/>
                  </a:lnTo>
                  <a:lnTo>
                    <a:pt x="1282064" y="823849"/>
                  </a:lnTo>
                  <a:lnTo>
                    <a:pt x="1342008" y="816863"/>
                  </a:lnTo>
                  <a:lnTo>
                    <a:pt x="1400556" y="808482"/>
                  </a:lnTo>
                  <a:lnTo>
                    <a:pt x="1457325" y="798702"/>
                  </a:lnTo>
                  <a:lnTo>
                    <a:pt x="1512315" y="787653"/>
                  </a:lnTo>
                  <a:lnTo>
                    <a:pt x="1565402" y="775335"/>
                  </a:lnTo>
                  <a:lnTo>
                    <a:pt x="1616455" y="761746"/>
                  </a:lnTo>
                  <a:lnTo>
                    <a:pt x="1665351" y="747013"/>
                  </a:lnTo>
                  <a:lnTo>
                    <a:pt x="1711960" y="731138"/>
                  </a:lnTo>
                  <a:lnTo>
                    <a:pt x="1756155" y="714121"/>
                  </a:lnTo>
                  <a:lnTo>
                    <a:pt x="1797812" y="696213"/>
                  </a:lnTo>
                  <a:lnTo>
                    <a:pt x="1836801" y="677290"/>
                  </a:lnTo>
                  <a:lnTo>
                    <a:pt x="1873123" y="657351"/>
                  </a:lnTo>
                  <a:lnTo>
                    <a:pt x="1906524" y="636651"/>
                  </a:lnTo>
                  <a:lnTo>
                    <a:pt x="1964181" y="592709"/>
                  </a:lnTo>
                  <a:lnTo>
                    <a:pt x="2008759" y="545719"/>
                  </a:lnTo>
                  <a:lnTo>
                    <a:pt x="2039492" y="496315"/>
                  </a:lnTo>
                  <a:lnTo>
                    <a:pt x="2055367" y="444753"/>
                  </a:lnTo>
                  <a:lnTo>
                    <a:pt x="2057400" y="418338"/>
                  </a:lnTo>
                  <a:lnTo>
                    <a:pt x="2055367" y="391922"/>
                  </a:lnTo>
                  <a:lnTo>
                    <a:pt x="2039492" y="340360"/>
                  </a:lnTo>
                  <a:lnTo>
                    <a:pt x="2008759" y="290957"/>
                  </a:lnTo>
                  <a:lnTo>
                    <a:pt x="1964181" y="243966"/>
                  </a:lnTo>
                  <a:lnTo>
                    <a:pt x="1906524" y="200025"/>
                  </a:lnTo>
                  <a:lnTo>
                    <a:pt x="1873123" y="179324"/>
                  </a:lnTo>
                  <a:lnTo>
                    <a:pt x="1836801" y="159385"/>
                  </a:lnTo>
                  <a:lnTo>
                    <a:pt x="1797812" y="140462"/>
                  </a:lnTo>
                  <a:lnTo>
                    <a:pt x="1756155" y="122554"/>
                  </a:lnTo>
                  <a:lnTo>
                    <a:pt x="1711960" y="105537"/>
                  </a:lnTo>
                  <a:lnTo>
                    <a:pt x="1665351" y="89662"/>
                  </a:lnTo>
                  <a:lnTo>
                    <a:pt x="1616455" y="74929"/>
                  </a:lnTo>
                  <a:lnTo>
                    <a:pt x="1565402" y="61340"/>
                  </a:lnTo>
                  <a:lnTo>
                    <a:pt x="1512315" y="49022"/>
                  </a:lnTo>
                  <a:lnTo>
                    <a:pt x="1457325" y="37973"/>
                  </a:lnTo>
                  <a:lnTo>
                    <a:pt x="1400556" y="28194"/>
                  </a:lnTo>
                  <a:lnTo>
                    <a:pt x="1342008" y="19812"/>
                  </a:lnTo>
                  <a:lnTo>
                    <a:pt x="1282064" y="12826"/>
                  </a:lnTo>
                  <a:lnTo>
                    <a:pt x="1220596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7923" y="1600200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30">
                  <a:moveTo>
                    <a:pt x="0" y="418338"/>
                  </a:moveTo>
                  <a:lnTo>
                    <a:pt x="8000" y="365887"/>
                  </a:lnTo>
                  <a:lnTo>
                    <a:pt x="31368" y="315340"/>
                  </a:lnTo>
                  <a:lnTo>
                    <a:pt x="69214" y="267080"/>
                  </a:lnTo>
                  <a:lnTo>
                    <a:pt x="120523" y="221614"/>
                  </a:lnTo>
                  <a:lnTo>
                    <a:pt x="184276" y="179324"/>
                  </a:lnTo>
                  <a:lnTo>
                    <a:pt x="220599" y="159385"/>
                  </a:lnTo>
                  <a:lnTo>
                    <a:pt x="259587" y="140462"/>
                  </a:lnTo>
                  <a:lnTo>
                    <a:pt x="301244" y="122554"/>
                  </a:lnTo>
                  <a:lnTo>
                    <a:pt x="345439" y="105537"/>
                  </a:lnTo>
                  <a:lnTo>
                    <a:pt x="392049" y="89662"/>
                  </a:lnTo>
                  <a:lnTo>
                    <a:pt x="440944" y="74929"/>
                  </a:lnTo>
                  <a:lnTo>
                    <a:pt x="491998" y="61340"/>
                  </a:lnTo>
                  <a:lnTo>
                    <a:pt x="545083" y="49022"/>
                  </a:lnTo>
                  <a:lnTo>
                    <a:pt x="600075" y="37973"/>
                  </a:lnTo>
                  <a:lnTo>
                    <a:pt x="656844" y="28194"/>
                  </a:lnTo>
                  <a:lnTo>
                    <a:pt x="715390" y="19812"/>
                  </a:lnTo>
                  <a:lnTo>
                    <a:pt x="775334" y="12826"/>
                  </a:lnTo>
                  <a:lnTo>
                    <a:pt x="836802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6" y="7238"/>
                  </a:lnTo>
                  <a:lnTo>
                    <a:pt x="1282064" y="12826"/>
                  </a:lnTo>
                  <a:lnTo>
                    <a:pt x="1342008" y="19812"/>
                  </a:lnTo>
                  <a:lnTo>
                    <a:pt x="1400556" y="28194"/>
                  </a:lnTo>
                  <a:lnTo>
                    <a:pt x="1457325" y="37973"/>
                  </a:lnTo>
                  <a:lnTo>
                    <a:pt x="1512315" y="49022"/>
                  </a:lnTo>
                  <a:lnTo>
                    <a:pt x="1565402" y="61340"/>
                  </a:lnTo>
                  <a:lnTo>
                    <a:pt x="1616455" y="74929"/>
                  </a:lnTo>
                  <a:lnTo>
                    <a:pt x="1665351" y="89662"/>
                  </a:lnTo>
                  <a:lnTo>
                    <a:pt x="1711960" y="105537"/>
                  </a:lnTo>
                  <a:lnTo>
                    <a:pt x="1756155" y="122554"/>
                  </a:lnTo>
                  <a:lnTo>
                    <a:pt x="1797812" y="140462"/>
                  </a:lnTo>
                  <a:lnTo>
                    <a:pt x="1836801" y="159385"/>
                  </a:lnTo>
                  <a:lnTo>
                    <a:pt x="1873123" y="179324"/>
                  </a:lnTo>
                  <a:lnTo>
                    <a:pt x="1906524" y="200025"/>
                  </a:lnTo>
                  <a:lnTo>
                    <a:pt x="1964181" y="243966"/>
                  </a:lnTo>
                  <a:lnTo>
                    <a:pt x="2008759" y="290957"/>
                  </a:lnTo>
                  <a:lnTo>
                    <a:pt x="2039492" y="340360"/>
                  </a:lnTo>
                  <a:lnTo>
                    <a:pt x="2055367" y="391922"/>
                  </a:lnTo>
                  <a:lnTo>
                    <a:pt x="2057400" y="418338"/>
                  </a:lnTo>
                  <a:lnTo>
                    <a:pt x="2055367" y="444753"/>
                  </a:lnTo>
                  <a:lnTo>
                    <a:pt x="2039492" y="496315"/>
                  </a:lnTo>
                  <a:lnTo>
                    <a:pt x="2008759" y="545719"/>
                  </a:lnTo>
                  <a:lnTo>
                    <a:pt x="1964181" y="592709"/>
                  </a:lnTo>
                  <a:lnTo>
                    <a:pt x="1906524" y="636651"/>
                  </a:lnTo>
                  <a:lnTo>
                    <a:pt x="1873123" y="657351"/>
                  </a:lnTo>
                  <a:lnTo>
                    <a:pt x="1836801" y="677290"/>
                  </a:lnTo>
                  <a:lnTo>
                    <a:pt x="1797812" y="696213"/>
                  </a:lnTo>
                  <a:lnTo>
                    <a:pt x="1756155" y="714121"/>
                  </a:lnTo>
                  <a:lnTo>
                    <a:pt x="1711960" y="731138"/>
                  </a:lnTo>
                  <a:lnTo>
                    <a:pt x="1665351" y="747013"/>
                  </a:lnTo>
                  <a:lnTo>
                    <a:pt x="1616455" y="761746"/>
                  </a:lnTo>
                  <a:lnTo>
                    <a:pt x="1565402" y="775335"/>
                  </a:lnTo>
                  <a:lnTo>
                    <a:pt x="1512315" y="787653"/>
                  </a:lnTo>
                  <a:lnTo>
                    <a:pt x="1457325" y="798702"/>
                  </a:lnTo>
                  <a:lnTo>
                    <a:pt x="1400556" y="808482"/>
                  </a:lnTo>
                  <a:lnTo>
                    <a:pt x="1342008" y="816863"/>
                  </a:lnTo>
                  <a:lnTo>
                    <a:pt x="1282064" y="823849"/>
                  </a:lnTo>
                  <a:lnTo>
                    <a:pt x="1220596" y="829437"/>
                  </a:lnTo>
                  <a:lnTo>
                    <a:pt x="1157732" y="833374"/>
                  </a:lnTo>
                  <a:lnTo>
                    <a:pt x="1093724" y="835913"/>
                  </a:lnTo>
                  <a:lnTo>
                    <a:pt x="1028700" y="836676"/>
                  </a:lnTo>
                  <a:lnTo>
                    <a:pt x="963676" y="835913"/>
                  </a:lnTo>
                  <a:lnTo>
                    <a:pt x="899668" y="833374"/>
                  </a:lnTo>
                  <a:lnTo>
                    <a:pt x="836802" y="829437"/>
                  </a:lnTo>
                  <a:lnTo>
                    <a:pt x="775334" y="823849"/>
                  </a:lnTo>
                  <a:lnTo>
                    <a:pt x="715390" y="816863"/>
                  </a:lnTo>
                  <a:lnTo>
                    <a:pt x="656844" y="808482"/>
                  </a:lnTo>
                  <a:lnTo>
                    <a:pt x="600075" y="798702"/>
                  </a:lnTo>
                  <a:lnTo>
                    <a:pt x="545083" y="787653"/>
                  </a:lnTo>
                  <a:lnTo>
                    <a:pt x="491998" y="775335"/>
                  </a:lnTo>
                  <a:lnTo>
                    <a:pt x="440944" y="761746"/>
                  </a:lnTo>
                  <a:lnTo>
                    <a:pt x="392049" y="747013"/>
                  </a:lnTo>
                  <a:lnTo>
                    <a:pt x="345439" y="731138"/>
                  </a:lnTo>
                  <a:lnTo>
                    <a:pt x="301244" y="714121"/>
                  </a:lnTo>
                  <a:lnTo>
                    <a:pt x="259587" y="696213"/>
                  </a:lnTo>
                  <a:lnTo>
                    <a:pt x="220599" y="677290"/>
                  </a:lnTo>
                  <a:lnTo>
                    <a:pt x="184276" y="657351"/>
                  </a:lnTo>
                  <a:lnTo>
                    <a:pt x="150875" y="636651"/>
                  </a:lnTo>
                  <a:lnTo>
                    <a:pt x="93218" y="592709"/>
                  </a:lnTo>
                  <a:lnTo>
                    <a:pt x="48640" y="545719"/>
                  </a:lnTo>
                  <a:lnTo>
                    <a:pt x="17906" y="496315"/>
                  </a:lnTo>
                  <a:lnTo>
                    <a:pt x="2031" y="444753"/>
                  </a:lnTo>
                  <a:lnTo>
                    <a:pt x="0" y="4183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76754" y="1617675"/>
            <a:ext cx="142938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Database </a:t>
            </a:r>
            <a:r>
              <a:rPr sz="2400" spc="-50" dirty="0"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02161" y="1673161"/>
            <a:ext cx="2066925" cy="768985"/>
            <a:chOff x="5102161" y="1673161"/>
            <a:chExt cx="2066925" cy="768985"/>
          </a:xfrm>
        </p:grpSpPr>
        <p:sp>
          <p:nvSpPr>
            <p:cNvPr id="15" name="object 15"/>
            <p:cNvSpPr/>
            <p:nvPr/>
          </p:nvSpPr>
          <p:spPr>
            <a:xfrm>
              <a:off x="5106923" y="1677923"/>
              <a:ext cx="2057400" cy="759460"/>
            </a:xfrm>
            <a:custGeom>
              <a:avLst/>
              <a:gdLst/>
              <a:ahLst/>
              <a:cxnLst/>
              <a:rect l="l" t="t" r="r" b="b"/>
              <a:pathLst>
                <a:path w="2057400" h="759460">
                  <a:moveTo>
                    <a:pt x="1028700" y="0"/>
                  </a:moveTo>
                  <a:lnTo>
                    <a:pt x="961009" y="762"/>
                  </a:lnTo>
                  <a:lnTo>
                    <a:pt x="894588" y="3175"/>
                  </a:lnTo>
                  <a:lnTo>
                    <a:pt x="829437" y="7112"/>
                  </a:lnTo>
                  <a:lnTo>
                    <a:pt x="765683" y="12573"/>
                  </a:lnTo>
                  <a:lnTo>
                    <a:pt x="703579" y="19303"/>
                  </a:lnTo>
                  <a:lnTo>
                    <a:pt x="643127" y="27559"/>
                  </a:lnTo>
                  <a:lnTo>
                    <a:pt x="584453" y="37084"/>
                  </a:lnTo>
                  <a:lnTo>
                    <a:pt x="527812" y="47878"/>
                  </a:lnTo>
                  <a:lnTo>
                    <a:pt x="473328" y="59943"/>
                  </a:lnTo>
                  <a:lnTo>
                    <a:pt x="421131" y="73151"/>
                  </a:lnTo>
                  <a:lnTo>
                    <a:pt x="371221" y="87629"/>
                  </a:lnTo>
                  <a:lnTo>
                    <a:pt x="323976" y="102997"/>
                  </a:lnTo>
                  <a:lnTo>
                    <a:pt x="279273" y="119506"/>
                  </a:lnTo>
                  <a:lnTo>
                    <a:pt x="237362" y="136905"/>
                  </a:lnTo>
                  <a:lnTo>
                    <a:pt x="198500" y="155321"/>
                  </a:lnTo>
                  <a:lnTo>
                    <a:pt x="162560" y="174625"/>
                  </a:lnTo>
                  <a:lnTo>
                    <a:pt x="129921" y="194690"/>
                  </a:lnTo>
                  <a:lnTo>
                    <a:pt x="74675" y="237236"/>
                  </a:lnTo>
                  <a:lnTo>
                    <a:pt x="33909" y="282448"/>
                  </a:lnTo>
                  <a:lnTo>
                    <a:pt x="8636" y="329946"/>
                  </a:lnTo>
                  <a:lnTo>
                    <a:pt x="0" y="379475"/>
                  </a:lnTo>
                  <a:lnTo>
                    <a:pt x="2159" y="404367"/>
                  </a:lnTo>
                  <a:lnTo>
                    <a:pt x="19303" y="453009"/>
                  </a:lnTo>
                  <a:lnTo>
                    <a:pt x="52450" y="499363"/>
                  </a:lnTo>
                  <a:lnTo>
                    <a:pt x="100584" y="543305"/>
                  </a:lnTo>
                  <a:lnTo>
                    <a:pt x="162560" y="584326"/>
                  </a:lnTo>
                  <a:lnTo>
                    <a:pt x="198500" y="603630"/>
                  </a:lnTo>
                  <a:lnTo>
                    <a:pt x="237362" y="622046"/>
                  </a:lnTo>
                  <a:lnTo>
                    <a:pt x="279273" y="639445"/>
                  </a:lnTo>
                  <a:lnTo>
                    <a:pt x="323976" y="655954"/>
                  </a:lnTo>
                  <a:lnTo>
                    <a:pt x="371221" y="671322"/>
                  </a:lnTo>
                  <a:lnTo>
                    <a:pt x="421131" y="685800"/>
                  </a:lnTo>
                  <a:lnTo>
                    <a:pt x="473328" y="699008"/>
                  </a:lnTo>
                  <a:lnTo>
                    <a:pt x="527812" y="711073"/>
                  </a:lnTo>
                  <a:lnTo>
                    <a:pt x="584453" y="721867"/>
                  </a:lnTo>
                  <a:lnTo>
                    <a:pt x="643127" y="731392"/>
                  </a:lnTo>
                  <a:lnTo>
                    <a:pt x="703579" y="739648"/>
                  </a:lnTo>
                  <a:lnTo>
                    <a:pt x="765683" y="746378"/>
                  </a:lnTo>
                  <a:lnTo>
                    <a:pt x="829437" y="751839"/>
                  </a:lnTo>
                  <a:lnTo>
                    <a:pt x="894588" y="755776"/>
                  </a:lnTo>
                  <a:lnTo>
                    <a:pt x="961009" y="758189"/>
                  </a:lnTo>
                  <a:lnTo>
                    <a:pt x="1028700" y="758951"/>
                  </a:lnTo>
                  <a:lnTo>
                    <a:pt x="1096390" y="758189"/>
                  </a:lnTo>
                  <a:lnTo>
                    <a:pt x="1162812" y="755776"/>
                  </a:lnTo>
                  <a:lnTo>
                    <a:pt x="1227963" y="751839"/>
                  </a:lnTo>
                  <a:lnTo>
                    <a:pt x="1291716" y="746378"/>
                  </a:lnTo>
                  <a:lnTo>
                    <a:pt x="1353820" y="739648"/>
                  </a:lnTo>
                  <a:lnTo>
                    <a:pt x="1414272" y="731392"/>
                  </a:lnTo>
                  <a:lnTo>
                    <a:pt x="1472819" y="721867"/>
                  </a:lnTo>
                  <a:lnTo>
                    <a:pt x="1529460" y="711073"/>
                  </a:lnTo>
                  <a:lnTo>
                    <a:pt x="1583944" y="699008"/>
                  </a:lnTo>
                  <a:lnTo>
                    <a:pt x="1636268" y="685800"/>
                  </a:lnTo>
                  <a:lnTo>
                    <a:pt x="1686052" y="671322"/>
                  </a:lnTo>
                  <a:lnTo>
                    <a:pt x="1733423" y="655954"/>
                  </a:lnTo>
                  <a:lnTo>
                    <a:pt x="1778127" y="639445"/>
                  </a:lnTo>
                  <a:lnTo>
                    <a:pt x="1819909" y="622046"/>
                  </a:lnTo>
                  <a:lnTo>
                    <a:pt x="1858899" y="603630"/>
                  </a:lnTo>
                  <a:lnTo>
                    <a:pt x="1894840" y="584326"/>
                  </a:lnTo>
                  <a:lnTo>
                    <a:pt x="1927478" y="564261"/>
                  </a:lnTo>
                  <a:lnTo>
                    <a:pt x="1982724" y="521715"/>
                  </a:lnTo>
                  <a:lnTo>
                    <a:pt x="2023491" y="476503"/>
                  </a:lnTo>
                  <a:lnTo>
                    <a:pt x="2048764" y="429005"/>
                  </a:lnTo>
                  <a:lnTo>
                    <a:pt x="2057400" y="379475"/>
                  </a:lnTo>
                  <a:lnTo>
                    <a:pt x="2055241" y="354584"/>
                  </a:lnTo>
                  <a:lnTo>
                    <a:pt x="2038096" y="305942"/>
                  </a:lnTo>
                  <a:lnTo>
                    <a:pt x="2004949" y="259461"/>
                  </a:lnTo>
                  <a:lnTo>
                    <a:pt x="1956816" y="215646"/>
                  </a:lnTo>
                  <a:lnTo>
                    <a:pt x="1894840" y="174625"/>
                  </a:lnTo>
                  <a:lnTo>
                    <a:pt x="1858899" y="155321"/>
                  </a:lnTo>
                  <a:lnTo>
                    <a:pt x="1819909" y="136905"/>
                  </a:lnTo>
                  <a:lnTo>
                    <a:pt x="1778127" y="119506"/>
                  </a:lnTo>
                  <a:lnTo>
                    <a:pt x="1733423" y="102997"/>
                  </a:lnTo>
                  <a:lnTo>
                    <a:pt x="1686052" y="87629"/>
                  </a:lnTo>
                  <a:lnTo>
                    <a:pt x="1636268" y="73151"/>
                  </a:lnTo>
                  <a:lnTo>
                    <a:pt x="1583944" y="59943"/>
                  </a:lnTo>
                  <a:lnTo>
                    <a:pt x="1529460" y="47878"/>
                  </a:lnTo>
                  <a:lnTo>
                    <a:pt x="1472819" y="37084"/>
                  </a:lnTo>
                  <a:lnTo>
                    <a:pt x="1414272" y="27559"/>
                  </a:lnTo>
                  <a:lnTo>
                    <a:pt x="1353820" y="19303"/>
                  </a:lnTo>
                  <a:lnTo>
                    <a:pt x="1291716" y="12573"/>
                  </a:lnTo>
                  <a:lnTo>
                    <a:pt x="1227963" y="7112"/>
                  </a:lnTo>
                  <a:lnTo>
                    <a:pt x="1162812" y="3175"/>
                  </a:lnTo>
                  <a:lnTo>
                    <a:pt x="1096390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06923" y="1677923"/>
              <a:ext cx="2057400" cy="759460"/>
            </a:xfrm>
            <a:custGeom>
              <a:avLst/>
              <a:gdLst/>
              <a:ahLst/>
              <a:cxnLst/>
              <a:rect l="l" t="t" r="r" b="b"/>
              <a:pathLst>
                <a:path w="2057400" h="759460">
                  <a:moveTo>
                    <a:pt x="0" y="379475"/>
                  </a:moveTo>
                  <a:lnTo>
                    <a:pt x="8636" y="329946"/>
                  </a:lnTo>
                  <a:lnTo>
                    <a:pt x="33909" y="282448"/>
                  </a:lnTo>
                  <a:lnTo>
                    <a:pt x="74675" y="237236"/>
                  </a:lnTo>
                  <a:lnTo>
                    <a:pt x="129921" y="194690"/>
                  </a:lnTo>
                  <a:lnTo>
                    <a:pt x="162560" y="174625"/>
                  </a:lnTo>
                  <a:lnTo>
                    <a:pt x="198500" y="155321"/>
                  </a:lnTo>
                  <a:lnTo>
                    <a:pt x="237362" y="136905"/>
                  </a:lnTo>
                  <a:lnTo>
                    <a:pt x="279273" y="119506"/>
                  </a:lnTo>
                  <a:lnTo>
                    <a:pt x="323976" y="102997"/>
                  </a:lnTo>
                  <a:lnTo>
                    <a:pt x="371221" y="87629"/>
                  </a:lnTo>
                  <a:lnTo>
                    <a:pt x="421131" y="73151"/>
                  </a:lnTo>
                  <a:lnTo>
                    <a:pt x="473328" y="59943"/>
                  </a:lnTo>
                  <a:lnTo>
                    <a:pt x="527812" y="47878"/>
                  </a:lnTo>
                  <a:lnTo>
                    <a:pt x="584453" y="37084"/>
                  </a:lnTo>
                  <a:lnTo>
                    <a:pt x="643127" y="27559"/>
                  </a:lnTo>
                  <a:lnTo>
                    <a:pt x="703579" y="19303"/>
                  </a:lnTo>
                  <a:lnTo>
                    <a:pt x="765683" y="12573"/>
                  </a:lnTo>
                  <a:lnTo>
                    <a:pt x="829437" y="7112"/>
                  </a:lnTo>
                  <a:lnTo>
                    <a:pt x="894588" y="3175"/>
                  </a:lnTo>
                  <a:lnTo>
                    <a:pt x="961009" y="762"/>
                  </a:lnTo>
                  <a:lnTo>
                    <a:pt x="1028700" y="0"/>
                  </a:lnTo>
                  <a:lnTo>
                    <a:pt x="1096390" y="762"/>
                  </a:lnTo>
                  <a:lnTo>
                    <a:pt x="1162812" y="3175"/>
                  </a:lnTo>
                  <a:lnTo>
                    <a:pt x="1227963" y="7112"/>
                  </a:lnTo>
                  <a:lnTo>
                    <a:pt x="1291716" y="12573"/>
                  </a:lnTo>
                  <a:lnTo>
                    <a:pt x="1353820" y="19303"/>
                  </a:lnTo>
                  <a:lnTo>
                    <a:pt x="1414272" y="27559"/>
                  </a:lnTo>
                  <a:lnTo>
                    <a:pt x="1472819" y="37084"/>
                  </a:lnTo>
                  <a:lnTo>
                    <a:pt x="1529460" y="47878"/>
                  </a:lnTo>
                  <a:lnTo>
                    <a:pt x="1583944" y="59943"/>
                  </a:lnTo>
                  <a:lnTo>
                    <a:pt x="1636268" y="73151"/>
                  </a:lnTo>
                  <a:lnTo>
                    <a:pt x="1686052" y="87629"/>
                  </a:lnTo>
                  <a:lnTo>
                    <a:pt x="1733423" y="102997"/>
                  </a:lnTo>
                  <a:lnTo>
                    <a:pt x="1778127" y="119506"/>
                  </a:lnTo>
                  <a:lnTo>
                    <a:pt x="1819909" y="136905"/>
                  </a:lnTo>
                  <a:lnTo>
                    <a:pt x="1858899" y="155321"/>
                  </a:lnTo>
                  <a:lnTo>
                    <a:pt x="1894840" y="174625"/>
                  </a:lnTo>
                  <a:lnTo>
                    <a:pt x="1927478" y="194690"/>
                  </a:lnTo>
                  <a:lnTo>
                    <a:pt x="1982724" y="237236"/>
                  </a:lnTo>
                  <a:lnTo>
                    <a:pt x="2023491" y="282448"/>
                  </a:lnTo>
                  <a:lnTo>
                    <a:pt x="2048764" y="329946"/>
                  </a:lnTo>
                  <a:lnTo>
                    <a:pt x="2057400" y="379475"/>
                  </a:lnTo>
                  <a:lnTo>
                    <a:pt x="2055241" y="404367"/>
                  </a:lnTo>
                  <a:lnTo>
                    <a:pt x="2038096" y="453009"/>
                  </a:lnTo>
                  <a:lnTo>
                    <a:pt x="2004949" y="499363"/>
                  </a:lnTo>
                  <a:lnTo>
                    <a:pt x="1956816" y="543305"/>
                  </a:lnTo>
                  <a:lnTo>
                    <a:pt x="1894840" y="584326"/>
                  </a:lnTo>
                  <a:lnTo>
                    <a:pt x="1858899" y="603630"/>
                  </a:lnTo>
                  <a:lnTo>
                    <a:pt x="1819909" y="622046"/>
                  </a:lnTo>
                  <a:lnTo>
                    <a:pt x="1778127" y="639445"/>
                  </a:lnTo>
                  <a:lnTo>
                    <a:pt x="1733423" y="655954"/>
                  </a:lnTo>
                  <a:lnTo>
                    <a:pt x="1686052" y="671322"/>
                  </a:lnTo>
                  <a:lnTo>
                    <a:pt x="1636268" y="685800"/>
                  </a:lnTo>
                  <a:lnTo>
                    <a:pt x="1583944" y="699008"/>
                  </a:lnTo>
                  <a:lnTo>
                    <a:pt x="1529460" y="711073"/>
                  </a:lnTo>
                  <a:lnTo>
                    <a:pt x="1472819" y="721867"/>
                  </a:lnTo>
                  <a:lnTo>
                    <a:pt x="1414272" y="731392"/>
                  </a:lnTo>
                  <a:lnTo>
                    <a:pt x="1353820" y="739648"/>
                  </a:lnTo>
                  <a:lnTo>
                    <a:pt x="1291716" y="746378"/>
                  </a:lnTo>
                  <a:lnTo>
                    <a:pt x="1227963" y="751839"/>
                  </a:lnTo>
                  <a:lnTo>
                    <a:pt x="1162812" y="755776"/>
                  </a:lnTo>
                  <a:lnTo>
                    <a:pt x="1096390" y="758189"/>
                  </a:lnTo>
                  <a:lnTo>
                    <a:pt x="1028700" y="758951"/>
                  </a:lnTo>
                  <a:lnTo>
                    <a:pt x="961009" y="758189"/>
                  </a:lnTo>
                  <a:lnTo>
                    <a:pt x="894588" y="755776"/>
                  </a:lnTo>
                  <a:lnTo>
                    <a:pt x="829437" y="751839"/>
                  </a:lnTo>
                  <a:lnTo>
                    <a:pt x="765683" y="746378"/>
                  </a:lnTo>
                  <a:lnTo>
                    <a:pt x="703579" y="739648"/>
                  </a:lnTo>
                  <a:lnTo>
                    <a:pt x="643127" y="731392"/>
                  </a:lnTo>
                  <a:lnTo>
                    <a:pt x="584453" y="721867"/>
                  </a:lnTo>
                  <a:lnTo>
                    <a:pt x="527812" y="711073"/>
                  </a:lnTo>
                  <a:lnTo>
                    <a:pt x="473328" y="699008"/>
                  </a:lnTo>
                  <a:lnTo>
                    <a:pt x="421131" y="685800"/>
                  </a:lnTo>
                  <a:lnTo>
                    <a:pt x="371221" y="671322"/>
                  </a:lnTo>
                  <a:lnTo>
                    <a:pt x="323976" y="655954"/>
                  </a:lnTo>
                  <a:lnTo>
                    <a:pt x="279273" y="639445"/>
                  </a:lnTo>
                  <a:lnTo>
                    <a:pt x="237362" y="622046"/>
                  </a:lnTo>
                  <a:lnTo>
                    <a:pt x="198500" y="603630"/>
                  </a:lnTo>
                  <a:lnTo>
                    <a:pt x="162560" y="584326"/>
                  </a:lnTo>
                  <a:lnTo>
                    <a:pt x="129921" y="564261"/>
                  </a:lnTo>
                  <a:lnTo>
                    <a:pt x="74675" y="521715"/>
                  </a:lnTo>
                  <a:lnTo>
                    <a:pt x="33909" y="476503"/>
                  </a:lnTo>
                  <a:lnTo>
                    <a:pt x="8636" y="429005"/>
                  </a:lnTo>
                  <a:lnTo>
                    <a:pt x="0" y="3794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74284" y="1838960"/>
            <a:ext cx="113665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0" dirty="0">
                <a:latin typeface="Times New Roman"/>
                <a:cs typeface="Times New Roman"/>
              </a:rPr>
              <a:t>Statistics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1561" y="3273361"/>
            <a:ext cx="2066925" cy="846455"/>
            <a:chOff x="301561" y="3273361"/>
            <a:chExt cx="2066925" cy="846455"/>
          </a:xfrm>
        </p:grpSpPr>
        <p:sp>
          <p:nvSpPr>
            <p:cNvPr id="19" name="object 19"/>
            <p:cNvSpPr/>
            <p:nvPr/>
          </p:nvSpPr>
          <p:spPr>
            <a:xfrm>
              <a:off x="306324" y="32781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1028700" y="0"/>
                  </a:moveTo>
                  <a:lnTo>
                    <a:pt x="963637" y="762"/>
                  </a:lnTo>
                  <a:lnTo>
                    <a:pt x="899667" y="3301"/>
                  </a:lnTo>
                  <a:lnTo>
                    <a:pt x="836879" y="7238"/>
                  </a:lnTo>
                  <a:lnTo>
                    <a:pt x="775411" y="12826"/>
                  </a:lnTo>
                  <a:lnTo>
                    <a:pt x="715378" y="19812"/>
                  </a:lnTo>
                  <a:lnTo>
                    <a:pt x="656894" y="28193"/>
                  </a:lnTo>
                  <a:lnTo>
                    <a:pt x="600100" y="37973"/>
                  </a:lnTo>
                  <a:lnTo>
                    <a:pt x="545096" y="49022"/>
                  </a:lnTo>
                  <a:lnTo>
                    <a:pt x="492023" y="61340"/>
                  </a:lnTo>
                  <a:lnTo>
                    <a:pt x="440982" y="74929"/>
                  </a:lnTo>
                  <a:lnTo>
                    <a:pt x="392099" y="89662"/>
                  </a:lnTo>
                  <a:lnTo>
                    <a:pt x="345503" y="105537"/>
                  </a:lnTo>
                  <a:lnTo>
                    <a:pt x="301294" y="122554"/>
                  </a:lnTo>
                  <a:lnTo>
                    <a:pt x="259626" y="140462"/>
                  </a:lnTo>
                  <a:lnTo>
                    <a:pt x="220586" y="159385"/>
                  </a:lnTo>
                  <a:lnTo>
                    <a:pt x="184302" y="179324"/>
                  </a:lnTo>
                  <a:lnTo>
                    <a:pt x="150914" y="200025"/>
                  </a:lnTo>
                  <a:lnTo>
                    <a:pt x="93268" y="243966"/>
                  </a:lnTo>
                  <a:lnTo>
                    <a:pt x="48590" y="290956"/>
                  </a:lnTo>
                  <a:lnTo>
                    <a:pt x="17856" y="340359"/>
                  </a:lnTo>
                  <a:lnTo>
                    <a:pt x="2019" y="391921"/>
                  </a:lnTo>
                  <a:lnTo>
                    <a:pt x="0" y="418338"/>
                  </a:lnTo>
                  <a:lnTo>
                    <a:pt x="2019" y="444753"/>
                  </a:lnTo>
                  <a:lnTo>
                    <a:pt x="17856" y="496315"/>
                  </a:lnTo>
                  <a:lnTo>
                    <a:pt x="48590" y="545719"/>
                  </a:lnTo>
                  <a:lnTo>
                    <a:pt x="93268" y="592708"/>
                  </a:lnTo>
                  <a:lnTo>
                    <a:pt x="150914" y="636651"/>
                  </a:lnTo>
                  <a:lnTo>
                    <a:pt x="184302" y="657351"/>
                  </a:lnTo>
                  <a:lnTo>
                    <a:pt x="220586" y="677290"/>
                  </a:lnTo>
                  <a:lnTo>
                    <a:pt x="259626" y="696213"/>
                  </a:lnTo>
                  <a:lnTo>
                    <a:pt x="301294" y="714120"/>
                  </a:lnTo>
                  <a:lnTo>
                    <a:pt x="345503" y="731138"/>
                  </a:lnTo>
                  <a:lnTo>
                    <a:pt x="392099" y="747013"/>
                  </a:lnTo>
                  <a:lnTo>
                    <a:pt x="440982" y="761745"/>
                  </a:lnTo>
                  <a:lnTo>
                    <a:pt x="492023" y="775334"/>
                  </a:lnTo>
                  <a:lnTo>
                    <a:pt x="545096" y="787653"/>
                  </a:lnTo>
                  <a:lnTo>
                    <a:pt x="600100" y="798702"/>
                  </a:lnTo>
                  <a:lnTo>
                    <a:pt x="656894" y="808482"/>
                  </a:lnTo>
                  <a:lnTo>
                    <a:pt x="715378" y="816863"/>
                  </a:lnTo>
                  <a:lnTo>
                    <a:pt x="775411" y="823849"/>
                  </a:lnTo>
                  <a:lnTo>
                    <a:pt x="836879" y="829437"/>
                  </a:lnTo>
                  <a:lnTo>
                    <a:pt x="899667" y="833374"/>
                  </a:lnTo>
                  <a:lnTo>
                    <a:pt x="963637" y="835913"/>
                  </a:lnTo>
                  <a:lnTo>
                    <a:pt x="1028700" y="836676"/>
                  </a:lnTo>
                  <a:lnTo>
                    <a:pt x="1093723" y="835913"/>
                  </a:lnTo>
                  <a:lnTo>
                    <a:pt x="1157732" y="833374"/>
                  </a:lnTo>
                  <a:lnTo>
                    <a:pt x="1220597" y="829437"/>
                  </a:lnTo>
                  <a:lnTo>
                    <a:pt x="1282064" y="823849"/>
                  </a:lnTo>
                  <a:lnTo>
                    <a:pt x="1342008" y="816863"/>
                  </a:lnTo>
                  <a:lnTo>
                    <a:pt x="1400556" y="808482"/>
                  </a:lnTo>
                  <a:lnTo>
                    <a:pt x="1457325" y="798702"/>
                  </a:lnTo>
                  <a:lnTo>
                    <a:pt x="1512315" y="787653"/>
                  </a:lnTo>
                  <a:lnTo>
                    <a:pt x="1565402" y="775334"/>
                  </a:lnTo>
                  <a:lnTo>
                    <a:pt x="1616456" y="761745"/>
                  </a:lnTo>
                  <a:lnTo>
                    <a:pt x="1665351" y="747013"/>
                  </a:lnTo>
                  <a:lnTo>
                    <a:pt x="1711959" y="731138"/>
                  </a:lnTo>
                  <a:lnTo>
                    <a:pt x="1756156" y="714120"/>
                  </a:lnTo>
                  <a:lnTo>
                    <a:pt x="1797812" y="696213"/>
                  </a:lnTo>
                  <a:lnTo>
                    <a:pt x="1836801" y="677290"/>
                  </a:lnTo>
                  <a:lnTo>
                    <a:pt x="1873123" y="657351"/>
                  </a:lnTo>
                  <a:lnTo>
                    <a:pt x="1906524" y="636651"/>
                  </a:lnTo>
                  <a:lnTo>
                    <a:pt x="1964182" y="592708"/>
                  </a:lnTo>
                  <a:lnTo>
                    <a:pt x="2008758" y="545719"/>
                  </a:lnTo>
                  <a:lnTo>
                    <a:pt x="2039493" y="496315"/>
                  </a:lnTo>
                  <a:lnTo>
                    <a:pt x="2055368" y="444753"/>
                  </a:lnTo>
                  <a:lnTo>
                    <a:pt x="2057400" y="418338"/>
                  </a:lnTo>
                  <a:lnTo>
                    <a:pt x="2055368" y="391921"/>
                  </a:lnTo>
                  <a:lnTo>
                    <a:pt x="2039493" y="340359"/>
                  </a:lnTo>
                  <a:lnTo>
                    <a:pt x="2008758" y="290956"/>
                  </a:lnTo>
                  <a:lnTo>
                    <a:pt x="1964182" y="243966"/>
                  </a:lnTo>
                  <a:lnTo>
                    <a:pt x="1906524" y="200025"/>
                  </a:lnTo>
                  <a:lnTo>
                    <a:pt x="1873123" y="179324"/>
                  </a:lnTo>
                  <a:lnTo>
                    <a:pt x="1836801" y="159385"/>
                  </a:lnTo>
                  <a:lnTo>
                    <a:pt x="1797812" y="140462"/>
                  </a:lnTo>
                  <a:lnTo>
                    <a:pt x="1756156" y="122554"/>
                  </a:lnTo>
                  <a:lnTo>
                    <a:pt x="1711959" y="105537"/>
                  </a:lnTo>
                  <a:lnTo>
                    <a:pt x="1665351" y="89662"/>
                  </a:lnTo>
                  <a:lnTo>
                    <a:pt x="1616456" y="74929"/>
                  </a:lnTo>
                  <a:lnTo>
                    <a:pt x="1565402" y="61340"/>
                  </a:lnTo>
                  <a:lnTo>
                    <a:pt x="1512315" y="49022"/>
                  </a:lnTo>
                  <a:lnTo>
                    <a:pt x="1457325" y="37973"/>
                  </a:lnTo>
                  <a:lnTo>
                    <a:pt x="1400556" y="28193"/>
                  </a:lnTo>
                  <a:lnTo>
                    <a:pt x="1342008" y="19812"/>
                  </a:lnTo>
                  <a:lnTo>
                    <a:pt x="1282064" y="12826"/>
                  </a:lnTo>
                  <a:lnTo>
                    <a:pt x="1220597" y="7238"/>
                  </a:lnTo>
                  <a:lnTo>
                    <a:pt x="1157732" y="3301"/>
                  </a:lnTo>
                  <a:lnTo>
                    <a:pt x="1093723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6324" y="32781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0" y="418338"/>
                  </a:moveTo>
                  <a:lnTo>
                    <a:pt x="8013" y="365887"/>
                  </a:lnTo>
                  <a:lnTo>
                    <a:pt x="31419" y="315340"/>
                  </a:lnTo>
                  <a:lnTo>
                    <a:pt x="69240" y="267080"/>
                  </a:lnTo>
                  <a:lnTo>
                    <a:pt x="120522" y="221614"/>
                  </a:lnTo>
                  <a:lnTo>
                    <a:pt x="184302" y="179324"/>
                  </a:lnTo>
                  <a:lnTo>
                    <a:pt x="220586" y="159385"/>
                  </a:lnTo>
                  <a:lnTo>
                    <a:pt x="259626" y="140462"/>
                  </a:lnTo>
                  <a:lnTo>
                    <a:pt x="301294" y="122554"/>
                  </a:lnTo>
                  <a:lnTo>
                    <a:pt x="345503" y="105537"/>
                  </a:lnTo>
                  <a:lnTo>
                    <a:pt x="392099" y="89662"/>
                  </a:lnTo>
                  <a:lnTo>
                    <a:pt x="440982" y="74929"/>
                  </a:lnTo>
                  <a:lnTo>
                    <a:pt x="492023" y="61340"/>
                  </a:lnTo>
                  <a:lnTo>
                    <a:pt x="545096" y="49022"/>
                  </a:lnTo>
                  <a:lnTo>
                    <a:pt x="600100" y="37973"/>
                  </a:lnTo>
                  <a:lnTo>
                    <a:pt x="656894" y="28193"/>
                  </a:lnTo>
                  <a:lnTo>
                    <a:pt x="715378" y="19812"/>
                  </a:lnTo>
                  <a:lnTo>
                    <a:pt x="775411" y="12826"/>
                  </a:lnTo>
                  <a:lnTo>
                    <a:pt x="836879" y="7238"/>
                  </a:lnTo>
                  <a:lnTo>
                    <a:pt x="899667" y="3301"/>
                  </a:lnTo>
                  <a:lnTo>
                    <a:pt x="963637" y="762"/>
                  </a:lnTo>
                  <a:lnTo>
                    <a:pt x="1028700" y="0"/>
                  </a:lnTo>
                  <a:lnTo>
                    <a:pt x="1093723" y="762"/>
                  </a:lnTo>
                  <a:lnTo>
                    <a:pt x="1157732" y="3301"/>
                  </a:lnTo>
                  <a:lnTo>
                    <a:pt x="1220597" y="7238"/>
                  </a:lnTo>
                  <a:lnTo>
                    <a:pt x="1282064" y="12826"/>
                  </a:lnTo>
                  <a:lnTo>
                    <a:pt x="1342008" y="19812"/>
                  </a:lnTo>
                  <a:lnTo>
                    <a:pt x="1400556" y="28193"/>
                  </a:lnTo>
                  <a:lnTo>
                    <a:pt x="1457325" y="37973"/>
                  </a:lnTo>
                  <a:lnTo>
                    <a:pt x="1512315" y="49022"/>
                  </a:lnTo>
                  <a:lnTo>
                    <a:pt x="1565402" y="61340"/>
                  </a:lnTo>
                  <a:lnTo>
                    <a:pt x="1616456" y="74929"/>
                  </a:lnTo>
                  <a:lnTo>
                    <a:pt x="1665351" y="89662"/>
                  </a:lnTo>
                  <a:lnTo>
                    <a:pt x="1711959" y="105537"/>
                  </a:lnTo>
                  <a:lnTo>
                    <a:pt x="1756156" y="122554"/>
                  </a:lnTo>
                  <a:lnTo>
                    <a:pt x="1797812" y="140462"/>
                  </a:lnTo>
                  <a:lnTo>
                    <a:pt x="1836801" y="159385"/>
                  </a:lnTo>
                  <a:lnTo>
                    <a:pt x="1873123" y="179324"/>
                  </a:lnTo>
                  <a:lnTo>
                    <a:pt x="1906524" y="200025"/>
                  </a:lnTo>
                  <a:lnTo>
                    <a:pt x="1964182" y="243966"/>
                  </a:lnTo>
                  <a:lnTo>
                    <a:pt x="2008758" y="290956"/>
                  </a:lnTo>
                  <a:lnTo>
                    <a:pt x="2039493" y="340359"/>
                  </a:lnTo>
                  <a:lnTo>
                    <a:pt x="2055368" y="391921"/>
                  </a:lnTo>
                  <a:lnTo>
                    <a:pt x="2057400" y="418338"/>
                  </a:lnTo>
                  <a:lnTo>
                    <a:pt x="2055368" y="444753"/>
                  </a:lnTo>
                  <a:lnTo>
                    <a:pt x="2039493" y="496315"/>
                  </a:lnTo>
                  <a:lnTo>
                    <a:pt x="2008758" y="545719"/>
                  </a:lnTo>
                  <a:lnTo>
                    <a:pt x="1964182" y="592708"/>
                  </a:lnTo>
                  <a:lnTo>
                    <a:pt x="1906524" y="636651"/>
                  </a:lnTo>
                  <a:lnTo>
                    <a:pt x="1873123" y="657351"/>
                  </a:lnTo>
                  <a:lnTo>
                    <a:pt x="1836801" y="677290"/>
                  </a:lnTo>
                  <a:lnTo>
                    <a:pt x="1797812" y="696213"/>
                  </a:lnTo>
                  <a:lnTo>
                    <a:pt x="1756156" y="714120"/>
                  </a:lnTo>
                  <a:lnTo>
                    <a:pt x="1711959" y="731138"/>
                  </a:lnTo>
                  <a:lnTo>
                    <a:pt x="1665351" y="747013"/>
                  </a:lnTo>
                  <a:lnTo>
                    <a:pt x="1616456" y="761745"/>
                  </a:lnTo>
                  <a:lnTo>
                    <a:pt x="1565402" y="775334"/>
                  </a:lnTo>
                  <a:lnTo>
                    <a:pt x="1512315" y="787653"/>
                  </a:lnTo>
                  <a:lnTo>
                    <a:pt x="1457325" y="798702"/>
                  </a:lnTo>
                  <a:lnTo>
                    <a:pt x="1400556" y="808482"/>
                  </a:lnTo>
                  <a:lnTo>
                    <a:pt x="1342008" y="816863"/>
                  </a:lnTo>
                  <a:lnTo>
                    <a:pt x="1282064" y="823849"/>
                  </a:lnTo>
                  <a:lnTo>
                    <a:pt x="1220597" y="829437"/>
                  </a:lnTo>
                  <a:lnTo>
                    <a:pt x="1157732" y="833374"/>
                  </a:lnTo>
                  <a:lnTo>
                    <a:pt x="1093723" y="835913"/>
                  </a:lnTo>
                  <a:lnTo>
                    <a:pt x="1028700" y="836676"/>
                  </a:lnTo>
                  <a:lnTo>
                    <a:pt x="963637" y="835913"/>
                  </a:lnTo>
                  <a:lnTo>
                    <a:pt x="899667" y="833374"/>
                  </a:lnTo>
                  <a:lnTo>
                    <a:pt x="836879" y="829437"/>
                  </a:lnTo>
                  <a:lnTo>
                    <a:pt x="775411" y="823849"/>
                  </a:lnTo>
                  <a:lnTo>
                    <a:pt x="715378" y="816863"/>
                  </a:lnTo>
                  <a:lnTo>
                    <a:pt x="656894" y="808482"/>
                  </a:lnTo>
                  <a:lnTo>
                    <a:pt x="600100" y="798702"/>
                  </a:lnTo>
                  <a:lnTo>
                    <a:pt x="545096" y="787653"/>
                  </a:lnTo>
                  <a:lnTo>
                    <a:pt x="492023" y="775334"/>
                  </a:lnTo>
                  <a:lnTo>
                    <a:pt x="440982" y="761745"/>
                  </a:lnTo>
                  <a:lnTo>
                    <a:pt x="392099" y="747013"/>
                  </a:lnTo>
                  <a:lnTo>
                    <a:pt x="345503" y="731138"/>
                  </a:lnTo>
                  <a:lnTo>
                    <a:pt x="301294" y="714120"/>
                  </a:lnTo>
                  <a:lnTo>
                    <a:pt x="259626" y="696213"/>
                  </a:lnTo>
                  <a:lnTo>
                    <a:pt x="220586" y="677290"/>
                  </a:lnTo>
                  <a:lnTo>
                    <a:pt x="184302" y="657351"/>
                  </a:lnTo>
                  <a:lnTo>
                    <a:pt x="150914" y="636651"/>
                  </a:lnTo>
                  <a:lnTo>
                    <a:pt x="93268" y="592708"/>
                  </a:lnTo>
                  <a:lnTo>
                    <a:pt x="48590" y="545719"/>
                  </a:lnTo>
                  <a:lnTo>
                    <a:pt x="17856" y="496315"/>
                  </a:lnTo>
                  <a:lnTo>
                    <a:pt x="2019" y="444753"/>
                  </a:lnTo>
                  <a:lnTo>
                    <a:pt x="0" y="4183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70636" y="3295344"/>
            <a:ext cx="1125220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Machine Learning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0161" y="4644961"/>
            <a:ext cx="2066925" cy="846455"/>
            <a:chOff x="530161" y="4644961"/>
            <a:chExt cx="2066925" cy="846455"/>
          </a:xfrm>
        </p:grpSpPr>
        <p:sp>
          <p:nvSpPr>
            <p:cNvPr id="23" name="object 23"/>
            <p:cNvSpPr/>
            <p:nvPr/>
          </p:nvSpPr>
          <p:spPr>
            <a:xfrm>
              <a:off x="534923" y="46497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930" y="7238"/>
                  </a:lnTo>
                  <a:lnTo>
                    <a:pt x="775462" y="12826"/>
                  </a:lnTo>
                  <a:lnTo>
                    <a:pt x="715378" y="19812"/>
                  </a:lnTo>
                  <a:lnTo>
                    <a:pt x="656894" y="28193"/>
                  </a:lnTo>
                  <a:lnTo>
                    <a:pt x="600100" y="37973"/>
                  </a:lnTo>
                  <a:lnTo>
                    <a:pt x="545096" y="49021"/>
                  </a:lnTo>
                  <a:lnTo>
                    <a:pt x="492023" y="61340"/>
                  </a:lnTo>
                  <a:lnTo>
                    <a:pt x="440982" y="74930"/>
                  </a:lnTo>
                  <a:lnTo>
                    <a:pt x="392099" y="89662"/>
                  </a:lnTo>
                  <a:lnTo>
                    <a:pt x="345503" y="105537"/>
                  </a:lnTo>
                  <a:lnTo>
                    <a:pt x="301294" y="122555"/>
                  </a:lnTo>
                  <a:lnTo>
                    <a:pt x="259626" y="140462"/>
                  </a:lnTo>
                  <a:lnTo>
                    <a:pt x="220586" y="159384"/>
                  </a:lnTo>
                  <a:lnTo>
                    <a:pt x="184302" y="179324"/>
                  </a:lnTo>
                  <a:lnTo>
                    <a:pt x="150914" y="200025"/>
                  </a:lnTo>
                  <a:lnTo>
                    <a:pt x="93268" y="243967"/>
                  </a:lnTo>
                  <a:lnTo>
                    <a:pt x="48590" y="290956"/>
                  </a:lnTo>
                  <a:lnTo>
                    <a:pt x="17856" y="340359"/>
                  </a:lnTo>
                  <a:lnTo>
                    <a:pt x="2019" y="391921"/>
                  </a:lnTo>
                  <a:lnTo>
                    <a:pt x="0" y="418338"/>
                  </a:lnTo>
                  <a:lnTo>
                    <a:pt x="2019" y="444753"/>
                  </a:lnTo>
                  <a:lnTo>
                    <a:pt x="17856" y="496315"/>
                  </a:lnTo>
                  <a:lnTo>
                    <a:pt x="48590" y="545719"/>
                  </a:lnTo>
                  <a:lnTo>
                    <a:pt x="93268" y="592709"/>
                  </a:lnTo>
                  <a:lnTo>
                    <a:pt x="150914" y="636651"/>
                  </a:lnTo>
                  <a:lnTo>
                    <a:pt x="184302" y="657351"/>
                  </a:lnTo>
                  <a:lnTo>
                    <a:pt x="220586" y="677291"/>
                  </a:lnTo>
                  <a:lnTo>
                    <a:pt x="259626" y="696213"/>
                  </a:lnTo>
                  <a:lnTo>
                    <a:pt x="301294" y="714120"/>
                  </a:lnTo>
                  <a:lnTo>
                    <a:pt x="345503" y="731138"/>
                  </a:lnTo>
                  <a:lnTo>
                    <a:pt x="392099" y="747013"/>
                  </a:lnTo>
                  <a:lnTo>
                    <a:pt x="440982" y="761745"/>
                  </a:lnTo>
                  <a:lnTo>
                    <a:pt x="492023" y="775335"/>
                  </a:lnTo>
                  <a:lnTo>
                    <a:pt x="545096" y="787654"/>
                  </a:lnTo>
                  <a:lnTo>
                    <a:pt x="600100" y="798703"/>
                  </a:lnTo>
                  <a:lnTo>
                    <a:pt x="656894" y="808482"/>
                  </a:lnTo>
                  <a:lnTo>
                    <a:pt x="715378" y="816863"/>
                  </a:lnTo>
                  <a:lnTo>
                    <a:pt x="775462" y="823848"/>
                  </a:lnTo>
                  <a:lnTo>
                    <a:pt x="836930" y="829437"/>
                  </a:lnTo>
                  <a:lnTo>
                    <a:pt x="899668" y="833373"/>
                  </a:lnTo>
                  <a:lnTo>
                    <a:pt x="963676" y="835913"/>
                  </a:lnTo>
                  <a:lnTo>
                    <a:pt x="1028700" y="836676"/>
                  </a:lnTo>
                  <a:lnTo>
                    <a:pt x="1093724" y="835913"/>
                  </a:lnTo>
                  <a:lnTo>
                    <a:pt x="1157732" y="833373"/>
                  </a:lnTo>
                  <a:lnTo>
                    <a:pt x="1220596" y="829437"/>
                  </a:lnTo>
                  <a:lnTo>
                    <a:pt x="1282064" y="823848"/>
                  </a:lnTo>
                  <a:lnTo>
                    <a:pt x="1342008" y="816863"/>
                  </a:lnTo>
                  <a:lnTo>
                    <a:pt x="1400556" y="808482"/>
                  </a:lnTo>
                  <a:lnTo>
                    <a:pt x="1457325" y="798703"/>
                  </a:lnTo>
                  <a:lnTo>
                    <a:pt x="1512315" y="787654"/>
                  </a:lnTo>
                  <a:lnTo>
                    <a:pt x="1565402" y="775335"/>
                  </a:lnTo>
                  <a:lnTo>
                    <a:pt x="1616456" y="761745"/>
                  </a:lnTo>
                  <a:lnTo>
                    <a:pt x="1665351" y="747013"/>
                  </a:lnTo>
                  <a:lnTo>
                    <a:pt x="1711959" y="731138"/>
                  </a:lnTo>
                  <a:lnTo>
                    <a:pt x="1756156" y="714120"/>
                  </a:lnTo>
                  <a:lnTo>
                    <a:pt x="1797812" y="696213"/>
                  </a:lnTo>
                  <a:lnTo>
                    <a:pt x="1836801" y="677291"/>
                  </a:lnTo>
                  <a:lnTo>
                    <a:pt x="1873123" y="657351"/>
                  </a:lnTo>
                  <a:lnTo>
                    <a:pt x="1906524" y="636651"/>
                  </a:lnTo>
                  <a:lnTo>
                    <a:pt x="1964182" y="592709"/>
                  </a:lnTo>
                  <a:lnTo>
                    <a:pt x="2008758" y="545719"/>
                  </a:lnTo>
                  <a:lnTo>
                    <a:pt x="2039493" y="496315"/>
                  </a:lnTo>
                  <a:lnTo>
                    <a:pt x="2055368" y="444753"/>
                  </a:lnTo>
                  <a:lnTo>
                    <a:pt x="2057400" y="418338"/>
                  </a:lnTo>
                  <a:lnTo>
                    <a:pt x="2055368" y="391921"/>
                  </a:lnTo>
                  <a:lnTo>
                    <a:pt x="2039493" y="340359"/>
                  </a:lnTo>
                  <a:lnTo>
                    <a:pt x="2008758" y="290956"/>
                  </a:lnTo>
                  <a:lnTo>
                    <a:pt x="1964182" y="243967"/>
                  </a:lnTo>
                  <a:lnTo>
                    <a:pt x="1906524" y="200025"/>
                  </a:lnTo>
                  <a:lnTo>
                    <a:pt x="1873123" y="179324"/>
                  </a:lnTo>
                  <a:lnTo>
                    <a:pt x="1836801" y="159384"/>
                  </a:lnTo>
                  <a:lnTo>
                    <a:pt x="1797812" y="140462"/>
                  </a:lnTo>
                  <a:lnTo>
                    <a:pt x="1756156" y="122555"/>
                  </a:lnTo>
                  <a:lnTo>
                    <a:pt x="1711959" y="105537"/>
                  </a:lnTo>
                  <a:lnTo>
                    <a:pt x="1665351" y="89662"/>
                  </a:lnTo>
                  <a:lnTo>
                    <a:pt x="1616456" y="74930"/>
                  </a:lnTo>
                  <a:lnTo>
                    <a:pt x="1565402" y="61340"/>
                  </a:lnTo>
                  <a:lnTo>
                    <a:pt x="1512315" y="49021"/>
                  </a:lnTo>
                  <a:lnTo>
                    <a:pt x="1457325" y="37973"/>
                  </a:lnTo>
                  <a:lnTo>
                    <a:pt x="1400556" y="28193"/>
                  </a:lnTo>
                  <a:lnTo>
                    <a:pt x="1342008" y="19812"/>
                  </a:lnTo>
                  <a:lnTo>
                    <a:pt x="1282064" y="12826"/>
                  </a:lnTo>
                  <a:lnTo>
                    <a:pt x="1220596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923" y="46497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0" y="418338"/>
                  </a:moveTo>
                  <a:lnTo>
                    <a:pt x="8013" y="365887"/>
                  </a:lnTo>
                  <a:lnTo>
                    <a:pt x="31419" y="315340"/>
                  </a:lnTo>
                  <a:lnTo>
                    <a:pt x="69240" y="267081"/>
                  </a:lnTo>
                  <a:lnTo>
                    <a:pt x="120523" y="221614"/>
                  </a:lnTo>
                  <a:lnTo>
                    <a:pt x="184302" y="179324"/>
                  </a:lnTo>
                  <a:lnTo>
                    <a:pt x="220586" y="159384"/>
                  </a:lnTo>
                  <a:lnTo>
                    <a:pt x="259626" y="140462"/>
                  </a:lnTo>
                  <a:lnTo>
                    <a:pt x="301294" y="122555"/>
                  </a:lnTo>
                  <a:lnTo>
                    <a:pt x="345503" y="105537"/>
                  </a:lnTo>
                  <a:lnTo>
                    <a:pt x="392099" y="89662"/>
                  </a:lnTo>
                  <a:lnTo>
                    <a:pt x="440982" y="74930"/>
                  </a:lnTo>
                  <a:lnTo>
                    <a:pt x="492023" y="61340"/>
                  </a:lnTo>
                  <a:lnTo>
                    <a:pt x="545096" y="49021"/>
                  </a:lnTo>
                  <a:lnTo>
                    <a:pt x="600100" y="37973"/>
                  </a:lnTo>
                  <a:lnTo>
                    <a:pt x="656894" y="28193"/>
                  </a:lnTo>
                  <a:lnTo>
                    <a:pt x="715378" y="19812"/>
                  </a:lnTo>
                  <a:lnTo>
                    <a:pt x="775462" y="12826"/>
                  </a:lnTo>
                  <a:lnTo>
                    <a:pt x="836930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6" y="7238"/>
                  </a:lnTo>
                  <a:lnTo>
                    <a:pt x="1282064" y="12826"/>
                  </a:lnTo>
                  <a:lnTo>
                    <a:pt x="1342008" y="19812"/>
                  </a:lnTo>
                  <a:lnTo>
                    <a:pt x="1400556" y="28193"/>
                  </a:lnTo>
                  <a:lnTo>
                    <a:pt x="1457325" y="37973"/>
                  </a:lnTo>
                  <a:lnTo>
                    <a:pt x="1512315" y="49021"/>
                  </a:lnTo>
                  <a:lnTo>
                    <a:pt x="1565402" y="61340"/>
                  </a:lnTo>
                  <a:lnTo>
                    <a:pt x="1616456" y="74930"/>
                  </a:lnTo>
                  <a:lnTo>
                    <a:pt x="1665351" y="89662"/>
                  </a:lnTo>
                  <a:lnTo>
                    <a:pt x="1711959" y="105537"/>
                  </a:lnTo>
                  <a:lnTo>
                    <a:pt x="1756156" y="122555"/>
                  </a:lnTo>
                  <a:lnTo>
                    <a:pt x="1797812" y="140462"/>
                  </a:lnTo>
                  <a:lnTo>
                    <a:pt x="1836801" y="159384"/>
                  </a:lnTo>
                  <a:lnTo>
                    <a:pt x="1873123" y="179324"/>
                  </a:lnTo>
                  <a:lnTo>
                    <a:pt x="1906524" y="200025"/>
                  </a:lnTo>
                  <a:lnTo>
                    <a:pt x="1964182" y="243967"/>
                  </a:lnTo>
                  <a:lnTo>
                    <a:pt x="2008758" y="290956"/>
                  </a:lnTo>
                  <a:lnTo>
                    <a:pt x="2039493" y="340359"/>
                  </a:lnTo>
                  <a:lnTo>
                    <a:pt x="2055368" y="391921"/>
                  </a:lnTo>
                  <a:lnTo>
                    <a:pt x="2057400" y="418338"/>
                  </a:lnTo>
                  <a:lnTo>
                    <a:pt x="2055368" y="444753"/>
                  </a:lnTo>
                  <a:lnTo>
                    <a:pt x="2039493" y="496315"/>
                  </a:lnTo>
                  <a:lnTo>
                    <a:pt x="2008758" y="545719"/>
                  </a:lnTo>
                  <a:lnTo>
                    <a:pt x="1964182" y="592709"/>
                  </a:lnTo>
                  <a:lnTo>
                    <a:pt x="1906524" y="636651"/>
                  </a:lnTo>
                  <a:lnTo>
                    <a:pt x="1873123" y="657351"/>
                  </a:lnTo>
                  <a:lnTo>
                    <a:pt x="1836801" y="677291"/>
                  </a:lnTo>
                  <a:lnTo>
                    <a:pt x="1797812" y="696213"/>
                  </a:lnTo>
                  <a:lnTo>
                    <a:pt x="1756156" y="714120"/>
                  </a:lnTo>
                  <a:lnTo>
                    <a:pt x="1711959" y="731138"/>
                  </a:lnTo>
                  <a:lnTo>
                    <a:pt x="1665351" y="747013"/>
                  </a:lnTo>
                  <a:lnTo>
                    <a:pt x="1616456" y="761745"/>
                  </a:lnTo>
                  <a:lnTo>
                    <a:pt x="1565402" y="775335"/>
                  </a:lnTo>
                  <a:lnTo>
                    <a:pt x="1512315" y="787654"/>
                  </a:lnTo>
                  <a:lnTo>
                    <a:pt x="1457325" y="798703"/>
                  </a:lnTo>
                  <a:lnTo>
                    <a:pt x="1400556" y="808482"/>
                  </a:lnTo>
                  <a:lnTo>
                    <a:pt x="1342008" y="816863"/>
                  </a:lnTo>
                  <a:lnTo>
                    <a:pt x="1282064" y="823848"/>
                  </a:lnTo>
                  <a:lnTo>
                    <a:pt x="1220596" y="829437"/>
                  </a:lnTo>
                  <a:lnTo>
                    <a:pt x="1157732" y="833373"/>
                  </a:lnTo>
                  <a:lnTo>
                    <a:pt x="1093724" y="835913"/>
                  </a:lnTo>
                  <a:lnTo>
                    <a:pt x="1028700" y="836676"/>
                  </a:lnTo>
                  <a:lnTo>
                    <a:pt x="963676" y="835913"/>
                  </a:lnTo>
                  <a:lnTo>
                    <a:pt x="899668" y="833373"/>
                  </a:lnTo>
                  <a:lnTo>
                    <a:pt x="836930" y="829437"/>
                  </a:lnTo>
                  <a:lnTo>
                    <a:pt x="775462" y="823848"/>
                  </a:lnTo>
                  <a:lnTo>
                    <a:pt x="715378" y="816863"/>
                  </a:lnTo>
                  <a:lnTo>
                    <a:pt x="656894" y="808482"/>
                  </a:lnTo>
                  <a:lnTo>
                    <a:pt x="600100" y="798703"/>
                  </a:lnTo>
                  <a:lnTo>
                    <a:pt x="545096" y="787654"/>
                  </a:lnTo>
                  <a:lnTo>
                    <a:pt x="492023" y="775335"/>
                  </a:lnTo>
                  <a:lnTo>
                    <a:pt x="440982" y="761745"/>
                  </a:lnTo>
                  <a:lnTo>
                    <a:pt x="392099" y="747013"/>
                  </a:lnTo>
                  <a:lnTo>
                    <a:pt x="345503" y="731138"/>
                  </a:lnTo>
                  <a:lnTo>
                    <a:pt x="301294" y="714120"/>
                  </a:lnTo>
                  <a:lnTo>
                    <a:pt x="259626" y="696213"/>
                  </a:lnTo>
                  <a:lnTo>
                    <a:pt x="220586" y="677291"/>
                  </a:lnTo>
                  <a:lnTo>
                    <a:pt x="184302" y="657351"/>
                  </a:lnTo>
                  <a:lnTo>
                    <a:pt x="150914" y="636651"/>
                  </a:lnTo>
                  <a:lnTo>
                    <a:pt x="93268" y="592709"/>
                  </a:lnTo>
                  <a:lnTo>
                    <a:pt x="48590" y="545719"/>
                  </a:lnTo>
                  <a:lnTo>
                    <a:pt x="17856" y="496315"/>
                  </a:lnTo>
                  <a:lnTo>
                    <a:pt x="2019" y="444753"/>
                  </a:lnTo>
                  <a:lnTo>
                    <a:pt x="0" y="4183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05383" y="4668469"/>
            <a:ext cx="1521460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310515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Pattern Recognition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01961" y="5102161"/>
            <a:ext cx="2066925" cy="846455"/>
            <a:chOff x="3501961" y="5102161"/>
            <a:chExt cx="2066925" cy="846455"/>
          </a:xfrm>
        </p:grpSpPr>
        <p:sp>
          <p:nvSpPr>
            <p:cNvPr id="27" name="object 27"/>
            <p:cNvSpPr/>
            <p:nvPr/>
          </p:nvSpPr>
          <p:spPr>
            <a:xfrm>
              <a:off x="3506723" y="51069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1028700" y="0"/>
                  </a:moveTo>
                  <a:lnTo>
                    <a:pt x="963676" y="762"/>
                  </a:lnTo>
                  <a:lnTo>
                    <a:pt x="899667" y="3301"/>
                  </a:lnTo>
                  <a:lnTo>
                    <a:pt x="836802" y="7238"/>
                  </a:lnTo>
                  <a:lnTo>
                    <a:pt x="775335" y="12826"/>
                  </a:lnTo>
                  <a:lnTo>
                    <a:pt x="715390" y="19812"/>
                  </a:lnTo>
                  <a:lnTo>
                    <a:pt x="656843" y="28193"/>
                  </a:lnTo>
                  <a:lnTo>
                    <a:pt x="600075" y="37973"/>
                  </a:lnTo>
                  <a:lnTo>
                    <a:pt x="545084" y="49021"/>
                  </a:lnTo>
                  <a:lnTo>
                    <a:pt x="491998" y="61340"/>
                  </a:lnTo>
                  <a:lnTo>
                    <a:pt x="440943" y="74930"/>
                  </a:lnTo>
                  <a:lnTo>
                    <a:pt x="392049" y="89662"/>
                  </a:lnTo>
                  <a:lnTo>
                    <a:pt x="345439" y="105537"/>
                  </a:lnTo>
                  <a:lnTo>
                    <a:pt x="301243" y="122555"/>
                  </a:lnTo>
                  <a:lnTo>
                    <a:pt x="259587" y="140462"/>
                  </a:lnTo>
                  <a:lnTo>
                    <a:pt x="220599" y="159384"/>
                  </a:lnTo>
                  <a:lnTo>
                    <a:pt x="184276" y="179323"/>
                  </a:lnTo>
                  <a:lnTo>
                    <a:pt x="150875" y="200025"/>
                  </a:lnTo>
                  <a:lnTo>
                    <a:pt x="93217" y="243966"/>
                  </a:lnTo>
                  <a:lnTo>
                    <a:pt x="48640" y="290956"/>
                  </a:lnTo>
                  <a:lnTo>
                    <a:pt x="17906" y="340359"/>
                  </a:lnTo>
                  <a:lnTo>
                    <a:pt x="2031" y="391922"/>
                  </a:lnTo>
                  <a:lnTo>
                    <a:pt x="0" y="418338"/>
                  </a:lnTo>
                  <a:lnTo>
                    <a:pt x="2031" y="444753"/>
                  </a:lnTo>
                  <a:lnTo>
                    <a:pt x="17906" y="496341"/>
                  </a:lnTo>
                  <a:lnTo>
                    <a:pt x="48640" y="545757"/>
                  </a:lnTo>
                  <a:lnTo>
                    <a:pt x="93217" y="592632"/>
                  </a:lnTo>
                  <a:lnTo>
                    <a:pt x="150875" y="636587"/>
                  </a:lnTo>
                  <a:lnTo>
                    <a:pt x="184276" y="657339"/>
                  </a:lnTo>
                  <a:lnTo>
                    <a:pt x="220599" y="677214"/>
                  </a:lnTo>
                  <a:lnTo>
                    <a:pt x="259587" y="696175"/>
                  </a:lnTo>
                  <a:lnTo>
                    <a:pt x="301243" y="714146"/>
                  </a:lnTo>
                  <a:lnTo>
                    <a:pt x="345439" y="731088"/>
                  </a:lnTo>
                  <a:lnTo>
                    <a:pt x="392049" y="746975"/>
                  </a:lnTo>
                  <a:lnTo>
                    <a:pt x="440943" y="761720"/>
                  </a:lnTo>
                  <a:lnTo>
                    <a:pt x="491998" y="775296"/>
                  </a:lnTo>
                  <a:lnTo>
                    <a:pt x="545084" y="787654"/>
                  </a:lnTo>
                  <a:lnTo>
                    <a:pt x="600075" y="798741"/>
                  </a:lnTo>
                  <a:lnTo>
                    <a:pt x="656843" y="808520"/>
                  </a:lnTo>
                  <a:lnTo>
                    <a:pt x="715390" y="816914"/>
                  </a:lnTo>
                  <a:lnTo>
                    <a:pt x="775335" y="823899"/>
                  </a:lnTo>
                  <a:lnTo>
                    <a:pt x="836802" y="829411"/>
                  </a:lnTo>
                  <a:lnTo>
                    <a:pt x="899667" y="833412"/>
                  </a:lnTo>
                  <a:lnTo>
                    <a:pt x="963676" y="835850"/>
                  </a:lnTo>
                  <a:lnTo>
                    <a:pt x="1028700" y="836676"/>
                  </a:lnTo>
                  <a:lnTo>
                    <a:pt x="1093724" y="835850"/>
                  </a:lnTo>
                  <a:lnTo>
                    <a:pt x="1157731" y="833412"/>
                  </a:lnTo>
                  <a:lnTo>
                    <a:pt x="1220597" y="829411"/>
                  </a:lnTo>
                  <a:lnTo>
                    <a:pt x="1282064" y="823899"/>
                  </a:lnTo>
                  <a:lnTo>
                    <a:pt x="1342009" y="816914"/>
                  </a:lnTo>
                  <a:lnTo>
                    <a:pt x="1400555" y="808520"/>
                  </a:lnTo>
                  <a:lnTo>
                    <a:pt x="1457325" y="798741"/>
                  </a:lnTo>
                  <a:lnTo>
                    <a:pt x="1512315" y="787654"/>
                  </a:lnTo>
                  <a:lnTo>
                    <a:pt x="1565402" y="775296"/>
                  </a:lnTo>
                  <a:lnTo>
                    <a:pt x="1616455" y="761720"/>
                  </a:lnTo>
                  <a:lnTo>
                    <a:pt x="1665351" y="746975"/>
                  </a:lnTo>
                  <a:lnTo>
                    <a:pt x="1711960" y="731088"/>
                  </a:lnTo>
                  <a:lnTo>
                    <a:pt x="1756155" y="714146"/>
                  </a:lnTo>
                  <a:lnTo>
                    <a:pt x="1797812" y="696175"/>
                  </a:lnTo>
                  <a:lnTo>
                    <a:pt x="1836801" y="677214"/>
                  </a:lnTo>
                  <a:lnTo>
                    <a:pt x="1873123" y="657339"/>
                  </a:lnTo>
                  <a:lnTo>
                    <a:pt x="1906524" y="636587"/>
                  </a:lnTo>
                  <a:lnTo>
                    <a:pt x="1964181" y="592632"/>
                  </a:lnTo>
                  <a:lnTo>
                    <a:pt x="2008759" y="545757"/>
                  </a:lnTo>
                  <a:lnTo>
                    <a:pt x="2039492" y="496341"/>
                  </a:lnTo>
                  <a:lnTo>
                    <a:pt x="2055367" y="444753"/>
                  </a:lnTo>
                  <a:lnTo>
                    <a:pt x="2057400" y="418338"/>
                  </a:lnTo>
                  <a:lnTo>
                    <a:pt x="2055367" y="391922"/>
                  </a:lnTo>
                  <a:lnTo>
                    <a:pt x="2039492" y="340359"/>
                  </a:lnTo>
                  <a:lnTo>
                    <a:pt x="2008759" y="290956"/>
                  </a:lnTo>
                  <a:lnTo>
                    <a:pt x="1964181" y="243966"/>
                  </a:lnTo>
                  <a:lnTo>
                    <a:pt x="1906524" y="200025"/>
                  </a:lnTo>
                  <a:lnTo>
                    <a:pt x="1873123" y="179323"/>
                  </a:lnTo>
                  <a:lnTo>
                    <a:pt x="1836801" y="159384"/>
                  </a:lnTo>
                  <a:lnTo>
                    <a:pt x="1797812" y="140462"/>
                  </a:lnTo>
                  <a:lnTo>
                    <a:pt x="1756155" y="122555"/>
                  </a:lnTo>
                  <a:lnTo>
                    <a:pt x="1711960" y="105537"/>
                  </a:lnTo>
                  <a:lnTo>
                    <a:pt x="1665351" y="89662"/>
                  </a:lnTo>
                  <a:lnTo>
                    <a:pt x="1616455" y="74930"/>
                  </a:lnTo>
                  <a:lnTo>
                    <a:pt x="1565402" y="61340"/>
                  </a:lnTo>
                  <a:lnTo>
                    <a:pt x="1512315" y="49021"/>
                  </a:lnTo>
                  <a:lnTo>
                    <a:pt x="1457325" y="37973"/>
                  </a:lnTo>
                  <a:lnTo>
                    <a:pt x="1400555" y="28193"/>
                  </a:lnTo>
                  <a:lnTo>
                    <a:pt x="1342009" y="19812"/>
                  </a:lnTo>
                  <a:lnTo>
                    <a:pt x="1282064" y="12826"/>
                  </a:lnTo>
                  <a:lnTo>
                    <a:pt x="1220597" y="7238"/>
                  </a:lnTo>
                  <a:lnTo>
                    <a:pt x="1157731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06723" y="51069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0" y="418338"/>
                  </a:moveTo>
                  <a:lnTo>
                    <a:pt x="8000" y="365887"/>
                  </a:lnTo>
                  <a:lnTo>
                    <a:pt x="31368" y="315341"/>
                  </a:lnTo>
                  <a:lnTo>
                    <a:pt x="69214" y="267081"/>
                  </a:lnTo>
                  <a:lnTo>
                    <a:pt x="120523" y="221614"/>
                  </a:lnTo>
                  <a:lnTo>
                    <a:pt x="184276" y="179323"/>
                  </a:lnTo>
                  <a:lnTo>
                    <a:pt x="220599" y="159384"/>
                  </a:lnTo>
                  <a:lnTo>
                    <a:pt x="259587" y="140462"/>
                  </a:lnTo>
                  <a:lnTo>
                    <a:pt x="301243" y="122555"/>
                  </a:lnTo>
                  <a:lnTo>
                    <a:pt x="345439" y="105537"/>
                  </a:lnTo>
                  <a:lnTo>
                    <a:pt x="392049" y="89662"/>
                  </a:lnTo>
                  <a:lnTo>
                    <a:pt x="440943" y="74930"/>
                  </a:lnTo>
                  <a:lnTo>
                    <a:pt x="491998" y="61340"/>
                  </a:lnTo>
                  <a:lnTo>
                    <a:pt x="545084" y="49021"/>
                  </a:lnTo>
                  <a:lnTo>
                    <a:pt x="600075" y="37973"/>
                  </a:lnTo>
                  <a:lnTo>
                    <a:pt x="656843" y="28193"/>
                  </a:lnTo>
                  <a:lnTo>
                    <a:pt x="715390" y="19812"/>
                  </a:lnTo>
                  <a:lnTo>
                    <a:pt x="775335" y="12826"/>
                  </a:lnTo>
                  <a:lnTo>
                    <a:pt x="836802" y="7238"/>
                  </a:lnTo>
                  <a:lnTo>
                    <a:pt x="899667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1" y="3301"/>
                  </a:lnTo>
                  <a:lnTo>
                    <a:pt x="1220597" y="7238"/>
                  </a:lnTo>
                  <a:lnTo>
                    <a:pt x="1282064" y="12826"/>
                  </a:lnTo>
                  <a:lnTo>
                    <a:pt x="1342009" y="19812"/>
                  </a:lnTo>
                  <a:lnTo>
                    <a:pt x="1400555" y="28193"/>
                  </a:lnTo>
                  <a:lnTo>
                    <a:pt x="1457325" y="37973"/>
                  </a:lnTo>
                  <a:lnTo>
                    <a:pt x="1512315" y="49021"/>
                  </a:lnTo>
                  <a:lnTo>
                    <a:pt x="1565402" y="61340"/>
                  </a:lnTo>
                  <a:lnTo>
                    <a:pt x="1616455" y="74930"/>
                  </a:lnTo>
                  <a:lnTo>
                    <a:pt x="1665351" y="89662"/>
                  </a:lnTo>
                  <a:lnTo>
                    <a:pt x="1711960" y="105537"/>
                  </a:lnTo>
                  <a:lnTo>
                    <a:pt x="1756155" y="122555"/>
                  </a:lnTo>
                  <a:lnTo>
                    <a:pt x="1797812" y="140462"/>
                  </a:lnTo>
                  <a:lnTo>
                    <a:pt x="1836801" y="159384"/>
                  </a:lnTo>
                  <a:lnTo>
                    <a:pt x="1873123" y="179323"/>
                  </a:lnTo>
                  <a:lnTo>
                    <a:pt x="1906524" y="200025"/>
                  </a:lnTo>
                  <a:lnTo>
                    <a:pt x="1964181" y="243966"/>
                  </a:lnTo>
                  <a:lnTo>
                    <a:pt x="2008759" y="290956"/>
                  </a:lnTo>
                  <a:lnTo>
                    <a:pt x="2039492" y="340359"/>
                  </a:lnTo>
                  <a:lnTo>
                    <a:pt x="2055367" y="391922"/>
                  </a:lnTo>
                  <a:lnTo>
                    <a:pt x="2057400" y="418338"/>
                  </a:lnTo>
                  <a:lnTo>
                    <a:pt x="2055367" y="444753"/>
                  </a:lnTo>
                  <a:lnTo>
                    <a:pt x="2039492" y="496341"/>
                  </a:lnTo>
                  <a:lnTo>
                    <a:pt x="2008759" y="545757"/>
                  </a:lnTo>
                  <a:lnTo>
                    <a:pt x="1964181" y="592632"/>
                  </a:lnTo>
                  <a:lnTo>
                    <a:pt x="1906524" y="636587"/>
                  </a:lnTo>
                  <a:lnTo>
                    <a:pt x="1873123" y="657339"/>
                  </a:lnTo>
                  <a:lnTo>
                    <a:pt x="1836801" y="677214"/>
                  </a:lnTo>
                  <a:lnTo>
                    <a:pt x="1797812" y="696175"/>
                  </a:lnTo>
                  <a:lnTo>
                    <a:pt x="1756155" y="714146"/>
                  </a:lnTo>
                  <a:lnTo>
                    <a:pt x="1711960" y="731088"/>
                  </a:lnTo>
                  <a:lnTo>
                    <a:pt x="1665351" y="746975"/>
                  </a:lnTo>
                  <a:lnTo>
                    <a:pt x="1616455" y="761720"/>
                  </a:lnTo>
                  <a:lnTo>
                    <a:pt x="1565402" y="775296"/>
                  </a:lnTo>
                  <a:lnTo>
                    <a:pt x="1512315" y="787654"/>
                  </a:lnTo>
                  <a:lnTo>
                    <a:pt x="1457325" y="798741"/>
                  </a:lnTo>
                  <a:lnTo>
                    <a:pt x="1400555" y="808520"/>
                  </a:lnTo>
                  <a:lnTo>
                    <a:pt x="1342009" y="816914"/>
                  </a:lnTo>
                  <a:lnTo>
                    <a:pt x="1282064" y="823899"/>
                  </a:lnTo>
                  <a:lnTo>
                    <a:pt x="1220597" y="829411"/>
                  </a:lnTo>
                  <a:lnTo>
                    <a:pt x="1157731" y="833412"/>
                  </a:lnTo>
                  <a:lnTo>
                    <a:pt x="1093724" y="835850"/>
                  </a:lnTo>
                  <a:lnTo>
                    <a:pt x="1028700" y="836676"/>
                  </a:lnTo>
                  <a:lnTo>
                    <a:pt x="963676" y="835850"/>
                  </a:lnTo>
                  <a:lnTo>
                    <a:pt x="899667" y="833412"/>
                  </a:lnTo>
                  <a:lnTo>
                    <a:pt x="836802" y="829411"/>
                  </a:lnTo>
                  <a:lnTo>
                    <a:pt x="775335" y="823899"/>
                  </a:lnTo>
                  <a:lnTo>
                    <a:pt x="715390" y="816914"/>
                  </a:lnTo>
                  <a:lnTo>
                    <a:pt x="656843" y="808520"/>
                  </a:lnTo>
                  <a:lnTo>
                    <a:pt x="600075" y="798741"/>
                  </a:lnTo>
                  <a:lnTo>
                    <a:pt x="545084" y="787654"/>
                  </a:lnTo>
                  <a:lnTo>
                    <a:pt x="491998" y="775296"/>
                  </a:lnTo>
                  <a:lnTo>
                    <a:pt x="440943" y="761720"/>
                  </a:lnTo>
                  <a:lnTo>
                    <a:pt x="392049" y="746975"/>
                  </a:lnTo>
                  <a:lnTo>
                    <a:pt x="345439" y="731088"/>
                  </a:lnTo>
                  <a:lnTo>
                    <a:pt x="301243" y="714146"/>
                  </a:lnTo>
                  <a:lnTo>
                    <a:pt x="259587" y="696175"/>
                  </a:lnTo>
                  <a:lnTo>
                    <a:pt x="220599" y="677214"/>
                  </a:lnTo>
                  <a:lnTo>
                    <a:pt x="184276" y="657339"/>
                  </a:lnTo>
                  <a:lnTo>
                    <a:pt x="150875" y="636587"/>
                  </a:lnTo>
                  <a:lnTo>
                    <a:pt x="93217" y="592632"/>
                  </a:lnTo>
                  <a:lnTo>
                    <a:pt x="48640" y="545757"/>
                  </a:lnTo>
                  <a:lnTo>
                    <a:pt x="17906" y="496341"/>
                  </a:lnTo>
                  <a:lnTo>
                    <a:pt x="2031" y="444753"/>
                  </a:lnTo>
                  <a:lnTo>
                    <a:pt x="0" y="4183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888994" y="5309108"/>
            <a:ext cx="129286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96037" y="4873561"/>
            <a:ext cx="2066925" cy="846455"/>
            <a:chOff x="6396037" y="4873561"/>
            <a:chExt cx="2066925" cy="846455"/>
          </a:xfrm>
        </p:grpSpPr>
        <p:sp>
          <p:nvSpPr>
            <p:cNvPr id="31" name="object 31"/>
            <p:cNvSpPr/>
            <p:nvPr/>
          </p:nvSpPr>
          <p:spPr>
            <a:xfrm>
              <a:off x="6400800" y="48783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802" y="7238"/>
                  </a:lnTo>
                  <a:lnTo>
                    <a:pt x="775334" y="12826"/>
                  </a:lnTo>
                  <a:lnTo>
                    <a:pt x="715391" y="19812"/>
                  </a:lnTo>
                  <a:lnTo>
                    <a:pt x="656844" y="28193"/>
                  </a:lnTo>
                  <a:lnTo>
                    <a:pt x="600075" y="37973"/>
                  </a:lnTo>
                  <a:lnTo>
                    <a:pt x="545083" y="49021"/>
                  </a:lnTo>
                  <a:lnTo>
                    <a:pt x="491998" y="61340"/>
                  </a:lnTo>
                  <a:lnTo>
                    <a:pt x="440944" y="74930"/>
                  </a:lnTo>
                  <a:lnTo>
                    <a:pt x="392049" y="89662"/>
                  </a:lnTo>
                  <a:lnTo>
                    <a:pt x="345440" y="105537"/>
                  </a:lnTo>
                  <a:lnTo>
                    <a:pt x="301244" y="122555"/>
                  </a:lnTo>
                  <a:lnTo>
                    <a:pt x="259588" y="140462"/>
                  </a:lnTo>
                  <a:lnTo>
                    <a:pt x="220599" y="159384"/>
                  </a:lnTo>
                  <a:lnTo>
                    <a:pt x="184276" y="179324"/>
                  </a:lnTo>
                  <a:lnTo>
                    <a:pt x="150875" y="200025"/>
                  </a:lnTo>
                  <a:lnTo>
                    <a:pt x="93217" y="243967"/>
                  </a:lnTo>
                  <a:lnTo>
                    <a:pt x="48640" y="290956"/>
                  </a:lnTo>
                  <a:lnTo>
                    <a:pt x="17907" y="340359"/>
                  </a:lnTo>
                  <a:lnTo>
                    <a:pt x="2032" y="391922"/>
                  </a:lnTo>
                  <a:lnTo>
                    <a:pt x="0" y="418338"/>
                  </a:lnTo>
                  <a:lnTo>
                    <a:pt x="2032" y="444753"/>
                  </a:lnTo>
                  <a:lnTo>
                    <a:pt x="17907" y="496316"/>
                  </a:lnTo>
                  <a:lnTo>
                    <a:pt x="48640" y="545719"/>
                  </a:lnTo>
                  <a:lnTo>
                    <a:pt x="93217" y="592709"/>
                  </a:lnTo>
                  <a:lnTo>
                    <a:pt x="150875" y="636651"/>
                  </a:lnTo>
                  <a:lnTo>
                    <a:pt x="184276" y="657351"/>
                  </a:lnTo>
                  <a:lnTo>
                    <a:pt x="220599" y="677291"/>
                  </a:lnTo>
                  <a:lnTo>
                    <a:pt x="259588" y="696213"/>
                  </a:lnTo>
                  <a:lnTo>
                    <a:pt x="301244" y="714171"/>
                  </a:lnTo>
                  <a:lnTo>
                    <a:pt x="345440" y="731113"/>
                  </a:lnTo>
                  <a:lnTo>
                    <a:pt x="392049" y="746988"/>
                  </a:lnTo>
                  <a:lnTo>
                    <a:pt x="440944" y="761733"/>
                  </a:lnTo>
                  <a:lnTo>
                    <a:pt x="491998" y="775322"/>
                  </a:lnTo>
                  <a:lnTo>
                    <a:pt x="545083" y="787666"/>
                  </a:lnTo>
                  <a:lnTo>
                    <a:pt x="600075" y="798753"/>
                  </a:lnTo>
                  <a:lnTo>
                    <a:pt x="656844" y="808520"/>
                  </a:lnTo>
                  <a:lnTo>
                    <a:pt x="715391" y="816927"/>
                  </a:lnTo>
                  <a:lnTo>
                    <a:pt x="775334" y="823899"/>
                  </a:lnTo>
                  <a:lnTo>
                    <a:pt x="836802" y="829411"/>
                  </a:lnTo>
                  <a:lnTo>
                    <a:pt x="899668" y="833412"/>
                  </a:lnTo>
                  <a:lnTo>
                    <a:pt x="963676" y="835850"/>
                  </a:lnTo>
                  <a:lnTo>
                    <a:pt x="1028700" y="836676"/>
                  </a:lnTo>
                  <a:lnTo>
                    <a:pt x="1093724" y="835850"/>
                  </a:lnTo>
                  <a:lnTo>
                    <a:pt x="1157731" y="833412"/>
                  </a:lnTo>
                  <a:lnTo>
                    <a:pt x="1220470" y="829411"/>
                  </a:lnTo>
                  <a:lnTo>
                    <a:pt x="1281938" y="823899"/>
                  </a:lnTo>
                  <a:lnTo>
                    <a:pt x="1342008" y="816927"/>
                  </a:lnTo>
                  <a:lnTo>
                    <a:pt x="1400428" y="808520"/>
                  </a:lnTo>
                  <a:lnTo>
                    <a:pt x="1457325" y="798753"/>
                  </a:lnTo>
                  <a:lnTo>
                    <a:pt x="1512316" y="787666"/>
                  </a:lnTo>
                  <a:lnTo>
                    <a:pt x="1565402" y="775322"/>
                  </a:lnTo>
                  <a:lnTo>
                    <a:pt x="1616328" y="761733"/>
                  </a:lnTo>
                  <a:lnTo>
                    <a:pt x="1665224" y="746988"/>
                  </a:lnTo>
                  <a:lnTo>
                    <a:pt x="1711832" y="731113"/>
                  </a:lnTo>
                  <a:lnTo>
                    <a:pt x="1756028" y="714171"/>
                  </a:lnTo>
                  <a:lnTo>
                    <a:pt x="1797811" y="696213"/>
                  </a:lnTo>
                  <a:lnTo>
                    <a:pt x="1836801" y="677291"/>
                  </a:lnTo>
                  <a:lnTo>
                    <a:pt x="1873123" y="657351"/>
                  </a:lnTo>
                  <a:lnTo>
                    <a:pt x="1906524" y="636651"/>
                  </a:lnTo>
                  <a:lnTo>
                    <a:pt x="1964181" y="592709"/>
                  </a:lnTo>
                  <a:lnTo>
                    <a:pt x="2008758" y="545719"/>
                  </a:lnTo>
                  <a:lnTo>
                    <a:pt x="2039493" y="496316"/>
                  </a:lnTo>
                  <a:lnTo>
                    <a:pt x="2055368" y="444753"/>
                  </a:lnTo>
                  <a:lnTo>
                    <a:pt x="2057400" y="418338"/>
                  </a:lnTo>
                  <a:lnTo>
                    <a:pt x="2055368" y="391922"/>
                  </a:lnTo>
                  <a:lnTo>
                    <a:pt x="2039493" y="340359"/>
                  </a:lnTo>
                  <a:lnTo>
                    <a:pt x="2008758" y="290956"/>
                  </a:lnTo>
                  <a:lnTo>
                    <a:pt x="1964181" y="243967"/>
                  </a:lnTo>
                  <a:lnTo>
                    <a:pt x="1906524" y="200025"/>
                  </a:lnTo>
                  <a:lnTo>
                    <a:pt x="1873123" y="179324"/>
                  </a:lnTo>
                  <a:lnTo>
                    <a:pt x="1836801" y="159384"/>
                  </a:lnTo>
                  <a:lnTo>
                    <a:pt x="1797811" y="140462"/>
                  </a:lnTo>
                  <a:lnTo>
                    <a:pt x="1756028" y="122555"/>
                  </a:lnTo>
                  <a:lnTo>
                    <a:pt x="1711832" y="105537"/>
                  </a:lnTo>
                  <a:lnTo>
                    <a:pt x="1665224" y="89662"/>
                  </a:lnTo>
                  <a:lnTo>
                    <a:pt x="1616328" y="74930"/>
                  </a:lnTo>
                  <a:lnTo>
                    <a:pt x="1565402" y="61340"/>
                  </a:lnTo>
                  <a:lnTo>
                    <a:pt x="1512316" y="49021"/>
                  </a:lnTo>
                  <a:lnTo>
                    <a:pt x="1457325" y="37973"/>
                  </a:lnTo>
                  <a:lnTo>
                    <a:pt x="1400428" y="28193"/>
                  </a:lnTo>
                  <a:lnTo>
                    <a:pt x="1342008" y="19812"/>
                  </a:lnTo>
                  <a:lnTo>
                    <a:pt x="1281938" y="12826"/>
                  </a:lnTo>
                  <a:lnTo>
                    <a:pt x="1220470" y="7238"/>
                  </a:lnTo>
                  <a:lnTo>
                    <a:pt x="1157731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00800" y="4878323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0" y="418338"/>
                  </a:moveTo>
                  <a:lnTo>
                    <a:pt x="8000" y="365887"/>
                  </a:lnTo>
                  <a:lnTo>
                    <a:pt x="31369" y="315340"/>
                  </a:lnTo>
                  <a:lnTo>
                    <a:pt x="69214" y="267081"/>
                  </a:lnTo>
                  <a:lnTo>
                    <a:pt x="120523" y="221614"/>
                  </a:lnTo>
                  <a:lnTo>
                    <a:pt x="184276" y="179324"/>
                  </a:lnTo>
                  <a:lnTo>
                    <a:pt x="220599" y="159384"/>
                  </a:lnTo>
                  <a:lnTo>
                    <a:pt x="259588" y="140462"/>
                  </a:lnTo>
                  <a:lnTo>
                    <a:pt x="301244" y="122555"/>
                  </a:lnTo>
                  <a:lnTo>
                    <a:pt x="345440" y="105537"/>
                  </a:lnTo>
                  <a:lnTo>
                    <a:pt x="392049" y="89662"/>
                  </a:lnTo>
                  <a:lnTo>
                    <a:pt x="440944" y="74930"/>
                  </a:lnTo>
                  <a:lnTo>
                    <a:pt x="491998" y="61340"/>
                  </a:lnTo>
                  <a:lnTo>
                    <a:pt x="545083" y="49021"/>
                  </a:lnTo>
                  <a:lnTo>
                    <a:pt x="600075" y="37973"/>
                  </a:lnTo>
                  <a:lnTo>
                    <a:pt x="656844" y="28193"/>
                  </a:lnTo>
                  <a:lnTo>
                    <a:pt x="715391" y="19812"/>
                  </a:lnTo>
                  <a:lnTo>
                    <a:pt x="775334" y="12826"/>
                  </a:lnTo>
                  <a:lnTo>
                    <a:pt x="836802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1" y="3301"/>
                  </a:lnTo>
                  <a:lnTo>
                    <a:pt x="1220470" y="7238"/>
                  </a:lnTo>
                  <a:lnTo>
                    <a:pt x="1281938" y="12826"/>
                  </a:lnTo>
                  <a:lnTo>
                    <a:pt x="1342008" y="19812"/>
                  </a:lnTo>
                  <a:lnTo>
                    <a:pt x="1400428" y="28193"/>
                  </a:lnTo>
                  <a:lnTo>
                    <a:pt x="1457325" y="37973"/>
                  </a:lnTo>
                  <a:lnTo>
                    <a:pt x="1512316" y="49021"/>
                  </a:lnTo>
                  <a:lnTo>
                    <a:pt x="1565402" y="61340"/>
                  </a:lnTo>
                  <a:lnTo>
                    <a:pt x="1616328" y="74930"/>
                  </a:lnTo>
                  <a:lnTo>
                    <a:pt x="1665224" y="89662"/>
                  </a:lnTo>
                  <a:lnTo>
                    <a:pt x="1711832" y="105537"/>
                  </a:lnTo>
                  <a:lnTo>
                    <a:pt x="1756028" y="122555"/>
                  </a:lnTo>
                  <a:lnTo>
                    <a:pt x="1797811" y="140462"/>
                  </a:lnTo>
                  <a:lnTo>
                    <a:pt x="1836801" y="159384"/>
                  </a:lnTo>
                  <a:lnTo>
                    <a:pt x="1873123" y="179324"/>
                  </a:lnTo>
                  <a:lnTo>
                    <a:pt x="1906524" y="200025"/>
                  </a:lnTo>
                  <a:lnTo>
                    <a:pt x="1964181" y="243967"/>
                  </a:lnTo>
                  <a:lnTo>
                    <a:pt x="2008758" y="290956"/>
                  </a:lnTo>
                  <a:lnTo>
                    <a:pt x="2039493" y="340359"/>
                  </a:lnTo>
                  <a:lnTo>
                    <a:pt x="2055368" y="391922"/>
                  </a:lnTo>
                  <a:lnTo>
                    <a:pt x="2057400" y="418338"/>
                  </a:lnTo>
                  <a:lnTo>
                    <a:pt x="2055368" y="444753"/>
                  </a:lnTo>
                  <a:lnTo>
                    <a:pt x="2039493" y="496316"/>
                  </a:lnTo>
                  <a:lnTo>
                    <a:pt x="2008758" y="545719"/>
                  </a:lnTo>
                  <a:lnTo>
                    <a:pt x="1964181" y="592709"/>
                  </a:lnTo>
                  <a:lnTo>
                    <a:pt x="1906524" y="636651"/>
                  </a:lnTo>
                  <a:lnTo>
                    <a:pt x="1873123" y="657351"/>
                  </a:lnTo>
                  <a:lnTo>
                    <a:pt x="1836801" y="677291"/>
                  </a:lnTo>
                  <a:lnTo>
                    <a:pt x="1797811" y="696213"/>
                  </a:lnTo>
                  <a:lnTo>
                    <a:pt x="1756028" y="714171"/>
                  </a:lnTo>
                  <a:lnTo>
                    <a:pt x="1711832" y="731113"/>
                  </a:lnTo>
                  <a:lnTo>
                    <a:pt x="1665224" y="746988"/>
                  </a:lnTo>
                  <a:lnTo>
                    <a:pt x="1616328" y="761733"/>
                  </a:lnTo>
                  <a:lnTo>
                    <a:pt x="1565402" y="775322"/>
                  </a:lnTo>
                  <a:lnTo>
                    <a:pt x="1512316" y="787666"/>
                  </a:lnTo>
                  <a:lnTo>
                    <a:pt x="1457325" y="798753"/>
                  </a:lnTo>
                  <a:lnTo>
                    <a:pt x="1400428" y="808520"/>
                  </a:lnTo>
                  <a:lnTo>
                    <a:pt x="1342008" y="816927"/>
                  </a:lnTo>
                  <a:lnTo>
                    <a:pt x="1281938" y="823899"/>
                  </a:lnTo>
                  <a:lnTo>
                    <a:pt x="1220470" y="829411"/>
                  </a:lnTo>
                  <a:lnTo>
                    <a:pt x="1157731" y="833412"/>
                  </a:lnTo>
                  <a:lnTo>
                    <a:pt x="1093724" y="835850"/>
                  </a:lnTo>
                  <a:lnTo>
                    <a:pt x="1028700" y="836676"/>
                  </a:lnTo>
                  <a:lnTo>
                    <a:pt x="963676" y="835850"/>
                  </a:lnTo>
                  <a:lnTo>
                    <a:pt x="899668" y="833412"/>
                  </a:lnTo>
                  <a:lnTo>
                    <a:pt x="836802" y="829411"/>
                  </a:lnTo>
                  <a:lnTo>
                    <a:pt x="775334" y="823899"/>
                  </a:lnTo>
                  <a:lnTo>
                    <a:pt x="715391" y="816927"/>
                  </a:lnTo>
                  <a:lnTo>
                    <a:pt x="656844" y="808520"/>
                  </a:lnTo>
                  <a:lnTo>
                    <a:pt x="600075" y="798753"/>
                  </a:lnTo>
                  <a:lnTo>
                    <a:pt x="545083" y="787666"/>
                  </a:lnTo>
                  <a:lnTo>
                    <a:pt x="491998" y="775322"/>
                  </a:lnTo>
                  <a:lnTo>
                    <a:pt x="440944" y="761733"/>
                  </a:lnTo>
                  <a:lnTo>
                    <a:pt x="392049" y="746988"/>
                  </a:lnTo>
                  <a:lnTo>
                    <a:pt x="345440" y="731113"/>
                  </a:lnTo>
                  <a:lnTo>
                    <a:pt x="301244" y="714171"/>
                  </a:lnTo>
                  <a:lnTo>
                    <a:pt x="259588" y="696213"/>
                  </a:lnTo>
                  <a:lnTo>
                    <a:pt x="220599" y="677291"/>
                  </a:lnTo>
                  <a:lnTo>
                    <a:pt x="184276" y="657351"/>
                  </a:lnTo>
                  <a:lnTo>
                    <a:pt x="150875" y="636651"/>
                  </a:lnTo>
                  <a:lnTo>
                    <a:pt x="93217" y="592709"/>
                  </a:lnTo>
                  <a:lnTo>
                    <a:pt x="48640" y="545719"/>
                  </a:lnTo>
                  <a:lnTo>
                    <a:pt x="17907" y="496316"/>
                  </a:lnTo>
                  <a:lnTo>
                    <a:pt x="2032" y="444753"/>
                  </a:lnTo>
                  <a:lnTo>
                    <a:pt x="0" y="4183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30110" y="4896688"/>
            <a:ext cx="1407160" cy="7600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342900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Other Disciplines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775513" y="3195637"/>
            <a:ext cx="2066925" cy="846455"/>
            <a:chOff x="6775513" y="3195637"/>
            <a:chExt cx="2066925" cy="846455"/>
          </a:xfrm>
        </p:grpSpPr>
        <p:sp>
          <p:nvSpPr>
            <p:cNvPr id="35" name="object 35"/>
            <p:cNvSpPr/>
            <p:nvPr/>
          </p:nvSpPr>
          <p:spPr>
            <a:xfrm>
              <a:off x="6780276" y="3200400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802" y="7238"/>
                  </a:lnTo>
                  <a:lnTo>
                    <a:pt x="775334" y="12826"/>
                  </a:lnTo>
                  <a:lnTo>
                    <a:pt x="715391" y="19812"/>
                  </a:lnTo>
                  <a:lnTo>
                    <a:pt x="656844" y="28194"/>
                  </a:lnTo>
                  <a:lnTo>
                    <a:pt x="600075" y="37973"/>
                  </a:lnTo>
                  <a:lnTo>
                    <a:pt x="545083" y="49022"/>
                  </a:lnTo>
                  <a:lnTo>
                    <a:pt x="491998" y="61340"/>
                  </a:lnTo>
                  <a:lnTo>
                    <a:pt x="440944" y="74929"/>
                  </a:lnTo>
                  <a:lnTo>
                    <a:pt x="392049" y="89662"/>
                  </a:lnTo>
                  <a:lnTo>
                    <a:pt x="345440" y="105537"/>
                  </a:lnTo>
                  <a:lnTo>
                    <a:pt x="301244" y="122554"/>
                  </a:lnTo>
                  <a:lnTo>
                    <a:pt x="259588" y="140462"/>
                  </a:lnTo>
                  <a:lnTo>
                    <a:pt x="220599" y="159385"/>
                  </a:lnTo>
                  <a:lnTo>
                    <a:pt x="184276" y="179324"/>
                  </a:lnTo>
                  <a:lnTo>
                    <a:pt x="150875" y="200025"/>
                  </a:lnTo>
                  <a:lnTo>
                    <a:pt x="93218" y="243966"/>
                  </a:lnTo>
                  <a:lnTo>
                    <a:pt x="48641" y="290957"/>
                  </a:lnTo>
                  <a:lnTo>
                    <a:pt x="17906" y="340360"/>
                  </a:lnTo>
                  <a:lnTo>
                    <a:pt x="2031" y="391922"/>
                  </a:lnTo>
                  <a:lnTo>
                    <a:pt x="0" y="418338"/>
                  </a:lnTo>
                  <a:lnTo>
                    <a:pt x="2031" y="444754"/>
                  </a:lnTo>
                  <a:lnTo>
                    <a:pt x="17906" y="496316"/>
                  </a:lnTo>
                  <a:lnTo>
                    <a:pt x="48641" y="545719"/>
                  </a:lnTo>
                  <a:lnTo>
                    <a:pt x="93218" y="592708"/>
                  </a:lnTo>
                  <a:lnTo>
                    <a:pt x="150875" y="636651"/>
                  </a:lnTo>
                  <a:lnTo>
                    <a:pt x="184276" y="657351"/>
                  </a:lnTo>
                  <a:lnTo>
                    <a:pt x="220599" y="677291"/>
                  </a:lnTo>
                  <a:lnTo>
                    <a:pt x="259588" y="696213"/>
                  </a:lnTo>
                  <a:lnTo>
                    <a:pt x="301244" y="714120"/>
                  </a:lnTo>
                  <a:lnTo>
                    <a:pt x="345440" y="731138"/>
                  </a:lnTo>
                  <a:lnTo>
                    <a:pt x="392049" y="747013"/>
                  </a:lnTo>
                  <a:lnTo>
                    <a:pt x="440944" y="761745"/>
                  </a:lnTo>
                  <a:lnTo>
                    <a:pt x="491998" y="775335"/>
                  </a:lnTo>
                  <a:lnTo>
                    <a:pt x="545083" y="787654"/>
                  </a:lnTo>
                  <a:lnTo>
                    <a:pt x="600075" y="798702"/>
                  </a:lnTo>
                  <a:lnTo>
                    <a:pt x="656844" y="808482"/>
                  </a:lnTo>
                  <a:lnTo>
                    <a:pt x="715391" y="816863"/>
                  </a:lnTo>
                  <a:lnTo>
                    <a:pt x="775334" y="823849"/>
                  </a:lnTo>
                  <a:lnTo>
                    <a:pt x="836802" y="829437"/>
                  </a:lnTo>
                  <a:lnTo>
                    <a:pt x="899668" y="833374"/>
                  </a:lnTo>
                  <a:lnTo>
                    <a:pt x="963676" y="835913"/>
                  </a:lnTo>
                  <a:lnTo>
                    <a:pt x="1028700" y="836676"/>
                  </a:lnTo>
                  <a:lnTo>
                    <a:pt x="1093724" y="835913"/>
                  </a:lnTo>
                  <a:lnTo>
                    <a:pt x="1157731" y="833374"/>
                  </a:lnTo>
                  <a:lnTo>
                    <a:pt x="1220470" y="829437"/>
                  </a:lnTo>
                  <a:lnTo>
                    <a:pt x="1281938" y="823849"/>
                  </a:lnTo>
                  <a:lnTo>
                    <a:pt x="1342008" y="816863"/>
                  </a:lnTo>
                  <a:lnTo>
                    <a:pt x="1400428" y="808482"/>
                  </a:lnTo>
                  <a:lnTo>
                    <a:pt x="1457325" y="798702"/>
                  </a:lnTo>
                  <a:lnTo>
                    <a:pt x="1512316" y="787654"/>
                  </a:lnTo>
                  <a:lnTo>
                    <a:pt x="1565402" y="775335"/>
                  </a:lnTo>
                  <a:lnTo>
                    <a:pt x="1616328" y="761745"/>
                  </a:lnTo>
                  <a:lnTo>
                    <a:pt x="1665224" y="747013"/>
                  </a:lnTo>
                  <a:lnTo>
                    <a:pt x="1711832" y="731138"/>
                  </a:lnTo>
                  <a:lnTo>
                    <a:pt x="1756028" y="714120"/>
                  </a:lnTo>
                  <a:lnTo>
                    <a:pt x="1797812" y="696213"/>
                  </a:lnTo>
                  <a:lnTo>
                    <a:pt x="1836801" y="677291"/>
                  </a:lnTo>
                  <a:lnTo>
                    <a:pt x="1873123" y="657351"/>
                  </a:lnTo>
                  <a:lnTo>
                    <a:pt x="1906524" y="636651"/>
                  </a:lnTo>
                  <a:lnTo>
                    <a:pt x="1964181" y="592708"/>
                  </a:lnTo>
                  <a:lnTo>
                    <a:pt x="2008758" y="545719"/>
                  </a:lnTo>
                  <a:lnTo>
                    <a:pt x="2039493" y="496316"/>
                  </a:lnTo>
                  <a:lnTo>
                    <a:pt x="2055368" y="444754"/>
                  </a:lnTo>
                  <a:lnTo>
                    <a:pt x="2057400" y="418338"/>
                  </a:lnTo>
                  <a:lnTo>
                    <a:pt x="2055368" y="391922"/>
                  </a:lnTo>
                  <a:lnTo>
                    <a:pt x="2039493" y="340360"/>
                  </a:lnTo>
                  <a:lnTo>
                    <a:pt x="2008758" y="290957"/>
                  </a:lnTo>
                  <a:lnTo>
                    <a:pt x="1964181" y="243966"/>
                  </a:lnTo>
                  <a:lnTo>
                    <a:pt x="1906524" y="200025"/>
                  </a:lnTo>
                  <a:lnTo>
                    <a:pt x="1873123" y="179324"/>
                  </a:lnTo>
                  <a:lnTo>
                    <a:pt x="1836801" y="159385"/>
                  </a:lnTo>
                  <a:lnTo>
                    <a:pt x="1797812" y="140462"/>
                  </a:lnTo>
                  <a:lnTo>
                    <a:pt x="1756028" y="122554"/>
                  </a:lnTo>
                  <a:lnTo>
                    <a:pt x="1711832" y="105537"/>
                  </a:lnTo>
                  <a:lnTo>
                    <a:pt x="1665224" y="89662"/>
                  </a:lnTo>
                  <a:lnTo>
                    <a:pt x="1616328" y="74929"/>
                  </a:lnTo>
                  <a:lnTo>
                    <a:pt x="1565402" y="61340"/>
                  </a:lnTo>
                  <a:lnTo>
                    <a:pt x="1512316" y="49022"/>
                  </a:lnTo>
                  <a:lnTo>
                    <a:pt x="1457325" y="37973"/>
                  </a:lnTo>
                  <a:lnTo>
                    <a:pt x="1400428" y="28194"/>
                  </a:lnTo>
                  <a:lnTo>
                    <a:pt x="1342008" y="19812"/>
                  </a:lnTo>
                  <a:lnTo>
                    <a:pt x="1281938" y="12826"/>
                  </a:lnTo>
                  <a:lnTo>
                    <a:pt x="1220470" y="7238"/>
                  </a:lnTo>
                  <a:lnTo>
                    <a:pt x="1157731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80276" y="3200400"/>
              <a:ext cx="2057400" cy="836930"/>
            </a:xfrm>
            <a:custGeom>
              <a:avLst/>
              <a:gdLst/>
              <a:ahLst/>
              <a:cxnLst/>
              <a:rect l="l" t="t" r="r" b="b"/>
              <a:pathLst>
                <a:path w="2057400" h="836929">
                  <a:moveTo>
                    <a:pt x="0" y="418338"/>
                  </a:moveTo>
                  <a:lnTo>
                    <a:pt x="8000" y="365887"/>
                  </a:lnTo>
                  <a:lnTo>
                    <a:pt x="31369" y="315340"/>
                  </a:lnTo>
                  <a:lnTo>
                    <a:pt x="69215" y="267080"/>
                  </a:lnTo>
                  <a:lnTo>
                    <a:pt x="120523" y="221614"/>
                  </a:lnTo>
                  <a:lnTo>
                    <a:pt x="184276" y="179324"/>
                  </a:lnTo>
                  <a:lnTo>
                    <a:pt x="220599" y="159385"/>
                  </a:lnTo>
                  <a:lnTo>
                    <a:pt x="259588" y="140462"/>
                  </a:lnTo>
                  <a:lnTo>
                    <a:pt x="301244" y="122554"/>
                  </a:lnTo>
                  <a:lnTo>
                    <a:pt x="345440" y="105537"/>
                  </a:lnTo>
                  <a:lnTo>
                    <a:pt x="392049" y="89662"/>
                  </a:lnTo>
                  <a:lnTo>
                    <a:pt x="440944" y="74929"/>
                  </a:lnTo>
                  <a:lnTo>
                    <a:pt x="491998" y="61340"/>
                  </a:lnTo>
                  <a:lnTo>
                    <a:pt x="545083" y="49022"/>
                  </a:lnTo>
                  <a:lnTo>
                    <a:pt x="600075" y="37973"/>
                  </a:lnTo>
                  <a:lnTo>
                    <a:pt x="656844" y="28194"/>
                  </a:lnTo>
                  <a:lnTo>
                    <a:pt x="715391" y="19812"/>
                  </a:lnTo>
                  <a:lnTo>
                    <a:pt x="775334" y="12826"/>
                  </a:lnTo>
                  <a:lnTo>
                    <a:pt x="836802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1" y="3301"/>
                  </a:lnTo>
                  <a:lnTo>
                    <a:pt x="1220470" y="7238"/>
                  </a:lnTo>
                  <a:lnTo>
                    <a:pt x="1281938" y="12826"/>
                  </a:lnTo>
                  <a:lnTo>
                    <a:pt x="1342008" y="19812"/>
                  </a:lnTo>
                  <a:lnTo>
                    <a:pt x="1400428" y="28194"/>
                  </a:lnTo>
                  <a:lnTo>
                    <a:pt x="1457325" y="37973"/>
                  </a:lnTo>
                  <a:lnTo>
                    <a:pt x="1512316" y="49022"/>
                  </a:lnTo>
                  <a:lnTo>
                    <a:pt x="1565402" y="61340"/>
                  </a:lnTo>
                  <a:lnTo>
                    <a:pt x="1616328" y="74929"/>
                  </a:lnTo>
                  <a:lnTo>
                    <a:pt x="1665224" y="89662"/>
                  </a:lnTo>
                  <a:lnTo>
                    <a:pt x="1711832" y="105537"/>
                  </a:lnTo>
                  <a:lnTo>
                    <a:pt x="1756028" y="122554"/>
                  </a:lnTo>
                  <a:lnTo>
                    <a:pt x="1797812" y="140462"/>
                  </a:lnTo>
                  <a:lnTo>
                    <a:pt x="1836801" y="159385"/>
                  </a:lnTo>
                  <a:lnTo>
                    <a:pt x="1873123" y="179324"/>
                  </a:lnTo>
                  <a:lnTo>
                    <a:pt x="1906524" y="200025"/>
                  </a:lnTo>
                  <a:lnTo>
                    <a:pt x="1964181" y="243966"/>
                  </a:lnTo>
                  <a:lnTo>
                    <a:pt x="2008758" y="290957"/>
                  </a:lnTo>
                  <a:lnTo>
                    <a:pt x="2039493" y="340360"/>
                  </a:lnTo>
                  <a:lnTo>
                    <a:pt x="2055368" y="391922"/>
                  </a:lnTo>
                  <a:lnTo>
                    <a:pt x="2057400" y="418338"/>
                  </a:lnTo>
                  <a:lnTo>
                    <a:pt x="2055368" y="444754"/>
                  </a:lnTo>
                  <a:lnTo>
                    <a:pt x="2039493" y="496316"/>
                  </a:lnTo>
                  <a:lnTo>
                    <a:pt x="2008758" y="545719"/>
                  </a:lnTo>
                  <a:lnTo>
                    <a:pt x="1964181" y="592708"/>
                  </a:lnTo>
                  <a:lnTo>
                    <a:pt x="1906524" y="636651"/>
                  </a:lnTo>
                  <a:lnTo>
                    <a:pt x="1873123" y="657351"/>
                  </a:lnTo>
                  <a:lnTo>
                    <a:pt x="1836801" y="677291"/>
                  </a:lnTo>
                  <a:lnTo>
                    <a:pt x="1797812" y="696213"/>
                  </a:lnTo>
                  <a:lnTo>
                    <a:pt x="1756028" y="714120"/>
                  </a:lnTo>
                  <a:lnTo>
                    <a:pt x="1711832" y="731138"/>
                  </a:lnTo>
                  <a:lnTo>
                    <a:pt x="1665224" y="747013"/>
                  </a:lnTo>
                  <a:lnTo>
                    <a:pt x="1616328" y="761745"/>
                  </a:lnTo>
                  <a:lnTo>
                    <a:pt x="1565402" y="775335"/>
                  </a:lnTo>
                  <a:lnTo>
                    <a:pt x="1512316" y="787654"/>
                  </a:lnTo>
                  <a:lnTo>
                    <a:pt x="1457325" y="798702"/>
                  </a:lnTo>
                  <a:lnTo>
                    <a:pt x="1400428" y="808482"/>
                  </a:lnTo>
                  <a:lnTo>
                    <a:pt x="1342008" y="816863"/>
                  </a:lnTo>
                  <a:lnTo>
                    <a:pt x="1281938" y="823849"/>
                  </a:lnTo>
                  <a:lnTo>
                    <a:pt x="1220470" y="829437"/>
                  </a:lnTo>
                  <a:lnTo>
                    <a:pt x="1157731" y="833374"/>
                  </a:lnTo>
                  <a:lnTo>
                    <a:pt x="1093724" y="835913"/>
                  </a:lnTo>
                  <a:lnTo>
                    <a:pt x="1028700" y="836676"/>
                  </a:lnTo>
                  <a:lnTo>
                    <a:pt x="963676" y="835913"/>
                  </a:lnTo>
                  <a:lnTo>
                    <a:pt x="899668" y="833374"/>
                  </a:lnTo>
                  <a:lnTo>
                    <a:pt x="836802" y="829437"/>
                  </a:lnTo>
                  <a:lnTo>
                    <a:pt x="775334" y="823849"/>
                  </a:lnTo>
                  <a:lnTo>
                    <a:pt x="715391" y="816863"/>
                  </a:lnTo>
                  <a:lnTo>
                    <a:pt x="656844" y="808482"/>
                  </a:lnTo>
                  <a:lnTo>
                    <a:pt x="600075" y="798702"/>
                  </a:lnTo>
                  <a:lnTo>
                    <a:pt x="545083" y="787654"/>
                  </a:lnTo>
                  <a:lnTo>
                    <a:pt x="491998" y="775335"/>
                  </a:lnTo>
                  <a:lnTo>
                    <a:pt x="440944" y="761745"/>
                  </a:lnTo>
                  <a:lnTo>
                    <a:pt x="392049" y="747013"/>
                  </a:lnTo>
                  <a:lnTo>
                    <a:pt x="345440" y="731138"/>
                  </a:lnTo>
                  <a:lnTo>
                    <a:pt x="301244" y="714120"/>
                  </a:lnTo>
                  <a:lnTo>
                    <a:pt x="259588" y="696213"/>
                  </a:lnTo>
                  <a:lnTo>
                    <a:pt x="220599" y="677291"/>
                  </a:lnTo>
                  <a:lnTo>
                    <a:pt x="184276" y="657351"/>
                  </a:lnTo>
                  <a:lnTo>
                    <a:pt x="150875" y="636651"/>
                  </a:lnTo>
                  <a:lnTo>
                    <a:pt x="93218" y="592708"/>
                  </a:lnTo>
                  <a:lnTo>
                    <a:pt x="48641" y="545719"/>
                  </a:lnTo>
                  <a:lnTo>
                    <a:pt x="17906" y="496316"/>
                  </a:lnTo>
                  <a:lnTo>
                    <a:pt x="2031" y="444754"/>
                  </a:lnTo>
                  <a:lnTo>
                    <a:pt x="0" y="41833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998334" y="3391356"/>
            <a:ext cx="161734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spc="-20" dirty="0">
                <a:latin typeface="Times New Roman"/>
                <a:cs typeface="Times New Roman"/>
              </a:rPr>
              <a:t>Visualization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53128" y="4265676"/>
            <a:ext cx="86995" cy="841375"/>
          </a:xfrm>
          <a:custGeom>
            <a:avLst/>
            <a:gdLst/>
            <a:ahLst/>
            <a:cxnLst/>
            <a:rect l="l" t="t" r="r" b="b"/>
            <a:pathLst>
              <a:path w="86995" h="841375">
                <a:moveTo>
                  <a:pt x="86741" y="87122"/>
                </a:moveTo>
                <a:lnTo>
                  <a:pt x="79502" y="72644"/>
                </a:lnTo>
                <a:lnTo>
                  <a:pt x="57785" y="29057"/>
                </a:lnTo>
                <a:lnTo>
                  <a:pt x="57785" y="72644"/>
                </a:lnTo>
                <a:lnTo>
                  <a:pt x="28956" y="72656"/>
                </a:lnTo>
                <a:lnTo>
                  <a:pt x="57785" y="72644"/>
                </a:lnTo>
                <a:lnTo>
                  <a:pt x="57785" y="29057"/>
                </a:lnTo>
                <a:lnTo>
                  <a:pt x="43307" y="0"/>
                </a:lnTo>
                <a:lnTo>
                  <a:pt x="0" y="87122"/>
                </a:lnTo>
                <a:lnTo>
                  <a:pt x="28956" y="87122"/>
                </a:lnTo>
                <a:lnTo>
                  <a:pt x="28956" y="841248"/>
                </a:lnTo>
                <a:lnTo>
                  <a:pt x="57861" y="841248"/>
                </a:lnTo>
                <a:lnTo>
                  <a:pt x="57861" y="87122"/>
                </a:lnTo>
                <a:lnTo>
                  <a:pt x="86741" y="87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2769" y="207086"/>
            <a:ext cx="75869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30" dirty="0"/>
              <a:t> </a:t>
            </a:r>
            <a:r>
              <a:rPr dirty="0"/>
              <a:t>Data</a:t>
            </a:r>
            <a:r>
              <a:rPr spc="10" dirty="0"/>
              <a:t> </a:t>
            </a:r>
            <a:r>
              <a:rPr dirty="0"/>
              <a:t>Mining?—</a:t>
            </a:r>
            <a:r>
              <a:rPr spc="-20" dirty="0"/>
              <a:t>Potential</a:t>
            </a:r>
            <a:r>
              <a:rPr spc="-33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875" y="1269949"/>
            <a:ext cx="8062595" cy="37566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42900" marR="3178810" indent="-342900" algn="r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429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decision</a:t>
            </a:r>
            <a:r>
              <a:rPr sz="24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support</a:t>
            </a:r>
            <a:endParaRPr sz="2400">
              <a:latin typeface="Times New Roman"/>
              <a:cs typeface="Times New Roman"/>
            </a:endParaRPr>
          </a:p>
          <a:p>
            <a:pPr marL="756920" lvl="1" indent="-287020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Market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1142365" marR="5080" lvl="2" indent="-228600">
              <a:lnSpc>
                <a:spcPct val="150100"/>
              </a:lnSpc>
              <a:spcBef>
                <a:spcPts val="170"/>
              </a:spcBef>
              <a:buFont typeface="Arial MT"/>
              <a:buChar char="•"/>
              <a:tabLst>
                <a:tab pos="1142365" algn="l"/>
                <a:tab pos="2016125" algn="l"/>
                <a:tab pos="2807335" algn="l"/>
                <a:tab pos="3832225" algn="l"/>
                <a:tab pos="4366895" algn="l"/>
                <a:tab pos="5661660" algn="l"/>
                <a:tab pos="6731634" algn="l"/>
                <a:tab pos="7793355" algn="l"/>
              </a:tabLst>
            </a:pPr>
            <a:r>
              <a:rPr sz="2000" spc="-10" dirty="0">
                <a:latin typeface="Times New Roman"/>
                <a:cs typeface="Times New Roman"/>
              </a:rPr>
              <a:t>Market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basket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analysis,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sale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techniques,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customer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feedback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items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(Opinion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Mining)</a:t>
            </a:r>
            <a:endParaRPr sz="20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738505" lvl="1" indent="-282575">
              <a:lnSpc>
                <a:spcPct val="100000"/>
              </a:lnSpc>
              <a:buFont typeface="Arial MT"/>
              <a:buChar char="–"/>
              <a:tabLst>
                <a:tab pos="738505" algn="l"/>
              </a:tabLst>
            </a:pP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227965" marR="3155315" lvl="2" indent="-227965" algn="r">
              <a:lnSpc>
                <a:spcPct val="100000"/>
              </a:lnSpc>
              <a:spcBef>
                <a:spcPts val="1845"/>
              </a:spcBef>
              <a:buFont typeface="Arial MT"/>
              <a:buChar char="•"/>
              <a:tabLst>
                <a:tab pos="227965" algn="l"/>
              </a:tabLst>
            </a:pPr>
            <a:r>
              <a:rPr sz="2000" dirty="0">
                <a:latin typeface="Times New Roman"/>
                <a:cs typeface="Times New Roman"/>
              </a:rPr>
              <a:t>Forecasting,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decision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20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 marL="737870" lvl="1" indent="-281940">
              <a:lnSpc>
                <a:spcPct val="100000"/>
              </a:lnSpc>
              <a:spcBef>
                <a:spcPts val="1885"/>
              </a:spcBef>
              <a:buFont typeface="Arial MT"/>
              <a:buChar char="–"/>
              <a:tabLst>
                <a:tab pos="737870" algn="l"/>
              </a:tabLst>
            </a:pPr>
            <a:r>
              <a:rPr sz="2400" dirty="0">
                <a:latin typeface="Times New Roman"/>
                <a:cs typeface="Times New Roman"/>
              </a:rPr>
              <a:t>Fraud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unusual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(outliers)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2769" y="173558"/>
            <a:ext cx="75869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30" dirty="0"/>
              <a:t> </a:t>
            </a:r>
            <a:r>
              <a:rPr dirty="0"/>
              <a:t>Data</a:t>
            </a:r>
            <a:r>
              <a:rPr spc="10" dirty="0"/>
              <a:t> </a:t>
            </a:r>
            <a:r>
              <a:rPr dirty="0"/>
              <a:t>Mining?—</a:t>
            </a:r>
            <a:r>
              <a:rPr spc="-20" dirty="0"/>
              <a:t>Potential</a:t>
            </a:r>
            <a:r>
              <a:rPr spc="-33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616832"/>
            <a:ext cx="8046720" cy="34855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OtherApplications</a:t>
            </a:r>
            <a:endParaRPr sz="2400">
              <a:latin typeface="Times New Roman"/>
              <a:cs typeface="Times New Roman"/>
            </a:endParaRPr>
          </a:p>
          <a:p>
            <a:pPr marL="751205" marR="5080" lvl="1" indent="-281940">
              <a:lnSpc>
                <a:spcPct val="150100"/>
              </a:lnSpc>
              <a:spcBef>
                <a:spcPts val="110"/>
              </a:spcBef>
              <a:buFont typeface="Arial MT"/>
              <a:buChar char="–"/>
              <a:tabLst>
                <a:tab pos="753110" algn="l"/>
                <a:tab pos="1466850" algn="l"/>
                <a:tab pos="2505075" algn="l"/>
                <a:tab pos="3411220" algn="l"/>
                <a:tab pos="4371340" algn="l"/>
                <a:tab pos="5300345" algn="l"/>
                <a:tab pos="6896734" algn="l"/>
                <a:tab pos="7514590" algn="l"/>
              </a:tabLst>
            </a:pP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mining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(news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group,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email,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documents)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65" dirty="0">
                <a:latin typeface="Times New Roman"/>
                <a:cs typeface="Times New Roman"/>
              </a:rPr>
              <a:t>Web 	</a:t>
            </a:r>
            <a:r>
              <a:rPr sz="2400" spc="-10" dirty="0">
                <a:latin typeface="Times New Roman"/>
                <a:cs typeface="Times New Roman"/>
              </a:rPr>
              <a:t>mining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252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Stream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(mining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continuous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rapid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720"/>
              </a:spcBef>
              <a:buFont typeface="Arial MT"/>
              <a:buChar char="•"/>
              <a:tabLst>
                <a:tab pos="1155700" algn="l"/>
              </a:tabLst>
            </a:pPr>
            <a:r>
              <a:rPr sz="1800" dirty="0">
                <a:latin typeface="Times New Roman"/>
                <a:cs typeface="Times New Roman"/>
              </a:rPr>
              <a:t>Eg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Telephone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pattern,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Web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Searching,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Sensor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751840" lvl="1" indent="-281940">
              <a:lnSpc>
                <a:spcPct val="100000"/>
              </a:lnSpc>
              <a:spcBef>
                <a:spcPts val="1890"/>
              </a:spcBef>
              <a:buFont typeface="Arial MT"/>
              <a:buChar char="–"/>
              <a:tabLst>
                <a:tab pos="751840" algn="l"/>
              </a:tabLst>
            </a:pPr>
            <a:r>
              <a:rPr sz="2400" dirty="0">
                <a:latin typeface="Times New Roman"/>
                <a:cs typeface="Times New Roman"/>
              </a:rPr>
              <a:t>Bioinformatics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bio-data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934" y="59258"/>
            <a:ext cx="6778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Mining:</a:t>
            </a:r>
            <a:r>
              <a:rPr spc="-7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What</a:t>
            </a:r>
            <a:r>
              <a:rPr spc="-15" dirty="0"/>
              <a:t> </a:t>
            </a:r>
            <a:r>
              <a:rPr dirty="0"/>
              <a:t>Kinds</a:t>
            </a:r>
            <a:r>
              <a:rPr spc="-45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10" dirty="0"/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59" y="491094"/>
            <a:ext cx="8457565" cy="1123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technology,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kind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meaningful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a</a:t>
            </a:r>
            <a:r>
              <a:rPr sz="2400" spc="-20" dirty="0">
                <a:latin typeface="Times New Roman"/>
                <a:cs typeface="Times New Roman"/>
              </a:rPr>
              <a:t> target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263" y="2566238"/>
            <a:ext cx="7945120" cy="1016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115"/>
              </a:spcBef>
              <a:buFont typeface="Arial MT"/>
              <a:buChar char="–"/>
              <a:tabLst>
                <a:tab pos="295275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Database-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oriented</a:t>
            </a:r>
            <a:r>
              <a:rPr sz="24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sets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Relational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database,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warehouse,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transactional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279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Contd..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7159" y="736168"/>
            <a:ext cx="6459855" cy="53574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Advanced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sets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advanced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  <a:p>
            <a:pPr marL="751840" lvl="1" indent="-281940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75184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198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spc="-35" dirty="0">
                <a:latin typeface="Times New Roman"/>
                <a:cs typeface="Times New Roman"/>
              </a:rPr>
              <a:t>Time-</a:t>
            </a:r>
            <a:r>
              <a:rPr sz="2400" spc="-10" dirty="0">
                <a:latin typeface="Times New Roman"/>
                <a:cs typeface="Times New Roman"/>
              </a:rPr>
              <a:t>series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graphs,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multi-linked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751840" lvl="1" indent="-281940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751840" algn="l"/>
              </a:tabLst>
            </a:pPr>
            <a:r>
              <a:rPr sz="2400" dirty="0">
                <a:latin typeface="Times New Roman"/>
                <a:cs typeface="Times New Roman"/>
              </a:rPr>
              <a:t>Heterogeneous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legacy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databases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1985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Spatial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spatiotemporal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2014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Multimedia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</a:t>
            </a:r>
            <a:endParaRPr sz="2400">
              <a:latin typeface="Times New Roman"/>
              <a:cs typeface="Times New Roman"/>
            </a:endParaRPr>
          </a:p>
          <a:p>
            <a:pPr marL="751840" lvl="1" indent="-281940">
              <a:lnSpc>
                <a:spcPct val="100000"/>
              </a:lnSpc>
              <a:spcBef>
                <a:spcPts val="1985"/>
              </a:spcBef>
              <a:buFont typeface="Arial MT"/>
              <a:buChar char="–"/>
              <a:tabLst>
                <a:tab pos="751840" algn="l"/>
              </a:tabLst>
            </a:pPr>
            <a:r>
              <a:rPr sz="2400" spc="-80" dirty="0">
                <a:latin typeface="Times New Roman"/>
                <a:cs typeface="Times New Roman"/>
              </a:rPr>
              <a:t>Text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databases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World-</a:t>
            </a:r>
            <a:r>
              <a:rPr sz="2400" spc="-60" dirty="0">
                <a:latin typeface="Times New Roman"/>
                <a:cs typeface="Times New Roman"/>
              </a:rPr>
              <a:t>Wide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Web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16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370" y="54686"/>
            <a:ext cx="66757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Knowledge</a:t>
            </a:r>
            <a:r>
              <a:rPr spc="-60" dirty="0"/>
              <a:t> </a:t>
            </a:r>
            <a:r>
              <a:rPr dirty="0"/>
              <a:t>Discovery</a:t>
            </a:r>
            <a:r>
              <a:rPr spc="-90" dirty="0"/>
              <a:t> </a:t>
            </a:r>
            <a:r>
              <a:rPr dirty="0"/>
              <a:t>(KDD)</a:t>
            </a:r>
            <a:r>
              <a:rPr spc="-95" dirty="0"/>
              <a:t> </a:t>
            </a:r>
            <a:r>
              <a:rPr spc="-10" dirty="0"/>
              <a:t>Process..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567294"/>
            <a:ext cx="7868920" cy="574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060" marR="311785" indent="-34099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Simply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stated,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refers 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“mining” 	</a:t>
            </a:r>
            <a:r>
              <a:rPr sz="2400" dirty="0">
                <a:latin typeface="Times New Roman"/>
                <a:cs typeface="Times New Roman"/>
              </a:rPr>
              <a:t>knowledge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amounts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databases, 	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warehouses,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10" dirty="0">
                <a:latin typeface="Times New Roman"/>
                <a:cs typeface="Times New Roman"/>
              </a:rPr>
              <a:t> information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repositories.</a:t>
            </a:r>
            <a:endParaRPr sz="2400">
              <a:latin typeface="Times New Roman"/>
              <a:cs typeface="Times New Roman"/>
            </a:endParaRPr>
          </a:p>
          <a:p>
            <a:pPr marL="355600" marR="442595" indent="-343535" algn="just">
              <a:lnSpc>
                <a:spcPct val="150100"/>
              </a:lnSpc>
              <a:spcBef>
                <a:spcPts val="615"/>
              </a:spcBef>
              <a:buSzPct val="75000"/>
              <a:buFont typeface="Arial MT"/>
              <a:buChar char="•"/>
              <a:tabLst>
                <a:tab pos="355600" algn="l"/>
                <a:tab pos="432434" algn="l"/>
              </a:tabLst>
            </a:pPr>
            <a:r>
              <a:rPr sz="2400" dirty="0">
                <a:latin typeface="Times New Roman"/>
                <a:cs typeface="Times New Roman"/>
              </a:rPr>
              <a:t>	Many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treat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synonym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another </a:t>
            </a:r>
            <a:r>
              <a:rPr sz="2400" dirty="0">
                <a:latin typeface="Times New Roman"/>
                <a:cs typeface="Times New Roman"/>
              </a:rPr>
              <a:t>popularly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Knowledge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Discovery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spc="-20" dirty="0">
                <a:latin typeface="Times New Roman"/>
                <a:cs typeface="Times New Roman"/>
              </a:rPr>
              <a:t>KDD.</a:t>
            </a:r>
            <a:endParaRPr sz="2400">
              <a:latin typeface="Times New Roman"/>
              <a:cs typeface="Times New Roman"/>
            </a:endParaRPr>
          </a:p>
          <a:p>
            <a:pPr marL="355600" marR="85090" indent="-343535">
              <a:lnSpc>
                <a:spcPct val="150100"/>
              </a:lnSpc>
              <a:spcBef>
                <a:spcPts val="575"/>
              </a:spcBef>
              <a:buChar char="•"/>
              <a:tabLst>
                <a:tab pos="355600" algn="l"/>
                <a:tab pos="414655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2400" spc="-30" dirty="0">
                <a:latin typeface="Times New Roman"/>
                <a:cs typeface="Times New Roman"/>
              </a:rPr>
              <a:t>Alternatively,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view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essential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knowledge </a:t>
            </a:r>
            <a:r>
              <a:rPr sz="2400" spc="-10" dirty="0">
                <a:latin typeface="Times New Roman"/>
                <a:cs typeface="Times New Roman"/>
              </a:rPr>
              <a:t>discovery.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200"/>
              </a:lnSpc>
              <a:spcBef>
                <a:spcPts val="610"/>
              </a:spcBef>
              <a:buChar char="•"/>
              <a:tabLst>
                <a:tab pos="355600" algn="l"/>
                <a:tab pos="428625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Knowledge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discovery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iterative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steps: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2499" y="5874207"/>
            <a:ext cx="561784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-10" dirty="0">
                <a:latin typeface="Times New Roman"/>
                <a:cs typeface="Times New Roman"/>
              </a:rPr>
              <a:t>Figure:</a:t>
            </a:r>
            <a:r>
              <a:rPr sz="1900" b="1" spc="-114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Knowledge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Discovery</a:t>
            </a:r>
            <a:r>
              <a:rPr sz="1900" b="1" spc="-9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Process</a:t>
            </a:r>
            <a:r>
              <a:rPr sz="1900" b="1" spc="-1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(Stages</a:t>
            </a:r>
            <a:r>
              <a:rPr sz="1900" b="1" spc="-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110" dirty="0">
                <a:latin typeface="Times New Roman"/>
                <a:cs typeface="Times New Roman"/>
              </a:rPr>
              <a:t> </a:t>
            </a:r>
            <a:r>
              <a:rPr sz="1900" b="1" spc="-20" dirty="0">
                <a:latin typeface="Times New Roman"/>
                <a:cs typeface="Times New Roman"/>
              </a:rPr>
              <a:t>KDD)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34923"/>
            <a:ext cx="7164324" cy="51800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17</a:t>
            </a:fld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18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12368"/>
            <a:ext cx="8016875" cy="4757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cleaning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17244" lvl="1" indent="-347345">
              <a:lnSpc>
                <a:spcPct val="100000"/>
              </a:lnSpc>
              <a:spcBef>
                <a:spcPts val="1845"/>
              </a:spcBef>
              <a:buFont typeface="Arial MT"/>
              <a:buChar char="–"/>
              <a:tabLst>
                <a:tab pos="817244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removes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 and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inconsistent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8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integration:</a:t>
            </a:r>
            <a:endParaRPr sz="24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805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sources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selection:</a:t>
            </a:r>
            <a:endParaRPr sz="2400">
              <a:latin typeface="Times New Roman"/>
              <a:cs typeface="Times New Roman"/>
            </a:endParaRPr>
          </a:p>
          <a:p>
            <a:pPr marL="817244" lvl="1" indent="-347345">
              <a:lnSpc>
                <a:spcPct val="100000"/>
              </a:lnSpc>
              <a:spcBef>
                <a:spcPts val="1845"/>
              </a:spcBef>
              <a:buFont typeface="Arial MT"/>
              <a:buChar char="–"/>
              <a:tabLst>
                <a:tab pos="817244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relevant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retrieved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database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8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transformation:</a:t>
            </a:r>
            <a:endParaRPr sz="24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50100"/>
              </a:lnSpc>
              <a:spcBef>
                <a:spcPts val="175"/>
              </a:spcBef>
              <a:buChar char="–"/>
              <a:tabLst>
                <a:tab pos="753110" algn="l"/>
                <a:tab pos="817244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transformed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consolidated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appropriate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summary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aggregation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19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12368"/>
            <a:ext cx="8046084" cy="45885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mining:</a:t>
            </a:r>
            <a:endParaRPr sz="24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50100"/>
              </a:lnSpc>
              <a:spcBef>
                <a:spcPts val="640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essential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applied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extract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Pattern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evaluation:</a:t>
            </a:r>
            <a:endParaRPr sz="2400">
              <a:latin typeface="Times New Roman"/>
              <a:cs typeface="Times New Roman"/>
            </a:endParaRPr>
          </a:p>
          <a:p>
            <a:pPr marL="753110" marR="250190" lvl="1" indent="-283845">
              <a:lnSpc>
                <a:spcPct val="150100"/>
              </a:lnSpc>
              <a:spcBef>
                <a:spcPts val="600"/>
              </a:spcBef>
              <a:buFont typeface="Arial MT"/>
              <a:buChar char="–"/>
              <a:tabLst>
                <a:tab pos="753110" algn="l"/>
                <a:tab pos="7202805" algn="l"/>
              </a:tabLst>
            </a:pP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interesting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representing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knowledge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based </a:t>
            </a:r>
            <a:r>
              <a:rPr sz="2000" dirty="0">
                <a:latin typeface="Times New Roman"/>
                <a:cs typeface="Times New Roman"/>
              </a:rPr>
              <a:t>on some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interestingness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measures.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4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presentation:</a:t>
            </a:r>
            <a:endParaRPr sz="2400">
              <a:latin typeface="Times New Roman"/>
              <a:cs typeface="Times New Roman"/>
            </a:endParaRPr>
          </a:p>
          <a:p>
            <a:pPr marL="753110" marR="446405" lvl="1" indent="-283845">
              <a:lnSpc>
                <a:spcPct val="150100"/>
              </a:lnSpc>
              <a:spcBef>
                <a:spcPts val="640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techniques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mined </a:t>
            </a: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20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593049"/>
            <a:ext cx="8089265" cy="2917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9525" indent="-33972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According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view,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knowledge 	</a:t>
            </a:r>
            <a:r>
              <a:rPr sz="2000" dirty="0">
                <a:latin typeface="Times New Roman"/>
                <a:cs typeface="Times New Roman"/>
              </a:rPr>
              <a:t>discovery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50100"/>
              </a:lnSpc>
              <a:buSzPct val="90000"/>
              <a:buFont typeface="Arial MT"/>
              <a:buChar char="•"/>
              <a:tabLst>
                <a:tab pos="355600" algn="l"/>
                <a:tab pos="418465" algn="l"/>
              </a:tabLst>
            </a:pPr>
            <a:r>
              <a:rPr sz="2000" dirty="0">
                <a:latin typeface="Times New Roman"/>
                <a:cs typeface="Times New Roman"/>
              </a:rPr>
              <a:t>	However,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industry,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media,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research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milieu,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becoming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popular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longer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discovery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159" y="4298060"/>
            <a:ext cx="8086725" cy="17970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14655" indent="-401955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414655" algn="l"/>
              </a:tabLst>
            </a:pPr>
            <a:r>
              <a:rPr sz="2000" dirty="0">
                <a:latin typeface="Times New Roman"/>
                <a:cs typeface="Times New Roman"/>
              </a:rPr>
              <a:t>Therefore,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2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1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view,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typical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described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following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slides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928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Architecture</a:t>
            </a:r>
            <a:r>
              <a:rPr spc="-9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Mining</a:t>
            </a:r>
            <a:r>
              <a:rPr spc="-10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799287"/>
            <a:ext cx="7773034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typical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majorcomponents.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7152" y="5734608"/>
            <a:ext cx="447357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10" dirty="0">
                <a:latin typeface="Times New Roman"/>
                <a:cs typeface="Times New Roman"/>
              </a:rPr>
              <a:t>Figure: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Architecture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Data </a:t>
            </a:r>
            <a:r>
              <a:rPr sz="2000" spc="-10" dirty="0">
                <a:latin typeface="Times New Roman"/>
                <a:cs typeface="Times New Roman"/>
              </a:rPr>
              <a:t>Mining</a:t>
            </a:r>
            <a:r>
              <a:rPr sz="2000" spc="-3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932" y="1613916"/>
            <a:ext cx="4636008" cy="40142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21</a:t>
            </a:fld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22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701751"/>
            <a:ext cx="8041640" cy="24650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 indent="-342900">
              <a:lnSpc>
                <a:spcPts val="2390"/>
              </a:lnSpc>
              <a:spcBef>
                <a:spcPts val="114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Database,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Warehouse,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World</a:t>
            </a:r>
            <a:r>
              <a:rPr sz="20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Wide</a:t>
            </a:r>
            <a:r>
              <a:rPr sz="2000" b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Web,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0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ts val="2390"/>
              </a:lnSpc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Repository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753110" marR="452120" lvl="1" indent="-283845">
              <a:lnSpc>
                <a:spcPts val="3390"/>
              </a:lnSpc>
              <a:spcBef>
                <a:spcPts val="240"/>
              </a:spcBef>
              <a:buChar char="–"/>
              <a:tabLst>
                <a:tab pos="753110" algn="l"/>
                <a:tab pos="845185" algn="l"/>
              </a:tabLst>
            </a:pPr>
            <a:r>
              <a:rPr sz="25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databases,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warehouses,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spreadsheets,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kinds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10" dirty="0">
                <a:latin typeface="Times New Roman"/>
                <a:cs typeface="Times New Roman"/>
              </a:rPr>
              <a:t>information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repositories.</a:t>
            </a:r>
            <a:endParaRPr sz="20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50100"/>
              </a:lnSpc>
              <a:spcBef>
                <a:spcPts val="185"/>
              </a:spcBef>
              <a:buChar char="–"/>
              <a:tabLst>
                <a:tab pos="753110" algn="l"/>
                <a:tab pos="817244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cleaning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integration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performed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23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48308"/>
            <a:ext cx="7830820" cy="2200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Database</a:t>
            </a:r>
            <a:r>
              <a:rPr sz="32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3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32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Warehouse</a:t>
            </a:r>
            <a:r>
              <a:rPr sz="32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Server:</a:t>
            </a:r>
            <a:endParaRPr sz="3200">
              <a:latin typeface="Times New Roman"/>
              <a:cs typeface="Times New Roman"/>
            </a:endParaRPr>
          </a:p>
          <a:p>
            <a:pPr marL="753110" marR="5080" indent="-283845">
              <a:lnSpc>
                <a:spcPct val="150100"/>
              </a:lnSpc>
              <a:spcBef>
                <a:spcPts val="309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warehouse server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fetching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relevant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user’s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mining request.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24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30021"/>
            <a:ext cx="8084184" cy="2900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Knowledge</a:t>
            </a:r>
            <a:r>
              <a:rPr sz="28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Base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753110" marR="5080" lvl="1" indent="-283845" algn="just">
              <a:lnSpc>
                <a:spcPct val="150100"/>
              </a:lnSpc>
              <a:spcBef>
                <a:spcPts val="310"/>
              </a:spcBef>
              <a:buSzPct val="90000"/>
              <a:buFont typeface="Arial MT"/>
              <a:buChar char="–"/>
              <a:tabLst>
                <a:tab pos="753110" algn="l"/>
                <a:tab pos="816610" algn="l"/>
              </a:tabLst>
            </a:pPr>
            <a:r>
              <a:rPr sz="2000" dirty="0">
                <a:latin typeface="Times New Roman"/>
                <a:cs typeface="Times New Roman"/>
              </a:rPr>
              <a:t>	This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search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evaluate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interestingness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resulting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patterns.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simply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 form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rules.</a:t>
            </a:r>
            <a:endParaRPr sz="2000">
              <a:latin typeface="Times New Roman"/>
              <a:cs typeface="Times New Roman"/>
            </a:endParaRPr>
          </a:p>
          <a:p>
            <a:pPr marL="750570" marR="535940" lvl="1" indent="-281305" algn="just">
              <a:lnSpc>
                <a:spcPct val="150100"/>
              </a:lnSpc>
              <a:spcBef>
                <a:spcPts val="935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 concept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hierarchies,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organize 	</a:t>
            </a:r>
            <a:r>
              <a:rPr sz="2000" dirty="0">
                <a:latin typeface="Times New Roman"/>
                <a:cs typeface="Times New Roman"/>
              </a:rPr>
              <a:t>attributes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attribute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abstraction.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25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30021"/>
            <a:ext cx="8089265" cy="2323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Mining</a:t>
            </a:r>
            <a:r>
              <a:rPr sz="28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753110" marR="5080" indent="-283845" algn="just">
              <a:lnSpc>
                <a:spcPct val="150100"/>
              </a:lnSpc>
              <a:spcBef>
                <a:spcPts val="31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essential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ideally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set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functional  modules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correlation </a:t>
            </a:r>
            <a:r>
              <a:rPr sz="2000" dirty="0">
                <a:latin typeface="Times New Roman"/>
                <a:cs typeface="Times New Roman"/>
              </a:rPr>
              <a:t>analysis,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classification,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prediction,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cluster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outlier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26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30021"/>
            <a:ext cx="7952105" cy="24422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Pattern</a:t>
            </a:r>
            <a:r>
              <a:rPr sz="28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Evaluation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50100"/>
              </a:lnSpc>
              <a:spcBef>
                <a:spcPts val="310"/>
              </a:spcBef>
              <a:buChar char="–"/>
              <a:tabLst>
                <a:tab pos="753110" algn="l"/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typically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employs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interestingness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measures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interacts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focus</a:t>
            </a:r>
            <a:r>
              <a:rPr sz="2000" i="1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searchtoward </a:t>
            </a:r>
            <a:r>
              <a:rPr sz="2000" dirty="0">
                <a:latin typeface="Times New Roman"/>
                <a:cs typeface="Times New Roman"/>
              </a:rPr>
              <a:t>interesting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patterns.</a:t>
            </a:r>
            <a:endParaRPr sz="2000">
              <a:latin typeface="Times New Roman"/>
              <a:cs typeface="Times New Roman"/>
            </a:endParaRPr>
          </a:p>
          <a:p>
            <a:pPr marL="817244" lvl="1" indent="-347345">
              <a:lnSpc>
                <a:spcPct val="100000"/>
              </a:lnSpc>
              <a:spcBef>
                <a:spcPts val="2140"/>
              </a:spcBef>
              <a:buFont typeface="Arial MT"/>
              <a:buChar char="–"/>
              <a:tabLst>
                <a:tab pos="817244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interestingness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thresholds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discovered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27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2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48308"/>
            <a:ext cx="8088630" cy="4606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3200" b="1" spc="-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751840" marR="5080" lvl="1" indent="-282575" algn="just">
              <a:lnSpc>
                <a:spcPct val="150100"/>
              </a:lnSpc>
              <a:spcBef>
                <a:spcPts val="309"/>
              </a:spcBef>
              <a:buFont typeface="Arial MT"/>
              <a:buChar char="–"/>
              <a:tabLst>
                <a:tab pos="75311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communicates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data 	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system,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allowing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interact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specifying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mining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task.</a:t>
            </a:r>
            <a:endParaRPr sz="2400">
              <a:latin typeface="Times New Roman"/>
              <a:cs typeface="Times New Roman"/>
            </a:endParaRPr>
          </a:p>
          <a:p>
            <a:pPr marL="751840" marR="6985" lvl="1" indent="-282575" algn="just">
              <a:lnSpc>
                <a:spcPct val="150100"/>
              </a:lnSpc>
              <a:spcBef>
                <a:spcPts val="610"/>
              </a:spcBef>
              <a:buFont typeface="Arial MT"/>
              <a:buChar char="–"/>
              <a:tabLst>
                <a:tab pos="75311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addition,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component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browse 	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warehouse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schemas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structures, 	</a:t>
            </a:r>
            <a:r>
              <a:rPr sz="2400" dirty="0">
                <a:latin typeface="Times New Roman"/>
                <a:cs typeface="Times New Roman"/>
              </a:rPr>
              <a:t>evaluate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mined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patterns,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2490"/>
              </a:spcBef>
            </a:pP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forms.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09333" y="6458815"/>
            <a:ext cx="24447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00"/>
              </a:lnSpc>
            </a:pPr>
            <a:fld id="{81D60167-4931-47E6-BA6A-407CBD079E47}" type="slidenum"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9855" y="54686"/>
            <a:ext cx="4838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 Data</a:t>
            </a:r>
            <a:r>
              <a:rPr spc="-155" dirty="0"/>
              <a:t> </a:t>
            </a:r>
            <a:r>
              <a:rPr spc="-10" dirty="0"/>
              <a:t>Warehouse?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593049"/>
            <a:ext cx="8089900" cy="5542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5080" indent="-33972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warehouse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general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terms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7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historic</a:t>
            </a:r>
            <a:r>
              <a:rPr sz="2000" spc="7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repository</a:t>
            </a:r>
            <a:r>
              <a:rPr sz="2000" spc="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information 	</a:t>
            </a:r>
            <a:r>
              <a:rPr sz="2000" dirty="0">
                <a:latin typeface="Times New Roman"/>
                <a:cs typeface="Times New Roman"/>
              </a:rPr>
              <a:t>collected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unified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schema,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	</a:t>
            </a: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single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Warehouses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constructed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2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808355" lvl="1" indent="-338455">
              <a:lnSpc>
                <a:spcPct val="100000"/>
              </a:lnSpc>
              <a:spcBef>
                <a:spcPts val="1505"/>
              </a:spcBef>
              <a:buFont typeface="Arial MT"/>
              <a:buChar char="–"/>
              <a:tabLst>
                <a:tab pos="808355" algn="l"/>
              </a:tabLst>
            </a:pPr>
            <a:r>
              <a:rPr sz="1700" spc="-10" dirty="0">
                <a:latin typeface="Times New Roman"/>
                <a:cs typeface="Times New Roman"/>
              </a:rPr>
              <a:t>DATACLEANING,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420"/>
              </a:spcBef>
              <a:buFont typeface="Arial MT"/>
              <a:buChar char="–"/>
              <a:tabLst>
                <a:tab pos="753110" algn="l"/>
              </a:tabLst>
            </a:pPr>
            <a:r>
              <a:rPr sz="1700" spc="-10" dirty="0">
                <a:latin typeface="Times New Roman"/>
                <a:cs typeface="Times New Roman"/>
              </a:rPr>
              <a:t>DATAINTEGRATION,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80"/>
              </a:spcBef>
              <a:buFont typeface="Arial MT"/>
              <a:buChar char="–"/>
              <a:tabLst>
                <a:tab pos="753110" algn="l"/>
              </a:tabLst>
            </a:pPr>
            <a:r>
              <a:rPr sz="1700" spc="-10" dirty="0">
                <a:latin typeface="Times New Roman"/>
                <a:cs typeface="Times New Roman"/>
              </a:rPr>
              <a:t>DATATRANSFORMATION,</a:t>
            </a:r>
            <a:endParaRPr sz="1700">
              <a:latin typeface="Times New Roman"/>
              <a:cs typeface="Times New Roman"/>
            </a:endParaRPr>
          </a:p>
          <a:p>
            <a:pPr marL="808355" lvl="1" indent="-338455">
              <a:lnSpc>
                <a:spcPct val="100000"/>
              </a:lnSpc>
              <a:spcBef>
                <a:spcPts val="1420"/>
              </a:spcBef>
              <a:buFont typeface="Arial MT"/>
              <a:buChar char="–"/>
              <a:tabLst>
                <a:tab pos="808355" algn="l"/>
              </a:tabLst>
            </a:pPr>
            <a:r>
              <a:rPr sz="1700" spc="-155" dirty="0">
                <a:latin typeface="Times New Roman"/>
                <a:cs typeface="Times New Roman"/>
              </a:rPr>
              <a:t>DATA</a:t>
            </a:r>
            <a:r>
              <a:rPr sz="1700" spc="-2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LOADING,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and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80"/>
              </a:spcBef>
              <a:buFont typeface="Arial MT"/>
              <a:buChar char="–"/>
              <a:tabLst>
                <a:tab pos="753110" algn="l"/>
              </a:tabLst>
            </a:pPr>
            <a:r>
              <a:rPr sz="1700" dirty="0">
                <a:latin typeface="Times New Roman"/>
                <a:cs typeface="Times New Roman"/>
              </a:rPr>
              <a:t>PERIODIC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DATAREFRESHING.</a:t>
            </a:r>
            <a:endParaRPr sz="1700">
              <a:latin typeface="Times New Roman"/>
              <a:cs typeface="Times New Roman"/>
            </a:endParaRPr>
          </a:p>
          <a:p>
            <a:pPr marL="351790" marR="5080" indent="-339725" algn="just">
              <a:lnSpc>
                <a:spcPts val="36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warehouse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historical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	</a:t>
            </a:r>
            <a:r>
              <a:rPr sz="2000" dirty="0">
                <a:latin typeface="Times New Roman"/>
                <a:cs typeface="Times New Roman"/>
              </a:rPr>
              <a:t>analyze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past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(days,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weeks,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months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	</a:t>
            </a:r>
            <a:r>
              <a:rPr sz="2000" dirty="0">
                <a:latin typeface="Times New Roman"/>
                <a:cs typeface="Times New Roman"/>
              </a:rPr>
              <a:t>years)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future.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641" y="21158"/>
            <a:ext cx="1922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Contd……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433181"/>
            <a:ext cx="8093075" cy="522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85115" indent="-343535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definition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warehouse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WH </a:t>
            </a:r>
            <a:r>
              <a:rPr sz="2400" spc="-10" dirty="0">
                <a:latin typeface="Times New Roman"/>
                <a:cs typeface="Times New Roman"/>
              </a:rPr>
              <a:t>Inmon:</a:t>
            </a:r>
            <a:endParaRPr sz="2400">
              <a:latin typeface="Times New Roman"/>
              <a:cs typeface="Times New Roman"/>
            </a:endParaRPr>
          </a:p>
          <a:p>
            <a:pPr marL="753110" marR="351155" lvl="1" indent="-342900">
              <a:lnSpc>
                <a:spcPct val="139600"/>
              </a:lnSpc>
              <a:spcBef>
                <a:spcPts val="710"/>
              </a:spcBef>
              <a:buFont typeface="Arial MT"/>
              <a:buChar char="•"/>
              <a:tabLst>
                <a:tab pos="753110" algn="l"/>
              </a:tabLst>
            </a:pP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“A</a:t>
            </a:r>
            <a:r>
              <a:rPr sz="2000" spc="-105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data</a:t>
            </a:r>
            <a:r>
              <a:rPr sz="2000" spc="-5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warehouse</a:t>
            </a:r>
            <a:r>
              <a:rPr sz="2000" spc="-5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is</a:t>
            </a:r>
            <a:r>
              <a:rPr sz="2000" spc="3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subject-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oriented</a:t>
            </a:r>
            <a:r>
              <a:rPr sz="2000" spc="-20" dirty="0">
                <a:latin typeface="Times New Roman"/>
                <a:cs typeface="Times New Roman"/>
              </a:rPr>
              <a:t>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integrated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time-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variant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320" dirty="0"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157573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nonvolatile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57573"/>
                </a:solidFill>
                <a:latin typeface="Times New Roman"/>
                <a:cs typeface="Times New Roman"/>
              </a:rPr>
              <a:t>collection</a:t>
            </a:r>
            <a:r>
              <a:rPr sz="2000" spc="-85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of</a:t>
            </a:r>
            <a:r>
              <a:rPr sz="2000" spc="1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data</a:t>
            </a:r>
            <a:r>
              <a:rPr sz="2000" spc="-35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in</a:t>
            </a:r>
            <a:r>
              <a:rPr sz="2000" spc="35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support</a:t>
            </a:r>
            <a:r>
              <a:rPr sz="2000" spc="-65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of</a:t>
            </a:r>
            <a:r>
              <a:rPr sz="2000" spc="3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157573"/>
                </a:solidFill>
                <a:latin typeface="Times New Roman"/>
                <a:cs typeface="Times New Roman"/>
              </a:rPr>
              <a:t>management’s</a:t>
            </a:r>
            <a:r>
              <a:rPr sz="2000" spc="-14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57573"/>
                </a:solidFill>
                <a:latin typeface="Times New Roman"/>
                <a:cs typeface="Times New Roman"/>
              </a:rPr>
              <a:t>decision- </a:t>
            </a:r>
            <a:r>
              <a:rPr sz="2000" dirty="0">
                <a:solidFill>
                  <a:srgbClr val="157573"/>
                </a:solidFill>
                <a:latin typeface="Times New Roman"/>
                <a:cs typeface="Times New Roman"/>
              </a:rPr>
              <a:t>making</a:t>
            </a:r>
            <a:r>
              <a:rPr sz="2000" spc="-100" dirty="0">
                <a:solidFill>
                  <a:srgbClr val="157573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57573"/>
                </a:solidFill>
                <a:latin typeface="Times New Roman"/>
                <a:cs typeface="Times New Roman"/>
              </a:rPr>
              <a:t>process.”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80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warehousing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751840" indent="-281940" algn="just">
              <a:lnSpc>
                <a:spcPct val="100000"/>
              </a:lnSpc>
              <a:spcBef>
                <a:spcPts val="1800"/>
              </a:spcBef>
              <a:buFont typeface="Arial MT"/>
              <a:buChar char="–"/>
              <a:tabLst>
                <a:tab pos="75184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constructing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warehouses.</a:t>
            </a:r>
            <a:endParaRPr sz="2400">
              <a:latin typeface="Times New Roman"/>
              <a:cs typeface="Times New Roman"/>
            </a:endParaRPr>
          </a:p>
          <a:p>
            <a:pPr marL="751840" marR="5080" indent="-282575" algn="just">
              <a:lnSpc>
                <a:spcPct val="140100"/>
              </a:lnSpc>
              <a:spcBef>
                <a:spcPts val="145"/>
              </a:spcBef>
              <a:buFont typeface="Arial MT"/>
              <a:buChar char="–"/>
              <a:tabLst>
                <a:tab pos="753110" algn="l"/>
              </a:tabLst>
            </a:pP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extracting</a:t>
            </a:r>
            <a:r>
              <a:rPr sz="240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transferring</a:t>
            </a:r>
            <a:r>
              <a:rPr sz="24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operational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 	</a:t>
            </a:r>
            <a:r>
              <a:rPr sz="2400" dirty="0">
                <a:latin typeface="Times New Roman"/>
                <a:cs typeface="Times New Roman"/>
              </a:rPr>
              <a:t>into informational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store 	(warehouse)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5085" y="6443573"/>
            <a:ext cx="18161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25" dirty="0">
                <a:solidFill>
                  <a:srgbClr val="878787"/>
                </a:solidFill>
                <a:latin typeface="Times New Roman"/>
                <a:cs typeface="Times New Roman"/>
              </a:rPr>
              <a:t>37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648" y="59258"/>
            <a:ext cx="5135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60" dirty="0"/>
              <a:t> </a:t>
            </a:r>
            <a:r>
              <a:rPr spc="-10" dirty="0"/>
              <a:t>Warehouse—Integrated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368" y="567062"/>
            <a:ext cx="5486400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2134870" algn="l"/>
                <a:tab pos="2752725" algn="l"/>
                <a:tab pos="43808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Constructed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integrating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multiple, </a:t>
            </a:r>
            <a:r>
              <a:rPr sz="2400" dirty="0">
                <a:latin typeface="Times New Roman"/>
                <a:cs typeface="Times New Roman"/>
              </a:rPr>
              <a:t>heterogeneous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sources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368" y="1752752"/>
            <a:ext cx="5495925" cy="355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3110" marR="5080" indent="-283845" algn="just">
              <a:lnSpc>
                <a:spcPct val="1501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47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relational</a:t>
            </a:r>
            <a:r>
              <a:rPr sz="2000" spc="18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databases,</a:t>
            </a:r>
            <a:r>
              <a:rPr sz="2000" spc="18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flat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files,</a:t>
            </a:r>
            <a:r>
              <a:rPr sz="2000" spc="190" dirty="0">
                <a:latin typeface="Times New Roman"/>
                <a:cs typeface="Times New Roman"/>
              </a:rPr>
              <a:t>   </a:t>
            </a:r>
            <a:r>
              <a:rPr sz="2000" spc="-40" dirty="0">
                <a:latin typeface="Times New Roman"/>
                <a:cs typeface="Times New Roman"/>
              </a:rPr>
              <a:t>on-</a:t>
            </a:r>
            <a:r>
              <a:rPr sz="2000" spc="-20" dirty="0">
                <a:latin typeface="Times New Roman"/>
                <a:cs typeface="Times New Roman"/>
              </a:rPr>
              <a:t>line </a:t>
            </a:r>
            <a:r>
              <a:rPr sz="2000" dirty="0">
                <a:latin typeface="Times New Roman"/>
                <a:cs typeface="Times New Roman"/>
              </a:rPr>
              <a:t>transaction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</a:t>
            </a:r>
            <a:endParaRPr sz="2000">
              <a:latin typeface="Times New Roman"/>
              <a:cs typeface="Times New Roman"/>
            </a:endParaRPr>
          </a:p>
          <a:p>
            <a:pPr marL="353060" marR="8890" indent="-340995" algn="just">
              <a:lnSpc>
                <a:spcPct val="150100"/>
              </a:lnSpc>
              <a:spcBef>
                <a:spcPts val="4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1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cleaning</a:t>
            </a:r>
            <a:r>
              <a:rPr sz="2400" spc="21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1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15" dirty="0">
                <a:latin typeface="Times New Roman"/>
                <a:cs typeface="Times New Roman"/>
              </a:rPr>
              <a:t>   </a:t>
            </a:r>
            <a:r>
              <a:rPr sz="2400" spc="-10" dirty="0">
                <a:latin typeface="Times New Roman"/>
                <a:cs typeface="Times New Roman"/>
              </a:rPr>
              <a:t>integration 	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applied.</a:t>
            </a:r>
            <a:endParaRPr sz="2400">
              <a:latin typeface="Times New Roman"/>
              <a:cs typeface="Times New Roman"/>
            </a:endParaRPr>
          </a:p>
          <a:p>
            <a:pPr marL="753110" marR="5715" indent="-283845" algn="just">
              <a:lnSpc>
                <a:spcPct val="150100"/>
              </a:lnSpc>
              <a:spcBef>
                <a:spcPts val="71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25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Ensure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consistency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naming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conventions, </a:t>
            </a:r>
            <a:r>
              <a:rPr sz="2000" dirty="0">
                <a:latin typeface="Times New Roman"/>
                <a:cs typeface="Times New Roman"/>
              </a:rPr>
              <a:t>encoding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structures,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attribute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measures,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etc. </a:t>
            </a:r>
            <a:r>
              <a:rPr sz="2000" dirty="0">
                <a:latin typeface="Times New Roman"/>
                <a:cs typeface="Times New Roman"/>
              </a:rPr>
              <a:t>among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sources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352" y="5540146"/>
            <a:ext cx="3821429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E.g.,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Hotel price: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currency,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tax,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85204" y="2052701"/>
            <a:ext cx="937260" cy="946785"/>
            <a:chOff x="6085204" y="2052701"/>
            <a:chExt cx="937260" cy="946785"/>
          </a:xfrm>
        </p:grpSpPr>
        <p:sp>
          <p:nvSpPr>
            <p:cNvPr id="7" name="object 7"/>
            <p:cNvSpPr/>
            <p:nvPr/>
          </p:nvSpPr>
          <p:spPr>
            <a:xfrm>
              <a:off x="6089903" y="2171700"/>
              <a:ext cx="923290" cy="818515"/>
            </a:xfrm>
            <a:custGeom>
              <a:avLst/>
              <a:gdLst/>
              <a:ahLst/>
              <a:cxnLst/>
              <a:rect l="l" t="t" r="r" b="b"/>
              <a:pathLst>
                <a:path w="923290" h="818514">
                  <a:moveTo>
                    <a:pt x="923163" y="0"/>
                  </a:moveTo>
                  <a:lnTo>
                    <a:pt x="899668" y="36575"/>
                  </a:lnTo>
                  <a:lnTo>
                    <a:pt x="834136" y="68325"/>
                  </a:lnTo>
                  <a:lnTo>
                    <a:pt x="787907" y="81914"/>
                  </a:lnTo>
                  <a:lnTo>
                    <a:pt x="734187" y="93472"/>
                  </a:lnTo>
                  <a:lnTo>
                    <a:pt x="673735" y="102870"/>
                  </a:lnTo>
                  <a:lnTo>
                    <a:pt x="607441" y="109854"/>
                  </a:lnTo>
                  <a:lnTo>
                    <a:pt x="536448" y="114300"/>
                  </a:lnTo>
                  <a:lnTo>
                    <a:pt x="461518" y="115824"/>
                  </a:lnTo>
                  <a:lnTo>
                    <a:pt x="386715" y="114300"/>
                  </a:lnTo>
                  <a:lnTo>
                    <a:pt x="315722" y="109854"/>
                  </a:lnTo>
                  <a:lnTo>
                    <a:pt x="249428" y="102870"/>
                  </a:lnTo>
                  <a:lnTo>
                    <a:pt x="188975" y="93472"/>
                  </a:lnTo>
                  <a:lnTo>
                    <a:pt x="135255" y="81914"/>
                  </a:lnTo>
                  <a:lnTo>
                    <a:pt x="89026" y="68325"/>
                  </a:lnTo>
                  <a:lnTo>
                    <a:pt x="51562" y="53212"/>
                  </a:lnTo>
                  <a:lnTo>
                    <a:pt x="6096" y="18796"/>
                  </a:lnTo>
                  <a:lnTo>
                    <a:pt x="0" y="0"/>
                  </a:lnTo>
                  <a:lnTo>
                    <a:pt x="0" y="702310"/>
                  </a:lnTo>
                  <a:lnTo>
                    <a:pt x="23495" y="738886"/>
                  </a:lnTo>
                  <a:lnTo>
                    <a:pt x="89026" y="770763"/>
                  </a:lnTo>
                  <a:lnTo>
                    <a:pt x="135255" y="784225"/>
                  </a:lnTo>
                  <a:lnTo>
                    <a:pt x="188975" y="795782"/>
                  </a:lnTo>
                  <a:lnTo>
                    <a:pt x="249428" y="805179"/>
                  </a:lnTo>
                  <a:lnTo>
                    <a:pt x="315722" y="812291"/>
                  </a:lnTo>
                  <a:lnTo>
                    <a:pt x="386715" y="816610"/>
                  </a:lnTo>
                  <a:lnTo>
                    <a:pt x="461518" y="818134"/>
                  </a:lnTo>
                  <a:lnTo>
                    <a:pt x="536448" y="816610"/>
                  </a:lnTo>
                  <a:lnTo>
                    <a:pt x="607441" y="812291"/>
                  </a:lnTo>
                  <a:lnTo>
                    <a:pt x="673735" y="805179"/>
                  </a:lnTo>
                  <a:lnTo>
                    <a:pt x="734187" y="795782"/>
                  </a:lnTo>
                  <a:lnTo>
                    <a:pt x="787907" y="784225"/>
                  </a:lnTo>
                  <a:lnTo>
                    <a:pt x="834136" y="770763"/>
                  </a:lnTo>
                  <a:lnTo>
                    <a:pt x="871601" y="755523"/>
                  </a:lnTo>
                  <a:lnTo>
                    <a:pt x="917067" y="721105"/>
                  </a:lnTo>
                  <a:lnTo>
                    <a:pt x="923163" y="702310"/>
                  </a:lnTo>
                  <a:lnTo>
                    <a:pt x="92316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89903" y="2057400"/>
              <a:ext cx="923290" cy="233045"/>
            </a:xfrm>
            <a:custGeom>
              <a:avLst/>
              <a:gdLst/>
              <a:ahLst/>
              <a:cxnLst/>
              <a:rect l="l" t="t" r="r" b="b"/>
              <a:pathLst>
                <a:path w="923290" h="233044">
                  <a:moveTo>
                    <a:pt x="461518" y="0"/>
                  </a:moveTo>
                  <a:lnTo>
                    <a:pt x="386715" y="1524"/>
                  </a:lnTo>
                  <a:lnTo>
                    <a:pt x="315722" y="5969"/>
                  </a:lnTo>
                  <a:lnTo>
                    <a:pt x="249428" y="12953"/>
                  </a:lnTo>
                  <a:lnTo>
                    <a:pt x="188975" y="22478"/>
                  </a:lnTo>
                  <a:lnTo>
                    <a:pt x="135255" y="34162"/>
                  </a:lnTo>
                  <a:lnTo>
                    <a:pt x="89026" y="47625"/>
                  </a:lnTo>
                  <a:lnTo>
                    <a:pt x="51562" y="62991"/>
                  </a:lnTo>
                  <a:lnTo>
                    <a:pt x="6096" y="97536"/>
                  </a:lnTo>
                  <a:lnTo>
                    <a:pt x="0" y="116459"/>
                  </a:lnTo>
                  <a:lnTo>
                    <a:pt x="6096" y="135382"/>
                  </a:lnTo>
                  <a:lnTo>
                    <a:pt x="51562" y="169925"/>
                  </a:lnTo>
                  <a:lnTo>
                    <a:pt x="89026" y="185292"/>
                  </a:lnTo>
                  <a:lnTo>
                    <a:pt x="135255" y="198754"/>
                  </a:lnTo>
                  <a:lnTo>
                    <a:pt x="188975" y="210438"/>
                  </a:lnTo>
                  <a:lnTo>
                    <a:pt x="249428" y="219963"/>
                  </a:lnTo>
                  <a:lnTo>
                    <a:pt x="315722" y="226949"/>
                  </a:lnTo>
                  <a:lnTo>
                    <a:pt x="386715" y="231394"/>
                  </a:lnTo>
                  <a:lnTo>
                    <a:pt x="461518" y="232917"/>
                  </a:lnTo>
                  <a:lnTo>
                    <a:pt x="536448" y="231394"/>
                  </a:lnTo>
                  <a:lnTo>
                    <a:pt x="607441" y="226949"/>
                  </a:lnTo>
                  <a:lnTo>
                    <a:pt x="673735" y="219963"/>
                  </a:lnTo>
                  <a:lnTo>
                    <a:pt x="734187" y="210438"/>
                  </a:lnTo>
                  <a:lnTo>
                    <a:pt x="787907" y="198754"/>
                  </a:lnTo>
                  <a:lnTo>
                    <a:pt x="834136" y="185292"/>
                  </a:lnTo>
                  <a:lnTo>
                    <a:pt x="871601" y="169925"/>
                  </a:lnTo>
                  <a:lnTo>
                    <a:pt x="917067" y="135382"/>
                  </a:lnTo>
                  <a:lnTo>
                    <a:pt x="923163" y="116459"/>
                  </a:lnTo>
                  <a:lnTo>
                    <a:pt x="917067" y="97536"/>
                  </a:lnTo>
                  <a:lnTo>
                    <a:pt x="871601" y="62991"/>
                  </a:lnTo>
                  <a:lnTo>
                    <a:pt x="834136" y="47625"/>
                  </a:lnTo>
                  <a:lnTo>
                    <a:pt x="787907" y="34162"/>
                  </a:lnTo>
                  <a:lnTo>
                    <a:pt x="734187" y="22478"/>
                  </a:lnTo>
                  <a:lnTo>
                    <a:pt x="673735" y="12953"/>
                  </a:lnTo>
                  <a:lnTo>
                    <a:pt x="607441" y="5969"/>
                  </a:lnTo>
                  <a:lnTo>
                    <a:pt x="536448" y="1524"/>
                  </a:lnTo>
                  <a:lnTo>
                    <a:pt x="461518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2189" y="2059686"/>
              <a:ext cx="923290" cy="932815"/>
            </a:xfrm>
            <a:custGeom>
              <a:avLst/>
              <a:gdLst/>
              <a:ahLst/>
              <a:cxnLst/>
              <a:rect l="l" t="t" r="r" b="b"/>
              <a:pathLst>
                <a:path w="923290" h="932814">
                  <a:moveTo>
                    <a:pt x="923163" y="115569"/>
                  </a:moveTo>
                  <a:lnTo>
                    <a:pt x="899667" y="152146"/>
                  </a:lnTo>
                  <a:lnTo>
                    <a:pt x="834136" y="183896"/>
                  </a:lnTo>
                  <a:lnTo>
                    <a:pt x="787908" y="197358"/>
                  </a:lnTo>
                  <a:lnTo>
                    <a:pt x="734187" y="208914"/>
                  </a:lnTo>
                  <a:lnTo>
                    <a:pt x="673735" y="218312"/>
                  </a:lnTo>
                  <a:lnTo>
                    <a:pt x="607440" y="225298"/>
                  </a:lnTo>
                  <a:lnTo>
                    <a:pt x="536448" y="229615"/>
                  </a:lnTo>
                  <a:lnTo>
                    <a:pt x="461644" y="231139"/>
                  </a:lnTo>
                  <a:lnTo>
                    <a:pt x="386714" y="229615"/>
                  </a:lnTo>
                  <a:lnTo>
                    <a:pt x="315722" y="225298"/>
                  </a:lnTo>
                  <a:lnTo>
                    <a:pt x="249427" y="218312"/>
                  </a:lnTo>
                  <a:lnTo>
                    <a:pt x="188975" y="208914"/>
                  </a:lnTo>
                  <a:lnTo>
                    <a:pt x="135255" y="197358"/>
                  </a:lnTo>
                  <a:lnTo>
                    <a:pt x="89026" y="183896"/>
                  </a:lnTo>
                  <a:lnTo>
                    <a:pt x="51562" y="168655"/>
                  </a:lnTo>
                  <a:lnTo>
                    <a:pt x="6096" y="134365"/>
                  </a:lnTo>
                  <a:lnTo>
                    <a:pt x="0" y="115569"/>
                  </a:lnTo>
                  <a:lnTo>
                    <a:pt x="6096" y="96774"/>
                  </a:lnTo>
                  <a:lnTo>
                    <a:pt x="51562" y="62484"/>
                  </a:lnTo>
                  <a:lnTo>
                    <a:pt x="89026" y="47371"/>
                  </a:lnTo>
                  <a:lnTo>
                    <a:pt x="135255" y="33909"/>
                  </a:lnTo>
                  <a:lnTo>
                    <a:pt x="188975" y="22351"/>
                  </a:lnTo>
                  <a:lnTo>
                    <a:pt x="249427" y="12953"/>
                  </a:lnTo>
                  <a:lnTo>
                    <a:pt x="315722" y="5841"/>
                  </a:lnTo>
                  <a:lnTo>
                    <a:pt x="386714" y="1524"/>
                  </a:lnTo>
                  <a:lnTo>
                    <a:pt x="461644" y="0"/>
                  </a:lnTo>
                  <a:lnTo>
                    <a:pt x="536448" y="1524"/>
                  </a:lnTo>
                  <a:lnTo>
                    <a:pt x="607440" y="5841"/>
                  </a:lnTo>
                  <a:lnTo>
                    <a:pt x="673735" y="12953"/>
                  </a:lnTo>
                  <a:lnTo>
                    <a:pt x="734187" y="22351"/>
                  </a:lnTo>
                  <a:lnTo>
                    <a:pt x="787908" y="33909"/>
                  </a:lnTo>
                  <a:lnTo>
                    <a:pt x="834136" y="47371"/>
                  </a:lnTo>
                  <a:lnTo>
                    <a:pt x="871601" y="62484"/>
                  </a:lnTo>
                  <a:lnTo>
                    <a:pt x="917066" y="96774"/>
                  </a:lnTo>
                  <a:lnTo>
                    <a:pt x="923163" y="115569"/>
                  </a:lnTo>
                  <a:close/>
                </a:path>
                <a:path w="923290" h="932814">
                  <a:moveTo>
                    <a:pt x="923163" y="115569"/>
                  </a:moveTo>
                  <a:lnTo>
                    <a:pt x="923163" y="816737"/>
                  </a:lnTo>
                  <a:lnTo>
                    <a:pt x="917066" y="835533"/>
                  </a:lnTo>
                  <a:lnTo>
                    <a:pt x="871601" y="869823"/>
                  </a:lnTo>
                  <a:lnTo>
                    <a:pt x="834136" y="884936"/>
                  </a:lnTo>
                  <a:lnTo>
                    <a:pt x="787908" y="898398"/>
                  </a:lnTo>
                  <a:lnTo>
                    <a:pt x="734187" y="909954"/>
                  </a:lnTo>
                  <a:lnTo>
                    <a:pt x="673735" y="919352"/>
                  </a:lnTo>
                  <a:lnTo>
                    <a:pt x="607440" y="926464"/>
                  </a:lnTo>
                  <a:lnTo>
                    <a:pt x="536448" y="930783"/>
                  </a:lnTo>
                  <a:lnTo>
                    <a:pt x="461644" y="932306"/>
                  </a:lnTo>
                  <a:lnTo>
                    <a:pt x="386714" y="930783"/>
                  </a:lnTo>
                  <a:lnTo>
                    <a:pt x="315722" y="926464"/>
                  </a:lnTo>
                  <a:lnTo>
                    <a:pt x="249427" y="919352"/>
                  </a:lnTo>
                  <a:lnTo>
                    <a:pt x="188975" y="909954"/>
                  </a:lnTo>
                  <a:lnTo>
                    <a:pt x="135255" y="898398"/>
                  </a:lnTo>
                  <a:lnTo>
                    <a:pt x="89026" y="884936"/>
                  </a:lnTo>
                  <a:lnTo>
                    <a:pt x="51562" y="869823"/>
                  </a:lnTo>
                  <a:lnTo>
                    <a:pt x="6096" y="835533"/>
                  </a:lnTo>
                  <a:lnTo>
                    <a:pt x="0" y="816737"/>
                  </a:lnTo>
                  <a:lnTo>
                    <a:pt x="0" y="115569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24142" y="2279396"/>
            <a:ext cx="651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Sales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85204" y="3296284"/>
            <a:ext cx="937260" cy="941705"/>
            <a:chOff x="6085204" y="3296284"/>
            <a:chExt cx="937260" cy="941705"/>
          </a:xfrm>
        </p:grpSpPr>
        <p:sp>
          <p:nvSpPr>
            <p:cNvPr id="12" name="object 12"/>
            <p:cNvSpPr/>
            <p:nvPr/>
          </p:nvSpPr>
          <p:spPr>
            <a:xfrm>
              <a:off x="6089903" y="3415283"/>
              <a:ext cx="923290" cy="814069"/>
            </a:xfrm>
            <a:custGeom>
              <a:avLst/>
              <a:gdLst/>
              <a:ahLst/>
              <a:cxnLst/>
              <a:rect l="l" t="t" r="r" b="b"/>
              <a:pathLst>
                <a:path w="923290" h="814070">
                  <a:moveTo>
                    <a:pt x="923163" y="0"/>
                  </a:moveTo>
                  <a:lnTo>
                    <a:pt x="899668" y="36449"/>
                  </a:lnTo>
                  <a:lnTo>
                    <a:pt x="834136" y="67944"/>
                  </a:lnTo>
                  <a:lnTo>
                    <a:pt x="787907" y="81406"/>
                  </a:lnTo>
                  <a:lnTo>
                    <a:pt x="734187" y="92963"/>
                  </a:lnTo>
                  <a:lnTo>
                    <a:pt x="673735" y="102235"/>
                  </a:lnTo>
                  <a:lnTo>
                    <a:pt x="607441" y="109219"/>
                  </a:lnTo>
                  <a:lnTo>
                    <a:pt x="536448" y="113664"/>
                  </a:lnTo>
                  <a:lnTo>
                    <a:pt x="461518" y="115188"/>
                  </a:lnTo>
                  <a:lnTo>
                    <a:pt x="386715" y="113664"/>
                  </a:lnTo>
                  <a:lnTo>
                    <a:pt x="315722" y="109219"/>
                  </a:lnTo>
                  <a:lnTo>
                    <a:pt x="249428" y="102235"/>
                  </a:lnTo>
                  <a:lnTo>
                    <a:pt x="188975" y="92963"/>
                  </a:lnTo>
                  <a:lnTo>
                    <a:pt x="135255" y="81406"/>
                  </a:lnTo>
                  <a:lnTo>
                    <a:pt x="89026" y="67944"/>
                  </a:lnTo>
                  <a:lnTo>
                    <a:pt x="51562" y="52958"/>
                  </a:lnTo>
                  <a:lnTo>
                    <a:pt x="6096" y="18668"/>
                  </a:lnTo>
                  <a:lnTo>
                    <a:pt x="0" y="0"/>
                  </a:lnTo>
                  <a:lnTo>
                    <a:pt x="0" y="698372"/>
                  </a:lnTo>
                  <a:lnTo>
                    <a:pt x="23495" y="734821"/>
                  </a:lnTo>
                  <a:lnTo>
                    <a:pt x="89026" y="766444"/>
                  </a:lnTo>
                  <a:lnTo>
                    <a:pt x="135255" y="779779"/>
                  </a:lnTo>
                  <a:lnTo>
                    <a:pt x="188975" y="791336"/>
                  </a:lnTo>
                  <a:lnTo>
                    <a:pt x="249428" y="800734"/>
                  </a:lnTo>
                  <a:lnTo>
                    <a:pt x="315722" y="807719"/>
                  </a:lnTo>
                  <a:lnTo>
                    <a:pt x="386715" y="812038"/>
                  </a:lnTo>
                  <a:lnTo>
                    <a:pt x="461518" y="813561"/>
                  </a:lnTo>
                  <a:lnTo>
                    <a:pt x="536448" y="812038"/>
                  </a:lnTo>
                  <a:lnTo>
                    <a:pt x="607441" y="807719"/>
                  </a:lnTo>
                  <a:lnTo>
                    <a:pt x="673735" y="800734"/>
                  </a:lnTo>
                  <a:lnTo>
                    <a:pt x="734187" y="791336"/>
                  </a:lnTo>
                  <a:lnTo>
                    <a:pt x="787907" y="779779"/>
                  </a:lnTo>
                  <a:lnTo>
                    <a:pt x="834136" y="766444"/>
                  </a:lnTo>
                  <a:lnTo>
                    <a:pt x="871601" y="751332"/>
                  </a:lnTo>
                  <a:lnTo>
                    <a:pt x="917067" y="717041"/>
                  </a:lnTo>
                  <a:lnTo>
                    <a:pt x="923163" y="698372"/>
                  </a:lnTo>
                  <a:lnTo>
                    <a:pt x="92316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89903" y="3300983"/>
              <a:ext cx="923290" cy="228600"/>
            </a:xfrm>
            <a:custGeom>
              <a:avLst/>
              <a:gdLst/>
              <a:ahLst/>
              <a:cxnLst/>
              <a:rect l="l" t="t" r="r" b="b"/>
              <a:pathLst>
                <a:path w="923290" h="228600">
                  <a:moveTo>
                    <a:pt x="461518" y="0"/>
                  </a:moveTo>
                  <a:lnTo>
                    <a:pt x="386715" y="1524"/>
                  </a:lnTo>
                  <a:lnTo>
                    <a:pt x="315722" y="5841"/>
                  </a:lnTo>
                  <a:lnTo>
                    <a:pt x="249428" y="12700"/>
                  </a:lnTo>
                  <a:lnTo>
                    <a:pt x="188975" y="21970"/>
                  </a:lnTo>
                  <a:lnTo>
                    <a:pt x="135255" y="33400"/>
                  </a:lnTo>
                  <a:lnTo>
                    <a:pt x="89026" y="46736"/>
                  </a:lnTo>
                  <a:lnTo>
                    <a:pt x="51562" y="61721"/>
                  </a:lnTo>
                  <a:lnTo>
                    <a:pt x="6096" y="95630"/>
                  </a:lnTo>
                  <a:lnTo>
                    <a:pt x="0" y="114173"/>
                  </a:lnTo>
                  <a:lnTo>
                    <a:pt x="6096" y="132714"/>
                  </a:lnTo>
                  <a:lnTo>
                    <a:pt x="51562" y="166624"/>
                  </a:lnTo>
                  <a:lnTo>
                    <a:pt x="89026" y="181610"/>
                  </a:lnTo>
                  <a:lnTo>
                    <a:pt x="135255" y="194944"/>
                  </a:lnTo>
                  <a:lnTo>
                    <a:pt x="188975" y="206375"/>
                  </a:lnTo>
                  <a:lnTo>
                    <a:pt x="249428" y="215645"/>
                  </a:lnTo>
                  <a:lnTo>
                    <a:pt x="315722" y="222503"/>
                  </a:lnTo>
                  <a:lnTo>
                    <a:pt x="386715" y="226821"/>
                  </a:lnTo>
                  <a:lnTo>
                    <a:pt x="461518" y="228345"/>
                  </a:lnTo>
                  <a:lnTo>
                    <a:pt x="536448" y="226821"/>
                  </a:lnTo>
                  <a:lnTo>
                    <a:pt x="607441" y="222503"/>
                  </a:lnTo>
                  <a:lnTo>
                    <a:pt x="673735" y="215645"/>
                  </a:lnTo>
                  <a:lnTo>
                    <a:pt x="734187" y="206375"/>
                  </a:lnTo>
                  <a:lnTo>
                    <a:pt x="787907" y="194944"/>
                  </a:lnTo>
                  <a:lnTo>
                    <a:pt x="834136" y="181610"/>
                  </a:lnTo>
                  <a:lnTo>
                    <a:pt x="871601" y="166624"/>
                  </a:lnTo>
                  <a:lnTo>
                    <a:pt x="917067" y="132714"/>
                  </a:lnTo>
                  <a:lnTo>
                    <a:pt x="923163" y="114173"/>
                  </a:lnTo>
                  <a:lnTo>
                    <a:pt x="917067" y="95630"/>
                  </a:lnTo>
                  <a:lnTo>
                    <a:pt x="871601" y="61721"/>
                  </a:lnTo>
                  <a:lnTo>
                    <a:pt x="834136" y="46736"/>
                  </a:lnTo>
                  <a:lnTo>
                    <a:pt x="787907" y="33400"/>
                  </a:lnTo>
                  <a:lnTo>
                    <a:pt x="734187" y="21970"/>
                  </a:lnTo>
                  <a:lnTo>
                    <a:pt x="673735" y="12700"/>
                  </a:lnTo>
                  <a:lnTo>
                    <a:pt x="607441" y="5841"/>
                  </a:lnTo>
                  <a:lnTo>
                    <a:pt x="536448" y="1524"/>
                  </a:lnTo>
                  <a:lnTo>
                    <a:pt x="461518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2189" y="3303269"/>
              <a:ext cx="923290" cy="927735"/>
            </a:xfrm>
            <a:custGeom>
              <a:avLst/>
              <a:gdLst/>
              <a:ahLst/>
              <a:cxnLst/>
              <a:rect l="l" t="t" r="r" b="b"/>
              <a:pathLst>
                <a:path w="923290" h="927735">
                  <a:moveTo>
                    <a:pt x="923163" y="115062"/>
                  </a:moveTo>
                  <a:lnTo>
                    <a:pt x="899667" y="151383"/>
                  </a:lnTo>
                  <a:lnTo>
                    <a:pt x="834136" y="183006"/>
                  </a:lnTo>
                  <a:lnTo>
                    <a:pt x="787908" y="196341"/>
                  </a:lnTo>
                  <a:lnTo>
                    <a:pt x="734187" y="207899"/>
                  </a:lnTo>
                  <a:lnTo>
                    <a:pt x="673735" y="217169"/>
                  </a:lnTo>
                  <a:lnTo>
                    <a:pt x="607440" y="224154"/>
                  </a:lnTo>
                  <a:lnTo>
                    <a:pt x="536448" y="228472"/>
                  </a:lnTo>
                  <a:lnTo>
                    <a:pt x="461644" y="229996"/>
                  </a:lnTo>
                  <a:lnTo>
                    <a:pt x="386714" y="228472"/>
                  </a:lnTo>
                  <a:lnTo>
                    <a:pt x="315722" y="224154"/>
                  </a:lnTo>
                  <a:lnTo>
                    <a:pt x="249427" y="217169"/>
                  </a:lnTo>
                  <a:lnTo>
                    <a:pt x="188975" y="207899"/>
                  </a:lnTo>
                  <a:lnTo>
                    <a:pt x="135255" y="196341"/>
                  </a:lnTo>
                  <a:lnTo>
                    <a:pt x="89026" y="183006"/>
                  </a:lnTo>
                  <a:lnTo>
                    <a:pt x="51562" y="167893"/>
                  </a:lnTo>
                  <a:lnTo>
                    <a:pt x="6096" y="133730"/>
                  </a:lnTo>
                  <a:lnTo>
                    <a:pt x="0" y="115062"/>
                  </a:lnTo>
                  <a:lnTo>
                    <a:pt x="6096" y="96392"/>
                  </a:lnTo>
                  <a:lnTo>
                    <a:pt x="51562" y="62102"/>
                  </a:lnTo>
                  <a:lnTo>
                    <a:pt x="89026" y="47116"/>
                  </a:lnTo>
                  <a:lnTo>
                    <a:pt x="135255" y="33654"/>
                  </a:lnTo>
                  <a:lnTo>
                    <a:pt x="188975" y="22225"/>
                  </a:lnTo>
                  <a:lnTo>
                    <a:pt x="249427" y="12826"/>
                  </a:lnTo>
                  <a:lnTo>
                    <a:pt x="315722" y="5841"/>
                  </a:lnTo>
                  <a:lnTo>
                    <a:pt x="386714" y="1524"/>
                  </a:lnTo>
                  <a:lnTo>
                    <a:pt x="461644" y="0"/>
                  </a:lnTo>
                  <a:lnTo>
                    <a:pt x="536448" y="1524"/>
                  </a:lnTo>
                  <a:lnTo>
                    <a:pt x="607440" y="5841"/>
                  </a:lnTo>
                  <a:lnTo>
                    <a:pt x="673735" y="12826"/>
                  </a:lnTo>
                  <a:lnTo>
                    <a:pt x="734187" y="22225"/>
                  </a:lnTo>
                  <a:lnTo>
                    <a:pt x="787908" y="33654"/>
                  </a:lnTo>
                  <a:lnTo>
                    <a:pt x="834136" y="47116"/>
                  </a:lnTo>
                  <a:lnTo>
                    <a:pt x="871601" y="62102"/>
                  </a:lnTo>
                  <a:lnTo>
                    <a:pt x="917066" y="96392"/>
                  </a:lnTo>
                  <a:lnTo>
                    <a:pt x="923163" y="115062"/>
                  </a:lnTo>
                  <a:close/>
                </a:path>
                <a:path w="923290" h="927735">
                  <a:moveTo>
                    <a:pt x="923163" y="115062"/>
                  </a:moveTo>
                  <a:lnTo>
                    <a:pt x="923163" y="812672"/>
                  </a:lnTo>
                  <a:lnTo>
                    <a:pt x="917066" y="831341"/>
                  </a:lnTo>
                  <a:lnTo>
                    <a:pt x="871601" y="865631"/>
                  </a:lnTo>
                  <a:lnTo>
                    <a:pt x="834136" y="880617"/>
                  </a:lnTo>
                  <a:lnTo>
                    <a:pt x="787908" y="894079"/>
                  </a:lnTo>
                  <a:lnTo>
                    <a:pt x="734187" y="905509"/>
                  </a:lnTo>
                  <a:lnTo>
                    <a:pt x="673735" y="914907"/>
                  </a:lnTo>
                  <a:lnTo>
                    <a:pt x="607440" y="921892"/>
                  </a:lnTo>
                  <a:lnTo>
                    <a:pt x="536448" y="926210"/>
                  </a:lnTo>
                  <a:lnTo>
                    <a:pt x="461644" y="927734"/>
                  </a:lnTo>
                  <a:lnTo>
                    <a:pt x="386714" y="926210"/>
                  </a:lnTo>
                  <a:lnTo>
                    <a:pt x="315722" y="921892"/>
                  </a:lnTo>
                  <a:lnTo>
                    <a:pt x="249427" y="914907"/>
                  </a:lnTo>
                  <a:lnTo>
                    <a:pt x="188975" y="905509"/>
                  </a:lnTo>
                  <a:lnTo>
                    <a:pt x="135255" y="894079"/>
                  </a:lnTo>
                  <a:lnTo>
                    <a:pt x="89026" y="880617"/>
                  </a:lnTo>
                  <a:lnTo>
                    <a:pt x="51562" y="865631"/>
                  </a:lnTo>
                  <a:lnTo>
                    <a:pt x="6096" y="831341"/>
                  </a:lnTo>
                  <a:lnTo>
                    <a:pt x="0" y="812672"/>
                  </a:lnTo>
                  <a:lnTo>
                    <a:pt x="0" y="115062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10427" y="3521786"/>
            <a:ext cx="674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Payroll </a:t>
            </a: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85204" y="4475860"/>
            <a:ext cx="937260" cy="941705"/>
            <a:chOff x="6085204" y="4475860"/>
            <a:chExt cx="937260" cy="941705"/>
          </a:xfrm>
        </p:grpSpPr>
        <p:sp>
          <p:nvSpPr>
            <p:cNvPr id="17" name="object 17"/>
            <p:cNvSpPr/>
            <p:nvPr/>
          </p:nvSpPr>
          <p:spPr>
            <a:xfrm>
              <a:off x="6089903" y="4594859"/>
              <a:ext cx="923290" cy="814069"/>
            </a:xfrm>
            <a:custGeom>
              <a:avLst/>
              <a:gdLst/>
              <a:ahLst/>
              <a:cxnLst/>
              <a:rect l="l" t="t" r="r" b="b"/>
              <a:pathLst>
                <a:path w="923290" h="814070">
                  <a:moveTo>
                    <a:pt x="923163" y="0"/>
                  </a:moveTo>
                  <a:lnTo>
                    <a:pt x="899668" y="36448"/>
                  </a:lnTo>
                  <a:lnTo>
                    <a:pt x="834136" y="67944"/>
                  </a:lnTo>
                  <a:lnTo>
                    <a:pt x="787907" y="81406"/>
                  </a:lnTo>
                  <a:lnTo>
                    <a:pt x="734187" y="92963"/>
                  </a:lnTo>
                  <a:lnTo>
                    <a:pt x="673735" y="102234"/>
                  </a:lnTo>
                  <a:lnTo>
                    <a:pt x="607441" y="109219"/>
                  </a:lnTo>
                  <a:lnTo>
                    <a:pt x="536448" y="113664"/>
                  </a:lnTo>
                  <a:lnTo>
                    <a:pt x="461518" y="115188"/>
                  </a:lnTo>
                  <a:lnTo>
                    <a:pt x="386715" y="113664"/>
                  </a:lnTo>
                  <a:lnTo>
                    <a:pt x="315722" y="109219"/>
                  </a:lnTo>
                  <a:lnTo>
                    <a:pt x="249428" y="102234"/>
                  </a:lnTo>
                  <a:lnTo>
                    <a:pt x="188975" y="92963"/>
                  </a:lnTo>
                  <a:lnTo>
                    <a:pt x="135255" y="81406"/>
                  </a:lnTo>
                  <a:lnTo>
                    <a:pt x="89026" y="67944"/>
                  </a:lnTo>
                  <a:lnTo>
                    <a:pt x="51562" y="52958"/>
                  </a:lnTo>
                  <a:lnTo>
                    <a:pt x="6096" y="18668"/>
                  </a:lnTo>
                  <a:lnTo>
                    <a:pt x="0" y="0"/>
                  </a:lnTo>
                  <a:lnTo>
                    <a:pt x="0" y="698372"/>
                  </a:lnTo>
                  <a:lnTo>
                    <a:pt x="23495" y="734821"/>
                  </a:lnTo>
                  <a:lnTo>
                    <a:pt x="89026" y="766444"/>
                  </a:lnTo>
                  <a:lnTo>
                    <a:pt x="135255" y="779779"/>
                  </a:lnTo>
                  <a:lnTo>
                    <a:pt x="188975" y="791336"/>
                  </a:lnTo>
                  <a:lnTo>
                    <a:pt x="249428" y="800734"/>
                  </a:lnTo>
                  <a:lnTo>
                    <a:pt x="315722" y="807719"/>
                  </a:lnTo>
                  <a:lnTo>
                    <a:pt x="386715" y="812037"/>
                  </a:lnTo>
                  <a:lnTo>
                    <a:pt x="461518" y="813561"/>
                  </a:lnTo>
                  <a:lnTo>
                    <a:pt x="536448" y="812037"/>
                  </a:lnTo>
                  <a:lnTo>
                    <a:pt x="607441" y="807719"/>
                  </a:lnTo>
                  <a:lnTo>
                    <a:pt x="673735" y="800734"/>
                  </a:lnTo>
                  <a:lnTo>
                    <a:pt x="734187" y="791336"/>
                  </a:lnTo>
                  <a:lnTo>
                    <a:pt x="787907" y="779779"/>
                  </a:lnTo>
                  <a:lnTo>
                    <a:pt x="834136" y="766444"/>
                  </a:lnTo>
                  <a:lnTo>
                    <a:pt x="871601" y="751331"/>
                  </a:lnTo>
                  <a:lnTo>
                    <a:pt x="917067" y="717041"/>
                  </a:lnTo>
                  <a:lnTo>
                    <a:pt x="923163" y="698372"/>
                  </a:lnTo>
                  <a:lnTo>
                    <a:pt x="923163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9903" y="4480559"/>
              <a:ext cx="923290" cy="228600"/>
            </a:xfrm>
            <a:custGeom>
              <a:avLst/>
              <a:gdLst/>
              <a:ahLst/>
              <a:cxnLst/>
              <a:rect l="l" t="t" r="r" b="b"/>
              <a:pathLst>
                <a:path w="923290" h="228600">
                  <a:moveTo>
                    <a:pt x="461518" y="0"/>
                  </a:moveTo>
                  <a:lnTo>
                    <a:pt x="386715" y="1523"/>
                  </a:lnTo>
                  <a:lnTo>
                    <a:pt x="315722" y="5841"/>
                  </a:lnTo>
                  <a:lnTo>
                    <a:pt x="249428" y="12700"/>
                  </a:lnTo>
                  <a:lnTo>
                    <a:pt x="188975" y="21970"/>
                  </a:lnTo>
                  <a:lnTo>
                    <a:pt x="135255" y="33400"/>
                  </a:lnTo>
                  <a:lnTo>
                    <a:pt x="89026" y="46735"/>
                  </a:lnTo>
                  <a:lnTo>
                    <a:pt x="51562" y="61721"/>
                  </a:lnTo>
                  <a:lnTo>
                    <a:pt x="6096" y="95631"/>
                  </a:lnTo>
                  <a:lnTo>
                    <a:pt x="0" y="114172"/>
                  </a:lnTo>
                  <a:lnTo>
                    <a:pt x="6096" y="132714"/>
                  </a:lnTo>
                  <a:lnTo>
                    <a:pt x="51562" y="166623"/>
                  </a:lnTo>
                  <a:lnTo>
                    <a:pt x="89026" y="181609"/>
                  </a:lnTo>
                  <a:lnTo>
                    <a:pt x="135255" y="194944"/>
                  </a:lnTo>
                  <a:lnTo>
                    <a:pt x="188975" y="206375"/>
                  </a:lnTo>
                  <a:lnTo>
                    <a:pt x="249428" y="215645"/>
                  </a:lnTo>
                  <a:lnTo>
                    <a:pt x="315722" y="222503"/>
                  </a:lnTo>
                  <a:lnTo>
                    <a:pt x="386715" y="226821"/>
                  </a:lnTo>
                  <a:lnTo>
                    <a:pt x="461518" y="228345"/>
                  </a:lnTo>
                  <a:lnTo>
                    <a:pt x="536448" y="226821"/>
                  </a:lnTo>
                  <a:lnTo>
                    <a:pt x="607441" y="222503"/>
                  </a:lnTo>
                  <a:lnTo>
                    <a:pt x="673735" y="215645"/>
                  </a:lnTo>
                  <a:lnTo>
                    <a:pt x="734187" y="206375"/>
                  </a:lnTo>
                  <a:lnTo>
                    <a:pt x="787907" y="194944"/>
                  </a:lnTo>
                  <a:lnTo>
                    <a:pt x="834136" y="181609"/>
                  </a:lnTo>
                  <a:lnTo>
                    <a:pt x="871601" y="166623"/>
                  </a:lnTo>
                  <a:lnTo>
                    <a:pt x="917067" y="132714"/>
                  </a:lnTo>
                  <a:lnTo>
                    <a:pt x="923163" y="114172"/>
                  </a:lnTo>
                  <a:lnTo>
                    <a:pt x="917067" y="95631"/>
                  </a:lnTo>
                  <a:lnTo>
                    <a:pt x="871601" y="61721"/>
                  </a:lnTo>
                  <a:lnTo>
                    <a:pt x="834136" y="46735"/>
                  </a:lnTo>
                  <a:lnTo>
                    <a:pt x="787907" y="33400"/>
                  </a:lnTo>
                  <a:lnTo>
                    <a:pt x="734187" y="21970"/>
                  </a:lnTo>
                  <a:lnTo>
                    <a:pt x="673735" y="12700"/>
                  </a:lnTo>
                  <a:lnTo>
                    <a:pt x="607441" y="5841"/>
                  </a:lnTo>
                  <a:lnTo>
                    <a:pt x="536448" y="1523"/>
                  </a:lnTo>
                  <a:lnTo>
                    <a:pt x="461518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2189" y="4482845"/>
              <a:ext cx="923290" cy="927735"/>
            </a:xfrm>
            <a:custGeom>
              <a:avLst/>
              <a:gdLst/>
              <a:ahLst/>
              <a:cxnLst/>
              <a:rect l="l" t="t" r="r" b="b"/>
              <a:pathLst>
                <a:path w="923290" h="927735">
                  <a:moveTo>
                    <a:pt x="923163" y="115061"/>
                  </a:moveTo>
                  <a:lnTo>
                    <a:pt x="899667" y="151383"/>
                  </a:lnTo>
                  <a:lnTo>
                    <a:pt x="834136" y="183006"/>
                  </a:lnTo>
                  <a:lnTo>
                    <a:pt x="787908" y="196341"/>
                  </a:lnTo>
                  <a:lnTo>
                    <a:pt x="734187" y="207898"/>
                  </a:lnTo>
                  <a:lnTo>
                    <a:pt x="673735" y="217169"/>
                  </a:lnTo>
                  <a:lnTo>
                    <a:pt x="607440" y="224154"/>
                  </a:lnTo>
                  <a:lnTo>
                    <a:pt x="536448" y="228472"/>
                  </a:lnTo>
                  <a:lnTo>
                    <a:pt x="461644" y="229996"/>
                  </a:lnTo>
                  <a:lnTo>
                    <a:pt x="386714" y="228472"/>
                  </a:lnTo>
                  <a:lnTo>
                    <a:pt x="315722" y="224154"/>
                  </a:lnTo>
                  <a:lnTo>
                    <a:pt x="249427" y="217169"/>
                  </a:lnTo>
                  <a:lnTo>
                    <a:pt x="188975" y="207898"/>
                  </a:lnTo>
                  <a:lnTo>
                    <a:pt x="135255" y="196341"/>
                  </a:lnTo>
                  <a:lnTo>
                    <a:pt x="89026" y="183006"/>
                  </a:lnTo>
                  <a:lnTo>
                    <a:pt x="51562" y="167893"/>
                  </a:lnTo>
                  <a:lnTo>
                    <a:pt x="6096" y="133730"/>
                  </a:lnTo>
                  <a:lnTo>
                    <a:pt x="0" y="115061"/>
                  </a:lnTo>
                  <a:lnTo>
                    <a:pt x="6096" y="96392"/>
                  </a:lnTo>
                  <a:lnTo>
                    <a:pt x="51562" y="62102"/>
                  </a:lnTo>
                  <a:lnTo>
                    <a:pt x="89026" y="47116"/>
                  </a:lnTo>
                  <a:lnTo>
                    <a:pt x="135255" y="33654"/>
                  </a:lnTo>
                  <a:lnTo>
                    <a:pt x="188975" y="22224"/>
                  </a:lnTo>
                  <a:lnTo>
                    <a:pt x="249427" y="12826"/>
                  </a:lnTo>
                  <a:lnTo>
                    <a:pt x="315722" y="5841"/>
                  </a:lnTo>
                  <a:lnTo>
                    <a:pt x="386714" y="1523"/>
                  </a:lnTo>
                  <a:lnTo>
                    <a:pt x="461644" y="0"/>
                  </a:lnTo>
                  <a:lnTo>
                    <a:pt x="536448" y="1523"/>
                  </a:lnTo>
                  <a:lnTo>
                    <a:pt x="607440" y="5841"/>
                  </a:lnTo>
                  <a:lnTo>
                    <a:pt x="673735" y="12826"/>
                  </a:lnTo>
                  <a:lnTo>
                    <a:pt x="734187" y="22224"/>
                  </a:lnTo>
                  <a:lnTo>
                    <a:pt x="787908" y="33654"/>
                  </a:lnTo>
                  <a:lnTo>
                    <a:pt x="834136" y="47116"/>
                  </a:lnTo>
                  <a:lnTo>
                    <a:pt x="871601" y="62102"/>
                  </a:lnTo>
                  <a:lnTo>
                    <a:pt x="917066" y="96392"/>
                  </a:lnTo>
                  <a:lnTo>
                    <a:pt x="923163" y="115061"/>
                  </a:lnTo>
                  <a:close/>
                </a:path>
                <a:path w="923290" h="927735">
                  <a:moveTo>
                    <a:pt x="923163" y="115061"/>
                  </a:moveTo>
                  <a:lnTo>
                    <a:pt x="923163" y="812672"/>
                  </a:lnTo>
                  <a:lnTo>
                    <a:pt x="917066" y="831341"/>
                  </a:lnTo>
                  <a:lnTo>
                    <a:pt x="871601" y="865631"/>
                  </a:lnTo>
                  <a:lnTo>
                    <a:pt x="834136" y="880617"/>
                  </a:lnTo>
                  <a:lnTo>
                    <a:pt x="787908" y="894079"/>
                  </a:lnTo>
                  <a:lnTo>
                    <a:pt x="734187" y="905509"/>
                  </a:lnTo>
                  <a:lnTo>
                    <a:pt x="673735" y="914907"/>
                  </a:lnTo>
                  <a:lnTo>
                    <a:pt x="607440" y="921892"/>
                  </a:lnTo>
                  <a:lnTo>
                    <a:pt x="536448" y="926210"/>
                  </a:lnTo>
                  <a:lnTo>
                    <a:pt x="461644" y="927734"/>
                  </a:lnTo>
                  <a:lnTo>
                    <a:pt x="386714" y="926210"/>
                  </a:lnTo>
                  <a:lnTo>
                    <a:pt x="315722" y="921892"/>
                  </a:lnTo>
                  <a:lnTo>
                    <a:pt x="249427" y="914907"/>
                  </a:lnTo>
                  <a:lnTo>
                    <a:pt x="188975" y="905509"/>
                  </a:lnTo>
                  <a:lnTo>
                    <a:pt x="135255" y="894079"/>
                  </a:lnTo>
                  <a:lnTo>
                    <a:pt x="89026" y="880617"/>
                  </a:lnTo>
                  <a:lnTo>
                    <a:pt x="51562" y="865631"/>
                  </a:lnTo>
                  <a:lnTo>
                    <a:pt x="6096" y="831341"/>
                  </a:lnTo>
                  <a:lnTo>
                    <a:pt x="0" y="812672"/>
                  </a:lnTo>
                  <a:lnTo>
                    <a:pt x="0" y="115061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034785" y="4702809"/>
            <a:ext cx="1021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Purchasing</a:t>
            </a:r>
            <a:endParaRPr sz="18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987156" y="3479165"/>
            <a:ext cx="937260" cy="946785"/>
            <a:chOff x="7987156" y="3479165"/>
            <a:chExt cx="937260" cy="946785"/>
          </a:xfrm>
        </p:grpSpPr>
        <p:sp>
          <p:nvSpPr>
            <p:cNvPr id="22" name="object 22"/>
            <p:cNvSpPr/>
            <p:nvPr/>
          </p:nvSpPr>
          <p:spPr>
            <a:xfrm>
              <a:off x="7991855" y="3602736"/>
              <a:ext cx="923290" cy="814069"/>
            </a:xfrm>
            <a:custGeom>
              <a:avLst/>
              <a:gdLst/>
              <a:ahLst/>
              <a:cxnLst/>
              <a:rect l="l" t="t" r="r" b="b"/>
              <a:pathLst>
                <a:path w="923290" h="814070">
                  <a:moveTo>
                    <a:pt x="923163" y="0"/>
                  </a:moveTo>
                  <a:lnTo>
                    <a:pt x="899668" y="36449"/>
                  </a:lnTo>
                  <a:lnTo>
                    <a:pt x="834136" y="67944"/>
                  </a:lnTo>
                  <a:lnTo>
                    <a:pt x="787908" y="81406"/>
                  </a:lnTo>
                  <a:lnTo>
                    <a:pt x="734187" y="92963"/>
                  </a:lnTo>
                  <a:lnTo>
                    <a:pt x="673735" y="102234"/>
                  </a:lnTo>
                  <a:lnTo>
                    <a:pt x="607441" y="109219"/>
                  </a:lnTo>
                  <a:lnTo>
                    <a:pt x="536448" y="113664"/>
                  </a:lnTo>
                  <a:lnTo>
                    <a:pt x="461645" y="115188"/>
                  </a:lnTo>
                  <a:lnTo>
                    <a:pt x="386715" y="113664"/>
                  </a:lnTo>
                  <a:lnTo>
                    <a:pt x="315722" y="109219"/>
                  </a:lnTo>
                  <a:lnTo>
                    <a:pt x="249427" y="102234"/>
                  </a:lnTo>
                  <a:lnTo>
                    <a:pt x="188975" y="92963"/>
                  </a:lnTo>
                  <a:lnTo>
                    <a:pt x="135254" y="81406"/>
                  </a:lnTo>
                  <a:lnTo>
                    <a:pt x="89026" y="67944"/>
                  </a:lnTo>
                  <a:lnTo>
                    <a:pt x="51562" y="52958"/>
                  </a:lnTo>
                  <a:lnTo>
                    <a:pt x="6096" y="18668"/>
                  </a:lnTo>
                  <a:lnTo>
                    <a:pt x="0" y="0"/>
                  </a:lnTo>
                  <a:lnTo>
                    <a:pt x="0" y="698372"/>
                  </a:lnTo>
                  <a:lnTo>
                    <a:pt x="23495" y="734821"/>
                  </a:lnTo>
                  <a:lnTo>
                    <a:pt x="89026" y="766444"/>
                  </a:lnTo>
                  <a:lnTo>
                    <a:pt x="135254" y="779780"/>
                  </a:lnTo>
                  <a:lnTo>
                    <a:pt x="188975" y="791337"/>
                  </a:lnTo>
                  <a:lnTo>
                    <a:pt x="249427" y="800734"/>
                  </a:lnTo>
                  <a:lnTo>
                    <a:pt x="315722" y="807719"/>
                  </a:lnTo>
                  <a:lnTo>
                    <a:pt x="386715" y="812038"/>
                  </a:lnTo>
                  <a:lnTo>
                    <a:pt x="461645" y="813562"/>
                  </a:lnTo>
                  <a:lnTo>
                    <a:pt x="536448" y="812038"/>
                  </a:lnTo>
                  <a:lnTo>
                    <a:pt x="607441" y="807719"/>
                  </a:lnTo>
                  <a:lnTo>
                    <a:pt x="673735" y="800734"/>
                  </a:lnTo>
                  <a:lnTo>
                    <a:pt x="734187" y="791337"/>
                  </a:lnTo>
                  <a:lnTo>
                    <a:pt x="787908" y="779780"/>
                  </a:lnTo>
                  <a:lnTo>
                    <a:pt x="834136" y="766444"/>
                  </a:lnTo>
                  <a:lnTo>
                    <a:pt x="871601" y="751332"/>
                  </a:lnTo>
                  <a:lnTo>
                    <a:pt x="917067" y="717041"/>
                  </a:lnTo>
                  <a:lnTo>
                    <a:pt x="923163" y="698372"/>
                  </a:lnTo>
                  <a:lnTo>
                    <a:pt x="923163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91855" y="3483864"/>
              <a:ext cx="923290" cy="233045"/>
            </a:xfrm>
            <a:custGeom>
              <a:avLst/>
              <a:gdLst/>
              <a:ahLst/>
              <a:cxnLst/>
              <a:rect l="l" t="t" r="r" b="b"/>
              <a:pathLst>
                <a:path w="923290" h="233045">
                  <a:moveTo>
                    <a:pt x="461645" y="0"/>
                  </a:moveTo>
                  <a:lnTo>
                    <a:pt x="386715" y="1524"/>
                  </a:lnTo>
                  <a:lnTo>
                    <a:pt x="315722" y="5969"/>
                  </a:lnTo>
                  <a:lnTo>
                    <a:pt x="249427" y="12953"/>
                  </a:lnTo>
                  <a:lnTo>
                    <a:pt x="188975" y="22478"/>
                  </a:lnTo>
                  <a:lnTo>
                    <a:pt x="135254" y="34162"/>
                  </a:lnTo>
                  <a:lnTo>
                    <a:pt x="89026" y="47625"/>
                  </a:lnTo>
                  <a:lnTo>
                    <a:pt x="51562" y="62991"/>
                  </a:lnTo>
                  <a:lnTo>
                    <a:pt x="6096" y="97536"/>
                  </a:lnTo>
                  <a:lnTo>
                    <a:pt x="0" y="116459"/>
                  </a:lnTo>
                  <a:lnTo>
                    <a:pt x="6096" y="135381"/>
                  </a:lnTo>
                  <a:lnTo>
                    <a:pt x="51562" y="169925"/>
                  </a:lnTo>
                  <a:lnTo>
                    <a:pt x="89026" y="185293"/>
                  </a:lnTo>
                  <a:lnTo>
                    <a:pt x="135254" y="198755"/>
                  </a:lnTo>
                  <a:lnTo>
                    <a:pt x="188975" y="210438"/>
                  </a:lnTo>
                  <a:lnTo>
                    <a:pt x="249427" y="219963"/>
                  </a:lnTo>
                  <a:lnTo>
                    <a:pt x="315722" y="226949"/>
                  </a:lnTo>
                  <a:lnTo>
                    <a:pt x="386715" y="231394"/>
                  </a:lnTo>
                  <a:lnTo>
                    <a:pt x="461645" y="232918"/>
                  </a:lnTo>
                  <a:lnTo>
                    <a:pt x="536448" y="231394"/>
                  </a:lnTo>
                  <a:lnTo>
                    <a:pt x="607441" y="226949"/>
                  </a:lnTo>
                  <a:lnTo>
                    <a:pt x="673735" y="219963"/>
                  </a:lnTo>
                  <a:lnTo>
                    <a:pt x="734187" y="210438"/>
                  </a:lnTo>
                  <a:lnTo>
                    <a:pt x="787908" y="198755"/>
                  </a:lnTo>
                  <a:lnTo>
                    <a:pt x="834136" y="185293"/>
                  </a:lnTo>
                  <a:lnTo>
                    <a:pt x="871601" y="169925"/>
                  </a:lnTo>
                  <a:lnTo>
                    <a:pt x="917067" y="135381"/>
                  </a:lnTo>
                  <a:lnTo>
                    <a:pt x="923163" y="116459"/>
                  </a:lnTo>
                  <a:lnTo>
                    <a:pt x="917067" y="97536"/>
                  </a:lnTo>
                  <a:lnTo>
                    <a:pt x="871601" y="62991"/>
                  </a:lnTo>
                  <a:lnTo>
                    <a:pt x="834136" y="47625"/>
                  </a:lnTo>
                  <a:lnTo>
                    <a:pt x="787908" y="34162"/>
                  </a:lnTo>
                  <a:lnTo>
                    <a:pt x="734187" y="22478"/>
                  </a:lnTo>
                  <a:lnTo>
                    <a:pt x="673735" y="12953"/>
                  </a:lnTo>
                  <a:lnTo>
                    <a:pt x="607441" y="5969"/>
                  </a:lnTo>
                  <a:lnTo>
                    <a:pt x="536448" y="1524"/>
                  </a:lnTo>
                  <a:lnTo>
                    <a:pt x="461645" y="0"/>
                  </a:lnTo>
                  <a:close/>
                </a:path>
              </a:pathLst>
            </a:custGeom>
            <a:solidFill>
              <a:srgbClr val="FFFF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94141" y="3486150"/>
              <a:ext cx="923290" cy="932815"/>
            </a:xfrm>
            <a:custGeom>
              <a:avLst/>
              <a:gdLst/>
              <a:ahLst/>
              <a:cxnLst/>
              <a:rect l="l" t="t" r="r" b="b"/>
              <a:pathLst>
                <a:path w="923290" h="932814">
                  <a:moveTo>
                    <a:pt x="923162" y="115570"/>
                  </a:moveTo>
                  <a:lnTo>
                    <a:pt x="899667" y="152145"/>
                  </a:lnTo>
                  <a:lnTo>
                    <a:pt x="834135" y="183895"/>
                  </a:lnTo>
                  <a:lnTo>
                    <a:pt x="787907" y="197357"/>
                  </a:lnTo>
                  <a:lnTo>
                    <a:pt x="734186" y="208914"/>
                  </a:lnTo>
                  <a:lnTo>
                    <a:pt x="673734" y="218312"/>
                  </a:lnTo>
                  <a:lnTo>
                    <a:pt x="607440" y="225298"/>
                  </a:lnTo>
                  <a:lnTo>
                    <a:pt x="536448" y="229616"/>
                  </a:lnTo>
                  <a:lnTo>
                    <a:pt x="461644" y="231139"/>
                  </a:lnTo>
                  <a:lnTo>
                    <a:pt x="386714" y="229616"/>
                  </a:lnTo>
                  <a:lnTo>
                    <a:pt x="315722" y="225298"/>
                  </a:lnTo>
                  <a:lnTo>
                    <a:pt x="249427" y="218312"/>
                  </a:lnTo>
                  <a:lnTo>
                    <a:pt x="188975" y="208914"/>
                  </a:lnTo>
                  <a:lnTo>
                    <a:pt x="135254" y="197357"/>
                  </a:lnTo>
                  <a:lnTo>
                    <a:pt x="89026" y="183895"/>
                  </a:lnTo>
                  <a:lnTo>
                    <a:pt x="51561" y="168656"/>
                  </a:lnTo>
                  <a:lnTo>
                    <a:pt x="6096" y="134366"/>
                  </a:lnTo>
                  <a:lnTo>
                    <a:pt x="0" y="115570"/>
                  </a:lnTo>
                  <a:lnTo>
                    <a:pt x="6096" y="96774"/>
                  </a:lnTo>
                  <a:lnTo>
                    <a:pt x="51561" y="62484"/>
                  </a:lnTo>
                  <a:lnTo>
                    <a:pt x="89026" y="47371"/>
                  </a:lnTo>
                  <a:lnTo>
                    <a:pt x="135254" y="33909"/>
                  </a:lnTo>
                  <a:lnTo>
                    <a:pt x="188975" y="22351"/>
                  </a:lnTo>
                  <a:lnTo>
                    <a:pt x="249427" y="12953"/>
                  </a:lnTo>
                  <a:lnTo>
                    <a:pt x="315722" y="5841"/>
                  </a:lnTo>
                  <a:lnTo>
                    <a:pt x="386714" y="1524"/>
                  </a:lnTo>
                  <a:lnTo>
                    <a:pt x="461644" y="0"/>
                  </a:lnTo>
                  <a:lnTo>
                    <a:pt x="536448" y="1524"/>
                  </a:lnTo>
                  <a:lnTo>
                    <a:pt x="607440" y="5841"/>
                  </a:lnTo>
                  <a:lnTo>
                    <a:pt x="673734" y="12953"/>
                  </a:lnTo>
                  <a:lnTo>
                    <a:pt x="734186" y="22351"/>
                  </a:lnTo>
                  <a:lnTo>
                    <a:pt x="787907" y="33909"/>
                  </a:lnTo>
                  <a:lnTo>
                    <a:pt x="834135" y="47371"/>
                  </a:lnTo>
                  <a:lnTo>
                    <a:pt x="871601" y="62484"/>
                  </a:lnTo>
                  <a:lnTo>
                    <a:pt x="917066" y="96774"/>
                  </a:lnTo>
                  <a:lnTo>
                    <a:pt x="923162" y="115570"/>
                  </a:lnTo>
                  <a:close/>
                </a:path>
                <a:path w="923290" h="932814">
                  <a:moveTo>
                    <a:pt x="923162" y="115570"/>
                  </a:moveTo>
                  <a:lnTo>
                    <a:pt x="923162" y="816737"/>
                  </a:lnTo>
                  <a:lnTo>
                    <a:pt x="917066" y="835406"/>
                  </a:lnTo>
                  <a:lnTo>
                    <a:pt x="871601" y="869823"/>
                  </a:lnTo>
                  <a:lnTo>
                    <a:pt x="834135" y="884936"/>
                  </a:lnTo>
                  <a:lnTo>
                    <a:pt x="787907" y="898398"/>
                  </a:lnTo>
                  <a:lnTo>
                    <a:pt x="734186" y="909955"/>
                  </a:lnTo>
                  <a:lnTo>
                    <a:pt x="673734" y="919352"/>
                  </a:lnTo>
                  <a:lnTo>
                    <a:pt x="607440" y="926464"/>
                  </a:lnTo>
                  <a:lnTo>
                    <a:pt x="536448" y="930782"/>
                  </a:lnTo>
                  <a:lnTo>
                    <a:pt x="461644" y="932307"/>
                  </a:lnTo>
                  <a:lnTo>
                    <a:pt x="386714" y="930782"/>
                  </a:lnTo>
                  <a:lnTo>
                    <a:pt x="315722" y="926464"/>
                  </a:lnTo>
                  <a:lnTo>
                    <a:pt x="249427" y="919352"/>
                  </a:lnTo>
                  <a:lnTo>
                    <a:pt x="188975" y="909955"/>
                  </a:lnTo>
                  <a:lnTo>
                    <a:pt x="135254" y="898398"/>
                  </a:lnTo>
                  <a:lnTo>
                    <a:pt x="89026" y="884936"/>
                  </a:lnTo>
                  <a:lnTo>
                    <a:pt x="51561" y="869823"/>
                  </a:lnTo>
                  <a:lnTo>
                    <a:pt x="6096" y="835406"/>
                  </a:lnTo>
                  <a:lnTo>
                    <a:pt x="0" y="816737"/>
                  </a:lnTo>
                  <a:lnTo>
                    <a:pt x="0" y="115570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002651" y="3708654"/>
            <a:ext cx="9118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Customer</a:t>
            </a:r>
            <a:endParaRPr sz="18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86016" y="2281427"/>
            <a:ext cx="1064895" cy="2907665"/>
          </a:xfrm>
          <a:custGeom>
            <a:avLst/>
            <a:gdLst/>
            <a:ahLst/>
            <a:cxnLst/>
            <a:rect l="l" t="t" r="r" b="b"/>
            <a:pathLst>
              <a:path w="1064895" h="2907665">
                <a:moveTo>
                  <a:pt x="1006856" y="1825244"/>
                </a:moveTo>
                <a:lnTo>
                  <a:pt x="887095" y="1870202"/>
                </a:lnTo>
                <a:lnTo>
                  <a:pt x="915035" y="1896110"/>
                </a:lnTo>
                <a:lnTo>
                  <a:pt x="0" y="2881757"/>
                </a:lnTo>
                <a:lnTo>
                  <a:pt x="27940" y="2907665"/>
                </a:lnTo>
                <a:lnTo>
                  <a:pt x="943102" y="1922018"/>
                </a:lnTo>
                <a:lnTo>
                  <a:pt x="971042" y="1947926"/>
                </a:lnTo>
                <a:lnTo>
                  <a:pt x="1006856" y="1825244"/>
                </a:lnTo>
                <a:close/>
              </a:path>
              <a:path w="1064895" h="2907665">
                <a:moveTo>
                  <a:pt x="1030605" y="1568196"/>
                </a:moveTo>
                <a:lnTo>
                  <a:pt x="949833" y="1568196"/>
                </a:lnTo>
                <a:lnTo>
                  <a:pt x="948563" y="1605661"/>
                </a:lnTo>
                <a:lnTo>
                  <a:pt x="1030605" y="1568196"/>
                </a:lnTo>
                <a:close/>
              </a:path>
              <a:path w="1064895" h="2907665">
                <a:moveTo>
                  <a:pt x="1064895" y="1552702"/>
                </a:moveTo>
                <a:lnTo>
                  <a:pt x="952500" y="1491615"/>
                </a:lnTo>
                <a:lnTo>
                  <a:pt x="951103" y="1529588"/>
                </a:lnTo>
                <a:lnTo>
                  <a:pt x="8509" y="1496441"/>
                </a:lnTo>
                <a:lnTo>
                  <a:pt x="7239" y="1534541"/>
                </a:lnTo>
                <a:lnTo>
                  <a:pt x="949833" y="1567561"/>
                </a:lnTo>
                <a:lnTo>
                  <a:pt x="1032129" y="1567561"/>
                </a:lnTo>
                <a:lnTo>
                  <a:pt x="1064895" y="1552702"/>
                </a:lnTo>
                <a:close/>
              </a:path>
              <a:path w="1064895" h="2907665">
                <a:moveTo>
                  <a:pt x="1064895" y="1516126"/>
                </a:moveTo>
                <a:lnTo>
                  <a:pt x="1046607" y="1389634"/>
                </a:lnTo>
                <a:lnTo>
                  <a:pt x="1015238" y="1411478"/>
                </a:lnTo>
                <a:lnTo>
                  <a:pt x="31750" y="0"/>
                </a:lnTo>
                <a:lnTo>
                  <a:pt x="381" y="21717"/>
                </a:lnTo>
                <a:lnTo>
                  <a:pt x="983869" y="1433195"/>
                </a:lnTo>
                <a:lnTo>
                  <a:pt x="952627" y="1454912"/>
                </a:lnTo>
                <a:lnTo>
                  <a:pt x="1064895" y="1516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spc="-10" dirty="0"/>
              <a:t>Warehouse—</a:t>
            </a:r>
            <a:r>
              <a:rPr spc="-30" dirty="0"/>
              <a:t>Subject-</a:t>
            </a:r>
            <a:r>
              <a:rPr spc="-10" dirty="0"/>
              <a:t>Oriented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168" y="720879"/>
            <a:ext cx="5866765" cy="11233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  <a:tab pos="1778000" algn="l"/>
                <a:tab pos="2788920" algn="l"/>
                <a:tab pos="3658235" algn="l"/>
                <a:tab pos="4874895" algn="l"/>
                <a:tab pos="5597525" algn="l"/>
              </a:tabLst>
            </a:pPr>
            <a:r>
              <a:rPr sz="2400" spc="-10" dirty="0">
                <a:latin typeface="Times New Roman"/>
                <a:cs typeface="Times New Roman"/>
              </a:rPr>
              <a:t>Organized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around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major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subjects,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such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customer</a:t>
            </a:r>
            <a:r>
              <a:rPr sz="2400" spc="-2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4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4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sales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060" marR="5080" indent="-34036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Focusing</a:t>
            </a:r>
            <a:r>
              <a:rPr spc="505" dirty="0"/>
              <a:t> </a:t>
            </a:r>
            <a:r>
              <a:rPr dirty="0"/>
              <a:t>on</a:t>
            </a:r>
            <a:r>
              <a:rPr spc="535" dirty="0"/>
              <a:t> </a:t>
            </a:r>
            <a:r>
              <a:rPr dirty="0"/>
              <a:t>the</a:t>
            </a:r>
            <a:r>
              <a:rPr spc="500" dirty="0"/>
              <a:t> </a:t>
            </a:r>
            <a:r>
              <a:rPr dirty="0"/>
              <a:t>modeling</a:t>
            </a:r>
            <a:r>
              <a:rPr spc="520" dirty="0"/>
              <a:t> </a:t>
            </a:r>
            <a:r>
              <a:rPr dirty="0"/>
              <a:t>and</a:t>
            </a:r>
            <a:r>
              <a:rPr spc="509" dirty="0"/>
              <a:t> </a:t>
            </a:r>
            <a:r>
              <a:rPr dirty="0"/>
              <a:t>analysis</a:t>
            </a:r>
            <a:r>
              <a:rPr spc="530" dirty="0"/>
              <a:t> </a:t>
            </a:r>
            <a:r>
              <a:rPr spc="-25" dirty="0"/>
              <a:t>of 	</a:t>
            </a:r>
            <a:r>
              <a:rPr dirty="0"/>
              <a:t>data</a:t>
            </a:r>
            <a:r>
              <a:rPr spc="280" dirty="0"/>
              <a:t>  </a:t>
            </a:r>
            <a:r>
              <a:rPr dirty="0"/>
              <a:t>for</a:t>
            </a:r>
            <a:r>
              <a:rPr spc="290" dirty="0"/>
              <a:t>  </a:t>
            </a:r>
            <a:r>
              <a:rPr dirty="0"/>
              <a:t>decision</a:t>
            </a:r>
            <a:r>
              <a:rPr spc="295" dirty="0"/>
              <a:t>  </a:t>
            </a:r>
            <a:r>
              <a:rPr dirty="0"/>
              <a:t>makers,</a:t>
            </a:r>
            <a:r>
              <a:rPr spc="265" dirty="0"/>
              <a:t>  </a:t>
            </a:r>
            <a:r>
              <a:rPr dirty="0"/>
              <a:t>not</a:t>
            </a:r>
            <a:r>
              <a:rPr spc="285" dirty="0"/>
              <a:t>  </a:t>
            </a:r>
            <a:r>
              <a:rPr dirty="0"/>
              <a:t>on</a:t>
            </a:r>
            <a:r>
              <a:rPr spc="285" dirty="0"/>
              <a:t>  </a:t>
            </a:r>
            <a:r>
              <a:rPr spc="-10" dirty="0"/>
              <a:t>daily 	</a:t>
            </a:r>
            <a:r>
              <a:rPr dirty="0"/>
              <a:t>operations</a:t>
            </a:r>
            <a:r>
              <a:rPr spc="-7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dirty="0"/>
              <a:t>transaction</a:t>
            </a:r>
            <a:r>
              <a:rPr spc="-140" dirty="0"/>
              <a:t> </a:t>
            </a:r>
            <a:r>
              <a:rPr spc="-10" dirty="0"/>
              <a:t>processing.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9168" y="3616690"/>
            <a:ext cx="5878830" cy="2221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060" marR="5080" indent="-34036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simple</a:t>
            </a:r>
            <a:r>
              <a:rPr sz="2400" spc="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concise</a:t>
            </a:r>
            <a:r>
              <a:rPr sz="2400" spc="4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view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around 	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subject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issues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excluding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 	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400" spc="4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useful</a:t>
            </a:r>
            <a:r>
              <a:rPr sz="2400" spc="5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decision</a:t>
            </a:r>
            <a:r>
              <a:rPr sz="2400" spc="5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support 	process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86500" y="1975104"/>
            <a:ext cx="964565" cy="937260"/>
            <a:chOff x="6286500" y="1975104"/>
            <a:chExt cx="964565" cy="937260"/>
          </a:xfrm>
        </p:grpSpPr>
        <p:sp>
          <p:nvSpPr>
            <p:cNvPr id="7" name="object 7"/>
            <p:cNvSpPr/>
            <p:nvPr/>
          </p:nvSpPr>
          <p:spPr>
            <a:xfrm>
              <a:off x="6291072" y="2098548"/>
              <a:ext cx="951230" cy="804545"/>
            </a:xfrm>
            <a:custGeom>
              <a:avLst/>
              <a:gdLst/>
              <a:ahLst/>
              <a:cxnLst/>
              <a:rect l="l" t="t" r="r" b="b"/>
              <a:pathLst>
                <a:path w="951229" h="804544">
                  <a:moveTo>
                    <a:pt x="950849" y="0"/>
                  </a:moveTo>
                  <a:lnTo>
                    <a:pt x="930655" y="33147"/>
                  </a:lnTo>
                  <a:lnTo>
                    <a:pt x="874268" y="62484"/>
                  </a:lnTo>
                  <a:lnTo>
                    <a:pt x="834262" y="75311"/>
                  </a:lnTo>
                  <a:lnTo>
                    <a:pt x="787273" y="86740"/>
                  </a:lnTo>
                  <a:lnTo>
                    <a:pt x="734313" y="96392"/>
                  </a:lnTo>
                  <a:lnTo>
                    <a:pt x="675894" y="104266"/>
                  </a:lnTo>
                  <a:lnTo>
                    <a:pt x="612775" y="109981"/>
                  </a:lnTo>
                  <a:lnTo>
                    <a:pt x="545719" y="113664"/>
                  </a:lnTo>
                  <a:lnTo>
                    <a:pt x="475360" y="114935"/>
                  </a:lnTo>
                  <a:lnTo>
                    <a:pt x="405129" y="113664"/>
                  </a:lnTo>
                  <a:lnTo>
                    <a:pt x="338074" y="109981"/>
                  </a:lnTo>
                  <a:lnTo>
                    <a:pt x="274954" y="104266"/>
                  </a:lnTo>
                  <a:lnTo>
                    <a:pt x="216534" y="96392"/>
                  </a:lnTo>
                  <a:lnTo>
                    <a:pt x="163575" y="86740"/>
                  </a:lnTo>
                  <a:lnTo>
                    <a:pt x="116586" y="75311"/>
                  </a:lnTo>
                  <a:lnTo>
                    <a:pt x="76580" y="62484"/>
                  </a:lnTo>
                  <a:lnTo>
                    <a:pt x="20192" y="33147"/>
                  </a:lnTo>
                  <a:lnTo>
                    <a:pt x="0" y="0"/>
                  </a:lnTo>
                  <a:lnTo>
                    <a:pt x="0" y="689355"/>
                  </a:lnTo>
                  <a:lnTo>
                    <a:pt x="20192" y="722502"/>
                  </a:lnTo>
                  <a:lnTo>
                    <a:pt x="76580" y="751966"/>
                  </a:lnTo>
                  <a:lnTo>
                    <a:pt x="116586" y="764793"/>
                  </a:lnTo>
                  <a:lnTo>
                    <a:pt x="163575" y="776097"/>
                  </a:lnTo>
                  <a:lnTo>
                    <a:pt x="216534" y="785749"/>
                  </a:lnTo>
                  <a:lnTo>
                    <a:pt x="274954" y="793623"/>
                  </a:lnTo>
                  <a:lnTo>
                    <a:pt x="338074" y="799464"/>
                  </a:lnTo>
                  <a:lnTo>
                    <a:pt x="405129" y="803021"/>
                  </a:lnTo>
                  <a:lnTo>
                    <a:pt x="475360" y="804290"/>
                  </a:lnTo>
                  <a:lnTo>
                    <a:pt x="545719" y="803021"/>
                  </a:lnTo>
                  <a:lnTo>
                    <a:pt x="612775" y="799464"/>
                  </a:lnTo>
                  <a:lnTo>
                    <a:pt x="675894" y="793623"/>
                  </a:lnTo>
                  <a:lnTo>
                    <a:pt x="734313" y="785749"/>
                  </a:lnTo>
                  <a:lnTo>
                    <a:pt x="787273" y="776097"/>
                  </a:lnTo>
                  <a:lnTo>
                    <a:pt x="834262" y="764793"/>
                  </a:lnTo>
                  <a:lnTo>
                    <a:pt x="874268" y="751966"/>
                  </a:lnTo>
                  <a:lnTo>
                    <a:pt x="930655" y="722502"/>
                  </a:lnTo>
                  <a:lnTo>
                    <a:pt x="950849" y="689355"/>
                  </a:lnTo>
                  <a:lnTo>
                    <a:pt x="950849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1072" y="1979676"/>
              <a:ext cx="951230" cy="233045"/>
            </a:xfrm>
            <a:custGeom>
              <a:avLst/>
              <a:gdLst/>
              <a:ahLst/>
              <a:cxnLst/>
              <a:rect l="l" t="t" r="r" b="b"/>
              <a:pathLst>
                <a:path w="951229" h="233044">
                  <a:moveTo>
                    <a:pt x="475360" y="0"/>
                  </a:moveTo>
                  <a:lnTo>
                    <a:pt x="405129" y="1270"/>
                  </a:lnTo>
                  <a:lnTo>
                    <a:pt x="338074" y="4952"/>
                  </a:lnTo>
                  <a:lnTo>
                    <a:pt x="274954" y="10795"/>
                  </a:lnTo>
                  <a:lnTo>
                    <a:pt x="216534" y="18796"/>
                  </a:lnTo>
                  <a:lnTo>
                    <a:pt x="163575" y="28575"/>
                  </a:lnTo>
                  <a:lnTo>
                    <a:pt x="116586" y="40004"/>
                  </a:lnTo>
                  <a:lnTo>
                    <a:pt x="76580" y="53086"/>
                  </a:lnTo>
                  <a:lnTo>
                    <a:pt x="20192" y="82803"/>
                  </a:lnTo>
                  <a:lnTo>
                    <a:pt x="0" y="116332"/>
                  </a:lnTo>
                  <a:lnTo>
                    <a:pt x="5206" y="133603"/>
                  </a:lnTo>
                  <a:lnTo>
                    <a:pt x="44195" y="165481"/>
                  </a:lnTo>
                  <a:lnTo>
                    <a:pt x="116586" y="192786"/>
                  </a:lnTo>
                  <a:lnTo>
                    <a:pt x="163575" y="204215"/>
                  </a:lnTo>
                  <a:lnTo>
                    <a:pt x="216534" y="213995"/>
                  </a:lnTo>
                  <a:lnTo>
                    <a:pt x="274954" y="221996"/>
                  </a:lnTo>
                  <a:lnTo>
                    <a:pt x="338074" y="227837"/>
                  </a:lnTo>
                  <a:lnTo>
                    <a:pt x="405129" y="231521"/>
                  </a:lnTo>
                  <a:lnTo>
                    <a:pt x="475360" y="232790"/>
                  </a:lnTo>
                  <a:lnTo>
                    <a:pt x="545719" y="231521"/>
                  </a:lnTo>
                  <a:lnTo>
                    <a:pt x="612775" y="227837"/>
                  </a:lnTo>
                  <a:lnTo>
                    <a:pt x="675894" y="221996"/>
                  </a:lnTo>
                  <a:lnTo>
                    <a:pt x="734313" y="213995"/>
                  </a:lnTo>
                  <a:lnTo>
                    <a:pt x="787273" y="204215"/>
                  </a:lnTo>
                  <a:lnTo>
                    <a:pt x="834262" y="192786"/>
                  </a:lnTo>
                  <a:lnTo>
                    <a:pt x="874268" y="179704"/>
                  </a:lnTo>
                  <a:lnTo>
                    <a:pt x="930655" y="149987"/>
                  </a:lnTo>
                  <a:lnTo>
                    <a:pt x="950849" y="116332"/>
                  </a:lnTo>
                  <a:lnTo>
                    <a:pt x="945642" y="99187"/>
                  </a:lnTo>
                  <a:lnTo>
                    <a:pt x="906652" y="67310"/>
                  </a:lnTo>
                  <a:lnTo>
                    <a:pt x="834262" y="40004"/>
                  </a:lnTo>
                  <a:lnTo>
                    <a:pt x="787273" y="28575"/>
                  </a:lnTo>
                  <a:lnTo>
                    <a:pt x="734313" y="18796"/>
                  </a:lnTo>
                  <a:lnTo>
                    <a:pt x="675894" y="10795"/>
                  </a:lnTo>
                  <a:lnTo>
                    <a:pt x="612775" y="4952"/>
                  </a:lnTo>
                  <a:lnTo>
                    <a:pt x="545719" y="1270"/>
                  </a:lnTo>
                  <a:lnTo>
                    <a:pt x="475360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93358" y="1981962"/>
              <a:ext cx="951230" cy="923290"/>
            </a:xfrm>
            <a:custGeom>
              <a:avLst/>
              <a:gdLst/>
              <a:ahLst/>
              <a:cxnLst/>
              <a:rect l="l" t="t" r="r" b="b"/>
              <a:pathLst>
                <a:path w="951229" h="923289">
                  <a:moveTo>
                    <a:pt x="950848" y="115442"/>
                  </a:moveTo>
                  <a:lnTo>
                    <a:pt x="930656" y="148716"/>
                  </a:lnTo>
                  <a:lnTo>
                    <a:pt x="874267" y="178180"/>
                  </a:lnTo>
                  <a:lnTo>
                    <a:pt x="834263" y="191135"/>
                  </a:lnTo>
                  <a:lnTo>
                    <a:pt x="787272" y="202437"/>
                  </a:lnTo>
                  <a:lnTo>
                    <a:pt x="734313" y="212216"/>
                  </a:lnTo>
                  <a:lnTo>
                    <a:pt x="675893" y="220090"/>
                  </a:lnTo>
                  <a:lnTo>
                    <a:pt x="612774" y="225933"/>
                  </a:lnTo>
                  <a:lnTo>
                    <a:pt x="545718" y="229615"/>
                  </a:lnTo>
                  <a:lnTo>
                    <a:pt x="475361" y="230759"/>
                  </a:lnTo>
                  <a:lnTo>
                    <a:pt x="405130" y="229615"/>
                  </a:lnTo>
                  <a:lnTo>
                    <a:pt x="338073" y="225933"/>
                  </a:lnTo>
                  <a:lnTo>
                    <a:pt x="274955" y="220090"/>
                  </a:lnTo>
                  <a:lnTo>
                    <a:pt x="216535" y="212216"/>
                  </a:lnTo>
                  <a:lnTo>
                    <a:pt x="163575" y="202437"/>
                  </a:lnTo>
                  <a:lnTo>
                    <a:pt x="116586" y="191135"/>
                  </a:lnTo>
                  <a:lnTo>
                    <a:pt x="76580" y="178180"/>
                  </a:lnTo>
                  <a:lnTo>
                    <a:pt x="20192" y="148716"/>
                  </a:lnTo>
                  <a:lnTo>
                    <a:pt x="0" y="115442"/>
                  </a:lnTo>
                  <a:lnTo>
                    <a:pt x="5206" y="98425"/>
                  </a:lnTo>
                  <a:lnTo>
                    <a:pt x="44195" y="66801"/>
                  </a:lnTo>
                  <a:lnTo>
                    <a:pt x="116586" y="39750"/>
                  </a:lnTo>
                  <a:lnTo>
                    <a:pt x="163575" y="28321"/>
                  </a:lnTo>
                  <a:lnTo>
                    <a:pt x="216535" y="18541"/>
                  </a:lnTo>
                  <a:lnTo>
                    <a:pt x="274955" y="10795"/>
                  </a:lnTo>
                  <a:lnTo>
                    <a:pt x="338073" y="4952"/>
                  </a:lnTo>
                  <a:lnTo>
                    <a:pt x="405130" y="1270"/>
                  </a:lnTo>
                  <a:lnTo>
                    <a:pt x="475361" y="0"/>
                  </a:lnTo>
                  <a:lnTo>
                    <a:pt x="545718" y="1270"/>
                  </a:lnTo>
                  <a:lnTo>
                    <a:pt x="612774" y="4952"/>
                  </a:lnTo>
                  <a:lnTo>
                    <a:pt x="675893" y="10795"/>
                  </a:lnTo>
                  <a:lnTo>
                    <a:pt x="734313" y="18541"/>
                  </a:lnTo>
                  <a:lnTo>
                    <a:pt x="787272" y="28321"/>
                  </a:lnTo>
                  <a:lnTo>
                    <a:pt x="834263" y="39750"/>
                  </a:lnTo>
                  <a:lnTo>
                    <a:pt x="874267" y="52577"/>
                  </a:lnTo>
                  <a:lnTo>
                    <a:pt x="930656" y="82041"/>
                  </a:lnTo>
                  <a:lnTo>
                    <a:pt x="950848" y="115442"/>
                  </a:lnTo>
                  <a:close/>
                </a:path>
                <a:path w="951229" h="923289">
                  <a:moveTo>
                    <a:pt x="950848" y="115442"/>
                  </a:moveTo>
                  <a:lnTo>
                    <a:pt x="950848" y="807847"/>
                  </a:lnTo>
                  <a:lnTo>
                    <a:pt x="945641" y="824864"/>
                  </a:lnTo>
                  <a:lnTo>
                    <a:pt x="906652" y="856488"/>
                  </a:lnTo>
                  <a:lnTo>
                    <a:pt x="834263" y="883538"/>
                  </a:lnTo>
                  <a:lnTo>
                    <a:pt x="787272" y="894968"/>
                  </a:lnTo>
                  <a:lnTo>
                    <a:pt x="734313" y="904621"/>
                  </a:lnTo>
                  <a:lnTo>
                    <a:pt x="675893" y="912495"/>
                  </a:lnTo>
                  <a:lnTo>
                    <a:pt x="612774" y="918337"/>
                  </a:lnTo>
                  <a:lnTo>
                    <a:pt x="545718" y="922020"/>
                  </a:lnTo>
                  <a:lnTo>
                    <a:pt x="475361" y="923289"/>
                  </a:lnTo>
                  <a:lnTo>
                    <a:pt x="405130" y="922020"/>
                  </a:lnTo>
                  <a:lnTo>
                    <a:pt x="338073" y="918337"/>
                  </a:lnTo>
                  <a:lnTo>
                    <a:pt x="274955" y="912495"/>
                  </a:lnTo>
                  <a:lnTo>
                    <a:pt x="216535" y="904621"/>
                  </a:lnTo>
                  <a:lnTo>
                    <a:pt x="163575" y="894968"/>
                  </a:lnTo>
                  <a:lnTo>
                    <a:pt x="116586" y="883538"/>
                  </a:lnTo>
                  <a:lnTo>
                    <a:pt x="76580" y="870712"/>
                  </a:lnTo>
                  <a:lnTo>
                    <a:pt x="20192" y="841248"/>
                  </a:lnTo>
                  <a:lnTo>
                    <a:pt x="0" y="807847"/>
                  </a:lnTo>
                  <a:lnTo>
                    <a:pt x="0" y="115442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39915" y="1965197"/>
            <a:ext cx="6515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470">
              <a:lnSpc>
                <a:spcPct val="1501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Sales </a:t>
            </a:r>
            <a:r>
              <a:rPr sz="1800" spc="-25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86500" y="3204972"/>
            <a:ext cx="964565" cy="932815"/>
            <a:chOff x="6286500" y="3204972"/>
            <a:chExt cx="964565" cy="932815"/>
          </a:xfrm>
        </p:grpSpPr>
        <p:sp>
          <p:nvSpPr>
            <p:cNvPr id="12" name="object 12"/>
            <p:cNvSpPr/>
            <p:nvPr/>
          </p:nvSpPr>
          <p:spPr>
            <a:xfrm>
              <a:off x="6291072" y="3323844"/>
              <a:ext cx="951230" cy="804545"/>
            </a:xfrm>
            <a:custGeom>
              <a:avLst/>
              <a:gdLst/>
              <a:ahLst/>
              <a:cxnLst/>
              <a:rect l="l" t="t" r="r" b="b"/>
              <a:pathLst>
                <a:path w="951229" h="804545">
                  <a:moveTo>
                    <a:pt x="950849" y="0"/>
                  </a:moveTo>
                  <a:lnTo>
                    <a:pt x="930655" y="33146"/>
                  </a:lnTo>
                  <a:lnTo>
                    <a:pt x="874268" y="62483"/>
                  </a:lnTo>
                  <a:lnTo>
                    <a:pt x="834262" y="75310"/>
                  </a:lnTo>
                  <a:lnTo>
                    <a:pt x="787273" y="86740"/>
                  </a:lnTo>
                  <a:lnTo>
                    <a:pt x="734313" y="96392"/>
                  </a:lnTo>
                  <a:lnTo>
                    <a:pt x="675894" y="104266"/>
                  </a:lnTo>
                  <a:lnTo>
                    <a:pt x="612775" y="109981"/>
                  </a:lnTo>
                  <a:lnTo>
                    <a:pt x="545719" y="113664"/>
                  </a:lnTo>
                  <a:lnTo>
                    <a:pt x="475360" y="114934"/>
                  </a:lnTo>
                  <a:lnTo>
                    <a:pt x="405129" y="113664"/>
                  </a:lnTo>
                  <a:lnTo>
                    <a:pt x="338074" y="109981"/>
                  </a:lnTo>
                  <a:lnTo>
                    <a:pt x="274954" y="104266"/>
                  </a:lnTo>
                  <a:lnTo>
                    <a:pt x="216534" y="96392"/>
                  </a:lnTo>
                  <a:lnTo>
                    <a:pt x="163575" y="86740"/>
                  </a:lnTo>
                  <a:lnTo>
                    <a:pt x="116586" y="75310"/>
                  </a:lnTo>
                  <a:lnTo>
                    <a:pt x="76580" y="62483"/>
                  </a:lnTo>
                  <a:lnTo>
                    <a:pt x="20192" y="33146"/>
                  </a:lnTo>
                  <a:lnTo>
                    <a:pt x="0" y="0"/>
                  </a:lnTo>
                  <a:lnTo>
                    <a:pt x="0" y="689355"/>
                  </a:lnTo>
                  <a:lnTo>
                    <a:pt x="20192" y="722502"/>
                  </a:lnTo>
                  <a:lnTo>
                    <a:pt x="76580" y="751966"/>
                  </a:lnTo>
                  <a:lnTo>
                    <a:pt x="116586" y="764793"/>
                  </a:lnTo>
                  <a:lnTo>
                    <a:pt x="163575" y="776096"/>
                  </a:lnTo>
                  <a:lnTo>
                    <a:pt x="216534" y="785748"/>
                  </a:lnTo>
                  <a:lnTo>
                    <a:pt x="274954" y="793622"/>
                  </a:lnTo>
                  <a:lnTo>
                    <a:pt x="338074" y="799464"/>
                  </a:lnTo>
                  <a:lnTo>
                    <a:pt x="405129" y="803020"/>
                  </a:lnTo>
                  <a:lnTo>
                    <a:pt x="475360" y="804290"/>
                  </a:lnTo>
                  <a:lnTo>
                    <a:pt x="545719" y="803020"/>
                  </a:lnTo>
                  <a:lnTo>
                    <a:pt x="612775" y="799464"/>
                  </a:lnTo>
                  <a:lnTo>
                    <a:pt x="675894" y="793622"/>
                  </a:lnTo>
                  <a:lnTo>
                    <a:pt x="734313" y="785748"/>
                  </a:lnTo>
                  <a:lnTo>
                    <a:pt x="787273" y="776096"/>
                  </a:lnTo>
                  <a:lnTo>
                    <a:pt x="834262" y="764793"/>
                  </a:lnTo>
                  <a:lnTo>
                    <a:pt x="874268" y="751966"/>
                  </a:lnTo>
                  <a:lnTo>
                    <a:pt x="930655" y="722502"/>
                  </a:lnTo>
                  <a:lnTo>
                    <a:pt x="950849" y="689355"/>
                  </a:lnTo>
                  <a:lnTo>
                    <a:pt x="950849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91072" y="3209544"/>
              <a:ext cx="951230" cy="228600"/>
            </a:xfrm>
            <a:custGeom>
              <a:avLst/>
              <a:gdLst/>
              <a:ahLst/>
              <a:cxnLst/>
              <a:rect l="l" t="t" r="r" b="b"/>
              <a:pathLst>
                <a:path w="951229" h="228600">
                  <a:moveTo>
                    <a:pt x="475360" y="0"/>
                  </a:moveTo>
                  <a:lnTo>
                    <a:pt x="405129" y="1269"/>
                  </a:lnTo>
                  <a:lnTo>
                    <a:pt x="338074" y="4825"/>
                  </a:lnTo>
                  <a:lnTo>
                    <a:pt x="274954" y="10667"/>
                  </a:lnTo>
                  <a:lnTo>
                    <a:pt x="216534" y="18414"/>
                  </a:lnTo>
                  <a:lnTo>
                    <a:pt x="163575" y="28066"/>
                  </a:lnTo>
                  <a:lnTo>
                    <a:pt x="116586" y="39242"/>
                  </a:lnTo>
                  <a:lnTo>
                    <a:pt x="76580" y="51942"/>
                  </a:lnTo>
                  <a:lnTo>
                    <a:pt x="20192" y="81152"/>
                  </a:lnTo>
                  <a:lnTo>
                    <a:pt x="0" y="114172"/>
                  </a:lnTo>
                  <a:lnTo>
                    <a:pt x="5206" y="130936"/>
                  </a:lnTo>
                  <a:lnTo>
                    <a:pt x="44195" y="162178"/>
                  </a:lnTo>
                  <a:lnTo>
                    <a:pt x="116586" y="188975"/>
                  </a:lnTo>
                  <a:lnTo>
                    <a:pt x="163575" y="200278"/>
                  </a:lnTo>
                  <a:lnTo>
                    <a:pt x="216534" y="209803"/>
                  </a:lnTo>
                  <a:lnTo>
                    <a:pt x="274954" y="217550"/>
                  </a:lnTo>
                  <a:lnTo>
                    <a:pt x="338074" y="223392"/>
                  </a:lnTo>
                  <a:lnTo>
                    <a:pt x="405129" y="226948"/>
                  </a:lnTo>
                  <a:lnTo>
                    <a:pt x="475360" y="228218"/>
                  </a:lnTo>
                  <a:lnTo>
                    <a:pt x="545719" y="226948"/>
                  </a:lnTo>
                  <a:lnTo>
                    <a:pt x="612775" y="223392"/>
                  </a:lnTo>
                  <a:lnTo>
                    <a:pt x="675894" y="217550"/>
                  </a:lnTo>
                  <a:lnTo>
                    <a:pt x="734313" y="209803"/>
                  </a:lnTo>
                  <a:lnTo>
                    <a:pt x="787273" y="200278"/>
                  </a:lnTo>
                  <a:lnTo>
                    <a:pt x="834262" y="188975"/>
                  </a:lnTo>
                  <a:lnTo>
                    <a:pt x="874268" y="176275"/>
                  </a:lnTo>
                  <a:lnTo>
                    <a:pt x="930655" y="147065"/>
                  </a:lnTo>
                  <a:lnTo>
                    <a:pt x="950849" y="114172"/>
                  </a:lnTo>
                  <a:lnTo>
                    <a:pt x="945642" y="97281"/>
                  </a:lnTo>
                  <a:lnTo>
                    <a:pt x="906652" y="66039"/>
                  </a:lnTo>
                  <a:lnTo>
                    <a:pt x="834262" y="39242"/>
                  </a:lnTo>
                  <a:lnTo>
                    <a:pt x="787273" y="28066"/>
                  </a:lnTo>
                  <a:lnTo>
                    <a:pt x="734313" y="18414"/>
                  </a:lnTo>
                  <a:lnTo>
                    <a:pt x="675894" y="10667"/>
                  </a:lnTo>
                  <a:lnTo>
                    <a:pt x="612775" y="4825"/>
                  </a:lnTo>
                  <a:lnTo>
                    <a:pt x="545719" y="1269"/>
                  </a:lnTo>
                  <a:lnTo>
                    <a:pt x="475360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3358" y="3211830"/>
              <a:ext cx="951230" cy="918844"/>
            </a:xfrm>
            <a:custGeom>
              <a:avLst/>
              <a:gdLst/>
              <a:ahLst/>
              <a:cxnLst/>
              <a:rect l="l" t="t" r="r" b="b"/>
              <a:pathLst>
                <a:path w="951229" h="918845">
                  <a:moveTo>
                    <a:pt x="950848" y="114808"/>
                  </a:moveTo>
                  <a:lnTo>
                    <a:pt x="930656" y="147955"/>
                  </a:lnTo>
                  <a:lnTo>
                    <a:pt x="874267" y="177292"/>
                  </a:lnTo>
                  <a:lnTo>
                    <a:pt x="834263" y="190119"/>
                  </a:lnTo>
                  <a:lnTo>
                    <a:pt x="787272" y="201549"/>
                  </a:lnTo>
                  <a:lnTo>
                    <a:pt x="734313" y="211200"/>
                  </a:lnTo>
                  <a:lnTo>
                    <a:pt x="675893" y="218948"/>
                  </a:lnTo>
                  <a:lnTo>
                    <a:pt x="612774" y="224790"/>
                  </a:lnTo>
                  <a:lnTo>
                    <a:pt x="545718" y="228473"/>
                  </a:lnTo>
                  <a:lnTo>
                    <a:pt x="475361" y="229616"/>
                  </a:lnTo>
                  <a:lnTo>
                    <a:pt x="405130" y="228473"/>
                  </a:lnTo>
                  <a:lnTo>
                    <a:pt x="338073" y="224790"/>
                  </a:lnTo>
                  <a:lnTo>
                    <a:pt x="274955" y="218948"/>
                  </a:lnTo>
                  <a:lnTo>
                    <a:pt x="216535" y="211200"/>
                  </a:lnTo>
                  <a:lnTo>
                    <a:pt x="163575" y="201549"/>
                  </a:lnTo>
                  <a:lnTo>
                    <a:pt x="116586" y="190119"/>
                  </a:lnTo>
                  <a:lnTo>
                    <a:pt x="76580" y="177292"/>
                  </a:lnTo>
                  <a:lnTo>
                    <a:pt x="20192" y="147955"/>
                  </a:lnTo>
                  <a:lnTo>
                    <a:pt x="0" y="114808"/>
                  </a:lnTo>
                  <a:lnTo>
                    <a:pt x="5206" y="97917"/>
                  </a:lnTo>
                  <a:lnTo>
                    <a:pt x="44195" y="66421"/>
                  </a:lnTo>
                  <a:lnTo>
                    <a:pt x="116586" y="39497"/>
                  </a:lnTo>
                  <a:lnTo>
                    <a:pt x="163575" y="28194"/>
                  </a:lnTo>
                  <a:lnTo>
                    <a:pt x="216535" y="18542"/>
                  </a:lnTo>
                  <a:lnTo>
                    <a:pt x="274955" y="10668"/>
                  </a:lnTo>
                  <a:lnTo>
                    <a:pt x="338073" y="4825"/>
                  </a:lnTo>
                  <a:lnTo>
                    <a:pt x="405130" y="1270"/>
                  </a:lnTo>
                  <a:lnTo>
                    <a:pt x="475361" y="0"/>
                  </a:lnTo>
                  <a:lnTo>
                    <a:pt x="545718" y="1270"/>
                  </a:lnTo>
                  <a:lnTo>
                    <a:pt x="612774" y="4825"/>
                  </a:lnTo>
                  <a:lnTo>
                    <a:pt x="675893" y="10668"/>
                  </a:lnTo>
                  <a:lnTo>
                    <a:pt x="734313" y="18542"/>
                  </a:lnTo>
                  <a:lnTo>
                    <a:pt x="787272" y="28194"/>
                  </a:lnTo>
                  <a:lnTo>
                    <a:pt x="834263" y="39497"/>
                  </a:lnTo>
                  <a:lnTo>
                    <a:pt x="874267" y="52324"/>
                  </a:lnTo>
                  <a:lnTo>
                    <a:pt x="930656" y="81661"/>
                  </a:lnTo>
                  <a:lnTo>
                    <a:pt x="950848" y="114808"/>
                  </a:lnTo>
                  <a:close/>
                </a:path>
                <a:path w="951229" h="918845">
                  <a:moveTo>
                    <a:pt x="950848" y="114808"/>
                  </a:moveTo>
                  <a:lnTo>
                    <a:pt x="950848" y="803910"/>
                  </a:lnTo>
                  <a:lnTo>
                    <a:pt x="945641" y="820801"/>
                  </a:lnTo>
                  <a:lnTo>
                    <a:pt x="906652" y="852297"/>
                  </a:lnTo>
                  <a:lnTo>
                    <a:pt x="834263" y="879221"/>
                  </a:lnTo>
                  <a:lnTo>
                    <a:pt x="787272" y="890524"/>
                  </a:lnTo>
                  <a:lnTo>
                    <a:pt x="734313" y="900176"/>
                  </a:lnTo>
                  <a:lnTo>
                    <a:pt x="675893" y="908050"/>
                  </a:lnTo>
                  <a:lnTo>
                    <a:pt x="612774" y="913892"/>
                  </a:lnTo>
                  <a:lnTo>
                    <a:pt x="545718" y="917448"/>
                  </a:lnTo>
                  <a:lnTo>
                    <a:pt x="475361" y="918718"/>
                  </a:lnTo>
                  <a:lnTo>
                    <a:pt x="405130" y="917448"/>
                  </a:lnTo>
                  <a:lnTo>
                    <a:pt x="338073" y="913892"/>
                  </a:lnTo>
                  <a:lnTo>
                    <a:pt x="274955" y="908050"/>
                  </a:lnTo>
                  <a:lnTo>
                    <a:pt x="216535" y="900176"/>
                  </a:lnTo>
                  <a:lnTo>
                    <a:pt x="163575" y="890524"/>
                  </a:lnTo>
                  <a:lnTo>
                    <a:pt x="116586" y="879221"/>
                  </a:lnTo>
                  <a:lnTo>
                    <a:pt x="76580" y="866394"/>
                  </a:lnTo>
                  <a:lnTo>
                    <a:pt x="20192" y="837057"/>
                  </a:lnTo>
                  <a:lnTo>
                    <a:pt x="0" y="803910"/>
                  </a:lnTo>
                  <a:lnTo>
                    <a:pt x="0" y="114808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26200" y="3235512"/>
            <a:ext cx="674370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518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Payroll </a:t>
            </a: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86500" y="4553711"/>
            <a:ext cx="1266190" cy="937260"/>
            <a:chOff x="6286500" y="4553711"/>
            <a:chExt cx="1266190" cy="937260"/>
          </a:xfrm>
        </p:grpSpPr>
        <p:sp>
          <p:nvSpPr>
            <p:cNvPr id="17" name="object 17"/>
            <p:cNvSpPr/>
            <p:nvPr/>
          </p:nvSpPr>
          <p:spPr>
            <a:xfrm>
              <a:off x="6291072" y="4677155"/>
              <a:ext cx="1252855" cy="804545"/>
            </a:xfrm>
            <a:custGeom>
              <a:avLst/>
              <a:gdLst/>
              <a:ahLst/>
              <a:cxnLst/>
              <a:rect l="l" t="t" r="r" b="b"/>
              <a:pathLst>
                <a:path w="1252854" h="804545">
                  <a:moveTo>
                    <a:pt x="1252347" y="0"/>
                  </a:moveTo>
                  <a:lnTo>
                    <a:pt x="1215898" y="38862"/>
                  </a:lnTo>
                  <a:lnTo>
                    <a:pt x="1154810" y="61722"/>
                  </a:lnTo>
                  <a:lnTo>
                    <a:pt x="1114805" y="71882"/>
                  </a:lnTo>
                  <a:lnTo>
                    <a:pt x="1068958" y="81280"/>
                  </a:lnTo>
                  <a:lnTo>
                    <a:pt x="1017777" y="89789"/>
                  </a:lnTo>
                  <a:lnTo>
                    <a:pt x="961898" y="97028"/>
                  </a:lnTo>
                  <a:lnTo>
                    <a:pt x="901573" y="103251"/>
                  </a:lnTo>
                  <a:lnTo>
                    <a:pt x="837437" y="108331"/>
                  </a:lnTo>
                  <a:lnTo>
                    <a:pt x="769747" y="111887"/>
                  </a:lnTo>
                  <a:lnTo>
                    <a:pt x="699261" y="114173"/>
                  </a:lnTo>
                  <a:lnTo>
                    <a:pt x="626109" y="114935"/>
                  </a:lnTo>
                  <a:lnTo>
                    <a:pt x="553084" y="114173"/>
                  </a:lnTo>
                  <a:lnTo>
                    <a:pt x="482600" y="111887"/>
                  </a:lnTo>
                  <a:lnTo>
                    <a:pt x="414908" y="108331"/>
                  </a:lnTo>
                  <a:lnTo>
                    <a:pt x="350774" y="103251"/>
                  </a:lnTo>
                  <a:lnTo>
                    <a:pt x="290449" y="97028"/>
                  </a:lnTo>
                  <a:lnTo>
                    <a:pt x="234569" y="89789"/>
                  </a:lnTo>
                  <a:lnTo>
                    <a:pt x="183387" y="81280"/>
                  </a:lnTo>
                  <a:lnTo>
                    <a:pt x="137540" y="71882"/>
                  </a:lnTo>
                  <a:lnTo>
                    <a:pt x="97536" y="61722"/>
                  </a:lnTo>
                  <a:lnTo>
                    <a:pt x="36449" y="38862"/>
                  </a:lnTo>
                  <a:lnTo>
                    <a:pt x="4190" y="13462"/>
                  </a:lnTo>
                  <a:lnTo>
                    <a:pt x="0" y="0"/>
                  </a:lnTo>
                  <a:lnTo>
                    <a:pt x="0" y="689610"/>
                  </a:lnTo>
                  <a:lnTo>
                    <a:pt x="36449" y="728345"/>
                  </a:lnTo>
                  <a:lnTo>
                    <a:pt x="97536" y="751205"/>
                  </a:lnTo>
                  <a:lnTo>
                    <a:pt x="137540" y="761365"/>
                  </a:lnTo>
                  <a:lnTo>
                    <a:pt x="183387" y="770763"/>
                  </a:lnTo>
                  <a:lnTo>
                    <a:pt x="234569" y="779145"/>
                  </a:lnTo>
                  <a:lnTo>
                    <a:pt x="290449" y="786511"/>
                  </a:lnTo>
                  <a:lnTo>
                    <a:pt x="350774" y="792734"/>
                  </a:lnTo>
                  <a:lnTo>
                    <a:pt x="414908" y="797687"/>
                  </a:lnTo>
                  <a:lnTo>
                    <a:pt x="482600" y="801370"/>
                  </a:lnTo>
                  <a:lnTo>
                    <a:pt x="553084" y="803656"/>
                  </a:lnTo>
                  <a:lnTo>
                    <a:pt x="626109" y="804418"/>
                  </a:lnTo>
                  <a:lnTo>
                    <a:pt x="699261" y="803656"/>
                  </a:lnTo>
                  <a:lnTo>
                    <a:pt x="769747" y="801370"/>
                  </a:lnTo>
                  <a:lnTo>
                    <a:pt x="837437" y="797687"/>
                  </a:lnTo>
                  <a:lnTo>
                    <a:pt x="901573" y="792734"/>
                  </a:lnTo>
                  <a:lnTo>
                    <a:pt x="961898" y="786511"/>
                  </a:lnTo>
                  <a:lnTo>
                    <a:pt x="1017777" y="779145"/>
                  </a:lnTo>
                  <a:lnTo>
                    <a:pt x="1068958" y="770763"/>
                  </a:lnTo>
                  <a:lnTo>
                    <a:pt x="1114805" y="761365"/>
                  </a:lnTo>
                  <a:lnTo>
                    <a:pt x="1154810" y="751205"/>
                  </a:lnTo>
                  <a:lnTo>
                    <a:pt x="1215898" y="728345"/>
                  </a:lnTo>
                  <a:lnTo>
                    <a:pt x="1248155" y="702945"/>
                  </a:lnTo>
                  <a:lnTo>
                    <a:pt x="1252347" y="689610"/>
                  </a:lnTo>
                  <a:lnTo>
                    <a:pt x="1252347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1072" y="4558283"/>
              <a:ext cx="1252855" cy="233679"/>
            </a:xfrm>
            <a:custGeom>
              <a:avLst/>
              <a:gdLst/>
              <a:ahLst/>
              <a:cxnLst/>
              <a:rect l="l" t="t" r="r" b="b"/>
              <a:pathLst>
                <a:path w="1252854" h="233679">
                  <a:moveTo>
                    <a:pt x="626109" y="0"/>
                  </a:moveTo>
                  <a:lnTo>
                    <a:pt x="553084" y="762"/>
                  </a:lnTo>
                  <a:lnTo>
                    <a:pt x="482600" y="3048"/>
                  </a:lnTo>
                  <a:lnTo>
                    <a:pt x="414908" y="6731"/>
                  </a:lnTo>
                  <a:lnTo>
                    <a:pt x="350774" y="11811"/>
                  </a:lnTo>
                  <a:lnTo>
                    <a:pt x="290449" y="18161"/>
                  </a:lnTo>
                  <a:lnTo>
                    <a:pt x="234569" y="25654"/>
                  </a:lnTo>
                  <a:lnTo>
                    <a:pt x="183387" y="34163"/>
                  </a:lnTo>
                  <a:lnTo>
                    <a:pt x="137540" y="43688"/>
                  </a:lnTo>
                  <a:lnTo>
                    <a:pt x="97536" y="54102"/>
                  </a:lnTo>
                  <a:lnTo>
                    <a:pt x="36449" y="77216"/>
                  </a:lnTo>
                  <a:lnTo>
                    <a:pt x="4190" y="102870"/>
                  </a:lnTo>
                  <a:lnTo>
                    <a:pt x="0" y="116459"/>
                  </a:lnTo>
                  <a:lnTo>
                    <a:pt x="4190" y="130175"/>
                  </a:lnTo>
                  <a:lnTo>
                    <a:pt x="36449" y="155829"/>
                  </a:lnTo>
                  <a:lnTo>
                    <a:pt x="97536" y="179070"/>
                  </a:lnTo>
                  <a:lnTo>
                    <a:pt x="137540" y="189484"/>
                  </a:lnTo>
                  <a:lnTo>
                    <a:pt x="183387" y="199009"/>
                  </a:lnTo>
                  <a:lnTo>
                    <a:pt x="234569" y="207518"/>
                  </a:lnTo>
                  <a:lnTo>
                    <a:pt x="290449" y="215011"/>
                  </a:lnTo>
                  <a:lnTo>
                    <a:pt x="350774" y="221361"/>
                  </a:lnTo>
                  <a:lnTo>
                    <a:pt x="414908" y="226441"/>
                  </a:lnTo>
                  <a:lnTo>
                    <a:pt x="482600" y="230124"/>
                  </a:lnTo>
                  <a:lnTo>
                    <a:pt x="553084" y="232410"/>
                  </a:lnTo>
                  <a:lnTo>
                    <a:pt x="626109" y="233172"/>
                  </a:lnTo>
                  <a:lnTo>
                    <a:pt x="699261" y="232410"/>
                  </a:lnTo>
                  <a:lnTo>
                    <a:pt x="769747" y="230124"/>
                  </a:lnTo>
                  <a:lnTo>
                    <a:pt x="837437" y="226441"/>
                  </a:lnTo>
                  <a:lnTo>
                    <a:pt x="901573" y="221361"/>
                  </a:lnTo>
                  <a:lnTo>
                    <a:pt x="961898" y="215011"/>
                  </a:lnTo>
                  <a:lnTo>
                    <a:pt x="1017777" y="207518"/>
                  </a:lnTo>
                  <a:lnTo>
                    <a:pt x="1068958" y="199009"/>
                  </a:lnTo>
                  <a:lnTo>
                    <a:pt x="1114805" y="189484"/>
                  </a:lnTo>
                  <a:lnTo>
                    <a:pt x="1154810" y="179070"/>
                  </a:lnTo>
                  <a:lnTo>
                    <a:pt x="1215898" y="155829"/>
                  </a:lnTo>
                  <a:lnTo>
                    <a:pt x="1248155" y="130175"/>
                  </a:lnTo>
                  <a:lnTo>
                    <a:pt x="1252347" y="116459"/>
                  </a:lnTo>
                  <a:lnTo>
                    <a:pt x="1248155" y="102870"/>
                  </a:lnTo>
                  <a:lnTo>
                    <a:pt x="1215898" y="77216"/>
                  </a:lnTo>
                  <a:lnTo>
                    <a:pt x="1154810" y="54102"/>
                  </a:lnTo>
                  <a:lnTo>
                    <a:pt x="1114805" y="43688"/>
                  </a:lnTo>
                  <a:lnTo>
                    <a:pt x="1068958" y="34163"/>
                  </a:lnTo>
                  <a:lnTo>
                    <a:pt x="1017777" y="25654"/>
                  </a:lnTo>
                  <a:lnTo>
                    <a:pt x="961898" y="18161"/>
                  </a:lnTo>
                  <a:lnTo>
                    <a:pt x="901573" y="11811"/>
                  </a:lnTo>
                  <a:lnTo>
                    <a:pt x="837437" y="6731"/>
                  </a:lnTo>
                  <a:lnTo>
                    <a:pt x="769747" y="3048"/>
                  </a:lnTo>
                  <a:lnTo>
                    <a:pt x="699261" y="762"/>
                  </a:lnTo>
                  <a:lnTo>
                    <a:pt x="626109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3358" y="4560569"/>
              <a:ext cx="1252855" cy="923925"/>
            </a:xfrm>
            <a:custGeom>
              <a:avLst/>
              <a:gdLst/>
              <a:ahLst/>
              <a:cxnLst/>
              <a:rect l="l" t="t" r="r" b="b"/>
              <a:pathLst>
                <a:path w="1252854" h="923925">
                  <a:moveTo>
                    <a:pt x="1252346" y="115315"/>
                  </a:moveTo>
                  <a:lnTo>
                    <a:pt x="1215897" y="154304"/>
                  </a:lnTo>
                  <a:lnTo>
                    <a:pt x="1154811" y="177291"/>
                  </a:lnTo>
                  <a:lnTo>
                    <a:pt x="1114806" y="187705"/>
                  </a:lnTo>
                  <a:lnTo>
                    <a:pt x="1068959" y="197103"/>
                  </a:lnTo>
                  <a:lnTo>
                    <a:pt x="1017777" y="205485"/>
                  </a:lnTo>
                  <a:lnTo>
                    <a:pt x="961897" y="212978"/>
                  </a:lnTo>
                  <a:lnTo>
                    <a:pt x="901572" y="219201"/>
                  </a:lnTo>
                  <a:lnTo>
                    <a:pt x="837438" y="224154"/>
                  </a:lnTo>
                  <a:lnTo>
                    <a:pt x="769746" y="227837"/>
                  </a:lnTo>
                  <a:lnTo>
                    <a:pt x="699262" y="230123"/>
                  </a:lnTo>
                  <a:lnTo>
                    <a:pt x="626110" y="230885"/>
                  </a:lnTo>
                  <a:lnTo>
                    <a:pt x="553085" y="230123"/>
                  </a:lnTo>
                  <a:lnTo>
                    <a:pt x="482599" y="227837"/>
                  </a:lnTo>
                  <a:lnTo>
                    <a:pt x="414909" y="224154"/>
                  </a:lnTo>
                  <a:lnTo>
                    <a:pt x="350773" y="219201"/>
                  </a:lnTo>
                  <a:lnTo>
                    <a:pt x="290448" y="212978"/>
                  </a:lnTo>
                  <a:lnTo>
                    <a:pt x="234568" y="205485"/>
                  </a:lnTo>
                  <a:lnTo>
                    <a:pt x="183387" y="197103"/>
                  </a:lnTo>
                  <a:lnTo>
                    <a:pt x="137540" y="187705"/>
                  </a:lnTo>
                  <a:lnTo>
                    <a:pt x="97536" y="177291"/>
                  </a:lnTo>
                  <a:lnTo>
                    <a:pt x="36449" y="154304"/>
                  </a:lnTo>
                  <a:lnTo>
                    <a:pt x="4190" y="128904"/>
                  </a:lnTo>
                  <a:lnTo>
                    <a:pt x="0" y="115315"/>
                  </a:lnTo>
                  <a:lnTo>
                    <a:pt x="4190" y="101980"/>
                  </a:lnTo>
                  <a:lnTo>
                    <a:pt x="36449" y="76453"/>
                  </a:lnTo>
                  <a:lnTo>
                    <a:pt x="97536" y="53466"/>
                  </a:lnTo>
                  <a:lnTo>
                    <a:pt x="137540" y="43179"/>
                  </a:lnTo>
                  <a:lnTo>
                    <a:pt x="183387" y="33781"/>
                  </a:lnTo>
                  <a:lnTo>
                    <a:pt x="234568" y="25399"/>
                  </a:lnTo>
                  <a:lnTo>
                    <a:pt x="290448" y="17906"/>
                  </a:lnTo>
                  <a:lnTo>
                    <a:pt x="350773" y="11683"/>
                  </a:lnTo>
                  <a:lnTo>
                    <a:pt x="414909" y="6730"/>
                  </a:lnTo>
                  <a:lnTo>
                    <a:pt x="482599" y="3047"/>
                  </a:lnTo>
                  <a:lnTo>
                    <a:pt x="553085" y="761"/>
                  </a:lnTo>
                  <a:lnTo>
                    <a:pt x="626110" y="0"/>
                  </a:lnTo>
                  <a:lnTo>
                    <a:pt x="699262" y="761"/>
                  </a:lnTo>
                  <a:lnTo>
                    <a:pt x="769746" y="3047"/>
                  </a:lnTo>
                  <a:lnTo>
                    <a:pt x="837438" y="6730"/>
                  </a:lnTo>
                  <a:lnTo>
                    <a:pt x="901572" y="11683"/>
                  </a:lnTo>
                  <a:lnTo>
                    <a:pt x="961897" y="17906"/>
                  </a:lnTo>
                  <a:lnTo>
                    <a:pt x="1017777" y="25399"/>
                  </a:lnTo>
                  <a:lnTo>
                    <a:pt x="1068959" y="33781"/>
                  </a:lnTo>
                  <a:lnTo>
                    <a:pt x="1114806" y="43179"/>
                  </a:lnTo>
                  <a:lnTo>
                    <a:pt x="1154811" y="53466"/>
                  </a:lnTo>
                  <a:lnTo>
                    <a:pt x="1215897" y="76453"/>
                  </a:lnTo>
                  <a:lnTo>
                    <a:pt x="1248156" y="101980"/>
                  </a:lnTo>
                  <a:lnTo>
                    <a:pt x="1252346" y="115315"/>
                  </a:lnTo>
                  <a:close/>
                </a:path>
                <a:path w="1252854" h="923925">
                  <a:moveTo>
                    <a:pt x="1252346" y="115315"/>
                  </a:moveTo>
                  <a:lnTo>
                    <a:pt x="1252346" y="808227"/>
                  </a:lnTo>
                  <a:lnTo>
                    <a:pt x="1248156" y="821562"/>
                  </a:lnTo>
                  <a:lnTo>
                    <a:pt x="1215897" y="847089"/>
                  </a:lnTo>
                  <a:lnTo>
                    <a:pt x="1154811" y="870076"/>
                  </a:lnTo>
                  <a:lnTo>
                    <a:pt x="1114806" y="880363"/>
                  </a:lnTo>
                  <a:lnTo>
                    <a:pt x="1068959" y="889761"/>
                  </a:lnTo>
                  <a:lnTo>
                    <a:pt x="1017777" y="898143"/>
                  </a:lnTo>
                  <a:lnTo>
                    <a:pt x="961897" y="905636"/>
                  </a:lnTo>
                  <a:lnTo>
                    <a:pt x="901572" y="911859"/>
                  </a:lnTo>
                  <a:lnTo>
                    <a:pt x="837438" y="916812"/>
                  </a:lnTo>
                  <a:lnTo>
                    <a:pt x="769746" y="920495"/>
                  </a:lnTo>
                  <a:lnTo>
                    <a:pt x="699262" y="922781"/>
                  </a:lnTo>
                  <a:lnTo>
                    <a:pt x="626110" y="923543"/>
                  </a:lnTo>
                  <a:lnTo>
                    <a:pt x="553085" y="922781"/>
                  </a:lnTo>
                  <a:lnTo>
                    <a:pt x="482599" y="920495"/>
                  </a:lnTo>
                  <a:lnTo>
                    <a:pt x="414909" y="916812"/>
                  </a:lnTo>
                  <a:lnTo>
                    <a:pt x="350773" y="911859"/>
                  </a:lnTo>
                  <a:lnTo>
                    <a:pt x="290448" y="905636"/>
                  </a:lnTo>
                  <a:lnTo>
                    <a:pt x="234568" y="898143"/>
                  </a:lnTo>
                  <a:lnTo>
                    <a:pt x="183387" y="889761"/>
                  </a:lnTo>
                  <a:lnTo>
                    <a:pt x="137540" y="880363"/>
                  </a:lnTo>
                  <a:lnTo>
                    <a:pt x="97536" y="870076"/>
                  </a:lnTo>
                  <a:lnTo>
                    <a:pt x="36449" y="847089"/>
                  </a:lnTo>
                  <a:lnTo>
                    <a:pt x="4190" y="821562"/>
                  </a:lnTo>
                  <a:lnTo>
                    <a:pt x="0" y="808227"/>
                  </a:lnTo>
                  <a:lnTo>
                    <a:pt x="0" y="115315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01815" y="4546426"/>
            <a:ext cx="102171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800" spc="-10" dirty="0">
                <a:latin typeface="Times New Roman"/>
                <a:cs typeface="Times New Roman"/>
              </a:rPr>
              <a:t>Purchasing</a:t>
            </a:r>
            <a:endParaRPr sz="18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845552" y="3204972"/>
            <a:ext cx="1074420" cy="932815"/>
            <a:chOff x="7845552" y="3204972"/>
            <a:chExt cx="1074420" cy="932815"/>
          </a:xfrm>
        </p:grpSpPr>
        <p:sp>
          <p:nvSpPr>
            <p:cNvPr id="22" name="object 22"/>
            <p:cNvSpPr/>
            <p:nvPr/>
          </p:nvSpPr>
          <p:spPr>
            <a:xfrm>
              <a:off x="7850124" y="3323844"/>
              <a:ext cx="1060450" cy="804545"/>
            </a:xfrm>
            <a:custGeom>
              <a:avLst/>
              <a:gdLst/>
              <a:ahLst/>
              <a:cxnLst/>
              <a:rect l="l" t="t" r="r" b="b"/>
              <a:pathLst>
                <a:path w="1060450" h="804545">
                  <a:moveTo>
                    <a:pt x="1060323" y="0"/>
                  </a:moveTo>
                  <a:lnTo>
                    <a:pt x="1018667" y="44703"/>
                  </a:lnTo>
                  <a:lnTo>
                    <a:pt x="949832" y="70230"/>
                  </a:lnTo>
                  <a:lnTo>
                    <a:pt x="905001" y="81279"/>
                  </a:lnTo>
                  <a:lnTo>
                    <a:pt x="854075" y="90931"/>
                  </a:lnTo>
                  <a:lnTo>
                    <a:pt x="797686" y="99186"/>
                  </a:lnTo>
                  <a:lnTo>
                    <a:pt x="736473" y="105917"/>
                  </a:lnTo>
                  <a:lnTo>
                    <a:pt x="671068" y="110743"/>
                  </a:lnTo>
                  <a:lnTo>
                    <a:pt x="602106" y="113791"/>
                  </a:lnTo>
                  <a:lnTo>
                    <a:pt x="530098" y="114934"/>
                  </a:lnTo>
                  <a:lnTo>
                    <a:pt x="458216" y="113791"/>
                  </a:lnTo>
                  <a:lnTo>
                    <a:pt x="389254" y="110743"/>
                  </a:lnTo>
                  <a:lnTo>
                    <a:pt x="323850" y="105917"/>
                  </a:lnTo>
                  <a:lnTo>
                    <a:pt x="262635" y="99186"/>
                  </a:lnTo>
                  <a:lnTo>
                    <a:pt x="206248" y="90931"/>
                  </a:lnTo>
                  <a:lnTo>
                    <a:pt x="155321" y="81279"/>
                  </a:lnTo>
                  <a:lnTo>
                    <a:pt x="110490" y="70230"/>
                  </a:lnTo>
                  <a:lnTo>
                    <a:pt x="72390" y="57911"/>
                  </a:lnTo>
                  <a:lnTo>
                    <a:pt x="18923" y="30479"/>
                  </a:lnTo>
                  <a:lnTo>
                    <a:pt x="0" y="0"/>
                  </a:lnTo>
                  <a:lnTo>
                    <a:pt x="0" y="689355"/>
                  </a:lnTo>
                  <a:lnTo>
                    <a:pt x="41655" y="734059"/>
                  </a:lnTo>
                  <a:lnTo>
                    <a:pt x="110490" y="759586"/>
                  </a:lnTo>
                  <a:lnTo>
                    <a:pt x="155321" y="770635"/>
                  </a:lnTo>
                  <a:lnTo>
                    <a:pt x="206248" y="780287"/>
                  </a:lnTo>
                  <a:lnTo>
                    <a:pt x="262635" y="788542"/>
                  </a:lnTo>
                  <a:lnTo>
                    <a:pt x="323850" y="795273"/>
                  </a:lnTo>
                  <a:lnTo>
                    <a:pt x="389254" y="800226"/>
                  </a:lnTo>
                  <a:lnTo>
                    <a:pt x="458216" y="803274"/>
                  </a:lnTo>
                  <a:lnTo>
                    <a:pt x="530098" y="804290"/>
                  </a:lnTo>
                  <a:lnTo>
                    <a:pt x="602106" y="803274"/>
                  </a:lnTo>
                  <a:lnTo>
                    <a:pt x="671068" y="800226"/>
                  </a:lnTo>
                  <a:lnTo>
                    <a:pt x="736473" y="795273"/>
                  </a:lnTo>
                  <a:lnTo>
                    <a:pt x="797686" y="788542"/>
                  </a:lnTo>
                  <a:lnTo>
                    <a:pt x="854075" y="780287"/>
                  </a:lnTo>
                  <a:lnTo>
                    <a:pt x="905001" y="770635"/>
                  </a:lnTo>
                  <a:lnTo>
                    <a:pt x="949832" y="759586"/>
                  </a:lnTo>
                  <a:lnTo>
                    <a:pt x="987932" y="747394"/>
                  </a:lnTo>
                  <a:lnTo>
                    <a:pt x="1041400" y="719962"/>
                  </a:lnTo>
                  <a:lnTo>
                    <a:pt x="1060323" y="689355"/>
                  </a:lnTo>
                  <a:lnTo>
                    <a:pt x="1060323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50124" y="3209544"/>
              <a:ext cx="1060450" cy="228600"/>
            </a:xfrm>
            <a:custGeom>
              <a:avLst/>
              <a:gdLst/>
              <a:ahLst/>
              <a:cxnLst/>
              <a:rect l="l" t="t" r="r" b="b"/>
              <a:pathLst>
                <a:path w="1060450" h="228600">
                  <a:moveTo>
                    <a:pt x="530098" y="0"/>
                  </a:moveTo>
                  <a:lnTo>
                    <a:pt x="458216" y="1015"/>
                  </a:lnTo>
                  <a:lnTo>
                    <a:pt x="389254" y="4063"/>
                  </a:lnTo>
                  <a:lnTo>
                    <a:pt x="323850" y="9016"/>
                  </a:lnTo>
                  <a:lnTo>
                    <a:pt x="262635" y="15620"/>
                  </a:lnTo>
                  <a:lnTo>
                    <a:pt x="206248" y="23748"/>
                  </a:lnTo>
                  <a:lnTo>
                    <a:pt x="155321" y="33400"/>
                  </a:lnTo>
                  <a:lnTo>
                    <a:pt x="110490" y="44450"/>
                  </a:lnTo>
                  <a:lnTo>
                    <a:pt x="72390" y="56514"/>
                  </a:lnTo>
                  <a:lnTo>
                    <a:pt x="18923" y="83819"/>
                  </a:lnTo>
                  <a:lnTo>
                    <a:pt x="0" y="114172"/>
                  </a:lnTo>
                  <a:lnTo>
                    <a:pt x="4825" y="129539"/>
                  </a:lnTo>
                  <a:lnTo>
                    <a:pt x="41655" y="158495"/>
                  </a:lnTo>
                  <a:lnTo>
                    <a:pt x="110490" y="183768"/>
                  </a:lnTo>
                  <a:lnTo>
                    <a:pt x="155321" y="194817"/>
                  </a:lnTo>
                  <a:lnTo>
                    <a:pt x="206248" y="204469"/>
                  </a:lnTo>
                  <a:lnTo>
                    <a:pt x="262635" y="212597"/>
                  </a:lnTo>
                  <a:lnTo>
                    <a:pt x="323850" y="219201"/>
                  </a:lnTo>
                  <a:lnTo>
                    <a:pt x="389254" y="224154"/>
                  </a:lnTo>
                  <a:lnTo>
                    <a:pt x="458216" y="227202"/>
                  </a:lnTo>
                  <a:lnTo>
                    <a:pt x="530098" y="228218"/>
                  </a:lnTo>
                  <a:lnTo>
                    <a:pt x="602106" y="227202"/>
                  </a:lnTo>
                  <a:lnTo>
                    <a:pt x="671068" y="224154"/>
                  </a:lnTo>
                  <a:lnTo>
                    <a:pt x="736473" y="219201"/>
                  </a:lnTo>
                  <a:lnTo>
                    <a:pt x="797686" y="212597"/>
                  </a:lnTo>
                  <a:lnTo>
                    <a:pt x="854075" y="204469"/>
                  </a:lnTo>
                  <a:lnTo>
                    <a:pt x="905001" y="194817"/>
                  </a:lnTo>
                  <a:lnTo>
                    <a:pt x="949832" y="183768"/>
                  </a:lnTo>
                  <a:lnTo>
                    <a:pt x="987932" y="171703"/>
                  </a:lnTo>
                  <a:lnTo>
                    <a:pt x="1041400" y="144398"/>
                  </a:lnTo>
                  <a:lnTo>
                    <a:pt x="1060323" y="114172"/>
                  </a:lnTo>
                  <a:lnTo>
                    <a:pt x="1055497" y="98678"/>
                  </a:lnTo>
                  <a:lnTo>
                    <a:pt x="1018667" y="69722"/>
                  </a:lnTo>
                  <a:lnTo>
                    <a:pt x="949832" y="44450"/>
                  </a:lnTo>
                  <a:lnTo>
                    <a:pt x="905001" y="33400"/>
                  </a:lnTo>
                  <a:lnTo>
                    <a:pt x="854075" y="23748"/>
                  </a:lnTo>
                  <a:lnTo>
                    <a:pt x="797686" y="15620"/>
                  </a:lnTo>
                  <a:lnTo>
                    <a:pt x="736473" y="9016"/>
                  </a:lnTo>
                  <a:lnTo>
                    <a:pt x="671068" y="4063"/>
                  </a:lnTo>
                  <a:lnTo>
                    <a:pt x="602106" y="1015"/>
                  </a:lnTo>
                  <a:lnTo>
                    <a:pt x="530098" y="0"/>
                  </a:lnTo>
                  <a:close/>
                </a:path>
              </a:pathLst>
            </a:custGeom>
            <a:solidFill>
              <a:srgbClr val="FFFF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52410" y="3211830"/>
              <a:ext cx="1060450" cy="918844"/>
            </a:xfrm>
            <a:custGeom>
              <a:avLst/>
              <a:gdLst/>
              <a:ahLst/>
              <a:cxnLst/>
              <a:rect l="l" t="t" r="r" b="b"/>
              <a:pathLst>
                <a:path w="1060450" h="918845">
                  <a:moveTo>
                    <a:pt x="1060323" y="114808"/>
                  </a:moveTo>
                  <a:lnTo>
                    <a:pt x="1018667" y="159512"/>
                  </a:lnTo>
                  <a:lnTo>
                    <a:pt x="949833" y="185039"/>
                  </a:lnTo>
                  <a:lnTo>
                    <a:pt x="905001" y="196087"/>
                  </a:lnTo>
                  <a:lnTo>
                    <a:pt x="854075" y="205740"/>
                  </a:lnTo>
                  <a:lnTo>
                    <a:pt x="797687" y="213995"/>
                  </a:lnTo>
                  <a:lnTo>
                    <a:pt x="736473" y="220599"/>
                  </a:lnTo>
                  <a:lnTo>
                    <a:pt x="671068" y="225552"/>
                  </a:lnTo>
                  <a:lnTo>
                    <a:pt x="602107" y="228600"/>
                  </a:lnTo>
                  <a:lnTo>
                    <a:pt x="530098" y="229616"/>
                  </a:lnTo>
                  <a:lnTo>
                    <a:pt x="458216" y="228600"/>
                  </a:lnTo>
                  <a:lnTo>
                    <a:pt x="389255" y="225552"/>
                  </a:lnTo>
                  <a:lnTo>
                    <a:pt x="323850" y="220599"/>
                  </a:lnTo>
                  <a:lnTo>
                    <a:pt x="262636" y="213995"/>
                  </a:lnTo>
                  <a:lnTo>
                    <a:pt x="206248" y="205740"/>
                  </a:lnTo>
                  <a:lnTo>
                    <a:pt x="155321" y="196087"/>
                  </a:lnTo>
                  <a:lnTo>
                    <a:pt x="110490" y="185039"/>
                  </a:lnTo>
                  <a:lnTo>
                    <a:pt x="72390" y="172720"/>
                  </a:lnTo>
                  <a:lnTo>
                    <a:pt x="18923" y="145415"/>
                  </a:lnTo>
                  <a:lnTo>
                    <a:pt x="0" y="114808"/>
                  </a:lnTo>
                  <a:lnTo>
                    <a:pt x="4825" y="99314"/>
                  </a:lnTo>
                  <a:lnTo>
                    <a:pt x="41656" y="70104"/>
                  </a:lnTo>
                  <a:lnTo>
                    <a:pt x="110490" y="44704"/>
                  </a:lnTo>
                  <a:lnTo>
                    <a:pt x="155321" y="33655"/>
                  </a:lnTo>
                  <a:lnTo>
                    <a:pt x="206248" y="24003"/>
                  </a:lnTo>
                  <a:lnTo>
                    <a:pt x="262636" y="15748"/>
                  </a:lnTo>
                  <a:lnTo>
                    <a:pt x="323850" y="9017"/>
                  </a:lnTo>
                  <a:lnTo>
                    <a:pt x="389255" y="4064"/>
                  </a:lnTo>
                  <a:lnTo>
                    <a:pt x="458216" y="1016"/>
                  </a:lnTo>
                  <a:lnTo>
                    <a:pt x="530098" y="0"/>
                  </a:lnTo>
                  <a:lnTo>
                    <a:pt x="602107" y="1016"/>
                  </a:lnTo>
                  <a:lnTo>
                    <a:pt x="671068" y="4064"/>
                  </a:lnTo>
                  <a:lnTo>
                    <a:pt x="736473" y="9017"/>
                  </a:lnTo>
                  <a:lnTo>
                    <a:pt x="797687" y="15748"/>
                  </a:lnTo>
                  <a:lnTo>
                    <a:pt x="854075" y="24003"/>
                  </a:lnTo>
                  <a:lnTo>
                    <a:pt x="905001" y="33655"/>
                  </a:lnTo>
                  <a:lnTo>
                    <a:pt x="949833" y="44704"/>
                  </a:lnTo>
                  <a:lnTo>
                    <a:pt x="987933" y="56896"/>
                  </a:lnTo>
                  <a:lnTo>
                    <a:pt x="1041400" y="84328"/>
                  </a:lnTo>
                  <a:lnTo>
                    <a:pt x="1060323" y="114808"/>
                  </a:lnTo>
                  <a:close/>
                </a:path>
                <a:path w="1060450" h="918845">
                  <a:moveTo>
                    <a:pt x="1060323" y="114808"/>
                  </a:moveTo>
                  <a:lnTo>
                    <a:pt x="1060323" y="803910"/>
                  </a:lnTo>
                  <a:lnTo>
                    <a:pt x="1055497" y="819404"/>
                  </a:lnTo>
                  <a:lnTo>
                    <a:pt x="1018667" y="848614"/>
                  </a:lnTo>
                  <a:lnTo>
                    <a:pt x="949833" y="874014"/>
                  </a:lnTo>
                  <a:lnTo>
                    <a:pt x="905001" y="885063"/>
                  </a:lnTo>
                  <a:lnTo>
                    <a:pt x="854075" y="894715"/>
                  </a:lnTo>
                  <a:lnTo>
                    <a:pt x="797687" y="902970"/>
                  </a:lnTo>
                  <a:lnTo>
                    <a:pt x="736473" y="909701"/>
                  </a:lnTo>
                  <a:lnTo>
                    <a:pt x="671068" y="914654"/>
                  </a:lnTo>
                  <a:lnTo>
                    <a:pt x="602107" y="917702"/>
                  </a:lnTo>
                  <a:lnTo>
                    <a:pt x="530098" y="918718"/>
                  </a:lnTo>
                  <a:lnTo>
                    <a:pt x="458216" y="917702"/>
                  </a:lnTo>
                  <a:lnTo>
                    <a:pt x="389255" y="914654"/>
                  </a:lnTo>
                  <a:lnTo>
                    <a:pt x="323850" y="909701"/>
                  </a:lnTo>
                  <a:lnTo>
                    <a:pt x="262636" y="902970"/>
                  </a:lnTo>
                  <a:lnTo>
                    <a:pt x="206248" y="894715"/>
                  </a:lnTo>
                  <a:lnTo>
                    <a:pt x="155321" y="885063"/>
                  </a:lnTo>
                  <a:lnTo>
                    <a:pt x="110490" y="874014"/>
                  </a:lnTo>
                  <a:lnTo>
                    <a:pt x="72390" y="861822"/>
                  </a:lnTo>
                  <a:lnTo>
                    <a:pt x="18923" y="834390"/>
                  </a:lnTo>
                  <a:lnTo>
                    <a:pt x="0" y="803910"/>
                  </a:lnTo>
                  <a:lnTo>
                    <a:pt x="0" y="114808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29753" y="3235512"/>
            <a:ext cx="910590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252095">
              <a:lnSpc>
                <a:spcPct val="1518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Customer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918704" y="4370832"/>
            <a:ext cx="1001394" cy="937260"/>
            <a:chOff x="7918704" y="4370832"/>
            <a:chExt cx="1001394" cy="937260"/>
          </a:xfrm>
        </p:grpSpPr>
        <p:sp>
          <p:nvSpPr>
            <p:cNvPr id="27" name="object 27"/>
            <p:cNvSpPr/>
            <p:nvPr/>
          </p:nvSpPr>
          <p:spPr>
            <a:xfrm>
              <a:off x="7923276" y="4489704"/>
              <a:ext cx="987425" cy="808990"/>
            </a:xfrm>
            <a:custGeom>
              <a:avLst/>
              <a:gdLst/>
              <a:ahLst/>
              <a:cxnLst/>
              <a:rect l="l" t="t" r="r" b="b"/>
              <a:pathLst>
                <a:path w="987425" h="808989">
                  <a:moveTo>
                    <a:pt x="987171" y="0"/>
                  </a:moveTo>
                  <a:lnTo>
                    <a:pt x="966216" y="33401"/>
                  </a:lnTo>
                  <a:lnTo>
                    <a:pt x="907669" y="62865"/>
                  </a:lnTo>
                  <a:lnTo>
                    <a:pt x="866140" y="75819"/>
                  </a:lnTo>
                  <a:lnTo>
                    <a:pt x="817372" y="87122"/>
                  </a:lnTo>
                  <a:lnTo>
                    <a:pt x="762380" y="96901"/>
                  </a:lnTo>
                  <a:lnTo>
                    <a:pt x="701675" y="104775"/>
                  </a:lnTo>
                  <a:lnTo>
                    <a:pt x="636143" y="110617"/>
                  </a:lnTo>
                  <a:lnTo>
                    <a:pt x="566547" y="114300"/>
                  </a:lnTo>
                  <a:lnTo>
                    <a:pt x="493522" y="115443"/>
                  </a:lnTo>
                  <a:lnTo>
                    <a:pt x="420624" y="114300"/>
                  </a:lnTo>
                  <a:lnTo>
                    <a:pt x="351027" y="110617"/>
                  </a:lnTo>
                  <a:lnTo>
                    <a:pt x="285496" y="104775"/>
                  </a:lnTo>
                  <a:lnTo>
                    <a:pt x="224790" y="96901"/>
                  </a:lnTo>
                  <a:lnTo>
                    <a:pt x="169799" y="87122"/>
                  </a:lnTo>
                  <a:lnTo>
                    <a:pt x="121030" y="75819"/>
                  </a:lnTo>
                  <a:lnTo>
                    <a:pt x="79501" y="62865"/>
                  </a:lnTo>
                  <a:lnTo>
                    <a:pt x="20954" y="33401"/>
                  </a:lnTo>
                  <a:lnTo>
                    <a:pt x="0" y="0"/>
                  </a:lnTo>
                  <a:lnTo>
                    <a:pt x="0" y="693293"/>
                  </a:lnTo>
                  <a:lnTo>
                    <a:pt x="20954" y="726694"/>
                  </a:lnTo>
                  <a:lnTo>
                    <a:pt x="79501" y="756285"/>
                  </a:lnTo>
                  <a:lnTo>
                    <a:pt x="121030" y="769112"/>
                  </a:lnTo>
                  <a:lnTo>
                    <a:pt x="169799" y="780542"/>
                  </a:lnTo>
                  <a:lnTo>
                    <a:pt x="224790" y="790194"/>
                  </a:lnTo>
                  <a:lnTo>
                    <a:pt x="285496" y="798068"/>
                  </a:lnTo>
                  <a:lnTo>
                    <a:pt x="351027" y="803910"/>
                  </a:lnTo>
                  <a:lnTo>
                    <a:pt x="420624" y="807593"/>
                  </a:lnTo>
                  <a:lnTo>
                    <a:pt x="493522" y="808863"/>
                  </a:lnTo>
                  <a:lnTo>
                    <a:pt x="566547" y="807593"/>
                  </a:lnTo>
                  <a:lnTo>
                    <a:pt x="636143" y="803910"/>
                  </a:lnTo>
                  <a:lnTo>
                    <a:pt x="701675" y="798068"/>
                  </a:lnTo>
                  <a:lnTo>
                    <a:pt x="762380" y="790194"/>
                  </a:lnTo>
                  <a:lnTo>
                    <a:pt x="817372" y="780542"/>
                  </a:lnTo>
                  <a:lnTo>
                    <a:pt x="866140" y="769112"/>
                  </a:lnTo>
                  <a:lnTo>
                    <a:pt x="907669" y="756285"/>
                  </a:lnTo>
                  <a:lnTo>
                    <a:pt x="966216" y="726694"/>
                  </a:lnTo>
                  <a:lnTo>
                    <a:pt x="987171" y="693293"/>
                  </a:lnTo>
                  <a:lnTo>
                    <a:pt x="987171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23276" y="4375404"/>
              <a:ext cx="987425" cy="228600"/>
            </a:xfrm>
            <a:custGeom>
              <a:avLst/>
              <a:gdLst/>
              <a:ahLst/>
              <a:cxnLst/>
              <a:rect l="l" t="t" r="r" b="b"/>
              <a:pathLst>
                <a:path w="987425" h="228600">
                  <a:moveTo>
                    <a:pt x="493522" y="0"/>
                  </a:moveTo>
                  <a:lnTo>
                    <a:pt x="420624" y="1270"/>
                  </a:lnTo>
                  <a:lnTo>
                    <a:pt x="351027" y="4826"/>
                  </a:lnTo>
                  <a:lnTo>
                    <a:pt x="285496" y="10668"/>
                  </a:lnTo>
                  <a:lnTo>
                    <a:pt x="224790" y="18415"/>
                  </a:lnTo>
                  <a:lnTo>
                    <a:pt x="169799" y="28067"/>
                  </a:lnTo>
                  <a:lnTo>
                    <a:pt x="121030" y="39243"/>
                  </a:lnTo>
                  <a:lnTo>
                    <a:pt x="79501" y="52070"/>
                  </a:lnTo>
                  <a:lnTo>
                    <a:pt x="20954" y="81280"/>
                  </a:lnTo>
                  <a:lnTo>
                    <a:pt x="0" y="114300"/>
                  </a:lnTo>
                  <a:lnTo>
                    <a:pt x="5333" y="131191"/>
                  </a:lnTo>
                  <a:lnTo>
                    <a:pt x="45847" y="162560"/>
                  </a:lnTo>
                  <a:lnTo>
                    <a:pt x="121030" y="189357"/>
                  </a:lnTo>
                  <a:lnTo>
                    <a:pt x="169799" y="200533"/>
                  </a:lnTo>
                  <a:lnTo>
                    <a:pt x="224790" y="210185"/>
                  </a:lnTo>
                  <a:lnTo>
                    <a:pt x="285496" y="217932"/>
                  </a:lnTo>
                  <a:lnTo>
                    <a:pt x="351027" y="223774"/>
                  </a:lnTo>
                  <a:lnTo>
                    <a:pt x="420624" y="227330"/>
                  </a:lnTo>
                  <a:lnTo>
                    <a:pt x="493522" y="228600"/>
                  </a:lnTo>
                  <a:lnTo>
                    <a:pt x="566547" y="227330"/>
                  </a:lnTo>
                  <a:lnTo>
                    <a:pt x="636143" y="223774"/>
                  </a:lnTo>
                  <a:lnTo>
                    <a:pt x="701675" y="217932"/>
                  </a:lnTo>
                  <a:lnTo>
                    <a:pt x="762380" y="210185"/>
                  </a:lnTo>
                  <a:lnTo>
                    <a:pt x="817372" y="200533"/>
                  </a:lnTo>
                  <a:lnTo>
                    <a:pt x="866140" y="189357"/>
                  </a:lnTo>
                  <a:lnTo>
                    <a:pt x="907669" y="176530"/>
                  </a:lnTo>
                  <a:lnTo>
                    <a:pt x="966216" y="147320"/>
                  </a:lnTo>
                  <a:lnTo>
                    <a:pt x="987171" y="114300"/>
                  </a:lnTo>
                  <a:lnTo>
                    <a:pt x="981837" y="97409"/>
                  </a:lnTo>
                  <a:lnTo>
                    <a:pt x="941324" y="66167"/>
                  </a:lnTo>
                  <a:lnTo>
                    <a:pt x="866140" y="39243"/>
                  </a:lnTo>
                  <a:lnTo>
                    <a:pt x="817372" y="28067"/>
                  </a:lnTo>
                  <a:lnTo>
                    <a:pt x="762380" y="18415"/>
                  </a:lnTo>
                  <a:lnTo>
                    <a:pt x="701675" y="10668"/>
                  </a:lnTo>
                  <a:lnTo>
                    <a:pt x="636143" y="4826"/>
                  </a:lnTo>
                  <a:lnTo>
                    <a:pt x="566547" y="1270"/>
                  </a:lnTo>
                  <a:lnTo>
                    <a:pt x="493522" y="0"/>
                  </a:lnTo>
                  <a:close/>
                </a:path>
              </a:pathLst>
            </a:custGeom>
            <a:solidFill>
              <a:srgbClr val="FFFF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25562" y="4377690"/>
              <a:ext cx="987425" cy="923925"/>
            </a:xfrm>
            <a:custGeom>
              <a:avLst/>
              <a:gdLst/>
              <a:ahLst/>
              <a:cxnLst/>
              <a:rect l="l" t="t" r="r" b="b"/>
              <a:pathLst>
                <a:path w="987425" h="923925">
                  <a:moveTo>
                    <a:pt x="987171" y="115570"/>
                  </a:moveTo>
                  <a:lnTo>
                    <a:pt x="966216" y="148844"/>
                  </a:lnTo>
                  <a:lnTo>
                    <a:pt x="907669" y="178308"/>
                  </a:lnTo>
                  <a:lnTo>
                    <a:pt x="866140" y="191262"/>
                  </a:lnTo>
                  <a:lnTo>
                    <a:pt x="817372" y="202565"/>
                  </a:lnTo>
                  <a:lnTo>
                    <a:pt x="762381" y="212344"/>
                  </a:lnTo>
                  <a:lnTo>
                    <a:pt x="701675" y="220218"/>
                  </a:lnTo>
                  <a:lnTo>
                    <a:pt x="636143" y="226060"/>
                  </a:lnTo>
                  <a:lnTo>
                    <a:pt x="566547" y="229616"/>
                  </a:lnTo>
                  <a:lnTo>
                    <a:pt x="493522" y="230886"/>
                  </a:lnTo>
                  <a:lnTo>
                    <a:pt x="420624" y="229616"/>
                  </a:lnTo>
                  <a:lnTo>
                    <a:pt x="351028" y="226060"/>
                  </a:lnTo>
                  <a:lnTo>
                    <a:pt x="285496" y="220218"/>
                  </a:lnTo>
                  <a:lnTo>
                    <a:pt x="224790" y="212344"/>
                  </a:lnTo>
                  <a:lnTo>
                    <a:pt x="169799" y="202565"/>
                  </a:lnTo>
                  <a:lnTo>
                    <a:pt x="121031" y="191262"/>
                  </a:lnTo>
                  <a:lnTo>
                    <a:pt x="79502" y="178308"/>
                  </a:lnTo>
                  <a:lnTo>
                    <a:pt x="20955" y="148844"/>
                  </a:lnTo>
                  <a:lnTo>
                    <a:pt x="0" y="115570"/>
                  </a:lnTo>
                  <a:lnTo>
                    <a:pt x="5334" y="98425"/>
                  </a:lnTo>
                  <a:lnTo>
                    <a:pt x="45847" y="66802"/>
                  </a:lnTo>
                  <a:lnTo>
                    <a:pt x="121031" y="39751"/>
                  </a:lnTo>
                  <a:lnTo>
                    <a:pt x="169799" y="28321"/>
                  </a:lnTo>
                  <a:lnTo>
                    <a:pt x="224790" y="18542"/>
                  </a:lnTo>
                  <a:lnTo>
                    <a:pt x="285496" y="10668"/>
                  </a:lnTo>
                  <a:lnTo>
                    <a:pt x="351028" y="4826"/>
                  </a:lnTo>
                  <a:lnTo>
                    <a:pt x="420624" y="1270"/>
                  </a:lnTo>
                  <a:lnTo>
                    <a:pt x="493522" y="0"/>
                  </a:lnTo>
                  <a:lnTo>
                    <a:pt x="566547" y="1270"/>
                  </a:lnTo>
                  <a:lnTo>
                    <a:pt x="636143" y="4826"/>
                  </a:lnTo>
                  <a:lnTo>
                    <a:pt x="701675" y="10668"/>
                  </a:lnTo>
                  <a:lnTo>
                    <a:pt x="762381" y="18542"/>
                  </a:lnTo>
                  <a:lnTo>
                    <a:pt x="817372" y="28321"/>
                  </a:lnTo>
                  <a:lnTo>
                    <a:pt x="866140" y="39751"/>
                  </a:lnTo>
                  <a:lnTo>
                    <a:pt x="907669" y="52578"/>
                  </a:lnTo>
                  <a:lnTo>
                    <a:pt x="966216" y="82168"/>
                  </a:lnTo>
                  <a:lnTo>
                    <a:pt x="987171" y="115570"/>
                  </a:lnTo>
                  <a:close/>
                </a:path>
                <a:path w="987425" h="923925">
                  <a:moveTo>
                    <a:pt x="987171" y="115570"/>
                  </a:moveTo>
                  <a:lnTo>
                    <a:pt x="987171" y="808101"/>
                  </a:lnTo>
                  <a:lnTo>
                    <a:pt x="981837" y="825119"/>
                  </a:lnTo>
                  <a:lnTo>
                    <a:pt x="941324" y="856742"/>
                  </a:lnTo>
                  <a:lnTo>
                    <a:pt x="866140" y="883793"/>
                  </a:lnTo>
                  <a:lnTo>
                    <a:pt x="817372" y="895223"/>
                  </a:lnTo>
                  <a:lnTo>
                    <a:pt x="762381" y="905002"/>
                  </a:lnTo>
                  <a:lnTo>
                    <a:pt x="701675" y="912876"/>
                  </a:lnTo>
                  <a:lnTo>
                    <a:pt x="636143" y="918718"/>
                  </a:lnTo>
                  <a:lnTo>
                    <a:pt x="566547" y="922274"/>
                  </a:lnTo>
                  <a:lnTo>
                    <a:pt x="493522" y="923544"/>
                  </a:lnTo>
                  <a:lnTo>
                    <a:pt x="420624" y="922274"/>
                  </a:lnTo>
                  <a:lnTo>
                    <a:pt x="351028" y="918718"/>
                  </a:lnTo>
                  <a:lnTo>
                    <a:pt x="285496" y="912876"/>
                  </a:lnTo>
                  <a:lnTo>
                    <a:pt x="224790" y="905002"/>
                  </a:lnTo>
                  <a:lnTo>
                    <a:pt x="169799" y="895223"/>
                  </a:lnTo>
                  <a:lnTo>
                    <a:pt x="121031" y="883793"/>
                  </a:lnTo>
                  <a:lnTo>
                    <a:pt x="79502" y="870966"/>
                  </a:lnTo>
                  <a:lnTo>
                    <a:pt x="20955" y="841375"/>
                  </a:lnTo>
                  <a:lnTo>
                    <a:pt x="0" y="808101"/>
                  </a:lnTo>
                  <a:lnTo>
                    <a:pt x="0" y="115570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094091" y="4404345"/>
            <a:ext cx="654685" cy="8572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spc="-75" dirty="0">
                <a:latin typeface="Times New Roman"/>
                <a:cs typeface="Times New Roman"/>
              </a:rPr>
              <a:t>Vendor</a:t>
            </a:r>
            <a:endParaRPr sz="1800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1115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45552" y="2039111"/>
            <a:ext cx="1074420" cy="932815"/>
            <a:chOff x="7845552" y="2039111"/>
            <a:chExt cx="1074420" cy="932815"/>
          </a:xfrm>
        </p:grpSpPr>
        <p:sp>
          <p:nvSpPr>
            <p:cNvPr id="32" name="object 32"/>
            <p:cNvSpPr/>
            <p:nvPr/>
          </p:nvSpPr>
          <p:spPr>
            <a:xfrm>
              <a:off x="7850124" y="2157983"/>
              <a:ext cx="1060450" cy="804545"/>
            </a:xfrm>
            <a:custGeom>
              <a:avLst/>
              <a:gdLst/>
              <a:ahLst/>
              <a:cxnLst/>
              <a:rect l="l" t="t" r="r" b="b"/>
              <a:pathLst>
                <a:path w="1060450" h="804544">
                  <a:moveTo>
                    <a:pt x="1060323" y="0"/>
                  </a:moveTo>
                  <a:lnTo>
                    <a:pt x="1018667" y="44703"/>
                  </a:lnTo>
                  <a:lnTo>
                    <a:pt x="949832" y="70230"/>
                  </a:lnTo>
                  <a:lnTo>
                    <a:pt x="905001" y="81152"/>
                  </a:lnTo>
                  <a:lnTo>
                    <a:pt x="854075" y="90931"/>
                  </a:lnTo>
                  <a:lnTo>
                    <a:pt x="797686" y="99187"/>
                  </a:lnTo>
                  <a:lnTo>
                    <a:pt x="736473" y="105790"/>
                  </a:lnTo>
                  <a:lnTo>
                    <a:pt x="671068" y="110743"/>
                  </a:lnTo>
                  <a:lnTo>
                    <a:pt x="602106" y="113791"/>
                  </a:lnTo>
                  <a:lnTo>
                    <a:pt x="530098" y="114807"/>
                  </a:lnTo>
                  <a:lnTo>
                    <a:pt x="458216" y="113791"/>
                  </a:lnTo>
                  <a:lnTo>
                    <a:pt x="389254" y="110743"/>
                  </a:lnTo>
                  <a:lnTo>
                    <a:pt x="323850" y="105790"/>
                  </a:lnTo>
                  <a:lnTo>
                    <a:pt x="262635" y="99187"/>
                  </a:lnTo>
                  <a:lnTo>
                    <a:pt x="206248" y="90931"/>
                  </a:lnTo>
                  <a:lnTo>
                    <a:pt x="155321" y="81152"/>
                  </a:lnTo>
                  <a:lnTo>
                    <a:pt x="110490" y="70230"/>
                  </a:lnTo>
                  <a:lnTo>
                    <a:pt x="72390" y="57912"/>
                  </a:lnTo>
                  <a:lnTo>
                    <a:pt x="18923" y="30479"/>
                  </a:lnTo>
                  <a:lnTo>
                    <a:pt x="0" y="0"/>
                  </a:lnTo>
                  <a:lnTo>
                    <a:pt x="0" y="689482"/>
                  </a:lnTo>
                  <a:lnTo>
                    <a:pt x="41655" y="734187"/>
                  </a:lnTo>
                  <a:lnTo>
                    <a:pt x="110490" y="759587"/>
                  </a:lnTo>
                  <a:lnTo>
                    <a:pt x="155321" y="770636"/>
                  </a:lnTo>
                  <a:lnTo>
                    <a:pt x="206248" y="780414"/>
                  </a:lnTo>
                  <a:lnTo>
                    <a:pt x="262635" y="788669"/>
                  </a:lnTo>
                  <a:lnTo>
                    <a:pt x="323850" y="795274"/>
                  </a:lnTo>
                  <a:lnTo>
                    <a:pt x="389254" y="800226"/>
                  </a:lnTo>
                  <a:lnTo>
                    <a:pt x="458216" y="803275"/>
                  </a:lnTo>
                  <a:lnTo>
                    <a:pt x="530098" y="804290"/>
                  </a:lnTo>
                  <a:lnTo>
                    <a:pt x="602106" y="803275"/>
                  </a:lnTo>
                  <a:lnTo>
                    <a:pt x="671068" y="800226"/>
                  </a:lnTo>
                  <a:lnTo>
                    <a:pt x="736473" y="795274"/>
                  </a:lnTo>
                  <a:lnTo>
                    <a:pt x="797686" y="788669"/>
                  </a:lnTo>
                  <a:lnTo>
                    <a:pt x="854075" y="780414"/>
                  </a:lnTo>
                  <a:lnTo>
                    <a:pt x="905001" y="770636"/>
                  </a:lnTo>
                  <a:lnTo>
                    <a:pt x="949832" y="759587"/>
                  </a:lnTo>
                  <a:lnTo>
                    <a:pt x="987932" y="747394"/>
                  </a:lnTo>
                  <a:lnTo>
                    <a:pt x="1041400" y="719963"/>
                  </a:lnTo>
                  <a:lnTo>
                    <a:pt x="1060323" y="689482"/>
                  </a:lnTo>
                  <a:lnTo>
                    <a:pt x="1060323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50124" y="2043683"/>
              <a:ext cx="1060450" cy="228600"/>
            </a:xfrm>
            <a:custGeom>
              <a:avLst/>
              <a:gdLst/>
              <a:ahLst/>
              <a:cxnLst/>
              <a:rect l="l" t="t" r="r" b="b"/>
              <a:pathLst>
                <a:path w="1060450" h="228600">
                  <a:moveTo>
                    <a:pt x="530098" y="0"/>
                  </a:moveTo>
                  <a:lnTo>
                    <a:pt x="458216" y="1015"/>
                  </a:lnTo>
                  <a:lnTo>
                    <a:pt x="389254" y="4063"/>
                  </a:lnTo>
                  <a:lnTo>
                    <a:pt x="323850" y="9016"/>
                  </a:lnTo>
                  <a:lnTo>
                    <a:pt x="262635" y="15620"/>
                  </a:lnTo>
                  <a:lnTo>
                    <a:pt x="206248" y="23749"/>
                  </a:lnTo>
                  <a:lnTo>
                    <a:pt x="155321" y="33527"/>
                  </a:lnTo>
                  <a:lnTo>
                    <a:pt x="110490" y="44450"/>
                  </a:lnTo>
                  <a:lnTo>
                    <a:pt x="72390" y="56641"/>
                  </a:lnTo>
                  <a:lnTo>
                    <a:pt x="18923" y="83946"/>
                  </a:lnTo>
                  <a:lnTo>
                    <a:pt x="0" y="114300"/>
                  </a:lnTo>
                  <a:lnTo>
                    <a:pt x="4825" y="129920"/>
                  </a:lnTo>
                  <a:lnTo>
                    <a:pt x="41655" y="158876"/>
                  </a:lnTo>
                  <a:lnTo>
                    <a:pt x="110490" y="184150"/>
                  </a:lnTo>
                  <a:lnTo>
                    <a:pt x="155321" y="195199"/>
                  </a:lnTo>
                  <a:lnTo>
                    <a:pt x="206248" y="204850"/>
                  </a:lnTo>
                  <a:lnTo>
                    <a:pt x="262635" y="212978"/>
                  </a:lnTo>
                  <a:lnTo>
                    <a:pt x="323850" y="219582"/>
                  </a:lnTo>
                  <a:lnTo>
                    <a:pt x="389254" y="224536"/>
                  </a:lnTo>
                  <a:lnTo>
                    <a:pt x="458216" y="227583"/>
                  </a:lnTo>
                  <a:lnTo>
                    <a:pt x="530098" y="228600"/>
                  </a:lnTo>
                  <a:lnTo>
                    <a:pt x="602106" y="227583"/>
                  </a:lnTo>
                  <a:lnTo>
                    <a:pt x="671068" y="224536"/>
                  </a:lnTo>
                  <a:lnTo>
                    <a:pt x="736473" y="219582"/>
                  </a:lnTo>
                  <a:lnTo>
                    <a:pt x="797686" y="212978"/>
                  </a:lnTo>
                  <a:lnTo>
                    <a:pt x="854075" y="204850"/>
                  </a:lnTo>
                  <a:lnTo>
                    <a:pt x="905001" y="195199"/>
                  </a:lnTo>
                  <a:lnTo>
                    <a:pt x="949832" y="184150"/>
                  </a:lnTo>
                  <a:lnTo>
                    <a:pt x="987932" y="172085"/>
                  </a:lnTo>
                  <a:lnTo>
                    <a:pt x="1041400" y="144779"/>
                  </a:lnTo>
                  <a:lnTo>
                    <a:pt x="1060323" y="114300"/>
                  </a:lnTo>
                  <a:lnTo>
                    <a:pt x="1055497" y="98805"/>
                  </a:lnTo>
                  <a:lnTo>
                    <a:pt x="1018667" y="69850"/>
                  </a:lnTo>
                  <a:lnTo>
                    <a:pt x="949832" y="44450"/>
                  </a:lnTo>
                  <a:lnTo>
                    <a:pt x="905001" y="33527"/>
                  </a:lnTo>
                  <a:lnTo>
                    <a:pt x="854075" y="23749"/>
                  </a:lnTo>
                  <a:lnTo>
                    <a:pt x="797686" y="15620"/>
                  </a:lnTo>
                  <a:lnTo>
                    <a:pt x="736473" y="9016"/>
                  </a:lnTo>
                  <a:lnTo>
                    <a:pt x="671068" y="4063"/>
                  </a:lnTo>
                  <a:lnTo>
                    <a:pt x="602106" y="1015"/>
                  </a:lnTo>
                  <a:lnTo>
                    <a:pt x="530098" y="0"/>
                  </a:lnTo>
                  <a:close/>
                </a:path>
              </a:pathLst>
            </a:custGeom>
            <a:solidFill>
              <a:srgbClr val="FFFF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52410" y="2045969"/>
              <a:ext cx="1060450" cy="919480"/>
            </a:xfrm>
            <a:custGeom>
              <a:avLst/>
              <a:gdLst/>
              <a:ahLst/>
              <a:cxnLst/>
              <a:rect l="l" t="t" r="r" b="b"/>
              <a:pathLst>
                <a:path w="1060450" h="919480">
                  <a:moveTo>
                    <a:pt x="1060323" y="114934"/>
                  </a:moveTo>
                  <a:lnTo>
                    <a:pt x="1018667" y="159638"/>
                  </a:lnTo>
                  <a:lnTo>
                    <a:pt x="949833" y="185038"/>
                  </a:lnTo>
                  <a:lnTo>
                    <a:pt x="905001" y="196087"/>
                  </a:lnTo>
                  <a:lnTo>
                    <a:pt x="854075" y="205866"/>
                  </a:lnTo>
                  <a:lnTo>
                    <a:pt x="797687" y="214121"/>
                  </a:lnTo>
                  <a:lnTo>
                    <a:pt x="736473" y="220725"/>
                  </a:lnTo>
                  <a:lnTo>
                    <a:pt x="671068" y="225678"/>
                  </a:lnTo>
                  <a:lnTo>
                    <a:pt x="602107" y="228726"/>
                  </a:lnTo>
                  <a:lnTo>
                    <a:pt x="530098" y="229742"/>
                  </a:lnTo>
                  <a:lnTo>
                    <a:pt x="458216" y="228726"/>
                  </a:lnTo>
                  <a:lnTo>
                    <a:pt x="389255" y="225678"/>
                  </a:lnTo>
                  <a:lnTo>
                    <a:pt x="323850" y="220725"/>
                  </a:lnTo>
                  <a:lnTo>
                    <a:pt x="262636" y="214121"/>
                  </a:lnTo>
                  <a:lnTo>
                    <a:pt x="206248" y="205866"/>
                  </a:lnTo>
                  <a:lnTo>
                    <a:pt x="155321" y="196087"/>
                  </a:lnTo>
                  <a:lnTo>
                    <a:pt x="110490" y="185038"/>
                  </a:lnTo>
                  <a:lnTo>
                    <a:pt x="72390" y="172846"/>
                  </a:lnTo>
                  <a:lnTo>
                    <a:pt x="18923" y="145414"/>
                  </a:lnTo>
                  <a:lnTo>
                    <a:pt x="0" y="114934"/>
                  </a:lnTo>
                  <a:lnTo>
                    <a:pt x="4825" y="99313"/>
                  </a:lnTo>
                  <a:lnTo>
                    <a:pt x="41656" y="70230"/>
                  </a:lnTo>
                  <a:lnTo>
                    <a:pt x="110490" y="44703"/>
                  </a:lnTo>
                  <a:lnTo>
                    <a:pt x="155321" y="33654"/>
                  </a:lnTo>
                  <a:lnTo>
                    <a:pt x="206248" y="23875"/>
                  </a:lnTo>
                  <a:lnTo>
                    <a:pt x="262636" y="15620"/>
                  </a:lnTo>
                  <a:lnTo>
                    <a:pt x="323850" y="9016"/>
                  </a:lnTo>
                  <a:lnTo>
                    <a:pt x="389255" y="4063"/>
                  </a:lnTo>
                  <a:lnTo>
                    <a:pt x="458216" y="1015"/>
                  </a:lnTo>
                  <a:lnTo>
                    <a:pt x="530098" y="0"/>
                  </a:lnTo>
                  <a:lnTo>
                    <a:pt x="602107" y="1015"/>
                  </a:lnTo>
                  <a:lnTo>
                    <a:pt x="671068" y="4063"/>
                  </a:lnTo>
                  <a:lnTo>
                    <a:pt x="736473" y="9016"/>
                  </a:lnTo>
                  <a:lnTo>
                    <a:pt x="797687" y="15620"/>
                  </a:lnTo>
                  <a:lnTo>
                    <a:pt x="854075" y="23875"/>
                  </a:lnTo>
                  <a:lnTo>
                    <a:pt x="905001" y="33654"/>
                  </a:lnTo>
                  <a:lnTo>
                    <a:pt x="949833" y="44703"/>
                  </a:lnTo>
                  <a:lnTo>
                    <a:pt x="987933" y="56895"/>
                  </a:lnTo>
                  <a:lnTo>
                    <a:pt x="1041400" y="84327"/>
                  </a:lnTo>
                  <a:lnTo>
                    <a:pt x="1060323" y="114934"/>
                  </a:lnTo>
                  <a:close/>
                </a:path>
                <a:path w="1060450" h="919480">
                  <a:moveTo>
                    <a:pt x="1060323" y="114934"/>
                  </a:moveTo>
                  <a:lnTo>
                    <a:pt x="1060323" y="804163"/>
                  </a:lnTo>
                  <a:lnTo>
                    <a:pt x="1055497" y="819784"/>
                  </a:lnTo>
                  <a:lnTo>
                    <a:pt x="1018667" y="848867"/>
                  </a:lnTo>
                  <a:lnTo>
                    <a:pt x="949833" y="874267"/>
                  </a:lnTo>
                  <a:lnTo>
                    <a:pt x="905001" y="885316"/>
                  </a:lnTo>
                  <a:lnTo>
                    <a:pt x="854075" y="895095"/>
                  </a:lnTo>
                  <a:lnTo>
                    <a:pt x="797687" y="903351"/>
                  </a:lnTo>
                  <a:lnTo>
                    <a:pt x="736473" y="909954"/>
                  </a:lnTo>
                  <a:lnTo>
                    <a:pt x="671068" y="914907"/>
                  </a:lnTo>
                  <a:lnTo>
                    <a:pt x="602107" y="917955"/>
                  </a:lnTo>
                  <a:lnTo>
                    <a:pt x="530098" y="918971"/>
                  </a:lnTo>
                  <a:lnTo>
                    <a:pt x="458216" y="917955"/>
                  </a:lnTo>
                  <a:lnTo>
                    <a:pt x="389255" y="914907"/>
                  </a:lnTo>
                  <a:lnTo>
                    <a:pt x="323850" y="909954"/>
                  </a:lnTo>
                  <a:lnTo>
                    <a:pt x="262636" y="903351"/>
                  </a:lnTo>
                  <a:lnTo>
                    <a:pt x="206248" y="895095"/>
                  </a:lnTo>
                  <a:lnTo>
                    <a:pt x="155321" y="885316"/>
                  </a:lnTo>
                  <a:lnTo>
                    <a:pt x="110490" y="874267"/>
                  </a:lnTo>
                  <a:lnTo>
                    <a:pt x="72390" y="862076"/>
                  </a:lnTo>
                  <a:lnTo>
                    <a:pt x="18923" y="834643"/>
                  </a:lnTo>
                  <a:lnTo>
                    <a:pt x="0" y="804163"/>
                  </a:lnTo>
                  <a:lnTo>
                    <a:pt x="0" y="114934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907781" y="2026980"/>
            <a:ext cx="9372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 marR="5080" indent="-270510">
              <a:lnSpc>
                <a:spcPct val="1501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Employee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32346" y="5685231"/>
            <a:ext cx="2207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4830" algn="l"/>
              </a:tabLst>
            </a:pPr>
            <a:r>
              <a:rPr sz="1800" dirty="0">
                <a:latin typeface="Times New Roman"/>
                <a:cs typeface="Times New Roman"/>
              </a:rPr>
              <a:t>Operational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DW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435085" y="6460001"/>
            <a:ext cx="18161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spc="-25" dirty="0">
                <a:solidFill>
                  <a:srgbClr val="878787"/>
                </a:solidFill>
                <a:latin typeface="Times New Roman"/>
                <a:cs typeface="Times New Roman"/>
              </a:rPr>
              <a:t>40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507" y="151333"/>
            <a:ext cx="5088255" cy="4705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/>
              <a:t>Data</a:t>
            </a:r>
            <a:r>
              <a:rPr sz="2900" spc="20" dirty="0"/>
              <a:t> </a:t>
            </a:r>
            <a:r>
              <a:rPr sz="2900" spc="-40" dirty="0"/>
              <a:t>Warehouse—</a:t>
            </a:r>
            <a:r>
              <a:rPr sz="2900" spc="-35" dirty="0"/>
              <a:t>Time</a:t>
            </a:r>
            <a:r>
              <a:rPr sz="2900" spc="-155" dirty="0"/>
              <a:t> </a:t>
            </a:r>
            <a:r>
              <a:rPr sz="2900" spc="-10" dirty="0"/>
              <a:t>Variant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613968" y="634650"/>
            <a:ext cx="7734934" cy="2883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horizon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warehouse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significantly </a:t>
            </a:r>
            <a:r>
              <a:rPr sz="2600" dirty="0">
                <a:latin typeface="Times New Roman"/>
                <a:cs typeface="Times New Roman"/>
              </a:rPr>
              <a:t>longer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operational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systems.</a:t>
            </a:r>
            <a:endParaRPr sz="2600">
              <a:latin typeface="Times New Roman"/>
              <a:cs typeface="Times New Roman"/>
            </a:endParaRPr>
          </a:p>
          <a:p>
            <a:pPr marL="753745" lvl="1" indent="-283845">
              <a:lnSpc>
                <a:spcPct val="100000"/>
              </a:lnSpc>
              <a:spcBef>
                <a:spcPts val="2575"/>
              </a:spcBef>
              <a:buFont typeface="Arial MT"/>
              <a:buChar char="–"/>
              <a:tabLst>
                <a:tab pos="753745" algn="l"/>
              </a:tabLst>
            </a:pPr>
            <a:r>
              <a:rPr sz="2200" spc="-10" dirty="0">
                <a:latin typeface="Times New Roman"/>
                <a:cs typeface="Times New Roman"/>
              </a:rPr>
              <a:t>Operational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database: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 marL="753745" marR="375285" lvl="1" indent="-283845">
              <a:lnSpc>
                <a:spcPct val="150100"/>
              </a:lnSpc>
              <a:buFont typeface="Arial MT"/>
              <a:buChar char="–"/>
              <a:tabLst>
                <a:tab pos="753745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warehouse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data: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information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historical perspective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(e.g.,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5-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200" spc="-10" dirty="0">
                <a:latin typeface="Times New Roman"/>
                <a:cs typeface="Times New Roman"/>
              </a:rPr>
              <a:t> years)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657" y="97358"/>
            <a:ext cx="54660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5" dirty="0"/>
              <a:t> </a:t>
            </a:r>
            <a:r>
              <a:rPr spc="-45" dirty="0"/>
              <a:t>Warehouse—Non-</a:t>
            </a:r>
            <a:r>
              <a:rPr spc="-10" dirty="0"/>
              <a:t>Volatile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968" y="820039"/>
            <a:ext cx="457200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354965" algn="l"/>
                <a:tab pos="730250" algn="l"/>
                <a:tab pos="1979295" algn="l"/>
                <a:tab pos="3018155" algn="l"/>
                <a:tab pos="3713479" algn="l"/>
                <a:tab pos="4129404" algn="l"/>
              </a:tabLst>
            </a:pP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physically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separate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store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868" y="1127150"/>
            <a:ext cx="4232910" cy="94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  <a:tabLst>
                <a:tab pos="1581785" algn="l"/>
                <a:tab pos="2414270" algn="l"/>
                <a:tab pos="3068320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transformed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operational environment.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968" y="2103333"/>
            <a:ext cx="1717675" cy="1398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1325245" algn="l"/>
              </a:tabLst>
            </a:pPr>
            <a:r>
              <a:rPr sz="2000" spc="-10" dirty="0">
                <a:latin typeface="Times New Roman"/>
                <a:cs typeface="Times New Roman"/>
              </a:rPr>
              <a:t>Operational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occur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spc="-10" dirty="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4783" y="2103333"/>
            <a:ext cx="2854325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 marR="5080" indent="-192405">
              <a:lnSpc>
                <a:spcPct val="150100"/>
              </a:lnSpc>
              <a:spcBef>
                <a:spcPts val="95"/>
              </a:spcBef>
              <a:tabLst>
                <a:tab pos="867410" algn="l"/>
                <a:tab pos="917575" algn="l"/>
                <a:tab pos="1261110" algn="l"/>
                <a:tab pos="1748155" algn="l"/>
                <a:tab pos="1862455" algn="l"/>
                <a:tab pos="2506980" algn="l"/>
              </a:tabLst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update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does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warehouse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473" y="3546348"/>
            <a:ext cx="4122420" cy="265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 algn="just">
              <a:lnSpc>
                <a:spcPct val="150100"/>
              </a:lnSpc>
              <a:spcBef>
                <a:spcPts val="100"/>
              </a:spcBef>
              <a:buFont typeface="Arial MT"/>
              <a:buChar char="–"/>
              <a:tabLst>
                <a:tab pos="295910" algn="l"/>
              </a:tabLst>
            </a:pPr>
            <a:r>
              <a:rPr sz="1800" dirty="0">
                <a:latin typeface="Times New Roman"/>
                <a:cs typeface="Times New Roman"/>
              </a:rPr>
              <a:t>Does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transaction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processing, </a:t>
            </a:r>
            <a:r>
              <a:rPr sz="1800" dirty="0">
                <a:latin typeface="Times New Roman"/>
                <a:cs typeface="Times New Roman"/>
              </a:rPr>
              <a:t>recovery,</a:t>
            </a:r>
            <a:r>
              <a:rPr sz="1800" spc="280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7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concurrency</a:t>
            </a:r>
            <a:r>
              <a:rPr sz="1800" spc="254" dirty="0">
                <a:latin typeface="Times New Roman"/>
                <a:cs typeface="Times New Roman"/>
              </a:rPr>
              <a:t>   </a:t>
            </a:r>
            <a:r>
              <a:rPr sz="1800" spc="-10" dirty="0">
                <a:latin typeface="Times New Roman"/>
                <a:cs typeface="Times New Roman"/>
              </a:rPr>
              <a:t>control mechanisms</a:t>
            </a:r>
            <a:endParaRPr sz="1800">
              <a:latin typeface="Times New Roman"/>
              <a:cs typeface="Times New Roman"/>
            </a:endParaRPr>
          </a:p>
          <a:p>
            <a:pPr marL="295910" marR="427990" indent="-283845" algn="just">
              <a:lnSpc>
                <a:spcPct val="151800"/>
              </a:lnSpc>
              <a:spcBef>
                <a:spcPts val="755"/>
              </a:spcBef>
              <a:buFont typeface="Arial MT"/>
              <a:buChar char="–"/>
              <a:tabLst>
                <a:tab pos="295910" algn="l"/>
              </a:tabLst>
            </a:pPr>
            <a:r>
              <a:rPr sz="1800" dirty="0">
                <a:latin typeface="Times New Roman"/>
                <a:cs typeface="Times New Roman"/>
              </a:rPr>
              <a:t>Requires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 </a:t>
            </a:r>
            <a:r>
              <a:rPr sz="1800" spc="-10" dirty="0">
                <a:latin typeface="Times New Roman"/>
                <a:cs typeface="Times New Roman"/>
              </a:rPr>
              <a:t>accessing:</a:t>
            </a:r>
            <a:endParaRPr sz="180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48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initial</a:t>
            </a:r>
            <a:r>
              <a:rPr sz="180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loading</a:t>
            </a:r>
            <a:r>
              <a:rPr sz="180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i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1800" i="1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1800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96428" y="2587751"/>
            <a:ext cx="1005840" cy="2103120"/>
            <a:chOff x="7996428" y="2587751"/>
            <a:chExt cx="1005840" cy="2103120"/>
          </a:xfrm>
        </p:grpSpPr>
        <p:sp>
          <p:nvSpPr>
            <p:cNvPr id="9" name="object 9"/>
            <p:cNvSpPr/>
            <p:nvPr/>
          </p:nvSpPr>
          <p:spPr>
            <a:xfrm>
              <a:off x="8531352" y="4078223"/>
              <a:ext cx="114300" cy="612775"/>
            </a:xfrm>
            <a:custGeom>
              <a:avLst/>
              <a:gdLst/>
              <a:ahLst/>
              <a:cxnLst/>
              <a:rect l="l" t="t" r="r" b="b"/>
              <a:pathLst>
                <a:path w="114300" h="612775">
                  <a:moveTo>
                    <a:pt x="114300" y="114173"/>
                  </a:moveTo>
                  <a:lnTo>
                    <a:pt x="104775" y="95123"/>
                  </a:lnTo>
                  <a:lnTo>
                    <a:pt x="76200" y="38049"/>
                  </a:lnTo>
                  <a:lnTo>
                    <a:pt x="76200" y="95123"/>
                  </a:lnTo>
                  <a:lnTo>
                    <a:pt x="38100" y="95148"/>
                  </a:lnTo>
                  <a:lnTo>
                    <a:pt x="76200" y="95123"/>
                  </a:lnTo>
                  <a:lnTo>
                    <a:pt x="76200" y="38049"/>
                  </a:lnTo>
                  <a:lnTo>
                    <a:pt x="57150" y="0"/>
                  </a:lnTo>
                  <a:lnTo>
                    <a:pt x="0" y="114173"/>
                  </a:lnTo>
                  <a:lnTo>
                    <a:pt x="38100" y="114173"/>
                  </a:lnTo>
                  <a:lnTo>
                    <a:pt x="38100" y="612648"/>
                  </a:lnTo>
                  <a:lnTo>
                    <a:pt x="76200" y="612648"/>
                  </a:lnTo>
                  <a:lnTo>
                    <a:pt x="76200" y="114173"/>
                  </a:lnTo>
                  <a:lnTo>
                    <a:pt x="114300" y="114173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01000" y="3291839"/>
              <a:ext cx="992505" cy="786130"/>
            </a:xfrm>
            <a:custGeom>
              <a:avLst/>
              <a:gdLst/>
              <a:ahLst/>
              <a:cxnLst/>
              <a:rect l="l" t="t" r="r" b="b"/>
              <a:pathLst>
                <a:path w="992504" h="786129">
                  <a:moveTo>
                    <a:pt x="992124" y="0"/>
                  </a:moveTo>
                  <a:lnTo>
                    <a:pt x="971169" y="32385"/>
                  </a:lnTo>
                  <a:lnTo>
                    <a:pt x="912241" y="61087"/>
                  </a:lnTo>
                  <a:lnTo>
                    <a:pt x="870457" y="73660"/>
                  </a:lnTo>
                  <a:lnTo>
                    <a:pt x="821563" y="84709"/>
                  </a:lnTo>
                  <a:lnTo>
                    <a:pt x="766191" y="94107"/>
                  </a:lnTo>
                  <a:lnTo>
                    <a:pt x="705230" y="101854"/>
                  </a:lnTo>
                  <a:lnTo>
                    <a:pt x="639318" y="107442"/>
                  </a:lnTo>
                  <a:lnTo>
                    <a:pt x="569341" y="110998"/>
                  </a:lnTo>
                  <a:lnTo>
                    <a:pt x="496061" y="112268"/>
                  </a:lnTo>
                  <a:lnTo>
                    <a:pt x="422782" y="110998"/>
                  </a:lnTo>
                  <a:lnTo>
                    <a:pt x="352805" y="107442"/>
                  </a:lnTo>
                  <a:lnTo>
                    <a:pt x="286893" y="101854"/>
                  </a:lnTo>
                  <a:lnTo>
                    <a:pt x="225932" y="94107"/>
                  </a:lnTo>
                  <a:lnTo>
                    <a:pt x="170560" y="84709"/>
                  </a:lnTo>
                  <a:lnTo>
                    <a:pt x="121666" y="73660"/>
                  </a:lnTo>
                  <a:lnTo>
                    <a:pt x="79882" y="61087"/>
                  </a:lnTo>
                  <a:lnTo>
                    <a:pt x="20954" y="32385"/>
                  </a:lnTo>
                  <a:lnTo>
                    <a:pt x="0" y="0"/>
                  </a:lnTo>
                  <a:lnTo>
                    <a:pt x="0" y="673735"/>
                  </a:lnTo>
                  <a:lnTo>
                    <a:pt x="20954" y="706247"/>
                  </a:lnTo>
                  <a:lnTo>
                    <a:pt x="79882" y="734949"/>
                  </a:lnTo>
                  <a:lnTo>
                    <a:pt x="121666" y="747522"/>
                  </a:lnTo>
                  <a:lnTo>
                    <a:pt x="170560" y="758571"/>
                  </a:lnTo>
                  <a:lnTo>
                    <a:pt x="225932" y="768096"/>
                  </a:lnTo>
                  <a:lnTo>
                    <a:pt x="286893" y="775716"/>
                  </a:lnTo>
                  <a:lnTo>
                    <a:pt x="352805" y="781431"/>
                  </a:lnTo>
                  <a:lnTo>
                    <a:pt x="422782" y="784860"/>
                  </a:lnTo>
                  <a:lnTo>
                    <a:pt x="496061" y="786130"/>
                  </a:lnTo>
                  <a:lnTo>
                    <a:pt x="569341" y="784860"/>
                  </a:lnTo>
                  <a:lnTo>
                    <a:pt x="639318" y="781431"/>
                  </a:lnTo>
                  <a:lnTo>
                    <a:pt x="705230" y="775716"/>
                  </a:lnTo>
                  <a:lnTo>
                    <a:pt x="766191" y="768096"/>
                  </a:lnTo>
                  <a:lnTo>
                    <a:pt x="821563" y="758571"/>
                  </a:lnTo>
                  <a:lnTo>
                    <a:pt x="870457" y="747522"/>
                  </a:lnTo>
                  <a:lnTo>
                    <a:pt x="912241" y="734949"/>
                  </a:lnTo>
                  <a:lnTo>
                    <a:pt x="971169" y="706247"/>
                  </a:lnTo>
                  <a:lnTo>
                    <a:pt x="992124" y="673735"/>
                  </a:lnTo>
                  <a:lnTo>
                    <a:pt x="992124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31352" y="2587751"/>
              <a:ext cx="114300" cy="612775"/>
            </a:xfrm>
            <a:custGeom>
              <a:avLst/>
              <a:gdLst/>
              <a:ahLst/>
              <a:cxnLst/>
              <a:rect l="l" t="t" r="r" b="b"/>
              <a:pathLst>
                <a:path w="114300" h="612775">
                  <a:moveTo>
                    <a:pt x="114300" y="113792"/>
                  </a:moveTo>
                  <a:lnTo>
                    <a:pt x="104775" y="94869"/>
                  </a:lnTo>
                  <a:lnTo>
                    <a:pt x="57150" y="0"/>
                  </a:lnTo>
                  <a:lnTo>
                    <a:pt x="0" y="113792"/>
                  </a:lnTo>
                  <a:lnTo>
                    <a:pt x="38100" y="113792"/>
                  </a:lnTo>
                  <a:lnTo>
                    <a:pt x="38100" y="612267"/>
                  </a:lnTo>
                  <a:lnTo>
                    <a:pt x="76200" y="612267"/>
                  </a:lnTo>
                  <a:lnTo>
                    <a:pt x="76200" y="113792"/>
                  </a:lnTo>
                  <a:lnTo>
                    <a:pt x="114300" y="113792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01000" y="3182111"/>
              <a:ext cx="992505" cy="223520"/>
            </a:xfrm>
            <a:custGeom>
              <a:avLst/>
              <a:gdLst/>
              <a:ahLst/>
              <a:cxnLst/>
              <a:rect l="l" t="t" r="r" b="b"/>
              <a:pathLst>
                <a:path w="992504" h="223520">
                  <a:moveTo>
                    <a:pt x="496061" y="0"/>
                  </a:moveTo>
                  <a:lnTo>
                    <a:pt x="422782" y="1270"/>
                  </a:lnTo>
                  <a:lnTo>
                    <a:pt x="352805" y="4699"/>
                  </a:lnTo>
                  <a:lnTo>
                    <a:pt x="286893" y="10413"/>
                  </a:lnTo>
                  <a:lnTo>
                    <a:pt x="225932" y="18034"/>
                  </a:lnTo>
                  <a:lnTo>
                    <a:pt x="170560" y="27432"/>
                  </a:lnTo>
                  <a:lnTo>
                    <a:pt x="121666" y="38480"/>
                  </a:lnTo>
                  <a:lnTo>
                    <a:pt x="79882" y="50926"/>
                  </a:lnTo>
                  <a:lnTo>
                    <a:pt x="20954" y="79501"/>
                  </a:lnTo>
                  <a:lnTo>
                    <a:pt x="0" y="111887"/>
                  </a:lnTo>
                  <a:lnTo>
                    <a:pt x="5333" y="128270"/>
                  </a:lnTo>
                  <a:lnTo>
                    <a:pt x="46100" y="158876"/>
                  </a:lnTo>
                  <a:lnTo>
                    <a:pt x="121666" y="185165"/>
                  </a:lnTo>
                  <a:lnTo>
                    <a:pt x="170560" y="196087"/>
                  </a:lnTo>
                  <a:lnTo>
                    <a:pt x="225932" y="205486"/>
                  </a:lnTo>
                  <a:lnTo>
                    <a:pt x="286893" y="213105"/>
                  </a:lnTo>
                  <a:lnTo>
                    <a:pt x="352805" y="218821"/>
                  </a:lnTo>
                  <a:lnTo>
                    <a:pt x="422782" y="222250"/>
                  </a:lnTo>
                  <a:lnTo>
                    <a:pt x="496061" y="223520"/>
                  </a:lnTo>
                  <a:lnTo>
                    <a:pt x="569341" y="222250"/>
                  </a:lnTo>
                  <a:lnTo>
                    <a:pt x="639318" y="218821"/>
                  </a:lnTo>
                  <a:lnTo>
                    <a:pt x="705230" y="213105"/>
                  </a:lnTo>
                  <a:lnTo>
                    <a:pt x="766191" y="205486"/>
                  </a:lnTo>
                  <a:lnTo>
                    <a:pt x="821563" y="196087"/>
                  </a:lnTo>
                  <a:lnTo>
                    <a:pt x="870457" y="185165"/>
                  </a:lnTo>
                  <a:lnTo>
                    <a:pt x="912241" y="172592"/>
                  </a:lnTo>
                  <a:lnTo>
                    <a:pt x="971169" y="144145"/>
                  </a:lnTo>
                  <a:lnTo>
                    <a:pt x="992124" y="111887"/>
                  </a:lnTo>
                  <a:lnTo>
                    <a:pt x="986790" y="95250"/>
                  </a:lnTo>
                  <a:lnTo>
                    <a:pt x="946023" y="64642"/>
                  </a:lnTo>
                  <a:lnTo>
                    <a:pt x="870457" y="38480"/>
                  </a:lnTo>
                  <a:lnTo>
                    <a:pt x="821563" y="27432"/>
                  </a:lnTo>
                  <a:lnTo>
                    <a:pt x="766191" y="18034"/>
                  </a:lnTo>
                  <a:lnTo>
                    <a:pt x="705230" y="10413"/>
                  </a:lnTo>
                  <a:lnTo>
                    <a:pt x="639318" y="4699"/>
                  </a:lnTo>
                  <a:lnTo>
                    <a:pt x="569341" y="1270"/>
                  </a:lnTo>
                  <a:lnTo>
                    <a:pt x="496061" y="0"/>
                  </a:lnTo>
                  <a:close/>
                </a:path>
              </a:pathLst>
            </a:custGeom>
            <a:solidFill>
              <a:srgbClr val="FFFF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3286" y="3184397"/>
              <a:ext cx="992505" cy="895985"/>
            </a:xfrm>
            <a:custGeom>
              <a:avLst/>
              <a:gdLst/>
              <a:ahLst/>
              <a:cxnLst/>
              <a:rect l="l" t="t" r="r" b="b"/>
              <a:pathLst>
                <a:path w="992504" h="895985">
                  <a:moveTo>
                    <a:pt x="992124" y="112013"/>
                  </a:moveTo>
                  <a:lnTo>
                    <a:pt x="971169" y="144399"/>
                  </a:lnTo>
                  <a:lnTo>
                    <a:pt x="912241" y="172974"/>
                  </a:lnTo>
                  <a:lnTo>
                    <a:pt x="870458" y="185547"/>
                  </a:lnTo>
                  <a:lnTo>
                    <a:pt x="821563" y="196596"/>
                  </a:lnTo>
                  <a:lnTo>
                    <a:pt x="766191" y="205993"/>
                  </a:lnTo>
                  <a:lnTo>
                    <a:pt x="705231" y="213613"/>
                  </a:lnTo>
                  <a:lnTo>
                    <a:pt x="639318" y="219201"/>
                  </a:lnTo>
                  <a:lnTo>
                    <a:pt x="569341" y="222757"/>
                  </a:lnTo>
                  <a:lnTo>
                    <a:pt x="496062" y="224027"/>
                  </a:lnTo>
                  <a:lnTo>
                    <a:pt x="422783" y="222757"/>
                  </a:lnTo>
                  <a:lnTo>
                    <a:pt x="352806" y="219201"/>
                  </a:lnTo>
                  <a:lnTo>
                    <a:pt x="286893" y="213613"/>
                  </a:lnTo>
                  <a:lnTo>
                    <a:pt x="225933" y="205993"/>
                  </a:lnTo>
                  <a:lnTo>
                    <a:pt x="170561" y="196596"/>
                  </a:lnTo>
                  <a:lnTo>
                    <a:pt x="121666" y="185547"/>
                  </a:lnTo>
                  <a:lnTo>
                    <a:pt x="79883" y="172974"/>
                  </a:lnTo>
                  <a:lnTo>
                    <a:pt x="20955" y="144399"/>
                  </a:lnTo>
                  <a:lnTo>
                    <a:pt x="0" y="112013"/>
                  </a:lnTo>
                  <a:lnTo>
                    <a:pt x="5334" y="95503"/>
                  </a:lnTo>
                  <a:lnTo>
                    <a:pt x="46100" y="64769"/>
                  </a:lnTo>
                  <a:lnTo>
                    <a:pt x="121666" y="38480"/>
                  </a:lnTo>
                  <a:lnTo>
                    <a:pt x="170561" y="27431"/>
                  </a:lnTo>
                  <a:lnTo>
                    <a:pt x="225933" y="18034"/>
                  </a:lnTo>
                  <a:lnTo>
                    <a:pt x="286893" y="10413"/>
                  </a:lnTo>
                  <a:lnTo>
                    <a:pt x="352806" y="4699"/>
                  </a:lnTo>
                  <a:lnTo>
                    <a:pt x="422783" y="1269"/>
                  </a:lnTo>
                  <a:lnTo>
                    <a:pt x="496062" y="0"/>
                  </a:lnTo>
                  <a:lnTo>
                    <a:pt x="569341" y="1269"/>
                  </a:lnTo>
                  <a:lnTo>
                    <a:pt x="639318" y="4699"/>
                  </a:lnTo>
                  <a:lnTo>
                    <a:pt x="705231" y="10413"/>
                  </a:lnTo>
                  <a:lnTo>
                    <a:pt x="766191" y="18034"/>
                  </a:lnTo>
                  <a:lnTo>
                    <a:pt x="821563" y="27431"/>
                  </a:lnTo>
                  <a:lnTo>
                    <a:pt x="870458" y="38480"/>
                  </a:lnTo>
                  <a:lnTo>
                    <a:pt x="912241" y="51053"/>
                  </a:lnTo>
                  <a:lnTo>
                    <a:pt x="971169" y="79628"/>
                  </a:lnTo>
                  <a:lnTo>
                    <a:pt x="992124" y="112013"/>
                  </a:lnTo>
                  <a:close/>
                </a:path>
                <a:path w="992504" h="895985">
                  <a:moveTo>
                    <a:pt x="992124" y="112013"/>
                  </a:moveTo>
                  <a:lnTo>
                    <a:pt x="992124" y="783970"/>
                  </a:lnTo>
                  <a:lnTo>
                    <a:pt x="986790" y="800481"/>
                  </a:lnTo>
                  <a:lnTo>
                    <a:pt x="946023" y="831214"/>
                  </a:lnTo>
                  <a:lnTo>
                    <a:pt x="870458" y="857503"/>
                  </a:lnTo>
                  <a:lnTo>
                    <a:pt x="821563" y="868552"/>
                  </a:lnTo>
                  <a:lnTo>
                    <a:pt x="766191" y="877951"/>
                  </a:lnTo>
                  <a:lnTo>
                    <a:pt x="705231" y="885570"/>
                  </a:lnTo>
                  <a:lnTo>
                    <a:pt x="639318" y="891285"/>
                  </a:lnTo>
                  <a:lnTo>
                    <a:pt x="569341" y="894714"/>
                  </a:lnTo>
                  <a:lnTo>
                    <a:pt x="496062" y="895984"/>
                  </a:lnTo>
                  <a:lnTo>
                    <a:pt x="422783" y="894714"/>
                  </a:lnTo>
                  <a:lnTo>
                    <a:pt x="352806" y="891285"/>
                  </a:lnTo>
                  <a:lnTo>
                    <a:pt x="286893" y="885570"/>
                  </a:lnTo>
                  <a:lnTo>
                    <a:pt x="225933" y="877951"/>
                  </a:lnTo>
                  <a:lnTo>
                    <a:pt x="170561" y="868552"/>
                  </a:lnTo>
                  <a:lnTo>
                    <a:pt x="121666" y="857503"/>
                  </a:lnTo>
                  <a:lnTo>
                    <a:pt x="79883" y="844931"/>
                  </a:lnTo>
                  <a:lnTo>
                    <a:pt x="20955" y="816356"/>
                  </a:lnTo>
                  <a:lnTo>
                    <a:pt x="0" y="783970"/>
                  </a:lnTo>
                  <a:lnTo>
                    <a:pt x="0" y="112013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911469" y="3236848"/>
            <a:ext cx="868680" cy="909955"/>
            <a:chOff x="5911469" y="3236848"/>
            <a:chExt cx="868680" cy="909955"/>
          </a:xfrm>
        </p:grpSpPr>
        <p:sp>
          <p:nvSpPr>
            <p:cNvPr id="15" name="object 15"/>
            <p:cNvSpPr/>
            <p:nvPr/>
          </p:nvSpPr>
          <p:spPr>
            <a:xfrm>
              <a:off x="5916168" y="3346703"/>
              <a:ext cx="854710" cy="791210"/>
            </a:xfrm>
            <a:custGeom>
              <a:avLst/>
              <a:gdLst/>
              <a:ahLst/>
              <a:cxnLst/>
              <a:rect l="l" t="t" r="r" b="b"/>
              <a:pathLst>
                <a:path w="854709" h="791210">
                  <a:moveTo>
                    <a:pt x="854456" y="0"/>
                  </a:moveTo>
                  <a:lnTo>
                    <a:pt x="832738" y="34036"/>
                  </a:lnTo>
                  <a:lnTo>
                    <a:pt x="772033" y="63626"/>
                  </a:lnTo>
                  <a:lnTo>
                    <a:pt x="729361" y="76200"/>
                  </a:lnTo>
                  <a:lnTo>
                    <a:pt x="679577" y="86995"/>
                  </a:lnTo>
                  <a:lnTo>
                    <a:pt x="623570" y="95758"/>
                  </a:lnTo>
                  <a:lnTo>
                    <a:pt x="562229" y="102362"/>
                  </a:lnTo>
                  <a:lnTo>
                    <a:pt x="496570" y="106425"/>
                  </a:lnTo>
                  <a:lnTo>
                    <a:pt x="427228" y="107823"/>
                  </a:lnTo>
                  <a:lnTo>
                    <a:pt x="357886" y="106425"/>
                  </a:lnTo>
                  <a:lnTo>
                    <a:pt x="292227" y="102362"/>
                  </a:lnTo>
                  <a:lnTo>
                    <a:pt x="230886" y="95758"/>
                  </a:lnTo>
                  <a:lnTo>
                    <a:pt x="174879" y="86995"/>
                  </a:lnTo>
                  <a:lnTo>
                    <a:pt x="125095" y="76200"/>
                  </a:lnTo>
                  <a:lnTo>
                    <a:pt x="82423" y="63626"/>
                  </a:lnTo>
                  <a:lnTo>
                    <a:pt x="21717" y="34036"/>
                  </a:lnTo>
                  <a:lnTo>
                    <a:pt x="0" y="0"/>
                  </a:lnTo>
                  <a:lnTo>
                    <a:pt x="0" y="683133"/>
                  </a:lnTo>
                  <a:lnTo>
                    <a:pt x="21717" y="717296"/>
                  </a:lnTo>
                  <a:lnTo>
                    <a:pt x="82423" y="746887"/>
                  </a:lnTo>
                  <a:lnTo>
                    <a:pt x="125095" y="759460"/>
                  </a:lnTo>
                  <a:lnTo>
                    <a:pt x="174879" y="770128"/>
                  </a:lnTo>
                  <a:lnTo>
                    <a:pt x="230886" y="778891"/>
                  </a:lnTo>
                  <a:lnTo>
                    <a:pt x="292227" y="785495"/>
                  </a:lnTo>
                  <a:lnTo>
                    <a:pt x="357886" y="789559"/>
                  </a:lnTo>
                  <a:lnTo>
                    <a:pt x="427228" y="790956"/>
                  </a:lnTo>
                  <a:lnTo>
                    <a:pt x="496570" y="789559"/>
                  </a:lnTo>
                  <a:lnTo>
                    <a:pt x="562229" y="785495"/>
                  </a:lnTo>
                  <a:lnTo>
                    <a:pt x="623570" y="778891"/>
                  </a:lnTo>
                  <a:lnTo>
                    <a:pt x="679577" y="770128"/>
                  </a:lnTo>
                  <a:lnTo>
                    <a:pt x="729361" y="759460"/>
                  </a:lnTo>
                  <a:lnTo>
                    <a:pt x="772033" y="746887"/>
                  </a:lnTo>
                  <a:lnTo>
                    <a:pt x="832738" y="717296"/>
                  </a:lnTo>
                  <a:lnTo>
                    <a:pt x="854456" y="683133"/>
                  </a:lnTo>
                  <a:lnTo>
                    <a:pt x="854456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16168" y="3241547"/>
              <a:ext cx="854710" cy="215265"/>
            </a:xfrm>
            <a:custGeom>
              <a:avLst/>
              <a:gdLst/>
              <a:ahLst/>
              <a:cxnLst/>
              <a:rect l="l" t="t" r="r" b="b"/>
              <a:pathLst>
                <a:path w="854709" h="215264">
                  <a:moveTo>
                    <a:pt x="427228" y="0"/>
                  </a:moveTo>
                  <a:lnTo>
                    <a:pt x="357886" y="1397"/>
                  </a:lnTo>
                  <a:lnTo>
                    <a:pt x="292227" y="5461"/>
                  </a:lnTo>
                  <a:lnTo>
                    <a:pt x="230886" y="11937"/>
                  </a:lnTo>
                  <a:lnTo>
                    <a:pt x="174879" y="20700"/>
                  </a:lnTo>
                  <a:lnTo>
                    <a:pt x="125095" y="31496"/>
                  </a:lnTo>
                  <a:lnTo>
                    <a:pt x="82423" y="43941"/>
                  </a:lnTo>
                  <a:lnTo>
                    <a:pt x="21717" y="73405"/>
                  </a:lnTo>
                  <a:lnTo>
                    <a:pt x="0" y="107314"/>
                  </a:lnTo>
                  <a:lnTo>
                    <a:pt x="5587" y="124713"/>
                  </a:lnTo>
                  <a:lnTo>
                    <a:pt x="47625" y="156717"/>
                  </a:lnTo>
                  <a:lnTo>
                    <a:pt x="125095" y="183261"/>
                  </a:lnTo>
                  <a:lnTo>
                    <a:pt x="174879" y="194055"/>
                  </a:lnTo>
                  <a:lnTo>
                    <a:pt x="230886" y="202818"/>
                  </a:lnTo>
                  <a:lnTo>
                    <a:pt x="292227" y="209296"/>
                  </a:lnTo>
                  <a:lnTo>
                    <a:pt x="357886" y="213360"/>
                  </a:lnTo>
                  <a:lnTo>
                    <a:pt x="427228" y="214756"/>
                  </a:lnTo>
                  <a:lnTo>
                    <a:pt x="496570" y="213360"/>
                  </a:lnTo>
                  <a:lnTo>
                    <a:pt x="562229" y="209296"/>
                  </a:lnTo>
                  <a:lnTo>
                    <a:pt x="623570" y="202818"/>
                  </a:lnTo>
                  <a:lnTo>
                    <a:pt x="679577" y="194055"/>
                  </a:lnTo>
                  <a:lnTo>
                    <a:pt x="729361" y="183261"/>
                  </a:lnTo>
                  <a:lnTo>
                    <a:pt x="772033" y="170814"/>
                  </a:lnTo>
                  <a:lnTo>
                    <a:pt x="832738" y="141350"/>
                  </a:lnTo>
                  <a:lnTo>
                    <a:pt x="854456" y="107314"/>
                  </a:lnTo>
                  <a:lnTo>
                    <a:pt x="848867" y="89915"/>
                  </a:lnTo>
                  <a:lnTo>
                    <a:pt x="806831" y="58038"/>
                  </a:lnTo>
                  <a:lnTo>
                    <a:pt x="729361" y="31496"/>
                  </a:lnTo>
                  <a:lnTo>
                    <a:pt x="679577" y="20700"/>
                  </a:lnTo>
                  <a:lnTo>
                    <a:pt x="623570" y="11937"/>
                  </a:lnTo>
                  <a:lnTo>
                    <a:pt x="562229" y="5461"/>
                  </a:lnTo>
                  <a:lnTo>
                    <a:pt x="496570" y="1397"/>
                  </a:lnTo>
                  <a:lnTo>
                    <a:pt x="427228" y="0"/>
                  </a:lnTo>
                  <a:close/>
                </a:path>
              </a:pathLst>
            </a:custGeom>
            <a:solidFill>
              <a:srgbClr val="93B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18454" y="3243833"/>
              <a:ext cx="854710" cy="895985"/>
            </a:xfrm>
            <a:custGeom>
              <a:avLst/>
              <a:gdLst/>
              <a:ahLst/>
              <a:cxnLst/>
              <a:rect l="l" t="t" r="r" b="b"/>
              <a:pathLst>
                <a:path w="854709" h="895985">
                  <a:moveTo>
                    <a:pt x="854455" y="107314"/>
                  </a:moveTo>
                  <a:lnTo>
                    <a:pt x="832739" y="141350"/>
                  </a:lnTo>
                  <a:lnTo>
                    <a:pt x="772032" y="170814"/>
                  </a:lnTo>
                  <a:lnTo>
                    <a:pt x="729361" y="183387"/>
                  </a:lnTo>
                  <a:lnTo>
                    <a:pt x="679576" y="194055"/>
                  </a:lnTo>
                  <a:lnTo>
                    <a:pt x="623570" y="202818"/>
                  </a:lnTo>
                  <a:lnTo>
                    <a:pt x="562229" y="209423"/>
                  </a:lnTo>
                  <a:lnTo>
                    <a:pt x="496570" y="213487"/>
                  </a:lnTo>
                  <a:lnTo>
                    <a:pt x="427228" y="214883"/>
                  </a:lnTo>
                  <a:lnTo>
                    <a:pt x="357886" y="213487"/>
                  </a:lnTo>
                  <a:lnTo>
                    <a:pt x="292226" y="209423"/>
                  </a:lnTo>
                  <a:lnTo>
                    <a:pt x="230886" y="202818"/>
                  </a:lnTo>
                  <a:lnTo>
                    <a:pt x="174879" y="194055"/>
                  </a:lnTo>
                  <a:lnTo>
                    <a:pt x="125095" y="183387"/>
                  </a:lnTo>
                  <a:lnTo>
                    <a:pt x="82423" y="170814"/>
                  </a:lnTo>
                  <a:lnTo>
                    <a:pt x="21717" y="141350"/>
                  </a:lnTo>
                  <a:lnTo>
                    <a:pt x="0" y="107314"/>
                  </a:lnTo>
                  <a:lnTo>
                    <a:pt x="5587" y="89915"/>
                  </a:lnTo>
                  <a:lnTo>
                    <a:pt x="47625" y="58038"/>
                  </a:lnTo>
                  <a:lnTo>
                    <a:pt x="125095" y="31495"/>
                  </a:lnTo>
                  <a:lnTo>
                    <a:pt x="174879" y="20700"/>
                  </a:lnTo>
                  <a:lnTo>
                    <a:pt x="230886" y="11937"/>
                  </a:lnTo>
                  <a:lnTo>
                    <a:pt x="292226" y="5461"/>
                  </a:lnTo>
                  <a:lnTo>
                    <a:pt x="357886" y="1396"/>
                  </a:lnTo>
                  <a:lnTo>
                    <a:pt x="427228" y="0"/>
                  </a:lnTo>
                  <a:lnTo>
                    <a:pt x="496570" y="1396"/>
                  </a:lnTo>
                  <a:lnTo>
                    <a:pt x="562229" y="5461"/>
                  </a:lnTo>
                  <a:lnTo>
                    <a:pt x="623570" y="11937"/>
                  </a:lnTo>
                  <a:lnTo>
                    <a:pt x="679576" y="20700"/>
                  </a:lnTo>
                  <a:lnTo>
                    <a:pt x="729361" y="31495"/>
                  </a:lnTo>
                  <a:lnTo>
                    <a:pt x="772032" y="43941"/>
                  </a:lnTo>
                  <a:lnTo>
                    <a:pt x="832739" y="73405"/>
                  </a:lnTo>
                  <a:lnTo>
                    <a:pt x="854455" y="107314"/>
                  </a:lnTo>
                  <a:close/>
                </a:path>
                <a:path w="854709" h="895985">
                  <a:moveTo>
                    <a:pt x="854455" y="107314"/>
                  </a:moveTo>
                  <a:lnTo>
                    <a:pt x="854455" y="788542"/>
                  </a:lnTo>
                  <a:lnTo>
                    <a:pt x="848868" y="805941"/>
                  </a:lnTo>
                  <a:lnTo>
                    <a:pt x="806830" y="837945"/>
                  </a:lnTo>
                  <a:lnTo>
                    <a:pt x="729361" y="864488"/>
                  </a:lnTo>
                  <a:lnTo>
                    <a:pt x="679576" y="875283"/>
                  </a:lnTo>
                  <a:lnTo>
                    <a:pt x="623570" y="884046"/>
                  </a:lnTo>
                  <a:lnTo>
                    <a:pt x="562229" y="890523"/>
                  </a:lnTo>
                  <a:lnTo>
                    <a:pt x="496570" y="894588"/>
                  </a:lnTo>
                  <a:lnTo>
                    <a:pt x="427228" y="895984"/>
                  </a:lnTo>
                  <a:lnTo>
                    <a:pt x="357886" y="894588"/>
                  </a:lnTo>
                  <a:lnTo>
                    <a:pt x="292226" y="890523"/>
                  </a:lnTo>
                  <a:lnTo>
                    <a:pt x="230886" y="884046"/>
                  </a:lnTo>
                  <a:lnTo>
                    <a:pt x="174879" y="875283"/>
                  </a:lnTo>
                  <a:lnTo>
                    <a:pt x="125095" y="864488"/>
                  </a:lnTo>
                  <a:lnTo>
                    <a:pt x="82423" y="852042"/>
                  </a:lnTo>
                  <a:lnTo>
                    <a:pt x="21717" y="822451"/>
                  </a:lnTo>
                  <a:lnTo>
                    <a:pt x="0" y="788542"/>
                  </a:lnTo>
                  <a:lnTo>
                    <a:pt x="0" y="107314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16497" y="3441954"/>
            <a:ext cx="651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Sales </a:t>
            </a:r>
            <a:r>
              <a:rPr sz="1800" spc="-25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90388" y="2628899"/>
            <a:ext cx="1906905" cy="2121535"/>
          </a:xfrm>
          <a:custGeom>
            <a:avLst/>
            <a:gdLst/>
            <a:ahLst/>
            <a:cxnLst/>
            <a:rect l="l" t="t" r="r" b="b"/>
            <a:pathLst>
              <a:path w="1906904" h="2121535">
                <a:moveTo>
                  <a:pt x="523875" y="1030859"/>
                </a:moveTo>
                <a:lnTo>
                  <a:pt x="409575" y="973836"/>
                </a:lnTo>
                <a:lnTo>
                  <a:pt x="409575" y="1011936"/>
                </a:lnTo>
                <a:lnTo>
                  <a:pt x="0" y="1011936"/>
                </a:lnTo>
                <a:lnTo>
                  <a:pt x="0" y="1049909"/>
                </a:lnTo>
                <a:lnTo>
                  <a:pt x="409575" y="1049909"/>
                </a:lnTo>
                <a:lnTo>
                  <a:pt x="409575" y="1088009"/>
                </a:lnTo>
                <a:lnTo>
                  <a:pt x="523875" y="1030859"/>
                </a:lnTo>
                <a:close/>
              </a:path>
              <a:path w="1906904" h="2121535">
                <a:moveTo>
                  <a:pt x="985266" y="1621282"/>
                </a:moveTo>
                <a:lnTo>
                  <a:pt x="928116" y="1507236"/>
                </a:lnTo>
                <a:lnTo>
                  <a:pt x="870839" y="1621282"/>
                </a:lnTo>
                <a:lnTo>
                  <a:pt x="909066" y="1621282"/>
                </a:lnTo>
                <a:lnTo>
                  <a:pt x="909066" y="2121154"/>
                </a:lnTo>
                <a:lnTo>
                  <a:pt x="947166" y="2121154"/>
                </a:lnTo>
                <a:lnTo>
                  <a:pt x="947166" y="1621282"/>
                </a:lnTo>
                <a:lnTo>
                  <a:pt x="985266" y="1621282"/>
                </a:lnTo>
                <a:close/>
              </a:path>
              <a:path w="1906904" h="2121535">
                <a:moveTo>
                  <a:pt x="985266" y="499872"/>
                </a:moveTo>
                <a:lnTo>
                  <a:pt x="947166" y="499872"/>
                </a:lnTo>
                <a:lnTo>
                  <a:pt x="947166" y="0"/>
                </a:lnTo>
                <a:lnTo>
                  <a:pt x="909066" y="0"/>
                </a:lnTo>
                <a:lnTo>
                  <a:pt x="909066" y="499872"/>
                </a:lnTo>
                <a:lnTo>
                  <a:pt x="870839" y="499872"/>
                </a:lnTo>
                <a:lnTo>
                  <a:pt x="928116" y="613918"/>
                </a:lnTo>
                <a:lnTo>
                  <a:pt x="985266" y="499872"/>
                </a:lnTo>
                <a:close/>
              </a:path>
              <a:path w="1906904" h="2121535">
                <a:moveTo>
                  <a:pt x="1906524" y="1011936"/>
                </a:moveTo>
                <a:lnTo>
                  <a:pt x="1496949" y="1011936"/>
                </a:lnTo>
                <a:lnTo>
                  <a:pt x="1496949" y="973836"/>
                </a:lnTo>
                <a:lnTo>
                  <a:pt x="1382649" y="1030859"/>
                </a:lnTo>
                <a:lnTo>
                  <a:pt x="1496949" y="1088009"/>
                </a:lnTo>
                <a:lnTo>
                  <a:pt x="1496949" y="1049909"/>
                </a:lnTo>
                <a:lnTo>
                  <a:pt x="1906524" y="1049909"/>
                </a:lnTo>
                <a:lnTo>
                  <a:pt x="1906524" y="10119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00317" y="2366898"/>
            <a:ext cx="575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create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6933" y="6334691"/>
            <a:ext cx="489584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35085" y="6447809"/>
            <a:ext cx="18161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spc="-25" dirty="0">
                <a:solidFill>
                  <a:srgbClr val="878787"/>
                </a:solidFill>
                <a:latin typeface="Times New Roman"/>
                <a:cs typeface="Times New Roman"/>
              </a:rPr>
              <a:t>41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88711" y="3319653"/>
            <a:ext cx="639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update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50102" y="4691888"/>
            <a:ext cx="518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insert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46746" y="3439744"/>
            <a:ext cx="566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delete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45957" y="3383737"/>
            <a:ext cx="910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Customer</a:t>
            </a:r>
            <a:endParaRPr sz="18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72043" y="4632705"/>
            <a:ext cx="414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load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54694" y="2306777"/>
            <a:ext cx="601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access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16167" y="1751076"/>
            <a:ext cx="864235" cy="370840"/>
          </a:xfrm>
          <a:prstGeom prst="rect">
            <a:avLst/>
          </a:prstGeom>
          <a:solidFill>
            <a:srgbClr val="4F81B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DBMS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30183" y="1751076"/>
            <a:ext cx="585470" cy="370840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3175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250"/>
              </a:spcBef>
            </a:pP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DW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017" y="130886"/>
            <a:ext cx="40259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10" dirty="0"/>
              <a:t> </a:t>
            </a:r>
            <a:r>
              <a:rPr spc="-40" dirty="0"/>
              <a:t>Warehouse</a:t>
            </a:r>
            <a:r>
              <a:rPr spc="-150" dirty="0"/>
              <a:t> </a:t>
            </a:r>
            <a:r>
              <a:rPr spc="-10" dirty="0"/>
              <a:t>Usage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568" y="868172"/>
            <a:ext cx="8191500" cy="2453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kinds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warehouse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  <a:p>
            <a:pPr marL="752475" lvl="1" indent="-282575">
              <a:lnSpc>
                <a:spcPct val="100000"/>
              </a:lnSpc>
              <a:spcBef>
                <a:spcPts val="2700"/>
              </a:spcBef>
              <a:buFont typeface="Arial MT"/>
              <a:buChar char="–"/>
              <a:tabLst>
                <a:tab pos="75247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2400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endParaRPr sz="2400">
              <a:latin typeface="Times New Roman"/>
              <a:cs typeface="Times New Roman"/>
            </a:endParaRPr>
          </a:p>
          <a:p>
            <a:pPr marL="1154430" lvl="2" indent="-227329">
              <a:lnSpc>
                <a:spcPct val="100000"/>
              </a:lnSpc>
              <a:spcBef>
                <a:spcPts val="1914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querying,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statistical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reporting</a:t>
            </a:r>
            <a:endParaRPr sz="24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2485"/>
              </a:spcBef>
              <a:tabLst>
                <a:tab pos="1965325" algn="l"/>
              </a:tabLst>
            </a:pPr>
            <a:r>
              <a:rPr sz="2400" spc="-10" dirty="0">
                <a:latin typeface="Times New Roman"/>
                <a:cs typeface="Times New Roman"/>
              </a:rPr>
              <a:t>using</a:t>
            </a:r>
            <a:r>
              <a:rPr sz="2400" dirty="0">
                <a:latin typeface="Times New Roman"/>
                <a:cs typeface="Times New Roman"/>
              </a:rPr>
              <a:t>	tables,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graphs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7441" y="130886"/>
            <a:ext cx="13131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568" y="1083640"/>
            <a:ext cx="8061325" cy="50018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Analytical</a:t>
            </a:r>
            <a:r>
              <a:rPr sz="19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endParaRPr sz="190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2115"/>
              </a:spcBef>
              <a:buFont typeface="Arial MT"/>
              <a:buChar char="•"/>
              <a:tabLst>
                <a:tab pos="1155700" algn="l"/>
              </a:tabLst>
            </a:pPr>
            <a:r>
              <a:rPr sz="1900" spc="-10" dirty="0">
                <a:latin typeface="Times New Roman"/>
                <a:cs typeface="Times New Roman"/>
              </a:rPr>
              <a:t>multidimensional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analysis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warehouse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data</a:t>
            </a:r>
            <a:endParaRPr sz="1900">
              <a:latin typeface="Times New Roman"/>
              <a:cs typeface="Times New Roman"/>
            </a:endParaRPr>
          </a:p>
          <a:p>
            <a:pPr marL="1155700" marR="5080" lvl="1" indent="-228600">
              <a:lnSpc>
                <a:spcPct val="169000"/>
              </a:lnSpc>
              <a:buFont typeface="Arial MT"/>
              <a:buChar char="•"/>
              <a:tabLst>
                <a:tab pos="1155700" algn="l"/>
              </a:tabLst>
            </a:pPr>
            <a:r>
              <a:rPr sz="1900" dirty="0">
                <a:latin typeface="Times New Roman"/>
                <a:cs typeface="Times New Roman"/>
              </a:rPr>
              <a:t>supports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basic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OLAP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operations(drill-down,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roll-</a:t>
            </a:r>
            <a:r>
              <a:rPr sz="1900" dirty="0">
                <a:latin typeface="Times New Roman"/>
                <a:cs typeface="Times New Roman"/>
              </a:rPr>
              <a:t>up, slice-</a:t>
            </a:r>
            <a:r>
              <a:rPr sz="1900" spc="-10" dirty="0">
                <a:latin typeface="Times New Roman"/>
                <a:cs typeface="Times New Roman"/>
              </a:rPr>
              <a:t>dice,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drilling, </a:t>
            </a:r>
            <a:r>
              <a:rPr sz="1900" dirty="0">
                <a:latin typeface="Times New Roman"/>
                <a:cs typeface="Times New Roman"/>
              </a:rPr>
              <a:t>pivoting,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which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allows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user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 view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10" dirty="0">
                <a:latin typeface="Times New Roman"/>
                <a:cs typeface="Times New Roman"/>
              </a:rPr>
              <a:t> differing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degree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</a:t>
            </a:r>
            <a:endParaRPr sz="19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1610"/>
              </a:spcBef>
            </a:pPr>
            <a:r>
              <a:rPr sz="1900" spc="-10" dirty="0">
                <a:latin typeface="Times New Roman"/>
                <a:cs typeface="Times New Roman"/>
              </a:rPr>
              <a:t>summarization.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19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mining</a:t>
            </a:r>
            <a:endParaRPr sz="190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2115"/>
              </a:spcBef>
              <a:buFont typeface="Arial MT"/>
              <a:buChar char="•"/>
              <a:tabLst>
                <a:tab pos="1155700" algn="l"/>
              </a:tabLst>
            </a:pPr>
            <a:r>
              <a:rPr sz="1900" dirty="0">
                <a:latin typeface="Times New Roman"/>
                <a:cs typeface="Times New Roman"/>
              </a:rPr>
              <a:t>knowledge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discovery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hidden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patterns</a:t>
            </a:r>
            <a:endParaRPr sz="1900">
              <a:latin typeface="Times New Roman"/>
              <a:cs typeface="Times New Roman"/>
            </a:endParaRPr>
          </a:p>
          <a:p>
            <a:pPr marL="1155700" lvl="1" indent="-22860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1155700" algn="l"/>
              </a:tabLst>
            </a:pPr>
            <a:r>
              <a:rPr sz="1900" dirty="0">
                <a:latin typeface="Times New Roman"/>
                <a:cs typeface="Times New Roman"/>
              </a:rPr>
              <a:t>supports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associations,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constructing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analytical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models,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performing</a:t>
            </a:r>
            <a:endParaRPr sz="1900">
              <a:latin typeface="Times New Roman"/>
              <a:cs typeface="Times New Roman"/>
            </a:endParaRPr>
          </a:p>
          <a:p>
            <a:pPr marL="1155700" marR="319405">
              <a:lnSpc>
                <a:spcPct val="169000"/>
              </a:lnSpc>
              <a:spcBef>
                <a:spcPts val="40"/>
              </a:spcBef>
            </a:pPr>
            <a:r>
              <a:rPr sz="1900" dirty="0">
                <a:latin typeface="Times New Roman"/>
                <a:cs typeface="Times New Roman"/>
              </a:rPr>
              <a:t>classification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and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prediction,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presenting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mining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results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using visualization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tools.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3900" y="1138300"/>
            <a:ext cx="8700770" cy="5578475"/>
            <a:chOff x="223900" y="1138300"/>
            <a:chExt cx="8700770" cy="5578475"/>
          </a:xfrm>
        </p:grpSpPr>
        <p:sp>
          <p:nvSpPr>
            <p:cNvPr id="3" name="object 3"/>
            <p:cNvSpPr/>
            <p:nvPr/>
          </p:nvSpPr>
          <p:spPr>
            <a:xfrm>
              <a:off x="3657599" y="1142999"/>
              <a:ext cx="2139315" cy="5564505"/>
            </a:xfrm>
            <a:custGeom>
              <a:avLst/>
              <a:gdLst/>
              <a:ahLst/>
              <a:cxnLst/>
              <a:rect l="l" t="t" r="r" b="b"/>
              <a:pathLst>
                <a:path w="2139315" h="5564505">
                  <a:moveTo>
                    <a:pt x="2139188" y="0"/>
                  </a:moveTo>
                  <a:lnTo>
                    <a:pt x="0" y="0"/>
                  </a:lnTo>
                  <a:lnTo>
                    <a:pt x="0" y="5564124"/>
                  </a:lnTo>
                  <a:lnTo>
                    <a:pt x="2139188" y="5564124"/>
                  </a:lnTo>
                  <a:lnTo>
                    <a:pt x="2139188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59885" y="1145285"/>
              <a:ext cx="2139315" cy="5564505"/>
            </a:xfrm>
            <a:custGeom>
              <a:avLst/>
              <a:gdLst/>
              <a:ahLst/>
              <a:cxnLst/>
              <a:rect l="l" t="t" r="r" b="b"/>
              <a:pathLst>
                <a:path w="2139315" h="5564505">
                  <a:moveTo>
                    <a:pt x="0" y="5564124"/>
                  </a:moveTo>
                  <a:lnTo>
                    <a:pt x="2139188" y="5564124"/>
                  </a:lnTo>
                  <a:lnTo>
                    <a:pt x="2139188" y="0"/>
                  </a:lnTo>
                  <a:lnTo>
                    <a:pt x="0" y="0"/>
                  </a:lnTo>
                  <a:lnTo>
                    <a:pt x="0" y="5564124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2704" y="1142999"/>
              <a:ext cx="3282315" cy="4650105"/>
            </a:xfrm>
            <a:custGeom>
              <a:avLst/>
              <a:gdLst/>
              <a:ahLst/>
              <a:cxnLst/>
              <a:rect l="l" t="t" r="r" b="b"/>
              <a:pathLst>
                <a:path w="3282315" h="4650105">
                  <a:moveTo>
                    <a:pt x="3282188" y="0"/>
                  </a:moveTo>
                  <a:lnTo>
                    <a:pt x="0" y="0"/>
                  </a:lnTo>
                  <a:lnTo>
                    <a:pt x="0" y="4649724"/>
                  </a:lnTo>
                  <a:lnTo>
                    <a:pt x="3282188" y="4649724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4990" y="1145285"/>
              <a:ext cx="3282315" cy="4650105"/>
            </a:xfrm>
            <a:custGeom>
              <a:avLst/>
              <a:gdLst/>
              <a:ahLst/>
              <a:cxnLst/>
              <a:rect l="l" t="t" r="r" b="b"/>
              <a:pathLst>
                <a:path w="3282315" h="4650105">
                  <a:moveTo>
                    <a:pt x="0" y="4649724"/>
                  </a:moveTo>
                  <a:lnTo>
                    <a:pt x="3282188" y="4649724"/>
                  </a:lnTo>
                  <a:lnTo>
                    <a:pt x="3282188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599" y="1142999"/>
              <a:ext cx="3580129" cy="4650105"/>
            </a:xfrm>
            <a:custGeom>
              <a:avLst/>
              <a:gdLst/>
              <a:ahLst/>
              <a:cxnLst/>
              <a:rect l="l" t="t" r="r" b="b"/>
              <a:pathLst>
                <a:path w="3580129" h="4650105">
                  <a:moveTo>
                    <a:pt x="3579876" y="0"/>
                  </a:moveTo>
                  <a:lnTo>
                    <a:pt x="0" y="0"/>
                  </a:lnTo>
                  <a:lnTo>
                    <a:pt x="0" y="4649724"/>
                  </a:lnTo>
                  <a:lnTo>
                    <a:pt x="3579876" y="4649724"/>
                  </a:lnTo>
                  <a:lnTo>
                    <a:pt x="3579876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885" y="1145285"/>
              <a:ext cx="3580129" cy="4650105"/>
            </a:xfrm>
            <a:custGeom>
              <a:avLst/>
              <a:gdLst/>
              <a:ahLst/>
              <a:cxnLst/>
              <a:rect l="l" t="t" r="r" b="b"/>
              <a:pathLst>
                <a:path w="3580129" h="4650105">
                  <a:moveTo>
                    <a:pt x="0" y="4649724"/>
                  </a:moveTo>
                  <a:lnTo>
                    <a:pt x="3579876" y="4649724"/>
                  </a:lnTo>
                  <a:lnTo>
                    <a:pt x="3579876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075" y="2894075"/>
              <a:ext cx="1294130" cy="1143000"/>
            </a:xfrm>
            <a:custGeom>
              <a:avLst/>
              <a:gdLst/>
              <a:ahLst/>
              <a:cxnLst/>
              <a:rect l="l" t="t" r="r" b="b"/>
              <a:pathLst>
                <a:path w="1294129" h="1143000">
                  <a:moveTo>
                    <a:pt x="646938" y="0"/>
                  </a:moveTo>
                  <a:lnTo>
                    <a:pt x="571500" y="1015"/>
                  </a:lnTo>
                  <a:lnTo>
                    <a:pt x="498601" y="3810"/>
                  </a:lnTo>
                  <a:lnTo>
                    <a:pt x="428751" y="8382"/>
                  </a:lnTo>
                  <a:lnTo>
                    <a:pt x="362458" y="14477"/>
                  </a:lnTo>
                  <a:lnTo>
                    <a:pt x="300100" y="22225"/>
                  </a:lnTo>
                  <a:lnTo>
                    <a:pt x="242315" y="31369"/>
                  </a:lnTo>
                  <a:lnTo>
                    <a:pt x="189484" y="41910"/>
                  </a:lnTo>
                  <a:lnTo>
                    <a:pt x="142112" y="53594"/>
                  </a:lnTo>
                  <a:lnTo>
                    <a:pt x="100711" y="66294"/>
                  </a:lnTo>
                  <a:lnTo>
                    <a:pt x="37719" y="94741"/>
                  </a:lnTo>
                  <a:lnTo>
                    <a:pt x="4318" y="126237"/>
                  </a:lnTo>
                  <a:lnTo>
                    <a:pt x="0" y="142875"/>
                  </a:lnTo>
                  <a:lnTo>
                    <a:pt x="0" y="1000125"/>
                  </a:lnTo>
                  <a:lnTo>
                    <a:pt x="37719" y="1048257"/>
                  </a:lnTo>
                  <a:lnTo>
                    <a:pt x="100711" y="1076706"/>
                  </a:lnTo>
                  <a:lnTo>
                    <a:pt x="142112" y="1089406"/>
                  </a:lnTo>
                  <a:lnTo>
                    <a:pt x="189484" y="1101090"/>
                  </a:lnTo>
                  <a:lnTo>
                    <a:pt x="242315" y="1111631"/>
                  </a:lnTo>
                  <a:lnTo>
                    <a:pt x="300100" y="1120775"/>
                  </a:lnTo>
                  <a:lnTo>
                    <a:pt x="362458" y="1128522"/>
                  </a:lnTo>
                  <a:lnTo>
                    <a:pt x="428751" y="1134618"/>
                  </a:lnTo>
                  <a:lnTo>
                    <a:pt x="498601" y="1139190"/>
                  </a:lnTo>
                  <a:lnTo>
                    <a:pt x="571500" y="1141984"/>
                  </a:lnTo>
                  <a:lnTo>
                    <a:pt x="646938" y="1143000"/>
                  </a:lnTo>
                  <a:lnTo>
                    <a:pt x="722376" y="1141984"/>
                  </a:lnTo>
                  <a:lnTo>
                    <a:pt x="795274" y="1139190"/>
                  </a:lnTo>
                  <a:lnTo>
                    <a:pt x="865124" y="1134618"/>
                  </a:lnTo>
                  <a:lnTo>
                    <a:pt x="931418" y="1128522"/>
                  </a:lnTo>
                  <a:lnTo>
                    <a:pt x="993775" y="1120775"/>
                  </a:lnTo>
                  <a:lnTo>
                    <a:pt x="1051560" y="1111631"/>
                  </a:lnTo>
                  <a:lnTo>
                    <a:pt x="1104391" y="1101090"/>
                  </a:lnTo>
                  <a:lnTo>
                    <a:pt x="1151763" y="1089406"/>
                  </a:lnTo>
                  <a:lnTo>
                    <a:pt x="1193164" y="1076706"/>
                  </a:lnTo>
                  <a:lnTo>
                    <a:pt x="1256157" y="1048257"/>
                  </a:lnTo>
                  <a:lnTo>
                    <a:pt x="1289558" y="1016762"/>
                  </a:lnTo>
                  <a:lnTo>
                    <a:pt x="1293876" y="1000125"/>
                  </a:lnTo>
                  <a:lnTo>
                    <a:pt x="1293876" y="142875"/>
                  </a:lnTo>
                  <a:lnTo>
                    <a:pt x="1256157" y="94741"/>
                  </a:lnTo>
                  <a:lnTo>
                    <a:pt x="1193164" y="66294"/>
                  </a:lnTo>
                  <a:lnTo>
                    <a:pt x="1151763" y="53594"/>
                  </a:lnTo>
                  <a:lnTo>
                    <a:pt x="1104391" y="41910"/>
                  </a:lnTo>
                  <a:lnTo>
                    <a:pt x="1051560" y="31369"/>
                  </a:lnTo>
                  <a:lnTo>
                    <a:pt x="993775" y="22225"/>
                  </a:lnTo>
                  <a:lnTo>
                    <a:pt x="931418" y="14477"/>
                  </a:lnTo>
                  <a:lnTo>
                    <a:pt x="865124" y="8382"/>
                  </a:lnTo>
                  <a:lnTo>
                    <a:pt x="795274" y="3810"/>
                  </a:lnTo>
                  <a:lnTo>
                    <a:pt x="722376" y="1015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7075" y="2894075"/>
              <a:ext cx="1294130" cy="1143000"/>
            </a:xfrm>
            <a:custGeom>
              <a:avLst/>
              <a:gdLst/>
              <a:ahLst/>
              <a:cxnLst/>
              <a:rect l="l" t="t" r="r" b="b"/>
              <a:pathLst>
                <a:path w="1294129" h="1143000">
                  <a:moveTo>
                    <a:pt x="1293876" y="142875"/>
                  </a:moveTo>
                  <a:lnTo>
                    <a:pt x="1256157" y="191008"/>
                  </a:lnTo>
                  <a:lnTo>
                    <a:pt x="1193164" y="219456"/>
                  </a:lnTo>
                  <a:lnTo>
                    <a:pt x="1151763" y="232156"/>
                  </a:lnTo>
                  <a:lnTo>
                    <a:pt x="1104391" y="243839"/>
                  </a:lnTo>
                  <a:lnTo>
                    <a:pt x="1051560" y="254381"/>
                  </a:lnTo>
                  <a:lnTo>
                    <a:pt x="993775" y="263525"/>
                  </a:lnTo>
                  <a:lnTo>
                    <a:pt x="931418" y="271272"/>
                  </a:lnTo>
                  <a:lnTo>
                    <a:pt x="865124" y="277368"/>
                  </a:lnTo>
                  <a:lnTo>
                    <a:pt x="795274" y="281939"/>
                  </a:lnTo>
                  <a:lnTo>
                    <a:pt x="722376" y="284734"/>
                  </a:lnTo>
                  <a:lnTo>
                    <a:pt x="646938" y="285750"/>
                  </a:lnTo>
                  <a:lnTo>
                    <a:pt x="571500" y="284734"/>
                  </a:lnTo>
                  <a:lnTo>
                    <a:pt x="498601" y="281939"/>
                  </a:lnTo>
                  <a:lnTo>
                    <a:pt x="428751" y="277368"/>
                  </a:lnTo>
                  <a:lnTo>
                    <a:pt x="362458" y="271272"/>
                  </a:lnTo>
                  <a:lnTo>
                    <a:pt x="300100" y="263525"/>
                  </a:lnTo>
                  <a:lnTo>
                    <a:pt x="242315" y="254381"/>
                  </a:lnTo>
                  <a:lnTo>
                    <a:pt x="189484" y="243839"/>
                  </a:lnTo>
                  <a:lnTo>
                    <a:pt x="142112" y="232156"/>
                  </a:lnTo>
                  <a:lnTo>
                    <a:pt x="100711" y="219456"/>
                  </a:lnTo>
                  <a:lnTo>
                    <a:pt x="37719" y="191008"/>
                  </a:lnTo>
                  <a:lnTo>
                    <a:pt x="4318" y="159512"/>
                  </a:lnTo>
                  <a:lnTo>
                    <a:pt x="0" y="142875"/>
                  </a:lnTo>
                  <a:lnTo>
                    <a:pt x="4318" y="126237"/>
                  </a:lnTo>
                  <a:lnTo>
                    <a:pt x="37719" y="94741"/>
                  </a:lnTo>
                  <a:lnTo>
                    <a:pt x="100711" y="66294"/>
                  </a:lnTo>
                  <a:lnTo>
                    <a:pt x="142112" y="53594"/>
                  </a:lnTo>
                  <a:lnTo>
                    <a:pt x="189484" y="41910"/>
                  </a:lnTo>
                  <a:lnTo>
                    <a:pt x="242315" y="31369"/>
                  </a:lnTo>
                  <a:lnTo>
                    <a:pt x="300100" y="22225"/>
                  </a:lnTo>
                  <a:lnTo>
                    <a:pt x="362458" y="14477"/>
                  </a:lnTo>
                  <a:lnTo>
                    <a:pt x="428751" y="8382"/>
                  </a:lnTo>
                  <a:lnTo>
                    <a:pt x="498601" y="3810"/>
                  </a:lnTo>
                  <a:lnTo>
                    <a:pt x="571500" y="1015"/>
                  </a:lnTo>
                  <a:lnTo>
                    <a:pt x="646938" y="0"/>
                  </a:lnTo>
                  <a:lnTo>
                    <a:pt x="722376" y="1015"/>
                  </a:lnTo>
                  <a:lnTo>
                    <a:pt x="795274" y="3810"/>
                  </a:lnTo>
                  <a:lnTo>
                    <a:pt x="865124" y="8382"/>
                  </a:lnTo>
                  <a:lnTo>
                    <a:pt x="931418" y="14477"/>
                  </a:lnTo>
                  <a:lnTo>
                    <a:pt x="993775" y="22225"/>
                  </a:lnTo>
                  <a:lnTo>
                    <a:pt x="1051560" y="31369"/>
                  </a:lnTo>
                  <a:lnTo>
                    <a:pt x="1104391" y="41910"/>
                  </a:lnTo>
                  <a:lnTo>
                    <a:pt x="1151763" y="53594"/>
                  </a:lnTo>
                  <a:lnTo>
                    <a:pt x="1193164" y="66294"/>
                  </a:lnTo>
                  <a:lnTo>
                    <a:pt x="1256157" y="94741"/>
                  </a:lnTo>
                  <a:lnTo>
                    <a:pt x="1289558" y="126237"/>
                  </a:lnTo>
                  <a:lnTo>
                    <a:pt x="1293876" y="142875"/>
                  </a:lnTo>
                  <a:close/>
                </a:path>
                <a:path w="1294129" h="1143000">
                  <a:moveTo>
                    <a:pt x="1293876" y="142875"/>
                  </a:moveTo>
                  <a:lnTo>
                    <a:pt x="1293876" y="1000125"/>
                  </a:lnTo>
                  <a:lnTo>
                    <a:pt x="1289558" y="1016762"/>
                  </a:lnTo>
                  <a:lnTo>
                    <a:pt x="1256157" y="1048257"/>
                  </a:lnTo>
                  <a:lnTo>
                    <a:pt x="1193164" y="1076706"/>
                  </a:lnTo>
                  <a:lnTo>
                    <a:pt x="1151763" y="1089406"/>
                  </a:lnTo>
                  <a:lnTo>
                    <a:pt x="1104391" y="1101090"/>
                  </a:lnTo>
                  <a:lnTo>
                    <a:pt x="1051560" y="1111631"/>
                  </a:lnTo>
                  <a:lnTo>
                    <a:pt x="993775" y="1120775"/>
                  </a:lnTo>
                  <a:lnTo>
                    <a:pt x="931418" y="1128522"/>
                  </a:lnTo>
                  <a:lnTo>
                    <a:pt x="865124" y="1134618"/>
                  </a:lnTo>
                  <a:lnTo>
                    <a:pt x="795274" y="1139190"/>
                  </a:lnTo>
                  <a:lnTo>
                    <a:pt x="722376" y="1141984"/>
                  </a:lnTo>
                  <a:lnTo>
                    <a:pt x="646938" y="1143000"/>
                  </a:lnTo>
                  <a:lnTo>
                    <a:pt x="571500" y="1141984"/>
                  </a:lnTo>
                  <a:lnTo>
                    <a:pt x="498601" y="1139190"/>
                  </a:lnTo>
                  <a:lnTo>
                    <a:pt x="428751" y="1134618"/>
                  </a:lnTo>
                  <a:lnTo>
                    <a:pt x="362458" y="1128522"/>
                  </a:lnTo>
                  <a:lnTo>
                    <a:pt x="300100" y="1120775"/>
                  </a:lnTo>
                  <a:lnTo>
                    <a:pt x="242315" y="1111631"/>
                  </a:lnTo>
                  <a:lnTo>
                    <a:pt x="189484" y="1101090"/>
                  </a:lnTo>
                  <a:lnTo>
                    <a:pt x="142112" y="1089406"/>
                  </a:lnTo>
                  <a:lnTo>
                    <a:pt x="100711" y="1076706"/>
                  </a:lnTo>
                  <a:lnTo>
                    <a:pt x="37719" y="1048257"/>
                  </a:lnTo>
                  <a:lnTo>
                    <a:pt x="4318" y="1016762"/>
                  </a:lnTo>
                  <a:lnTo>
                    <a:pt x="0" y="1000125"/>
                  </a:lnTo>
                  <a:lnTo>
                    <a:pt x="0" y="142875"/>
                  </a:lnTo>
                </a:path>
              </a:pathLst>
            </a:custGeom>
            <a:ln w="36576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66848" y="222326"/>
            <a:ext cx="2412365" cy="1003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pc="-10" dirty="0">
                <a:latin typeface="Arial"/>
                <a:cs typeface="Arial"/>
              </a:rPr>
              <a:t>General Architecture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41470" y="3234944"/>
            <a:ext cx="10598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829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00FF"/>
                </a:solidFill>
                <a:latin typeface="Arial MT"/>
                <a:cs typeface="Arial MT"/>
              </a:rPr>
              <a:t>Data Warehous </a:t>
            </a:r>
            <a:r>
              <a:rPr sz="1800" spc="-50" dirty="0">
                <a:solidFill>
                  <a:srgbClr val="FF00FF"/>
                </a:solidFill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6989" y="1746313"/>
            <a:ext cx="8312784" cy="2291080"/>
            <a:chOff x="296989" y="1746313"/>
            <a:chExt cx="8312784" cy="2291080"/>
          </a:xfrm>
        </p:grpSpPr>
        <p:sp>
          <p:nvSpPr>
            <p:cNvPr id="14" name="object 14"/>
            <p:cNvSpPr/>
            <p:nvPr/>
          </p:nvSpPr>
          <p:spPr>
            <a:xfrm>
              <a:off x="301752" y="2894076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228599" y="0"/>
                  </a:moveTo>
                  <a:lnTo>
                    <a:pt x="167817" y="3048"/>
                  </a:lnTo>
                  <a:lnTo>
                    <a:pt x="113220" y="11684"/>
                  </a:lnTo>
                  <a:lnTo>
                    <a:pt x="66954" y="25146"/>
                  </a:lnTo>
                  <a:lnTo>
                    <a:pt x="31203" y="42418"/>
                  </a:lnTo>
                  <a:lnTo>
                    <a:pt x="0" y="85725"/>
                  </a:lnTo>
                  <a:lnTo>
                    <a:pt x="0" y="600075"/>
                  </a:lnTo>
                  <a:lnTo>
                    <a:pt x="31203" y="643382"/>
                  </a:lnTo>
                  <a:lnTo>
                    <a:pt x="66954" y="660653"/>
                  </a:lnTo>
                  <a:lnTo>
                    <a:pt x="113220" y="674115"/>
                  </a:lnTo>
                  <a:lnTo>
                    <a:pt x="167817" y="682751"/>
                  </a:lnTo>
                  <a:lnTo>
                    <a:pt x="228599" y="685800"/>
                  </a:lnTo>
                  <a:lnTo>
                    <a:pt x="289369" y="682751"/>
                  </a:lnTo>
                  <a:lnTo>
                    <a:pt x="343966" y="674115"/>
                  </a:lnTo>
                  <a:lnTo>
                    <a:pt x="390232" y="660653"/>
                  </a:lnTo>
                  <a:lnTo>
                    <a:pt x="425983" y="643382"/>
                  </a:lnTo>
                  <a:lnTo>
                    <a:pt x="457200" y="600075"/>
                  </a:lnTo>
                  <a:lnTo>
                    <a:pt x="457200" y="85725"/>
                  </a:lnTo>
                  <a:lnTo>
                    <a:pt x="425983" y="42418"/>
                  </a:lnTo>
                  <a:lnTo>
                    <a:pt x="390232" y="25146"/>
                  </a:lnTo>
                  <a:lnTo>
                    <a:pt x="343966" y="11684"/>
                  </a:lnTo>
                  <a:lnTo>
                    <a:pt x="289369" y="3048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1752" y="2894076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457200" y="85725"/>
                  </a:moveTo>
                  <a:lnTo>
                    <a:pt x="425983" y="129032"/>
                  </a:lnTo>
                  <a:lnTo>
                    <a:pt x="390245" y="146303"/>
                  </a:lnTo>
                  <a:lnTo>
                    <a:pt x="343979" y="159765"/>
                  </a:lnTo>
                  <a:lnTo>
                    <a:pt x="289369" y="168401"/>
                  </a:lnTo>
                  <a:lnTo>
                    <a:pt x="228599" y="171450"/>
                  </a:lnTo>
                  <a:lnTo>
                    <a:pt x="167830" y="168401"/>
                  </a:lnTo>
                  <a:lnTo>
                    <a:pt x="113220" y="159765"/>
                  </a:lnTo>
                  <a:lnTo>
                    <a:pt x="66954" y="146303"/>
                  </a:lnTo>
                  <a:lnTo>
                    <a:pt x="31203" y="129032"/>
                  </a:lnTo>
                  <a:lnTo>
                    <a:pt x="0" y="85725"/>
                  </a:lnTo>
                  <a:lnTo>
                    <a:pt x="8166" y="62864"/>
                  </a:lnTo>
                  <a:lnTo>
                    <a:pt x="66954" y="25146"/>
                  </a:lnTo>
                  <a:lnTo>
                    <a:pt x="113220" y="11684"/>
                  </a:lnTo>
                  <a:lnTo>
                    <a:pt x="167830" y="3048"/>
                  </a:lnTo>
                  <a:lnTo>
                    <a:pt x="228599" y="0"/>
                  </a:lnTo>
                  <a:lnTo>
                    <a:pt x="289369" y="3048"/>
                  </a:lnTo>
                  <a:lnTo>
                    <a:pt x="343979" y="11684"/>
                  </a:lnTo>
                  <a:lnTo>
                    <a:pt x="390245" y="25146"/>
                  </a:lnTo>
                  <a:lnTo>
                    <a:pt x="425983" y="42418"/>
                  </a:lnTo>
                  <a:lnTo>
                    <a:pt x="457200" y="85725"/>
                  </a:lnTo>
                  <a:close/>
                </a:path>
                <a:path w="457200" h="685800">
                  <a:moveTo>
                    <a:pt x="457200" y="85725"/>
                  </a:moveTo>
                  <a:lnTo>
                    <a:pt x="457200" y="600075"/>
                  </a:lnTo>
                  <a:lnTo>
                    <a:pt x="449033" y="622935"/>
                  </a:lnTo>
                  <a:lnTo>
                    <a:pt x="390245" y="660653"/>
                  </a:lnTo>
                  <a:lnTo>
                    <a:pt x="343979" y="674115"/>
                  </a:lnTo>
                  <a:lnTo>
                    <a:pt x="289369" y="682751"/>
                  </a:lnTo>
                  <a:lnTo>
                    <a:pt x="228599" y="685800"/>
                  </a:lnTo>
                  <a:lnTo>
                    <a:pt x="167830" y="682751"/>
                  </a:lnTo>
                  <a:lnTo>
                    <a:pt x="113220" y="674115"/>
                  </a:lnTo>
                  <a:lnTo>
                    <a:pt x="66954" y="660653"/>
                  </a:lnTo>
                  <a:lnTo>
                    <a:pt x="31203" y="643382"/>
                  </a:lnTo>
                  <a:lnTo>
                    <a:pt x="0" y="600075"/>
                  </a:lnTo>
                  <a:lnTo>
                    <a:pt x="0" y="8572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2628" y="3122676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228600" y="0"/>
                  </a:moveTo>
                  <a:lnTo>
                    <a:pt x="167817" y="3048"/>
                  </a:lnTo>
                  <a:lnTo>
                    <a:pt x="113220" y="11684"/>
                  </a:lnTo>
                  <a:lnTo>
                    <a:pt x="66954" y="25146"/>
                  </a:lnTo>
                  <a:lnTo>
                    <a:pt x="31203" y="42418"/>
                  </a:lnTo>
                  <a:lnTo>
                    <a:pt x="0" y="85725"/>
                  </a:lnTo>
                  <a:lnTo>
                    <a:pt x="0" y="600075"/>
                  </a:lnTo>
                  <a:lnTo>
                    <a:pt x="31203" y="643382"/>
                  </a:lnTo>
                  <a:lnTo>
                    <a:pt x="66954" y="660654"/>
                  </a:lnTo>
                  <a:lnTo>
                    <a:pt x="113220" y="674116"/>
                  </a:lnTo>
                  <a:lnTo>
                    <a:pt x="167817" y="682751"/>
                  </a:lnTo>
                  <a:lnTo>
                    <a:pt x="228600" y="685800"/>
                  </a:lnTo>
                  <a:lnTo>
                    <a:pt x="289369" y="682751"/>
                  </a:lnTo>
                  <a:lnTo>
                    <a:pt x="343966" y="674116"/>
                  </a:lnTo>
                  <a:lnTo>
                    <a:pt x="390232" y="660654"/>
                  </a:lnTo>
                  <a:lnTo>
                    <a:pt x="425983" y="643382"/>
                  </a:lnTo>
                  <a:lnTo>
                    <a:pt x="457200" y="600075"/>
                  </a:lnTo>
                  <a:lnTo>
                    <a:pt x="457200" y="85725"/>
                  </a:lnTo>
                  <a:lnTo>
                    <a:pt x="425983" y="42418"/>
                  </a:lnTo>
                  <a:lnTo>
                    <a:pt x="390232" y="25146"/>
                  </a:lnTo>
                  <a:lnTo>
                    <a:pt x="343966" y="11684"/>
                  </a:lnTo>
                  <a:lnTo>
                    <a:pt x="289369" y="30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2628" y="3122676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457200" y="85725"/>
                  </a:moveTo>
                  <a:lnTo>
                    <a:pt x="425983" y="129032"/>
                  </a:lnTo>
                  <a:lnTo>
                    <a:pt x="390245" y="146303"/>
                  </a:lnTo>
                  <a:lnTo>
                    <a:pt x="343979" y="159765"/>
                  </a:lnTo>
                  <a:lnTo>
                    <a:pt x="289369" y="168401"/>
                  </a:lnTo>
                  <a:lnTo>
                    <a:pt x="228600" y="171450"/>
                  </a:lnTo>
                  <a:lnTo>
                    <a:pt x="167830" y="168401"/>
                  </a:lnTo>
                  <a:lnTo>
                    <a:pt x="113220" y="159765"/>
                  </a:lnTo>
                  <a:lnTo>
                    <a:pt x="66954" y="146303"/>
                  </a:lnTo>
                  <a:lnTo>
                    <a:pt x="31203" y="129032"/>
                  </a:lnTo>
                  <a:lnTo>
                    <a:pt x="0" y="85725"/>
                  </a:lnTo>
                  <a:lnTo>
                    <a:pt x="8166" y="62864"/>
                  </a:lnTo>
                  <a:lnTo>
                    <a:pt x="66954" y="25146"/>
                  </a:lnTo>
                  <a:lnTo>
                    <a:pt x="113220" y="11684"/>
                  </a:lnTo>
                  <a:lnTo>
                    <a:pt x="167830" y="3048"/>
                  </a:lnTo>
                  <a:lnTo>
                    <a:pt x="228600" y="0"/>
                  </a:lnTo>
                  <a:lnTo>
                    <a:pt x="289369" y="3048"/>
                  </a:lnTo>
                  <a:lnTo>
                    <a:pt x="343979" y="11684"/>
                  </a:lnTo>
                  <a:lnTo>
                    <a:pt x="390245" y="25146"/>
                  </a:lnTo>
                  <a:lnTo>
                    <a:pt x="425983" y="42418"/>
                  </a:lnTo>
                  <a:lnTo>
                    <a:pt x="457200" y="85725"/>
                  </a:lnTo>
                  <a:close/>
                </a:path>
                <a:path w="457200" h="685800">
                  <a:moveTo>
                    <a:pt x="457200" y="85725"/>
                  </a:moveTo>
                  <a:lnTo>
                    <a:pt x="457200" y="600075"/>
                  </a:lnTo>
                  <a:lnTo>
                    <a:pt x="449033" y="622935"/>
                  </a:lnTo>
                  <a:lnTo>
                    <a:pt x="390245" y="660654"/>
                  </a:lnTo>
                  <a:lnTo>
                    <a:pt x="343979" y="674116"/>
                  </a:lnTo>
                  <a:lnTo>
                    <a:pt x="289369" y="682751"/>
                  </a:lnTo>
                  <a:lnTo>
                    <a:pt x="228600" y="685800"/>
                  </a:lnTo>
                  <a:lnTo>
                    <a:pt x="167830" y="682751"/>
                  </a:lnTo>
                  <a:lnTo>
                    <a:pt x="113220" y="674116"/>
                  </a:lnTo>
                  <a:lnTo>
                    <a:pt x="66954" y="660654"/>
                  </a:lnTo>
                  <a:lnTo>
                    <a:pt x="31203" y="643382"/>
                  </a:lnTo>
                  <a:lnTo>
                    <a:pt x="0" y="600075"/>
                  </a:lnTo>
                  <a:lnTo>
                    <a:pt x="0" y="8572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8952" y="3049524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228600" y="0"/>
                  </a:moveTo>
                  <a:lnTo>
                    <a:pt x="167817" y="3048"/>
                  </a:lnTo>
                  <a:lnTo>
                    <a:pt x="113220" y="11684"/>
                  </a:lnTo>
                  <a:lnTo>
                    <a:pt x="66954" y="25146"/>
                  </a:lnTo>
                  <a:lnTo>
                    <a:pt x="31203" y="42417"/>
                  </a:lnTo>
                  <a:lnTo>
                    <a:pt x="0" y="85725"/>
                  </a:lnTo>
                  <a:lnTo>
                    <a:pt x="0" y="600075"/>
                  </a:lnTo>
                  <a:lnTo>
                    <a:pt x="31203" y="643382"/>
                  </a:lnTo>
                  <a:lnTo>
                    <a:pt x="66954" y="660653"/>
                  </a:lnTo>
                  <a:lnTo>
                    <a:pt x="113220" y="674115"/>
                  </a:lnTo>
                  <a:lnTo>
                    <a:pt x="167817" y="682751"/>
                  </a:lnTo>
                  <a:lnTo>
                    <a:pt x="228600" y="685800"/>
                  </a:lnTo>
                  <a:lnTo>
                    <a:pt x="289369" y="682751"/>
                  </a:lnTo>
                  <a:lnTo>
                    <a:pt x="343966" y="674115"/>
                  </a:lnTo>
                  <a:lnTo>
                    <a:pt x="390232" y="660653"/>
                  </a:lnTo>
                  <a:lnTo>
                    <a:pt x="425983" y="643382"/>
                  </a:lnTo>
                  <a:lnTo>
                    <a:pt x="457200" y="600075"/>
                  </a:lnTo>
                  <a:lnTo>
                    <a:pt x="457200" y="85725"/>
                  </a:lnTo>
                  <a:lnTo>
                    <a:pt x="425983" y="42417"/>
                  </a:lnTo>
                  <a:lnTo>
                    <a:pt x="390232" y="25146"/>
                  </a:lnTo>
                  <a:lnTo>
                    <a:pt x="343966" y="11684"/>
                  </a:lnTo>
                  <a:lnTo>
                    <a:pt x="289369" y="30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8952" y="3049524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457200" y="85725"/>
                  </a:moveTo>
                  <a:lnTo>
                    <a:pt x="425983" y="129031"/>
                  </a:lnTo>
                  <a:lnTo>
                    <a:pt x="390245" y="146303"/>
                  </a:lnTo>
                  <a:lnTo>
                    <a:pt x="343979" y="159765"/>
                  </a:lnTo>
                  <a:lnTo>
                    <a:pt x="289369" y="168401"/>
                  </a:lnTo>
                  <a:lnTo>
                    <a:pt x="228600" y="171450"/>
                  </a:lnTo>
                  <a:lnTo>
                    <a:pt x="167830" y="168401"/>
                  </a:lnTo>
                  <a:lnTo>
                    <a:pt x="113220" y="159765"/>
                  </a:lnTo>
                  <a:lnTo>
                    <a:pt x="66954" y="146303"/>
                  </a:lnTo>
                  <a:lnTo>
                    <a:pt x="31203" y="129031"/>
                  </a:lnTo>
                  <a:lnTo>
                    <a:pt x="0" y="85725"/>
                  </a:lnTo>
                  <a:lnTo>
                    <a:pt x="8166" y="62864"/>
                  </a:lnTo>
                  <a:lnTo>
                    <a:pt x="66954" y="25146"/>
                  </a:lnTo>
                  <a:lnTo>
                    <a:pt x="113220" y="11684"/>
                  </a:lnTo>
                  <a:lnTo>
                    <a:pt x="167830" y="3048"/>
                  </a:lnTo>
                  <a:lnTo>
                    <a:pt x="228600" y="0"/>
                  </a:lnTo>
                  <a:lnTo>
                    <a:pt x="289369" y="3048"/>
                  </a:lnTo>
                  <a:lnTo>
                    <a:pt x="343979" y="11684"/>
                  </a:lnTo>
                  <a:lnTo>
                    <a:pt x="390245" y="25146"/>
                  </a:lnTo>
                  <a:lnTo>
                    <a:pt x="425983" y="42417"/>
                  </a:lnTo>
                  <a:lnTo>
                    <a:pt x="457200" y="85725"/>
                  </a:lnTo>
                  <a:close/>
                </a:path>
                <a:path w="457200" h="685800">
                  <a:moveTo>
                    <a:pt x="457200" y="85725"/>
                  </a:moveTo>
                  <a:lnTo>
                    <a:pt x="457200" y="600075"/>
                  </a:lnTo>
                  <a:lnTo>
                    <a:pt x="449033" y="622934"/>
                  </a:lnTo>
                  <a:lnTo>
                    <a:pt x="390245" y="660653"/>
                  </a:lnTo>
                  <a:lnTo>
                    <a:pt x="343979" y="674115"/>
                  </a:lnTo>
                  <a:lnTo>
                    <a:pt x="289369" y="682751"/>
                  </a:lnTo>
                  <a:lnTo>
                    <a:pt x="228600" y="685800"/>
                  </a:lnTo>
                  <a:lnTo>
                    <a:pt x="167830" y="682751"/>
                  </a:lnTo>
                  <a:lnTo>
                    <a:pt x="113220" y="674115"/>
                  </a:lnTo>
                  <a:lnTo>
                    <a:pt x="66954" y="660653"/>
                  </a:lnTo>
                  <a:lnTo>
                    <a:pt x="31203" y="643382"/>
                  </a:lnTo>
                  <a:lnTo>
                    <a:pt x="0" y="600075"/>
                  </a:lnTo>
                  <a:lnTo>
                    <a:pt x="0" y="8572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74152" y="2135124"/>
              <a:ext cx="530860" cy="457200"/>
            </a:xfrm>
            <a:custGeom>
              <a:avLst/>
              <a:gdLst/>
              <a:ahLst/>
              <a:cxnLst/>
              <a:rect l="l" t="t" r="r" b="b"/>
              <a:pathLst>
                <a:path w="530859" h="457200">
                  <a:moveTo>
                    <a:pt x="530351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30351" y="457200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74152" y="2135124"/>
              <a:ext cx="530860" cy="457200"/>
            </a:xfrm>
            <a:custGeom>
              <a:avLst/>
              <a:gdLst/>
              <a:ahLst/>
              <a:cxnLst/>
              <a:rect l="l" t="t" r="r" b="b"/>
              <a:pathLst>
                <a:path w="530859" h="457200">
                  <a:moveTo>
                    <a:pt x="0" y="457200"/>
                  </a:moveTo>
                  <a:lnTo>
                    <a:pt x="530351" y="457200"/>
                  </a:lnTo>
                  <a:lnTo>
                    <a:pt x="530351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  <a:path w="530859" h="457200">
                  <a:moveTo>
                    <a:pt x="75819" y="0"/>
                  </a:moveTo>
                  <a:lnTo>
                    <a:pt x="75819" y="457200"/>
                  </a:lnTo>
                </a:path>
                <a:path w="530859" h="457200">
                  <a:moveTo>
                    <a:pt x="454532" y="0"/>
                  </a:moveTo>
                  <a:lnTo>
                    <a:pt x="454532" y="457200"/>
                  </a:lnTo>
                </a:path>
                <a:path w="530859" h="457200">
                  <a:moveTo>
                    <a:pt x="151511" y="0"/>
                  </a:moveTo>
                  <a:lnTo>
                    <a:pt x="151511" y="457200"/>
                  </a:lnTo>
                </a:path>
                <a:path w="530859" h="457200">
                  <a:moveTo>
                    <a:pt x="378841" y="0"/>
                  </a:moveTo>
                  <a:lnTo>
                    <a:pt x="378841" y="457200"/>
                  </a:lnTo>
                </a:path>
                <a:path w="530859" h="457200">
                  <a:moveTo>
                    <a:pt x="227329" y="0"/>
                  </a:moveTo>
                  <a:lnTo>
                    <a:pt x="227329" y="457200"/>
                  </a:lnTo>
                </a:path>
                <a:path w="530859" h="457200">
                  <a:moveTo>
                    <a:pt x="303022" y="0"/>
                  </a:moveTo>
                  <a:lnTo>
                    <a:pt x="303022" y="457200"/>
                  </a:lnTo>
                </a:path>
                <a:path w="530859" h="457200">
                  <a:moveTo>
                    <a:pt x="0" y="76200"/>
                  </a:moveTo>
                  <a:lnTo>
                    <a:pt x="530351" y="76200"/>
                  </a:lnTo>
                </a:path>
                <a:path w="530859" h="457200">
                  <a:moveTo>
                    <a:pt x="0" y="152400"/>
                  </a:moveTo>
                  <a:lnTo>
                    <a:pt x="530351" y="152400"/>
                  </a:lnTo>
                </a:path>
                <a:path w="530859" h="457200">
                  <a:moveTo>
                    <a:pt x="0" y="381000"/>
                  </a:moveTo>
                  <a:lnTo>
                    <a:pt x="530351" y="381000"/>
                  </a:lnTo>
                </a:path>
                <a:path w="530859" h="457200">
                  <a:moveTo>
                    <a:pt x="0" y="228600"/>
                  </a:moveTo>
                  <a:lnTo>
                    <a:pt x="530351" y="228600"/>
                  </a:lnTo>
                </a:path>
                <a:path w="530859" h="457200">
                  <a:moveTo>
                    <a:pt x="0" y="304800"/>
                  </a:moveTo>
                  <a:lnTo>
                    <a:pt x="530351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61104" y="1979676"/>
              <a:ext cx="535305" cy="535305"/>
            </a:xfrm>
            <a:custGeom>
              <a:avLst/>
              <a:gdLst/>
              <a:ahLst/>
              <a:cxnLst/>
              <a:rect l="l" t="t" r="r" b="b"/>
              <a:pathLst>
                <a:path w="535304" h="535305">
                  <a:moveTo>
                    <a:pt x="534924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534924" y="534924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61104" y="1751076"/>
              <a:ext cx="841375" cy="763905"/>
            </a:xfrm>
            <a:custGeom>
              <a:avLst/>
              <a:gdLst/>
              <a:ahLst/>
              <a:cxnLst/>
              <a:rect l="l" t="t" r="r" b="b"/>
              <a:pathLst>
                <a:path w="841375" h="763905">
                  <a:moveTo>
                    <a:pt x="0" y="763524"/>
                  </a:moveTo>
                  <a:lnTo>
                    <a:pt x="534924" y="763524"/>
                  </a:lnTo>
                  <a:lnTo>
                    <a:pt x="534924" y="228600"/>
                  </a:lnTo>
                  <a:lnTo>
                    <a:pt x="0" y="228600"/>
                  </a:lnTo>
                  <a:lnTo>
                    <a:pt x="0" y="763524"/>
                  </a:lnTo>
                  <a:close/>
                </a:path>
                <a:path w="841375" h="763905">
                  <a:moveTo>
                    <a:pt x="76454" y="229108"/>
                  </a:moveTo>
                  <a:lnTo>
                    <a:pt x="76454" y="763524"/>
                  </a:lnTo>
                </a:path>
                <a:path w="841375" h="763905">
                  <a:moveTo>
                    <a:pt x="458850" y="229108"/>
                  </a:moveTo>
                  <a:lnTo>
                    <a:pt x="458850" y="763524"/>
                  </a:lnTo>
                </a:path>
                <a:path w="841375" h="763905">
                  <a:moveTo>
                    <a:pt x="152908" y="229108"/>
                  </a:moveTo>
                  <a:lnTo>
                    <a:pt x="152908" y="763524"/>
                  </a:lnTo>
                </a:path>
                <a:path w="841375" h="763905">
                  <a:moveTo>
                    <a:pt x="382397" y="229108"/>
                  </a:moveTo>
                  <a:lnTo>
                    <a:pt x="382397" y="763524"/>
                  </a:lnTo>
                </a:path>
                <a:path w="841375" h="763905">
                  <a:moveTo>
                    <a:pt x="229488" y="229108"/>
                  </a:moveTo>
                  <a:lnTo>
                    <a:pt x="229488" y="763524"/>
                  </a:lnTo>
                </a:path>
                <a:path w="841375" h="763905">
                  <a:moveTo>
                    <a:pt x="305943" y="229108"/>
                  </a:moveTo>
                  <a:lnTo>
                    <a:pt x="305943" y="763524"/>
                  </a:lnTo>
                </a:path>
                <a:path w="841375" h="763905">
                  <a:moveTo>
                    <a:pt x="0" y="305435"/>
                  </a:moveTo>
                  <a:lnTo>
                    <a:pt x="535305" y="305435"/>
                  </a:lnTo>
                </a:path>
                <a:path w="841375" h="763905">
                  <a:moveTo>
                    <a:pt x="0" y="687197"/>
                  </a:moveTo>
                  <a:lnTo>
                    <a:pt x="535305" y="687197"/>
                  </a:lnTo>
                </a:path>
                <a:path w="841375" h="763905">
                  <a:moveTo>
                    <a:pt x="0" y="381762"/>
                  </a:moveTo>
                  <a:lnTo>
                    <a:pt x="535305" y="381762"/>
                  </a:lnTo>
                </a:path>
                <a:path w="841375" h="763905">
                  <a:moveTo>
                    <a:pt x="0" y="610870"/>
                  </a:moveTo>
                  <a:lnTo>
                    <a:pt x="535305" y="610870"/>
                  </a:lnTo>
                </a:path>
                <a:path w="841375" h="763905">
                  <a:moveTo>
                    <a:pt x="0" y="458088"/>
                  </a:moveTo>
                  <a:lnTo>
                    <a:pt x="535305" y="458088"/>
                  </a:lnTo>
                </a:path>
                <a:path w="841375" h="763905">
                  <a:moveTo>
                    <a:pt x="0" y="534415"/>
                  </a:moveTo>
                  <a:lnTo>
                    <a:pt x="535305" y="534415"/>
                  </a:lnTo>
                </a:path>
                <a:path w="841375" h="763905">
                  <a:moveTo>
                    <a:pt x="0" y="229108"/>
                  </a:moveTo>
                  <a:lnTo>
                    <a:pt x="305943" y="0"/>
                  </a:lnTo>
                </a:path>
                <a:path w="841375" h="763905">
                  <a:moveTo>
                    <a:pt x="535305" y="229108"/>
                  </a:moveTo>
                  <a:lnTo>
                    <a:pt x="841248" y="0"/>
                  </a:lnTo>
                </a:path>
                <a:path w="841375" h="763905">
                  <a:moveTo>
                    <a:pt x="535305" y="763524"/>
                  </a:moveTo>
                  <a:lnTo>
                    <a:pt x="841248" y="534415"/>
                  </a:lnTo>
                </a:path>
                <a:path w="841375" h="763905">
                  <a:moveTo>
                    <a:pt x="841248" y="0"/>
                  </a:moveTo>
                  <a:lnTo>
                    <a:pt x="841248" y="534415"/>
                  </a:lnTo>
                </a:path>
                <a:path w="841375" h="763905">
                  <a:moveTo>
                    <a:pt x="535305" y="305435"/>
                  </a:moveTo>
                  <a:lnTo>
                    <a:pt x="841248" y="76326"/>
                  </a:lnTo>
                </a:path>
                <a:path w="841375" h="763905">
                  <a:moveTo>
                    <a:pt x="535305" y="381762"/>
                  </a:moveTo>
                  <a:lnTo>
                    <a:pt x="841248" y="152653"/>
                  </a:lnTo>
                </a:path>
                <a:path w="841375" h="763905">
                  <a:moveTo>
                    <a:pt x="535305" y="458088"/>
                  </a:moveTo>
                  <a:lnTo>
                    <a:pt x="841248" y="229108"/>
                  </a:lnTo>
                </a:path>
                <a:path w="841375" h="763905">
                  <a:moveTo>
                    <a:pt x="535305" y="534415"/>
                  </a:moveTo>
                  <a:lnTo>
                    <a:pt x="841248" y="305435"/>
                  </a:lnTo>
                </a:path>
                <a:path w="841375" h="763905">
                  <a:moveTo>
                    <a:pt x="535305" y="610870"/>
                  </a:moveTo>
                  <a:lnTo>
                    <a:pt x="841248" y="381762"/>
                  </a:lnTo>
                </a:path>
                <a:path w="841375" h="763905">
                  <a:moveTo>
                    <a:pt x="535305" y="687197"/>
                  </a:moveTo>
                  <a:lnTo>
                    <a:pt x="841248" y="458088"/>
                  </a:lnTo>
                </a:path>
                <a:path w="841375" h="763905">
                  <a:moveTo>
                    <a:pt x="76454" y="229108"/>
                  </a:moveTo>
                  <a:lnTo>
                    <a:pt x="382397" y="0"/>
                  </a:lnTo>
                </a:path>
                <a:path w="841375" h="763905">
                  <a:moveTo>
                    <a:pt x="152908" y="229108"/>
                  </a:moveTo>
                  <a:lnTo>
                    <a:pt x="458850" y="0"/>
                  </a:lnTo>
                </a:path>
                <a:path w="841375" h="763905">
                  <a:moveTo>
                    <a:pt x="229488" y="229108"/>
                  </a:moveTo>
                  <a:lnTo>
                    <a:pt x="535305" y="0"/>
                  </a:lnTo>
                </a:path>
                <a:path w="841375" h="763905">
                  <a:moveTo>
                    <a:pt x="305943" y="229108"/>
                  </a:moveTo>
                  <a:lnTo>
                    <a:pt x="611759" y="0"/>
                  </a:lnTo>
                </a:path>
                <a:path w="841375" h="763905">
                  <a:moveTo>
                    <a:pt x="382397" y="229108"/>
                  </a:moveTo>
                  <a:lnTo>
                    <a:pt x="688340" y="0"/>
                  </a:lnTo>
                </a:path>
                <a:path w="841375" h="763905">
                  <a:moveTo>
                    <a:pt x="458850" y="229108"/>
                  </a:moveTo>
                  <a:lnTo>
                    <a:pt x="764794" y="0"/>
                  </a:lnTo>
                </a:path>
                <a:path w="841375" h="763905">
                  <a:moveTo>
                    <a:pt x="76454" y="177164"/>
                  </a:moveTo>
                  <a:lnTo>
                    <a:pt x="611759" y="177164"/>
                  </a:lnTo>
                </a:path>
                <a:path w="841375" h="763905">
                  <a:moveTo>
                    <a:pt x="229488" y="67183"/>
                  </a:moveTo>
                  <a:lnTo>
                    <a:pt x="764794" y="67183"/>
                  </a:lnTo>
                </a:path>
                <a:path w="841375" h="763905">
                  <a:moveTo>
                    <a:pt x="607187" y="172593"/>
                  </a:moveTo>
                  <a:lnTo>
                    <a:pt x="611759" y="707009"/>
                  </a:lnTo>
                </a:path>
                <a:path w="841375" h="763905">
                  <a:moveTo>
                    <a:pt x="764794" y="71754"/>
                  </a:moveTo>
                  <a:lnTo>
                    <a:pt x="764794" y="601599"/>
                  </a:lnTo>
                </a:path>
                <a:path w="841375" h="763905">
                  <a:moveTo>
                    <a:pt x="688340" y="119125"/>
                  </a:moveTo>
                  <a:lnTo>
                    <a:pt x="688340" y="658113"/>
                  </a:lnTo>
                </a:path>
                <a:path w="841375" h="763905">
                  <a:moveTo>
                    <a:pt x="152908" y="114553"/>
                  </a:moveTo>
                  <a:lnTo>
                    <a:pt x="688340" y="11455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9048" y="2825496"/>
              <a:ext cx="996696" cy="5120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4496" y="3058668"/>
              <a:ext cx="685800" cy="5120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6148" y="3291840"/>
              <a:ext cx="1687068" cy="51206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2160" y="3525011"/>
              <a:ext cx="1485899" cy="51206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861303" y="2894076"/>
            <a:ext cx="1431290" cy="105156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7985">
              <a:lnSpc>
                <a:spcPts val="1985"/>
              </a:lnSpc>
            </a:pPr>
            <a:r>
              <a:rPr sz="1800" spc="-10" dirty="0">
                <a:latin typeface="Arial MT"/>
                <a:cs typeface="Arial MT"/>
              </a:rPr>
              <a:t>Query</a:t>
            </a:r>
            <a:endParaRPr sz="1800">
              <a:latin typeface="Arial MT"/>
              <a:cs typeface="Arial MT"/>
            </a:endParaRPr>
          </a:p>
          <a:p>
            <a:pPr marL="41275" marR="14604" indent="498475">
              <a:lnSpc>
                <a:spcPct val="85200"/>
              </a:lnSpc>
              <a:spcBef>
                <a:spcPts val="155"/>
              </a:spcBef>
            </a:pP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1800" spc="-2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Analysis </a:t>
            </a:r>
            <a:r>
              <a:rPr sz="1800" spc="-10" dirty="0">
                <a:latin typeface="Arial MT"/>
                <a:cs typeface="Arial MT"/>
              </a:rPr>
              <a:t>Component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4189" y="1974913"/>
            <a:ext cx="5111750" cy="3209925"/>
            <a:chOff x="754189" y="1974913"/>
            <a:chExt cx="5111750" cy="3209925"/>
          </a:xfrm>
        </p:grpSpPr>
        <p:sp>
          <p:nvSpPr>
            <p:cNvPr id="30" name="object 30"/>
            <p:cNvSpPr/>
            <p:nvPr/>
          </p:nvSpPr>
          <p:spPr>
            <a:xfrm>
              <a:off x="758951" y="1979676"/>
              <a:ext cx="379730" cy="535305"/>
            </a:xfrm>
            <a:custGeom>
              <a:avLst/>
              <a:gdLst/>
              <a:ahLst/>
              <a:cxnLst/>
              <a:rect l="l" t="t" r="r" b="b"/>
              <a:pathLst>
                <a:path w="379730" h="535305">
                  <a:moveTo>
                    <a:pt x="379476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379476" y="534924"/>
                  </a:lnTo>
                  <a:lnTo>
                    <a:pt x="379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8951" y="1979676"/>
              <a:ext cx="379730" cy="535305"/>
            </a:xfrm>
            <a:custGeom>
              <a:avLst/>
              <a:gdLst/>
              <a:ahLst/>
              <a:cxnLst/>
              <a:rect l="l" t="t" r="r" b="b"/>
              <a:pathLst>
                <a:path w="379730" h="535305">
                  <a:moveTo>
                    <a:pt x="0" y="534924"/>
                  </a:moveTo>
                  <a:lnTo>
                    <a:pt x="379476" y="534924"/>
                  </a:lnTo>
                  <a:lnTo>
                    <a:pt x="379476" y="0"/>
                  </a:lnTo>
                  <a:lnTo>
                    <a:pt x="0" y="0"/>
                  </a:lnTo>
                  <a:lnTo>
                    <a:pt x="0" y="5349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9827" y="2135124"/>
              <a:ext cx="379730" cy="530860"/>
            </a:xfrm>
            <a:custGeom>
              <a:avLst/>
              <a:gdLst/>
              <a:ahLst/>
              <a:cxnLst/>
              <a:rect l="l" t="t" r="r" b="b"/>
              <a:pathLst>
                <a:path w="379730" h="530860">
                  <a:moveTo>
                    <a:pt x="379475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379475" y="530351"/>
                  </a:lnTo>
                  <a:lnTo>
                    <a:pt x="379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09827" y="2135124"/>
              <a:ext cx="379730" cy="530860"/>
            </a:xfrm>
            <a:custGeom>
              <a:avLst/>
              <a:gdLst/>
              <a:ahLst/>
              <a:cxnLst/>
              <a:rect l="l" t="t" r="r" b="b"/>
              <a:pathLst>
                <a:path w="379730" h="530860">
                  <a:moveTo>
                    <a:pt x="0" y="530351"/>
                  </a:moveTo>
                  <a:lnTo>
                    <a:pt x="379475" y="530351"/>
                  </a:lnTo>
                  <a:lnTo>
                    <a:pt x="379475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60703" y="2286000"/>
              <a:ext cx="384175" cy="535305"/>
            </a:xfrm>
            <a:custGeom>
              <a:avLst/>
              <a:gdLst/>
              <a:ahLst/>
              <a:cxnLst/>
              <a:rect l="l" t="t" r="r" b="b"/>
              <a:pathLst>
                <a:path w="384175" h="535305">
                  <a:moveTo>
                    <a:pt x="384047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384047" y="534924"/>
                  </a:lnTo>
                  <a:lnTo>
                    <a:pt x="384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60703" y="2286000"/>
              <a:ext cx="384175" cy="535305"/>
            </a:xfrm>
            <a:custGeom>
              <a:avLst/>
              <a:gdLst/>
              <a:ahLst/>
              <a:cxnLst/>
              <a:rect l="l" t="t" r="r" b="b"/>
              <a:pathLst>
                <a:path w="384175" h="535305">
                  <a:moveTo>
                    <a:pt x="0" y="534924"/>
                  </a:moveTo>
                  <a:lnTo>
                    <a:pt x="384047" y="534924"/>
                  </a:lnTo>
                  <a:lnTo>
                    <a:pt x="384047" y="0"/>
                  </a:lnTo>
                  <a:lnTo>
                    <a:pt x="0" y="0"/>
                  </a:lnTo>
                  <a:lnTo>
                    <a:pt x="0" y="5349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32103" y="4343400"/>
              <a:ext cx="384175" cy="535305"/>
            </a:xfrm>
            <a:custGeom>
              <a:avLst/>
              <a:gdLst/>
              <a:ahLst/>
              <a:cxnLst/>
              <a:rect l="l" t="t" r="r" b="b"/>
              <a:pathLst>
                <a:path w="384175" h="535304">
                  <a:moveTo>
                    <a:pt x="384047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384047" y="534924"/>
                  </a:lnTo>
                  <a:lnTo>
                    <a:pt x="384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32103" y="4343400"/>
              <a:ext cx="384175" cy="535305"/>
            </a:xfrm>
            <a:custGeom>
              <a:avLst/>
              <a:gdLst/>
              <a:ahLst/>
              <a:cxnLst/>
              <a:rect l="l" t="t" r="r" b="b"/>
              <a:pathLst>
                <a:path w="384175" h="535304">
                  <a:moveTo>
                    <a:pt x="0" y="534924"/>
                  </a:moveTo>
                  <a:lnTo>
                    <a:pt x="384047" y="534924"/>
                  </a:lnTo>
                  <a:lnTo>
                    <a:pt x="384047" y="0"/>
                  </a:lnTo>
                  <a:lnTo>
                    <a:pt x="0" y="0"/>
                  </a:lnTo>
                  <a:lnTo>
                    <a:pt x="0" y="5349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87551" y="4494276"/>
              <a:ext cx="379730" cy="535305"/>
            </a:xfrm>
            <a:custGeom>
              <a:avLst/>
              <a:gdLst/>
              <a:ahLst/>
              <a:cxnLst/>
              <a:rect l="l" t="t" r="r" b="b"/>
              <a:pathLst>
                <a:path w="379730" h="535304">
                  <a:moveTo>
                    <a:pt x="379475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379475" y="534924"/>
                  </a:lnTo>
                  <a:lnTo>
                    <a:pt x="379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87551" y="4494276"/>
              <a:ext cx="379730" cy="535305"/>
            </a:xfrm>
            <a:custGeom>
              <a:avLst/>
              <a:gdLst/>
              <a:ahLst/>
              <a:cxnLst/>
              <a:rect l="l" t="t" r="r" b="b"/>
              <a:pathLst>
                <a:path w="379730" h="535304">
                  <a:moveTo>
                    <a:pt x="0" y="534924"/>
                  </a:moveTo>
                  <a:lnTo>
                    <a:pt x="379475" y="534924"/>
                  </a:lnTo>
                  <a:lnTo>
                    <a:pt x="379475" y="0"/>
                  </a:lnTo>
                  <a:lnTo>
                    <a:pt x="0" y="0"/>
                  </a:lnTo>
                  <a:lnTo>
                    <a:pt x="0" y="5349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38427" y="4649724"/>
              <a:ext cx="379730" cy="530860"/>
            </a:xfrm>
            <a:custGeom>
              <a:avLst/>
              <a:gdLst/>
              <a:ahLst/>
              <a:cxnLst/>
              <a:rect l="l" t="t" r="r" b="b"/>
              <a:pathLst>
                <a:path w="379730" h="530860">
                  <a:moveTo>
                    <a:pt x="379475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379475" y="530351"/>
                  </a:lnTo>
                  <a:lnTo>
                    <a:pt x="379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38427" y="4649724"/>
              <a:ext cx="379730" cy="530860"/>
            </a:xfrm>
            <a:custGeom>
              <a:avLst/>
              <a:gdLst/>
              <a:ahLst/>
              <a:cxnLst/>
              <a:rect l="l" t="t" r="r" b="b"/>
              <a:pathLst>
                <a:path w="379730" h="530860">
                  <a:moveTo>
                    <a:pt x="0" y="530351"/>
                  </a:moveTo>
                  <a:lnTo>
                    <a:pt x="379475" y="530351"/>
                  </a:lnTo>
                  <a:lnTo>
                    <a:pt x="379475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02152" y="3392423"/>
              <a:ext cx="2364105" cy="73660"/>
            </a:xfrm>
            <a:custGeom>
              <a:avLst/>
              <a:gdLst/>
              <a:ahLst/>
              <a:cxnLst/>
              <a:rect l="l" t="t" r="r" b="b"/>
              <a:pathLst>
                <a:path w="2364104" h="73660">
                  <a:moveTo>
                    <a:pt x="533781" y="36576"/>
                  </a:moveTo>
                  <a:lnTo>
                    <a:pt x="457454" y="0"/>
                  </a:lnTo>
                  <a:lnTo>
                    <a:pt x="457454" y="27051"/>
                  </a:lnTo>
                  <a:lnTo>
                    <a:pt x="0" y="27051"/>
                  </a:lnTo>
                  <a:lnTo>
                    <a:pt x="0" y="46101"/>
                  </a:lnTo>
                  <a:lnTo>
                    <a:pt x="457454" y="46101"/>
                  </a:lnTo>
                  <a:lnTo>
                    <a:pt x="457454" y="73152"/>
                  </a:lnTo>
                  <a:lnTo>
                    <a:pt x="533781" y="36576"/>
                  </a:lnTo>
                  <a:close/>
                </a:path>
                <a:path w="2364104" h="73660">
                  <a:moveTo>
                    <a:pt x="2363724" y="36576"/>
                  </a:moveTo>
                  <a:lnTo>
                    <a:pt x="2287524" y="0"/>
                  </a:lnTo>
                  <a:lnTo>
                    <a:pt x="2287524" y="27051"/>
                  </a:lnTo>
                  <a:lnTo>
                    <a:pt x="1829943" y="27051"/>
                  </a:lnTo>
                  <a:lnTo>
                    <a:pt x="1829943" y="46101"/>
                  </a:lnTo>
                  <a:lnTo>
                    <a:pt x="2287524" y="46101"/>
                  </a:lnTo>
                  <a:lnTo>
                    <a:pt x="2287524" y="73152"/>
                  </a:lnTo>
                  <a:lnTo>
                    <a:pt x="2363724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7440" y="2976372"/>
              <a:ext cx="786384" cy="51663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0259" y="3209544"/>
              <a:ext cx="1385315" cy="51663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9968" y="3442716"/>
              <a:ext cx="1485900" cy="51663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56996" y="1343609"/>
            <a:ext cx="79756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External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80"/>
              </a:lnSpc>
            </a:pPr>
            <a:r>
              <a:rPr sz="1800" spc="-10" dirty="0">
                <a:latin typeface="Times New Roman"/>
                <a:cs typeface="Times New Roman"/>
              </a:rPr>
              <a:t>Sources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061972" y="2894076"/>
            <a:ext cx="1430655" cy="1051560"/>
          </a:xfrm>
          <a:prstGeom prst="rect">
            <a:avLst/>
          </a:prstGeom>
          <a:ln w="27431">
            <a:solidFill>
              <a:srgbClr val="000000"/>
            </a:solidFill>
          </a:ln>
        </p:spPr>
        <p:txBody>
          <a:bodyPr vert="horz" wrap="square" lIns="0" tIns="191770" rIns="0" bIns="0" rtlCol="0">
            <a:spAutoFit/>
          </a:bodyPr>
          <a:lstStyle/>
          <a:p>
            <a:pPr marL="112395" marR="129539" indent="-635" algn="ctr">
              <a:lnSpc>
                <a:spcPct val="83400"/>
              </a:lnSpc>
              <a:spcBef>
                <a:spcPts val="1510"/>
              </a:spcBef>
            </a:pP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Integration </a:t>
            </a:r>
            <a:r>
              <a:rPr sz="1800" spc="-10" dirty="0">
                <a:latin typeface="Arial MT"/>
                <a:cs typeface="Arial MT"/>
              </a:rPr>
              <a:t>Component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16152" y="2583179"/>
            <a:ext cx="7589520" cy="2145030"/>
            <a:chOff x="1216152" y="2583179"/>
            <a:chExt cx="7589520" cy="2145030"/>
          </a:xfrm>
        </p:grpSpPr>
        <p:sp>
          <p:nvSpPr>
            <p:cNvPr id="49" name="object 49"/>
            <p:cNvSpPr/>
            <p:nvPr/>
          </p:nvSpPr>
          <p:spPr>
            <a:xfrm>
              <a:off x="1216152" y="2583179"/>
              <a:ext cx="836930" cy="1920239"/>
            </a:xfrm>
            <a:custGeom>
              <a:avLst/>
              <a:gdLst/>
              <a:ahLst/>
              <a:cxnLst/>
              <a:rect l="l" t="t" r="r" b="b"/>
              <a:pathLst>
                <a:path w="836930" h="1920239">
                  <a:moveTo>
                    <a:pt x="836676" y="1302893"/>
                  </a:moveTo>
                  <a:lnTo>
                    <a:pt x="754507" y="1324991"/>
                  </a:lnTo>
                  <a:lnTo>
                    <a:pt x="773303" y="1346073"/>
                  </a:lnTo>
                  <a:lnTo>
                    <a:pt x="145542" y="1905127"/>
                  </a:lnTo>
                  <a:lnTo>
                    <a:pt x="158750" y="1919859"/>
                  </a:lnTo>
                  <a:lnTo>
                    <a:pt x="786384" y="1360932"/>
                  </a:lnTo>
                  <a:lnTo>
                    <a:pt x="805053" y="1382014"/>
                  </a:lnTo>
                  <a:lnTo>
                    <a:pt x="836676" y="1302893"/>
                  </a:lnTo>
                  <a:close/>
                </a:path>
                <a:path w="836930" h="1920239">
                  <a:moveTo>
                    <a:pt x="836676" y="845693"/>
                  </a:moveTo>
                  <a:lnTo>
                    <a:pt x="760603" y="807593"/>
                  </a:lnTo>
                  <a:lnTo>
                    <a:pt x="760603" y="835787"/>
                  </a:lnTo>
                  <a:lnTo>
                    <a:pt x="0" y="835787"/>
                  </a:lnTo>
                  <a:lnTo>
                    <a:pt x="0" y="855599"/>
                  </a:lnTo>
                  <a:lnTo>
                    <a:pt x="760603" y="855599"/>
                  </a:lnTo>
                  <a:lnTo>
                    <a:pt x="760603" y="883793"/>
                  </a:lnTo>
                  <a:lnTo>
                    <a:pt x="836676" y="845693"/>
                  </a:lnTo>
                  <a:close/>
                </a:path>
                <a:path w="836930" h="1920239">
                  <a:moveTo>
                    <a:pt x="836676" y="540893"/>
                  </a:moveTo>
                  <a:lnTo>
                    <a:pt x="804418" y="462026"/>
                  </a:lnTo>
                  <a:lnTo>
                    <a:pt x="786003" y="483235"/>
                  </a:lnTo>
                  <a:lnTo>
                    <a:pt x="234696" y="0"/>
                  </a:lnTo>
                  <a:lnTo>
                    <a:pt x="221742" y="14986"/>
                  </a:lnTo>
                  <a:lnTo>
                    <a:pt x="772922" y="498221"/>
                  </a:lnTo>
                  <a:lnTo>
                    <a:pt x="754380" y="519430"/>
                  </a:lnTo>
                  <a:lnTo>
                    <a:pt x="836676" y="540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74152" y="3278162"/>
              <a:ext cx="726440" cy="1445260"/>
            </a:xfrm>
            <a:custGeom>
              <a:avLst/>
              <a:gdLst/>
              <a:ahLst/>
              <a:cxnLst/>
              <a:rect l="l" t="t" r="r" b="b"/>
              <a:pathLst>
                <a:path w="726440" h="1445260">
                  <a:moveTo>
                    <a:pt x="0" y="380199"/>
                  </a:moveTo>
                  <a:lnTo>
                    <a:pt x="609422" y="380199"/>
                  </a:lnTo>
                  <a:lnTo>
                    <a:pt x="609422" y="0"/>
                  </a:lnTo>
                  <a:lnTo>
                    <a:pt x="0" y="0"/>
                  </a:lnTo>
                  <a:lnTo>
                    <a:pt x="0" y="380199"/>
                  </a:lnTo>
                  <a:close/>
                </a:path>
                <a:path w="726440" h="1445260">
                  <a:moveTo>
                    <a:pt x="66928" y="316318"/>
                  </a:moveTo>
                  <a:lnTo>
                    <a:pt x="135317" y="316318"/>
                  </a:lnTo>
                  <a:lnTo>
                    <a:pt x="135317" y="190093"/>
                  </a:lnTo>
                  <a:lnTo>
                    <a:pt x="66928" y="190093"/>
                  </a:lnTo>
                  <a:lnTo>
                    <a:pt x="66928" y="316318"/>
                  </a:lnTo>
                  <a:close/>
                </a:path>
                <a:path w="726440" h="1445260">
                  <a:moveTo>
                    <a:pt x="203707" y="316318"/>
                  </a:moveTo>
                  <a:lnTo>
                    <a:pt x="270577" y="316318"/>
                  </a:lnTo>
                  <a:lnTo>
                    <a:pt x="270577" y="126225"/>
                  </a:lnTo>
                  <a:lnTo>
                    <a:pt x="203707" y="126225"/>
                  </a:lnTo>
                  <a:lnTo>
                    <a:pt x="203707" y="316318"/>
                  </a:lnTo>
                  <a:close/>
                </a:path>
                <a:path w="726440" h="1445260">
                  <a:moveTo>
                    <a:pt x="338963" y="316318"/>
                  </a:moveTo>
                  <a:lnTo>
                    <a:pt x="405832" y="316318"/>
                  </a:lnTo>
                  <a:lnTo>
                    <a:pt x="405832" y="63868"/>
                  </a:lnTo>
                  <a:lnTo>
                    <a:pt x="338963" y="63868"/>
                  </a:lnTo>
                  <a:lnTo>
                    <a:pt x="338963" y="316318"/>
                  </a:lnTo>
                  <a:close/>
                </a:path>
                <a:path w="726440" h="1445260">
                  <a:moveTo>
                    <a:pt x="474218" y="316318"/>
                  </a:moveTo>
                  <a:lnTo>
                    <a:pt x="541087" y="316318"/>
                  </a:lnTo>
                  <a:lnTo>
                    <a:pt x="541087" y="190093"/>
                  </a:lnTo>
                  <a:lnTo>
                    <a:pt x="474218" y="190093"/>
                  </a:lnTo>
                  <a:lnTo>
                    <a:pt x="474218" y="316318"/>
                  </a:lnTo>
                  <a:close/>
                </a:path>
                <a:path w="726440" h="1445260">
                  <a:moveTo>
                    <a:pt x="42545" y="1444713"/>
                  </a:moveTo>
                  <a:lnTo>
                    <a:pt x="726440" y="1444713"/>
                  </a:lnTo>
                  <a:lnTo>
                    <a:pt x="726440" y="1064514"/>
                  </a:lnTo>
                  <a:lnTo>
                    <a:pt x="42545" y="1064514"/>
                  </a:lnTo>
                  <a:lnTo>
                    <a:pt x="42545" y="1444713"/>
                  </a:lnTo>
                  <a:close/>
                </a:path>
                <a:path w="726440" h="1445260">
                  <a:moveTo>
                    <a:pt x="192024" y="1142961"/>
                  </a:moveTo>
                  <a:lnTo>
                    <a:pt x="576072" y="1142961"/>
                  </a:lnTo>
                </a:path>
                <a:path w="726440" h="1445260">
                  <a:moveTo>
                    <a:pt x="192024" y="1219161"/>
                  </a:moveTo>
                  <a:lnTo>
                    <a:pt x="345694" y="1219161"/>
                  </a:lnTo>
                </a:path>
                <a:path w="726440" h="1445260">
                  <a:moveTo>
                    <a:pt x="422401" y="1219161"/>
                  </a:moveTo>
                  <a:lnTo>
                    <a:pt x="576072" y="1219161"/>
                  </a:lnTo>
                </a:path>
                <a:path w="726440" h="1445260">
                  <a:moveTo>
                    <a:pt x="192024" y="1295361"/>
                  </a:moveTo>
                  <a:lnTo>
                    <a:pt x="345694" y="1295361"/>
                  </a:lnTo>
                </a:path>
                <a:path w="726440" h="1445260">
                  <a:moveTo>
                    <a:pt x="422401" y="1295361"/>
                  </a:moveTo>
                  <a:lnTo>
                    <a:pt x="576072" y="1295361"/>
                  </a:lnTo>
                </a:path>
                <a:path w="726440" h="1445260">
                  <a:moveTo>
                    <a:pt x="192024" y="1371561"/>
                  </a:moveTo>
                  <a:lnTo>
                    <a:pt x="345694" y="1371561"/>
                  </a:lnTo>
                </a:path>
                <a:path w="726440" h="1445260">
                  <a:moveTo>
                    <a:pt x="422401" y="1371561"/>
                  </a:moveTo>
                  <a:lnTo>
                    <a:pt x="576072" y="137156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426711" y="1177239"/>
            <a:ext cx="61849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OLAP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70"/>
              </a:lnSpc>
            </a:pPr>
            <a:r>
              <a:rPr sz="1800" spc="-10" dirty="0">
                <a:latin typeface="Times New Roman"/>
                <a:cs typeface="Times New Roman"/>
              </a:rPr>
              <a:t>S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erver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0270" y="1805685"/>
            <a:ext cx="61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OLAP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86725" y="2725369"/>
            <a:ext cx="739140" cy="5016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ct val="73300"/>
              </a:lnSpc>
              <a:spcBef>
                <a:spcPts val="680"/>
              </a:spcBef>
            </a:pPr>
            <a:r>
              <a:rPr sz="1800" spc="-15" dirty="0">
                <a:latin typeface="Times New Roman"/>
                <a:cs typeface="Times New Roman"/>
              </a:rPr>
              <a:t>queries/ </a:t>
            </a:r>
            <a:r>
              <a:rPr sz="1800" spc="-10" dirty="0">
                <a:latin typeface="Times New Roman"/>
                <a:cs typeface="Times New Roman"/>
              </a:rPr>
              <a:t>reports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27872" y="3848557"/>
            <a:ext cx="64770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 algn="ctr">
              <a:lnSpc>
                <a:spcPts val="1875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875"/>
              </a:lnSpc>
            </a:pPr>
            <a:r>
              <a:rPr sz="1800" spc="-10" dirty="0">
                <a:latin typeface="Times New Roman"/>
                <a:cs typeface="Times New Roman"/>
              </a:rPr>
              <a:t>mining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183379" y="2436876"/>
            <a:ext cx="3813175" cy="2825750"/>
            <a:chOff x="4183379" y="2436876"/>
            <a:chExt cx="3813175" cy="2825750"/>
          </a:xfrm>
        </p:grpSpPr>
        <p:sp>
          <p:nvSpPr>
            <p:cNvPr id="56" name="object 56"/>
            <p:cNvSpPr/>
            <p:nvPr/>
          </p:nvSpPr>
          <p:spPr>
            <a:xfrm>
              <a:off x="4608576" y="2436875"/>
              <a:ext cx="3388360" cy="1984375"/>
            </a:xfrm>
            <a:custGeom>
              <a:avLst/>
              <a:gdLst/>
              <a:ahLst/>
              <a:cxnLst/>
              <a:rect l="l" t="t" r="r" b="b"/>
              <a:pathLst>
                <a:path w="3388359" h="1984375">
                  <a:moveTo>
                    <a:pt x="76073" y="1678940"/>
                  </a:moveTo>
                  <a:lnTo>
                    <a:pt x="38100" y="1602613"/>
                  </a:lnTo>
                  <a:lnTo>
                    <a:pt x="0" y="1678940"/>
                  </a:lnTo>
                  <a:lnTo>
                    <a:pt x="28194" y="1678940"/>
                  </a:lnTo>
                  <a:lnTo>
                    <a:pt x="28194" y="1907921"/>
                  </a:lnTo>
                  <a:lnTo>
                    <a:pt x="0" y="1907921"/>
                  </a:lnTo>
                  <a:lnTo>
                    <a:pt x="38100" y="1984248"/>
                  </a:lnTo>
                  <a:lnTo>
                    <a:pt x="76073" y="1907921"/>
                  </a:lnTo>
                  <a:lnTo>
                    <a:pt x="48006" y="1907921"/>
                  </a:lnTo>
                  <a:lnTo>
                    <a:pt x="48006" y="1678940"/>
                  </a:lnTo>
                  <a:lnTo>
                    <a:pt x="76073" y="1678940"/>
                  </a:lnTo>
                  <a:close/>
                </a:path>
                <a:path w="3388359" h="1984375">
                  <a:moveTo>
                    <a:pt x="76073" y="152654"/>
                  </a:moveTo>
                  <a:lnTo>
                    <a:pt x="38100" y="76327"/>
                  </a:lnTo>
                  <a:lnTo>
                    <a:pt x="0" y="152654"/>
                  </a:lnTo>
                  <a:lnTo>
                    <a:pt x="28194" y="152654"/>
                  </a:lnTo>
                  <a:lnTo>
                    <a:pt x="28194" y="381635"/>
                  </a:lnTo>
                  <a:lnTo>
                    <a:pt x="0" y="381635"/>
                  </a:lnTo>
                  <a:lnTo>
                    <a:pt x="38100" y="457962"/>
                  </a:lnTo>
                  <a:lnTo>
                    <a:pt x="76073" y="381635"/>
                  </a:lnTo>
                  <a:lnTo>
                    <a:pt x="48006" y="381635"/>
                  </a:lnTo>
                  <a:lnTo>
                    <a:pt x="48006" y="152654"/>
                  </a:lnTo>
                  <a:lnTo>
                    <a:pt x="76073" y="152654"/>
                  </a:lnTo>
                  <a:close/>
                </a:path>
                <a:path w="3388359" h="1984375">
                  <a:moveTo>
                    <a:pt x="3387852" y="1984248"/>
                  </a:moveTo>
                  <a:lnTo>
                    <a:pt x="3356229" y="1905000"/>
                  </a:lnTo>
                  <a:lnTo>
                    <a:pt x="3337433" y="1926209"/>
                  </a:lnTo>
                  <a:lnTo>
                    <a:pt x="2709291" y="1366393"/>
                  </a:lnTo>
                  <a:lnTo>
                    <a:pt x="2696083" y="1381125"/>
                  </a:lnTo>
                  <a:lnTo>
                    <a:pt x="3324352" y="1940941"/>
                  </a:lnTo>
                  <a:lnTo>
                    <a:pt x="3305683" y="1962150"/>
                  </a:lnTo>
                  <a:lnTo>
                    <a:pt x="3387852" y="1984248"/>
                  </a:lnTo>
                  <a:close/>
                </a:path>
                <a:path w="3388359" h="1984375">
                  <a:moveTo>
                    <a:pt x="3387852" y="992124"/>
                  </a:moveTo>
                  <a:lnTo>
                    <a:pt x="3311779" y="954024"/>
                  </a:lnTo>
                  <a:lnTo>
                    <a:pt x="3311779" y="982218"/>
                  </a:lnTo>
                  <a:lnTo>
                    <a:pt x="2702687" y="982218"/>
                  </a:lnTo>
                  <a:lnTo>
                    <a:pt x="2702687" y="1002030"/>
                  </a:lnTo>
                  <a:lnTo>
                    <a:pt x="3311779" y="1002030"/>
                  </a:lnTo>
                  <a:lnTo>
                    <a:pt x="3311779" y="1030224"/>
                  </a:lnTo>
                  <a:lnTo>
                    <a:pt x="3387852" y="992124"/>
                  </a:lnTo>
                  <a:close/>
                </a:path>
                <a:path w="3388359" h="1984375">
                  <a:moveTo>
                    <a:pt x="3387852" y="0"/>
                  </a:moveTo>
                  <a:lnTo>
                    <a:pt x="3305683" y="22098"/>
                  </a:lnTo>
                  <a:lnTo>
                    <a:pt x="3324352" y="43307"/>
                  </a:lnTo>
                  <a:lnTo>
                    <a:pt x="2696083" y="603123"/>
                  </a:lnTo>
                  <a:lnTo>
                    <a:pt x="2709291" y="617855"/>
                  </a:lnTo>
                  <a:lnTo>
                    <a:pt x="3337433" y="58039"/>
                  </a:lnTo>
                  <a:lnTo>
                    <a:pt x="3356229" y="79248"/>
                  </a:lnTo>
                  <a:lnTo>
                    <a:pt x="3387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87951" y="4421124"/>
              <a:ext cx="914400" cy="836930"/>
            </a:xfrm>
            <a:custGeom>
              <a:avLst/>
              <a:gdLst/>
              <a:ahLst/>
              <a:cxnLst/>
              <a:rect l="l" t="t" r="r" b="b"/>
              <a:pathLst>
                <a:path w="914400" h="836929">
                  <a:moveTo>
                    <a:pt x="457200" y="0"/>
                  </a:moveTo>
                  <a:lnTo>
                    <a:pt x="383032" y="1396"/>
                  </a:lnTo>
                  <a:lnTo>
                    <a:pt x="312674" y="5333"/>
                  </a:lnTo>
                  <a:lnTo>
                    <a:pt x="247142" y="11683"/>
                  </a:lnTo>
                  <a:lnTo>
                    <a:pt x="187198" y="20193"/>
                  </a:lnTo>
                  <a:lnTo>
                    <a:pt x="133858" y="30606"/>
                  </a:lnTo>
                  <a:lnTo>
                    <a:pt x="88264" y="42799"/>
                  </a:lnTo>
                  <a:lnTo>
                    <a:pt x="51053" y="56514"/>
                  </a:lnTo>
                  <a:lnTo>
                    <a:pt x="5969" y="87630"/>
                  </a:lnTo>
                  <a:lnTo>
                    <a:pt x="0" y="104520"/>
                  </a:lnTo>
                  <a:lnTo>
                    <a:pt x="0" y="732027"/>
                  </a:lnTo>
                  <a:lnTo>
                    <a:pt x="23240" y="765175"/>
                  </a:lnTo>
                  <a:lnTo>
                    <a:pt x="88264" y="793876"/>
                  </a:lnTo>
                  <a:lnTo>
                    <a:pt x="133858" y="806069"/>
                  </a:lnTo>
                  <a:lnTo>
                    <a:pt x="187198" y="816482"/>
                  </a:lnTo>
                  <a:lnTo>
                    <a:pt x="247142" y="824991"/>
                  </a:lnTo>
                  <a:lnTo>
                    <a:pt x="312674" y="831341"/>
                  </a:lnTo>
                  <a:lnTo>
                    <a:pt x="383032" y="835279"/>
                  </a:lnTo>
                  <a:lnTo>
                    <a:pt x="457200" y="836676"/>
                  </a:lnTo>
                  <a:lnTo>
                    <a:pt x="531368" y="835279"/>
                  </a:lnTo>
                  <a:lnTo>
                    <a:pt x="601726" y="831341"/>
                  </a:lnTo>
                  <a:lnTo>
                    <a:pt x="667258" y="824991"/>
                  </a:lnTo>
                  <a:lnTo>
                    <a:pt x="727201" y="816482"/>
                  </a:lnTo>
                  <a:lnTo>
                    <a:pt x="780414" y="806069"/>
                  </a:lnTo>
                  <a:lnTo>
                    <a:pt x="826135" y="793876"/>
                  </a:lnTo>
                  <a:lnTo>
                    <a:pt x="863346" y="780161"/>
                  </a:lnTo>
                  <a:lnTo>
                    <a:pt x="908431" y="749045"/>
                  </a:lnTo>
                  <a:lnTo>
                    <a:pt x="914400" y="732027"/>
                  </a:lnTo>
                  <a:lnTo>
                    <a:pt x="914400" y="188975"/>
                  </a:lnTo>
                  <a:lnTo>
                    <a:pt x="727201" y="188975"/>
                  </a:lnTo>
                  <a:lnTo>
                    <a:pt x="780414" y="178562"/>
                  </a:lnTo>
                  <a:lnTo>
                    <a:pt x="780414" y="30606"/>
                  </a:lnTo>
                  <a:lnTo>
                    <a:pt x="727201" y="20193"/>
                  </a:lnTo>
                  <a:lnTo>
                    <a:pt x="667258" y="11683"/>
                  </a:lnTo>
                  <a:lnTo>
                    <a:pt x="601726" y="5333"/>
                  </a:lnTo>
                  <a:lnTo>
                    <a:pt x="531368" y="1396"/>
                  </a:lnTo>
                  <a:lnTo>
                    <a:pt x="457200" y="0"/>
                  </a:lnTo>
                  <a:close/>
                </a:path>
                <a:path w="914400" h="836929">
                  <a:moveTo>
                    <a:pt x="780414" y="30606"/>
                  </a:moveTo>
                  <a:lnTo>
                    <a:pt x="780414" y="178562"/>
                  </a:lnTo>
                  <a:lnTo>
                    <a:pt x="727201" y="188975"/>
                  </a:lnTo>
                  <a:lnTo>
                    <a:pt x="914400" y="188975"/>
                  </a:lnTo>
                  <a:lnTo>
                    <a:pt x="914400" y="104520"/>
                  </a:lnTo>
                  <a:lnTo>
                    <a:pt x="891032" y="71500"/>
                  </a:lnTo>
                  <a:lnTo>
                    <a:pt x="826135" y="42799"/>
                  </a:lnTo>
                  <a:lnTo>
                    <a:pt x="780414" y="306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87951" y="4421124"/>
              <a:ext cx="914400" cy="836930"/>
            </a:xfrm>
            <a:custGeom>
              <a:avLst/>
              <a:gdLst/>
              <a:ahLst/>
              <a:cxnLst/>
              <a:rect l="l" t="t" r="r" b="b"/>
              <a:pathLst>
                <a:path w="914400" h="836929">
                  <a:moveTo>
                    <a:pt x="914400" y="104520"/>
                  </a:moveTo>
                  <a:lnTo>
                    <a:pt x="891032" y="137668"/>
                  </a:lnTo>
                  <a:lnTo>
                    <a:pt x="826135" y="166369"/>
                  </a:lnTo>
                  <a:lnTo>
                    <a:pt x="780414" y="178562"/>
                  </a:lnTo>
                  <a:lnTo>
                    <a:pt x="727201" y="188975"/>
                  </a:lnTo>
                  <a:lnTo>
                    <a:pt x="667258" y="197484"/>
                  </a:lnTo>
                  <a:lnTo>
                    <a:pt x="601726" y="203834"/>
                  </a:lnTo>
                  <a:lnTo>
                    <a:pt x="531368" y="207771"/>
                  </a:lnTo>
                  <a:lnTo>
                    <a:pt x="457200" y="209169"/>
                  </a:lnTo>
                  <a:lnTo>
                    <a:pt x="383032" y="207771"/>
                  </a:lnTo>
                  <a:lnTo>
                    <a:pt x="312674" y="203834"/>
                  </a:lnTo>
                  <a:lnTo>
                    <a:pt x="247142" y="197484"/>
                  </a:lnTo>
                  <a:lnTo>
                    <a:pt x="187198" y="188975"/>
                  </a:lnTo>
                  <a:lnTo>
                    <a:pt x="133858" y="178562"/>
                  </a:lnTo>
                  <a:lnTo>
                    <a:pt x="88264" y="166369"/>
                  </a:lnTo>
                  <a:lnTo>
                    <a:pt x="51053" y="152653"/>
                  </a:lnTo>
                  <a:lnTo>
                    <a:pt x="5969" y="121538"/>
                  </a:lnTo>
                  <a:lnTo>
                    <a:pt x="0" y="104520"/>
                  </a:lnTo>
                  <a:lnTo>
                    <a:pt x="5969" y="87630"/>
                  </a:lnTo>
                  <a:lnTo>
                    <a:pt x="51053" y="56514"/>
                  </a:lnTo>
                  <a:lnTo>
                    <a:pt x="88264" y="42799"/>
                  </a:lnTo>
                  <a:lnTo>
                    <a:pt x="133858" y="30606"/>
                  </a:lnTo>
                  <a:lnTo>
                    <a:pt x="187198" y="20193"/>
                  </a:lnTo>
                  <a:lnTo>
                    <a:pt x="247142" y="11683"/>
                  </a:lnTo>
                  <a:lnTo>
                    <a:pt x="312674" y="5333"/>
                  </a:lnTo>
                  <a:lnTo>
                    <a:pt x="383032" y="1396"/>
                  </a:lnTo>
                  <a:lnTo>
                    <a:pt x="457200" y="0"/>
                  </a:lnTo>
                  <a:lnTo>
                    <a:pt x="531368" y="1396"/>
                  </a:lnTo>
                  <a:lnTo>
                    <a:pt x="601726" y="5333"/>
                  </a:lnTo>
                  <a:lnTo>
                    <a:pt x="667258" y="11683"/>
                  </a:lnTo>
                  <a:lnTo>
                    <a:pt x="727201" y="20193"/>
                  </a:lnTo>
                  <a:lnTo>
                    <a:pt x="780414" y="30606"/>
                  </a:lnTo>
                  <a:lnTo>
                    <a:pt x="826135" y="42799"/>
                  </a:lnTo>
                  <a:lnTo>
                    <a:pt x="863346" y="56514"/>
                  </a:lnTo>
                  <a:lnTo>
                    <a:pt x="908431" y="87630"/>
                  </a:lnTo>
                  <a:lnTo>
                    <a:pt x="914400" y="104520"/>
                  </a:lnTo>
                  <a:close/>
                </a:path>
                <a:path w="914400" h="836929">
                  <a:moveTo>
                    <a:pt x="914400" y="104520"/>
                  </a:moveTo>
                  <a:lnTo>
                    <a:pt x="914400" y="732027"/>
                  </a:lnTo>
                  <a:lnTo>
                    <a:pt x="908431" y="749045"/>
                  </a:lnTo>
                  <a:lnTo>
                    <a:pt x="863346" y="780161"/>
                  </a:lnTo>
                  <a:lnTo>
                    <a:pt x="826135" y="793876"/>
                  </a:lnTo>
                  <a:lnTo>
                    <a:pt x="780414" y="806069"/>
                  </a:lnTo>
                  <a:lnTo>
                    <a:pt x="727201" y="816482"/>
                  </a:lnTo>
                  <a:lnTo>
                    <a:pt x="667258" y="824991"/>
                  </a:lnTo>
                  <a:lnTo>
                    <a:pt x="601726" y="831341"/>
                  </a:lnTo>
                  <a:lnTo>
                    <a:pt x="531368" y="835279"/>
                  </a:lnTo>
                  <a:lnTo>
                    <a:pt x="457200" y="836676"/>
                  </a:lnTo>
                  <a:lnTo>
                    <a:pt x="383032" y="835279"/>
                  </a:lnTo>
                  <a:lnTo>
                    <a:pt x="312674" y="831341"/>
                  </a:lnTo>
                  <a:lnTo>
                    <a:pt x="247142" y="824991"/>
                  </a:lnTo>
                  <a:lnTo>
                    <a:pt x="187198" y="816482"/>
                  </a:lnTo>
                  <a:lnTo>
                    <a:pt x="133858" y="806069"/>
                  </a:lnTo>
                  <a:lnTo>
                    <a:pt x="88264" y="793876"/>
                  </a:lnTo>
                  <a:lnTo>
                    <a:pt x="51053" y="780161"/>
                  </a:lnTo>
                  <a:lnTo>
                    <a:pt x="5969" y="749045"/>
                  </a:lnTo>
                  <a:lnTo>
                    <a:pt x="0" y="732027"/>
                  </a:lnTo>
                  <a:lnTo>
                    <a:pt x="0" y="10452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45355" y="4655311"/>
            <a:ext cx="882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Metadata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5745" y="5316728"/>
            <a:ext cx="1393190" cy="542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35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Monitoring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35"/>
              </a:lnSpc>
            </a:pPr>
            <a:r>
              <a:rPr sz="1800" spc="-10" dirty="0">
                <a:latin typeface="Times New Roman"/>
                <a:cs typeface="Times New Roman"/>
              </a:rPr>
              <a:t>Administration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90701" y="5233238"/>
            <a:ext cx="75501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Internal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80"/>
              </a:lnSpc>
            </a:pPr>
            <a:r>
              <a:rPr sz="1800" spc="-10" dirty="0">
                <a:latin typeface="Times New Roman"/>
                <a:cs typeface="Times New Roman"/>
              </a:rPr>
              <a:t>Sources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237613" y="1305001"/>
            <a:ext cx="142684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388620">
              <a:lnSpc>
                <a:spcPct val="100000"/>
              </a:lnSpc>
              <a:spcBef>
                <a:spcPts val="115"/>
              </a:spcBef>
            </a:pPr>
            <a:r>
              <a:rPr sz="2400" b="1" i="1" spc="-20" dirty="0">
                <a:solidFill>
                  <a:srgbClr val="FF3300"/>
                </a:solidFill>
                <a:latin typeface="Times New Roman"/>
                <a:cs typeface="Times New Roman"/>
              </a:rPr>
              <a:t>Data </a:t>
            </a:r>
            <a:r>
              <a:rPr sz="2400" b="1" i="1" spc="-10" dirty="0">
                <a:solidFill>
                  <a:srgbClr val="FF3300"/>
                </a:solidFill>
                <a:latin typeface="Times New Roman"/>
                <a:cs typeface="Times New Roman"/>
              </a:rPr>
              <a:t>acquisition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33261" y="1305001"/>
            <a:ext cx="130746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329565">
              <a:lnSpc>
                <a:spcPct val="100000"/>
              </a:lnSpc>
              <a:spcBef>
                <a:spcPts val="115"/>
              </a:spcBef>
            </a:pPr>
            <a:r>
              <a:rPr sz="2400" b="1" i="1" spc="-20" dirty="0">
                <a:solidFill>
                  <a:srgbClr val="FF3300"/>
                </a:solidFill>
                <a:latin typeface="Times New Roman"/>
                <a:cs typeface="Times New Roman"/>
              </a:rPr>
              <a:t>Data </a:t>
            </a:r>
            <a:r>
              <a:rPr sz="2400" b="1" i="1" spc="-10" dirty="0">
                <a:solidFill>
                  <a:srgbClr val="FF3300"/>
                </a:solidFill>
                <a:latin typeface="Times New Roman"/>
                <a:cs typeface="Times New Roman"/>
              </a:rPr>
              <a:t>extraction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87266" y="5897371"/>
            <a:ext cx="197040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i="1" spc="-10" dirty="0">
                <a:solidFill>
                  <a:srgbClr val="FF3300"/>
                </a:solidFill>
                <a:latin typeface="Times New Roman"/>
                <a:cs typeface="Times New Roman"/>
              </a:rPr>
              <a:t>Construction</a:t>
            </a:r>
            <a:r>
              <a:rPr sz="2400" b="1" i="1" spc="-7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FF3300"/>
                </a:solidFill>
                <a:latin typeface="Times New Roman"/>
                <a:cs typeface="Times New Roman"/>
              </a:rPr>
              <a:t>&amp;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16860">
              <a:lnSpc>
                <a:spcPct val="100000"/>
              </a:lnSpc>
              <a:spcBef>
                <a:spcPts val="105"/>
              </a:spcBef>
            </a:pPr>
            <a:r>
              <a:rPr dirty="0"/>
              <a:t>3</a:t>
            </a:r>
            <a:r>
              <a:rPr spc="10" dirty="0"/>
              <a:t> </a:t>
            </a:r>
            <a:r>
              <a:rPr dirty="0"/>
              <a:t>main</a:t>
            </a:r>
            <a:r>
              <a:rPr spc="-155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736168"/>
            <a:ext cx="7838440" cy="52571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acquisition:</a:t>
            </a:r>
            <a:endParaRPr sz="24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839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relevant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collection</a:t>
            </a:r>
            <a:endParaRPr sz="2000">
              <a:latin typeface="Times New Roman"/>
              <a:cs typeface="Times New Roman"/>
            </a:endParaRPr>
          </a:p>
          <a:p>
            <a:pPr marL="753110" marR="588645" lvl="1" indent="-283845">
              <a:lnSpc>
                <a:spcPct val="150100"/>
              </a:lnSpc>
              <a:spcBef>
                <a:spcPts val="505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Recovering:</a:t>
            </a:r>
            <a:r>
              <a:rPr sz="2000" spc="-10" dirty="0">
                <a:latin typeface="Times New Roman"/>
                <a:cs typeface="Times New Roman"/>
              </a:rPr>
              <a:t> transformation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warehouse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models</a:t>
            </a:r>
            <a:endParaRPr sz="20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670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Loading: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cleaning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DataWarehouse.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extraction</a:t>
            </a:r>
            <a:endParaRPr sz="24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50100"/>
              </a:lnSpc>
              <a:spcBef>
                <a:spcPts val="605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spc="-60" dirty="0">
                <a:latin typeface="Times New Roman"/>
                <a:cs typeface="Times New Roman"/>
              </a:rPr>
              <a:t>Tool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examples: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Query/report,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SQL,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multidimensional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(OLAP </a:t>
            </a:r>
            <a:r>
              <a:rPr sz="2000" dirty="0">
                <a:latin typeface="Times New Roman"/>
                <a:cs typeface="Times New Roman"/>
              </a:rPr>
              <a:t>tools),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Maintenance(Optional)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0161" y="987361"/>
            <a:ext cx="8161020" cy="5432425"/>
            <a:chOff x="530161" y="987361"/>
            <a:chExt cx="8161020" cy="5432425"/>
          </a:xfrm>
        </p:grpSpPr>
        <p:sp>
          <p:nvSpPr>
            <p:cNvPr id="3" name="object 3"/>
            <p:cNvSpPr/>
            <p:nvPr/>
          </p:nvSpPr>
          <p:spPr>
            <a:xfrm>
              <a:off x="534923" y="992124"/>
              <a:ext cx="8151495" cy="5422900"/>
            </a:xfrm>
            <a:custGeom>
              <a:avLst/>
              <a:gdLst/>
              <a:ahLst/>
              <a:cxnLst/>
              <a:rect l="l" t="t" r="r" b="b"/>
              <a:pathLst>
                <a:path w="8151495" h="5422900">
                  <a:moveTo>
                    <a:pt x="8151495" y="0"/>
                  </a:moveTo>
                  <a:lnTo>
                    <a:pt x="0" y="0"/>
                  </a:lnTo>
                  <a:lnTo>
                    <a:pt x="0" y="5422392"/>
                  </a:lnTo>
                  <a:lnTo>
                    <a:pt x="8151495" y="5422392"/>
                  </a:lnTo>
                  <a:lnTo>
                    <a:pt x="815149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923" y="992124"/>
              <a:ext cx="8151495" cy="5422900"/>
            </a:xfrm>
            <a:custGeom>
              <a:avLst/>
              <a:gdLst/>
              <a:ahLst/>
              <a:cxnLst/>
              <a:rect l="l" t="t" r="r" b="b"/>
              <a:pathLst>
                <a:path w="8151495" h="5422900">
                  <a:moveTo>
                    <a:pt x="0" y="5422392"/>
                  </a:moveTo>
                  <a:lnTo>
                    <a:pt x="8151495" y="5422392"/>
                  </a:lnTo>
                  <a:lnTo>
                    <a:pt x="8151495" y="0"/>
                  </a:lnTo>
                  <a:lnTo>
                    <a:pt x="0" y="0"/>
                  </a:lnTo>
                  <a:lnTo>
                    <a:pt x="0" y="54223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827" y="1376172"/>
              <a:ext cx="2432304" cy="503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7725" y="6553"/>
            <a:ext cx="58483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FF0000"/>
                </a:solidFill>
              </a:rPr>
              <a:t>THE</a:t>
            </a:r>
            <a:r>
              <a:rPr sz="2800" spc="-6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USE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spc="-35" dirty="0">
                <a:solidFill>
                  <a:srgbClr val="FF0000"/>
                </a:solidFill>
              </a:rPr>
              <a:t>ADATA</a:t>
            </a:r>
            <a:r>
              <a:rPr sz="2800" spc="-24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WAREHOUSE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931875" y="1591817"/>
            <a:ext cx="1223010" cy="5099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0170" marR="5080" indent="-78105">
              <a:lnSpc>
                <a:spcPct val="102699"/>
              </a:lnSpc>
              <a:spcBef>
                <a:spcPts val="80"/>
              </a:spcBef>
            </a:pPr>
            <a:r>
              <a:rPr sz="1550" b="1" spc="-20" dirty="0">
                <a:latin typeface="Times New Roman"/>
                <a:cs typeface="Times New Roman"/>
              </a:rPr>
              <a:t>INVENTORY </a:t>
            </a:r>
            <a:r>
              <a:rPr sz="1550" b="1" spc="-10" dirty="0">
                <a:latin typeface="Times New Roman"/>
                <a:cs typeface="Times New Roman"/>
              </a:rPr>
              <a:t>DATABASE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3574" y="2614625"/>
            <a:ext cx="1248410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-10" dirty="0">
                <a:latin typeface="Times New Roman"/>
                <a:cs typeface="Times New Roman"/>
              </a:rPr>
              <a:t>PERSONNEL</a:t>
            </a:r>
            <a:endParaRPr sz="155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50"/>
              </a:spcBef>
            </a:pPr>
            <a:r>
              <a:rPr sz="1550" b="1" spc="-10" dirty="0">
                <a:latin typeface="Times New Roman"/>
                <a:cs typeface="Times New Roman"/>
              </a:rPr>
              <a:t>DATABASE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3703" y="3721100"/>
            <a:ext cx="1306830" cy="5092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2720" marR="5080" indent="-160020">
              <a:lnSpc>
                <a:spcPct val="102600"/>
              </a:lnSpc>
              <a:spcBef>
                <a:spcPts val="85"/>
              </a:spcBef>
            </a:pPr>
            <a:r>
              <a:rPr sz="1550" b="1" spc="-10" dirty="0">
                <a:latin typeface="Times New Roman"/>
                <a:cs typeface="Times New Roman"/>
              </a:rPr>
              <a:t>NEWCASTLE </a:t>
            </a:r>
            <a:r>
              <a:rPr sz="1550" b="1" dirty="0">
                <a:latin typeface="Times New Roman"/>
                <a:cs typeface="Times New Roman"/>
              </a:rPr>
              <a:t>SALES</a:t>
            </a:r>
            <a:r>
              <a:rPr sz="1550" b="1" spc="50" dirty="0">
                <a:latin typeface="Times New Roman"/>
                <a:cs typeface="Times New Roman"/>
              </a:rPr>
              <a:t> </a:t>
            </a:r>
            <a:r>
              <a:rPr sz="1550" b="1" spc="-25" dirty="0">
                <a:latin typeface="Times New Roman"/>
                <a:cs typeface="Times New Roman"/>
              </a:rPr>
              <a:t>DB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2751" y="4791531"/>
            <a:ext cx="984885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sz="1550" b="1" spc="-10" dirty="0">
                <a:latin typeface="Times New Roman"/>
                <a:cs typeface="Times New Roman"/>
              </a:rPr>
              <a:t>LONDON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50" b="1" dirty="0">
                <a:latin typeface="Times New Roman"/>
                <a:cs typeface="Times New Roman"/>
              </a:rPr>
              <a:t>SALES</a:t>
            </a:r>
            <a:r>
              <a:rPr sz="1550" b="1" spc="-20" dirty="0">
                <a:latin typeface="Times New Roman"/>
                <a:cs typeface="Times New Roman"/>
              </a:rPr>
              <a:t> </a:t>
            </a:r>
            <a:r>
              <a:rPr sz="1550" b="1" spc="-25" dirty="0">
                <a:latin typeface="Times New Roman"/>
                <a:cs typeface="Times New Roman"/>
              </a:rPr>
              <a:t>DB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1473" y="5863844"/>
            <a:ext cx="1082675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-10" dirty="0">
                <a:latin typeface="Times New Roman"/>
                <a:cs typeface="Times New Roman"/>
              </a:rPr>
              <a:t>GLASGOW</a:t>
            </a:r>
            <a:endParaRPr sz="155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50"/>
              </a:spcBef>
            </a:pPr>
            <a:r>
              <a:rPr sz="1550" b="1" dirty="0">
                <a:latin typeface="Times New Roman"/>
                <a:cs typeface="Times New Roman"/>
              </a:rPr>
              <a:t>SALES</a:t>
            </a:r>
            <a:r>
              <a:rPr sz="1550" b="1" spc="15" dirty="0">
                <a:latin typeface="Times New Roman"/>
                <a:cs typeface="Times New Roman"/>
              </a:rPr>
              <a:t> </a:t>
            </a:r>
            <a:r>
              <a:rPr sz="1550" b="1" spc="-25" dirty="0">
                <a:latin typeface="Times New Roman"/>
                <a:cs typeface="Times New Roman"/>
              </a:rPr>
              <a:t>DB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8720" y="2657043"/>
            <a:ext cx="4180204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STEP</a:t>
            </a:r>
            <a:r>
              <a:rPr sz="2000" b="1" spc="-10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2:</a:t>
            </a:r>
            <a:r>
              <a:rPr sz="2000" b="1" spc="2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Question</a:t>
            </a:r>
            <a:r>
              <a:rPr sz="2000" b="1" spc="-10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DataWarehouse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5776" y="3040379"/>
            <a:ext cx="3593591" cy="33924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21551" y="5303977"/>
            <a:ext cx="1529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DECISIONS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andACTIONS!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7841" y="5388051"/>
            <a:ext cx="2778125" cy="9417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20"/>
              </a:spcBef>
            </a:pP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STEP</a:t>
            </a:r>
            <a:r>
              <a:rPr sz="2000" b="1" spc="-15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3:</a:t>
            </a:r>
            <a:r>
              <a:rPr sz="2000" b="1" spc="-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Do </a:t>
            </a: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something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with</a:t>
            </a:r>
            <a:r>
              <a:rPr sz="2000" b="1" spc="-5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what</a:t>
            </a:r>
            <a:r>
              <a:rPr sz="2000" b="1" spc="-1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you</a:t>
            </a:r>
            <a:r>
              <a:rPr sz="2000" b="1" spc="-3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learn</a:t>
            </a:r>
            <a:r>
              <a:rPr sz="2000" b="1" spc="-16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C0504D"/>
                </a:solidFill>
                <a:latin typeface="Times New Roman"/>
                <a:cs typeface="Times New Roman"/>
              </a:rPr>
              <a:t>from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Data</a:t>
            </a:r>
            <a:r>
              <a:rPr sz="2000" b="1" spc="-12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Warehouse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0357" y="1798446"/>
            <a:ext cx="377571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STEP</a:t>
            </a:r>
            <a:r>
              <a:rPr sz="2000" b="1" spc="-14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1:</a:t>
            </a:r>
            <a:r>
              <a:rPr sz="2000" b="1" spc="-1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Load</a:t>
            </a:r>
            <a:r>
              <a:rPr sz="2000" b="1" spc="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504D"/>
                </a:solidFill>
                <a:latin typeface="Times New Roman"/>
                <a:cs typeface="Times New Roman"/>
              </a:rPr>
              <a:t>Data</a:t>
            </a:r>
            <a:r>
              <a:rPr sz="2000" b="1" spc="-27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Warehouse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28415" y="3246120"/>
            <a:ext cx="2702560" cy="1129665"/>
          </a:xfrm>
          <a:prstGeom prst="rect">
            <a:avLst/>
          </a:prstGeom>
          <a:solidFill>
            <a:srgbClr val="CCFFFF"/>
          </a:solidFill>
          <a:ln w="9144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224154" marR="202565" indent="676910">
              <a:lnSpc>
                <a:spcPct val="100000"/>
              </a:lnSpc>
              <a:spcBef>
                <a:spcPts val="810"/>
              </a:spcBef>
            </a:pP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800" b="1" spc="-65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AR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2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9308" y="360629"/>
            <a:ext cx="6476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C00000"/>
                </a:solidFill>
              </a:rPr>
              <a:t>Benefits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of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Data</a:t>
            </a:r>
            <a:r>
              <a:rPr sz="4000" spc="-19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Warehousing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7159" y="1409827"/>
            <a:ext cx="7778115" cy="39795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Queries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impact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Operational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queries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reporting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Subject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Area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Orientation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Integrates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diverse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sources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interpretations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groups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thorough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period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Accuracy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Operational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checked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capabilities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makers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659968"/>
            <a:ext cx="404114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5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Increase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profitability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968" y="1282141"/>
            <a:ext cx="6682740" cy="28136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5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effective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making</a:t>
            </a:r>
            <a:endParaRPr sz="24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Manage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partner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relationships</a:t>
            </a:r>
            <a:endParaRPr sz="24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2020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Manage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assets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liabilities</a:t>
            </a:r>
            <a:endParaRPr sz="24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2020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Integrate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inventory,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manufacturing</a:t>
            </a:r>
            <a:endParaRPr sz="24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1515"/>
              </a:spcBef>
              <a:buChar char="•"/>
              <a:tabLst>
                <a:tab pos="295910" algn="l"/>
                <a:tab pos="1837689" algn="l"/>
                <a:tab pos="2363470" algn="l"/>
                <a:tab pos="3191510" algn="l"/>
                <a:tab pos="3717290" algn="l"/>
                <a:tab pos="4806315" algn="l"/>
                <a:tab pos="594995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Reduction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locate,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access,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9751" y="3702811"/>
            <a:ext cx="95313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0" dirty="0">
                <a:latin typeface="Times New Roman"/>
                <a:cs typeface="Times New Roman"/>
              </a:rPr>
              <a:t>analyze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968" y="4251400"/>
            <a:ext cx="6904990" cy="16973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information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(Link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geographies)</a:t>
            </a:r>
            <a:endParaRPr sz="24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2520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trends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market</a:t>
            </a:r>
            <a:endParaRPr sz="24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1985"/>
              </a:spcBef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Times New Roman"/>
              </a:rPr>
              <a:t>Strategic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advantage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competitors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59" y="812368"/>
            <a:ext cx="8013065" cy="403987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620395" indent="-607695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620395" algn="l"/>
              </a:tabLst>
            </a:pPr>
            <a:r>
              <a:rPr sz="2400" dirty="0">
                <a:latin typeface="Times New Roman"/>
                <a:cs typeface="Times New Roman"/>
              </a:rPr>
              <a:t>Potential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investment</a:t>
            </a:r>
            <a:endParaRPr sz="2400">
              <a:latin typeface="Times New Roman"/>
              <a:cs typeface="Times New Roman"/>
            </a:endParaRPr>
          </a:p>
          <a:p>
            <a:pPr marL="620395" indent="-60769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62039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Competitive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advantage</a:t>
            </a:r>
            <a:endParaRPr sz="2400">
              <a:latin typeface="Times New Roman"/>
              <a:cs typeface="Times New Roman"/>
            </a:endParaRPr>
          </a:p>
          <a:p>
            <a:pPr marL="620395" indent="-607695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620395" algn="l"/>
              </a:tabLst>
            </a:pPr>
            <a:r>
              <a:rPr sz="2400" dirty="0">
                <a:latin typeface="Times New Roman"/>
                <a:cs typeface="Times New Roman"/>
              </a:rPr>
              <a:t>Increased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productivity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corporate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decision-makers</a:t>
            </a:r>
            <a:endParaRPr sz="2400">
              <a:latin typeface="Times New Roman"/>
              <a:cs typeface="Times New Roman"/>
            </a:endParaRPr>
          </a:p>
          <a:p>
            <a:pPr marL="620395" indent="-60769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620395" algn="l"/>
              </a:tabLst>
            </a:pP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reliable,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0" dirty="0">
                <a:latin typeface="Times New Roman"/>
                <a:cs typeface="Times New Roman"/>
              </a:rPr>
              <a:t> performance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marL="621030" marR="5080" indent="-608965">
              <a:lnSpc>
                <a:spcPct val="147600"/>
              </a:lnSpc>
              <a:spcBef>
                <a:spcPts val="650"/>
              </a:spcBef>
              <a:buFont typeface="Arial MT"/>
              <a:buChar char="•"/>
              <a:tabLst>
                <a:tab pos="621030" algn="l"/>
              </a:tabLst>
            </a:pPr>
            <a:r>
              <a:rPr sz="2400" dirty="0">
                <a:latin typeface="Times New Roman"/>
                <a:cs typeface="Times New Roman"/>
              </a:rPr>
              <a:t>Consistent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view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Data: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query,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users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warned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in.</a:t>
            </a:r>
            <a:endParaRPr sz="2400">
              <a:latin typeface="Times New Roman"/>
              <a:cs typeface="Times New Roman"/>
            </a:endParaRPr>
          </a:p>
          <a:p>
            <a:pPr marL="620395" indent="-60769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620395" algn="l"/>
              </a:tabLst>
            </a:pP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re-</a:t>
            </a:r>
            <a:r>
              <a:rPr sz="2400" spc="-10" dirty="0">
                <a:latin typeface="Times New Roman"/>
                <a:cs typeface="Times New Roman"/>
              </a:rPr>
              <a:t>engineering.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7790" y="508838"/>
            <a:ext cx="67989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964607"/>
                </a:solidFill>
              </a:rPr>
              <a:t>Applications</a:t>
            </a:r>
            <a:r>
              <a:rPr sz="4400" spc="-80" dirty="0">
                <a:solidFill>
                  <a:srgbClr val="964607"/>
                </a:solidFill>
              </a:rPr>
              <a:t> </a:t>
            </a:r>
            <a:r>
              <a:rPr sz="4400" dirty="0">
                <a:solidFill>
                  <a:srgbClr val="964607"/>
                </a:solidFill>
              </a:rPr>
              <a:t>of</a:t>
            </a:r>
            <a:r>
              <a:rPr sz="4400" spc="-120" dirty="0">
                <a:solidFill>
                  <a:srgbClr val="964607"/>
                </a:solidFill>
              </a:rPr>
              <a:t> </a:t>
            </a:r>
            <a:r>
              <a:rPr sz="4400" dirty="0">
                <a:solidFill>
                  <a:srgbClr val="964607"/>
                </a:solidFill>
              </a:rPr>
              <a:t>Data</a:t>
            </a:r>
            <a:r>
              <a:rPr sz="4400" spc="-204" dirty="0">
                <a:solidFill>
                  <a:srgbClr val="964607"/>
                </a:solidFill>
              </a:rPr>
              <a:t> </a:t>
            </a:r>
            <a:r>
              <a:rPr sz="4400" spc="-10" dirty="0">
                <a:solidFill>
                  <a:srgbClr val="964607"/>
                </a:solidFill>
              </a:rPr>
              <a:t>Mining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549" y="1532407"/>
            <a:ext cx="8067675" cy="437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296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032510" algn="l"/>
                <a:tab pos="1974850" algn="l"/>
                <a:tab pos="2308860" algn="l"/>
                <a:tab pos="2720340" algn="l"/>
                <a:tab pos="4705350" algn="l"/>
                <a:tab pos="5364480" algn="l"/>
                <a:tab pos="6009005" algn="l"/>
                <a:tab pos="6699884" algn="l"/>
                <a:tab pos="7253605" algn="l"/>
              </a:tabLst>
            </a:pPr>
            <a:r>
              <a:rPr sz="2200" spc="-20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mining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interdisciplinary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field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wide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diverse </a:t>
            </a:r>
            <a:r>
              <a:rPr sz="2200" spc="-10" dirty="0">
                <a:latin typeface="Times New Roman"/>
                <a:cs typeface="Times New Roman"/>
              </a:rPr>
              <a:t>applications</a:t>
            </a:r>
            <a:endParaRPr sz="22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285"/>
              </a:spcBef>
              <a:buFont typeface="Arial MT"/>
              <a:buChar char="–"/>
              <a:tabLst>
                <a:tab pos="757555" algn="l"/>
              </a:tabLst>
            </a:pP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exist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nontrivial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gaps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between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0" dirty="0">
                <a:latin typeface="Times New Roman"/>
                <a:cs typeface="Times New Roman"/>
              </a:rPr>
              <a:t> mining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principles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758190">
              <a:lnSpc>
                <a:spcPct val="100000"/>
              </a:lnSpc>
              <a:spcBef>
                <a:spcPts val="785"/>
              </a:spcBef>
            </a:pPr>
            <a:r>
              <a:rPr sz="2200" spc="-25" dirty="0">
                <a:latin typeface="Times New Roman"/>
                <a:cs typeface="Times New Roman"/>
              </a:rPr>
              <a:t>domain-</a:t>
            </a:r>
            <a:r>
              <a:rPr sz="2200" dirty="0">
                <a:latin typeface="Times New Roman"/>
                <a:cs typeface="Times New Roman"/>
              </a:rPr>
              <a:t>specific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applications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645"/>
              </a:spcBef>
              <a:buFont typeface="Arial MT"/>
              <a:buChar char="•"/>
              <a:tabLst>
                <a:tab pos="355600" algn="l"/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Some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domains</a:t>
            </a:r>
            <a:endParaRPr sz="22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325"/>
              </a:spcBef>
              <a:buFont typeface="Arial MT"/>
              <a:buChar char="–"/>
              <a:tabLst>
                <a:tab pos="757555" algn="l"/>
              </a:tabLst>
            </a:pPr>
            <a:r>
              <a:rPr sz="2200" dirty="0">
                <a:latin typeface="Times New Roman"/>
                <a:cs typeface="Times New Roman"/>
              </a:rPr>
              <a:t>Financial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285"/>
              </a:spcBef>
              <a:buFont typeface="Arial MT"/>
              <a:buChar char="–"/>
              <a:tabLst>
                <a:tab pos="757555" algn="l"/>
              </a:tabLst>
            </a:pPr>
            <a:r>
              <a:rPr sz="2200" dirty="0">
                <a:latin typeface="Times New Roman"/>
                <a:cs typeface="Times New Roman"/>
              </a:rPr>
              <a:t>Retail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industry</a:t>
            </a:r>
            <a:endParaRPr sz="22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320"/>
              </a:spcBef>
              <a:buFont typeface="Arial MT"/>
              <a:buChar char="–"/>
              <a:tabLst>
                <a:tab pos="757555" algn="l"/>
              </a:tabLst>
            </a:pPr>
            <a:r>
              <a:rPr sz="2200" spc="-20" dirty="0">
                <a:latin typeface="Times New Roman"/>
                <a:cs typeface="Times New Roman"/>
              </a:rPr>
              <a:t>Telecommunication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industry</a:t>
            </a:r>
            <a:endParaRPr sz="22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290"/>
              </a:spcBef>
              <a:buFont typeface="Arial MT"/>
              <a:buChar char="–"/>
              <a:tabLst>
                <a:tab pos="757555" algn="l"/>
              </a:tabLst>
            </a:pPr>
            <a:r>
              <a:rPr sz="2200" dirty="0">
                <a:latin typeface="Times New Roman"/>
                <a:cs typeface="Times New Roman"/>
              </a:rPr>
              <a:t>Biological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672" y="271094"/>
            <a:ext cx="7927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6EC0"/>
                </a:solidFill>
              </a:rPr>
              <a:t>Data</a:t>
            </a:r>
            <a:r>
              <a:rPr sz="3600" spc="25" dirty="0">
                <a:solidFill>
                  <a:srgbClr val="006EC0"/>
                </a:solidFill>
              </a:rPr>
              <a:t> </a:t>
            </a:r>
            <a:r>
              <a:rPr sz="3600" dirty="0">
                <a:solidFill>
                  <a:srgbClr val="006EC0"/>
                </a:solidFill>
              </a:rPr>
              <a:t>Mining</a:t>
            </a:r>
            <a:r>
              <a:rPr sz="3600" spc="-45" dirty="0">
                <a:solidFill>
                  <a:srgbClr val="006EC0"/>
                </a:solidFill>
              </a:rPr>
              <a:t> </a:t>
            </a:r>
            <a:r>
              <a:rPr sz="3600" dirty="0">
                <a:solidFill>
                  <a:srgbClr val="006EC0"/>
                </a:solidFill>
              </a:rPr>
              <a:t>for</a:t>
            </a:r>
            <a:r>
              <a:rPr sz="3600" spc="-55" dirty="0">
                <a:solidFill>
                  <a:srgbClr val="006EC0"/>
                </a:solidFill>
              </a:rPr>
              <a:t> </a:t>
            </a:r>
            <a:r>
              <a:rPr sz="3600" dirty="0">
                <a:solidFill>
                  <a:srgbClr val="006EC0"/>
                </a:solidFill>
              </a:rPr>
              <a:t>Financial</a:t>
            </a:r>
            <a:r>
              <a:rPr sz="3600" spc="10" dirty="0">
                <a:solidFill>
                  <a:srgbClr val="006EC0"/>
                </a:solidFill>
              </a:rPr>
              <a:t> </a:t>
            </a:r>
            <a:r>
              <a:rPr sz="3600" spc="-10" dirty="0">
                <a:solidFill>
                  <a:srgbClr val="006EC0"/>
                </a:solidFill>
              </a:rPr>
              <a:t>Data</a:t>
            </a:r>
            <a:r>
              <a:rPr sz="3600" spc="-285" dirty="0">
                <a:solidFill>
                  <a:srgbClr val="006EC0"/>
                </a:solidFill>
              </a:rPr>
              <a:t> </a:t>
            </a:r>
            <a:r>
              <a:rPr sz="3600" spc="-10" dirty="0">
                <a:solidFill>
                  <a:srgbClr val="006EC0"/>
                </a:solidFill>
              </a:rPr>
              <a:t>Analysis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7159" y="1218244"/>
            <a:ext cx="7980045" cy="423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67690" indent="-343535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Financial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banks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financial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institutions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relatively </a:t>
            </a:r>
            <a:r>
              <a:rPr sz="1800" dirty="0">
                <a:latin typeface="Times New Roman"/>
                <a:cs typeface="Times New Roman"/>
              </a:rPr>
              <a:t>complete,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reliable,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quality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10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construction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warehouses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multidimensional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814"/>
              </a:spcBef>
              <a:buFont typeface="Arial MT"/>
              <a:buChar char="–"/>
              <a:tabLst>
                <a:tab pos="753110" algn="l"/>
              </a:tabLst>
            </a:pPr>
            <a:r>
              <a:rPr sz="1500" spc="-50" dirty="0">
                <a:latin typeface="Times New Roman"/>
                <a:cs typeface="Times New Roman"/>
              </a:rPr>
              <a:t>View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debt and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revenue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changes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month,</a:t>
            </a:r>
            <a:r>
              <a:rPr sz="1500" spc="-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region,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sector,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other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factors</a:t>
            </a:r>
            <a:endParaRPr sz="15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405"/>
              </a:spcBef>
              <a:buFont typeface="Arial MT"/>
              <a:buChar char="–"/>
              <a:tabLst>
                <a:tab pos="753110" algn="l"/>
              </a:tabLst>
            </a:pPr>
            <a:r>
              <a:rPr sz="1500" dirty="0">
                <a:latin typeface="Times New Roman"/>
                <a:cs typeface="Times New Roman"/>
              </a:rPr>
              <a:t>Access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statistical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information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such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max,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min,</a:t>
            </a:r>
            <a:r>
              <a:rPr sz="1500" spc="-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total,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average,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trend,</a:t>
            </a:r>
            <a:r>
              <a:rPr sz="1500" spc="-11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etc.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Loan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payment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prediction/consumer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credit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policy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10"/>
              </a:spcBef>
              <a:buFont typeface="Arial MT"/>
              <a:buChar char="–"/>
              <a:tabLst>
                <a:tab pos="753110" algn="l"/>
              </a:tabLst>
            </a:pPr>
            <a:r>
              <a:rPr sz="1500" dirty="0">
                <a:latin typeface="Times New Roman"/>
                <a:cs typeface="Times New Roman"/>
              </a:rPr>
              <a:t>feature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selection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attribute</a:t>
            </a:r>
            <a:r>
              <a:rPr sz="1500" spc="-1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relevanceranking</a:t>
            </a:r>
            <a:endParaRPr sz="15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753110" algn="l"/>
              </a:tabLst>
            </a:pPr>
            <a:r>
              <a:rPr sz="1500" dirty="0">
                <a:latin typeface="Times New Roman"/>
                <a:cs typeface="Times New Roman"/>
              </a:rPr>
              <a:t>Loan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payment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performance</a:t>
            </a:r>
            <a:endParaRPr sz="15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753110" algn="l"/>
              </a:tabLst>
            </a:pPr>
            <a:r>
              <a:rPr sz="1500" dirty="0">
                <a:latin typeface="Times New Roman"/>
                <a:cs typeface="Times New Roman"/>
              </a:rPr>
              <a:t>Consumer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credit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rating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59" y="280390"/>
            <a:ext cx="8085455" cy="556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13335" indent="-340360" algn="just">
              <a:lnSpc>
                <a:spcPct val="142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50" dirty="0">
                <a:latin typeface="Times New Roman"/>
                <a:cs typeface="Times New Roman"/>
              </a:rPr>
              <a:t>Classification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and</a:t>
            </a:r>
            <a:r>
              <a:rPr sz="2450" spc="305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clustering</a:t>
            </a:r>
            <a:r>
              <a:rPr sz="2450" spc="315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of</a:t>
            </a:r>
            <a:r>
              <a:rPr sz="2450" spc="310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customers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for</a:t>
            </a:r>
            <a:r>
              <a:rPr sz="2450" spc="295" dirty="0">
                <a:latin typeface="Times New Roman"/>
                <a:cs typeface="Times New Roman"/>
              </a:rPr>
              <a:t>  </a:t>
            </a:r>
            <a:r>
              <a:rPr sz="2450" spc="-10" dirty="0">
                <a:latin typeface="Times New Roman"/>
                <a:cs typeface="Times New Roman"/>
              </a:rPr>
              <a:t>targeted 	marketing</a:t>
            </a:r>
            <a:endParaRPr sz="2450">
              <a:latin typeface="Times New Roman"/>
              <a:cs typeface="Times New Roman"/>
            </a:endParaRPr>
          </a:p>
          <a:p>
            <a:pPr marL="753110" marR="5080" lvl="1" indent="-283845" algn="just">
              <a:lnSpc>
                <a:spcPct val="139900"/>
              </a:lnSpc>
              <a:spcBef>
                <a:spcPts val="685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multidimensional</a:t>
            </a:r>
            <a:r>
              <a:rPr sz="2200" spc="520" dirty="0">
                <a:latin typeface="Times New Roman"/>
                <a:cs typeface="Times New Roman"/>
              </a:rPr>
              <a:t>    </a:t>
            </a:r>
            <a:r>
              <a:rPr sz="2200" dirty="0">
                <a:latin typeface="Times New Roman"/>
                <a:cs typeface="Times New Roman"/>
              </a:rPr>
              <a:t>segmentation</a:t>
            </a:r>
            <a:r>
              <a:rPr sz="2200" spc="535" dirty="0">
                <a:latin typeface="Times New Roman"/>
                <a:cs typeface="Times New Roman"/>
              </a:rPr>
              <a:t>   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515" dirty="0">
                <a:latin typeface="Times New Roman"/>
                <a:cs typeface="Times New Roman"/>
              </a:rPr>
              <a:t>    </a:t>
            </a:r>
            <a:r>
              <a:rPr sz="2200" spc="-20" dirty="0">
                <a:latin typeface="Times New Roman"/>
                <a:cs typeface="Times New Roman"/>
              </a:rPr>
              <a:t>nearest-</a:t>
            </a:r>
            <a:r>
              <a:rPr sz="2200" spc="-10" dirty="0">
                <a:latin typeface="Times New Roman"/>
                <a:cs typeface="Times New Roman"/>
              </a:rPr>
              <a:t>neighbor, </a:t>
            </a:r>
            <a:r>
              <a:rPr sz="2200" dirty="0">
                <a:latin typeface="Times New Roman"/>
                <a:cs typeface="Times New Roman"/>
              </a:rPr>
              <a:t>classification,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decision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trees,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etc.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identify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groups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or </a:t>
            </a:r>
            <a:r>
              <a:rPr sz="2200" dirty="0">
                <a:latin typeface="Times New Roman"/>
                <a:cs typeface="Times New Roman"/>
              </a:rPr>
              <a:t>associate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appropriate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 </a:t>
            </a:r>
            <a:r>
              <a:rPr sz="2200" spc="-10" dirty="0">
                <a:latin typeface="Times New Roman"/>
                <a:cs typeface="Times New Roman"/>
              </a:rPr>
              <a:t>group</a:t>
            </a:r>
            <a:endParaRPr sz="22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1864"/>
              </a:spcBef>
              <a:buFont typeface="Arial MT"/>
              <a:buChar char="•"/>
              <a:tabLst>
                <a:tab pos="353060" algn="l"/>
              </a:tabLst>
            </a:pPr>
            <a:r>
              <a:rPr sz="2450" dirty="0">
                <a:latin typeface="Times New Roman"/>
                <a:cs typeface="Times New Roman"/>
              </a:rPr>
              <a:t>Detection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of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money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laundering</a:t>
            </a:r>
            <a:r>
              <a:rPr sz="2450" spc="17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and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other</a:t>
            </a:r>
            <a:r>
              <a:rPr sz="2450" spc="7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financial</a:t>
            </a:r>
            <a:r>
              <a:rPr sz="2450" spc="335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crimes</a:t>
            </a:r>
            <a:endParaRPr sz="2450">
              <a:latin typeface="Times New Roman"/>
              <a:cs typeface="Times New Roman"/>
            </a:endParaRPr>
          </a:p>
          <a:p>
            <a:pPr marL="753110" marR="5080" lvl="1" indent="-283845" algn="just">
              <a:lnSpc>
                <a:spcPts val="3670"/>
              </a:lnSpc>
              <a:spcBef>
                <a:spcPts val="25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2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04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2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2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DBs</a:t>
            </a:r>
            <a:r>
              <a:rPr sz="2200" spc="2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(e.g.,</a:t>
            </a:r>
            <a:r>
              <a:rPr sz="2200" spc="2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bank</a:t>
            </a:r>
            <a:r>
              <a:rPr sz="2200" spc="204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transactions, federal/state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crime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history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DBs)</a:t>
            </a:r>
            <a:endParaRPr sz="2200">
              <a:latin typeface="Times New Roman"/>
              <a:cs typeface="Times New Roman"/>
            </a:endParaRPr>
          </a:p>
          <a:p>
            <a:pPr marL="753110" marR="5080" lvl="1" indent="-283845" algn="just">
              <a:lnSpc>
                <a:spcPts val="3710"/>
              </a:lnSpc>
              <a:spcBef>
                <a:spcPts val="10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Tools:</a:t>
            </a:r>
            <a:r>
              <a:rPr sz="2200" spc="42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4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visualization,</a:t>
            </a:r>
            <a:r>
              <a:rPr sz="2200" spc="4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linkage</a:t>
            </a:r>
            <a:r>
              <a:rPr sz="2200" spc="46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analysis,</a:t>
            </a:r>
            <a:r>
              <a:rPr sz="2200" spc="459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classification, </a:t>
            </a:r>
            <a:r>
              <a:rPr sz="2200" dirty="0">
                <a:latin typeface="Times New Roman"/>
                <a:cs typeface="Times New Roman"/>
              </a:rPr>
              <a:t>clustering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tools,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outlier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analysis,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sequential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pattern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 </a:t>
            </a:r>
            <a:r>
              <a:rPr sz="2200" dirty="0">
                <a:latin typeface="Times New Roman"/>
                <a:cs typeface="Times New Roman"/>
              </a:rPr>
              <a:t>tools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(find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unusual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sequences)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402" y="508838"/>
            <a:ext cx="76676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006EC0"/>
                </a:solidFill>
              </a:rPr>
              <a:t>Data</a:t>
            </a:r>
            <a:r>
              <a:rPr sz="4400" spc="-80" dirty="0">
                <a:solidFill>
                  <a:srgbClr val="006EC0"/>
                </a:solidFill>
              </a:rPr>
              <a:t> </a:t>
            </a:r>
            <a:r>
              <a:rPr sz="4400" dirty="0">
                <a:solidFill>
                  <a:srgbClr val="006EC0"/>
                </a:solidFill>
              </a:rPr>
              <a:t>Mining</a:t>
            </a:r>
            <a:r>
              <a:rPr sz="4400" spc="-110" dirty="0">
                <a:solidFill>
                  <a:srgbClr val="006EC0"/>
                </a:solidFill>
              </a:rPr>
              <a:t> </a:t>
            </a:r>
            <a:r>
              <a:rPr sz="4400" dirty="0">
                <a:solidFill>
                  <a:srgbClr val="006EC0"/>
                </a:solidFill>
              </a:rPr>
              <a:t>for</a:t>
            </a:r>
            <a:r>
              <a:rPr sz="4400" spc="-114" dirty="0">
                <a:solidFill>
                  <a:srgbClr val="006EC0"/>
                </a:solidFill>
              </a:rPr>
              <a:t> </a:t>
            </a:r>
            <a:r>
              <a:rPr sz="4400" dirty="0">
                <a:solidFill>
                  <a:srgbClr val="006EC0"/>
                </a:solidFill>
              </a:rPr>
              <a:t>Retail</a:t>
            </a:r>
            <a:r>
              <a:rPr sz="4400" spc="-210" dirty="0">
                <a:solidFill>
                  <a:srgbClr val="006EC0"/>
                </a:solidFill>
              </a:rPr>
              <a:t> </a:t>
            </a:r>
            <a:r>
              <a:rPr sz="4400" spc="-10" dirty="0">
                <a:solidFill>
                  <a:srgbClr val="006EC0"/>
                </a:solidFill>
              </a:rPr>
              <a:t>Industry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7159" y="1507515"/>
            <a:ext cx="7842884" cy="432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Retail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industry: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sales,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shopping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history, </a:t>
            </a:r>
            <a:r>
              <a:rPr sz="2000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retail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</a:t>
            </a:r>
            <a:endParaRPr sz="20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62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buying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behaviors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475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Discover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shopping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patterns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trends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515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Improve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quality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service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515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Achieve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better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retention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satisfaction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48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Enhance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goods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consumption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ratios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51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effective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goods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transportation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distribution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policies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559" y="260562"/>
            <a:ext cx="8540750" cy="539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0665" indent="-342900">
              <a:lnSpc>
                <a:spcPct val="1419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864995" algn="l"/>
                <a:tab pos="7948930" algn="l"/>
              </a:tabLst>
            </a:pP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1.</a:t>
            </a:r>
            <a:r>
              <a:rPr sz="2200" dirty="0">
                <a:latin typeface="Times New Roman"/>
                <a:cs typeface="Times New Roman"/>
              </a:rPr>
              <a:t>	Design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construction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warehouses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benefits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mining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520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spc="-10" dirty="0">
                <a:latin typeface="Times New Roman"/>
                <a:cs typeface="Times New Roman"/>
              </a:rPr>
              <a:t>Multidimensional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sales,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customers,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products,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region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</a:t>
            </a:r>
            <a:r>
              <a:rPr sz="2200" spc="-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effectiveness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sales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campaigns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614"/>
              </a:spcBef>
              <a:buFont typeface="Arial MT"/>
              <a:buChar char="•"/>
              <a:tabLst>
                <a:tab pos="354965" algn="l"/>
                <a:tab pos="1769110" algn="l"/>
              </a:tabLst>
            </a:pP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3.</a:t>
            </a:r>
            <a:r>
              <a:rPr sz="2200" dirty="0">
                <a:latin typeface="Times New Roman"/>
                <a:cs typeface="Times New Roman"/>
              </a:rPr>
              <a:t>	Customer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retention: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customer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loyalty</a:t>
            </a:r>
            <a:endParaRPr sz="2200">
              <a:latin typeface="Times New Roman"/>
              <a:cs typeface="Times New Roman"/>
            </a:endParaRPr>
          </a:p>
          <a:p>
            <a:pPr marL="753110" marR="109855" lvl="1" indent="-283845">
              <a:lnSpc>
                <a:spcPct val="141100"/>
              </a:lnSpc>
              <a:spcBef>
                <a:spcPts val="535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customer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loyalty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register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purchases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particular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customers</a:t>
            </a:r>
            <a:endParaRPr sz="20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39600"/>
              </a:lnSpc>
              <a:spcBef>
                <a:spcPts val="145"/>
              </a:spcBef>
              <a:buFont typeface="Arial MT"/>
              <a:buChar char="–"/>
              <a:tabLst>
                <a:tab pos="753110" algn="l"/>
                <a:tab pos="1361440" algn="l"/>
                <a:tab pos="2596515" algn="l"/>
                <a:tab pos="3511550" algn="l"/>
                <a:tab pos="4439920" algn="l"/>
                <a:tab pos="4847590" algn="l"/>
                <a:tab pos="6155690" algn="l"/>
                <a:tab pos="7185025" algn="l"/>
                <a:tab pos="7591425" algn="l"/>
              </a:tabLst>
            </a:pPr>
            <a:r>
              <a:rPr sz="2000" spc="-25" dirty="0">
                <a:latin typeface="Times New Roman"/>
                <a:cs typeface="Times New Roman"/>
              </a:rPr>
              <a:t>Use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sequential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pattern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mining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investigate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changes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customer </a:t>
            </a:r>
            <a:r>
              <a:rPr sz="2000" dirty="0">
                <a:latin typeface="Times New Roman"/>
                <a:cs typeface="Times New Roman"/>
              </a:rPr>
              <a:t>consumption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loyalty</a:t>
            </a:r>
            <a:endParaRPr sz="20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780"/>
              </a:spcBef>
              <a:buFont typeface="Arial MT"/>
              <a:buChar char="–"/>
              <a:tabLst>
                <a:tab pos="753110" algn="l"/>
              </a:tabLst>
            </a:pPr>
            <a:r>
              <a:rPr sz="2000" dirty="0">
                <a:latin typeface="Times New Roman"/>
                <a:cs typeface="Times New Roman"/>
              </a:rPr>
              <a:t>Suggest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adjustments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pricing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variety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goods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0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Purchase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recommendation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cross-</a:t>
            </a:r>
            <a:r>
              <a:rPr sz="2200" dirty="0">
                <a:latin typeface="Times New Roman"/>
                <a:cs typeface="Times New Roman"/>
              </a:rPr>
              <a:t>reference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items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081" y="596849"/>
            <a:ext cx="79305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6EC0"/>
                </a:solidFill>
              </a:rPr>
              <a:t>Data</a:t>
            </a:r>
            <a:r>
              <a:rPr spc="-40" dirty="0">
                <a:solidFill>
                  <a:srgbClr val="006EC0"/>
                </a:solidFill>
              </a:rPr>
              <a:t> </a:t>
            </a:r>
            <a:r>
              <a:rPr dirty="0">
                <a:solidFill>
                  <a:srgbClr val="006EC0"/>
                </a:solidFill>
              </a:rPr>
              <a:t>Mining</a:t>
            </a:r>
            <a:r>
              <a:rPr spc="-80" dirty="0">
                <a:solidFill>
                  <a:srgbClr val="006EC0"/>
                </a:solidFill>
              </a:rPr>
              <a:t> </a:t>
            </a:r>
            <a:r>
              <a:rPr dirty="0">
                <a:solidFill>
                  <a:srgbClr val="006EC0"/>
                </a:solidFill>
              </a:rPr>
              <a:t>for</a:t>
            </a:r>
            <a:r>
              <a:rPr spc="-35" dirty="0">
                <a:solidFill>
                  <a:srgbClr val="006EC0"/>
                </a:solidFill>
              </a:rPr>
              <a:t> </a:t>
            </a:r>
            <a:r>
              <a:rPr spc="-30" dirty="0">
                <a:solidFill>
                  <a:srgbClr val="006EC0"/>
                </a:solidFill>
              </a:rPr>
              <a:t>Telecommunication</a:t>
            </a:r>
            <a:r>
              <a:rPr spc="-75" dirty="0">
                <a:solidFill>
                  <a:srgbClr val="006EC0"/>
                </a:solidFill>
              </a:rPr>
              <a:t> </a:t>
            </a:r>
            <a:r>
              <a:rPr spc="-10" dirty="0">
                <a:solidFill>
                  <a:srgbClr val="006EC0"/>
                </a:solidFill>
              </a:rPr>
              <a:t>Industry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49" y="1518691"/>
            <a:ext cx="7764145" cy="3332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rapidly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expanding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highly </a:t>
            </a:r>
            <a:r>
              <a:rPr sz="2000" spc="-10" dirty="0">
                <a:latin typeface="Times New Roman"/>
                <a:cs typeface="Times New Roman"/>
              </a:rPr>
              <a:t>competitive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industry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demand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</a:t>
            </a:r>
            <a:endParaRPr sz="20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2050"/>
              </a:spcBef>
              <a:buFont typeface="Arial MT"/>
              <a:buChar char="–"/>
              <a:tabLst>
                <a:tab pos="757555" algn="l"/>
              </a:tabLst>
            </a:pPr>
            <a:r>
              <a:rPr sz="1800" dirty="0">
                <a:latin typeface="Times New Roman"/>
                <a:cs typeface="Times New Roman"/>
              </a:rPr>
              <a:t>Understand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business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involved</a:t>
            </a:r>
            <a:endParaRPr sz="18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480"/>
              </a:spcBef>
              <a:buFont typeface="Arial MT"/>
              <a:buChar char="–"/>
              <a:tabLst>
                <a:tab pos="757555" algn="l"/>
              </a:tabLst>
            </a:pP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telecommunication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patterns</a:t>
            </a:r>
            <a:endParaRPr sz="18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515"/>
              </a:spcBef>
              <a:buFont typeface="Arial MT"/>
              <a:buChar char="–"/>
              <a:tabLst>
                <a:tab pos="757555" algn="l"/>
              </a:tabLst>
            </a:pPr>
            <a:r>
              <a:rPr sz="1800" dirty="0">
                <a:latin typeface="Times New Roman"/>
                <a:cs typeface="Times New Roman"/>
              </a:rPr>
              <a:t>Catch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fraudulent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activities</a:t>
            </a:r>
            <a:endParaRPr sz="18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515"/>
              </a:spcBef>
              <a:buFont typeface="Arial MT"/>
              <a:buChar char="–"/>
              <a:tabLst>
                <a:tab pos="757555" algn="l"/>
              </a:tabLst>
            </a:pPr>
            <a:r>
              <a:rPr sz="1800" dirty="0">
                <a:latin typeface="Times New Roman"/>
                <a:cs typeface="Times New Roman"/>
              </a:rPr>
              <a:t>Make better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resources</a:t>
            </a:r>
            <a:endParaRPr sz="1800">
              <a:latin typeface="Times New Roman"/>
              <a:cs typeface="Times New Roman"/>
            </a:endParaRPr>
          </a:p>
          <a:p>
            <a:pPr marL="757555" lvl="1" indent="-287655">
              <a:lnSpc>
                <a:spcPct val="100000"/>
              </a:lnSpc>
              <a:spcBef>
                <a:spcPts val="1475"/>
              </a:spcBef>
              <a:buFont typeface="Arial MT"/>
              <a:buChar char="–"/>
              <a:tabLst>
                <a:tab pos="757555" algn="l"/>
              </a:tabLst>
            </a:pPr>
            <a:r>
              <a:rPr sz="1800" dirty="0">
                <a:latin typeface="Times New Roman"/>
                <a:cs typeface="Times New Roman"/>
              </a:rPr>
              <a:t>Improve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quality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service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159" y="4856018"/>
            <a:ext cx="6052185" cy="133731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Multidimensional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telecommunication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185"/>
              </a:spcBef>
              <a:tabLst>
                <a:tab pos="753110" algn="l"/>
                <a:tab pos="2038985" algn="l"/>
                <a:tab pos="3882390" algn="l"/>
                <a:tab pos="5222240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Intrinsically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multidimensional: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35" dirty="0">
                <a:latin typeface="Times New Roman"/>
                <a:cs typeface="Times New Roman"/>
              </a:rPr>
              <a:t>calling-</a:t>
            </a:r>
            <a:r>
              <a:rPr sz="1800" spc="-10" dirty="0">
                <a:latin typeface="Times New Roman"/>
                <a:cs typeface="Times New Roman"/>
              </a:rPr>
              <a:t>time,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duration,</a:t>
            </a:r>
            <a:endParaRPr sz="18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location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callee,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type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call,</a:t>
            </a:r>
            <a:r>
              <a:rPr sz="1800" spc="-20" dirty="0">
                <a:latin typeface="Times New Roman"/>
                <a:cs typeface="Times New Roman"/>
              </a:rPr>
              <a:t> etc.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8398" y="5529173"/>
            <a:ext cx="18345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  <a:tab pos="1293495" algn="l"/>
              </a:tabLst>
            </a:pPr>
            <a:r>
              <a:rPr sz="1800" spc="-10" dirty="0">
                <a:latin typeface="Times New Roman"/>
                <a:cs typeface="Times New Roman"/>
              </a:rPr>
              <a:t>location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40" dirty="0">
                <a:latin typeface="Times New Roman"/>
                <a:cs typeface="Times New Roman"/>
              </a:rPr>
              <a:t>caller,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59" y="580390"/>
            <a:ext cx="802385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Fraudulent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pattern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identification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unusual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patterns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82102" y="1150442"/>
            <a:ext cx="6610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Times New Roman"/>
                <a:cs typeface="Times New Roman"/>
              </a:rPr>
              <a:t>usage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3" y="924392"/>
            <a:ext cx="699643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50100"/>
              </a:lnSpc>
              <a:spcBef>
                <a:spcPts val="100"/>
              </a:spcBef>
              <a:tabLst>
                <a:tab pos="295910" algn="l"/>
                <a:tab pos="1389380" algn="l"/>
                <a:tab pos="2784475" algn="l"/>
                <a:tab pos="4138295" algn="l"/>
                <a:tab pos="4916170" algn="l"/>
                <a:tab pos="5520055" algn="l"/>
                <a:tab pos="6233160" algn="l"/>
              </a:tabLst>
            </a:pPr>
            <a:r>
              <a:rPr sz="2200" spc="-50" dirty="0">
                <a:latin typeface="Arial MT"/>
                <a:cs typeface="Arial MT"/>
              </a:rPr>
              <a:t>–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Identify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potentially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fraudulent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users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their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typical </a:t>
            </a:r>
            <a:r>
              <a:rPr sz="2200" spc="-10" dirty="0">
                <a:latin typeface="Times New Roman"/>
                <a:cs typeface="Times New Roman"/>
              </a:rPr>
              <a:t>patterns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159" y="2231593"/>
            <a:ext cx="8307705" cy="427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3110" indent="-28321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Detect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attempts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fraudulent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entry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customer </a:t>
            </a:r>
            <a:r>
              <a:rPr sz="2200" spc="-10" dirty="0">
                <a:latin typeface="Times New Roman"/>
                <a:cs typeface="Times New Roman"/>
              </a:rPr>
              <a:t>accounts</a:t>
            </a:r>
            <a:endParaRPr sz="2200">
              <a:latin typeface="Times New Roman"/>
              <a:cs typeface="Times New Roman"/>
            </a:endParaRPr>
          </a:p>
          <a:p>
            <a:pPr marL="753110" indent="-283210">
              <a:lnSpc>
                <a:spcPct val="100000"/>
              </a:lnSpc>
              <a:spcBef>
                <a:spcPts val="190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Discover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unusual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patterns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special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attention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Times New Roman"/>
                <a:cs typeface="Times New Roman"/>
              </a:rPr>
              <a:t>Multidimensional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association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sequential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pattern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753110" marR="5080" lvl="1" indent="-283845">
              <a:lnSpc>
                <a:spcPct val="150100"/>
              </a:lnSpc>
              <a:spcBef>
                <a:spcPts val="25"/>
              </a:spcBef>
              <a:buFont typeface="Arial MT"/>
              <a:buChar char="–"/>
              <a:tabLst>
                <a:tab pos="753110" algn="l"/>
                <a:tab pos="1443990" algn="l"/>
                <a:tab pos="2258060" algn="l"/>
                <a:tab pos="3319779" algn="l"/>
                <a:tab pos="3822700" algn="l"/>
                <a:tab pos="4124325" algn="l"/>
                <a:tab pos="4609465" algn="l"/>
                <a:tab pos="5021580" algn="l"/>
                <a:tab pos="6938009" algn="l"/>
                <a:tab pos="8012430" algn="l"/>
              </a:tabLst>
            </a:pPr>
            <a:r>
              <a:rPr sz="2200" spc="-20" dirty="0">
                <a:latin typeface="Times New Roman"/>
                <a:cs typeface="Times New Roman"/>
              </a:rPr>
              <a:t>Find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usage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patterns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communication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services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by </a:t>
            </a:r>
            <a:r>
              <a:rPr sz="2200" dirty="0">
                <a:latin typeface="Times New Roman"/>
                <a:cs typeface="Times New Roman"/>
              </a:rPr>
              <a:t>customer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group,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month,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226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Promote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sales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specific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services</a:t>
            </a:r>
            <a:endParaRPr sz="22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900"/>
              </a:spcBef>
              <a:buFont typeface="Arial MT"/>
              <a:buChar char="–"/>
              <a:tabLst>
                <a:tab pos="753110" algn="l"/>
              </a:tabLst>
            </a:pP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availability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particular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region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visualization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tools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telecommunication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510" y="398729"/>
            <a:ext cx="555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EC0"/>
                </a:solidFill>
              </a:rPr>
              <a:t>Biomedical</a:t>
            </a:r>
            <a:r>
              <a:rPr sz="4000" spc="-155" dirty="0">
                <a:solidFill>
                  <a:srgbClr val="006EC0"/>
                </a:solidFill>
              </a:rPr>
              <a:t> </a:t>
            </a:r>
            <a:r>
              <a:rPr sz="4000" spc="-25" dirty="0">
                <a:solidFill>
                  <a:srgbClr val="006EC0"/>
                </a:solidFill>
              </a:rPr>
              <a:t>Data</a:t>
            </a:r>
            <a:r>
              <a:rPr sz="4000" spc="-265" dirty="0">
                <a:solidFill>
                  <a:srgbClr val="006EC0"/>
                </a:solidFill>
              </a:rPr>
              <a:t> </a:t>
            </a:r>
            <a:r>
              <a:rPr sz="4000" spc="-10" dirty="0">
                <a:solidFill>
                  <a:srgbClr val="006EC0"/>
                </a:solidFill>
              </a:rPr>
              <a:t>Analysis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7159" y="1143340"/>
            <a:ext cx="8081009" cy="499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160" indent="-343535">
              <a:lnSpc>
                <a:spcPct val="1396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1041400" algn="l"/>
                <a:tab pos="2432050" algn="l"/>
                <a:tab pos="2707005" algn="l"/>
                <a:tab pos="3374390" algn="l"/>
                <a:tab pos="4362450" algn="l"/>
                <a:tab pos="5172075" algn="l"/>
                <a:tab pos="6713855" algn="l"/>
                <a:tab pos="7646670" algn="l"/>
              </a:tabLst>
            </a:pPr>
            <a:r>
              <a:rPr sz="2000" spc="-25" dirty="0">
                <a:latin typeface="Times New Roman"/>
                <a:cs typeface="Times New Roman"/>
              </a:rPr>
              <a:t>DNA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sequences: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4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basic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building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blocks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(nucleotides):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adenine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(A), </a:t>
            </a:r>
            <a:r>
              <a:rPr sz="2000" dirty="0">
                <a:latin typeface="Times New Roman"/>
                <a:cs typeface="Times New Roman"/>
              </a:rPr>
              <a:t>cytosine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(C),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guanine (G),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thymine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(T).</a:t>
            </a:r>
            <a:endParaRPr sz="2000">
              <a:latin typeface="Times New Roman"/>
              <a:cs typeface="Times New Roman"/>
            </a:endParaRPr>
          </a:p>
          <a:p>
            <a:pPr marL="355600" marR="10160" indent="-343535">
              <a:lnSpc>
                <a:spcPct val="139600"/>
              </a:lnSpc>
              <a:spcBef>
                <a:spcPts val="540"/>
              </a:spcBef>
              <a:buFont typeface="Arial MT"/>
              <a:buChar char="•"/>
              <a:tabLst>
                <a:tab pos="355600" algn="l"/>
                <a:tab pos="1096645" algn="l"/>
                <a:tab pos="1338580" algn="l"/>
                <a:tab pos="2747645" algn="l"/>
                <a:tab pos="4152265" algn="l"/>
                <a:tab pos="5313680" algn="l"/>
                <a:tab pos="7948930" algn="l"/>
              </a:tabLst>
            </a:pPr>
            <a:r>
              <a:rPr sz="2000" spc="-10" dirty="0">
                <a:latin typeface="Times New Roman"/>
                <a:cs typeface="Times New Roman"/>
              </a:rPr>
              <a:t>Gene: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sequence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hundreds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individual</a:t>
            </a:r>
            <a:r>
              <a:rPr sz="2000" dirty="0">
                <a:latin typeface="Times New Roman"/>
                <a:cs typeface="Times New Roman"/>
              </a:rPr>
              <a:t>	nucleotides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arranged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particular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order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Humans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around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30,000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genes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39600"/>
              </a:lnSpc>
              <a:spcBef>
                <a:spcPts val="140"/>
              </a:spcBef>
              <a:buFont typeface="Arial MT"/>
              <a:buChar char="•"/>
              <a:tabLst>
                <a:tab pos="355600" algn="l"/>
                <a:tab pos="1750695" algn="l"/>
                <a:tab pos="2661285" algn="l"/>
                <a:tab pos="3008630" algn="l"/>
                <a:tab pos="3667125" algn="l"/>
                <a:tab pos="4184015" algn="l"/>
                <a:tab pos="4627880" algn="l"/>
                <a:tab pos="5922645" algn="l"/>
                <a:tab pos="6407150" algn="l"/>
                <a:tab pos="6786880" algn="l"/>
              </a:tabLst>
            </a:pPr>
            <a:r>
              <a:rPr sz="2000" spc="-10" dirty="0">
                <a:latin typeface="Times New Roman"/>
                <a:cs typeface="Times New Roman"/>
              </a:rPr>
              <a:t>Tremendous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number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ways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nucleotides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	ordered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sequenced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distinct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genes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Semantic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heterogeneous,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distributed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genome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databases</a:t>
            </a:r>
            <a:endParaRPr sz="2000">
              <a:latin typeface="Times New Roman"/>
              <a:cs typeface="Times New Roman"/>
            </a:endParaRPr>
          </a:p>
          <a:p>
            <a:pPr marL="753110" marR="31115" lvl="1" indent="-283845">
              <a:lnSpc>
                <a:spcPct val="141800"/>
              </a:lnSpc>
              <a:spcBef>
                <a:spcPts val="39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Current: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highly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distributed,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uncontrolled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generation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wide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variety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DNA</a:t>
            </a:r>
            <a:r>
              <a:rPr sz="1800" spc="-2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753110" algn="l"/>
              </a:tabLst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cleaning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developed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help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59" y="334019"/>
            <a:ext cx="8088630" cy="58362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spc="-10" dirty="0">
                <a:latin typeface="Times New Roman"/>
                <a:cs typeface="Times New Roman"/>
              </a:rPr>
              <a:t>Similarity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search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comparison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among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DNA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sequences</a:t>
            </a:r>
            <a:endParaRPr sz="1900">
              <a:latin typeface="Times New Roman"/>
              <a:cs typeface="Times New Roman"/>
            </a:endParaRPr>
          </a:p>
          <a:p>
            <a:pPr marL="753110" marR="149860" lvl="1" indent="-283845">
              <a:lnSpc>
                <a:spcPct val="129600"/>
              </a:lnSpc>
              <a:spcBef>
                <a:spcPts val="215"/>
              </a:spcBef>
              <a:buFont typeface="Arial MT"/>
              <a:buChar char="–"/>
              <a:tabLst>
                <a:tab pos="753110" algn="l"/>
              </a:tabLst>
            </a:pPr>
            <a:r>
              <a:rPr sz="1900" dirty="0">
                <a:latin typeface="Times New Roman"/>
                <a:cs typeface="Times New Roman"/>
              </a:rPr>
              <a:t>Compare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frequently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occurring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patterns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each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class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(e.g.,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diseased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spc="-10" dirty="0">
                <a:latin typeface="Times New Roman"/>
                <a:cs typeface="Times New Roman"/>
              </a:rPr>
              <a:t>healthy)</a:t>
            </a:r>
            <a:endParaRPr sz="19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395"/>
              </a:spcBef>
              <a:buFont typeface="Arial MT"/>
              <a:buChar char="–"/>
              <a:tabLst>
                <a:tab pos="753110" algn="l"/>
              </a:tabLst>
            </a:pPr>
            <a:r>
              <a:rPr sz="1900" dirty="0">
                <a:latin typeface="Times New Roman"/>
                <a:cs typeface="Times New Roman"/>
              </a:rPr>
              <a:t>Identify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sequence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patterns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play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roles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various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diseases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spc="-10" dirty="0">
                <a:latin typeface="Times New Roman"/>
                <a:cs typeface="Times New Roman"/>
              </a:rPr>
              <a:t>Association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analysis: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identification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co-</a:t>
            </a:r>
            <a:r>
              <a:rPr sz="1900" spc="-10" dirty="0">
                <a:latin typeface="Times New Roman"/>
                <a:cs typeface="Times New Roman"/>
              </a:rPr>
              <a:t>occurring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sequences</a:t>
            </a:r>
            <a:endParaRPr sz="19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890"/>
              </a:spcBef>
              <a:buFont typeface="Arial MT"/>
              <a:buChar char="–"/>
              <a:tabLst>
                <a:tab pos="753110" algn="l"/>
              </a:tabLst>
            </a:pPr>
            <a:r>
              <a:rPr sz="1900" dirty="0">
                <a:latin typeface="Times New Roman"/>
                <a:cs typeface="Times New Roman"/>
              </a:rPr>
              <a:t>Most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diseases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not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triggered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single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but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 combination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</a:t>
            </a:r>
            <a:endParaRPr sz="19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710"/>
              </a:spcBef>
            </a:pPr>
            <a:r>
              <a:rPr sz="1900" dirty="0">
                <a:latin typeface="Times New Roman"/>
                <a:cs typeface="Times New Roman"/>
              </a:rPr>
              <a:t>genes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together</a:t>
            </a:r>
            <a:endParaRPr sz="1900">
              <a:latin typeface="Times New Roman"/>
              <a:cs typeface="Times New Roman"/>
            </a:endParaRPr>
          </a:p>
          <a:p>
            <a:pPr marL="753110" marR="239395" lvl="1" indent="-283845">
              <a:lnSpc>
                <a:spcPct val="129600"/>
              </a:lnSpc>
              <a:spcBef>
                <a:spcPts val="500"/>
              </a:spcBef>
              <a:buFont typeface="Arial MT"/>
              <a:buChar char="–"/>
              <a:tabLst>
                <a:tab pos="753110" algn="l"/>
              </a:tabLst>
            </a:pPr>
            <a:r>
              <a:rPr sz="1900" dirty="0">
                <a:latin typeface="Times New Roman"/>
                <a:cs typeface="Times New Roman"/>
              </a:rPr>
              <a:t>Association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analysis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may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help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determine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kinds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likely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co-occur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together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target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samples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latin typeface="Times New Roman"/>
                <a:cs typeface="Times New Roman"/>
              </a:rPr>
              <a:t>Path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analysis: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linking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different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disease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development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stages</a:t>
            </a:r>
            <a:endParaRPr sz="19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110"/>
              </a:spcBef>
              <a:buFont typeface="Arial MT"/>
              <a:buChar char="–"/>
              <a:tabLst>
                <a:tab pos="753110" algn="l"/>
              </a:tabLst>
            </a:pPr>
            <a:r>
              <a:rPr sz="1900" spc="-10" dirty="0">
                <a:latin typeface="Times New Roman"/>
                <a:cs typeface="Times New Roman"/>
              </a:rPr>
              <a:t>Different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genes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may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become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active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10" dirty="0">
                <a:latin typeface="Times New Roman"/>
                <a:cs typeface="Times New Roman"/>
              </a:rPr>
              <a:t> different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stages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disease</a:t>
            </a:r>
            <a:endParaRPr sz="19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105"/>
              </a:spcBef>
              <a:buFont typeface="Arial MT"/>
              <a:buChar char="–"/>
              <a:tabLst>
                <a:tab pos="753110" algn="l"/>
                <a:tab pos="1736725" algn="l"/>
                <a:tab pos="3369945" algn="l"/>
                <a:tab pos="4792345" algn="l"/>
                <a:tab pos="5318760" algn="l"/>
                <a:tab pos="6027420" algn="l"/>
                <a:tab pos="6485255" algn="l"/>
                <a:tab pos="7477759" algn="l"/>
              </a:tabLst>
            </a:pPr>
            <a:r>
              <a:rPr sz="1900" spc="-10" dirty="0">
                <a:latin typeface="Times New Roman"/>
                <a:cs typeface="Times New Roman"/>
              </a:rPr>
              <a:t>Develop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pharmaceutical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interventions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0" dirty="0">
                <a:latin typeface="Times New Roman"/>
                <a:cs typeface="Times New Roman"/>
              </a:rPr>
              <a:t>that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target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the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different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stages</a:t>
            </a:r>
            <a:endParaRPr sz="1900">
              <a:latin typeface="Times New Roman"/>
              <a:cs typeface="Times New Roman"/>
            </a:endParaRPr>
          </a:p>
          <a:p>
            <a:pPr marL="753110">
              <a:lnSpc>
                <a:spcPct val="100000"/>
              </a:lnSpc>
              <a:spcBef>
                <a:spcPts val="705"/>
              </a:spcBef>
            </a:pPr>
            <a:r>
              <a:rPr sz="1900" spc="-10" dirty="0">
                <a:latin typeface="Times New Roman"/>
                <a:cs typeface="Times New Roman"/>
              </a:rPr>
              <a:t>separately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spc="-25" dirty="0">
                <a:latin typeface="Times New Roman"/>
                <a:cs typeface="Times New Roman"/>
              </a:rPr>
              <a:t>Visualization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tools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genetic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10" dirty="0">
                <a:latin typeface="Times New Roman"/>
                <a:cs typeface="Times New Roman"/>
              </a:rPr>
              <a:t> analysis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8458" y="360629"/>
            <a:ext cx="6773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612321"/>
                </a:solidFill>
              </a:rPr>
              <a:t>Problems</a:t>
            </a:r>
            <a:r>
              <a:rPr sz="4000" spc="-135" dirty="0">
                <a:solidFill>
                  <a:srgbClr val="612321"/>
                </a:solidFill>
              </a:rPr>
              <a:t> </a:t>
            </a:r>
            <a:r>
              <a:rPr sz="4000" dirty="0">
                <a:solidFill>
                  <a:srgbClr val="612321"/>
                </a:solidFill>
              </a:rPr>
              <a:t>in</a:t>
            </a:r>
            <a:r>
              <a:rPr sz="4000" spc="-120" dirty="0">
                <a:solidFill>
                  <a:srgbClr val="612321"/>
                </a:solidFill>
              </a:rPr>
              <a:t> </a:t>
            </a:r>
            <a:r>
              <a:rPr sz="4000" dirty="0">
                <a:solidFill>
                  <a:srgbClr val="612321"/>
                </a:solidFill>
              </a:rPr>
              <a:t>Data</a:t>
            </a:r>
            <a:r>
              <a:rPr sz="4000" spc="-165" dirty="0">
                <a:solidFill>
                  <a:srgbClr val="612321"/>
                </a:solidFill>
              </a:rPr>
              <a:t> </a:t>
            </a:r>
            <a:r>
              <a:rPr sz="4000" spc="-10" dirty="0">
                <a:solidFill>
                  <a:srgbClr val="612321"/>
                </a:solidFill>
              </a:rPr>
              <a:t>Warehousing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7159" y="1137244"/>
            <a:ext cx="5006975" cy="485267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Underestimation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loading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Hidden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captured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Increased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end-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demands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homogenization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resources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ownership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maintenance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8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duration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projects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Complexity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integration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498" y="294208"/>
            <a:ext cx="77381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33735"/>
                </a:solidFill>
              </a:rPr>
              <a:t>Major Challenges</a:t>
            </a:r>
            <a:r>
              <a:rPr sz="3600" spc="-90" dirty="0">
                <a:solidFill>
                  <a:srgbClr val="933735"/>
                </a:solidFill>
              </a:rPr>
              <a:t> </a:t>
            </a:r>
            <a:r>
              <a:rPr sz="3600" dirty="0">
                <a:solidFill>
                  <a:srgbClr val="933735"/>
                </a:solidFill>
              </a:rPr>
              <a:t>in</a:t>
            </a:r>
            <a:r>
              <a:rPr sz="3600" spc="-20" dirty="0">
                <a:solidFill>
                  <a:srgbClr val="933735"/>
                </a:solidFill>
              </a:rPr>
              <a:t> </a:t>
            </a:r>
            <a:r>
              <a:rPr sz="3600" dirty="0">
                <a:solidFill>
                  <a:srgbClr val="933735"/>
                </a:solidFill>
              </a:rPr>
              <a:t>Data</a:t>
            </a:r>
            <a:r>
              <a:rPr sz="3600" spc="-100" dirty="0">
                <a:solidFill>
                  <a:srgbClr val="933735"/>
                </a:solidFill>
              </a:rPr>
              <a:t> </a:t>
            </a:r>
            <a:r>
              <a:rPr sz="3600" spc="-25" dirty="0">
                <a:solidFill>
                  <a:srgbClr val="933735"/>
                </a:solidFill>
              </a:rPr>
              <a:t>Warehousing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8559" y="1151057"/>
            <a:ext cx="8183880" cy="405765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mining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requires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single,</a:t>
            </a:r>
            <a:r>
              <a:rPr sz="1700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separate,</a:t>
            </a:r>
            <a:r>
              <a:rPr sz="1700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clean,</a:t>
            </a:r>
            <a:r>
              <a:rPr sz="17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integrated,</a:t>
            </a:r>
            <a:r>
              <a:rPr sz="17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7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self-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consistent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source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data.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885"/>
              </a:spcBef>
              <a:buFont typeface="Arial MT"/>
              <a:buChar char="–"/>
              <a:tabLst>
                <a:tab pos="753110" algn="l"/>
              </a:tabLst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DW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well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equipped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</a:t>
            </a:r>
            <a:r>
              <a:rPr sz="1400" spc="-1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mining.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quality</a:t>
            </a:r>
            <a:r>
              <a:rPr sz="17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7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consistency</a:t>
            </a:r>
            <a:r>
              <a:rPr sz="1700" dirty="0">
                <a:latin typeface="Times New Roman"/>
                <a:cs typeface="Times New Roman"/>
              </a:rPr>
              <a:t> 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essential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ensure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accuracy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predictive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models.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990"/>
              </a:spcBef>
              <a:buFont typeface="Arial MT"/>
              <a:buChar char="–"/>
              <a:tabLst>
                <a:tab pos="753110" algn="l"/>
              </a:tabLst>
            </a:pPr>
            <a:r>
              <a:rPr sz="1700" dirty="0">
                <a:latin typeface="Times New Roman"/>
                <a:cs typeface="Times New Roman"/>
              </a:rPr>
              <a:t>DWs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populated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 clean,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consistent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8899"/>
              </a:lnSpc>
              <a:spcBef>
                <a:spcPts val="180"/>
              </a:spcBef>
              <a:buFont typeface="Arial MT"/>
              <a:buChar char="•"/>
              <a:tabLst>
                <a:tab pos="355600" algn="l"/>
              </a:tabLst>
            </a:pP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Advantageous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mine data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multiple</a:t>
            </a:r>
            <a:r>
              <a:rPr sz="17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sources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discover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many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interrelationships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as </a:t>
            </a:r>
            <a:r>
              <a:rPr sz="1700" spc="-10" dirty="0">
                <a:latin typeface="Times New Roman"/>
                <a:cs typeface="Times New Roman"/>
              </a:rPr>
              <a:t>possible.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1275"/>
              </a:spcBef>
              <a:buFont typeface="Arial MT"/>
              <a:buChar char="–"/>
              <a:tabLst>
                <a:tab pos="753110" algn="l"/>
              </a:tabLst>
            </a:pPr>
            <a:r>
              <a:rPr sz="1700" dirty="0">
                <a:latin typeface="Times New Roman"/>
                <a:cs typeface="Times New Roman"/>
              </a:rPr>
              <a:t>DWs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contain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sources.</a:t>
            </a:r>
            <a:endParaRPr sz="1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Selecting</a:t>
            </a:r>
            <a:r>
              <a:rPr sz="17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relevant</a:t>
            </a:r>
            <a:r>
              <a:rPr sz="17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subsets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records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fields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data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mining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890"/>
              </a:spcBef>
              <a:buFont typeface="Arial MT"/>
              <a:buChar char="–"/>
              <a:tabLst>
                <a:tab pos="753110" algn="l"/>
              </a:tabLst>
            </a:pPr>
            <a:r>
              <a:rPr sz="1400" dirty="0">
                <a:latin typeface="Times New Roman"/>
                <a:cs typeface="Times New Roman"/>
              </a:rPr>
              <a:t>requires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query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capabilities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DW.</a:t>
            </a:r>
            <a:endParaRPr sz="1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Times New Roman"/>
                <a:cs typeface="Times New Roman"/>
              </a:rPr>
              <a:t>Results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mining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study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useful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further</a:t>
            </a:r>
            <a:r>
              <a:rPr sz="17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investigate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uncovered</a:t>
            </a:r>
            <a:r>
              <a:rPr sz="1700" spc="-10" dirty="0">
                <a:latin typeface="Times New Roman"/>
                <a:cs typeface="Times New Roman"/>
              </a:rPr>
              <a:t> patterns.</a:t>
            </a:r>
            <a:endParaRPr sz="1700">
              <a:latin typeface="Times New Roman"/>
              <a:cs typeface="Times New Roman"/>
            </a:endParaRPr>
          </a:p>
          <a:p>
            <a:pPr marL="753110" lvl="1" indent="-283210">
              <a:lnSpc>
                <a:spcPct val="100000"/>
              </a:lnSpc>
              <a:spcBef>
                <a:spcPts val="890"/>
              </a:spcBef>
              <a:buFont typeface="Arial MT"/>
              <a:buChar char="–"/>
              <a:tabLst>
                <a:tab pos="753110" algn="l"/>
              </a:tabLst>
            </a:pPr>
            <a:r>
              <a:rPr sz="1400" dirty="0">
                <a:latin typeface="Times New Roman"/>
                <a:cs typeface="Times New Roman"/>
              </a:rPr>
              <a:t>DWs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 capability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back 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</a:t>
            </a:r>
            <a:r>
              <a:rPr sz="1400" spc="-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source.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59" y="342960"/>
            <a:ext cx="8089265" cy="544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700" indent="-343535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largest challenge a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miner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face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10" dirty="0">
                <a:latin typeface="Times New Roman"/>
                <a:cs typeface="Times New Roman"/>
              </a:rPr>
              <a:t> sheer </a:t>
            </a:r>
            <a:r>
              <a:rPr sz="2700" dirty="0">
                <a:latin typeface="Times New Roman"/>
                <a:cs typeface="Times New Roman"/>
              </a:rPr>
              <a:t>volume</a:t>
            </a:r>
            <a:r>
              <a:rPr sz="2700" spc="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warehouse.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4020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40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quite</a:t>
            </a:r>
            <a:r>
              <a:rPr sz="2700" spc="4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important,</a:t>
            </a:r>
            <a:r>
              <a:rPr sz="2700" spc="40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then,</a:t>
            </a:r>
            <a:r>
              <a:rPr sz="2700" spc="4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summary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also</a:t>
            </a:r>
            <a:r>
              <a:rPr sz="2700" spc="42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be </a:t>
            </a:r>
            <a:r>
              <a:rPr sz="2700" dirty="0">
                <a:latin typeface="Times New Roman"/>
                <a:cs typeface="Times New Roman"/>
              </a:rPr>
              <a:t>available to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get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analysis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started.</a:t>
            </a:r>
            <a:endParaRPr sz="2700">
              <a:latin typeface="Times New Roman"/>
              <a:cs typeface="Times New Roman"/>
            </a:endParaRPr>
          </a:p>
          <a:p>
            <a:pPr marL="355600" marR="8890" indent="-343535" algn="just">
              <a:lnSpc>
                <a:spcPct val="14010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major</a:t>
            </a:r>
            <a:r>
              <a:rPr sz="2700" spc="3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problem</a:t>
            </a:r>
            <a:r>
              <a:rPr sz="2700" spc="3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4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this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sheer</a:t>
            </a:r>
            <a:r>
              <a:rPr sz="2700" spc="3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volume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mask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important</a:t>
            </a:r>
            <a:r>
              <a:rPr sz="2700" spc="2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relationships</a:t>
            </a:r>
            <a:r>
              <a:rPr sz="2700" spc="2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2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miner</a:t>
            </a:r>
            <a:r>
              <a:rPr sz="2700" spc="2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interested </a:t>
            </a:r>
            <a:r>
              <a:rPr sz="2700" spc="-25" dirty="0">
                <a:latin typeface="Times New Roman"/>
                <a:cs typeface="Times New Roman"/>
              </a:rPr>
              <a:t>in.</a:t>
            </a:r>
            <a:endParaRPr sz="2700">
              <a:latin typeface="Times New Roman"/>
              <a:cs typeface="Times New Roman"/>
            </a:endParaRPr>
          </a:p>
          <a:p>
            <a:pPr marL="355600" marR="14604" indent="-343535" algn="just">
              <a:lnSpc>
                <a:spcPct val="14010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ability</a:t>
            </a:r>
            <a:r>
              <a:rPr sz="2700" spc="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  overcome</a:t>
            </a:r>
            <a:r>
              <a:rPr sz="2700" spc="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volume</a:t>
            </a:r>
            <a:r>
              <a:rPr sz="2700" spc="1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able</a:t>
            </a:r>
            <a:r>
              <a:rPr sz="2700" spc="5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to </a:t>
            </a:r>
            <a:r>
              <a:rPr sz="2700" dirty="0">
                <a:latin typeface="Times New Roman"/>
                <a:cs typeface="Times New Roman"/>
              </a:rPr>
              <a:t>interpret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 quite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important.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1163700"/>
            <a:ext cx="338937" cy="2560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1630426"/>
            <a:ext cx="338937" cy="2560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2097023"/>
            <a:ext cx="338937" cy="2560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2559126"/>
            <a:ext cx="338937" cy="2563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2975482"/>
            <a:ext cx="338937" cy="2560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2640" y="1132713"/>
            <a:ext cx="7610475" cy="252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Efficiency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scalability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algorithms</a:t>
            </a:r>
            <a:endParaRPr sz="1800">
              <a:latin typeface="Times New Roman"/>
              <a:cs typeface="Times New Roman"/>
            </a:endParaRPr>
          </a:p>
          <a:p>
            <a:pPr marL="12700" marR="1971039">
              <a:lnSpc>
                <a:spcPct val="170100"/>
              </a:lnSpc>
            </a:pPr>
            <a:r>
              <a:rPr sz="1800" spc="-10" dirty="0">
                <a:latin typeface="Times New Roman"/>
                <a:cs typeface="Times New Roman"/>
              </a:rPr>
              <a:t>Parallel,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distributed, stream,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incremental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methods Handling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high-</a:t>
            </a:r>
            <a:r>
              <a:rPr sz="1800" spc="-10" dirty="0">
                <a:latin typeface="Times New Roman"/>
                <a:cs typeface="Times New Roman"/>
              </a:rPr>
              <a:t>dimensionality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800" dirty="0">
                <a:latin typeface="Times New Roman"/>
                <a:cs typeface="Times New Roman"/>
              </a:rPr>
              <a:t>Handling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noise,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uncertainty,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incompleteness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50100"/>
              </a:lnSpc>
              <a:spcBef>
                <a:spcPts val="40"/>
              </a:spcBef>
            </a:pPr>
            <a:r>
              <a:rPr sz="1800" dirty="0">
                <a:latin typeface="Times New Roman"/>
                <a:cs typeface="Times New Roman"/>
              </a:rPr>
              <a:t>Incorporation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constraints,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background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20" dirty="0">
                <a:latin typeface="Times New Roman"/>
                <a:cs typeface="Times New Roman"/>
              </a:rPr>
              <a:t>data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3909644"/>
            <a:ext cx="338937" cy="2563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4376369"/>
            <a:ext cx="338937" cy="2563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14792" y="4344746"/>
            <a:ext cx="466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imes New Roman"/>
                <a:cs typeface="Times New Roman"/>
              </a:rPr>
              <a:t>Web,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5254701"/>
            <a:ext cx="338937" cy="2563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5721400"/>
            <a:ext cx="338937" cy="2563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02640" y="3878707"/>
            <a:ext cx="7155180" cy="211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Pattern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evaluation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integration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4550" algn="l"/>
                <a:tab pos="1658620" algn="l"/>
                <a:tab pos="2148205" algn="l"/>
                <a:tab pos="3630295" algn="l"/>
                <a:tab pos="4284980" algn="l"/>
                <a:tab pos="4632325" algn="l"/>
                <a:tab pos="5233670" algn="l"/>
                <a:tab pos="5778500" algn="l"/>
              </a:tabLst>
            </a:pPr>
            <a:r>
              <a:rPr sz="1800" spc="-10" dirty="0">
                <a:latin typeface="Times New Roman"/>
                <a:cs typeface="Times New Roman"/>
              </a:rPr>
              <a:t>Mining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diverse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heterogeneous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kinds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data: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e.g.,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bioinformatics,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latin typeface="Times New Roman"/>
                <a:cs typeface="Times New Roman"/>
              </a:rPr>
              <a:t>software/system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engineering,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information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networks</a:t>
            </a:r>
            <a:endParaRPr sz="1800">
              <a:latin typeface="Times New Roman"/>
              <a:cs typeface="Times New Roman"/>
            </a:endParaRPr>
          </a:p>
          <a:p>
            <a:pPr marL="12700" marR="1487170">
              <a:lnSpc>
                <a:spcPts val="3670"/>
              </a:lnSpc>
              <a:spcBef>
                <a:spcPts val="145"/>
              </a:spcBef>
            </a:pPr>
            <a:r>
              <a:rPr sz="1800" spc="-25" dirty="0">
                <a:latin typeface="Times New Roman"/>
                <a:cs typeface="Times New Roman"/>
              </a:rPr>
              <a:t>Application-</a:t>
            </a:r>
            <a:r>
              <a:rPr sz="1800" dirty="0">
                <a:latin typeface="Times New Roman"/>
                <a:cs typeface="Times New Roman"/>
              </a:rPr>
              <a:t>oriented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domain-</a:t>
            </a:r>
            <a:r>
              <a:rPr sz="1800" dirty="0">
                <a:latin typeface="Times New Roman"/>
                <a:cs typeface="Times New Roman"/>
              </a:rPr>
              <a:t>specific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 </a:t>
            </a:r>
            <a:r>
              <a:rPr sz="1800" dirty="0">
                <a:latin typeface="Times New Roman"/>
                <a:cs typeface="Times New Roman"/>
              </a:rPr>
              <a:t>Invisible data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mining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(embedded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modules)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59" y="6188049"/>
            <a:ext cx="338937" cy="25633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02640" y="6157061"/>
            <a:ext cx="5351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Protection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security,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integrity,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privacy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085494" y="408508"/>
            <a:ext cx="6588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33735"/>
                </a:solidFill>
              </a:rPr>
              <a:t>Major</a:t>
            </a:r>
            <a:r>
              <a:rPr sz="3600" spc="-5" dirty="0">
                <a:solidFill>
                  <a:srgbClr val="933735"/>
                </a:solidFill>
              </a:rPr>
              <a:t> </a:t>
            </a:r>
            <a:r>
              <a:rPr sz="3600" dirty="0">
                <a:solidFill>
                  <a:srgbClr val="933735"/>
                </a:solidFill>
              </a:rPr>
              <a:t>Challenges</a:t>
            </a:r>
            <a:r>
              <a:rPr sz="3600" spc="-75" dirty="0">
                <a:solidFill>
                  <a:srgbClr val="933735"/>
                </a:solidFill>
              </a:rPr>
              <a:t> </a:t>
            </a:r>
            <a:r>
              <a:rPr sz="3600" dirty="0">
                <a:solidFill>
                  <a:srgbClr val="933735"/>
                </a:solidFill>
              </a:rPr>
              <a:t>in</a:t>
            </a:r>
            <a:r>
              <a:rPr sz="3600" spc="-35" dirty="0">
                <a:solidFill>
                  <a:srgbClr val="933735"/>
                </a:solidFill>
              </a:rPr>
              <a:t> </a:t>
            </a:r>
            <a:r>
              <a:rPr sz="3600" dirty="0">
                <a:solidFill>
                  <a:srgbClr val="933735"/>
                </a:solidFill>
              </a:rPr>
              <a:t>Data</a:t>
            </a:r>
            <a:r>
              <a:rPr sz="3600" spc="-75" dirty="0">
                <a:solidFill>
                  <a:srgbClr val="933735"/>
                </a:solidFill>
              </a:rPr>
              <a:t> </a:t>
            </a:r>
            <a:r>
              <a:rPr sz="3600" spc="-10" dirty="0">
                <a:solidFill>
                  <a:srgbClr val="933735"/>
                </a:solidFill>
              </a:rPr>
              <a:t>Mining</a:t>
            </a:r>
            <a:endParaRPr sz="3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9285" y="135458"/>
            <a:ext cx="30930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ASSIGNMENT-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897915"/>
            <a:ext cx="7833995" cy="4980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44805" indent="-343535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Briefly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explain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it.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used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now?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Explain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briefly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limitations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mining?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100"/>
              </a:lnSpc>
              <a:spcBef>
                <a:spcPts val="7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areas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assist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corruption?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Select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possibilities.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warehouse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database?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similar.</a:t>
            </a:r>
            <a:endParaRPr sz="2000">
              <a:latin typeface="Times New Roman"/>
              <a:cs typeface="Times New Roman"/>
            </a:endParaRPr>
          </a:p>
          <a:p>
            <a:pPr marL="355600" marR="60325" indent="-343535">
              <a:lnSpc>
                <a:spcPct val="150100"/>
              </a:lnSpc>
              <a:spcBef>
                <a:spcPts val="7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Explain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warehousing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OLAP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achieve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achieved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OLTP</a:t>
            </a:r>
            <a:r>
              <a:rPr sz="2000" spc="-2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0385" y="460908"/>
            <a:ext cx="29787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0000"/>
                </a:solidFill>
              </a:rPr>
              <a:t>Thank</a:t>
            </a:r>
            <a:r>
              <a:rPr sz="4400" spc="-105" dirty="0">
                <a:solidFill>
                  <a:srgbClr val="FF0000"/>
                </a:solidFill>
              </a:rPr>
              <a:t> </a:t>
            </a:r>
            <a:r>
              <a:rPr sz="4400" spc="-145" dirty="0">
                <a:solidFill>
                  <a:srgbClr val="FF0000"/>
                </a:solidFill>
              </a:rPr>
              <a:t>You</a:t>
            </a:r>
            <a:r>
              <a:rPr sz="4400" spc="-345" dirty="0">
                <a:solidFill>
                  <a:srgbClr val="FF0000"/>
                </a:solidFill>
              </a:rPr>
              <a:t> </a:t>
            </a:r>
            <a:r>
              <a:rPr sz="4400" spc="-50" dirty="0">
                <a:solidFill>
                  <a:srgbClr val="FF0000"/>
                </a:solidFill>
              </a:rPr>
              <a:t>!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4" y="1810511"/>
            <a:ext cx="5943600" cy="4315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2146</Words>
  <Application>Microsoft Office PowerPoint</Application>
  <PresentationFormat>On-screen Show (4:3)</PresentationFormat>
  <Paragraphs>454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Arial MT</vt:lpstr>
      <vt:lpstr>Calibri</vt:lpstr>
      <vt:lpstr>Times New Roman</vt:lpstr>
      <vt:lpstr>Office Theme</vt:lpstr>
      <vt:lpstr>Data Mining and Data Warehousing</vt:lpstr>
      <vt:lpstr>Introduction</vt:lpstr>
      <vt:lpstr>What is Data?</vt:lpstr>
      <vt:lpstr>Origin of Data mining</vt:lpstr>
      <vt:lpstr>Contd..</vt:lpstr>
      <vt:lpstr>What is Data Mining?</vt:lpstr>
      <vt:lpstr>Contd...</vt:lpstr>
      <vt:lpstr>Contd..</vt:lpstr>
      <vt:lpstr>Contd..</vt:lpstr>
      <vt:lpstr>Data mining is not</vt:lpstr>
      <vt:lpstr>Contd..</vt:lpstr>
      <vt:lpstr>Why Data Mining?—Potential Applications</vt:lpstr>
      <vt:lpstr>Why Data Mining?—Potential Applications</vt:lpstr>
      <vt:lpstr>Data Mining: On What Kinds of Data?</vt:lpstr>
      <vt:lpstr>Contd..</vt:lpstr>
      <vt:lpstr>Knowledge Discovery (KDD) Process..</vt:lpstr>
      <vt:lpstr>Contd..</vt:lpstr>
      <vt:lpstr>Contd..</vt:lpstr>
      <vt:lpstr>Contd..</vt:lpstr>
      <vt:lpstr>Contd..</vt:lpstr>
      <vt:lpstr>Architecture of Data Mining System</vt:lpstr>
      <vt:lpstr>Contd..</vt:lpstr>
      <vt:lpstr>Contd..</vt:lpstr>
      <vt:lpstr>Contd..</vt:lpstr>
      <vt:lpstr>Contd..</vt:lpstr>
      <vt:lpstr>Contd..</vt:lpstr>
      <vt:lpstr>Contd..</vt:lpstr>
      <vt:lpstr>What is a Data Warehouse?</vt:lpstr>
      <vt:lpstr>Contd……</vt:lpstr>
      <vt:lpstr>Data Warehouse—Integrated</vt:lpstr>
      <vt:lpstr>Data Warehouse—Subject-Oriented</vt:lpstr>
      <vt:lpstr>Data Warehouse—Time Variant</vt:lpstr>
      <vt:lpstr>Data Warehouse—Non-Volatile</vt:lpstr>
      <vt:lpstr>Data Warehouse Usage</vt:lpstr>
      <vt:lpstr>Contd..</vt:lpstr>
      <vt:lpstr>General Architecture</vt:lpstr>
      <vt:lpstr>3 main phases</vt:lpstr>
      <vt:lpstr>THE USE OF ADATA WAREHOUSE</vt:lpstr>
      <vt:lpstr>Benefits of Data Warehousing</vt:lpstr>
      <vt:lpstr>PowerPoint Presentation</vt:lpstr>
      <vt:lpstr>PowerPoint Presentation</vt:lpstr>
      <vt:lpstr>Applications of Data Mining</vt:lpstr>
      <vt:lpstr>Data Mining for Financial Data Analysis</vt:lpstr>
      <vt:lpstr>PowerPoint Presentation</vt:lpstr>
      <vt:lpstr>Data Mining for Retail Industry</vt:lpstr>
      <vt:lpstr>PowerPoint Presentation</vt:lpstr>
      <vt:lpstr>Data Mining for Telecommunication Industry</vt:lpstr>
      <vt:lpstr>PowerPoint Presentation</vt:lpstr>
      <vt:lpstr>Biomedical Data Analysis</vt:lpstr>
      <vt:lpstr>PowerPoint Presentation</vt:lpstr>
      <vt:lpstr>Problems in Data Warehousing</vt:lpstr>
      <vt:lpstr>Major Challenges in Data Warehousing</vt:lpstr>
      <vt:lpstr>PowerPoint Presentation</vt:lpstr>
      <vt:lpstr>Major Challenges in Data Mining</vt:lpstr>
      <vt:lpstr>ASSIGNMENT-1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and Data Warehousing</dc:title>
  <cp:lastModifiedBy>kist</cp:lastModifiedBy>
  <cp:revision>3</cp:revision>
  <dcterms:created xsi:type="dcterms:W3CDTF">2025-08-03T04:54:54Z</dcterms:created>
  <dcterms:modified xsi:type="dcterms:W3CDTF">2025-08-03T05:12:17Z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2025-08-03T00:00:00Z</vt:filetime>
  </property>
  <property fmtid="{D5CDD505-2E9C-101B-9397-08002B2CF9AE}" pid="5" name="Producer">
    <vt:lpwstr>www.ilovepdf.com</vt:lpwstr>
  </property>
</Properties>
</file>